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8138160" y="0"/>
            <a:ext cx="4389120" cy="7315200"/>
          </a:xfrm>
          <a:prstGeom prst="rect">
            <a:avLst/>
          </a:prstGeom>
          <a:solidFill>
            <a:srgbClr val="102A4C">
              <a:alpha val="92000"/>
            </a:srgbClr>
          </a:solidFill>
          <a:ln w="12700">
            <a:solidFill>
              <a:srgbClr val="102A4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27648"/>
            <a:ext cx="11064240" cy="914"/>
          </a:xfrm>
          <a:prstGeom prst="line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5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COMPILER PRINCIPLES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7863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语言编译系统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与日志自动机识别平台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编译原理课程设计申优答辩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0906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C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答辩人：黄彬    学号：12303070250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493008"/>
            <a:ext cx="1417320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56158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完整编译流水线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3493008"/>
            <a:ext cx="1298448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3561588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可视化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67328" y="3493008"/>
            <a:ext cx="98755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356158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LLVM IR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56048" y="3931920"/>
            <a:ext cx="1243584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40005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CFG/DAG 优化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0" y="3931920"/>
            <a:ext cx="1463040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000500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NFA/DFA 自动机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0F3157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5257800"/>
            <a:ext cx="2011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8308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173B66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3794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06040" y="5257800"/>
            <a:ext cx="2011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8892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0F3157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11880" y="5257800"/>
            <a:ext cx="2011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9476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173B66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5257800"/>
            <a:ext cx="2011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0060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0F3157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23560" y="5257800"/>
            <a:ext cx="2011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80644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173B66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6130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29400" y="5257800"/>
            <a:ext cx="2011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812280" y="5047488"/>
            <a:ext cx="786384" cy="411480"/>
          </a:xfrm>
          <a:prstGeom prst="roundRect">
            <a:avLst>
              <a:gd name="adj" fmla="val 13333"/>
            </a:avLst>
          </a:prstGeom>
          <a:solidFill>
            <a:srgbClr val="0F3157"/>
          </a:solidFill>
          <a:ln w="12700">
            <a:solidFill>
              <a:srgbClr val="2F80ED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67144" y="518464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869680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C-like }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796528" y="23957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 · IR · CFG · DFA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DB7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从单点实验到完整系统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课程设计不只验证某一个算法，而是把编译原理核心知识组织成可运行、可演示、可测试的工程系统。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0312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基础要求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67712" y="2093976"/>
            <a:ext cx="5413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词法、语法、语义、中间代码与错误处理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8529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67712" y="2843784"/>
            <a:ext cx="5413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源代码输入到分析、优化、执行、后端输出的闭环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602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扩展目标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67712" y="3593592"/>
            <a:ext cx="5413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把正则、NFA、DFA 落到日志关键词识别场景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462272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3525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答辩价值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67712" y="4343400"/>
            <a:ext cx="5413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结果可视化、过程可解释、验证可复现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1417320"/>
            <a:ext cx="914" cy="43434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单一模块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887968" y="19476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算法正确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00032" y="2450592"/>
            <a:ext cx="91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887968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完整系统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887968" y="32735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链路闭环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00032" y="3776472"/>
            <a:ext cx="91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887968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工程展示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887968" y="4599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 + 测试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评价目标：从功能完成度转向系统完整性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交付形态：桌面 GUI + 编译器核心 + 自动机平台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答辩策略：用测试数据证明稳定性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8138160" y="0"/>
            <a:ext cx="4389120" cy="7315200"/>
          </a:xfrm>
          <a:prstGeom prst="rect">
            <a:avLst/>
          </a:prstGeom>
          <a:solidFill>
            <a:srgbClr val="102A4C">
              <a:alpha val="92000"/>
            </a:srgbClr>
          </a:solidFill>
          <a:ln w="12700">
            <a:solidFill>
              <a:srgbClr val="102A4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27648"/>
            <a:ext cx="11064240" cy="914"/>
          </a:xfrm>
          <a:prstGeom prst="line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四层解耦，便于演示与扩展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C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0E3358">
              <a:alpha val="97000"/>
            </a:srgbClr>
          </a:solidFill>
          <a:ln w="1397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417320"/>
            <a:ext cx="16459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159105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源码编辑器 / 结果导航 / Diagnostics / 导出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2478024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123A61">
              <a:alpha val="97000"/>
            </a:srgbClr>
          </a:solidFill>
          <a:ln w="1397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478024"/>
            <a:ext cx="16459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642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编译流水线层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2651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Lexer / Parser / Semantic / Quads / Interpreter / Backend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3538728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0E3358">
              <a:alpha val="97000"/>
            </a:srgbClr>
          </a:solidFill>
          <a:ln w="13970">
            <a:solidFill>
              <a:srgbClr val="10B981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38728"/>
            <a:ext cx="1645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703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自动机识别层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3240" y="371246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Regex / NFA / DFA / 转换表 / 日志字段提取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0120" y="4599432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123A61">
              <a:alpha val="97000"/>
            </a:srgbClr>
          </a:solidFill>
          <a:ln w="1397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599432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764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输出与测试层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63240" y="47731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/ IR / Assembly / CFG / DAG / 回归测试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1560" y="5596128"/>
            <a:ext cx="1024128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566470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30552" y="5742432"/>
            <a:ext cx="6583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08960" y="5596128"/>
            <a:ext cx="1024128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566470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87952" y="5742432"/>
            <a:ext cx="6583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66360" y="5596128"/>
            <a:ext cx="1024128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566470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45352" y="5742432"/>
            <a:ext cx="6583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23760" y="5596128"/>
            <a:ext cx="1024128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33488" y="566470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执行/生成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302752" y="5742432"/>
            <a:ext cx="658368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281160" y="5596128"/>
            <a:ext cx="1024128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0888" y="566470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接口边界：GUI 只调度流程，不侵入编译算法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核心数据：Token / AST / Symbol / Quad / IR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可扩展点：新增后端或新增识别规则不影响主流程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DB7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从源码到结构化语义信息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编译前端实现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344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前端围绕 AST 与符号表建立统一中间表示，并把诊断信息直接映射到 GUI 定位。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624328"/>
            <a:ext cx="1828800" cy="10058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307238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+ Symbol Table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920240"/>
            <a:ext cx="35661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232257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关键字、标识符、常量、运算符、分隔符；支持高亮与行号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25112" y="2322576"/>
            <a:ext cx="841248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1920240"/>
            <a:ext cx="35661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语法分析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16368" y="232257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AST，覆盖声明、表达式、控制流、函数调用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2322576"/>
            <a:ext cx="841248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" y="4251960"/>
            <a:ext cx="35661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3891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" y="465429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类型检查、作用域检查、重复定义、未定义引用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25112" y="4654296"/>
            <a:ext cx="841248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4251960"/>
            <a:ext cx="35661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43891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错误诊断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6368" y="465429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实时错误标记；Diagnostics 面板点击跳转源码位置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9904" y="4654296"/>
            <a:ext cx="841248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错误类型：词法、语法、语义分层上报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符号表：支持作用域、类型与函数信息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交互增强：高亮、行号、诊断跳转形成闭环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8138160" y="0"/>
            <a:ext cx="4389120" cy="7315200"/>
          </a:xfrm>
          <a:prstGeom prst="rect">
            <a:avLst/>
          </a:prstGeom>
          <a:solidFill>
            <a:srgbClr val="102A4C">
              <a:alpha val="92000"/>
            </a:srgbClr>
          </a:solidFill>
          <a:ln w="12700">
            <a:solidFill>
              <a:srgbClr val="102A4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27648"/>
            <a:ext cx="11064240" cy="914"/>
          </a:xfrm>
          <a:prstGeom prst="line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四元式作为系统中枢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中间代码与解释执行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C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444752"/>
            <a:ext cx="5394960" cy="3611880"/>
          </a:xfrm>
          <a:prstGeom prst="rect">
            <a:avLst/>
          </a:prstGeom>
          <a:solidFill>
            <a:srgbClr val="061B31"/>
          </a:solidFill>
          <a:ln w="12700">
            <a:solidFill>
              <a:srgbClr val="1E5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682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Quadruples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  :=   1       _     t1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 &lt;=   n       1     t2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  jnz  t2      _     L_end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3832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 *    acc     n     acc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 -    n       1     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56832" y="15727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四元式覆盖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56832" y="2148840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203911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2029968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表达式计算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56832" y="2633472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25237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2514600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条件与循环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56832" y="3118104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300837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84464" y="29992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函数调用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56832" y="3602736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95744" y="349300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4464" y="3483864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 输出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56832" y="4087368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95744" y="39776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84464" y="3968496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临时变量管理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06840" y="15727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解释执行验证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006840" y="2148840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45752" y="203911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634472" y="2029968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factorial 递归/循环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06840" y="2633472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45752" y="252374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634472" y="2514600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while/if 控制流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006840" y="3118104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45752" y="300837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634472" y="2999232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变量赋值与作用域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006840" y="3602736"/>
            <a:ext cx="310896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45752" y="349300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634472" y="3483864"/>
            <a:ext cx="612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运行结果即时反馈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4672" y="555955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四元式既服务解释执行，也服务后端生成和优化分析，是系统的数据中枢。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控制流：条件跳转与标签统一进入四元式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运行时：解释器直接消费四元式验证语义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样例覆盖：阶乘、循环、函数调用与 write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DB7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后端扩展证明系统不止停留在语法分析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LLVM IR 与目标代码生成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1783080" cy="987552"/>
          </a:xfrm>
          <a:prstGeom prst="hexagon">
            <a:avLst/>
          </a:prstGeom>
          <a:solidFill>
            <a:srgbClr val="2563EB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8541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四元式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688336" y="2322576"/>
            <a:ext cx="69494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84448" y="1828800"/>
            <a:ext cx="1783080" cy="987552"/>
          </a:xfrm>
          <a:prstGeom prst="hexagon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18541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LLVM IR 风格代码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31536" y="2322576"/>
            <a:ext cx="69494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27648" y="1828800"/>
            <a:ext cx="1783080" cy="987552"/>
          </a:xfrm>
          <a:prstGeom prst="hexagon">
            <a:avLst/>
          </a:prstGeom>
          <a:solidFill>
            <a:srgbClr val="10B981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8541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MASM16 汇编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74736" y="2322576"/>
            <a:ext cx="69494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0848" y="1828800"/>
            <a:ext cx="1783080" cy="987552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18541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目标代码输出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3749040"/>
            <a:ext cx="246888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77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 生成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4074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把变量、临时值、跳转和函数调用映射为 LLVM-like 指令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4544568" y="3749040"/>
            <a:ext cx="2468880" cy="91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977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汇编生成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44568" y="44074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MASM16 的数据段、代码段、寄存器与跳转翻译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220456" y="3749040"/>
            <a:ext cx="2468880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0456" y="3977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工程意义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0456" y="44074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同一中间表示支撑多后端，结构更接近真实编译器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 抽象：临时值、基本块、跳转语义可映射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MASM16：数据段/代码段/寄存器协同生成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价值：中间表示复用，具备多后端雏形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可解释的优化过程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 与 DAG 优化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938528"/>
            <a:ext cx="443484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31720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a + 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2679192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a + 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026664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 = t1 * 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3374136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t2 + t3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1508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75120" y="1938528"/>
            <a:ext cx="443484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331720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a + 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95160" y="2679192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 = t1 *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3026664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t1 + t3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13248" y="2926080"/>
            <a:ext cx="77724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" y="4892040"/>
            <a:ext cx="1572768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96062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基本块划分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0" y="4892040"/>
            <a:ext cx="1572768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496062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控制流图 CFG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74920" y="4892040"/>
            <a:ext cx="1572768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496062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局部优化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23760" y="4892040"/>
            <a:ext cx="1572768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496062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公共子表达式消除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72600" y="4892040"/>
            <a:ext cx="1572768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496062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优化前后四元式对比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" y="55595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优化过程可视化：先划分基本块，再构建 CFG；基本块内部用 DAG 合并等价表达式，最后输出对比四元式。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CFG：展示基本块之间的可达关系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DAG：合并等价表达式并消除冗余计算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对比：优化前后四元式数量与含义可核验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8138160" y="0"/>
            <a:ext cx="4389120" cy="7315200"/>
          </a:xfrm>
          <a:prstGeom prst="rect">
            <a:avLst/>
          </a:prstGeom>
          <a:solidFill>
            <a:srgbClr val="102A4C">
              <a:alpha val="92000"/>
            </a:srgbClr>
          </a:solidFill>
          <a:ln w="12700">
            <a:solidFill>
              <a:srgbClr val="102A4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27648"/>
            <a:ext cx="11064240" cy="914"/>
          </a:xfrm>
          <a:prstGeom prst="line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把自动机理论应用到真实文本识别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日志关键词识别与自动机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C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0F3157"/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0992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日志文本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1792224"/>
            <a:ext cx="512064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15087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123A61"/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170992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正则规则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1792224"/>
            <a:ext cx="512064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5776" y="15087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0F3157"/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70992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NFA 构造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74536" y="1792224"/>
            <a:ext cx="512064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32904" y="15087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123A61"/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70992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DFA 确定化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41664" y="1792224"/>
            <a:ext cx="512064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00032" y="15087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0F3157"/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170992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字段提取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2743200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2811780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57400" y="2743200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2811780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743200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811780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26280" y="2743200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2811780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" y="3218688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287268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57400" y="3218688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7128" y="3287268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0" y="3218688"/>
            <a:ext cx="941832" cy="301752"/>
          </a:xfrm>
          <a:prstGeom prst="roundRect">
            <a:avLst>
              <a:gd name="adj" fmla="val 18182"/>
            </a:avLst>
          </a:prstGeom>
          <a:solidFill>
            <a:srgbClr val="163B65"/>
          </a:solidFill>
          <a:ln w="889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287268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29400" y="2743200"/>
            <a:ext cx="4160520" cy="384048"/>
          </a:xfrm>
          <a:prstGeom prst="rect">
            <a:avLst/>
          </a:prstGeom>
          <a:solidFill>
            <a:srgbClr val="1D4E7A"/>
          </a:solidFill>
          <a:ln w="6350">
            <a:solidFill>
              <a:srgbClr val="345F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9128" y="2862072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790688" y="2862072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9162288" y="2862072"/>
            <a:ext cx="1508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629400" y="3182112"/>
            <a:ext cx="4160520" cy="384048"/>
          </a:xfrm>
          <a:prstGeom prst="rect">
            <a:avLst/>
          </a:prstGeom>
          <a:solidFill>
            <a:srgbClr val="082542"/>
          </a:solidFill>
          <a:ln w="6350">
            <a:solidFill>
              <a:srgbClr val="345F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39128" y="3300984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7790688" y="3300984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/ INFO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162288" y="3300984"/>
            <a:ext cx="1508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日志严重程度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629400" y="3621024"/>
            <a:ext cx="4160520" cy="384048"/>
          </a:xfrm>
          <a:prstGeom prst="rect">
            <a:avLst/>
          </a:prstGeom>
          <a:solidFill>
            <a:srgbClr val="082542"/>
          </a:solidFill>
          <a:ln w="6350">
            <a:solidFill>
              <a:srgbClr val="345F8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9128" y="3739896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7790688" y="3739896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192.168.1.8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9162288" y="3739896"/>
            <a:ext cx="1508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访问来源定位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629400" y="4059936"/>
            <a:ext cx="4160520" cy="384048"/>
          </a:xfrm>
          <a:prstGeom prst="rect">
            <a:avLst/>
          </a:prstGeom>
          <a:solidFill>
            <a:srgbClr val="082542"/>
          </a:solidFill>
          <a:ln w="6350">
            <a:solidFill>
              <a:srgbClr val="345F8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39128" y="4178808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790688" y="4178808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LOGIN / DOWNLOAD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9162288" y="4178808"/>
            <a:ext cx="1508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用户行为识别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804672" y="53309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正则规则既用于识别字段，也能展示 NFA/DFA 构造、确定化和转换表，形成理论到应用的闭环。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正则规则：字段级模式可独立维护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NFA/DFA：构造过程与转换表同步展示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应用：从理论自动机走向日志结构化提取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DB7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一键运行，多阶段结果集中查看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交互与可视化展示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0652760" cy="4315968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1065276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45336"/>
            <a:ext cx="18288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Compiler Studio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1965960"/>
            <a:ext cx="4617720" cy="2852928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26771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源码编辑器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行号 / 语法高亮 / 错误标记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33872" y="1965960"/>
            <a:ext cx="5303520" cy="2852928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240280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3088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78624" y="2240280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3088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30768" y="2240280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23088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 Errors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582912" y="2240280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3088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Quadruples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2770632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28392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Optimized Quads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78624" y="2770632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28392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30768" y="2770632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28392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LLVM IR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82912" y="2770632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28392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Assembly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3300984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36956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78624" y="3300984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336956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30768" y="3300984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336956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582912" y="3300984"/>
            <a:ext cx="950976" cy="301752"/>
          </a:xfrm>
          <a:prstGeom prst="roundRect">
            <a:avLst>
              <a:gd name="adj" fmla="val 18182"/>
            </a:avLst>
          </a:prstGeom>
          <a:solidFill>
            <a:srgbClr val="E8F1FF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336956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60120" y="5010912"/>
            <a:ext cx="10177272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51206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错误列表 / 点击跳转 / 定位源码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导航页：多阶段结果按标签集中呈现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诊断页：错误列表支持定位与复查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导出：便于保存课堂演示与测试结果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回归测试支撑可靠性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234440" y="2322576"/>
            <a:ext cx="11887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单元测试全部通过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3584448" y="16276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15/15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3995928" y="2322576"/>
            <a:ext cx="1188720" cy="91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老师正确用例通过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6345936" y="16276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3100" dirty="0"/>
          </a:p>
        </p:txBody>
      </p:sp>
      <p:sp>
        <p:nvSpPr>
          <p:cNvPr id="15" name="Shape 13"/>
          <p:cNvSpPr/>
          <p:nvPr/>
        </p:nvSpPr>
        <p:spPr>
          <a:xfrm>
            <a:off x="6757416" y="2322576"/>
            <a:ext cx="1188720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综合用例无诊断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9107424" y="16276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100" dirty="0"/>
          </a:p>
        </p:txBody>
      </p:sp>
      <p:sp>
        <p:nvSpPr>
          <p:cNvPr id="18" name="Shape 16"/>
          <p:cNvSpPr/>
          <p:nvPr/>
        </p:nvSpPr>
        <p:spPr>
          <a:xfrm>
            <a:off x="9518904" y="2322576"/>
            <a:ext cx="1188720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错误定位展示用例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覆盖场景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7824" y="4224528"/>
            <a:ext cx="1554480" cy="64008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4398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完整编译流水线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935224" y="4224528"/>
            <a:ext cx="155448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444398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语义错误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992624" y="4224528"/>
            <a:ext cx="155448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444398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解释执行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050024" y="4224528"/>
            <a:ext cx="155448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444398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日志识别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9107424" y="4224528"/>
            <a:ext cx="155448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444398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CFG/DAG 优化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868680" y="5504688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测试结论：功能点覆盖从前端分析到后端生成、从正确用例到错误定位，结果可复现、适合答辩现场演示。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单元测试：覆盖核心算法模块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教师用例：验证正确程序编译链路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错误用例：用于展示诊断准确性和鲁棒性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8138160" y="0"/>
            <a:ext cx="4389120" cy="7315200"/>
          </a:xfrm>
          <a:prstGeom prst="rect">
            <a:avLst/>
          </a:prstGeom>
          <a:solidFill>
            <a:srgbClr val="102A4C">
              <a:alpha val="92000"/>
            </a:srgbClr>
          </a:solidFill>
          <a:ln w="12700">
            <a:solidFill>
              <a:srgbClr val="102A4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27648"/>
            <a:ext cx="11064240" cy="914"/>
          </a:xfrm>
          <a:prstGeom prst="line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完整性、技术深度与课堂展示价值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项目亮点与创新点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C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2286000" cy="914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2951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覆盖前端、中端、后端，形成完整编译系统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526280" y="1508760"/>
            <a:ext cx="2286000" cy="914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多后端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2951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LLVM IR 风格代码与 MASM16 汇编生成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2286000" cy="914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22951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CFG/DAG 与优化前后四元式对比可解释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2286000" cy="914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自动机应用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1696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正则、NFA、DFA 与日志识别场景结合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4526280" y="3383280"/>
            <a:ext cx="2286000" cy="914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交互完善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41696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一键运行、导航查看、错误跳转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229600" y="3383280"/>
            <a:ext cx="2286000" cy="914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测试充分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0" y="41696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单元测试、教师用例、综合用例共同验证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课程基础：覆盖编译原理主线知识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工程拓展：GUI、后端、优化、自动机集成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0F3157">
              <a:alpha val="92000"/>
            </a:srgbClr>
          </a:solidFill>
          <a:ln w="762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申优依据：完整、深入、可演示、可验证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DB7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6327648"/>
            <a:ext cx="11137392" cy="91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课程设计申优答辩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总结与申优理由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09960" y="475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14813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本项目完成课程设计基础要求，并在功能完整性、后端扩展、自动机应用、优化分析、可视化展示和测试验证方面进行了系统性拓展。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60120" y="276148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7249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综合运用编译原理核心知识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33284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29184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实现过程具备工程化结构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3895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85876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演示链路完整，验证结果可靠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0120" y="446227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4256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具备申报优秀课程设计的充分条件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85632" y="2670048"/>
            <a:ext cx="2331720" cy="1600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3035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申优理由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22792" y="35753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· 深入 · 可视化 · 可验证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完成度：基础要求 + 多项扩展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40740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技术性：前端/中端/后端/自动机贯通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156448" y="5879592"/>
            <a:ext cx="3401568" cy="310896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7620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5961888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可靠性：回归测试与错误定位共同支撑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530352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C-like 编译系统与日志自动机识别平台 | 答辩人：黄彬 | 学号：12303070250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课程设计答辩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C-like 语言编译系统与日志自动机识别平台</dc:title>
  <dc:subject>编译原理课程设计申优答辩</dc:subject>
  <dc:creator>Codex</dc:creator>
  <cp:lastModifiedBy>Codex</cp:lastModifiedBy>
  <cp:revision>1</cp:revision>
  <dcterms:created xsi:type="dcterms:W3CDTF">2026-05-15T07:20:23Z</dcterms:created>
  <dcterms:modified xsi:type="dcterms:W3CDTF">2026-05-15T07:20:23Z</dcterms:modified>
</cp:coreProperties>
</file>