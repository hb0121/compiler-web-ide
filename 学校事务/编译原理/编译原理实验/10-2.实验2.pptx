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335" r:id="rId2"/>
    <p:sldId id="336" r:id="rId3"/>
    <p:sldId id="32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427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1" autoAdjust="0"/>
    <p:restoredTop sz="91285" autoAdjust="0"/>
  </p:normalViewPr>
  <p:slideViewPr>
    <p:cSldViewPr>
      <p:cViewPr varScale="1">
        <p:scale>
          <a:sx n="108" d="100"/>
          <a:sy n="108" d="100"/>
        </p:scale>
        <p:origin x="126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image" Target="../media/image3.jpeg"/><Relationship Id="rId6" Type="http://schemas.openxmlformats.org/officeDocument/2006/relationships/image" Target="../media/image8.emf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FB6CE-4A83-4EA5-8A28-5A2599315B17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E8391-A7AA-438B-8953-8185EA502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9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815C135-6047-4D45-AD9C-6C5CC4C7A641}" type="slidenum">
              <a:rPr lang="en-US" altLang="zh-CN"/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0FD66B1-54D9-40B2-AB3D-6C5A8854BC6D}" type="slidenum">
              <a:rPr lang="en-US" altLang="zh-CN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EEF75F-B42B-4DB8-BC34-2AEB499E6368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4845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50A40B-2665-4675-ACA6-7C95E0991213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66670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8E2211-262E-4054-AE50-AD4F09071510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2800"/>
          </a:p>
        </p:txBody>
      </p:sp>
    </p:spTree>
    <p:extLst>
      <p:ext uri="{BB962C8B-B14F-4D97-AF65-F5344CB8AC3E}">
        <p14:creationId xmlns:p14="http://schemas.microsoft.com/office/powerpoint/2010/main" val="634749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22983CD-40B6-4A0F-A754-6514ADAC0847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200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83CD-40B6-4A0F-A754-6514ADAC0847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7504" y="123478"/>
            <a:ext cx="8229600" cy="576064"/>
          </a:xfrm>
        </p:spPr>
        <p:txBody>
          <a:bodyPr rtlCol="0">
            <a:normAutofit/>
          </a:bodyPr>
          <a:lstStyle>
            <a:lvl1pPr>
              <a:defRPr sz="3600">
                <a:latin typeface="隶书" panose="02010509060101010101" pitchFamily="49" charset="-122"/>
                <a:ea typeface="隶书" panose="02010509060101010101" pitchFamily="49" charset="-122"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>
            <a:normAutofit/>
          </a:bodyPr>
          <a:lstStyle>
            <a:lvl1pPr>
              <a:defRPr sz="360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83CD-40B6-4A0F-A754-6514ADAC0847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1A886-A641-4BE9-83AE-C57D3729B2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843124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8BAC2-AB67-48FF-9D18-450EFFC677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87177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ABB89-65D8-4CE5-91A4-5DF8EAB170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0698488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8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22983CD-40B6-4A0F-A754-6514ADAC0847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5" r:id="rId3"/>
    <p:sldLayoutId id="2147483726" r:id="rId4"/>
    <p:sldLayoutId id="2147483727" r:id="rId5"/>
    <p:sldLayoutId id="2147483728" r:id="rId6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2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jpeg"/><Relationship Id="rId5" Type="http://schemas.openxmlformats.org/officeDocument/2006/relationships/image" Target="../media/image3.jpeg"/><Relationship Id="rId10" Type="http://schemas.openxmlformats.org/officeDocument/2006/relationships/image" Target="../media/image8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69889" y="996554"/>
            <a:ext cx="8269287" cy="32206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endParaRPr kumimoji="1"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kumimoji="1" lang="zh-CN" altLang="en-US" sz="2400" dirty="0"/>
              <a:t>实验目的：理解和掌握自动构造词法分析器的方法，比较词法分析器的自动构造和手动构造的异同。</a:t>
            </a:r>
            <a:endParaRPr kumimoji="1"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kumimoji="1" lang="zh-CN" altLang="en-US" sz="2400" dirty="0"/>
              <a:t>实验内容：利用</a:t>
            </a:r>
            <a:r>
              <a:rPr kumimoji="1" lang="en-US" altLang="zh-CN" sz="2400" dirty="0"/>
              <a:t>flex</a:t>
            </a:r>
            <a:r>
              <a:rPr kumimoji="1" lang="zh-CN" altLang="en-US" sz="2400" dirty="0"/>
              <a:t>词法分析自动生成工具（或者其他的词法分析工具），生成</a:t>
            </a:r>
            <a:r>
              <a:rPr kumimoji="1" lang="en-US" altLang="zh-CN" sz="2400" dirty="0"/>
              <a:t>Sample</a:t>
            </a:r>
            <a:r>
              <a:rPr kumimoji="1" lang="zh-CN" altLang="en-US" sz="2400" dirty="0"/>
              <a:t>语言的词法分析程序。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2510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实验二：词法分析自动生成器（</a:t>
            </a:r>
            <a:r>
              <a:rPr kumimoji="1" lang="en-US" altLang="zh-CN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学时</a:t>
            </a:r>
            <a:r>
              <a:rPr kumimoji="1" lang="en-US" altLang="zh-CN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课外）</a:t>
            </a:r>
          </a:p>
        </p:txBody>
      </p:sp>
    </p:spTree>
    <p:extLst>
      <p:ext uri="{BB962C8B-B14F-4D97-AF65-F5344CB8AC3E}">
        <p14:creationId xmlns:p14="http://schemas.microsoft.com/office/powerpoint/2010/main" val="536813246"/>
      </p:ext>
    </p:extLst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843558"/>
            <a:ext cx="8269287" cy="4146947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400" dirty="0"/>
              <a:t>实验要求</a:t>
            </a:r>
            <a:r>
              <a:rPr kumimoji="1" lang="en-US" altLang="zh-CN" sz="2400" dirty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400" dirty="0"/>
              <a:t>（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）基本内容：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200" dirty="0"/>
              <a:t>编写</a:t>
            </a:r>
            <a:r>
              <a:rPr kumimoji="1" lang="en-US" altLang="zh-CN" sz="2200" dirty="0"/>
              <a:t>Lex</a:t>
            </a:r>
            <a:r>
              <a:rPr kumimoji="1" lang="zh-CN" altLang="en-US" sz="2200" dirty="0"/>
              <a:t>源程序，其功能是统计文本文件中的字符数和行数。 请分析</a:t>
            </a:r>
            <a:r>
              <a:rPr kumimoji="1" lang="en-US" altLang="zh-CN" sz="2200" dirty="0"/>
              <a:t>Lex</a:t>
            </a:r>
            <a:r>
              <a:rPr kumimoji="1" lang="zh-CN" altLang="en-US" sz="2200" dirty="0"/>
              <a:t>生成的</a:t>
            </a:r>
            <a:r>
              <a:rPr kumimoji="1" lang="en-US" altLang="zh-CN" sz="2200" dirty="0"/>
              <a:t>C</a:t>
            </a:r>
            <a:r>
              <a:rPr kumimoji="1" lang="zh-CN" altLang="en-US" sz="2200" dirty="0"/>
              <a:t>语言代码，找出“统计字符数和行数”的代码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200" dirty="0"/>
              <a:t>编写</a:t>
            </a:r>
            <a:r>
              <a:rPr kumimoji="1" lang="en-US" altLang="zh-CN" sz="2200" dirty="0"/>
              <a:t>Lex</a:t>
            </a:r>
            <a:r>
              <a:rPr kumimoji="1" lang="zh-CN" altLang="en-US" sz="2200" dirty="0"/>
              <a:t>源程序，其功能是输出文本文件中</a:t>
            </a:r>
            <a:r>
              <a:rPr kumimoji="1" lang="en-US" altLang="zh-CN" sz="2200" dirty="0"/>
              <a:t>Sample</a:t>
            </a:r>
            <a:r>
              <a:rPr kumimoji="1" lang="zh-CN" altLang="en-US" sz="2200" dirty="0"/>
              <a:t>语言的标识符和整数。并分析生成的</a:t>
            </a:r>
            <a:r>
              <a:rPr kumimoji="1" lang="en-US" altLang="zh-CN" sz="2200" dirty="0"/>
              <a:t>C</a:t>
            </a:r>
            <a:r>
              <a:rPr kumimoji="1" lang="zh-CN" altLang="en-US" sz="2200" dirty="0"/>
              <a:t>语言代码，找出 “识别标识符和整数”的代码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400" dirty="0"/>
              <a:t>（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）扩展内容：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200" dirty="0"/>
              <a:t>编写</a:t>
            </a:r>
            <a:r>
              <a:rPr kumimoji="1" lang="en-US" altLang="zh-CN" sz="2200" dirty="0"/>
              <a:t>Lex</a:t>
            </a:r>
            <a:r>
              <a:rPr kumimoji="1" lang="zh-CN" altLang="en-US" sz="2200" dirty="0"/>
              <a:t>源程序，去掉给定</a:t>
            </a:r>
            <a:r>
              <a:rPr kumimoji="1" lang="en-US" altLang="zh-CN" sz="2200" dirty="0"/>
              <a:t>Sample</a:t>
            </a:r>
            <a:r>
              <a:rPr kumimoji="1" lang="zh-CN" altLang="en-US" sz="2200" dirty="0"/>
              <a:t>语言程序中的注释，并将所有关键字变为小写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200" dirty="0"/>
              <a:t>编写</a:t>
            </a:r>
            <a:r>
              <a:rPr kumimoji="1" lang="en-US" altLang="zh-CN" sz="2200" dirty="0"/>
              <a:t>Lex</a:t>
            </a:r>
            <a:r>
              <a:rPr kumimoji="1" lang="zh-CN" altLang="en-US" sz="2200" dirty="0"/>
              <a:t>源程序，能识别</a:t>
            </a:r>
            <a:r>
              <a:rPr kumimoji="1" lang="en-US" altLang="zh-CN" sz="2200" dirty="0"/>
              <a:t>Sample</a:t>
            </a:r>
            <a:r>
              <a:rPr kumimoji="1" lang="zh-CN" altLang="en-US" sz="2200" dirty="0"/>
              <a:t>语言（或者自选语言）的所有单词，生成词法分析程序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400" dirty="0"/>
              <a:t>（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）完成实验报告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2510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实验二：词法分析自动生成器（</a:t>
            </a:r>
            <a:r>
              <a:rPr kumimoji="1" lang="en-US" altLang="zh-CN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学时</a:t>
            </a:r>
            <a:r>
              <a:rPr kumimoji="1" lang="en-US" altLang="zh-CN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zh-CN" altLang="en-US" sz="3200" b="1" dirty="0">
                <a:solidFill>
                  <a:srgbClr val="663399"/>
                </a:solidFill>
                <a:latin typeface="Times New Roman" pitchFamily="18" charset="0"/>
                <a:ea typeface="隶书" pitchFamily="49" charset="-122"/>
              </a:rPr>
              <a:t>课外）</a:t>
            </a:r>
          </a:p>
        </p:txBody>
      </p:sp>
    </p:spTree>
    <p:extLst>
      <p:ext uri="{BB962C8B-B14F-4D97-AF65-F5344CB8AC3E}">
        <p14:creationId xmlns:p14="http://schemas.microsoft.com/office/powerpoint/2010/main" val="2917620939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1600" y="1563638"/>
            <a:ext cx="699101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800" b="1" dirty="0">
                <a:solidFill>
                  <a:srgbClr val="CC0099"/>
                </a:solidFill>
                <a:latin typeface="Times New Roman" pitchFamily="18" charset="0"/>
                <a:ea typeface="隶书" pitchFamily="49" charset="-122"/>
              </a:rPr>
              <a:t>词法分析程序的自动构造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36147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6149" y="2529832"/>
            <a:ext cx="1258154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正规集</a:t>
            </a:r>
          </a:p>
        </p:txBody>
      </p:sp>
      <p:cxnSp>
        <p:nvCxnSpPr>
          <p:cNvPr id="4" name="直接箭头连接符 3"/>
          <p:cNvCxnSpPr>
            <a:stCxn id="2" idx="0"/>
            <a:endCxn id="5" idx="2"/>
          </p:cNvCxnSpPr>
          <p:nvPr/>
        </p:nvCxnSpPr>
        <p:spPr>
          <a:xfrm flipH="1" flipV="1">
            <a:off x="2255611" y="1980296"/>
            <a:ext cx="779615" cy="549536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49529" y="1272410"/>
            <a:ext cx="1412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某语言的单词集合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8135" y="3787755"/>
            <a:ext cx="1777143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正则表达式</a:t>
            </a:r>
          </a:p>
        </p:txBody>
      </p:sp>
      <p:cxnSp>
        <p:nvCxnSpPr>
          <p:cNvPr id="7" name="直接箭头连接符 6"/>
          <p:cNvCxnSpPr>
            <a:stCxn id="2" idx="2"/>
            <a:endCxn id="8" idx="0"/>
          </p:cNvCxnSpPr>
          <p:nvPr/>
        </p:nvCxnSpPr>
        <p:spPr>
          <a:xfrm flipH="1">
            <a:off x="1846707" y="2960719"/>
            <a:ext cx="1188519" cy="827036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926661" y="4434666"/>
            <a:ext cx="175660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有穷自动机</a:t>
            </a:r>
            <a:r>
              <a:rPr lang="en-US" altLang="zh-CN" dirty="0"/>
              <a:t>FA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3658505" y="2991498"/>
            <a:ext cx="1145250" cy="467877"/>
          </a:xfrm>
          <a:prstGeom prst="straightConnector1">
            <a:avLst/>
          </a:prstGeom>
          <a:ln w="571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3"/>
            <a:endCxn id="17" idx="1"/>
          </p:cNvCxnSpPr>
          <p:nvPr/>
        </p:nvCxnSpPr>
        <p:spPr>
          <a:xfrm>
            <a:off x="2735278" y="4003199"/>
            <a:ext cx="2263158" cy="0"/>
          </a:xfrm>
          <a:prstGeom prst="straightConnector1">
            <a:avLst/>
          </a:prstGeom>
          <a:ln w="57150" cmpd="tri">
            <a:solidFill>
              <a:srgbClr val="0000FF"/>
            </a:solidFill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998438" y="1821433"/>
            <a:ext cx="1742196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200" dirty="0"/>
              <a:t>最小的</a:t>
            </a:r>
            <a:r>
              <a:rPr lang="en-US" altLang="zh-CN" sz="2200" dirty="0"/>
              <a:t>DFA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4998436" y="3787755"/>
            <a:ext cx="1169937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200" dirty="0"/>
              <a:t>NFA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998437" y="2915551"/>
            <a:ext cx="1169937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200" dirty="0"/>
              <a:t>DFA</a:t>
            </a:r>
          </a:p>
        </p:txBody>
      </p:sp>
      <p:sp>
        <p:nvSpPr>
          <p:cNvPr id="13" name="矩形 12"/>
          <p:cNvSpPr/>
          <p:nvPr/>
        </p:nvSpPr>
        <p:spPr>
          <a:xfrm>
            <a:off x="4803755" y="1626353"/>
            <a:ext cx="2057310" cy="31776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7020272" y="339501"/>
          <a:ext cx="2097232" cy="2072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7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22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effectLst/>
                        </a:rPr>
                        <a:t>算法</a:t>
                      </a: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2.1  DFA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effectLst/>
                        </a:rPr>
                        <a:t>模拟</a:t>
                      </a:r>
                      <a:r>
                        <a:rPr lang="zh-CN" sz="1000" b="0" kern="100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判断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DFA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是否能识别一个输入符号串</a:t>
                      </a: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输入：一个以</a:t>
                      </a: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</a:rPr>
                        <a:t>eof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结尾的字符串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，一个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DFA D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的初始状态为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800" b="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，终结状态集为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，转换函数为</a:t>
                      </a:r>
                      <a:r>
                        <a:rPr lang="fr-FR" sz="800" b="0" kern="100" dirty="0">
                          <a:solidFill>
                            <a:schemeClr val="tx1"/>
                          </a:solidFill>
                          <a:effectLst/>
                          <a:sym typeface="Symbol"/>
                        </a:rPr>
                        <a:t>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输出：如果</a:t>
                      </a:r>
                      <a:r>
                        <a:rPr lang="fr-FR" sz="800" b="0" kern="1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能识别符号串</a:t>
                      </a:r>
                      <a:r>
                        <a:rPr lang="fr-FR" sz="800" b="0" kern="10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。输出“</a:t>
                      </a:r>
                      <a:r>
                        <a:rPr lang="fr-FR" sz="800" b="0" kern="10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”，否则输出“</a:t>
                      </a:r>
                      <a:r>
                        <a:rPr lang="fr-FR" sz="800" b="0" kern="10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”</a:t>
                      </a: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步骤：</a:t>
                      </a: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s=s</a:t>
                      </a:r>
                      <a:r>
                        <a:rPr lang="en-US" sz="800" b="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；</a:t>
                      </a: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c= </a:t>
                      </a: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</a:rPr>
                        <a:t>GetNextChar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 ();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while(c != </a:t>
                      </a: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</a:rPr>
                        <a:t>eof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) {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       </a:t>
                      </a:r>
                      <a:r>
                        <a:rPr lang="en-US" sz="800" b="1" kern="100" dirty="0">
                          <a:solidFill>
                            <a:srgbClr val="FF0000"/>
                          </a:solidFill>
                          <a:effectLst/>
                        </a:rPr>
                        <a:t>s = </a:t>
                      </a:r>
                      <a:r>
                        <a:rPr lang="fr-FR" sz="800" b="1" kern="100" dirty="0">
                          <a:solidFill>
                            <a:srgbClr val="FF0000"/>
                          </a:solidFill>
                          <a:effectLst/>
                          <a:sym typeface="Symbol"/>
                        </a:rPr>
                        <a:t></a:t>
                      </a:r>
                      <a:r>
                        <a:rPr lang="pt-PT" sz="800" b="1" kern="100" dirty="0">
                          <a:solidFill>
                            <a:srgbClr val="FF0000"/>
                          </a:solidFill>
                          <a:effectLst/>
                        </a:rPr>
                        <a:t>(s,c);</a:t>
                      </a:r>
                      <a:endParaRPr lang="zh-CN" sz="800" b="1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       c= </a:t>
                      </a: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</a:rPr>
                        <a:t>GetNextChar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 ();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if( s 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在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中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) return 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“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”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else return 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“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r>
                        <a:rPr lang="zh-CN" sz="800" b="0" kern="100" dirty="0">
                          <a:solidFill>
                            <a:schemeClr val="tx1"/>
                          </a:solidFill>
                          <a:effectLst/>
                        </a:rPr>
                        <a:t>”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  <a:endParaRPr lang="zh-CN" sz="8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直接箭头连接符 59"/>
          <p:cNvCxnSpPr/>
          <p:nvPr/>
        </p:nvCxnSpPr>
        <p:spPr>
          <a:xfrm flipV="1">
            <a:off x="6743265" y="1821433"/>
            <a:ext cx="277007" cy="350475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5502491" y="3346438"/>
            <a:ext cx="2" cy="45118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5790525" y="3346438"/>
            <a:ext cx="1" cy="441317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18" idx="0"/>
          </p:cNvCxnSpPr>
          <p:nvPr/>
        </p:nvCxnSpPr>
        <p:spPr>
          <a:xfrm flipV="1">
            <a:off x="5583406" y="2252320"/>
            <a:ext cx="0" cy="66323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15" idx="1"/>
          </p:cNvCxnSpPr>
          <p:nvPr/>
        </p:nvCxnSpPr>
        <p:spPr>
          <a:xfrm flipH="1">
            <a:off x="3664305" y="2036877"/>
            <a:ext cx="1334133" cy="547058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表格 80"/>
          <p:cNvGraphicFramePr>
            <a:graphicFrameLocks noGrp="1"/>
          </p:cNvGraphicFramePr>
          <p:nvPr/>
        </p:nvGraphicFramePr>
        <p:xfrm>
          <a:off x="0" y="208307"/>
          <a:ext cx="1530702" cy="25710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单词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编码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单词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编码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16">
                <a:tc rowSpan="1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关键字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char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101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9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运算符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102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[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203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break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104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const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105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!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205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106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206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void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107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/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207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continue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108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%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208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do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109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209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while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if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211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else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112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&lt;=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212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for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113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 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213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916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界符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301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&gt;=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214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302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==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215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;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303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!=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216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304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&amp;&amp;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217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7916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单词类别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整数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||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218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字符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=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219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字符串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标识符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700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7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5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实数</a:t>
                      </a: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800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5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5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5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2770" y="3622156"/>
            <a:ext cx="81317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DO</a:t>
            </a:r>
          </a:p>
          <a:p>
            <a:r>
              <a:rPr lang="en-US" altLang="zh-CN" sz="1200" dirty="0"/>
              <a:t>IF</a:t>
            </a:r>
          </a:p>
          <a:p>
            <a:r>
              <a:rPr lang="en-US" altLang="zh-CN" sz="1200" dirty="0"/>
              <a:t>WHILE</a:t>
            </a:r>
          </a:p>
          <a:p>
            <a:r>
              <a:rPr lang="en-US" altLang="zh-CN" sz="1200" dirty="0"/>
              <a:t>L(L|D)*</a:t>
            </a:r>
          </a:p>
          <a:p>
            <a:r>
              <a:rPr lang="en-US" altLang="zh-CN" sz="1200" dirty="0"/>
              <a:t>DD*</a:t>
            </a:r>
          </a:p>
          <a:p>
            <a:r>
              <a:rPr lang="en-US" altLang="zh-CN" sz="1200" dirty="0"/>
              <a:t>+</a:t>
            </a:r>
          </a:p>
          <a:p>
            <a:r>
              <a:rPr lang="en-US" altLang="zh-CN" sz="1200" dirty="0"/>
              <a:t>_</a:t>
            </a:r>
          </a:p>
          <a:p>
            <a:r>
              <a:rPr lang="en-US" altLang="zh-CN" sz="1200" dirty="0"/>
              <a:t>……</a:t>
            </a:r>
            <a:endParaRPr lang="zh-CN" altLang="en-US" sz="1200" dirty="0"/>
          </a:p>
        </p:txBody>
      </p:sp>
      <p:graphicFrame>
        <p:nvGraphicFramePr>
          <p:cNvPr id="29" name="Group 49"/>
          <p:cNvGraphicFramePr>
            <a:graphicFrameLocks noGrp="1"/>
          </p:cNvGraphicFramePr>
          <p:nvPr/>
        </p:nvGraphicFramePr>
        <p:xfrm>
          <a:off x="7930278" y="2785005"/>
          <a:ext cx="1161709" cy="1348740"/>
        </p:xfrm>
        <a:graphic>
          <a:graphicData uri="http://schemas.openxmlformats.org/drawingml/2006/table">
            <a:tbl>
              <a:tblPr/>
              <a:tblGrid>
                <a:gridCol w="65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602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输入状态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7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Times New Roman"/>
                          <a:ea typeface="宋体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Times New Roman"/>
                          <a:ea typeface="宋体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855" y="72008"/>
            <a:ext cx="1828899" cy="113159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3" name="直接箭头连接符 32"/>
          <p:cNvCxnSpPr>
            <a:stCxn id="36866" idx="2"/>
          </p:cNvCxnSpPr>
          <p:nvPr/>
        </p:nvCxnSpPr>
        <p:spPr>
          <a:xfrm flipH="1">
            <a:off x="2749855" y="1203598"/>
            <a:ext cx="914450" cy="422755"/>
          </a:xfrm>
          <a:prstGeom prst="straightConnector1">
            <a:avLst/>
          </a:prstGeom>
          <a:ln w="571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2"/>
          </p:cNvCxnSpPr>
          <p:nvPr/>
        </p:nvCxnSpPr>
        <p:spPr>
          <a:xfrm>
            <a:off x="5869536" y="2252320"/>
            <a:ext cx="0" cy="66323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8" idx="1"/>
          </p:cNvCxnSpPr>
          <p:nvPr/>
        </p:nvCxnSpPr>
        <p:spPr>
          <a:xfrm flipH="1" flipV="1">
            <a:off x="3658505" y="2715780"/>
            <a:ext cx="1339932" cy="415215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4578754" y="507095"/>
            <a:ext cx="1004652" cy="326351"/>
          </a:xfrm>
          <a:prstGeom prst="straightConnector1">
            <a:avLst/>
          </a:prstGeom>
          <a:ln w="57150">
            <a:solidFill>
              <a:srgbClr val="CC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48064" y="51470"/>
            <a:ext cx="1163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C00FF"/>
                </a:solidFill>
              </a:rPr>
              <a:t>符号串</a:t>
            </a: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5869536" y="513135"/>
            <a:ext cx="1150736" cy="652702"/>
          </a:xfrm>
          <a:prstGeom prst="straightConnector1">
            <a:avLst/>
          </a:prstGeom>
          <a:ln w="57150">
            <a:solidFill>
              <a:srgbClr val="CC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6683262" y="2310407"/>
            <a:ext cx="1247016" cy="681091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2846" y="891755"/>
            <a:ext cx="584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8293" y="824394"/>
            <a:ext cx="584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0" name="任意多边形 19"/>
          <p:cNvSpPr/>
          <p:nvPr/>
        </p:nvSpPr>
        <p:spPr>
          <a:xfrm>
            <a:off x="1469107" y="428625"/>
            <a:ext cx="4074443" cy="1670678"/>
          </a:xfrm>
          <a:custGeom>
            <a:avLst/>
            <a:gdLst>
              <a:gd name="connsiteX0" fmla="*/ 4074443 w 4074443"/>
              <a:gd name="connsiteY0" fmla="*/ 0 h 1670678"/>
              <a:gd name="connsiteX1" fmla="*/ 2374231 w 4074443"/>
              <a:gd name="connsiteY1" fmla="*/ 600075 h 1670678"/>
              <a:gd name="connsiteX2" fmla="*/ 516856 w 4074443"/>
              <a:gd name="connsiteY2" fmla="*/ 1600200 h 1670678"/>
              <a:gd name="connsiteX3" fmla="*/ 45368 w 4074443"/>
              <a:gd name="connsiteY3" fmla="*/ 1585913 h 1670678"/>
              <a:gd name="connsiteX4" fmla="*/ 45368 w 4074443"/>
              <a:gd name="connsiteY4" fmla="*/ 1571625 h 167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4443" h="1670678">
                <a:moveTo>
                  <a:pt x="4074443" y="0"/>
                </a:moveTo>
                <a:cubicBezTo>
                  <a:pt x="3520802" y="166687"/>
                  <a:pt x="2967162" y="333375"/>
                  <a:pt x="2374231" y="600075"/>
                </a:cubicBezTo>
                <a:cubicBezTo>
                  <a:pt x="1781300" y="866775"/>
                  <a:pt x="905000" y="1435894"/>
                  <a:pt x="516856" y="1600200"/>
                </a:cubicBezTo>
                <a:cubicBezTo>
                  <a:pt x="128712" y="1764506"/>
                  <a:pt x="123949" y="1590676"/>
                  <a:pt x="45368" y="1585913"/>
                </a:cubicBezTo>
                <a:cubicBezTo>
                  <a:pt x="-33213" y="1581150"/>
                  <a:pt x="6077" y="1576387"/>
                  <a:pt x="45368" y="1571625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1485900" y="2020587"/>
            <a:ext cx="6457950" cy="2307096"/>
          </a:xfrm>
          <a:custGeom>
            <a:avLst/>
            <a:gdLst>
              <a:gd name="connsiteX0" fmla="*/ 0 w 6457950"/>
              <a:gd name="connsiteY0" fmla="*/ 279701 h 2307096"/>
              <a:gd name="connsiteX1" fmla="*/ 1114425 w 6457950"/>
              <a:gd name="connsiteY1" fmla="*/ 551163 h 2307096"/>
              <a:gd name="connsiteX2" fmla="*/ 200025 w 6457950"/>
              <a:gd name="connsiteY2" fmla="*/ 1994201 h 2307096"/>
              <a:gd name="connsiteX3" fmla="*/ 4143375 w 6457950"/>
              <a:gd name="connsiteY3" fmla="*/ 2137076 h 2307096"/>
              <a:gd name="connsiteX4" fmla="*/ 4343400 w 6457950"/>
              <a:gd name="connsiteY4" fmla="*/ 8238 h 2307096"/>
              <a:gd name="connsiteX5" fmla="*/ 6457950 w 6457950"/>
              <a:gd name="connsiteY5" fmla="*/ 1351263 h 2307096"/>
              <a:gd name="connsiteX6" fmla="*/ 6457950 w 6457950"/>
              <a:gd name="connsiteY6" fmla="*/ 1351263 h 230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7950" h="2307096">
                <a:moveTo>
                  <a:pt x="0" y="279701"/>
                </a:moveTo>
                <a:cubicBezTo>
                  <a:pt x="540544" y="272557"/>
                  <a:pt x="1081088" y="265413"/>
                  <a:pt x="1114425" y="551163"/>
                </a:cubicBezTo>
                <a:cubicBezTo>
                  <a:pt x="1147762" y="836913"/>
                  <a:pt x="-304800" y="1729882"/>
                  <a:pt x="200025" y="1994201"/>
                </a:cubicBezTo>
                <a:cubicBezTo>
                  <a:pt x="704850" y="2258520"/>
                  <a:pt x="3452812" y="2468070"/>
                  <a:pt x="4143375" y="2137076"/>
                </a:cubicBezTo>
                <a:cubicBezTo>
                  <a:pt x="4833938" y="1806082"/>
                  <a:pt x="3957638" y="139207"/>
                  <a:pt x="4343400" y="8238"/>
                </a:cubicBezTo>
                <a:cubicBezTo>
                  <a:pt x="4729162" y="-122731"/>
                  <a:pt x="6457950" y="1351263"/>
                  <a:pt x="6457950" y="1351263"/>
                </a:cubicBezTo>
                <a:lnTo>
                  <a:pt x="6457950" y="1351263"/>
                </a:lnTo>
              </a:path>
            </a:pathLst>
          </a:cu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8172400" y="2285459"/>
            <a:ext cx="61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+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3514725" y="514350"/>
            <a:ext cx="4644385" cy="2545539"/>
          </a:xfrm>
          <a:custGeom>
            <a:avLst/>
            <a:gdLst>
              <a:gd name="connsiteX0" fmla="*/ 2286000 w 4644385"/>
              <a:gd name="connsiteY0" fmla="*/ 0 h 2545539"/>
              <a:gd name="connsiteX1" fmla="*/ 3800475 w 4644385"/>
              <a:gd name="connsiteY1" fmla="*/ 971550 h 2545539"/>
              <a:gd name="connsiteX2" fmla="*/ 4614863 w 4644385"/>
              <a:gd name="connsiteY2" fmla="*/ 2543175 h 2545539"/>
              <a:gd name="connsiteX3" fmla="*/ 2786063 w 4644385"/>
              <a:gd name="connsiteY3" fmla="*/ 1343025 h 2545539"/>
              <a:gd name="connsiteX4" fmla="*/ 0 w 4644385"/>
              <a:gd name="connsiteY4" fmla="*/ 2014538 h 2545539"/>
              <a:gd name="connsiteX5" fmla="*/ 0 w 4644385"/>
              <a:gd name="connsiteY5" fmla="*/ 2014538 h 25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4385" h="2545539">
                <a:moveTo>
                  <a:pt x="2286000" y="0"/>
                </a:moveTo>
                <a:cubicBezTo>
                  <a:pt x="2849165" y="273844"/>
                  <a:pt x="3412331" y="547688"/>
                  <a:pt x="3800475" y="971550"/>
                </a:cubicBezTo>
                <a:cubicBezTo>
                  <a:pt x="4188619" y="1395413"/>
                  <a:pt x="4783932" y="2481263"/>
                  <a:pt x="4614863" y="2543175"/>
                </a:cubicBezTo>
                <a:cubicBezTo>
                  <a:pt x="4445794" y="2605088"/>
                  <a:pt x="3555207" y="1431131"/>
                  <a:pt x="2786063" y="1343025"/>
                </a:cubicBezTo>
                <a:cubicBezTo>
                  <a:pt x="2016919" y="1254919"/>
                  <a:pt x="0" y="2014538"/>
                  <a:pt x="0" y="2014538"/>
                </a:cubicBezTo>
                <a:lnTo>
                  <a:pt x="0" y="2014538"/>
                </a:lnTo>
              </a:path>
            </a:pathLst>
          </a:cu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15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/>
      <p:bldP spid="20" grpId="0" animBg="1"/>
      <p:bldP spid="21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1"/>
          <p:cNvSpPr>
            <a:spLocks noChangeArrowheads="1"/>
          </p:cNvSpPr>
          <p:nvPr/>
        </p:nvSpPr>
        <p:spPr bwMode="auto">
          <a:xfrm>
            <a:off x="971600" y="169491"/>
            <a:ext cx="1924000" cy="13457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26670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%%</a:t>
            </a:r>
            <a:endParaRPr lang="en-US" altLang="zh-CN" dirty="0">
              <a:solidFill>
                <a:schemeClr val="tx1"/>
              </a:solidFill>
            </a:endParaRPr>
          </a:p>
          <a:p>
            <a:pPr indent="266700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    {   }</a:t>
            </a:r>
            <a:endParaRPr lang="en-US" altLang="zh-CN" dirty="0">
              <a:solidFill>
                <a:schemeClr val="tx1"/>
              </a:solidFill>
            </a:endParaRPr>
          </a:p>
          <a:p>
            <a:pPr indent="266700">
              <a:lnSpc>
                <a:spcPct val="90000"/>
              </a:lnSpc>
              <a:defRPr/>
            </a:pPr>
            <a:r>
              <a:rPr lang="en-US" altLang="zh-CN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{       }</a:t>
            </a:r>
            <a:endParaRPr lang="en-US" altLang="zh-CN" dirty="0">
              <a:solidFill>
                <a:schemeClr val="tx1"/>
              </a:solidFill>
            </a:endParaRPr>
          </a:p>
          <a:p>
            <a:pPr indent="266700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a*bb* {       }</a:t>
            </a:r>
            <a:endParaRPr lang="en-US" altLang="zh-CN" dirty="0">
              <a:solidFill>
                <a:schemeClr val="tx1"/>
              </a:solidFill>
            </a:endParaRPr>
          </a:p>
          <a:p>
            <a:pPr indent="266700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%%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479634" y="-26161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ahoma" pitchFamily="34" charset="0"/>
            </a:endParaRPr>
          </a:p>
        </p:txBody>
      </p:sp>
      <p:graphicFrame>
        <p:nvGraphicFramePr>
          <p:cNvPr id="108548" name="Object 2" descr="画布"/>
          <p:cNvGraphicFramePr>
            <a:graphicFrameLocks noChangeAspect="1"/>
          </p:cNvGraphicFramePr>
          <p:nvPr/>
        </p:nvGraphicFramePr>
        <p:xfrm>
          <a:off x="4343401" y="0"/>
          <a:ext cx="4594225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Visio" r:id="rId3" imgW="2803081" imgH="1478711" progId="Visio.Drawing.11">
                  <p:embed/>
                </p:oleObj>
              </mc:Choice>
              <mc:Fallback>
                <p:oleObj name="Visio" r:id="rId3" imgW="2803081" imgH="1478711" progId="Visio.Drawing.11">
                  <p:embed/>
                  <p:pic>
                    <p:nvPicPr>
                      <p:cNvPr id="108548" name="Object 2" descr="画布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0"/>
                        <a:ext cx="4594225" cy="1657350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Rectangle 5"/>
          <p:cNvSpPr>
            <a:spLocks noChangeArrowheads="1"/>
          </p:cNvSpPr>
          <p:nvPr/>
        </p:nvSpPr>
        <p:spPr bwMode="auto">
          <a:xfrm>
            <a:off x="4479634" y="-26161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ahoma" pitchFamily="34" charset="0"/>
            </a:endParaRPr>
          </a:p>
        </p:txBody>
      </p:sp>
      <p:graphicFrame>
        <p:nvGraphicFramePr>
          <p:cNvPr id="108550" name="Object 4" descr="蓝色面巾纸"/>
          <p:cNvGraphicFramePr>
            <a:graphicFrameLocks noChangeAspect="1"/>
          </p:cNvGraphicFramePr>
          <p:nvPr/>
        </p:nvGraphicFramePr>
        <p:xfrm>
          <a:off x="5029200" y="2228850"/>
          <a:ext cx="38925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Visio" r:id="rId6" imgW="3428595" imgH="1478711" progId="Visio.Drawing.11">
                  <p:embed/>
                </p:oleObj>
              </mc:Choice>
              <mc:Fallback>
                <p:oleObj name="Visio" r:id="rId6" imgW="3428595" imgH="1478711" progId="Visio.Drawing.11">
                  <p:embed/>
                  <p:pic>
                    <p:nvPicPr>
                      <p:cNvPr id="108550" name="Object 4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228850"/>
                        <a:ext cx="3892550" cy="1257300"/>
                      </a:xfrm>
                      <a:prstGeom prst="rect">
                        <a:avLst/>
                      </a:prstGeom>
                      <a:blipFill dpi="0" rotWithShape="0">
                        <a:blip r:embed="rId8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4479634" y="-26161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ahoma" pitchFamily="34" charset="0"/>
            </a:endParaRPr>
          </a:p>
        </p:txBody>
      </p:sp>
      <p:graphicFrame>
        <p:nvGraphicFramePr>
          <p:cNvPr id="108552" name="Object 6" descr="新闻纸"/>
          <p:cNvGraphicFramePr>
            <a:graphicFrameLocks noChangeAspect="1"/>
          </p:cNvGraphicFramePr>
          <p:nvPr/>
        </p:nvGraphicFramePr>
        <p:xfrm>
          <a:off x="381000" y="1828801"/>
          <a:ext cx="2971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Visio" r:id="rId9" imgW="2116876" imgH="1651898" progId="Visio.Drawing.11">
                  <p:embed/>
                </p:oleObj>
              </mc:Choice>
              <mc:Fallback>
                <p:oleObj name="Visio" r:id="rId9" imgW="2116876" imgH="1651898" progId="Visio.Drawing.11">
                  <p:embed/>
                  <p:pic>
                    <p:nvPicPr>
                      <p:cNvPr id="108552" name="Object 6" descr="新闻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28801"/>
                        <a:ext cx="2971800" cy="1257300"/>
                      </a:xfrm>
                      <a:prstGeom prst="rect">
                        <a:avLst/>
                      </a:prstGeom>
                      <a:blipFill dpi="0" rotWithShape="0">
                        <a:blip r:embed="rId11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右箭头 10"/>
          <p:cNvSpPr/>
          <p:nvPr/>
        </p:nvSpPr>
        <p:spPr>
          <a:xfrm rot="10800000">
            <a:off x="3581400" y="2286000"/>
            <a:ext cx="10668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553200" y="1428750"/>
            <a:ext cx="1143000" cy="800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3048000" y="514350"/>
            <a:ext cx="106680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972942" y="4081999"/>
            <a:ext cx="87401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最小化状态转换矩阵</a:t>
            </a:r>
          </a:p>
        </p:txBody>
      </p:sp>
      <p:sp>
        <p:nvSpPr>
          <p:cNvPr id="15" name="下箭头 14"/>
          <p:cNvSpPr/>
          <p:nvPr/>
        </p:nvSpPr>
        <p:spPr>
          <a:xfrm>
            <a:off x="1740701" y="3143250"/>
            <a:ext cx="1295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aphicFrame>
        <p:nvGraphicFramePr>
          <p:cNvPr id="16" name="Group 49"/>
          <p:cNvGraphicFramePr>
            <a:graphicFrameLocks noGrp="1"/>
          </p:cNvGraphicFramePr>
          <p:nvPr/>
        </p:nvGraphicFramePr>
        <p:xfrm>
          <a:off x="1762580" y="3914461"/>
          <a:ext cx="1161709" cy="1165860"/>
        </p:xfrm>
        <a:graphic>
          <a:graphicData uri="http://schemas.openxmlformats.org/drawingml/2006/table">
            <a:tbl>
              <a:tblPr/>
              <a:tblGrid>
                <a:gridCol w="65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602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输入状态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7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Times New Roman"/>
                          <a:ea typeface="宋体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Times New Roman"/>
                          <a:ea typeface="宋体"/>
                        </a:rPr>
                        <a:t>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070548" y="4293031"/>
            <a:ext cx="5517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+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4571999" y="4169921"/>
            <a:ext cx="2286000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词法分析的控制程序（算法</a:t>
            </a:r>
            <a:r>
              <a:rPr lang="en-US" altLang="zh-CN" sz="2200" dirty="0">
                <a:solidFill>
                  <a:schemeClr val="tx1"/>
                </a:solidFill>
              </a:rPr>
              <a:t>2.1</a:t>
            </a:r>
            <a:r>
              <a:rPr lang="zh-CN" altLang="en-US" sz="2200" dirty="0">
                <a:solidFill>
                  <a:schemeClr val="tx1"/>
                </a:solidFill>
              </a:rPr>
              <a:t>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25797" y="4244665"/>
            <a:ext cx="1540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=</a:t>
            </a:r>
            <a:r>
              <a:rPr lang="en-US" altLang="zh-CN" sz="3200" dirty="0" err="1"/>
              <a:t>yylex</a:t>
            </a:r>
            <a:endParaRPr lang="zh-CN" altLang="en-US" sz="3200" dirty="0"/>
          </a:p>
        </p:txBody>
      </p:sp>
      <p:sp>
        <p:nvSpPr>
          <p:cNvPr id="6" name="任意多边形 5"/>
          <p:cNvSpPr/>
          <p:nvPr/>
        </p:nvSpPr>
        <p:spPr>
          <a:xfrm>
            <a:off x="116777" y="-1"/>
            <a:ext cx="9027224" cy="5216963"/>
          </a:xfrm>
          <a:custGeom>
            <a:avLst/>
            <a:gdLst>
              <a:gd name="connsiteX0" fmla="*/ 4069462 w 9437667"/>
              <a:gd name="connsiteY0" fmla="*/ 318810 h 5378610"/>
              <a:gd name="connsiteX1" fmla="*/ 3355087 w 9437667"/>
              <a:gd name="connsiteY1" fmla="*/ 347385 h 5378610"/>
              <a:gd name="connsiteX2" fmla="*/ 3126487 w 9437667"/>
              <a:gd name="connsiteY2" fmla="*/ 1718985 h 5378610"/>
              <a:gd name="connsiteX3" fmla="*/ 226124 w 9437667"/>
              <a:gd name="connsiteY3" fmla="*/ 1904722 h 5378610"/>
              <a:gd name="connsiteX4" fmla="*/ 326137 w 9437667"/>
              <a:gd name="connsiteY4" fmla="*/ 3590647 h 5378610"/>
              <a:gd name="connsiteX5" fmla="*/ 1411987 w 9437667"/>
              <a:gd name="connsiteY5" fmla="*/ 5247997 h 5378610"/>
              <a:gd name="connsiteX6" fmla="*/ 4055174 w 9437667"/>
              <a:gd name="connsiteY6" fmla="*/ 5219422 h 5378610"/>
              <a:gd name="connsiteX7" fmla="*/ 3869437 w 9437667"/>
              <a:gd name="connsiteY7" fmla="*/ 4790797 h 5378610"/>
              <a:gd name="connsiteX8" fmla="*/ 3983737 w 9437667"/>
              <a:gd name="connsiteY8" fmla="*/ 4004985 h 5378610"/>
              <a:gd name="connsiteX9" fmla="*/ 5455349 w 9437667"/>
              <a:gd name="connsiteY9" fmla="*/ 4062135 h 5378610"/>
              <a:gd name="connsiteX10" fmla="*/ 8927212 w 9437667"/>
              <a:gd name="connsiteY10" fmla="*/ 3833535 h 5378610"/>
              <a:gd name="connsiteX11" fmla="*/ 8898637 w 9437667"/>
              <a:gd name="connsiteY11" fmla="*/ 247372 h 5378610"/>
              <a:gd name="connsiteX12" fmla="*/ 4012312 w 9437667"/>
              <a:gd name="connsiteY12" fmla="*/ 304522 h 5378610"/>
              <a:gd name="connsiteX13" fmla="*/ 4012312 w 9437667"/>
              <a:gd name="connsiteY13" fmla="*/ 304522 h 537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437667" h="5378610">
                <a:moveTo>
                  <a:pt x="4069462" y="318810"/>
                </a:moveTo>
                <a:cubicBezTo>
                  <a:pt x="3790855" y="216416"/>
                  <a:pt x="3512249" y="114022"/>
                  <a:pt x="3355087" y="347385"/>
                </a:cubicBezTo>
                <a:cubicBezTo>
                  <a:pt x="3197924" y="580748"/>
                  <a:pt x="3647981" y="1459429"/>
                  <a:pt x="3126487" y="1718985"/>
                </a:cubicBezTo>
                <a:cubicBezTo>
                  <a:pt x="2604993" y="1978541"/>
                  <a:pt x="692849" y="1592778"/>
                  <a:pt x="226124" y="1904722"/>
                </a:cubicBezTo>
                <a:cubicBezTo>
                  <a:pt x="-240601" y="2216666"/>
                  <a:pt x="128493" y="3033435"/>
                  <a:pt x="326137" y="3590647"/>
                </a:cubicBezTo>
                <a:cubicBezTo>
                  <a:pt x="523781" y="4147860"/>
                  <a:pt x="790481" y="4976535"/>
                  <a:pt x="1411987" y="5247997"/>
                </a:cubicBezTo>
                <a:cubicBezTo>
                  <a:pt x="2033493" y="5519459"/>
                  <a:pt x="3645599" y="5295622"/>
                  <a:pt x="4055174" y="5219422"/>
                </a:cubicBezTo>
                <a:cubicBezTo>
                  <a:pt x="4464749" y="5143222"/>
                  <a:pt x="3881343" y="4993203"/>
                  <a:pt x="3869437" y="4790797"/>
                </a:cubicBezTo>
                <a:cubicBezTo>
                  <a:pt x="3857531" y="4588391"/>
                  <a:pt x="3719419" y="4126429"/>
                  <a:pt x="3983737" y="4004985"/>
                </a:cubicBezTo>
                <a:cubicBezTo>
                  <a:pt x="4248055" y="3883541"/>
                  <a:pt x="4631437" y="4090710"/>
                  <a:pt x="5455349" y="4062135"/>
                </a:cubicBezTo>
                <a:cubicBezTo>
                  <a:pt x="6279261" y="4033560"/>
                  <a:pt x="8353331" y="4469329"/>
                  <a:pt x="8927212" y="3833535"/>
                </a:cubicBezTo>
                <a:cubicBezTo>
                  <a:pt x="9501093" y="3197741"/>
                  <a:pt x="9717787" y="835541"/>
                  <a:pt x="8898637" y="247372"/>
                </a:cubicBezTo>
                <a:cubicBezTo>
                  <a:pt x="8079487" y="-340797"/>
                  <a:pt x="4012312" y="304522"/>
                  <a:pt x="4012312" y="304522"/>
                </a:cubicBezTo>
                <a:lnTo>
                  <a:pt x="4012312" y="304522"/>
                </a:ln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22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14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en-US" altLang="zh-CN" sz="5400" b="1">
                <a:solidFill>
                  <a:srgbClr val="CC0099"/>
                </a:solidFill>
                <a:ea typeface="隶书" pitchFamily="49" charset="-122"/>
              </a:rPr>
              <a:t>Lex</a:t>
            </a:r>
            <a:r>
              <a:rPr kumimoji="1" lang="zh-CN" altLang="zh-CN" sz="5400" b="1">
                <a:solidFill>
                  <a:srgbClr val="CC0099"/>
                </a:solidFill>
                <a:ea typeface="隶书" pitchFamily="49" charset="-122"/>
              </a:rPr>
              <a:t>的工作过程</a:t>
            </a:r>
            <a:endParaRPr kumimoji="1" lang="zh-CN" altLang="en-US" sz="5400" b="1">
              <a:solidFill>
                <a:srgbClr val="CC0099"/>
              </a:solidFill>
              <a:ea typeface="隶书" pitchFamily="49" charset="-122"/>
            </a:endParaRPr>
          </a:p>
        </p:txBody>
      </p:sp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364834" y="987574"/>
            <a:ext cx="8229600" cy="236029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sz="2200" dirty="0"/>
              <a:t>对</a:t>
            </a:r>
            <a:r>
              <a:rPr lang="zh-CN" altLang="zh-CN" sz="2200" dirty="0"/>
              <a:t>翻译规则</a:t>
            </a:r>
            <a:r>
              <a:rPr lang="zh-CN" altLang="en-US" sz="2200" dirty="0"/>
              <a:t>中的每一个正则表达式，</a:t>
            </a:r>
            <a:r>
              <a:rPr lang="zh-CN" altLang="zh-CN" sz="2200" dirty="0"/>
              <a:t>为之构造一个</a:t>
            </a:r>
            <a:r>
              <a:rPr lang="en-US" altLang="zh-CN" sz="2200" dirty="0"/>
              <a:t>NFA </a:t>
            </a:r>
            <a:r>
              <a:rPr lang="en-US" altLang="zh-CN" sz="2200" dirty="0" err="1"/>
              <a:t>M</a:t>
            </a:r>
            <a:r>
              <a:rPr lang="en-US" altLang="zh-CN" sz="2200" baseline="-25000" dirty="0" err="1"/>
              <a:t>i</a:t>
            </a:r>
            <a:endParaRPr lang="en-US" altLang="zh-CN" sz="2200" dirty="0"/>
          </a:p>
          <a:p>
            <a:pPr eaLnBrk="1" hangingPunct="1"/>
            <a:r>
              <a:rPr lang="zh-CN" altLang="zh-CN" sz="2200" dirty="0"/>
              <a:t>将各条翻译规则对应的</a:t>
            </a:r>
            <a:r>
              <a:rPr lang="en-US" altLang="zh-CN" sz="2200" dirty="0"/>
              <a:t>NFA </a:t>
            </a:r>
            <a:r>
              <a:rPr lang="en-US" altLang="zh-CN" sz="2200" dirty="0" err="1"/>
              <a:t>M</a:t>
            </a:r>
            <a:r>
              <a:rPr lang="en-US" altLang="zh-CN" sz="2200" baseline="-25000" dirty="0" err="1"/>
              <a:t>i</a:t>
            </a:r>
            <a:r>
              <a:rPr lang="zh-CN" altLang="zh-CN" sz="2200" dirty="0"/>
              <a:t>合并为一个新的</a:t>
            </a:r>
            <a:r>
              <a:rPr lang="en-US" altLang="zh-CN" sz="2200" dirty="0"/>
              <a:t>NFA M</a:t>
            </a:r>
            <a:r>
              <a:rPr lang="zh-CN" altLang="zh-CN" sz="2200" dirty="0"/>
              <a:t>；</a:t>
            </a:r>
            <a:endParaRPr lang="en-US" altLang="zh-CN" sz="2200" dirty="0"/>
          </a:p>
          <a:p>
            <a:pPr eaLnBrk="1" hangingPunct="1"/>
            <a:r>
              <a:rPr lang="zh-CN" altLang="zh-CN" sz="2200" dirty="0"/>
              <a:t>然后将</a:t>
            </a:r>
            <a:r>
              <a:rPr lang="en-US" altLang="zh-CN" sz="2200" dirty="0"/>
              <a:t>NFA</a:t>
            </a:r>
            <a:r>
              <a:rPr lang="zh-CN" altLang="zh-CN" sz="2200" dirty="0"/>
              <a:t>确定化</a:t>
            </a:r>
            <a:r>
              <a:rPr lang="zh-CN" altLang="en-US" sz="2200" dirty="0"/>
              <a:t>并最小化</a:t>
            </a:r>
            <a:r>
              <a:rPr lang="zh-CN" altLang="zh-CN" sz="2200" dirty="0"/>
              <a:t>为</a:t>
            </a:r>
            <a:r>
              <a:rPr lang="en-US" altLang="zh-CN" sz="2200" dirty="0"/>
              <a:t>DFA D</a:t>
            </a:r>
          </a:p>
          <a:p>
            <a:pPr eaLnBrk="1" hangingPunct="1"/>
            <a:r>
              <a:rPr lang="zh-CN" altLang="zh-CN" sz="2200" dirty="0"/>
              <a:t>生成该</a:t>
            </a:r>
            <a:r>
              <a:rPr lang="en-US" altLang="zh-CN" sz="2200" dirty="0"/>
              <a:t>DFA D</a:t>
            </a:r>
            <a:r>
              <a:rPr lang="zh-CN" altLang="zh-CN" sz="2200" dirty="0"/>
              <a:t>的状态转换矩阵</a:t>
            </a:r>
            <a:endParaRPr lang="en-US" altLang="zh-CN" sz="2200" dirty="0"/>
          </a:p>
          <a:p>
            <a:r>
              <a:rPr lang="zh-CN" altLang="en-US" sz="2200" dirty="0"/>
              <a:t>配合词法分析</a:t>
            </a:r>
            <a:r>
              <a:rPr lang="zh-CN" altLang="zh-CN" sz="2200" dirty="0"/>
              <a:t>控制执行程序</a:t>
            </a:r>
            <a:r>
              <a:rPr lang="zh-CN" altLang="en-US" sz="2200" dirty="0"/>
              <a:t>（算法</a:t>
            </a:r>
            <a:r>
              <a:rPr lang="en-US" altLang="zh-CN" sz="2200" dirty="0"/>
              <a:t>2.1</a:t>
            </a:r>
            <a:r>
              <a:rPr lang="zh-CN" altLang="en-US" sz="2200" dirty="0"/>
              <a:t>），（</a:t>
            </a:r>
            <a:r>
              <a:rPr lang="zh-CN" altLang="zh-CN" sz="2200" dirty="0"/>
              <a:t>由于各种语言的状态转换矩阵的结构相同，所以控制执行程序对各种语言都是相同的</a:t>
            </a:r>
            <a:r>
              <a:rPr lang="zh-CN" altLang="en-US" sz="2200" dirty="0"/>
              <a:t>）</a:t>
            </a:r>
            <a:endParaRPr lang="zh-CN" altLang="zh-CN" sz="2200" dirty="0"/>
          </a:p>
          <a:p>
            <a:pPr eaLnBrk="1" hangingPunct="1"/>
            <a:r>
              <a:rPr lang="zh-CN" altLang="en-US" sz="2200" dirty="0"/>
              <a:t>生成词法分析程序</a:t>
            </a:r>
            <a:endParaRPr lang="en-US" altLang="zh-CN" sz="2200" dirty="0"/>
          </a:p>
          <a:p>
            <a:pPr eaLnBrk="1" hangingPunct="1"/>
            <a:endParaRPr lang="zh-CN" altLang="en-US" sz="2200" dirty="0"/>
          </a:p>
        </p:txBody>
      </p:sp>
      <p:sp>
        <p:nvSpPr>
          <p:cNvPr id="107524" name="Rectangle 2"/>
          <p:cNvSpPr>
            <a:spLocks noChangeArrowheads="1"/>
          </p:cNvSpPr>
          <p:nvPr/>
        </p:nvSpPr>
        <p:spPr bwMode="auto">
          <a:xfrm>
            <a:off x="4479634" y="-26161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5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5979"/>
            <a:ext cx="9144000" cy="8572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en-US" altLang="zh-CN" sz="5400" b="1" dirty="0">
                <a:solidFill>
                  <a:srgbClr val="CC0099"/>
                </a:solidFill>
                <a:ea typeface="隶书" pitchFamily="49" charset="-122"/>
              </a:rPr>
              <a:t>2.6</a:t>
            </a:r>
            <a:r>
              <a:rPr kumimoji="1" lang="zh-CN" altLang="en-US" sz="5400" b="1" dirty="0">
                <a:solidFill>
                  <a:srgbClr val="CC0099"/>
                </a:solidFill>
                <a:ea typeface="隶书" pitchFamily="49" charset="-122"/>
              </a:rPr>
              <a:t>词法分析程序的自动构造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7300"/>
            <a:ext cx="8229600" cy="3546698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200" dirty="0"/>
              <a:t>词法分析程序的自动构造方法，是基于</a:t>
            </a:r>
            <a:r>
              <a:rPr lang="zh-CN" altLang="zh-CN" sz="2200" dirty="0"/>
              <a:t>有穷自动机和正</a:t>
            </a:r>
            <a:r>
              <a:rPr lang="zh-CN" altLang="en-US" sz="2200" dirty="0"/>
              <a:t>则表达</a:t>
            </a:r>
            <a:r>
              <a:rPr lang="zh-CN" altLang="zh-CN" sz="2200" dirty="0"/>
              <a:t>式的等价性</a:t>
            </a:r>
            <a:r>
              <a:rPr lang="zh-CN" altLang="en-US" sz="2200" dirty="0"/>
              <a:t>，即</a:t>
            </a:r>
            <a:r>
              <a:rPr lang="zh-CN" altLang="zh-CN" sz="2200" dirty="0"/>
              <a:t>：      </a:t>
            </a:r>
          </a:p>
          <a:p>
            <a:pPr eaLnBrk="1" hangingPunct="1">
              <a:buFontTx/>
              <a:buNone/>
            </a:pPr>
            <a:endParaRPr lang="zh-CN" altLang="zh-CN" sz="2200" dirty="0"/>
          </a:p>
          <a:p>
            <a:pPr eaLnBrk="1" hangingPunct="1">
              <a:buFontTx/>
              <a:buNone/>
            </a:pPr>
            <a:r>
              <a:rPr lang="zh-CN" altLang="zh-CN" sz="2200" dirty="0"/>
              <a:t>1.对于∑上的一个NFA  M，可以构造一个∑上的正</a:t>
            </a:r>
            <a:r>
              <a:rPr lang="zh-CN" altLang="en-US" sz="2200" dirty="0"/>
              <a:t>则表达</a:t>
            </a:r>
            <a:r>
              <a:rPr lang="zh-CN" altLang="zh-CN" sz="2200" dirty="0"/>
              <a:t>式R,使得L(R)=L(M)。</a:t>
            </a:r>
          </a:p>
          <a:p>
            <a:pPr eaLnBrk="1" hangingPunct="1">
              <a:buFontTx/>
              <a:buNone/>
            </a:pPr>
            <a:r>
              <a:rPr lang="zh-CN" altLang="zh-CN" sz="2200" dirty="0">
                <a:solidFill>
                  <a:srgbClr val="FF0000"/>
                </a:solidFill>
              </a:rPr>
              <a:t>2</a:t>
            </a:r>
            <a:r>
              <a:rPr lang="en-US" altLang="zh-CN" sz="2200" dirty="0">
                <a:solidFill>
                  <a:srgbClr val="FF0000"/>
                </a:solidFill>
              </a:rPr>
              <a:t>.</a:t>
            </a:r>
            <a:r>
              <a:rPr lang="zh-CN" altLang="en-US" sz="2200" dirty="0">
                <a:solidFill>
                  <a:srgbClr val="FF0000"/>
                </a:solidFill>
              </a:rPr>
              <a:t>对于</a:t>
            </a:r>
            <a:r>
              <a:rPr lang="zh-CN" altLang="zh-CN" sz="2200" dirty="0">
                <a:solidFill>
                  <a:srgbClr val="FF0000"/>
                </a:solidFill>
              </a:rPr>
              <a:t>∑上的一个正</a:t>
            </a:r>
            <a:r>
              <a:rPr lang="zh-CN" altLang="en-US" sz="2200" dirty="0">
                <a:solidFill>
                  <a:srgbClr val="FF0000"/>
                </a:solidFill>
              </a:rPr>
              <a:t>则表达</a:t>
            </a:r>
            <a:r>
              <a:rPr lang="zh-CN" altLang="zh-CN" sz="2200" dirty="0">
                <a:solidFill>
                  <a:srgbClr val="FF0000"/>
                </a:solidFill>
              </a:rPr>
              <a:t>式R，可以构造一个∑上的NFA M，使的L</a:t>
            </a:r>
            <a:r>
              <a:rPr lang="en-US" altLang="zh-CN" sz="2200" dirty="0">
                <a:solidFill>
                  <a:srgbClr val="FF0000"/>
                </a:solidFill>
              </a:rPr>
              <a:t>(M)=L(R)</a:t>
            </a:r>
            <a:r>
              <a:rPr lang="zh-CN" altLang="en-US" sz="2200" dirty="0">
                <a:solidFill>
                  <a:srgbClr val="FF0000"/>
                </a:solidFill>
              </a:rPr>
              <a:t>。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altLang="zh-CN" sz="2200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200" dirty="0"/>
              <a:t>给定正则表达式后，一定可以找到一个有穷自动机与之等价</a:t>
            </a:r>
          </a:p>
        </p:txBody>
      </p:sp>
    </p:spTree>
    <p:extLst>
      <p:ext uri="{BB962C8B-B14F-4D97-AF65-F5344CB8AC3E}">
        <p14:creationId xmlns:p14="http://schemas.microsoft.com/office/powerpoint/2010/main" val="266620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771549"/>
          </a:xfrm>
        </p:spPr>
        <p:txBody>
          <a:bodyPr>
            <a:normAutofit/>
          </a:bodyPr>
          <a:lstStyle/>
          <a:p>
            <a:r>
              <a:rPr kumimoji="1" lang="zh-CN" altLang="zh-CN" sz="4000" b="1" dirty="0">
                <a:solidFill>
                  <a:srgbClr val="CC0099"/>
                </a:solidFill>
                <a:ea typeface="隶书" pitchFamily="49" charset="-122"/>
              </a:rPr>
              <a:t>Lex的概述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71550"/>
            <a:ext cx="8229600" cy="3886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200" dirty="0"/>
              <a:t>Lex </a:t>
            </a:r>
            <a:r>
              <a:rPr lang="zh-CN" altLang="en-US" sz="2200" dirty="0"/>
              <a:t>是一种基于</a:t>
            </a:r>
            <a:r>
              <a:rPr lang="zh-CN" altLang="en-US" sz="2200" dirty="0">
                <a:solidFill>
                  <a:srgbClr val="0000FF"/>
                </a:solidFill>
              </a:rPr>
              <a:t>正则表达式的描述</a:t>
            </a:r>
            <a:r>
              <a:rPr lang="zh-CN" altLang="en-US" sz="2200" dirty="0">
                <a:solidFill>
                  <a:srgbClr val="FF0000"/>
                </a:solidFill>
              </a:rPr>
              <a:t>生成词法分析器的工具</a:t>
            </a:r>
            <a:r>
              <a:rPr lang="zh-CN" altLang="en-US" sz="2200" dirty="0"/>
              <a:t>。</a:t>
            </a:r>
            <a:r>
              <a:rPr lang="zh-CN" altLang="zh-CN" sz="2200" dirty="0"/>
              <a:t>广泛用于产生各种语言的词法分析器，也称为</a:t>
            </a:r>
            <a:r>
              <a:rPr lang="en-US" altLang="zh-CN" sz="2200" dirty="0"/>
              <a:t>Lex</a:t>
            </a:r>
            <a:r>
              <a:rPr lang="zh-CN" altLang="zh-CN" sz="2200" dirty="0"/>
              <a:t>编译器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词法分析器是一种</a:t>
            </a:r>
            <a:r>
              <a:rPr lang="zh-CN" altLang="en-US" sz="2200" dirty="0">
                <a:solidFill>
                  <a:srgbClr val="FF0000"/>
                </a:solidFill>
              </a:rPr>
              <a:t>识别文本中的单词模式</a:t>
            </a:r>
            <a:r>
              <a:rPr lang="zh-CN" altLang="en-US" sz="2200" dirty="0"/>
              <a:t>的程序。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单词模式用正则表达式来描述，对每个正则表达式给定一组相关的动作，也</a:t>
            </a:r>
            <a:r>
              <a:rPr lang="zh-CN" altLang="en-US" sz="2200" dirty="0"/>
              <a:t>可能包括返回一个标记。将其用一种特殊的句子结构来定义，称为</a:t>
            </a:r>
            <a:r>
              <a:rPr lang="en-US" altLang="zh-CN" sz="2200" dirty="0"/>
              <a:t>Lex</a:t>
            </a:r>
            <a:r>
              <a:rPr lang="zh-CN" altLang="en-US" sz="2200" dirty="0"/>
              <a:t>语言。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当 </a:t>
            </a:r>
            <a:r>
              <a:rPr lang="en-US" altLang="zh-CN" sz="2200" dirty="0"/>
              <a:t>Lex </a:t>
            </a:r>
            <a:r>
              <a:rPr lang="zh-CN" altLang="en-US" sz="2200" dirty="0"/>
              <a:t>接收到用</a:t>
            </a:r>
            <a:r>
              <a:rPr lang="en-US" altLang="zh-CN" sz="2200" dirty="0" err="1"/>
              <a:t>lex</a:t>
            </a:r>
            <a:r>
              <a:rPr lang="zh-CN" altLang="en-US" sz="2200" dirty="0"/>
              <a:t>语言书写的文本时，一次读入一个输入字符，直到找到一个匹配的模式。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如果能够</a:t>
            </a:r>
            <a:r>
              <a:rPr lang="zh-CN" altLang="en-US" sz="2200" dirty="0">
                <a:solidFill>
                  <a:srgbClr val="FF0000"/>
                </a:solidFill>
              </a:rPr>
              <a:t>找到</a:t>
            </a:r>
            <a:r>
              <a:rPr lang="zh-CN" altLang="en-US" sz="2200" dirty="0"/>
              <a:t>一个</a:t>
            </a:r>
            <a:r>
              <a:rPr lang="zh-CN" altLang="en-US" sz="2200" dirty="0">
                <a:solidFill>
                  <a:srgbClr val="FF0000"/>
                </a:solidFill>
              </a:rPr>
              <a:t>匹配</a:t>
            </a:r>
            <a:r>
              <a:rPr lang="zh-CN" altLang="en-US" sz="2200" dirty="0"/>
              <a:t>的模式，</a:t>
            </a:r>
            <a:r>
              <a:rPr lang="en-US" altLang="zh-CN" sz="2200" dirty="0"/>
              <a:t>Lex </a:t>
            </a:r>
            <a:r>
              <a:rPr lang="zh-CN" altLang="en-US" sz="2200" dirty="0"/>
              <a:t>就</a:t>
            </a:r>
            <a:r>
              <a:rPr lang="zh-CN" altLang="en-US" sz="2200" dirty="0">
                <a:solidFill>
                  <a:srgbClr val="FF0000"/>
                </a:solidFill>
              </a:rPr>
              <a:t>执行相关的动作</a:t>
            </a:r>
            <a:r>
              <a:rPr lang="zh-CN" altLang="en-US" sz="2200" dirty="0"/>
              <a:t>。否则就会停止进一步的处理，显示一个错误消息。</a:t>
            </a:r>
          </a:p>
        </p:txBody>
      </p:sp>
    </p:spTree>
    <p:extLst>
      <p:ext uri="{BB962C8B-B14F-4D97-AF65-F5344CB8AC3E}">
        <p14:creationId xmlns:p14="http://schemas.microsoft.com/office/powerpoint/2010/main" val="21384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词法分析工具介绍</a:t>
            </a:r>
          </a:p>
        </p:txBody>
      </p:sp>
      <p:sp>
        <p:nvSpPr>
          <p:cNvPr id="93187" name="内容占位符 2"/>
          <p:cNvSpPr>
            <a:spLocks noGrp="1"/>
          </p:cNvSpPr>
          <p:nvPr>
            <p:ph idx="1"/>
          </p:nvPr>
        </p:nvSpPr>
        <p:spPr>
          <a:xfrm>
            <a:off x="467544" y="987574"/>
            <a:ext cx="8153400" cy="3429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200" dirty="0"/>
              <a:t>Flex——fast lexical </a:t>
            </a:r>
            <a:r>
              <a:rPr lang="en-US" altLang="zh-CN" sz="2200" dirty="0" err="1"/>
              <a:t>analyser</a:t>
            </a:r>
            <a:r>
              <a:rPr lang="en-US" altLang="zh-CN" sz="2200" dirty="0"/>
              <a:t> generator</a:t>
            </a:r>
            <a:r>
              <a:rPr lang="zh-CN" altLang="en-US" sz="2200" dirty="0"/>
              <a:t>，经常和</a:t>
            </a:r>
            <a:r>
              <a:rPr lang="en-US" altLang="zh-CN" sz="2200" dirty="0"/>
              <a:t>Bison</a:t>
            </a:r>
            <a:r>
              <a:rPr lang="zh-CN" altLang="en-US" sz="2200" dirty="0"/>
              <a:t>语法分析器生成器 一起使用。最初由 </a:t>
            </a:r>
            <a:r>
              <a:rPr lang="en-US" altLang="zh-CN" sz="2200" dirty="0"/>
              <a:t>Vern </a:t>
            </a:r>
            <a:r>
              <a:rPr lang="en-US" altLang="zh-CN" sz="2200" dirty="0" err="1"/>
              <a:t>Paxson</a:t>
            </a:r>
            <a:r>
              <a:rPr lang="en-US" altLang="zh-CN" sz="2200" dirty="0"/>
              <a:t> </a:t>
            </a:r>
            <a:r>
              <a:rPr lang="zh-CN" altLang="en-US" sz="2200" dirty="0"/>
              <a:t>于 </a:t>
            </a:r>
            <a:r>
              <a:rPr lang="en-US" altLang="zh-CN" sz="2200" dirty="0"/>
              <a:t>1987 </a:t>
            </a:r>
            <a:r>
              <a:rPr lang="zh-CN" altLang="en-US" sz="2200" dirty="0"/>
              <a:t>年用</a:t>
            </a:r>
            <a:r>
              <a:rPr lang="en-US" altLang="zh-CN" sz="2200" dirty="0"/>
              <a:t>C</a:t>
            </a:r>
            <a:r>
              <a:rPr lang="zh-CN" altLang="en-US" sz="2200" dirty="0"/>
              <a:t>语言写成</a:t>
            </a:r>
            <a:endParaRPr lang="en-US" altLang="zh-CN" sz="2200" dirty="0"/>
          </a:p>
          <a:p>
            <a:pPr eaLnBrk="1" hangingPunct="1"/>
            <a:r>
              <a:rPr lang="en-US" altLang="zh-CN" sz="2200" dirty="0"/>
              <a:t>flex++——</a:t>
            </a:r>
            <a:r>
              <a:rPr lang="zh-CN" altLang="en-US" sz="2200" dirty="0"/>
              <a:t>用</a:t>
            </a:r>
            <a:r>
              <a:rPr lang="en-US" altLang="zh-CN" sz="2200" dirty="0"/>
              <a:t>C++</a:t>
            </a:r>
            <a:r>
              <a:rPr lang="zh-CN" altLang="en-US" sz="2200" dirty="0"/>
              <a:t>语言的词法分析器生成器</a:t>
            </a:r>
            <a:endParaRPr lang="en-US" altLang="zh-CN" sz="2200" dirty="0"/>
          </a:p>
          <a:p>
            <a:pPr eaLnBrk="1" hangingPunct="1"/>
            <a:r>
              <a:rPr lang="en-US" altLang="zh-CN" sz="2200" dirty="0" err="1"/>
              <a:t>Jflex</a:t>
            </a:r>
            <a:r>
              <a:rPr lang="en-US" altLang="zh-CN" sz="2200" dirty="0"/>
              <a:t>——</a:t>
            </a:r>
            <a:r>
              <a:rPr lang="zh-CN" altLang="en-US" sz="2200" dirty="0"/>
              <a:t>一个</a:t>
            </a:r>
            <a:r>
              <a:rPr lang="en-US" altLang="zh-CN" sz="2200" dirty="0"/>
              <a:t>Java</a:t>
            </a:r>
            <a:r>
              <a:rPr lang="zh-CN" altLang="en-US" sz="2200" dirty="0"/>
              <a:t>的词法</a:t>
            </a:r>
            <a:r>
              <a:rPr lang="en-US" altLang="zh-CN" sz="2200" dirty="0"/>
              <a:t>/</a:t>
            </a:r>
            <a:r>
              <a:rPr lang="zh-CN" altLang="en-US" sz="2200" dirty="0"/>
              <a:t>语法分析生成器</a:t>
            </a:r>
            <a:endParaRPr lang="en-US" altLang="zh-CN" sz="2200" dirty="0"/>
          </a:p>
          <a:p>
            <a:pPr eaLnBrk="1" hangingPunct="1"/>
            <a:r>
              <a:rPr lang="en-US" altLang="zh-CN" sz="2200" dirty="0"/>
              <a:t>ANTLR——</a:t>
            </a:r>
            <a:r>
              <a:rPr lang="en-US" altLang="zh-CN" sz="2200" dirty="0" err="1"/>
              <a:t>ANother</a:t>
            </a:r>
            <a:r>
              <a:rPr lang="en-US" altLang="zh-CN" sz="2200" dirty="0"/>
              <a:t> Tool for Language Recognition</a:t>
            </a:r>
            <a:r>
              <a:rPr lang="zh-CN" altLang="en-US" sz="2200" dirty="0"/>
              <a:t>，是</a:t>
            </a:r>
            <a:r>
              <a:rPr lang="en-US" altLang="zh-CN" sz="2200" dirty="0"/>
              <a:t>Java</a:t>
            </a:r>
            <a:r>
              <a:rPr lang="zh-CN" altLang="en-US" sz="2200" dirty="0"/>
              <a:t>开发的词法分析工具，它可以接受词文法语言描述，并能产生识别这些语言的语句的程序</a:t>
            </a:r>
          </a:p>
        </p:txBody>
      </p:sp>
    </p:spTree>
    <p:extLst>
      <p:ext uri="{BB962C8B-B14F-4D97-AF65-F5344CB8AC3E}">
        <p14:creationId xmlns:p14="http://schemas.microsoft.com/office/powerpoint/2010/main" val="114791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229600" cy="685800"/>
          </a:xfrm>
        </p:spPr>
        <p:txBody>
          <a:bodyPr/>
          <a:lstStyle/>
          <a:p>
            <a:pPr eaLnBrk="1" hangingPunct="1"/>
            <a:r>
              <a:rPr lang="zh-CN" altLang="en-US"/>
              <a:t>用</a:t>
            </a:r>
            <a:r>
              <a:rPr lang="en-US" altLang="zh-CN"/>
              <a:t>Lex</a:t>
            </a:r>
            <a:r>
              <a:rPr lang="zh-CN" altLang="en-US"/>
              <a:t>生成词法分析器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776" y="612659"/>
            <a:ext cx="8229600" cy="2286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分为三步： </a:t>
            </a:r>
          </a:p>
          <a:p>
            <a:pPr lvl="1" eaLnBrk="1" hangingPunct="1"/>
            <a:r>
              <a:rPr lang="zh-CN" altLang="en-US" dirty="0"/>
              <a:t>用</a:t>
            </a:r>
            <a:r>
              <a:rPr lang="en-US" altLang="zh-CN" dirty="0"/>
              <a:t>Lex </a:t>
            </a:r>
            <a:r>
              <a:rPr lang="zh-CN" altLang="en-US" dirty="0"/>
              <a:t>语言编写</a:t>
            </a:r>
            <a:r>
              <a:rPr lang="en-US" altLang="zh-CN" dirty="0"/>
              <a:t>Lex</a:t>
            </a:r>
            <a:r>
              <a:rPr lang="zh-CN" altLang="en-US" dirty="0"/>
              <a:t>源程序，将正则表达式及其相关的动作编写在</a:t>
            </a:r>
            <a:r>
              <a:rPr lang="en-US" altLang="zh-CN" dirty="0"/>
              <a:t>Lex</a:t>
            </a:r>
            <a:r>
              <a:rPr lang="zh-CN" altLang="en-US" dirty="0"/>
              <a:t>源程序中。 </a:t>
            </a:r>
          </a:p>
          <a:p>
            <a:pPr lvl="1" eaLnBrk="1" hangingPunct="1"/>
            <a:r>
              <a:rPr lang="zh-CN" altLang="en-US" dirty="0"/>
              <a:t>用 </a:t>
            </a:r>
            <a:r>
              <a:rPr lang="en-US" altLang="zh-CN" dirty="0"/>
              <a:t>Lex</a:t>
            </a:r>
            <a:r>
              <a:rPr lang="zh-CN" altLang="en-US" dirty="0"/>
              <a:t>编译器编译</a:t>
            </a:r>
            <a:r>
              <a:rPr lang="en-US" altLang="zh-CN" dirty="0"/>
              <a:t>Lex</a:t>
            </a:r>
            <a:r>
              <a:rPr lang="zh-CN" altLang="en-US" dirty="0"/>
              <a:t>源程序，生成扫描器的 </a:t>
            </a:r>
            <a:r>
              <a:rPr lang="en-US" altLang="zh-CN" dirty="0"/>
              <a:t>C </a:t>
            </a:r>
            <a:r>
              <a:rPr lang="zh-CN" altLang="en-US" dirty="0"/>
              <a:t>代码。</a:t>
            </a:r>
          </a:p>
          <a:p>
            <a:pPr lvl="1" eaLnBrk="1" hangingPunct="1"/>
            <a:r>
              <a:rPr lang="zh-CN" altLang="en-US" dirty="0"/>
              <a:t>编译和链接 </a:t>
            </a:r>
            <a:r>
              <a:rPr lang="en-US" altLang="zh-CN" dirty="0"/>
              <a:t>C </a:t>
            </a:r>
            <a:r>
              <a:rPr lang="zh-CN" altLang="en-US" dirty="0"/>
              <a:t>代码，生成可执行的扫描器。 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881189" y="2968231"/>
            <a:ext cx="1895475" cy="494199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79200" tIns="7200" rIns="90000" bIns="10800"/>
          <a:lstStyle/>
          <a:p>
            <a:pPr algn="ctr">
              <a:defRPr/>
            </a:pPr>
            <a:r>
              <a:rPr lang="en-US" altLang="zh-CN" sz="2400" b="1" dirty="0" err="1">
                <a:solidFill>
                  <a:schemeClr val="bg1"/>
                </a:solidFill>
                <a:latin typeface="Times New Roman" pitchFamily="18" charset="0"/>
              </a:rPr>
              <a:t>Lex</a:t>
            </a: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编译器</a:t>
            </a: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flipV="1">
            <a:off x="2934018" y="3219822"/>
            <a:ext cx="9478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5777445" y="3219822"/>
            <a:ext cx="77904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673856" y="2968231"/>
            <a:ext cx="2273532" cy="49419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28800" rIns="90000" bIns="46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Lex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源程序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lex.l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6588224" y="2968231"/>
            <a:ext cx="2191971" cy="46957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28800" rIns="90000" bIns="46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lexyy.c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lex.yy.c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4100552" y="3724218"/>
            <a:ext cx="1632277" cy="41488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7200" rIns="90000" bIns="10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编译器</a:t>
            </a:r>
          </a:p>
        </p:txBody>
      </p:sp>
      <p:sp>
        <p:nvSpPr>
          <p:cNvPr id="31" name="Line 11"/>
          <p:cNvSpPr>
            <a:spLocks noChangeShapeType="1"/>
          </p:cNvSpPr>
          <p:nvPr/>
        </p:nvSpPr>
        <p:spPr bwMode="auto">
          <a:xfrm>
            <a:off x="4829636" y="4155988"/>
            <a:ext cx="1" cy="3777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32" name="Line 12"/>
          <p:cNvSpPr>
            <a:spLocks noChangeShapeType="1"/>
          </p:cNvSpPr>
          <p:nvPr/>
        </p:nvSpPr>
        <p:spPr bwMode="auto">
          <a:xfrm flipH="1">
            <a:off x="5777446" y="3454363"/>
            <a:ext cx="2041436" cy="5397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4100552" y="4574404"/>
            <a:ext cx="1608703" cy="50562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79200" tIns="28800" rIns="90000" bIns="46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lexyy.exe</a:t>
            </a: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 flipV="1">
            <a:off x="3225651" y="4803998"/>
            <a:ext cx="87490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5704537" y="4803998"/>
            <a:ext cx="102071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9200" tIns="28800" rIns="90000" bIns="46800"/>
          <a:lstStyle/>
          <a:p>
            <a:endParaRPr lang="zh-CN" altLang="en-US"/>
          </a:p>
        </p:txBody>
      </p: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2059116" y="4574403"/>
            <a:ext cx="1157881" cy="505625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79200" tIns="28800" rIns="90000" bIns="46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输入流</a:t>
            </a:r>
          </a:p>
        </p:txBody>
      </p: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6702310" y="4586408"/>
            <a:ext cx="1408205" cy="505625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28800" rIns="90000" bIns="468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记号序列</a:t>
            </a:r>
          </a:p>
        </p:txBody>
      </p:sp>
      <p:sp>
        <p:nvSpPr>
          <p:cNvPr id="38" name="椭圆 37"/>
          <p:cNvSpPr/>
          <p:nvPr/>
        </p:nvSpPr>
        <p:spPr bwMode="auto">
          <a:xfrm>
            <a:off x="3563888" y="2571751"/>
            <a:ext cx="582612" cy="54116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9" name="椭圆 38"/>
          <p:cNvSpPr/>
          <p:nvPr/>
        </p:nvSpPr>
        <p:spPr bwMode="auto">
          <a:xfrm>
            <a:off x="309314" y="2571751"/>
            <a:ext cx="582613" cy="48629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0" name="椭圆 39"/>
          <p:cNvSpPr/>
          <p:nvPr/>
        </p:nvSpPr>
        <p:spPr bwMode="auto">
          <a:xfrm>
            <a:off x="3663101" y="3462430"/>
            <a:ext cx="582612" cy="69349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5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8458200" cy="7429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800" dirty="0" err="1">
                <a:solidFill>
                  <a:srgbClr val="003300"/>
                </a:solidFill>
                <a:latin typeface="宋体" pitchFamily="2" charset="-122"/>
              </a:rPr>
              <a:t>Lex.l</a:t>
            </a:r>
            <a:r>
              <a:rPr lang="zh-CN" altLang="en-US" sz="2800" dirty="0">
                <a:solidFill>
                  <a:srgbClr val="003300"/>
                </a:solidFill>
                <a:latin typeface="宋体" pitchFamily="2" charset="-122"/>
              </a:rPr>
              <a:t>文件用来描述正则表达式及其动作</a:t>
            </a:r>
            <a:endParaRPr lang="en-US" altLang="zh-CN" sz="2800" dirty="0">
              <a:solidFill>
                <a:srgbClr val="0033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olidFill>
                  <a:srgbClr val="003300"/>
                </a:solidFill>
                <a:latin typeface="宋体" pitchFamily="2" charset="-122"/>
              </a:rPr>
              <a:t>格式（包括三个部分）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sz="3600" dirty="0">
              <a:latin typeface="宋体" pitchFamily="2" charset="-122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1042989" y="1466851"/>
            <a:ext cx="2790825" cy="22467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</a:rPr>
              <a:t>声明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翻译规则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辅助过程</a:t>
            </a:r>
          </a:p>
        </p:txBody>
      </p:sp>
      <p:sp>
        <p:nvSpPr>
          <p:cNvPr id="56325" name="AutoShape 5"/>
          <p:cNvSpPr>
            <a:spLocks/>
          </p:cNvSpPr>
          <p:nvPr/>
        </p:nvSpPr>
        <p:spPr bwMode="auto">
          <a:xfrm>
            <a:off x="4459288" y="1560910"/>
            <a:ext cx="4184650" cy="1183213"/>
          </a:xfrm>
          <a:prstGeom prst="borderCallout1">
            <a:avLst>
              <a:gd name="adj1" fmla="val -2833"/>
              <a:gd name="adj2" fmla="val 97213"/>
              <a:gd name="adj3" fmla="val -2833"/>
              <a:gd name="adj4" fmla="val -54083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包括</a:t>
            </a:r>
            <a:r>
              <a:rPr lang="zh-CN" altLang="en-US" dirty="0">
                <a:solidFill>
                  <a:srgbClr val="FF0000"/>
                </a:solidFill>
              </a:rPr>
              <a:t>变量声明、常量定义和正则表达式定义</a:t>
            </a:r>
            <a:r>
              <a:rPr lang="zh-CN" altLang="en-US" dirty="0">
                <a:solidFill>
                  <a:schemeClr val="tx1"/>
                </a:solidFill>
              </a:rPr>
              <a:t>。变量声明、常量定义遵循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语言的定义，常量和变量在后续的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程序中使用。</a:t>
            </a:r>
          </a:p>
        </p:txBody>
      </p:sp>
      <p:sp>
        <p:nvSpPr>
          <p:cNvPr id="9523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"/>
            <a:ext cx="8229600" cy="527447"/>
          </a:xfrm>
        </p:spPr>
        <p:txBody>
          <a:bodyPr>
            <a:normAutofit fontScale="90000"/>
          </a:bodyPr>
          <a:lstStyle/>
          <a:p>
            <a:pPr>
              <a:lnSpc>
                <a:spcPct val="172000"/>
              </a:lnSpc>
              <a:spcBef>
                <a:spcPts val="800"/>
              </a:spcBef>
              <a:spcAft>
                <a:spcPts val="300"/>
              </a:spcAft>
            </a:pPr>
            <a:r>
              <a:rPr kumimoji="1" lang="zh-CN" altLang="zh-CN" sz="5400" b="1" dirty="0">
                <a:solidFill>
                  <a:srgbClr val="CC0099"/>
                </a:solidFill>
                <a:ea typeface="隶书" pitchFamily="49" charset="-122"/>
              </a:rPr>
              <a:t>Lex源文件的书写</a:t>
            </a:r>
          </a:p>
        </p:txBody>
      </p:sp>
      <p:sp>
        <p:nvSpPr>
          <p:cNvPr id="8" name="椭圆 7"/>
          <p:cNvSpPr/>
          <p:nvPr/>
        </p:nvSpPr>
        <p:spPr>
          <a:xfrm>
            <a:off x="457200" y="1428750"/>
            <a:ext cx="685800" cy="4000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60813" y="3693319"/>
            <a:ext cx="51816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%{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    #include&lt;</a:t>
            </a:r>
            <a:r>
              <a:rPr lang="en-US" altLang="zh-CN" dirty="0" err="1">
                <a:solidFill>
                  <a:srgbClr val="C00000"/>
                </a:solidFill>
              </a:rPr>
              <a:t>stdio.h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num_chars</a:t>
            </a:r>
            <a:r>
              <a:rPr lang="en-US" altLang="zh-CN" dirty="0">
                <a:solidFill>
                  <a:srgbClr val="C00000"/>
                </a:solidFill>
              </a:rPr>
              <a:t>=0;/*</a:t>
            </a:r>
            <a:r>
              <a:rPr lang="zh-CN" altLang="en-US" dirty="0">
                <a:solidFill>
                  <a:srgbClr val="C00000"/>
                </a:solidFill>
              </a:rPr>
              <a:t>全局变量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C00000"/>
                </a:solidFill>
              </a:rPr>
              <a:t>定义，初值为</a:t>
            </a:r>
            <a:r>
              <a:rPr lang="en-US" altLang="zh-CN" dirty="0">
                <a:solidFill>
                  <a:srgbClr val="C00000"/>
                </a:solidFill>
              </a:rPr>
              <a:t>0*/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%}</a:t>
            </a:r>
          </a:p>
        </p:txBody>
      </p:sp>
      <p:sp>
        <p:nvSpPr>
          <p:cNvPr id="10" name="矩形 9"/>
          <p:cNvSpPr/>
          <p:nvPr/>
        </p:nvSpPr>
        <p:spPr>
          <a:xfrm>
            <a:off x="628304" y="3914918"/>
            <a:ext cx="3200400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68288" indent="-268288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zh-CN" altLang="en-US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如果包含</a:t>
            </a:r>
            <a:r>
              <a:rPr lang="en-US" altLang="zh-CN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</a:t>
            </a:r>
            <a:r>
              <a:rPr lang="zh-CN" altLang="en-US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语言的变量声明、常量定义，预处理语句等，需要用</a:t>
            </a:r>
            <a:r>
              <a:rPr lang="en-US" altLang="zh-CN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%{</a:t>
            </a:r>
            <a:r>
              <a:rPr lang="zh-CN" altLang="en-US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%}</a:t>
            </a:r>
            <a:r>
              <a:rPr lang="zh-CN" altLang="en-US" sz="20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括起来</a:t>
            </a:r>
            <a:endParaRPr lang="en-US" altLang="zh-CN" sz="2000" dirty="0">
              <a:solidFill>
                <a:srgbClr val="00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831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23478"/>
            <a:ext cx="8229600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/>
              <a:t>Lex </a:t>
            </a:r>
            <a:r>
              <a:rPr lang="zh-CN" altLang="en-US" dirty="0"/>
              <a:t>的正则定义式 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686966"/>
            <a:ext cx="8443664" cy="2100808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100" dirty="0"/>
              <a:t>正则表达式是一种使用元语言的模式描述的表达式，由符号组成</a:t>
            </a:r>
            <a:endParaRPr lang="en-US" altLang="zh-CN" sz="2100" dirty="0"/>
          </a:p>
          <a:p>
            <a:pPr eaLnBrk="1" hangingPunct="1"/>
            <a:r>
              <a:rPr lang="zh-CN" altLang="en-US" sz="2100" dirty="0"/>
              <a:t>符号一般是字母和数字</a:t>
            </a:r>
            <a:endParaRPr lang="en-US" altLang="zh-CN" sz="2100" dirty="0"/>
          </a:p>
          <a:p>
            <a:pPr eaLnBrk="1" hangingPunct="1"/>
            <a:r>
              <a:rPr lang="en-US" altLang="zh-CN" sz="2100" dirty="0"/>
              <a:t>Lex </a:t>
            </a:r>
            <a:r>
              <a:rPr lang="zh-CN" altLang="en-US" sz="2100" dirty="0"/>
              <a:t>中还有一些具有特殊含义的其他标记</a:t>
            </a:r>
            <a:endParaRPr lang="en-US" altLang="zh-CN" sz="2100" dirty="0"/>
          </a:p>
          <a:p>
            <a:pPr eaLnBrk="1" hangingPunct="1"/>
            <a:r>
              <a:rPr lang="zh-CN" altLang="zh-CN" sz="2100" dirty="0"/>
              <a:t>对给定的正</a:t>
            </a:r>
            <a:r>
              <a:rPr lang="zh-CN" altLang="en-US" sz="2100" dirty="0"/>
              <a:t>则表达</a:t>
            </a:r>
            <a:r>
              <a:rPr lang="zh-CN" altLang="zh-CN" sz="2100" dirty="0"/>
              <a:t>式可以用一个名称标识，然后再用这样的名称定义新的正</a:t>
            </a:r>
            <a:r>
              <a:rPr lang="zh-CN" altLang="en-US" sz="2100" dirty="0"/>
              <a:t>则表达式</a:t>
            </a:r>
            <a:r>
              <a:rPr lang="zh-CN" altLang="zh-CN" sz="2100" dirty="0"/>
              <a:t>。设字母表为</a:t>
            </a:r>
            <a:r>
              <a:rPr lang="en-US" altLang="zh-CN" sz="2100" dirty="0"/>
              <a:t>Σ</a:t>
            </a:r>
            <a:r>
              <a:rPr lang="zh-CN" altLang="zh-CN" sz="2100" dirty="0"/>
              <a:t>，正规定义式是如下形式的定义序列：</a:t>
            </a:r>
            <a:endParaRPr lang="zh-CN" altLang="en-US" sz="2100" dirty="0"/>
          </a:p>
        </p:txBody>
      </p:sp>
      <p:sp>
        <p:nvSpPr>
          <p:cNvPr id="6" name="矩形 5"/>
          <p:cNvSpPr/>
          <p:nvPr/>
        </p:nvSpPr>
        <p:spPr>
          <a:xfrm>
            <a:off x="3200400" y="2859782"/>
            <a:ext cx="53340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100" dirty="0">
                <a:solidFill>
                  <a:schemeClr val="tx1"/>
                </a:solidFill>
              </a:rPr>
              <a:t>其中</a:t>
            </a:r>
            <a:r>
              <a:rPr lang="en-US" altLang="zh-CN" sz="2100" dirty="0" err="1">
                <a:solidFill>
                  <a:schemeClr val="tx1"/>
                </a:solidFill>
              </a:rPr>
              <a:t>d</a:t>
            </a:r>
            <a:r>
              <a:rPr lang="en-US" altLang="zh-CN" sz="2100" baseline="-25000" dirty="0" err="1">
                <a:solidFill>
                  <a:schemeClr val="tx1"/>
                </a:solidFill>
              </a:rPr>
              <a:t>i</a:t>
            </a:r>
            <a:r>
              <a:rPr lang="zh-CN" altLang="zh-CN" sz="2100" dirty="0">
                <a:solidFill>
                  <a:schemeClr val="tx1"/>
                </a:solidFill>
              </a:rPr>
              <a:t>（</a:t>
            </a:r>
            <a:r>
              <a:rPr lang="en-US" altLang="zh-CN" sz="2100" dirty="0" err="1">
                <a:solidFill>
                  <a:schemeClr val="tx1"/>
                </a:solidFill>
              </a:rPr>
              <a:t>i</a:t>
            </a:r>
            <a:r>
              <a:rPr lang="en-US" altLang="zh-CN" sz="2100" dirty="0">
                <a:solidFill>
                  <a:schemeClr val="tx1"/>
                </a:solidFill>
              </a:rPr>
              <a:t>=1, 2, ……, n</a:t>
            </a:r>
            <a:r>
              <a:rPr lang="zh-CN" altLang="zh-CN" sz="2100" dirty="0">
                <a:solidFill>
                  <a:schemeClr val="tx1"/>
                </a:solidFill>
              </a:rPr>
              <a:t>）是不同的名字，</a:t>
            </a:r>
            <a:r>
              <a:rPr lang="en-US" altLang="zh-CN" sz="2100" dirty="0" err="1">
                <a:solidFill>
                  <a:schemeClr val="tx1"/>
                </a:solidFill>
              </a:rPr>
              <a:t>r</a:t>
            </a:r>
            <a:r>
              <a:rPr lang="en-US" altLang="zh-CN" sz="2100" baseline="-25000" dirty="0" err="1">
                <a:solidFill>
                  <a:schemeClr val="tx1"/>
                </a:solidFill>
              </a:rPr>
              <a:t>i</a:t>
            </a:r>
            <a:r>
              <a:rPr lang="zh-CN" altLang="zh-CN" sz="2100" dirty="0">
                <a:solidFill>
                  <a:schemeClr val="tx1"/>
                </a:solidFill>
              </a:rPr>
              <a:t>（</a:t>
            </a:r>
            <a:r>
              <a:rPr lang="en-US" altLang="zh-CN" sz="2100" dirty="0" err="1">
                <a:solidFill>
                  <a:schemeClr val="tx1"/>
                </a:solidFill>
              </a:rPr>
              <a:t>i</a:t>
            </a:r>
            <a:r>
              <a:rPr lang="en-US" altLang="zh-CN" sz="2100" dirty="0">
                <a:solidFill>
                  <a:schemeClr val="tx1"/>
                </a:solidFill>
              </a:rPr>
              <a:t>=1, 2, ……, n</a:t>
            </a:r>
            <a:r>
              <a:rPr lang="zh-CN" altLang="zh-CN" sz="2100" dirty="0">
                <a:solidFill>
                  <a:schemeClr val="tx1"/>
                </a:solidFill>
              </a:rPr>
              <a:t>）是在</a:t>
            </a:r>
            <a:r>
              <a:rPr lang="en-US" altLang="zh-CN" sz="2100" dirty="0">
                <a:solidFill>
                  <a:schemeClr val="tx1"/>
                </a:solidFill>
              </a:rPr>
              <a:t>Σ∪{d</a:t>
            </a:r>
            <a:r>
              <a:rPr lang="en-US" altLang="zh-CN" sz="2100" baseline="-25000" dirty="0">
                <a:solidFill>
                  <a:schemeClr val="tx1"/>
                </a:solidFill>
              </a:rPr>
              <a:t>1</a:t>
            </a:r>
            <a:r>
              <a:rPr lang="en-US" altLang="zh-CN" sz="2100" dirty="0">
                <a:solidFill>
                  <a:schemeClr val="tx1"/>
                </a:solidFill>
              </a:rPr>
              <a:t>, d</a:t>
            </a:r>
            <a:r>
              <a:rPr lang="en-US" altLang="zh-CN" sz="2100" baseline="-25000" dirty="0">
                <a:solidFill>
                  <a:schemeClr val="tx1"/>
                </a:solidFill>
              </a:rPr>
              <a:t>2</a:t>
            </a:r>
            <a:r>
              <a:rPr lang="en-US" altLang="zh-CN" sz="2100" dirty="0">
                <a:solidFill>
                  <a:schemeClr val="tx1"/>
                </a:solidFill>
              </a:rPr>
              <a:t>, ……, d</a:t>
            </a:r>
            <a:r>
              <a:rPr lang="en-US" altLang="zh-CN" sz="2100" baseline="-25000" dirty="0">
                <a:solidFill>
                  <a:schemeClr val="tx1"/>
                </a:solidFill>
              </a:rPr>
              <a:t>i-1</a:t>
            </a:r>
            <a:r>
              <a:rPr lang="en-US" altLang="zh-CN" sz="2100" dirty="0">
                <a:solidFill>
                  <a:schemeClr val="tx1"/>
                </a:solidFill>
              </a:rPr>
              <a:t>}</a:t>
            </a:r>
            <a:r>
              <a:rPr lang="zh-CN" altLang="zh-CN" sz="2100" dirty="0">
                <a:solidFill>
                  <a:schemeClr val="tx1"/>
                </a:solidFill>
              </a:rPr>
              <a:t>上定义的正</a:t>
            </a:r>
            <a:r>
              <a:rPr lang="zh-CN" altLang="en-US" sz="2100" dirty="0">
                <a:solidFill>
                  <a:schemeClr val="tx1"/>
                </a:solidFill>
              </a:rPr>
              <a:t>则表达式</a:t>
            </a:r>
            <a:r>
              <a:rPr lang="zh-CN" altLang="zh-CN" sz="2100" dirty="0">
                <a:solidFill>
                  <a:schemeClr val="tx1"/>
                </a:solidFill>
              </a:rPr>
              <a:t>，即用基本符号和前面已经定义的名字表示的</a:t>
            </a:r>
            <a:r>
              <a:rPr lang="zh-CN" altLang="en-US" sz="2100" dirty="0">
                <a:solidFill>
                  <a:schemeClr val="tx1"/>
                </a:solidFill>
              </a:rPr>
              <a:t>正则表达式</a:t>
            </a:r>
            <a:r>
              <a:rPr lang="zh-CN" altLang="zh-CN" sz="2100" dirty="0">
                <a:solidFill>
                  <a:schemeClr val="tx1"/>
                </a:solidFill>
              </a:rPr>
              <a:t>。</a:t>
            </a:r>
            <a:endParaRPr lang="zh-CN" altLang="en-US" sz="21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19672" y="2859782"/>
            <a:ext cx="1437928" cy="13849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100" dirty="0">
                <a:solidFill>
                  <a:schemeClr val="tx1"/>
                </a:solidFill>
              </a:rPr>
              <a:t>d</a:t>
            </a:r>
            <a:r>
              <a:rPr lang="en-US" altLang="zh-CN" sz="2100" baseline="-25000" dirty="0">
                <a:solidFill>
                  <a:schemeClr val="tx1"/>
                </a:solidFill>
              </a:rPr>
              <a:t>1</a:t>
            </a:r>
            <a:r>
              <a:rPr lang="en-US" altLang="zh-CN" sz="2100" dirty="0">
                <a:solidFill>
                  <a:schemeClr val="tx1"/>
                </a:solidFill>
              </a:rPr>
              <a:t>→r</a:t>
            </a:r>
            <a:r>
              <a:rPr lang="en-US" altLang="zh-CN" sz="2100" baseline="-25000" dirty="0">
                <a:solidFill>
                  <a:schemeClr val="tx1"/>
                </a:solidFill>
              </a:rPr>
              <a:t>1</a:t>
            </a:r>
            <a:endParaRPr lang="zh-CN" altLang="zh-CN" sz="21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altLang="zh-CN" sz="2100" dirty="0">
                <a:solidFill>
                  <a:schemeClr val="tx1"/>
                </a:solidFill>
              </a:rPr>
              <a:t>d</a:t>
            </a:r>
            <a:r>
              <a:rPr lang="en-US" altLang="zh-CN" sz="2100" baseline="-25000" dirty="0">
                <a:solidFill>
                  <a:schemeClr val="tx1"/>
                </a:solidFill>
              </a:rPr>
              <a:t>2</a:t>
            </a:r>
            <a:r>
              <a:rPr lang="en-US" altLang="zh-CN" sz="2100" dirty="0">
                <a:solidFill>
                  <a:schemeClr val="tx1"/>
                </a:solidFill>
              </a:rPr>
              <a:t>→r</a:t>
            </a:r>
            <a:r>
              <a:rPr lang="en-US" altLang="zh-CN" sz="2100" baseline="-25000" dirty="0">
                <a:solidFill>
                  <a:schemeClr val="tx1"/>
                </a:solidFill>
              </a:rPr>
              <a:t>2</a:t>
            </a:r>
            <a:endParaRPr lang="zh-CN" altLang="zh-CN" sz="21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altLang="zh-CN" sz="2100" dirty="0">
                <a:solidFill>
                  <a:schemeClr val="tx1"/>
                </a:solidFill>
              </a:rPr>
              <a:t>……</a:t>
            </a:r>
            <a:endParaRPr lang="zh-CN" altLang="zh-CN" sz="21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altLang="zh-CN" sz="2100" dirty="0" err="1">
                <a:solidFill>
                  <a:schemeClr val="tx1"/>
                </a:solidFill>
              </a:rPr>
              <a:t>d</a:t>
            </a:r>
            <a:r>
              <a:rPr lang="en-US" altLang="zh-CN" sz="2100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2100" dirty="0" err="1">
                <a:solidFill>
                  <a:schemeClr val="tx1"/>
                </a:solidFill>
              </a:rPr>
              <a:t>→r</a:t>
            </a:r>
            <a:r>
              <a:rPr lang="en-US" altLang="zh-CN" sz="2100" baseline="-25000" dirty="0" err="1">
                <a:solidFill>
                  <a:schemeClr val="tx1"/>
                </a:solidFill>
              </a:rPr>
              <a:t>n</a:t>
            </a:r>
            <a:endParaRPr lang="zh-CN" altLang="zh-CN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05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内容占位符 2"/>
          <p:cNvSpPr>
            <a:spLocks noGrp="1"/>
          </p:cNvSpPr>
          <p:nvPr>
            <p:ph idx="1"/>
          </p:nvPr>
        </p:nvSpPr>
        <p:spPr>
          <a:xfrm>
            <a:off x="323528" y="339502"/>
            <a:ext cx="8229600" cy="125273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/>
              <a:t>Pascal</a:t>
            </a:r>
            <a:r>
              <a:rPr lang="zh-CN" altLang="zh-CN" dirty="0"/>
              <a:t>语言中标识符是以字符开头的由字母和数字组成的符号串</a:t>
            </a:r>
            <a:r>
              <a:rPr lang="zh-CN" altLang="en-US" dirty="0"/>
              <a:t>，</a:t>
            </a:r>
            <a:r>
              <a:rPr lang="zh-CN" altLang="zh-CN" dirty="0"/>
              <a:t>无符号整数</a:t>
            </a:r>
            <a:r>
              <a:rPr lang="zh-CN" altLang="en-US" dirty="0"/>
              <a:t>是有</a:t>
            </a:r>
            <a:r>
              <a:rPr lang="en-US" altLang="zh-CN" dirty="0"/>
              <a:t>1</a:t>
            </a:r>
            <a:r>
              <a:rPr lang="zh-CN" altLang="en-US" dirty="0"/>
              <a:t>个或多个数字构成的符号串，它们的正则表达式定义为：</a:t>
            </a:r>
          </a:p>
        </p:txBody>
      </p:sp>
      <p:sp>
        <p:nvSpPr>
          <p:cNvPr id="107521" name="Rectangle 1"/>
          <p:cNvSpPr>
            <a:spLocks noChangeArrowheads="1"/>
          </p:cNvSpPr>
          <p:nvPr/>
        </p:nvSpPr>
        <p:spPr bwMode="auto">
          <a:xfrm>
            <a:off x="539552" y="1923678"/>
            <a:ext cx="3600400" cy="20313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digit→0|1|......|9</a:t>
            </a:r>
            <a:endParaRPr lang="fr-FR" altLang="zh-CN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fr-FR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letter→a|b|......|z|A|B|......|Z</a:t>
            </a:r>
            <a:endParaRPr lang="fr-FR" altLang="zh-CN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fr-FR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id→letter(letter|digit)</a:t>
            </a:r>
            <a:r>
              <a:rPr lang="fr-FR" altLang="zh-CN" sz="24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fr-FR" altLang="zh-CN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fr-FR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digits→digit digit</a:t>
            </a:r>
            <a:r>
              <a:rPr lang="fr-FR" altLang="zh-CN" sz="24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fr-FR" altLang="zh-CN" sz="24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60032" y="1923678"/>
            <a:ext cx="396044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digit  [0-9]</a:t>
            </a:r>
            <a:endParaRPr lang="zh-CN" altLang="zh-CN" sz="2400" dirty="0"/>
          </a:p>
          <a:p>
            <a:r>
              <a:rPr lang="en-US" altLang="zh-CN" sz="2400" dirty="0"/>
              <a:t>letter  [A-</a:t>
            </a:r>
            <a:r>
              <a:rPr lang="en-US" altLang="zh-CN" sz="2400" dirty="0" err="1"/>
              <a:t>Za</a:t>
            </a:r>
            <a:r>
              <a:rPr lang="en-US" altLang="zh-CN" sz="2400" dirty="0"/>
              <a:t>-z]</a:t>
            </a:r>
            <a:endParaRPr lang="zh-CN" altLang="zh-CN" sz="2400" dirty="0"/>
          </a:p>
          <a:p>
            <a:r>
              <a:rPr lang="en-US" altLang="zh-CN" sz="2400" dirty="0"/>
              <a:t>id  {letter}({letter}|{digit})*</a:t>
            </a:r>
          </a:p>
          <a:p>
            <a:r>
              <a:rPr lang="en-US" altLang="zh-CN" sz="2400" dirty="0"/>
              <a:t>digits {digit}+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1448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" y="0"/>
            <a:ext cx="2195735" cy="2057400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4400" dirty="0" err="1">
                <a:solidFill>
                  <a:srgbClr val="CC00CC"/>
                </a:solidFill>
                <a:latin typeface="+mj-lt"/>
                <a:ea typeface="+mj-ea"/>
                <a:cs typeface="+mj-cs"/>
              </a:rPr>
              <a:t>Lex</a:t>
            </a:r>
            <a:r>
              <a:rPr lang="zh-CN" altLang="en-US" sz="4400" dirty="0">
                <a:solidFill>
                  <a:srgbClr val="CC00CC"/>
                </a:solidFill>
                <a:latin typeface="+mj-lt"/>
                <a:ea typeface="+mj-ea"/>
                <a:cs typeface="+mj-cs"/>
              </a:rPr>
              <a:t>正则表达式的约定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800" dirty="0"/>
              <a:t>   </a:t>
            </a:r>
          </a:p>
        </p:txBody>
      </p:sp>
      <p:graphicFrame>
        <p:nvGraphicFramePr>
          <p:cNvPr id="58372" name="Group 4"/>
          <p:cNvGraphicFramePr>
            <a:graphicFrameLocks noGrp="1"/>
          </p:cNvGraphicFramePr>
          <p:nvPr>
            <p:ph sz="half" idx="2"/>
          </p:nvPr>
        </p:nvGraphicFramePr>
        <p:xfrm>
          <a:off x="2843808" y="171450"/>
          <a:ext cx="5998568" cy="4914900"/>
        </p:xfrm>
        <a:graphic>
          <a:graphicData uri="http://schemas.openxmlformats.org/drawingml/2006/table">
            <a:tbl>
              <a:tblPr/>
              <a:tblGrid>
                <a:gridCol w="136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格式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字符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即使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是一个元字符，它仍是字符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\a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当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是一个元字符，它仍是字符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a*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的零次或多次元字符时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a+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的一次或多次重复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a?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一个可选的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a|b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(a)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本身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[abc]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字符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中的任一个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[a-d]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字符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中的任一个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[^ab]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除了新行之外的任一个字符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.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除了新行之外的任一个字符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{xxx}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名字</a:t>
                      </a: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xxx</a:t>
                      </a: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表示的正则表达式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&lt;EOF&gt;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800" b="1">
                          <a:solidFill>
                            <a:schemeClr val="bg2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 sz="24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Tahoma" panose="020B0604030504040204" pitchFamily="34" charset="0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文件结束标记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4" name="矩形 33"/>
          <p:cNvSpPr/>
          <p:nvPr/>
        </p:nvSpPr>
        <p:spPr>
          <a:xfrm>
            <a:off x="0" y="2727871"/>
            <a:ext cx="2438400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200" dirty="0">
                <a:solidFill>
                  <a:schemeClr val="tx1"/>
                </a:solidFill>
              </a:rPr>
              <a:t>joke[</a:t>
            </a:r>
            <a:r>
              <a:rPr lang="en-US" altLang="zh-CN" sz="2200" dirty="0" err="1">
                <a:solidFill>
                  <a:schemeClr val="tx1"/>
                </a:solidFill>
              </a:rPr>
              <a:t>rs</a:t>
            </a:r>
            <a:r>
              <a:rPr lang="en-US" altLang="zh-CN" sz="2200" dirty="0">
                <a:solidFill>
                  <a:schemeClr val="tx1"/>
                </a:solidFill>
              </a:rPr>
              <a:t>] —— </a:t>
            </a:r>
            <a:r>
              <a:rPr lang="zh-CN" altLang="en-US" sz="2200" dirty="0">
                <a:solidFill>
                  <a:schemeClr val="tx1"/>
                </a:solidFill>
              </a:rPr>
              <a:t>匹配 </a:t>
            </a:r>
            <a:r>
              <a:rPr lang="en-US" altLang="zh-CN" sz="2200" dirty="0">
                <a:solidFill>
                  <a:schemeClr val="tx1"/>
                </a:solidFill>
              </a:rPr>
              <a:t>jokes </a:t>
            </a:r>
            <a:r>
              <a:rPr lang="zh-CN" altLang="en-US" sz="2200" dirty="0">
                <a:solidFill>
                  <a:schemeClr val="tx1"/>
                </a:solidFill>
              </a:rPr>
              <a:t>或 </a:t>
            </a:r>
            <a:r>
              <a:rPr lang="en-US" altLang="zh-CN" sz="2200" dirty="0">
                <a:solidFill>
                  <a:schemeClr val="tx1"/>
                </a:solidFill>
              </a:rPr>
              <a:t>joker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6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203598"/>
            <a:ext cx="5866990" cy="9144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</a:pPr>
            <a:r>
              <a:rPr lang="zh-CN" altLang="en-US" sz="1800" b="1" dirty="0"/>
              <a:t>翻译规则</a:t>
            </a:r>
            <a:r>
              <a:rPr lang="zh-CN" altLang="zh-CN" sz="1800" dirty="0"/>
              <a:t>完全决定了最后生成的词法分析器的功能，分析器只能识别符合正</a:t>
            </a:r>
            <a:r>
              <a:rPr lang="zh-CN" altLang="en-US" sz="1800" dirty="0"/>
              <a:t>则表达</a:t>
            </a:r>
            <a:r>
              <a:rPr lang="zh-CN" altLang="zh-CN" sz="1800" dirty="0"/>
              <a:t>式</a:t>
            </a:r>
            <a:r>
              <a:rPr lang="en-US" altLang="zh-CN" sz="1800" i="1" dirty="0"/>
              <a:t>p</a:t>
            </a:r>
            <a:r>
              <a:rPr lang="en-US" altLang="zh-CN" sz="1800" i="1" baseline="-25000" dirty="0"/>
              <a:t>1</a:t>
            </a:r>
            <a:r>
              <a:rPr lang="zh-CN" altLang="zh-CN" sz="1800" dirty="0"/>
              <a:t>，</a:t>
            </a:r>
            <a:r>
              <a:rPr lang="en-US" altLang="zh-CN" sz="1800" i="1" dirty="0"/>
              <a:t>p</a:t>
            </a:r>
            <a:r>
              <a:rPr lang="en-US" altLang="zh-CN" sz="1800" i="1" baseline="-25000" dirty="0"/>
              <a:t>2</a:t>
            </a:r>
            <a:r>
              <a:rPr lang="zh-CN" altLang="zh-CN" sz="1800" dirty="0"/>
              <a:t>，</a:t>
            </a:r>
            <a:r>
              <a:rPr lang="en-US" altLang="zh-CN" sz="1800" dirty="0"/>
              <a:t>……</a:t>
            </a:r>
            <a:r>
              <a:rPr lang="zh-CN" altLang="zh-CN" sz="1800" dirty="0"/>
              <a:t>，</a:t>
            </a:r>
            <a:r>
              <a:rPr lang="en-US" altLang="zh-CN" sz="1800" i="1" dirty="0" err="1"/>
              <a:t>p</a:t>
            </a:r>
            <a:r>
              <a:rPr lang="en-US" altLang="zh-CN" sz="1800" i="1" baseline="-25000" dirty="0" err="1"/>
              <a:t>n</a:t>
            </a:r>
            <a:r>
              <a:rPr lang="zh-CN" altLang="zh-CN" sz="1800" dirty="0"/>
              <a:t>的单词符号</a:t>
            </a:r>
            <a:endParaRPr lang="zh-CN" altLang="en-US" sz="1800" dirty="0"/>
          </a:p>
          <a:p>
            <a:pPr lvl="2" algn="just" eaLnBrk="1" hangingPunct="1">
              <a:spcBef>
                <a:spcPct val="0"/>
              </a:spcBef>
              <a:buFontTx/>
              <a:buNone/>
            </a:pPr>
            <a:endParaRPr lang="en-US" altLang="zh-CN" sz="1800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6686551" y="240507"/>
            <a:ext cx="2062163" cy="22467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声明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翻译规则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辅助过程</a:t>
            </a:r>
          </a:p>
        </p:txBody>
      </p:sp>
      <p:sp>
        <p:nvSpPr>
          <p:cNvPr id="60421" name="AutoShape 5"/>
          <p:cNvSpPr>
            <a:spLocks/>
          </p:cNvSpPr>
          <p:nvPr/>
        </p:nvSpPr>
        <p:spPr bwMode="auto">
          <a:xfrm>
            <a:off x="172442" y="355673"/>
            <a:ext cx="5874060" cy="643262"/>
          </a:xfrm>
          <a:prstGeom prst="borderCallout1">
            <a:avLst>
              <a:gd name="adj1" fmla="val 50963"/>
              <a:gd name="adj2" fmla="val 99957"/>
              <a:gd name="adj3" fmla="val 154005"/>
              <a:gd name="adj4" fmla="val 117423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由一组正则表达式以及当每个正则表达式被匹配时所采取的动作，这些动作用</a:t>
            </a: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zh-CN" altLang="en-US" sz="2000" dirty="0">
                <a:solidFill>
                  <a:schemeClr val="tx1"/>
                </a:solidFill>
              </a:rPr>
              <a:t>语言的代码来书写。 </a:t>
            </a:r>
          </a:p>
        </p:txBody>
      </p:sp>
      <p:sp>
        <p:nvSpPr>
          <p:cNvPr id="8" name="椭圆 7"/>
          <p:cNvSpPr/>
          <p:nvPr/>
        </p:nvSpPr>
        <p:spPr>
          <a:xfrm>
            <a:off x="8458200" y="998935"/>
            <a:ext cx="685800" cy="4000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84132" y="2715766"/>
            <a:ext cx="236458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2" algn="just" eaLnBrk="1" hangingPunct="1">
              <a:defRPr/>
            </a:pPr>
            <a:r>
              <a:rPr lang="en-US" altLang="zh-CN" b="1" i="1" dirty="0">
                <a:solidFill>
                  <a:srgbClr val="003300"/>
                </a:solidFill>
                <a:cs typeface="Times New Roman" pitchFamily="18" charset="0"/>
              </a:rPr>
              <a:t>P</a:t>
            </a:r>
            <a:r>
              <a:rPr lang="en-US" altLang="zh-CN" b="1" baseline="-30000" dirty="0">
                <a:solidFill>
                  <a:srgbClr val="003300"/>
                </a:solidFill>
                <a:cs typeface="Times New Roman" pitchFamily="18" charset="0"/>
              </a:rPr>
              <a:t>1	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{</a:t>
            </a:r>
            <a:r>
              <a:rPr lang="zh-CN" altLang="en-US" b="1" dirty="0">
                <a:solidFill>
                  <a:srgbClr val="003300"/>
                </a:solidFill>
              </a:rPr>
              <a:t>动作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1}</a:t>
            </a:r>
            <a:endParaRPr lang="en-US" altLang="zh-CN" b="1" dirty="0">
              <a:solidFill>
                <a:srgbClr val="003300"/>
              </a:solidFill>
              <a:latin typeface="宋体" pitchFamily="2" charset="-122"/>
            </a:endParaRPr>
          </a:p>
          <a:p>
            <a:pPr marL="0" lvl="2" algn="just" eaLnBrk="1" hangingPunct="1">
              <a:defRPr/>
            </a:pPr>
            <a:r>
              <a:rPr lang="en-US" altLang="zh-CN" b="1" i="1" dirty="0">
                <a:solidFill>
                  <a:srgbClr val="003300"/>
                </a:solidFill>
                <a:cs typeface="Times New Roman" pitchFamily="18" charset="0"/>
              </a:rPr>
              <a:t>P</a:t>
            </a:r>
            <a:r>
              <a:rPr lang="en-US" altLang="zh-CN" b="1" baseline="-30000" dirty="0">
                <a:solidFill>
                  <a:srgbClr val="003300"/>
                </a:solidFill>
                <a:cs typeface="Times New Roman" pitchFamily="18" charset="0"/>
              </a:rPr>
              <a:t>2	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{</a:t>
            </a:r>
            <a:r>
              <a:rPr lang="zh-CN" altLang="en-US" b="1" dirty="0">
                <a:solidFill>
                  <a:srgbClr val="003300"/>
                </a:solidFill>
              </a:rPr>
              <a:t>动作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2}</a:t>
            </a:r>
            <a:endParaRPr lang="en-US" altLang="zh-CN" b="1" dirty="0">
              <a:solidFill>
                <a:srgbClr val="003300"/>
              </a:solidFill>
              <a:latin typeface="宋体" pitchFamily="2" charset="-122"/>
            </a:endParaRPr>
          </a:p>
          <a:p>
            <a:pPr marL="0" lvl="2" algn="just" eaLnBrk="1" hangingPunct="1">
              <a:defRPr/>
            </a:pP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…	…</a:t>
            </a:r>
            <a:endParaRPr lang="en-US" altLang="zh-CN" b="1" dirty="0">
              <a:solidFill>
                <a:srgbClr val="003300"/>
              </a:solidFill>
              <a:latin typeface="宋体" pitchFamily="2" charset="-122"/>
            </a:endParaRPr>
          </a:p>
          <a:p>
            <a:pPr marL="0" lvl="2" algn="just" eaLnBrk="1" hangingPunct="1">
              <a:defRPr/>
            </a:pPr>
            <a:r>
              <a:rPr lang="en-US" altLang="zh-CN" b="1" i="1" dirty="0" err="1">
                <a:solidFill>
                  <a:srgbClr val="003300"/>
                </a:solidFill>
                <a:cs typeface="Times New Roman" pitchFamily="18" charset="0"/>
              </a:rPr>
              <a:t>P</a:t>
            </a:r>
            <a:r>
              <a:rPr lang="en-US" altLang="zh-CN" b="1" i="1" baseline="-30000" dirty="0" err="1">
                <a:solidFill>
                  <a:srgbClr val="003300"/>
                </a:solidFill>
                <a:cs typeface="Times New Roman" pitchFamily="18" charset="0"/>
              </a:rPr>
              <a:t>n</a:t>
            </a:r>
            <a:r>
              <a:rPr lang="en-US" altLang="zh-CN" b="1" i="1" baseline="-30000" dirty="0">
                <a:solidFill>
                  <a:srgbClr val="003300"/>
                </a:solidFill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{</a:t>
            </a:r>
            <a:r>
              <a:rPr lang="zh-CN" altLang="en-US" b="1" dirty="0">
                <a:solidFill>
                  <a:srgbClr val="003300"/>
                </a:solidFill>
              </a:rPr>
              <a:t>动作</a:t>
            </a:r>
            <a:r>
              <a:rPr lang="en-US" altLang="zh-CN" b="1" i="1" dirty="0">
                <a:solidFill>
                  <a:srgbClr val="003300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3300"/>
                </a:solidFill>
                <a:cs typeface="Times New Roman" pitchFamily="18" charset="0"/>
              </a:rPr>
              <a:t>}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152400" y="2217509"/>
            <a:ext cx="6096000" cy="28623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sz="2000" dirty="0">
                <a:latin typeface="宋体" pitchFamily="2" charset="-122"/>
                <a:ea typeface="宋体" panose="02010600030101010101" pitchFamily="2" charset="-122"/>
              </a:rPr>
              <a:t>Lex</a:t>
            </a:r>
            <a:r>
              <a:rPr lang="zh-CN" altLang="en-US" sz="2000" dirty="0">
                <a:latin typeface="宋体" pitchFamily="2" charset="-122"/>
                <a:ea typeface="宋体" panose="02010600030101010101" pitchFamily="2" charset="-122"/>
              </a:rPr>
              <a:t>产生的词法分析程序的工作方式：</a:t>
            </a:r>
            <a:endParaRPr lang="en-US" altLang="zh-CN" sz="2000" dirty="0">
              <a:latin typeface="宋体" pitchFamily="2" charset="-122"/>
              <a:ea typeface="宋体" panose="02010600030101010101" pitchFamily="2" charset="-122"/>
            </a:endParaRPr>
          </a:p>
          <a:p>
            <a:pPr marL="725488" lvl="1" indent="-268288">
              <a:buFont typeface="Tahoma" pitchFamily="34" charset="0"/>
              <a:buChar char="−"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逐一地扫描输入串的每个字符，直到它在剩余输入串中发现能和正则表达式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匹配的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前缀为止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5488" lvl="1" indent="-268288">
              <a:buFont typeface="Tahoma" pitchFamily="34" charset="0"/>
              <a:buChar char="−"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将其截下来放在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yytext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的缓冲区中，然后调用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动作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，当动作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执行完后，返回一个单词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5488" lvl="1" indent="-268288">
              <a:buFont typeface="Tahoma" pitchFamily="34" charset="0"/>
              <a:buChar char="−"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当它被再次调用时，就从剩余输入串开始识别下一个输入符号</a:t>
            </a:r>
          </a:p>
          <a:p>
            <a:pPr marL="725488" lvl="1" indent="-268288">
              <a:buFont typeface="Tahoma" pitchFamily="34" charset="0"/>
              <a:buChar char="−"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单词的属性值通过全程变量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yylval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传递</a:t>
            </a:r>
          </a:p>
        </p:txBody>
      </p:sp>
    </p:spTree>
    <p:extLst>
      <p:ext uri="{BB962C8B-B14F-4D97-AF65-F5344CB8AC3E}">
        <p14:creationId xmlns:p14="http://schemas.microsoft.com/office/powerpoint/2010/main" val="41833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 animBg="1"/>
      <p:bldP spid="60421" grpId="0" animBg="1" autoUpdateAnimBg="0"/>
      <p:bldP spid="10" grpId="0" animBg="1"/>
      <p:bldP spid="604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5ADDC465-5F9B-4ECB-9960-30DCA5EED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157445"/>
            <a:ext cx="6172200" cy="514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en-US" altLang="zh-CN" sz="4050" dirty="0">
                <a:solidFill>
                  <a:srgbClr val="CC0099"/>
                </a:solidFill>
              </a:rPr>
              <a:t>Lex</a:t>
            </a:r>
            <a:r>
              <a:rPr kumimoji="1" lang="zh-CN" altLang="zh-CN" sz="4050" dirty="0">
                <a:solidFill>
                  <a:srgbClr val="CC0099"/>
                </a:solidFill>
              </a:rPr>
              <a:t>的工作过程</a:t>
            </a:r>
            <a:endParaRPr kumimoji="1" lang="zh-CN" altLang="en-US" sz="4050" dirty="0">
              <a:solidFill>
                <a:srgbClr val="CC0099"/>
              </a:solidFill>
            </a:endParaRP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A6898CD1-B3DE-415D-AE93-B5A66440A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843558"/>
            <a:ext cx="7992888" cy="2857500"/>
          </a:xfrm>
        </p:spPr>
        <p:txBody>
          <a:bodyPr/>
          <a:lstStyle/>
          <a:p>
            <a:pPr eaLnBrk="1" hangingPunct="1"/>
            <a:r>
              <a:rPr lang="zh-CN" altLang="en-US" sz="2100" dirty="0"/>
              <a:t>对</a:t>
            </a:r>
            <a:r>
              <a:rPr lang="zh-CN" altLang="zh-CN" sz="2100" dirty="0"/>
              <a:t>翻译规则</a:t>
            </a:r>
            <a:r>
              <a:rPr lang="zh-CN" altLang="en-US" sz="2100" dirty="0"/>
              <a:t>中的每一个正规式，</a:t>
            </a:r>
            <a:r>
              <a:rPr lang="zh-CN" altLang="zh-CN" sz="2100" dirty="0"/>
              <a:t>为之构造一个</a:t>
            </a:r>
            <a:r>
              <a:rPr lang="en-US" altLang="zh-CN" sz="2100" dirty="0"/>
              <a:t>NFA M</a:t>
            </a:r>
            <a:r>
              <a:rPr lang="en-US" altLang="zh-CN" sz="2100" baseline="-25000" dirty="0"/>
              <a:t>i</a:t>
            </a:r>
            <a:endParaRPr lang="en-US" altLang="zh-CN" sz="2100" dirty="0"/>
          </a:p>
          <a:p>
            <a:pPr eaLnBrk="1" hangingPunct="1"/>
            <a:r>
              <a:rPr lang="zh-CN" altLang="zh-CN" sz="2100" dirty="0"/>
              <a:t>将各条翻译规则对应的</a:t>
            </a:r>
            <a:r>
              <a:rPr lang="en-US" altLang="zh-CN" sz="2100" dirty="0"/>
              <a:t>NFA M</a:t>
            </a:r>
            <a:r>
              <a:rPr lang="en-US" altLang="zh-CN" sz="2100" baseline="-25000" dirty="0"/>
              <a:t>i</a:t>
            </a:r>
            <a:r>
              <a:rPr lang="zh-CN" altLang="zh-CN" sz="2100" dirty="0"/>
              <a:t>合并为一个新的</a:t>
            </a:r>
            <a:r>
              <a:rPr lang="en-US" altLang="zh-CN" sz="2100" dirty="0"/>
              <a:t>NFA M</a:t>
            </a:r>
            <a:r>
              <a:rPr lang="zh-CN" altLang="zh-CN" sz="2100" dirty="0"/>
              <a:t>；</a:t>
            </a:r>
            <a:endParaRPr lang="en-US" altLang="zh-CN" sz="2100" dirty="0"/>
          </a:p>
          <a:p>
            <a:pPr eaLnBrk="1" hangingPunct="1"/>
            <a:r>
              <a:rPr lang="zh-CN" altLang="zh-CN" sz="2100" dirty="0"/>
              <a:t>然后将</a:t>
            </a:r>
            <a:r>
              <a:rPr lang="en-US" altLang="zh-CN" sz="2100" dirty="0"/>
              <a:t>NFA</a:t>
            </a:r>
            <a:r>
              <a:rPr lang="zh-CN" altLang="zh-CN" sz="2100" dirty="0"/>
              <a:t>确定化为</a:t>
            </a:r>
            <a:r>
              <a:rPr lang="en-US" altLang="zh-CN" sz="2100" dirty="0"/>
              <a:t>DFA D</a:t>
            </a:r>
            <a:r>
              <a:rPr lang="zh-CN" altLang="zh-CN" sz="2100" dirty="0"/>
              <a:t>，并生成该</a:t>
            </a:r>
            <a:r>
              <a:rPr lang="en-US" altLang="zh-CN" sz="2100" dirty="0"/>
              <a:t>DFA D</a:t>
            </a:r>
            <a:r>
              <a:rPr lang="zh-CN" altLang="zh-CN" sz="2100" dirty="0"/>
              <a:t>的状态转换矩阵和控制执行程序。</a:t>
            </a:r>
            <a:endParaRPr lang="en-US" altLang="zh-CN" sz="2100" dirty="0"/>
          </a:p>
          <a:p>
            <a:pPr eaLnBrk="1" hangingPunct="1"/>
            <a:r>
              <a:rPr lang="zh-CN" altLang="zh-CN" sz="2100" dirty="0"/>
              <a:t>由于各种语言的状态转换矩阵的结构相同，所以控制执行程序对各种语言都是相同的。</a:t>
            </a:r>
          </a:p>
          <a:p>
            <a:pPr eaLnBrk="1" hangingPunct="1"/>
            <a:endParaRPr lang="zh-CN" altLang="en-US" sz="2100" dirty="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636D7F1-6DBE-4EF8-AD5E-5AD3921B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35" y="-207749"/>
            <a:ext cx="1847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100">
              <a:latin typeface="Tahoma" panose="020B0604030504040204" pitchFamily="34" charset="0"/>
            </a:endParaRPr>
          </a:p>
        </p:txBody>
      </p:sp>
      <p:graphicFrame>
        <p:nvGraphicFramePr>
          <p:cNvPr id="21509" name="Object 1">
            <a:extLst>
              <a:ext uri="{FF2B5EF4-FFF2-40B4-BE49-F238E27FC236}">
                <a16:creationId xmlns:a16="http://schemas.microsoft.com/office/drawing/2014/main" id="{B8F2F461-FB6A-4875-BD08-99720BBC4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823" y="3314700"/>
          <a:ext cx="447317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Visio" r:id="rId3" imgW="3025882" imgH="1239599" progId="Visio.Drawing.11">
                  <p:embed/>
                </p:oleObj>
              </mc:Choice>
              <mc:Fallback>
                <p:oleObj name="Visio" r:id="rId3" imgW="3025882" imgH="1239599" progId="Visio.Drawing.11">
                  <p:embed/>
                  <p:pic>
                    <p:nvPicPr>
                      <p:cNvPr id="21509" name="Object 1">
                        <a:extLst>
                          <a:ext uri="{FF2B5EF4-FFF2-40B4-BE49-F238E27FC236}">
                            <a16:creationId xmlns:a16="http://schemas.microsoft.com/office/drawing/2014/main" id="{B8F2F461-FB6A-4875-BD08-99720BBC4C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823" y="3314700"/>
                        <a:ext cx="447317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2075"/>
            <a:ext cx="8229600" cy="1038225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313488" y="1796653"/>
            <a:ext cx="2717800" cy="22467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声明</a:t>
            </a:r>
          </a:p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翻译规则</a:t>
            </a:r>
          </a:p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辅助过程</a:t>
            </a:r>
          </a:p>
        </p:txBody>
      </p:sp>
      <p:sp>
        <p:nvSpPr>
          <p:cNvPr id="61445" name="AutoShape 5"/>
          <p:cNvSpPr>
            <a:spLocks/>
          </p:cNvSpPr>
          <p:nvPr/>
        </p:nvSpPr>
        <p:spPr bwMode="auto">
          <a:xfrm>
            <a:off x="87314" y="1874564"/>
            <a:ext cx="6084887" cy="1849314"/>
          </a:xfrm>
          <a:prstGeom prst="borderCallout1">
            <a:avLst>
              <a:gd name="adj1" fmla="val 102916"/>
              <a:gd name="adj2" fmla="val 3023"/>
              <a:gd name="adj3" fmla="val 102335"/>
              <a:gd name="adj4" fmla="val 112158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语言程序段，</a:t>
            </a:r>
            <a:r>
              <a:rPr lang="en-US" altLang="zh-CN" dirty="0">
                <a:solidFill>
                  <a:schemeClr val="tx1"/>
                </a:solidFill>
              </a:rPr>
              <a:t>Lex</a:t>
            </a:r>
            <a:r>
              <a:rPr lang="zh-CN" altLang="en-US" dirty="0">
                <a:solidFill>
                  <a:schemeClr val="tx1"/>
                </a:solidFill>
              </a:rPr>
              <a:t>对此不作任何处理，直接输出到输出文件</a:t>
            </a:r>
            <a:r>
              <a:rPr lang="en-US" altLang="zh-CN" dirty="0" err="1">
                <a:solidFill>
                  <a:schemeClr val="tx1"/>
                </a:solidFill>
              </a:rPr>
              <a:t>lex.yy.c</a:t>
            </a:r>
            <a:r>
              <a:rPr lang="zh-CN" altLang="en-US" dirty="0">
                <a:solidFill>
                  <a:schemeClr val="tx1"/>
                </a:solidFill>
              </a:rPr>
              <a:t>的尾部。可定义对模式进行处理的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语言函数，主函数和</a:t>
            </a:r>
            <a:r>
              <a:rPr lang="en-US" altLang="zh-CN" dirty="0" err="1">
                <a:solidFill>
                  <a:schemeClr val="tx1"/>
                </a:solidFill>
              </a:rPr>
              <a:t>yylex</a:t>
            </a:r>
            <a:r>
              <a:rPr lang="zh-CN" altLang="en-US" dirty="0">
                <a:solidFill>
                  <a:schemeClr val="tx1"/>
                </a:solidFill>
              </a:rPr>
              <a:t>要调用的函数</a:t>
            </a:r>
            <a:r>
              <a:rPr lang="en-US" altLang="zh-CN" dirty="0" err="1">
                <a:solidFill>
                  <a:schemeClr val="tx1"/>
                </a:solidFill>
              </a:rPr>
              <a:t>yywrap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等。可以分别编译，然后在连接时装配在一起。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如果要将</a:t>
            </a:r>
            <a:r>
              <a:rPr lang="en-US" altLang="zh-CN" dirty="0">
                <a:solidFill>
                  <a:schemeClr val="tx1"/>
                </a:solidFill>
              </a:rPr>
              <a:t>Lex</a:t>
            </a:r>
            <a:r>
              <a:rPr lang="zh-CN" altLang="en-US" dirty="0">
                <a:solidFill>
                  <a:schemeClr val="tx1"/>
                </a:solidFill>
              </a:rPr>
              <a:t>输出作为独立程序来编译，则这一部分要写一个主程序。</a:t>
            </a:r>
          </a:p>
        </p:txBody>
      </p:sp>
      <p:sp>
        <p:nvSpPr>
          <p:cNvPr id="8" name="椭圆 7"/>
          <p:cNvSpPr/>
          <p:nvPr/>
        </p:nvSpPr>
        <p:spPr>
          <a:xfrm>
            <a:off x="8458200" y="3467844"/>
            <a:ext cx="685800" cy="4000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61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9155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Lex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生成识别关键字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(</a:t>
            </a:r>
            <a:r>
              <a:rPr lang="en-US" altLang="zh-CN" sz="2400" kern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if,then,begin,end,while</a:t>
            </a:r>
            <a:r>
              <a:rPr lang="en-US" altLang="zh-CN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, repeat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)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、运算符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(+,-,*,/)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、标识符、整数、带小数的实数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的程序，注释用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}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括起来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18481" y="990588"/>
            <a:ext cx="6905847" cy="1837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%{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</a:t>
            </a:r>
            <a:r>
              <a:rPr lang="en-US" altLang="zh-CN" kern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math.h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</a:t>
            </a:r>
            <a:r>
              <a:rPr lang="en-US" altLang="zh-CN" kern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stdlib.h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</a:t>
            </a:r>
            <a:r>
              <a:rPr lang="en-US" altLang="zh-CN" kern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stdio.h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%}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DIGIT [0-9]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ID [a-z][a-z0-9]</a:t>
            </a:r>
            <a:r>
              <a:rPr lang="en-US" altLang="zh-CN" kern="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2828014"/>
            <a:ext cx="6912768" cy="23360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%%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{DIGIT}+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整数：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%s(%d)\n",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yytext,atoi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));}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{DIGIT}+"."{DIGIT}</a:t>
            </a:r>
            <a:r>
              <a:rPr lang="en-US" altLang="zh-CN" kern="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实数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:%s(%g)\n",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yytext,atof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));}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if|then|begin|end|while|repeat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关键字：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 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{ID} 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标识符：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  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"+"|"-"|"*"|"/"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运算符：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  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“{”[^}\n]*“}”  ;/*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删除注释，假定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该语言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的注释用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{}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括起来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[\t\n\x20]+   ;  /*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删除多余的空格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.     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不能识别的字符：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%s\n",</a:t>
            </a:r>
            <a:r>
              <a:rPr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yytext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 }</a:t>
            </a:r>
            <a:endParaRPr lang="zh-CN" altLang="zh-CN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7524328" y="1011678"/>
            <a:ext cx="1482236" cy="397266"/>
          </a:xfrm>
          <a:prstGeom prst="borderCallout1">
            <a:avLst>
              <a:gd name="adj1" fmla="val 43925"/>
              <a:gd name="adj2" fmla="val 378"/>
              <a:gd name="adj3" fmla="val 104109"/>
              <a:gd name="adj4" fmla="val -5223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zh-CN" altLang="en-US" sz="2000" dirty="0"/>
              <a:t>声明部分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483768" y="1171830"/>
            <a:ext cx="1944216" cy="969631"/>
            <a:chOff x="2483768" y="1059582"/>
            <a:chExt cx="1944216" cy="969631"/>
          </a:xfrm>
        </p:grpSpPr>
        <p:sp>
          <p:nvSpPr>
            <p:cNvPr id="9" name="右大括号 8"/>
            <p:cNvSpPr/>
            <p:nvPr/>
          </p:nvSpPr>
          <p:spPr>
            <a:xfrm>
              <a:off x="2483768" y="1059582"/>
              <a:ext cx="576064" cy="969631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87824" y="1338322"/>
              <a:ext cx="1440160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dirty="0"/>
                <a:t>预处理语句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58665" y="2215491"/>
            <a:ext cx="3049439" cy="556467"/>
            <a:chOff x="2483768" y="1059582"/>
            <a:chExt cx="3049439" cy="969631"/>
          </a:xfrm>
        </p:grpSpPr>
        <p:sp>
          <p:nvSpPr>
            <p:cNvPr id="13" name="右大括号 12"/>
            <p:cNvSpPr/>
            <p:nvPr/>
          </p:nvSpPr>
          <p:spPr>
            <a:xfrm>
              <a:off x="2483768" y="1059582"/>
              <a:ext cx="576064" cy="969631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87823" y="1338323"/>
              <a:ext cx="2545384" cy="607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dirty="0"/>
                <a:t>定义正则表达式的名字</a:t>
              </a:r>
            </a:p>
          </p:txBody>
        </p:sp>
      </p:grpSp>
      <p:sp>
        <p:nvSpPr>
          <p:cNvPr id="16" name="线形标注 1 15"/>
          <p:cNvSpPr/>
          <p:nvPr/>
        </p:nvSpPr>
        <p:spPr>
          <a:xfrm>
            <a:off x="7521232" y="3429595"/>
            <a:ext cx="1482236" cy="397266"/>
          </a:xfrm>
          <a:prstGeom prst="borderCallout1">
            <a:avLst>
              <a:gd name="adj1" fmla="val 43925"/>
              <a:gd name="adj2" fmla="val 378"/>
              <a:gd name="adj3" fmla="val 104109"/>
              <a:gd name="adj4" fmla="val -5223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zh-CN" altLang="en-US" sz="2000" dirty="0"/>
              <a:t>翻译规则</a:t>
            </a:r>
          </a:p>
        </p:txBody>
      </p:sp>
    </p:spTree>
    <p:extLst>
      <p:ext uri="{BB962C8B-B14F-4D97-AF65-F5344CB8AC3E}">
        <p14:creationId xmlns:p14="http://schemas.microsoft.com/office/powerpoint/2010/main" val="84272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0997"/>
            <a:ext cx="6491064" cy="311693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%%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main(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argc,char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*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argv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[])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++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argv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;--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argc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;  /*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跳过执行文件名到第一个参数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*/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if (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argc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&gt;0)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yyin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fopen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argv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[0],"r");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else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yyin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stdin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yylex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();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0;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yywrap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()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{  return 1; }</a:t>
            </a:r>
            <a:endParaRPr lang="zh-CN" altLang="en-US" sz="1800" kern="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endParaRPr lang="zh-CN" altLang="en-US" sz="1800" dirty="0"/>
          </a:p>
        </p:txBody>
      </p:sp>
      <p:sp>
        <p:nvSpPr>
          <p:cNvPr id="5" name="线形标注 1 4"/>
          <p:cNvSpPr/>
          <p:nvPr/>
        </p:nvSpPr>
        <p:spPr>
          <a:xfrm>
            <a:off x="7236296" y="1923678"/>
            <a:ext cx="1482236" cy="397266"/>
          </a:xfrm>
          <a:prstGeom prst="borderCallout1">
            <a:avLst>
              <a:gd name="adj1" fmla="val 43925"/>
              <a:gd name="adj2" fmla="val 378"/>
              <a:gd name="adj3" fmla="val 104109"/>
              <a:gd name="adj4" fmla="val -5223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辅助过程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727684" y="3744848"/>
            <a:ext cx="5004556" cy="453018"/>
            <a:chOff x="2411760" y="1512600"/>
            <a:chExt cx="5004556" cy="453018"/>
          </a:xfrm>
        </p:grpSpPr>
        <p:sp>
          <p:nvSpPr>
            <p:cNvPr id="8" name="右大括号 7"/>
            <p:cNvSpPr/>
            <p:nvPr/>
          </p:nvSpPr>
          <p:spPr>
            <a:xfrm>
              <a:off x="2411760" y="1512600"/>
              <a:ext cx="576064" cy="453018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87824" y="1564830"/>
              <a:ext cx="4428492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dirty="0"/>
                <a:t>在文件末尾调用，返回</a:t>
              </a:r>
              <a:r>
                <a:rPr lang="en-US" altLang="zh-CN" dirty="0"/>
                <a:t>1</a:t>
              </a:r>
              <a:r>
                <a:rPr lang="zh-CN" altLang="en-US" dirty="0"/>
                <a:t>，表示解析结束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90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19075"/>
            <a:ext cx="8839200" cy="581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：写一个</a:t>
            </a:r>
            <a:r>
              <a:rPr lang="en-US" altLang="zh-CN" sz="3200" b="1" dirty="0">
                <a:solidFill>
                  <a:srgbClr val="FF0000"/>
                </a:solidFill>
              </a:rPr>
              <a:t>Lex </a:t>
            </a:r>
            <a:r>
              <a:rPr lang="zh-CN" altLang="en-US" sz="3200" b="1" dirty="0">
                <a:solidFill>
                  <a:srgbClr val="FF0000"/>
                </a:solidFill>
              </a:rPr>
              <a:t>程序，用来统计文本中的字数</a:t>
            </a:r>
            <a:r>
              <a:rPr lang="zh-CN" altLang="en-US" dirty="0"/>
              <a:t> </a:t>
            </a:r>
          </a:p>
        </p:txBody>
      </p:sp>
      <p:sp>
        <p:nvSpPr>
          <p:cNvPr id="10137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8229600" cy="1314450"/>
          </a:xfrm>
        </p:spPr>
        <p:txBody>
          <a:bodyPr/>
          <a:lstStyle/>
          <a:p>
            <a:pPr eaLnBrk="1" hangingPunct="1"/>
            <a:r>
              <a:rPr lang="zh-CN" altLang="en-US"/>
              <a:t>第一段：</a:t>
            </a:r>
            <a:r>
              <a:rPr lang="en-US" altLang="zh-CN"/>
              <a:t>C </a:t>
            </a:r>
            <a:r>
              <a:rPr lang="zh-CN" altLang="en-US"/>
              <a:t>和 </a:t>
            </a:r>
            <a:r>
              <a:rPr lang="en-US" altLang="zh-CN"/>
              <a:t>Lex </a:t>
            </a:r>
            <a:r>
              <a:rPr lang="zh-CN" altLang="en-US"/>
              <a:t>的全局声明</a:t>
            </a:r>
          </a:p>
          <a:p>
            <a:pPr eaLnBrk="1" hangingPunct="1"/>
            <a:r>
              <a:rPr lang="zh-CN" altLang="en-US"/>
              <a:t>第二段：</a:t>
            </a:r>
            <a:r>
              <a:rPr lang="en-US" altLang="zh-CN"/>
              <a:t>Lex </a:t>
            </a:r>
            <a:r>
              <a:rPr lang="zh-CN" altLang="en-US"/>
              <a:t>的模式匹配规则</a:t>
            </a:r>
          </a:p>
          <a:p>
            <a:pPr eaLnBrk="1" hangingPunct="1"/>
            <a:r>
              <a:rPr lang="zh-CN" altLang="en-US"/>
              <a:t>第三段：辅助过程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18314" y="1200151"/>
            <a:ext cx="2325687" cy="22467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声明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翻译规则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％％</a:t>
            </a:r>
          </a:p>
          <a:p>
            <a:pPr eaLnBrk="1" hangingPunct="1"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  辅助过程</a:t>
            </a:r>
          </a:p>
        </p:txBody>
      </p:sp>
    </p:spTree>
    <p:extLst>
      <p:ext uri="{BB962C8B-B14F-4D97-AF65-F5344CB8AC3E}">
        <p14:creationId xmlns:p14="http://schemas.microsoft.com/office/powerpoint/2010/main" val="142013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 dirty="0"/>
              <a:t>第一段：</a:t>
            </a:r>
            <a:r>
              <a:rPr lang="en-US" altLang="zh-CN" sz="4000" dirty="0"/>
              <a:t>C </a:t>
            </a:r>
            <a:r>
              <a:rPr lang="zh-CN" altLang="en-US" sz="4000" dirty="0"/>
              <a:t>和 </a:t>
            </a:r>
            <a:r>
              <a:rPr lang="en-US" altLang="zh-CN" sz="4000" dirty="0"/>
              <a:t>Lex </a:t>
            </a:r>
            <a:r>
              <a:rPr lang="zh-CN" altLang="en-US" sz="4000" dirty="0"/>
              <a:t>的全局声明</a:t>
            </a:r>
            <a:endParaRPr lang="zh-CN" altLang="en-US" sz="26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664677"/>
            <a:ext cx="3733800" cy="31393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200" dirty="0">
                <a:solidFill>
                  <a:schemeClr val="tx1"/>
                </a:solidFill>
              </a:rPr>
              <a:t>%{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       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 </a:t>
            </a:r>
            <a:r>
              <a:rPr lang="en-US" altLang="zh-CN" sz="2200" dirty="0" err="1">
                <a:solidFill>
                  <a:schemeClr val="tx1"/>
                </a:solidFill>
              </a:rPr>
              <a:t>wordCount</a:t>
            </a:r>
            <a:r>
              <a:rPr lang="en-US" altLang="zh-CN" sz="2200" dirty="0">
                <a:solidFill>
                  <a:schemeClr val="tx1"/>
                </a:solidFill>
              </a:rPr>
              <a:t> = 0;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%}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chars [A-</a:t>
            </a:r>
            <a:r>
              <a:rPr lang="en-US" altLang="zh-CN" sz="2200" dirty="0" err="1">
                <a:solidFill>
                  <a:schemeClr val="tx1"/>
                </a:solidFill>
              </a:rPr>
              <a:t>za</a:t>
            </a:r>
            <a:r>
              <a:rPr lang="en-US" altLang="zh-CN" sz="2200" dirty="0">
                <a:solidFill>
                  <a:schemeClr val="tx1"/>
                </a:solidFill>
              </a:rPr>
              <a:t>-z\‘\.\“]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numbers ([0-9])+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 err="1">
                <a:solidFill>
                  <a:schemeClr val="tx1"/>
                </a:solidFill>
              </a:rPr>
              <a:t>delim</a:t>
            </a:r>
            <a:r>
              <a:rPr lang="en-US" altLang="zh-CN" sz="2200" dirty="0">
                <a:solidFill>
                  <a:schemeClr val="tx1"/>
                </a:solidFill>
              </a:rPr>
              <a:t> [” “\n\t]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whitespace {</a:t>
            </a:r>
            <a:r>
              <a:rPr lang="en-US" altLang="zh-CN" sz="2200" dirty="0" err="1">
                <a:solidFill>
                  <a:schemeClr val="tx1"/>
                </a:solidFill>
              </a:rPr>
              <a:t>delim</a:t>
            </a:r>
            <a:r>
              <a:rPr lang="en-US" altLang="zh-CN" sz="2200" dirty="0">
                <a:solidFill>
                  <a:schemeClr val="tx1"/>
                </a:solidFill>
              </a:rPr>
              <a:t>}+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dirty="0">
                <a:solidFill>
                  <a:schemeClr val="tx1"/>
                </a:solidFill>
              </a:rPr>
              <a:t>words {chars}+ </a:t>
            </a:r>
            <a:br>
              <a:rPr lang="en-US" altLang="zh-CN" sz="2200" dirty="0">
                <a:solidFill>
                  <a:schemeClr val="tx1"/>
                </a:solidFill>
              </a:rPr>
            </a:br>
            <a:r>
              <a:rPr lang="en-US" altLang="zh-CN" sz="2200" b="1" dirty="0">
                <a:solidFill>
                  <a:schemeClr val="tx1"/>
                </a:solidFill>
              </a:rPr>
              <a:t>%%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1000" y="742950"/>
            <a:ext cx="84582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200" dirty="0">
                <a:latin typeface="+mn-ea"/>
              </a:rPr>
              <a:t> </a:t>
            </a:r>
            <a:r>
              <a:rPr lang="en-US" altLang="zh-CN" sz="2200" dirty="0">
                <a:latin typeface="+mn-ea"/>
              </a:rPr>
              <a:t>C</a:t>
            </a:r>
            <a:r>
              <a:rPr lang="zh-CN" altLang="en-US" sz="2200" dirty="0">
                <a:latin typeface="+mn-ea"/>
              </a:rPr>
              <a:t>变量声明、正则表达式定义。为字数统计程序声明一个整型变量，来保存程序统计出来的字数。还将进行 </a:t>
            </a:r>
            <a:r>
              <a:rPr lang="en-US" altLang="zh-CN" sz="2200" dirty="0">
                <a:latin typeface="+mn-ea"/>
              </a:rPr>
              <a:t>Lex </a:t>
            </a:r>
            <a:r>
              <a:rPr lang="zh-CN" altLang="en-US" sz="2200" dirty="0">
                <a:latin typeface="+mn-ea"/>
              </a:rPr>
              <a:t>的标记声明。 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/>
          </p:cNvSpPr>
          <p:nvPr/>
        </p:nvSpPr>
        <p:spPr bwMode="auto">
          <a:xfrm>
            <a:off x="4637417" y="3723878"/>
            <a:ext cx="4191000" cy="724032"/>
          </a:xfrm>
          <a:prstGeom prst="borderCallout1">
            <a:avLst>
              <a:gd name="adj1" fmla="val 102916"/>
              <a:gd name="adj2" fmla="val 3023"/>
              <a:gd name="adj3" fmla="val 101849"/>
              <a:gd name="adj4" fmla="val -75344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两个百分号标记指出了 </a:t>
            </a:r>
            <a:r>
              <a:rPr lang="en-US" altLang="zh-CN" b="1" dirty="0">
                <a:solidFill>
                  <a:schemeClr val="tx1"/>
                </a:solidFill>
              </a:rPr>
              <a:t>Lex </a:t>
            </a:r>
            <a:r>
              <a:rPr lang="zh-CN" altLang="en-US" b="1" dirty="0">
                <a:solidFill>
                  <a:schemeClr val="tx1"/>
                </a:solidFill>
              </a:rPr>
              <a:t>程序中这一段的结束和第二段的开始。</a:t>
            </a:r>
          </a:p>
        </p:txBody>
      </p:sp>
    </p:spTree>
    <p:extLst>
      <p:ext uri="{BB962C8B-B14F-4D97-AF65-F5344CB8AC3E}">
        <p14:creationId xmlns:p14="http://schemas.microsoft.com/office/powerpoint/2010/main" val="415301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685800"/>
          </a:xfrm>
        </p:spPr>
        <p:txBody>
          <a:bodyPr/>
          <a:lstStyle/>
          <a:p>
            <a:pPr eaLnBrk="1" hangingPunct="1"/>
            <a:r>
              <a:rPr lang="zh-CN" altLang="en-US"/>
              <a:t>第二段：</a:t>
            </a:r>
            <a:r>
              <a:rPr lang="en-US" altLang="zh-CN"/>
              <a:t>Lex </a:t>
            </a:r>
            <a:r>
              <a:rPr lang="zh-CN" altLang="en-US"/>
              <a:t>的模式匹配规则 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5105400" cy="3429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200" dirty="0"/>
              <a:t>正则表达式及其匹配的动作</a:t>
            </a:r>
            <a:br>
              <a:rPr lang="en-US" altLang="zh-CN" sz="2200" dirty="0"/>
            </a:br>
            <a:r>
              <a:rPr lang="zh-CN" altLang="en-US" sz="2200" dirty="0"/>
              <a:t> </a:t>
            </a:r>
          </a:p>
        </p:txBody>
      </p:sp>
      <p:sp>
        <p:nvSpPr>
          <p:cNvPr id="6" name="矩形 5"/>
          <p:cNvSpPr/>
          <p:nvPr/>
        </p:nvSpPr>
        <p:spPr>
          <a:xfrm>
            <a:off x="277482" y="1419622"/>
            <a:ext cx="8038933" cy="3046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{words} { 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wordCount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++; </a:t>
            </a:r>
          </a:p>
          <a:p>
            <a:pPr eaLnBrk="1" hangingPunct="1"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20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/* increase the word count by one*/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 } </a:t>
            </a: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{whitespace} { </a:t>
            </a:r>
            <a:r>
              <a:rPr lang="en-US" altLang="zh-CN" sz="20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/* do nothing*/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 {numbers} { </a:t>
            </a:r>
            <a:r>
              <a:rPr lang="en-US" altLang="zh-CN" sz="20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/* one may </a:t>
            </a:r>
            <a:br>
              <a:rPr lang="en-US" altLang="zh-CN" sz="20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want to add some processing here*/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%%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AutoShape 5"/>
          <p:cNvSpPr>
            <a:spLocks/>
          </p:cNvSpPr>
          <p:nvPr/>
        </p:nvSpPr>
        <p:spPr bwMode="auto">
          <a:xfrm>
            <a:off x="6477000" y="3291830"/>
            <a:ext cx="2667000" cy="965736"/>
          </a:xfrm>
          <a:prstGeom prst="borderCallout1">
            <a:avLst>
              <a:gd name="adj1" fmla="val 102916"/>
              <a:gd name="adj2" fmla="val 3023"/>
              <a:gd name="adj3" fmla="val 104118"/>
              <a:gd name="adj4" fmla="val -200189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两个百分号标记指出了第二段的结束，第三段开始。</a:t>
            </a:r>
          </a:p>
        </p:txBody>
      </p:sp>
    </p:spTree>
    <p:extLst>
      <p:ext uri="{BB962C8B-B14F-4D97-AF65-F5344CB8AC3E}">
        <p14:creationId xmlns:p14="http://schemas.microsoft.com/office/powerpoint/2010/main" val="191162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581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第三段：辅助过程 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90526" y="627534"/>
            <a:ext cx="856297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7188" indent="-357188" eaLnBrk="1" hangingPunct="1">
              <a:buFont typeface="Arial" pitchFamily="34" charset="0"/>
              <a:buChar char="•"/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Lex</a:t>
            </a: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源程序中的辅助过程是一些</a:t>
            </a:r>
            <a:r>
              <a:rPr lang="en-US" altLang="zh-CN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语言的函数，覆盖了 </a:t>
            </a:r>
            <a:r>
              <a:rPr lang="en-US" altLang="zh-CN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 </a:t>
            </a: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的函数声明（有时是主函数）</a:t>
            </a:r>
            <a:endParaRPr lang="en-US" altLang="zh-CN" sz="220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188" indent="-357188" eaLnBrk="1" hangingPunct="1">
              <a:buFont typeface="Arial" pitchFamily="34" charset="0"/>
              <a:buChar char="•"/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这一段必须包括 </a:t>
            </a:r>
            <a:r>
              <a:rPr lang="en-US" altLang="zh-CN" sz="2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yywrap</a:t>
            </a:r>
            <a:r>
              <a:rPr lang="en-US" altLang="zh-CN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() </a:t>
            </a: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函数，是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文件结束处理函数，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yylex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在读到文件结束标记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时，要调用该函数，用户必须提供该函数，否则在编译时会出错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188" indent="-357188" eaLnBrk="1" hangingPunct="1">
              <a:buFont typeface="Arial" pitchFamily="34" charset="0"/>
              <a:buChar char="•"/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Lex </a:t>
            </a:r>
            <a:r>
              <a:rPr lang="zh-CN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有一套可供使用的函数和变量。 其中之一就是 </a:t>
            </a:r>
            <a:r>
              <a:rPr lang="en-US" altLang="zh-CN" sz="2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yywrap</a:t>
            </a:r>
            <a:endParaRPr lang="zh-CN" altLang="en-US" sz="220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95600" y="2751192"/>
            <a:ext cx="6248400" cy="2419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defRPr/>
            </a:pPr>
            <a:r>
              <a:rPr lang="en-US" altLang="zh-CN" sz="2000" dirty="0"/>
              <a:t>void main() 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en-US" altLang="zh-CN" sz="2000" dirty="0"/>
              <a:t> { </a:t>
            </a:r>
            <a:br>
              <a:rPr lang="en-US" altLang="zh-CN" sz="2000" dirty="0"/>
            </a:br>
            <a:r>
              <a:rPr lang="en-US" altLang="zh-CN" sz="2000" dirty="0"/>
              <a:t>    </a:t>
            </a:r>
            <a:r>
              <a:rPr lang="en-US" altLang="zh-CN" sz="2000" dirty="0" err="1"/>
              <a:t>yylex</a:t>
            </a:r>
            <a:r>
              <a:rPr lang="en-US" altLang="zh-CN" sz="2000" dirty="0"/>
              <a:t>(); /* start the analysis*/ </a:t>
            </a:r>
            <a:br>
              <a:rPr lang="en-US" altLang="zh-CN" sz="2000" dirty="0"/>
            </a:b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 No of words: %d\n", </a:t>
            </a:r>
            <a:r>
              <a:rPr lang="en-US" altLang="zh-CN" sz="2000" dirty="0" err="1"/>
              <a:t>wordCount</a:t>
            </a:r>
            <a:r>
              <a:rPr lang="en-US" altLang="zh-CN" sz="2000" dirty="0"/>
              <a:t>); </a:t>
            </a:r>
            <a:br>
              <a:rPr lang="en-US" altLang="zh-CN" sz="2000" dirty="0"/>
            </a:br>
            <a:r>
              <a:rPr lang="en-US" altLang="zh-CN" sz="2000" dirty="0"/>
              <a:t> } </a:t>
            </a:r>
            <a:br>
              <a:rPr lang="en-US" altLang="zh-CN" sz="2000" dirty="0"/>
            </a:br>
            <a:endParaRPr lang="en-US" altLang="zh-CN" sz="2000" dirty="0"/>
          </a:p>
          <a:p>
            <a:pPr eaLnBrk="1" hangingPunct="1">
              <a:lnSpc>
                <a:spcPct val="75000"/>
              </a:lnSpc>
              <a:defRPr/>
            </a:pPr>
            <a:r>
              <a:rPr lang="en-US" altLang="zh-CN" sz="2000" dirty="0"/>
              <a:t> 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 </a:t>
            </a:r>
            <a:r>
              <a:rPr lang="en-US" altLang="zh-CN" sz="2000" dirty="0" err="1"/>
              <a:t>yywrap</a:t>
            </a:r>
            <a:r>
              <a:rPr lang="en-US" altLang="zh-CN" sz="2000" dirty="0"/>
              <a:t>() </a:t>
            </a:r>
            <a:br>
              <a:rPr lang="en-US" altLang="zh-CN" sz="2000" dirty="0"/>
            </a:br>
            <a:r>
              <a:rPr lang="en-US" altLang="zh-CN" sz="2000" dirty="0"/>
              <a:t> { </a:t>
            </a:r>
            <a:br>
              <a:rPr lang="en-US" altLang="zh-CN" sz="2000" dirty="0"/>
            </a:br>
            <a:r>
              <a:rPr lang="en-US" altLang="zh-CN" sz="2000" dirty="0"/>
              <a:t>    return 1; </a:t>
            </a:r>
            <a:br>
              <a:rPr lang="en-US" altLang="zh-CN" sz="2000" dirty="0"/>
            </a:br>
            <a:r>
              <a:rPr lang="en-US" altLang="zh-CN" sz="20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844305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540750" cy="8096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</a:rPr>
              <a:t>：写一个</a:t>
            </a:r>
            <a:r>
              <a:rPr lang="en-US" altLang="zh-CN" sz="3200" b="1" dirty="0">
                <a:solidFill>
                  <a:srgbClr val="FF0000"/>
                </a:solidFill>
              </a:rPr>
              <a:t>Lex</a:t>
            </a:r>
            <a:r>
              <a:rPr lang="zh-CN" altLang="en-US" sz="3200" b="1" dirty="0">
                <a:solidFill>
                  <a:srgbClr val="FF0000"/>
                </a:solidFill>
              </a:rPr>
              <a:t>源文件，其功能是统计文本文件中的字符数和行数。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35807"/>
            <a:ext cx="8820150" cy="4293394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%{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/*</a:t>
            </a:r>
            <a:r>
              <a:rPr lang="zh-CN" altLang="en-US" sz="2200" dirty="0"/>
              <a:t>该</a:t>
            </a:r>
            <a:r>
              <a:rPr lang="en-US" altLang="zh-CN" sz="2200" dirty="0"/>
              <a:t>Lex</a:t>
            </a:r>
            <a:r>
              <a:rPr lang="zh-CN" altLang="en-US" sz="2200" dirty="0"/>
              <a:t>程序的功能是统计文本文件的字符数和行数，并输出结果*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#include&lt;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num_chars</a:t>
            </a:r>
            <a:r>
              <a:rPr lang="en-US" altLang="zh-CN" sz="2200" dirty="0"/>
              <a:t>=0,num_lines=0;/*</a:t>
            </a:r>
            <a:r>
              <a:rPr lang="zh-CN" altLang="en-US" sz="2200" dirty="0"/>
              <a:t>全局变量定义，初值为</a:t>
            </a:r>
            <a:r>
              <a:rPr lang="en-US" altLang="zh-CN" sz="2200" dirty="0"/>
              <a:t>0*/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%}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solidFill>
                  <a:srgbClr val="FF0000"/>
                </a:solidFill>
              </a:rPr>
              <a:t>%%    /*</a:t>
            </a:r>
            <a:r>
              <a:rPr lang="zh-CN" altLang="en-US" sz="2200" dirty="0">
                <a:solidFill>
                  <a:srgbClr val="FF0000"/>
                </a:solidFill>
              </a:rPr>
              <a:t>从此后是第</a:t>
            </a:r>
            <a:r>
              <a:rPr lang="en-US" altLang="zh-CN" sz="2200" dirty="0">
                <a:solidFill>
                  <a:srgbClr val="FF0000"/>
                </a:solidFill>
              </a:rPr>
              <a:t>2</a:t>
            </a:r>
            <a:r>
              <a:rPr lang="zh-CN" altLang="en-US" sz="2200" dirty="0">
                <a:solidFill>
                  <a:srgbClr val="FF0000"/>
                </a:solidFill>
              </a:rPr>
              <a:t>部份*</a:t>
            </a:r>
            <a:r>
              <a:rPr lang="en-US" altLang="zh-CN" sz="2200" dirty="0">
                <a:solidFill>
                  <a:srgbClr val="FF0000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\n   {++</a:t>
            </a:r>
            <a:r>
              <a:rPr lang="en-US" altLang="zh-CN" sz="2200" dirty="0" err="1"/>
              <a:t>num_chars</a:t>
            </a:r>
            <a:r>
              <a:rPr lang="en-US" altLang="zh-CN" sz="2200" dirty="0"/>
              <a:t>;++</a:t>
            </a:r>
            <a:r>
              <a:rPr lang="en-US" altLang="zh-CN" sz="2200" dirty="0" err="1"/>
              <a:t>num_lines</a:t>
            </a:r>
            <a:r>
              <a:rPr lang="en-US" altLang="zh-CN" sz="2200" dirty="0"/>
              <a:t>;} /*\n</a:t>
            </a:r>
            <a:r>
              <a:rPr lang="zh-CN" altLang="en-US" sz="2200" dirty="0"/>
              <a:t>匹配一行*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.     {++</a:t>
            </a:r>
            <a:r>
              <a:rPr lang="en-US" altLang="zh-CN" sz="2200" dirty="0" err="1"/>
              <a:t>num_chars</a:t>
            </a:r>
            <a:r>
              <a:rPr lang="en-US" altLang="zh-CN" sz="2200" dirty="0"/>
              <a:t>;}  /*.</a:t>
            </a:r>
            <a:r>
              <a:rPr lang="zh-CN" altLang="en-US" sz="2200" dirty="0"/>
              <a:t>匹配任一符号，注意从第一列开始写*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solidFill>
                  <a:srgbClr val="FF0000"/>
                </a:solidFill>
              </a:rPr>
              <a:t>%%    /*</a:t>
            </a:r>
            <a:r>
              <a:rPr lang="zh-CN" altLang="en-US" sz="2200" dirty="0">
                <a:solidFill>
                  <a:srgbClr val="FF0000"/>
                </a:solidFill>
              </a:rPr>
              <a:t>从此后是第</a:t>
            </a:r>
            <a:r>
              <a:rPr lang="en-US" altLang="zh-CN" sz="2200" dirty="0">
                <a:solidFill>
                  <a:srgbClr val="FF0000"/>
                </a:solidFill>
              </a:rPr>
              <a:t>3</a:t>
            </a:r>
            <a:r>
              <a:rPr lang="zh-CN" altLang="en-US" sz="2200" dirty="0">
                <a:solidFill>
                  <a:srgbClr val="FF0000"/>
                </a:solidFill>
              </a:rPr>
              <a:t>部分*</a:t>
            </a:r>
            <a:r>
              <a:rPr lang="en-US" altLang="zh-CN" sz="2200" dirty="0">
                <a:solidFill>
                  <a:srgbClr val="FF0000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{ </a:t>
            </a:r>
            <a:r>
              <a:rPr lang="en-US" altLang="zh-CN" sz="2200" dirty="0" err="1"/>
              <a:t>yylex</a:t>
            </a:r>
            <a:r>
              <a:rPr lang="en-US" altLang="zh-CN" sz="2200" dirty="0"/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(“This file has %5d chars,%5d lines”,</a:t>
            </a:r>
            <a:r>
              <a:rPr lang="en-US" altLang="zh-CN" sz="2200" dirty="0" err="1"/>
              <a:t>num_chars,num_lines</a:t>
            </a:r>
            <a:r>
              <a:rPr lang="en-US" altLang="zh-CN" sz="2200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yywrap</a:t>
            </a:r>
            <a:r>
              <a:rPr lang="en-US" altLang="zh-CN" sz="2200" dirty="0"/>
              <a:t>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{return 1;}</a:t>
            </a:r>
          </a:p>
        </p:txBody>
      </p:sp>
    </p:spTree>
    <p:extLst>
      <p:ext uri="{BB962C8B-B14F-4D97-AF65-F5344CB8AC3E}">
        <p14:creationId xmlns:p14="http://schemas.microsoft.com/office/powerpoint/2010/main" val="3928681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4838"/>
          </a:xfrm>
        </p:spPr>
        <p:txBody>
          <a:bodyPr>
            <a:normAutofit fontScale="90000"/>
          </a:bodyPr>
          <a:lstStyle/>
          <a:p>
            <a:pPr>
              <a:lnSpc>
                <a:spcPct val="172000"/>
              </a:lnSpc>
              <a:spcBef>
                <a:spcPts val="800"/>
              </a:spcBef>
              <a:spcAft>
                <a:spcPts val="300"/>
              </a:spcAft>
            </a:pPr>
            <a:r>
              <a:rPr kumimoji="1" lang="zh-CN" altLang="zh-CN" b="1" dirty="0">
                <a:solidFill>
                  <a:srgbClr val="CC0099"/>
                </a:solidFill>
                <a:ea typeface="隶书" pitchFamily="49" charset="-122"/>
              </a:rPr>
              <a:t>2.6.4 Lex使用中的一些注意事项</a:t>
            </a:r>
            <a:endParaRPr kumimoji="1" lang="zh-CN" altLang="en-US" b="1" dirty="0">
              <a:solidFill>
                <a:srgbClr val="CC0099"/>
              </a:solidFill>
              <a:ea typeface="隶书" pitchFamily="49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735" y="674538"/>
            <a:ext cx="4191000" cy="1296591"/>
          </a:xfrm>
        </p:spPr>
        <p:txBody>
          <a:bodyPr/>
          <a:lstStyle/>
          <a:p>
            <a:pPr indent="22225" eaLnBrk="1" hangingPunct="1">
              <a:buFont typeface="Wingdings" pitchFamily="2" charset="2"/>
              <a:buChar char="Ø"/>
            </a:pPr>
            <a:r>
              <a:rPr lang="zh-CN" altLang="en-US" dirty="0"/>
              <a:t>二义性的解决</a:t>
            </a:r>
          </a:p>
          <a:p>
            <a:pPr marL="342900" lvl="1" indent="22225" eaLnBrk="1" hangingPunct="1">
              <a:buFont typeface="Wingdings" pitchFamily="2" charset="2"/>
              <a:buChar char="Ø"/>
            </a:pPr>
            <a:r>
              <a:rPr lang="zh-CN" altLang="en-US" dirty="0"/>
              <a:t>   </a:t>
            </a:r>
            <a:r>
              <a:rPr lang="en-US" altLang="zh-CN" dirty="0"/>
              <a:t>C</a:t>
            </a:r>
            <a:r>
              <a:rPr lang="zh-CN" altLang="en-US" dirty="0"/>
              <a:t>代码的插入</a:t>
            </a:r>
          </a:p>
          <a:p>
            <a:pPr marL="342900" lvl="1" indent="22225" eaLnBrk="1" hangingPunct="1">
              <a:buFont typeface="Wingdings" pitchFamily="2" charset="2"/>
              <a:buChar char="Ø"/>
            </a:pPr>
            <a:r>
              <a:rPr lang="zh-CN" altLang="en-US" dirty="0"/>
              <a:t>   内部名字</a:t>
            </a:r>
          </a:p>
        </p:txBody>
      </p:sp>
      <p:sp>
        <p:nvSpPr>
          <p:cNvPr id="110593" name="Rectangle 1"/>
          <p:cNvSpPr>
            <a:spLocks noChangeArrowheads="1"/>
          </p:cNvSpPr>
          <p:nvPr/>
        </p:nvSpPr>
        <p:spPr bwMode="auto">
          <a:xfrm>
            <a:off x="288925" y="1992095"/>
            <a:ext cx="8566150" cy="31393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266700" eaLnBrk="1" hangingPunct="1"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二义性的解决</a:t>
            </a:r>
          </a:p>
          <a:p>
            <a:pPr indent="266700" eaLnBrk="1" hangingPunct="1">
              <a:defRPr/>
            </a:pP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(1) 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最长匹配原则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：当有几个规则看来都适用时，总是寻找可能的最长子串与正则表达式</a:t>
            </a:r>
            <a:r>
              <a:rPr lang="en-US" altLang="zh-CN" sz="220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p</a:t>
            </a:r>
            <a:r>
              <a:rPr lang="en-US" altLang="zh-CN" sz="2200" i="1" baseline="-30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相匹配。</a:t>
            </a:r>
          </a:p>
          <a:p>
            <a:pPr indent="266700">
              <a:defRPr/>
            </a:pP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(2) 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优先匹配原则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：如果某个子串可与两个或更多的正则表达式匹配，并且匹配的长度都相同， 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Lex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以出现在最前面的那个</a:t>
            </a:r>
            <a:r>
              <a:rPr lang="en-US" altLang="zh-CN" sz="220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p</a:t>
            </a:r>
            <a:r>
              <a:rPr lang="en-US" altLang="zh-CN" sz="2200" i="1" baseline="-30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为准，也就是说，越处于前面的那个</a:t>
            </a:r>
            <a:r>
              <a:rPr lang="en-US" altLang="zh-CN" sz="220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p</a:t>
            </a:r>
            <a:r>
              <a:rPr lang="en-US" altLang="zh-CN" sz="2200" i="1" baseline="-30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，匹配的优先级越高。</a:t>
            </a:r>
            <a:endParaRPr lang="en-US" altLang="zh-CN" sz="2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indent="266700">
              <a:defRPr/>
            </a:pP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如果没有正则表达式可与任何非空子串相匹配，则词法分析器应报告输入含有错误，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Lex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的默认动作就将下一个字符复制到输出中并继续下去。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334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1105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7200" y="1067366"/>
            <a:ext cx="8229600" cy="3477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marL="0" lvl="1" indent="266700" eaLnBrk="1" hangingPunct="1">
              <a:defRPr/>
            </a:pPr>
            <a:r>
              <a:rPr lang="en-US" altLang="zh-CN" sz="2200" b="1" dirty="0">
                <a:solidFill>
                  <a:srgbClr val="C00000"/>
                </a:solidFill>
              </a:rPr>
              <a:t>C</a:t>
            </a:r>
            <a:r>
              <a:rPr lang="zh-CN" altLang="en-US" sz="2200" b="1" dirty="0">
                <a:solidFill>
                  <a:srgbClr val="C00000"/>
                </a:solidFill>
              </a:rPr>
              <a:t>代码的插入</a:t>
            </a:r>
          </a:p>
          <a:p>
            <a:pPr indent="266700" eaLnBrk="1" hangingPunct="1">
              <a:defRPr/>
            </a:pPr>
            <a:endParaRPr lang="en-US" altLang="zh-CN" sz="2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eaLnBrk="1" hangingPunct="1">
              <a:defRPr/>
            </a:pPr>
            <a:r>
              <a:rPr 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）写在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%{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%}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之间的任何文本将被直接复制到外置于任意过程的输出程序之中。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indent="266700"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）辅助过程中的任何文本都将被直接复制到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Lex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代码末尾的输出程序中。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indent="266700"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）将任何跟在翻译规则中的正则表达式之后的代码插入到识别过程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yylex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的恰当位置，并在与对应的正则表达式匹配时执行它。代表一个行为的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代码既可以是一个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语句，也可以是一个由任何说明及由位于花括号中的语句组成的复杂的</a:t>
            </a:r>
            <a:r>
              <a:rPr lang="en-US" altLang="zh-CN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语句段。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35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>
          <a:xfrm>
            <a:off x="930276" y="205979"/>
            <a:ext cx="7432675" cy="741759"/>
          </a:xfrm>
        </p:spPr>
        <p:txBody>
          <a:bodyPr/>
          <a:lstStyle/>
          <a:p>
            <a:pPr marL="342900" indent="-342900" algn="l"/>
            <a:r>
              <a:rPr lang="zh-CN" altLang="en-US" sz="3600" b="1">
                <a:solidFill>
                  <a:srgbClr val="C00000"/>
                </a:solidFill>
              </a:rPr>
              <a:t>内部名字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30275" y="1063228"/>
          <a:ext cx="7615238" cy="3786188"/>
        </p:xfrm>
        <a:graphic>
          <a:graphicData uri="http://schemas.openxmlformats.org/drawingml/2006/table">
            <a:tbl>
              <a:tblPr/>
              <a:tblGrid>
                <a:gridCol w="258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5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内部名字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含义</a:t>
                      </a: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使用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lexyy.c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或</a:t>
                      </a: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lex.yy.c</a:t>
                      </a: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输出文件名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yylex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扫描程序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yytext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当前正</a:t>
                      </a: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则表达式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匹配的串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yyin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输入文件（默认：</a:t>
                      </a: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stdin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yyout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输出文件（默认：</a:t>
                      </a: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stdout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5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input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缓冲的输入程序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ECHO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Lex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缺省行为（将</a:t>
                      </a: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yytext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打印到</a:t>
                      </a:r>
                      <a:r>
                        <a:rPr lang="en-US" sz="1800" kern="0" dirty="0" err="1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yyout</a:t>
                      </a:r>
                      <a:r>
                        <a:rPr lang="zh-CN" sz="1800" kern="0" dirty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7" marR="6858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20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高级 </a:t>
            </a:r>
            <a:r>
              <a:rPr lang="en-US" altLang="zh-CN"/>
              <a:t>Lex 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00150"/>
            <a:ext cx="8458200" cy="3486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Lex </a:t>
            </a:r>
            <a:r>
              <a:rPr lang="zh-CN" altLang="en-US" sz="2800" dirty="0"/>
              <a:t>变量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yyin</a:t>
            </a:r>
            <a:r>
              <a:rPr lang="en-US" altLang="zh-CN" dirty="0"/>
              <a:t> FILE* </a:t>
            </a:r>
            <a:r>
              <a:rPr lang="zh-CN" altLang="en-US" dirty="0"/>
              <a:t>类型。 它指向正在解析的当前文件。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yyout</a:t>
            </a:r>
            <a:r>
              <a:rPr lang="en-US" altLang="zh-CN" dirty="0"/>
              <a:t> FILE* </a:t>
            </a:r>
            <a:r>
              <a:rPr lang="zh-CN" altLang="en-US" dirty="0"/>
              <a:t>类型。 它指向输出的位置。 缺省情况下，</a:t>
            </a:r>
            <a:r>
              <a:rPr lang="en-US" altLang="zh-CN" dirty="0" err="1"/>
              <a:t>yyin</a:t>
            </a:r>
            <a:r>
              <a:rPr lang="en-US" altLang="zh-CN" dirty="0"/>
              <a:t> </a:t>
            </a:r>
            <a:r>
              <a:rPr lang="zh-CN" altLang="en-US" dirty="0"/>
              <a:t>和 </a:t>
            </a:r>
            <a:r>
              <a:rPr lang="en-US" altLang="zh-CN" dirty="0" err="1"/>
              <a:t>yyout</a:t>
            </a:r>
            <a:r>
              <a:rPr lang="en-US" altLang="zh-CN" dirty="0"/>
              <a:t> </a:t>
            </a:r>
            <a:r>
              <a:rPr lang="zh-CN" altLang="en-US" dirty="0"/>
              <a:t>都指向标准输入和输出。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yytext</a:t>
            </a:r>
            <a:r>
              <a:rPr lang="en-US" altLang="zh-CN" dirty="0"/>
              <a:t> </a:t>
            </a:r>
            <a:r>
              <a:rPr lang="zh-CN" altLang="en-US" dirty="0"/>
              <a:t>匹配的文本存储在这一变量中</a:t>
            </a:r>
            <a:r>
              <a:rPr lang="en-US" altLang="zh-CN" dirty="0"/>
              <a:t>(char*)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yyleng</a:t>
            </a:r>
            <a:r>
              <a:rPr lang="en-US" altLang="zh-CN" dirty="0"/>
              <a:t> </a:t>
            </a:r>
            <a:r>
              <a:rPr lang="zh-CN" altLang="en-US" dirty="0"/>
              <a:t>给出匹配模式的长度。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yylineno</a:t>
            </a:r>
            <a:r>
              <a:rPr lang="en-US" altLang="zh-CN" dirty="0"/>
              <a:t> </a:t>
            </a:r>
            <a:r>
              <a:rPr lang="zh-CN" altLang="en-US" dirty="0"/>
              <a:t>提供当前的行数信息。</a:t>
            </a:r>
          </a:p>
        </p:txBody>
      </p:sp>
    </p:spTree>
    <p:extLst>
      <p:ext uri="{BB962C8B-B14F-4D97-AF65-F5344CB8AC3E}">
        <p14:creationId xmlns:p14="http://schemas.microsoft.com/office/powerpoint/2010/main" val="586607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sz="4000"/>
              <a:t>高级 </a:t>
            </a:r>
            <a:r>
              <a:rPr lang="en-US" altLang="zh-CN" sz="4000"/>
              <a:t>Lex ---Lex </a:t>
            </a:r>
            <a:r>
              <a:rPr lang="zh-CN" altLang="en-US" sz="4000"/>
              <a:t>函数 </a:t>
            </a:r>
            <a:br>
              <a:rPr lang="zh-CN" altLang="en-US" sz="4000"/>
            </a:br>
            <a:endParaRPr lang="zh-CN" altLang="en-US" sz="400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57250"/>
            <a:ext cx="8229600" cy="382905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yylex</a:t>
            </a:r>
            <a:r>
              <a:rPr lang="en-US" altLang="zh-CN" dirty="0"/>
              <a:t>()  Lex</a:t>
            </a:r>
            <a:r>
              <a:rPr lang="zh-CN" altLang="en-US" dirty="0"/>
              <a:t>从这一函数开始分析。自动生成。  </a:t>
            </a:r>
            <a:br>
              <a:rPr lang="zh-CN" altLang="en-US" dirty="0"/>
            </a:br>
            <a:r>
              <a:rPr lang="en-US" altLang="zh-CN" dirty="0" err="1"/>
              <a:t>yywrap</a:t>
            </a:r>
            <a:r>
              <a:rPr lang="en-US" altLang="zh-CN" dirty="0"/>
              <a:t>() </a:t>
            </a:r>
            <a:r>
              <a:rPr lang="zh-CN" altLang="en-US" dirty="0"/>
              <a:t>这一函数在文件（或输入）的末尾调用。如果函数的返回值是</a:t>
            </a:r>
            <a:r>
              <a:rPr lang="en-US" altLang="zh-CN" dirty="0"/>
              <a:t>1</a:t>
            </a:r>
            <a:r>
              <a:rPr lang="zh-CN" altLang="en-US" dirty="0"/>
              <a:t>，就停止解析。 因此它可以用来解析多个文件，代码可以写在第三段， 方法是使用 </a:t>
            </a:r>
            <a:r>
              <a:rPr lang="en-US" altLang="zh-CN" dirty="0" err="1"/>
              <a:t>yyin</a:t>
            </a:r>
            <a:r>
              <a:rPr lang="en-US" altLang="zh-CN" dirty="0"/>
              <a:t> </a:t>
            </a:r>
            <a:r>
              <a:rPr lang="zh-CN" altLang="en-US" dirty="0"/>
              <a:t>文件指针指向不同的文件，直到所有的文件都被解析。最后，</a:t>
            </a:r>
            <a:r>
              <a:rPr lang="en-US" altLang="zh-CN" dirty="0" err="1"/>
              <a:t>yywrap</a:t>
            </a:r>
            <a:r>
              <a:rPr lang="en-US" altLang="zh-CN" dirty="0"/>
              <a:t>() </a:t>
            </a:r>
            <a:r>
              <a:rPr lang="zh-CN" altLang="en-US" dirty="0"/>
              <a:t>可以返回 </a:t>
            </a:r>
            <a:r>
              <a:rPr lang="en-US" altLang="zh-CN" dirty="0"/>
              <a:t>1 </a:t>
            </a:r>
            <a:r>
              <a:rPr lang="zh-CN" altLang="en-US" dirty="0"/>
              <a:t>来表示解析的结束。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yyless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 n) </a:t>
            </a:r>
            <a:r>
              <a:rPr lang="zh-CN" altLang="en-US" dirty="0"/>
              <a:t>这一函数可以用来送回除了前</a:t>
            </a:r>
            <a:r>
              <a:rPr lang="en-US" altLang="zh-CN" dirty="0"/>
              <a:t>n</a:t>
            </a:r>
            <a:r>
              <a:rPr lang="zh-CN" altLang="en-US" dirty="0"/>
              <a:t>个字符外的所有读出标记。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yymore</a:t>
            </a:r>
            <a:r>
              <a:rPr lang="en-US" altLang="zh-CN" dirty="0"/>
              <a:t>() </a:t>
            </a:r>
            <a:r>
              <a:rPr lang="zh-CN" altLang="en-US" dirty="0"/>
              <a:t>这一函数告诉 </a:t>
            </a:r>
            <a:r>
              <a:rPr lang="en-US" altLang="zh-CN" dirty="0" err="1"/>
              <a:t>Lexer</a:t>
            </a:r>
            <a:r>
              <a:rPr lang="en-US" altLang="zh-CN" dirty="0"/>
              <a:t> </a:t>
            </a:r>
            <a:r>
              <a:rPr lang="zh-CN" altLang="en-US" dirty="0"/>
              <a:t>将下一个标记附加到当前标记后。 </a:t>
            </a:r>
            <a:r>
              <a:rPr lang="zh-CN" altLang="en-US" sz="2400" dirty="0"/>
              <a:t> </a:t>
            </a:r>
            <a:br>
              <a:rPr lang="zh-CN" altLang="en-US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4801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50031"/>
            <a:ext cx="8540750" cy="857250"/>
          </a:xfrm>
        </p:spPr>
        <p:txBody>
          <a:bodyPr/>
          <a:lstStyle/>
          <a:p>
            <a:pPr eaLnBrk="1" hangingPunct="1"/>
            <a:r>
              <a:rPr lang="zh-CN" altLang="en-US"/>
              <a:t>练习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56110"/>
            <a:ext cx="8540750" cy="348734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编写一个</a:t>
            </a:r>
            <a:r>
              <a:rPr lang="en-US" altLang="zh-CN" sz="2200" dirty="0"/>
              <a:t>Lex</a:t>
            </a:r>
            <a:r>
              <a:rPr lang="zh-CN" altLang="en-US" sz="2200" dirty="0"/>
              <a:t>输入文件，该程序复制一个文件，并将每一个非空的空白字符序列用一个空格代替。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编写</a:t>
            </a:r>
            <a:r>
              <a:rPr lang="en-US" altLang="zh-CN" sz="2200" dirty="0"/>
              <a:t>LEX</a:t>
            </a:r>
            <a:r>
              <a:rPr lang="zh-CN" altLang="en-US" sz="2200" dirty="0"/>
              <a:t>文件：一个能识别所有运算式中包含的符号：数字（</a:t>
            </a:r>
            <a:r>
              <a:rPr lang="en-US" altLang="zh-CN" sz="2200" dirty="0"/>
              <a:t>0-9</a:t>
            </a:r>
            <a:r>
              <a:rPr lang="zh-CN" altLang="en-US" sz="2200" dirty="0"/>
              <a:t>），字符（</a:t>
            </a:r>
            <a:r>
              <a:rPr lang="en-US" altLang="zh-CN" sz="2200" dirty="0"/>
              <a:t>A-Z</a:t>
            </a:r>
            <a:r>
              <a:rPr lang="zh-CN" altLang="en-US" sz="2200" dirty="0"/>
              <a:t>），各种运算符：“</a:t>
            </a:r>
            <a:r>
              <a:rPr lang="en-US" altLang="zh-CN" sz="2200" dirty="0"/>
              <a:t>+,-,*,/,(,),**,%”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编写一个</a:t>
            </a:r>
            <a:r>
              <a:rPr lang="en-US" altLang="zh-CN" sz="2200" dirty="0"/>
              <a:t>Lex</a:t>
            </a:r>
            <a:r>
              <a:rPr lang="zh-CN" altLang="en-US" sz="2200" dirty="0"/>
              <a:t>输入文件，使之生成可计算文本文件的字符、单词和行数且能报告该数字的程序，其中单词是不带标点或空格的字母和</a:t>
            </a:r>
            <a:r>
              <a:rPr lang="en-US" altLang="zh-CN" sz="2200" dirty="0"/>
              <a:t>/</a:t>
            </a:r>
            <a:r>
              <a:rPr lang="zh-CN" altLang="en-US" sz="2200" dirty="0"/>
              <a:t>或数字的序列。标点和空白格不计算为单词。</a:t>
            </a:r>
          </a:p>
        </p:txBody>
      </p:sp>
    </p:spTree>
    <p:extLst>
      <p:ext uri="{BB962C8B-B14F-4D97-AF65-F5344CB8AC3E}">
        <p14:creationId xmlns:p14="http://schemas.microsoft.com/office/powerpoint/2010/main" val="2746677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模板1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模板1</Template>
  <TotalTime>2085</TotalTime>
  <Words>3364</Words>
  <Application>Microsoft Office PowerPoint</Application>
  <PresentationFormat>全屏显示(16:9)</PresentationFormat>
  <Paragraphs>452</Paragraphs>
  <Slides>30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黑体</vt:lpstr>
      <vt:lpstr>隶书</vt:lpstr>
      <vt:lpstr>宋体</vt:lpstr>
      <vt:lpstr>Arial</vt:lpstr>
      <vt:lpstr>Calibri</vt:lpstr>
      <vt:lpstr>Lucida Sans Unicode</vt:lpstr>
      <vt:lpstr>Symbol</vt:lpstr>
      <vt:lpstr>Tahoma</vt:lpstr>
      <vt:lpstr>Times New Roman</vt:lpstr>
      <vt:lpstr>Verdana</vt:lpstr>
      <vt:lpstr>Wingdings</vt:lpstr>
      <vt:lpstr>Wingdings 2</vt:lpstr>
      <vt:lpstr>Wingdings 3</vt:lpstr>
      <vt:lpstr>模板1</vt:lpstr>
      <vt:lpstr>Visio</vt:lpstr>
      <vt:lpstr>实验二：词法分析自动生成器（2学时+课外）</vt:lpstr>
      <vt:lpstr>实验二：词法分析自动生成器（2学时+课外）</vt:lpstr>
      <vt:lpstr>PowerPoint 演示文稿</vt:lpstr>
      <vt:lpstr>PowerPoint 演示文稿</vt:lpstr>
      <vt:lpstr>PowerPoint 演示文稿</vt:lpstr>
      <vt:lpstr>Lex的工作过程</vt:lpstr>
      <vt:lpstr>2.6词法分析程序的自动构造</vt:lpstr>
      <vt:lpstr>Lex的概述</vt:lpstr>
      <vt:lpstr>词法分析工具介绍</vt:lpstr>
      <vt:lpstr>用Lex生成词法分析器</vt:lpstr>
      <vt:lpstr>Lex源文件的书写</vt:lpstr>
      <vt:lpstr>Lex 的正则定义式 </vt:lpstr>
      <vt:lpstr>PowerPoint 演示文稿</vt:lpstr>
      <vt:lpstr>PowerPoint 演示文稿</vt:lpstr>
      <vt:lpstr>PowerPoint 演示文稿</vt:lpstr>
      <vt:lpstr>Lex的工作过程</vt:lpstr>
      <vt:lpstr>PowerPoint 演示文稿</vt:lpstr>
      <vt:lpstr>例：使用Lex生成识别关键字(if,then,begin,end,while, repeat)、运算符(+,-,*,/)、标识符、整数、带小数的实数的程序，注释用{  }括起来</vt:lpstr>
      <vt:lpstr>PowerPoint 演示文稿</vt:lpstr>
      <vt:lpstr>例2：写一个Lex 程序，用来统计文本中的字数 </vt:lpstr>
      <vt:lpstr>第一段：C 和 Lex 的全局声明</vt:lpstr>
      <vt:lpstr>第二段：Lex 的模式匹配规则 </vt:lpstr>
      <vt:lpstr>第三段：辅助过程 </vt:lpstr>
      <vt:lpstr>例3：写一个Lex源文件，其功能是统计文本文件中的字符数和行数。</vt:lpstr>
      <vt:lpstr>2.6.4 Lex使用中的一些注意事项</vt:lpstr>
      <vt:lpstr>PowerPoint 演示文稿</vt:lpstr>
      <vt:lpstr>内部名字</vt:lpstr>
      <vt:lpstr>高级 Lex </vt:lpstr>
      <vt:lpstr>高级 Lex ---Lex 函数  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实验内容</dc:title>
  <dc:creator>hxy</dc:creator>
  <cp:lastModifiedBy>CQUT</cp:lastModifiedBy>
  <cp:revision>51</cp:revision>
  <dcterms:created xsi:type="dcterms:W3CDTF">2020-02-23T14:19:43Z</dcterms:created>
  <dcterms:modified xsi:type="dcterms:W3CDTF">2022-03-24T09:26:45Z</dcterms:modified>
</cp:coreProperties>
</file>