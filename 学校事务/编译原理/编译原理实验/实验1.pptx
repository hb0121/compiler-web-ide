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333" r:id="rId2"/>
    <p:sldId id="348" r:id="rId3"/>
    <p:sldId id="344" r:id="rId4"/>
    <p:sldId id="317" r:id="rId5"/>
    <p:sldId id="342" r:id="rId6"/>
    <p:sldId id="343" r:id="rId7"/>
    <p:sldId id="345" r:id="rId8"/>
    <p:sldId id="350" r:id="rId9"/>
    <p:sldId id="351" r:id="rId10"/>
    <p:sldId id="349" r:id="rId11"/>
  </p:sldIdLst>
  <p:sldSz cx="9144000" cy="5143500" type="screen16x9"/>
  <p:notesSz cx="6858000" cy="9144000"/>
  <p:custDataLst>
    <p:tags r:id="rId13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5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00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221" autoAdjust="0"/>
    <p:restoredTop sz="91285" autoAdjust="0"/>
  </p:normalViewPr>
  <p:slideViewPr>
    <p:cSldViewPr showGuides="1">
      <p:cViewPr varScale="1">
        <p:scale>
          <a:sx n="100" d="100"/>
          <a:sy n="100" d="100"/>
        </p:scale>
        <p:origin x="58" y="360"/>
      </p:cViewPr>
      <p:guideLst>
        <p:guide orient="horz" pos="165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gs" Target="tags/tag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3.emf"/><Relationship Id="rId1" Type="http://schemas.openxmlformats.org/officeDocument/2006/relationships/image" Target="../media/image2.e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3FB6CE-4A83-4EA5-8A28-5A2599315B1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99E8391-A7AA-438B-8953-8185EA502C5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E86EF0AF-D61F-43BA-AF2E-4B7090A46C1D}" type="slidenum">
              <a:rPr lang="en-US" altLang="zh-CN" smtClean="0"/>
              <a:t>1</a:t>
            </a:fld>
            <a:endParaRPr lang="en-US" altLang="zh-CN"/>
          </a:p>
        </p:txBody>
      </p:sp>
      <p:sp>
        <p:nvSpPr>
          <p:cNvPr id="245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4580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DBED85A8-47C9-4009-AA74-1777FC485857}" type="slidenum">
              <a:rPr lang="en-US" altLang="zh-CN" smtClean="0"/>
              <a:t>2</a:t>
            </a:fld>
            <a:endParaRPr lang="en-US" altLang="zh-CN"/>
          </a:p>
        </p:txBody>
      </p:sp>
      <p:sp>
        <p:nvSpPr>
          <p:cNvPr id="2560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2560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22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Arial" panose="020B0604020202020204" pitchFamily="34" charset="0"/>
                <a:ea typeface="宋体" panose="02010600030101010101" pitchFamily="2" charset="-122"/>
              </a:defRPr>
            </a:lvl9pPr>
          </a:lstStyle>
          <a:p>
            <a:pPr>
              <a:spcBef>
                <a:spcPct val="0"/>
              </a:spcBef>
            </a:pPr>
            <a:fld id="{A8ADEA41-ECA3-488F-B109-B02182FACE1D}" type="slidenum">
              <a:rPr lang="en-US" altLang="zh-CN"/>
              <a:t>4</a:t>
            </a:fld>
            <a:endParaRPr lang="en-US" altLang="zh-CN"/>
          </a:p>
        </p:txBody>
      </p:sp>
      <p:sp>
        <p:nvSpPr>
          <p:cNvPr id="133123" name="Rectangle 2"/>
          <p:cNvSpPr>
            <a:spLocks noGrp="1" noRot="1" noChangeAspect="1" noChangeArrowheads="1" noTextEdit="1"/>
          </p:cNvSpPr>
          <p:nvPr>
            <p:ph type="sldImg"/>
          </p:nvPr>
        </p:nvSpPr>
        <p:spPr/>
      </p:sp>
      <p:sp>
        <p:nvSpPr>
          <p:cNvPr id="133124" name="Rectangle 3"/>
          <p:cNvSpPr>
            <a:spLocks noGrp="1" noChangeArrowheads="1"/>
          </p:cNvSpPr>
          <p:nvPr>
            <p:ph type="body" idx="1"/>
          </p:nvPr>
        </p:nvSpPr>
        <p:spPr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eaLnBrk="1" hangingPunct="1"/>
            <a:endParaRPr lang="zh-CN" alt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直角三角形 9"/>
          <p:cNvSpPr/>
          <p:nvPr/>
        </p:nvSpPr>
        <p:spPr>
          <a:xfrm>
            <a:off x="-2" y="3498110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标题 8"/>
          <p:cNvSpPr>
            <a:spLocks noGrp="1"/>
          </p:cNvSpPr>
          <p:nvPr>
            <p:ph type="ctrTitle"/>
          </p:nvPr>
        </p:nvSpPr>
        <p:spPr>
          <a:xfrm>
            <a:off x="685800" y="1314451"/>
            <a:ext cx="7772400" cy="137232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17" name="副标题 16"/>
          <p:cNvSpPr>
            <a:spLocks noGrp="1"/>
          </p:cNvSpPr>
          <p:nvPr>
            <p:ph type="subTitle" idx="1"/>
          </p:nvPr>
        </p:nvSpPr>
        <p:spPr>
          <a:xfrm>
            <a:off x="685800" y="2708705"/>
            <a:ext cx="7772400" cy="899778"/>
          </a:xfrm>
        </p:spPr>
        <p:txBody>
          <a:bodyPr lIns="45720" rIns="45720"/>
          <a:lstStyle>
            <a:lvl1pPr marL="0" marR="64135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zh-CN" altLang="en-US"/>
              <a:t>单击此处编辑母版副标题样式</a:t>
            </a:r>
            <a:endParaRPr kumimoji="0" lang="en-US"/>
          </a:p>
        </p:txBody>
      </p:sp>
      <p:grpSp>
        <p:nvGrpSpPr>
          <p:cNvPr id="2" name="组合 1"/>
          <p:cNvGrpSpPr/>
          <p:nvPr/>
        </p:nvGrpSpPr>
        <p:grpSpPr>
          <a:xfrm>
            <a:off x="-3765" y="3714750"/>
            <a:ext cx="9147765" cy="1434066"/>
            <a:chOff x="-3765" y="4832896"/>
            <a:chExt cx="9147765" cy="2032192"/>
          </a:xfrm>
        </p:grpSpPr>
        <p:sp>
          <p:nvSpPr>
            <p:cNvPr id="7" name="任意多边形 6"/>
            <p:cNvSpPr/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8" name="任意多边形 7"/>
            <p:cNvSpPr/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/>
            <a:p>
              <a:endParaRPr kumimoji="0" lang="en-US"/>
            </a:p>
          </p:txBody>
        </p:sp>
        <p:sp>
          <p:nvSpPr>
            <p:cNvPr id="11" name="任意多边形 10"/>
            <p:cNvSpPr/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/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直接连接符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日期占位符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222983CD-40B6-4A0F-A754-6514ADAC08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19" name="页脚占位符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27" name="灯片编号占位符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>
            <a:lvl1pPr>
              <a:defRPr sz="2400">
                <a:latin typeface="宋体" panose="02010600030101010101" pitchFamily="2" charset="-122"/>
                <a:ea typeface="宋体" panose="02010600030101010101" pitchFamily="2" charset="-122"/>
              </a:defRPr>
            </a:lvl1pPr>
            <a:lvl2pPr>
              <a:defRPr sz="2200">
                <a:latin typeface="宋体" panose="02010600030101010101" pitchFamily="2" charset="-122"/>
                <a:ea typeface="宋体" panose="02010600030101010101" pitchFamily="2" charset="-122"/>
              </a:defRPr>
            </a:lvl2pPr>
            <a:lvl3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3pPr>
            <a:lvl4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4pPr>
            <a:lvl5pPr>
              <a:defRPr sz="2000">
                <a:latin typeface="宋体" panose="02010600030101010101" pitchFamily="2" charset="-122"/>
                <a:ea typeface="宋体" panose="02010600030101010101" pitchFamily="2" charset="-122"/>
              </a:defRPr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83CD-40B6-4A0F-A754-6514ADAC08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标题 6"/>
          <p:cNvSpPr>
            <a:spLocks noGrp="1"/>
          </p:cNvSpPr>
          <p:nvPr>
            <p:ph type="title"/>
          </p:nvPr>
        </p:nvSpPr>
        <p:spPr>
          <a:xfrm>
            <a:off x="107504" y="123478"/>
            <a:ext cx="8229600" cy="576064"/>
          </a:xfrm>
        </p:spPr>
        <p:txBody>
          <a:bodyPr rtlCol="0">
            <a:normAutofit/>
          </a:bodyPr>
          <a:lstStyle>
            <a:lvl1pPr>
              <a:defRPr sz="3600">
                <a:latin typeface="隶书" panose="02010509060101010101" pitchFamily="49" charset="-122"/>
                <a:ea typeface="隶书" panose="02010509060101010101" pitchFamily="49" charset="-122"/>
              </a:defRPr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比较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04788"/>
            <a:ext cx="8229600" cy="857250"/>
          </a:xfrm>
        </p:spPr>
        <p:txBody>
          <a:bodyPr anchor="ctr">
            <a:normAutofit/>
          </a:bodyPr>
          <a:lstStyle>
            <a:lvl1pPr>
              <a:defRPr sz="3600"/>
            </a:lvl1pPr>
          </a:lstStyle>
          <a:p>
            <a:r>
              <a:rPr kumimoji="0" lang="zh-CN" altLang="en-US"/>
              <a:t>单击此处编辑母版标题样式</a:t>
            </a:r>
            <a:endParaRPr kumimoji="0" 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4057650"/>
            <a:ext cx="4040188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3"/>
          </p:nvPr>
        </p:nvSpPr>
        <p:spPr>
          <a:xfrm>
            <a:off x="4645027" y="4057650"/>
            <a:ext cx="4041775" cy="5715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zh-CN" altLang="en-US"/>
              <a:t>单击此处编辑母版文本样式</a:t>
            </a:r>
          </a:p>
        </p:txBody>
      </p:sp>
      <p:sp>
        <p:nvSpPr>
          <p:cNvPr id="5" name="内容占位符 4"/>
          <p:cNvSpPr>
            <a:spLocks noGrp="1"/>
          </p:cNvSpPr>
          <p:nvPr>
            <p:ph sz="quarter" idx="2"/>
          </p:nvPr>
        </p:nvSpPr>
        <p:spPr>
          <a:xfrm>
            <a:off x="457200" y="1083221"/>
            <a:ext cx="4040188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1083221"/>
            <a:ext cx="4041775" cy="2956322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</a:lstStyle>
          <a:p>
            <a:pPr lvl="0" eaLnBrk="1" latinLnBrk="0" hangingPunct="1"/>
            <a:r>
              <a:rPr lang="zh-CN" altLang="en-US"/>
              <a:t>单击此处编辑母版文本样式</a:t>
            </a:r>
          </a:p>
          <a:p>
            <a:pPr lvl="1" eaLnBrk="1" latinLnBrk="0" hangingPunct="1"/>
            <a:r>
              <a:rPr lang="zh-CN" altLang="en-US"/>
              <a:t>第二级</a:t>
            </a:r>
          </a:p>
          <a:p>
            <a:pPr lvl="2" eaLnBrk="1" latinLnBrk="0" hangingPunct="1"/>
            <a:r>
              <a:rPr lang="zh-CN" altLang="en-US"/>
              <a:t>第三级</a:t>
            </a:r>
          </a:p>
          <a:p>
            <a:pPr lvl="3" eaLnBrk="1" latinLnBrk="0" hangingPunct="1"/>
            <a:r>
              <a:rPr lang="zh-CN" altLang="en-US"/>
              <a:t>第四级</a:t>
            </a:r>
          </a:p>
          <a:p>
            <a:pPr lvl="4" eaLnBrk="1" latinLnBrk="0" hangingPunct="1"/>
            <a:r>
              <a:rPr lang="zh-CN" altLang="en-US"/>
              <a:t>第五级</a:t>
            </a:r>
            <a:endParaRPr kumimoji="0" 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2983CD-40B6-4A0F-A754-6514ADAC08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.jpe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任意多边形 12"/>
          <p:cNvSpPr/>
          <p:nvPr/>
        </p:nvSpPr>
        <p:spPr bwMode="auto">
          <a:xfrm>
            <a:off x="499273" y="4458702"/>
            <a:ext cx="4940624" cy="690807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2" name="任意多边形 11"/>
          <p:cNvSpPr/>
          <p:nvPr/>
        </p:nvSpPr>
        <p:spPr bwMode="auto">
          <a:xfrm>
            <a:off x="485717" y="4454258"/>
            <a:ext cx="3690451" cy="700088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/>
          <a:p>
            <a:endParaRPr kumimoji="0" lang="en-US"/>
          </a:p>
        </p:txBody>
      </p:sp>
      <p:sp>
        <p:nvSpPr>
          <p:cNvPr id="14" name="直角三角形 13"/>
          <p:cNvSpPr/>
          <p:nvPr/>
        </p:nvSpPr>
        <p:spPr bwMode="auto">
          <a:xfrm>
            <a:off x="-6042" y="4343440"/>
            <a:ext cx="3402314" cy="810651"/>
          </a:xfrm>
          <a:prstGeom prst="rtTriangle">
            <a:avLst/>
          </a:prstGeom>
          <a:blipFill>
            <a:blip r:embed="rId5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/>
          <a:p>
            <a:pPr algn="ctr" eaLnBrk="1" latinLnBrk="0" hangingPunct="1"/>
            <a:endParaRPr kumimoji="0" lang="en-US"/>
          </a:p>
        </p:txBody>
      </p:sp>
      <p:cxnSp>
        <p:nvCxnSpPr>
          <p:cNvPr id="15" name="直接连接符 14"/>
          <p:cNvCxnSpPr/>
          <p:nvPr/>
        </p:nvCxnSpPr>
        <p:spPr>
          <a:xfrm>
            <a:off x="-9237" y="4340804"/>
            <a:ext cx="3405509" cy="813287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标题占位符 8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/>
          <a:p>
            <a:r>
              <a:rPr kumimoji="0" lang="zh-CN" altLang="en-US" dirty="0"/>
              <a:t>单击此处编辑母版标题样式</a:t>
            </a:r>
            <a:endParaRPr kumimoji="0" lang="en-US" dirty="0"/>
          </a:p>
        </p:txBody>
      </p:sp>
      <p:sp>
        <p:nvSpPr>
          <p:cNvPr id="30" name="文本占位符 29"/>
          <p:cNvSpPr>
            <a:spLocks noGrp="1"/>
          </p:cNvSpPr>
          <p:nvPr>
            <p:ph type="body" idx="1"/>
          </p:nvPr>
        </p:nvSpPr>
        <p:spPr>
          <a:xfrm>
            <a:off x="457200" y="1110997"/>
            <a:ext cx="8229600" cy="339447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zh-CN" altLang="en-US" dirty="0"/>
              <a:t>单击此处编辑母版文本样式</a:t>
            </a:r>
          </a:p>
          <a:p>
            <a:pPr lvl="1" eaLnBrk="1" latinLnBrk="0" hangingPunct="1"/>
            <a:r>
              <a:rPr kumimoji="0" lang="zh-CN" altLang="en-US" dirty="0"/>
              <a:t>第二级</a:t>
            </a:r>
          </a:p>
          <a:p>
            <a:pPr lvl="2" eaLnBrk="1" latinLnBrk="0" hangingPunct="1"/>
            <a:r>
              <a:rPr kumimoji="0" lang="zh-CN" altLang="en-US" dirty="0"/>
              <a:t>第三级</a:t>
            </a:r>
          </a:p>
          <a:p>
            <a:pPr lvl="3" eaLnBrk="1" latinLnBrk="0" hangingPunct="1"/>
            <a:r>
              <a:rPr kumimoji="0" lang="zh-CN" altLang="en-US" dirty="0"/>
              <a:t>第四级</a:t>
            </a:r>
          </a:p>
          <a:p>
            <a:pPr lvl="4" eaLnBrk="1" latinLnBrk="0" hangingPunct="1"/>
            <a:r>
              <a:rPr kumimoji="0" lang="zh-CN" altLang="en-US" dirty="0"/>
              <a:t>第五级</a:t>
            </a:r>
            <a:endParaRPr kumimoji="0" lang="en-US" dirty="0"/>
          </a:p>
        </p:txBody>
      </p:sp>
      <p:sp>
        <p:nvSpPr>
          <p:cNvPr id="10" name="日期占位符 9"/>
          <p:cNvSpPr>
            <a:spLocks noGrp="1"/>
          </p:cNvSpPr>
          <p:nvPr>
            <p:ph type="dt" sz="half" idx="2"/>
          </p:nvPr>
        </p:nvSpPr>
        <p:spPr>
          <a:xfrm>
            <a:off x="6727032" y="4805958"/>
            <a:ext cx="1920240" cy="27432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fld id="{222983CD-40B6-4A0F-A754-6514ADAC0847}" type="datetimeFigureOut">
              <a:rPr lang="zh-CN" altLang="en-US" smtClean="0"/>
              <a:t>2026/3/16</a:t>
            </a:fld>
            <a:endParaRPr lang="zh-CN" altLang="en-US"/>
          </a:p>
        </p:txBody>
      </p:sp>
      <p:sp>
        <p:nvSpPr>
          <p:cNvPr id="22" name="页脚占位符 21"/>
          <p:cNvSpPr>
            <a:spLocks noGrp="1"/>
          </p:cNvSpPr>
          <p:nvPr>
            <p:ph type="ftr" sz="quarter" idx="3"/>
          </p:nvPr>
        </p:nvSpPr>
        <p:spPr>
          <a:xfrm>
            <a:off x="4380073" y="4805958"/>
            <a:ext cx="2350681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4"/>
          </p:nvPr>
        </p:nvSpPr>
        <p:spPr>
          <a:xfrm>
            <a:off x="8647272" y="4805958"/>
            <a:ext cx="365760" cy="273844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</a:lstStyle>
          <a:p>
            <a:fld id="{48ABA68F-732D-4838-AEEE-E87A7C2BC0FD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txStyles>
    <p:titleStyle>
      <a:lvl1pPr algn="l" rtl="0" eaLnBrk="1" latinLnBrk="0" hangingPunct="1">
        <a:spcBef>
          <a:spcPct val="0"/>
        </a:spcBef>
        <a:buNone/>
        <a:defRPr kumimoji="0" sz="36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隶书" panose="02010509060101010101" pitchFamily="49" charset="-122"/>
          <a:ea typeface="隶书" panose="02010509060101010101" pitchFamily="49" charset="-122"/>
          <a:cs typeface="+mj-cs"/>
        </a:defRPr>
      </a:lvl1pPr>
    </p:titleStyle>
    <p:bodyStyle>
      <a:lvl1pPr marL="365760" indent="-255905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 panose="05040102010807070707"/>
        <a:buChar char=""/>
        <a:defRPr kumimoji="0" sz="24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1pPr>
      <a:lvl2pPr marL="621665" indent="-228600" algn="l" rtl="0" eaLnBrk="1" latinLnBrk="0" hangingPunct="1">
        <a:spcBef>
          <a:spcPts val="325"/>
        </a:spcBef>
        <a:buClr>
          <a:schemeClr val="accent1"/>
        </a:buClr>
        <a:buFont typeface="Verdana" panose="020B0604030504040204"/>
        <a:buChar char="◦"/>
        <a:defRPr kumimoji="0" sz="22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2pPr>
      <a:lvl3pPr marL="859790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 panose="05020102010507070707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 panose="05020102010507070707"/>
        <a:buChar char=""/>
        <a:defRPr kumimoji="0" sz="2000" kern="1200">
          <a:solidFill>
            <a:schemeClr val="tx1"/>
          </a:solidFill>
          <a:latin typeface="宋体" panose="02010600030101010101" pitchFamily="2" charset="-122"/>
          <a:ea typeface="宋体" panose="02010600030101010101" pitchFamily="2" charset="-122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 panose="05020102010507070707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3.emf"/><Relationship Id="rId5" Type="http://schemas.openxmlformats.org/officeDocument/2006/relationships/oleObject" Target="../embeddings/oleObject2.bin"/><Relationship Id="rId4" Type="http://schemas.openxmlformats.org/officeDocument/2006/relationships/image" Target="../media/image2.emf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jpe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369889" y="982266"/>
            <a:ext cx="8269287" cy="3969544"/>
          </a:xfrm>
        </p:spPr>
        <p:txBody>
          <a:bodyPr/>
          <a:lstStyle/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kumimoji="1" lang="zh-CN" altLang="en-US" sz="2400" dirty="0"/>
              <a:t>实验</a:t>
            </a:r>
            <a:r>
              <a:rPr kumimoji="1" lang="zh-CN" altLang="en-US" sz="2400"/>
              <a:t>目的：利用</a:t>
            </a:r>
            <a:r>
              <a:rPr kumimoji="1" lang="zh-CN" altLang="en-US" sz="2400" dirty="0"/>
              <a:t>状态转换图识别单词，加深对词法分析原理、状态转换图的理解。</a:t>
            </a:r>
            <a:endParaRPr kumimoji="1"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endParaRPr kumimoji="1" lang="en-US" altLang="zh-CN" sz="2400" dirty="0"/>
          </a:p>
          <a:p>
            <a:pPr eaLnBrk="1" hangingPunct="1">
              <a:lnSpc>
                <a:spcPct val="150000"/>
              </a:lnSpc>
              <a:spcBef>
                <a:spcPct val="30000"/>
              </a:spcBef>
            </a:pPr>
            <a:r>
              <a:rPr kumimoji="1" lang="zh-CN" altLang="en-US" sz="2400" dirty="0"/>
              <a:t>实验内容：利用状态转换图的方式实现</a:t>
            </a:r>
            <a:r>
              <a:rPr kumimoji="1" lang="en-US" altLang="zh-CN" sz="2400" dirty="0"/>
              <a:t>Sample</a:t>
            </a:r>
            <a:r>
              <a:rPr kumimoji="1" lang="zh-CN" altLang="en-US" sz="2400" dirty="0"/>
              <a:t>语言（或者自定义高级语言，</a:t>
            </a:r>
            <a:r>
              <a:rPr kumimoji="1" lang="en-US" altLang="zh-CN" sz="2400" dirty="0"/>
              <a:t>C</a:t>
            </a:r>
            <a:r>
              <a:rPr kumimoji="1" lang="zh-CN" altLang="en-US" sz="2400" dirty="0"/>
              <a:t>语言、</a:t>
            </a:r>
            <a:r>
              <a:rPr kumimoji="1" lang="en-US" altLang="zh-CN" sz="2400" dirty="0"/>
              <a:t>Java</a:t>
            </a:r>
            <a:r>
              <a:rPr kumimoji="1" lang="zh-CN" altLang="en-US" sz="2400" dirty="0"/>
              <a:t>语言等的子集均可）的单词识别。</a:t>
            </a:r>
          </a:p>
        </p:txBody>
      </p:sp>
      <p:sp>
        <p:nvSpPr>
          <p:cNvPr id="4099" name="Rectangle 3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8229600" cy="452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实验一：单词识别（</a:t>
            </a:r>
            <a:r>
              <a:rPr kumimoji="1" lang="en-US" altLang="zh-CN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学时</a:t>
            </a:r>
            <a:r>
              <a:rPr kumimoji="1" lang="en-US" altLang="zh-CN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</a:t>
            </a:r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课外）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body" idx="1"/>
          </p:nvPr>
        </p:nvSpPr>
        <p:spPr>
          <a:xfrm>
            <a:off x="277814" y="627534"/>
            <a:ext cx="8713787" cy="4392488"/>
          </a:xfrm>
          <a:solidFill>
            <a:schemeClr val="bg1"/>
          </a:solidFill>
        </p:spPr>
        <p:txBody>
          <a:bodyPr>
            <a:normAutofit fontScale="77500" lnSpcReduction="20000"/>
          </a:bodyPr>
          <a:lstStyle/>
          <a:p>
            <a:pPr eaLnBrk="1" hangingPunct="1">
              <a:lnSpc>
                <a:spcPct val="90000"/>
              </a:lnSpc>
              <a:spcBef>
                <a:spcPct val="30000"/>
              </a:spcBef>
            </a:pPr>
            <a:r>
              <a:rPr kumimoji="1" lang="zh-CN" altLang="en-US" sz="2400" dirty="0"/>
              <a:t>实验要求</a:t>
            </a:r>
            <a:r>
              <a:rPr kumimoji="1" lang="en-US" altLang="zh-CN" sz="2400" dirty="0"/>
              <a:t>:</a:t>
            </a:r>
          </a:p>
          <a:p>
            <a:pPr lvl="1"/>
            <a:r>
              <a:rPr lang="zh-CN" altLang="zh-CN" b="1" dirty="0"/>
              <a:t>（</a:t>
            </a:r>
            <a:r>
              <a:rPr lang="en-US" altLang="zh-CN" b="1" dirty="0"/>
              <a:t>1</a:t>
            </a:r>
            <a:r>
              <a:rPr lang="zh-CN" altLang="zh-CN" b="1" dirty="0"/>
              <a:t>）基本内容</a:t>
            </a:r>
            <a:r>
              <a:rPr lang="zh-CN" altLang="en-US" b="1" dirty="0"/>
              <a:t>（必做）</a:t>
            </a:r>
            <a:endParaRPr lang="zh-CN" altLang="zh-CN" b="1" dirty="0"/>
          </a:p>
          <a:p>
            <a:pPr lvl="2"/>
            <a:r>
              <a:rPr lang="zh-CN" altLang="zh-CN" sz="2200" dirty="0"/>
              <a:t>画出识别标识符和整数（不带正负号）的状态转换图；</a:t>
            </a:r>
          </a:p>
          <a:p>
            <a:pPr lvl="2"/>
            <a:r>
              <a:rPr lang="zh-CN" altLang="zh-CN" sz="2200" dirty="0"/>
              <a:t>编程实现两个函数：识别标识符、识别整数</a:t>
            </a:r>
          </a:p>
          <a:p>
            <a:pPr lvl="2"/>
            <a:r>
              <a:rPr lang="zh-CN" altLang="zh-CN" sz="2200" dirty="0"/>
              <a:t>编写主函数，输入字符串，调用上述函数，分别输出识别出的单词是标识符还是整数，对不识别的单词输出错误信息</a:t>
            </a:r>
          </a:p>
          <a:p>
            <a:pPr lvl="2"/>
            <a:r>
              <a:rPr lang="zh-CN" altLang="zh-CN" sz="2200" dirty="0"/>
              <a:t>给出测试用例进行测试</a:t>
            </a:r>
          </a:p>
          <a:p>
            <a:pPr lvl="1"/>
            <a:r>
              <a:rPr lang="zh-CN" altLang="zh-CN" b="1" dirty="0"/>
              <a:t>（</a:t>
            </a:r>
            <a:r>
              <a:rPr lang="en-US" altLang="zh-CN" b="1" dirty="0"/>
              <a:t>2</a:t>
            </a:r>
            <a:r>
              <a:rPr lang="zh-CN" altLang="zh-CN" b="1" dirty="0"/>
              <a:t>）扩展内容</a:t>
            </a:r>
            <a:r>
              <a:rPr lang="zh-CN" altLang="en-US" b="1" dirty="0"/>
              <a:t>（选做）</a:t>
            </a:r>
            <a:endParaRPr lang="zh-CN" altLang="zh-CN" b="1" dirty="0"/>
          </a:p>
          <a:p>
            <a:pPr lvl="2"/>
            <a:r>
              <a:rPr lang="zh-CN" altLang="zh-CN" sz="2200" dirty="0"/>
              <a:t>查找识别出的单词的种别码，将输出形式改为二元形式</a:t>
            </a:r>
          </a:p>
          <a:p>
            <a:pPr lvl="2"/>
            <a:r>
              <a:rPr lang="zh-CN" altLang="zh-CN" sz="2200" dirty="0"/>
              <a:t>画出</a:t>
            </a:r>
            <a:r>
              <a:rPr lang="zh-CN" altLang="en-US" sz="2200" dirty="0"/>
              <a:t>选定的</a:t>
            </a:r>
            <a:r>
              <a:rPr lang="zh-CN" altLang="zh-CN" sz="2200" dirty="0"/>
              <a:t>高级语言中其他类别单词的状态转换图，并编写识别函数</a:t>
            </a:r>
          </a:p>
          <a:p>
            <a:pPr lvl="2"/>
            <a:r>
              <a:rPr lang="zh-CN" altLang="zh-CN" sz="2200" dirty="0"/>
              <a:t>给出测试用例，分析你的测试用例能否测试程序功能，总结测试用例的编写方法</a:t>
            </a:r>
          </a:p>
          <a:p>
            <a:pPr lvl="2"/>
            <a:r>
              <a:rPr lang="zh-CN" altLang="zh-CN" sz="2200" dirty="0"/>
              <a:t>利用可视化界面展示自己的实验结果</a:t>
            </a:r>
            <a:endParaRPr lang="en-US" altLang="zh-CN" sz="2200" dirty="0"/>
          </a:p>
          <a:p>
            <a:pPr lvl="1"/>
            <a:r>
              <a:rPr lang="zh-CN" altLang="zh-CN" b="1" dirty="0"/>
              <a:t>（</a:t>
            </a:r>
            <a:r>
              <a:rPr lang="en-US" altLang="zh-CN" b="1" dirty="0"/>
              <a:t>3</a:t>
            </a:r>
            <a:r>
              <a:rPr lang="zh-CN" altLang="zh-CN" b="1" dirty="0"/>
              <a:t>）</a:t>
            </a:r>
            <a:r>
              <a:rPr lang="zh-CN" altLang="en-US" b="1" dirty="0"/>
              <a:t>创新及应用（选做）</a:t>
            </a:r>
            <a:endParaRPr lang="zh-CN" altLang="zh-CN" b="1" dirty="0"/>
          </a:p>
          <a:p>
            <a:pPr lvl="2"/>
            <a:r>
              <a:rPr lang="zh-CN" altLang="en-US" sz="2200" b="1" dirty="0">
                <a:solidFill>
                  <a:srgbClr val="CC00FF"/>
                </a:solidFill>
              </a:rPr>
              <a:t>阅读“矿泉水自动售卖系统”案例和“抽奖机”案例，设计一个自动售货机或自动售票机的原型系统。</a:t>
            </a:r>
            <a:endParaRPr lang="zh-CN" altLang="zh-CN" sz="2200" b="1" dirty="0">
              <a:solidFill>
                <a:srgbClr val="CC00FF"/>
              </a:solidFill>
            </a:endParaRPr>
          </a:p>
          <a:p>
            <a:pPr lvl="1"/>
            <a:r>
              <a:rPr lang="zh-CN" altLang="zh-CN" b="1" dirty="0"/>
              <a:t>（</a:t>
            </a:r>
            <a:r>
              <a:rPr lang="en-US" altLang="zh-CN" b="1" dirty="0"/>
              <a:t>4</a:t>
            </a:r>
            <a:r>
              <a:rPr lang="zh-CN" altLang="zh-CN" b="1" dirty="0"/>
              <a:t>）完成实验报告</a:t>
            </a:r>
            <a:r>
              <a:rPr lang="zh-CN" altLang="en-US" b="1" dirty="0"/>
              <a:t>（必做）</a:t>
            </a:r>
            <a:endParaRPr lang="zh-CN" altLang="zh-CN" b="1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title"/>
          </p:nvPr>
        </p:nvSpPr>
        <p:spPr>
          <a:xfrm>
            <a:off x="403225" y="0"/>
            <a:ext cx="8229600" cy="452438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实验一：单词识别（</a:t>
            </a:r>
            <a:r>
              <a:rPr kumimoji="1" lang="en-US" altLang="zh-CN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2</a:t>
            </a:r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学时</a:t>
            </a:r>
            <a:r>
              <a:rPr kumimoji="1" lang="en-US" altLang="zh-CN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+</a:t>
            </a:r>
            <a:r>
              <a:rPr kumimoji="1" lang="zh-CN" altLang="en-US" b="1" dirty="0">
                <a:solidFill>
                  <a:srgbClr val="663399"/>
                </a:solidFill>
                <a:latin typeface="Times New Roman" panose="02020603050405020304" pitchFamily="18" charset="0"/>
                <a:ea typeface="隶书" panose="02010509060101010101" pitchFamily="49" charset="-122"/>
              </a:rPr>
              <a:t>课外）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1.</a:t>
            </a:r>
            <a:r>
              <a:rPr lang="zh-CN" altLang="en-US" dirty="0"/>
              <a:t>每种单词画一个状态转换图</a:t>
            </a:r>
          </a:p>
        </p:txBody>
      </p:sp>
      <p:graphicFrame>
        <p:nvGraphicFramePr>
          <p:cNvPr id="7" name="对象 6"/>
          <p:cNvGraphicFramePr>
            <a:graphicFrameLocks noChangeAspect="1"/>
          </p:cNvGraphicFramePr>
          <p:nvPr/>
        </p:nvGraphicFramePr>
        <p:xfrm>
          <a:off x="1619885" y="771525"/>
          <a:ext cx="3715385" cy="87757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1" name="Visio" r:id="rId3" imgW="6452235" imgH="1525905" progId="Visio.Drawing.11">
                  <p:embed/>
                </p:oleObj>
              </mc:Choice>
              <mc:Fallback>
                <p:oleObj name="Visio" r:id="rId3" imgW="6452235" imgH="1525905" progId="Visio.Drawing.11">
                  <p:embed/>
                  <p:pic>
                    <p:nvPicPr>
                      <p:cNvPr id="0" name="Object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1619885" y="771525"/>
                        <a:ext cx="3715385" cy="877570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Rectangle 6"/>
          <p:cNvSpPr>
            <a:spLocks noChangeArrowheads="1"/>
          </p:cNvSpPr>
          <p:nvPr/>
        </p:nvSpPr>
        <p:spPr bwMode="auto">
          <a:xfrm>
            <a:off x="467544" y="2081644"/>
            <a:ext cx="9144000" cy="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spAutoFit/>
          </a:bodyPr>
          <a:lstStyle/>
          <a:p>
            <a:endParaRPr lang="zh-CN" altLang="en-US"/>
          </a:p>
        </p:txBody>
      </p:sp>
      <p:graphicFrame>
        <p:nvGraphicFramePr>
          <p:cNvPr id="9" name="对象 8"/>
          <p:cNvGraphicFramePr>
            <a:graphicFrameLocks noChangeAspect="1"/>
          </p:cNvGraphicFramePr>
          <p:nvPr/>
        </p:nvGraphicFramePr>
        <p:xfrm>
          <a:off x="2771671" y="1839211"/>
          <a:ext cx="6120680" cy="324861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2082" name="Visio" r:id="rId5" imgW="11101705" imgH="5892165" progId="Visio.Drawing.11">
                  <p:embed/>
                </p:oleObj>
              </mc:Choice>
              <mc:Fallback>
                <p:oleObj name="Visio" r:id="rId5" imgW="11101705" imgH="5892165" progId="Visio.Drawing.11">
                  <p:embed/>
                  <p:pic>
                    <p:nvPicPr>
                      <p:cNvPr id="0" name="Object 5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2771671" y="1839211"/>
                        <a:ext cx="6120680" cy="3248612"/>
                      </a:xfrm>
                      <a:prstGeom prst="rect">
                        <a:avLst/>
                      </a:prstGeom>
                      <a:noFill/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35496" y="-92546"/>
            <a:ext cx="8143489" cy="551259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US" altLang="zh-CN" dirty="0"/>
              <a:t>2.</a:t>
            </a:r>
            <a:r>
              <a:rPr lang="zh-CN" altLang="en-US" dirty="0"/>
              <a:t>根据状态转换图编写单词的识别程序</a:t>
            </a:r>
            <a:endParaRPr lang="zh-CN" altLang="zh-CN" dirty="0"/>
          </a:p>
        </p:txBody>
      </p:sp>
      <p:grpSp>
        <p:nvGrpSpPr>
          <p:cNvPr id="13315" name="Group 4"/>
          <p:cNvGrpSpPr/>
          <p:nvPr/>
        </p:nvGrpSpPr>
        <p:grpSpPr bwMode="auto">
          <a:xfrm>
            <a:off x="4572000" y="505645"/>
            <a:ext cx="4190999" cy="1260872"/>
            <a:chOff x="1137" y="2400"/>
            <a:chExt cx="3136" cy="1059"/>
          </a:xfrm>
        </p:grpSpPr>
        <p:sp>
          <p:nvSpPr>
            <p:cNvPr id="13319" name="Oval 5"/>
            <p:cNvSpPr>
              <a:spLocks noChangeArrowheads="1"/>
            </p:cNvSpPr>
            <p:nvPr/>
          </p:nvSpPr>
          <p:spPr bwMode="auto">
            <a:xfrm>
              <a:off x="3777" y="2818"/>
              <a:ext cx="411" cy="52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3320" name="Oval 6"/>
            <p:cNvSpPr>
              <a:spLocks noChangeArrowheads="1"/>
            </p:cNvSpPr>
            <p:nvPr/>
          </p:nvSpPr>
          <p:spPr bwMode="auto">
            <a:xfrm>
              <a:off x="1548" y="2871"/>
              <a:ext cx="411" cy="4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0</a:t>
              </a:r>
            </a:p>
          </p:txBody>
        </p:sp>
        <p:sp>
          <p:nvSpPr>
            <p:cNvPr id="13321" name="Oval 7"/>
            <p:cNvSpPr>
              <a:spLocks noChangeArrowheads="1"/>
            </p:cNvSpPr>
            <p:nvPr/>
          </p:nvSpPr>
          <p:spPr bwMode="auto">
            <a:xfrm>
              <a:off x="2663" y="2871"/>
              <a:ext cx="410" cy="452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1</a:t>
              </a:r>
            </a:p>
          </p:txBody>
        </p:sp>
        <p:sp>
          <p:nvSpPr>
            <p:cNvPr id="13322" name="Oval 8"/>
            <p:cNvSpPr>
              <a:spLocks noChangeArrowheads="1"/>
            </p:cNvSpPr>
            <p:nvPr/>
          </p:nvSpPr>
          <p:spPr bwMode="auto">
            <a:xfrm>
              <a:off x="3836" y="2893"/>
              <a:ext cx="293" cy="377"/>
            </a:xfrm>
            <a:prstGeom prst="ellipse">
              <a:avLst/>
            </a:prstGeom>
            <a:solidFill>
              <a:schemeClr val="accent1"/>
            </a:solidFill>
            <a:ln w="9525">
              <a:solidFill>
                <a:schemeClr val="tx1"/>
              </a:solidFill>
              <a:round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2</a:t>
              </a:r>
            </a:p>
          </p:txBody>
        </p:sp>
        <p:sp>
          <p:nvSpPr>
            <p:cNvPr id="13323" name="Line 9"/>
            <p:cNvSpPr>
              <a:spLocks noChangeShapeType="1"/>
            </p:cNvSpPr>
            <p:nvPr/>
          </p:nvSpPr>
          <p:spPr bwMode="auto">
            <a:xfrm>
              <a:off x="1959" y="3072"/>
              <a:ext cx="704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4" name="Line 10"/>
            <p:cNvSpPr>
              <a:spLocks noChangeShapeType="1"/>
            </p:cNvSpPr>
            <p:nvPr/>
          </p:nvSpPr>
          <p:spPr bwMode="auto">
            <a:xfrm>
              <a:off x="3073" y="3072"/>
              <a:ext cx="645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round/>
              <a:tailEnd type="triangle" w="med" len="med"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3325" name="Text Box 11"/>
            <p:cNvSpPr txBox="1">
              <a:spLocks noChangeArrowheads="1"/>
            </p:cNvSpPr>
            <p:nvPr/>
          </p:nvSpPr>
          <p:spPr bwMode="auto">
            <a:xfrm>
              <a:off x="2016" y="3071"/>
              <a:ext cx="824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400">
                  <a:latin typeface="Times New Roman" panose="02020603050405020304" pitchFamily="18" charset="0"/>
                </a:rPr>
                <a:t>字母</a:t>
              </a:r>
            </a:p>
          </p:txBody>
        </p:sp>
        <p:sp>
          <p:nvSpPr>
            <p:cNvPr id="13326" name="Text Box 12"/>
            <p:cNvSpPr txBox="1">
              <a:spLocks noChangeArrowheads="1"/>
            </p:cNvSpPr>
            <p:nvPr/>
          </p:nvSpPr>
          <p:spPr bwMode="auto">
            <a:xfrm>
              <a:off x="2394" y="2400"/>
              <a:ext cx="1230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 dirty="0">
                  <a:latin typeface="Times New Roman" panose="02020603050405020304" pitchFamily="18" charset="0"/>
                </a:rPr>
                <a:t>字母或数字</a:t>
              </a:r>
            </a:p>
          </p:txBody>
        </p:sp>
        <p:sp>
          <p:nvSpPr>
            <p:cNvPr id="13327" name="Text Box 13"/>
            <p:cNvSpPr txBox="1">
              <a:spLocks noChangeArrowheads="1"/>
            </p:cNvSpPr>
            <p:nvPr/>
          </p:nvSpPr>
          <p:spPr bwMode="auto">
            <a:xfrm>
              <a:off x="3190" y="3072"/>
              <a:ext cx="763" cy="336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50000"/>
                </a:spcBef>
                <a:buFontTx/>
                <a:buNone/>
              </a:pPr>
              <a:r>
                <a:rPr kumimoji="1" lang="zh-CN" altLang="en-US" sz="2000">
                  <a:latin typeface="Times New Roman" panose="02020603050405020304" pitchFamily="18" charset="0"/>
                </a:rPr>
                <a:t>其它</a:t>
              </a:r>
            </a:p>
          </p:txBody>
        </p:sp>
        <p:sp>
          <p:nvSpPr>
            <p:cNvPr id="13328" name="Text Box 14"/>
            <p:cNvSpPr txBox="1">
              <a:spLocks noChangeArrowheads="1"/>
            </p:cNvSpPr>
            <p:nvPr/>
          </p:nvSpPr>
          <p:spPr bwMode="auto">
            <a:xfrm>
              <a:off x="4060" y="2688"/>
              <a:ext cx="213" cy="38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>
              <a:spAutoFit/>
            </a:bodyPr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eaLnBrk="1" hangingPunct="1">
                <a:spcBef>
                  <a:spcPct val="0"/>
                </a:spcBef>
                <a:buFontTx/>
                <a:buNone/>
              </a:pPr>
              <a:r>
                <a:rPr kumimoji="1" lang="en-US" altLang="zh-CN" sz="2400">
                  <a:latin typeface="Times New Roman" panose="02020603050405020304" pitchFamily="18" charset="0"/>
                </a:rPr>
                <a:t>*</a:t>
              </a:r>
            </a:p>
          </p:txBody>
        </p:sp>
        <p:sp>
          <p:nvSpPr>
            <p:cNvPr id="13329" name="AutoShape 15"/>
            <p:cNvSpPr>
              <a:spLocks noChangeArrowheads="1"/>
            </p:cNvSpPr>
            <p:nvPr/>
          </p:nvSpPr>
          <p:spPr bwMode="auto">
            <a:xfrm>
              <a:off x="1137" y="3022"/>
              <a:ext cx="411" cy="151"/>
            </a:xfrm>
            <a:prstGeom prst="rightArrow">
              <a:avLst>
                <a:gd name="adj1" fmla="val 50000"/>
                <a:gd name="adj2" fmla="val 68046"/>
              </a:avLst>
            </a:pr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>
              <a:lvl1pPr>
                <a:spcBef>
                  <a:spcPct val="20000"/>
                </a:spcBef>
                <a:buChar char="•"/>
                <a:defRPr sz="32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1pPr>
              <a:lvl2pPr marL="742950" indent="-285750">
                <a:spcBef>
                  <a:spcPct val="20000"/>
                </a:spcBef>
                <a:buChar char="–"/>
                <a:defRPr sz="28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2pPr>
              <a:lvl3pPr marL="1143000" indent="-228600">
                <a:spcBef>
                  <a:spcPct val="20000"/>
                </a:spcBef>
                <a:buChar char="•"/>
                <a:defRPr sz="24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3pPr>
              <a:lvl4pPr marL="1600200" indent="-228600">
                <a:spcBef>
                  <a:spcPct val="20000"/>
                </a:spcBef>
                <a:buChar char="–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4pPr>
              <a:lvl5pPr marL="2057400" indent="-228600">
                <a:spcBef>
                  <a:spcPct val="20000"/>
                </a:spcBef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5pPr>
              <a:lvl6pPr marL="25146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6pPr>
              <a:lvl7pPr marL="29718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7pPr>
              <a:lvl8pPr marL="34290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8pPr>
              <a:lvl9pPr marL="3886200" indent="-228600" eaLnBrk="0" fontAlgn="base" hangingPunct="0">
                <a:spcBef>
                  <a:spcPct val="20000"/>
                </a:spcBef>
                <a:spcAft>
                  <a:spcPct val="0"/>
                </a:spcAft>
                <a:buChar char="»"/>
                <a:defRPr sz="2000">
                  <a:solidFill>
                    <a:schemeClr val="tx1"/>
                  </a:solidFill>
                  <a:latin typeface="Arial" panose="020B0604020202020204" pitchFamily="34" charset="0"/>
                  <a:ea typeface="宋体" panose="02010600030101010101" pitchFamily="2" charset="-122"/>
                </a:defRPr>
              </a:lvl9pPr>
            </a:lstStyle>
            <a:p>
              <a:pPr algn="ctr" eaLnBrk="1" hangingPunct="1">
                <a:spcBef>
                  <a:spcPct val="0"/>
                </a:spcBef>
                <a:buFontTx/>
                <a:buNone/>
              </a:pPr>
              <a:endParaRPr lang="zh-CN" altLang="en-US" sz="2800"/>
            </a:p>
          </p:txBody>
        </p:sp>
        <p:sp>
          <p:nvSpPr>
            <p:cNvPr id="13330" name="AutoShape 16"/>
            <p:cNvSpPr>
              <a:spLocks noChangeArrowheads="1"/>
            </p:cNvSpPr>
            <p:nvPr/>
          </p:nvSpPr>
          <p:spPr bwMode="auto">
            <a:xfrm>
              <a:off x="2721" y="2640"/>
              <a:ext cx="288" cy="576"/>
            </a:xfrm>
            <a:custGeom>
              <a:avLst/>
              <a:gdLst>
                <a:gd name="T0" fmla="*/ 0 w 21600"/>
                <a:gd name="T1" fmla="*/ 0 h 21600"/>
                <a:gd name="T2" fmla="*/ 0 w 21600"/>
                <a:gd name="T3" fmla="*/ 0 h 21600"/>
                <a:gd name="T4" fmla="*/ 0 w 21600"/>
                <a:gd name="T5" fmla="*/ 0 h 21600"/>
                <a:gd name="T6" fmla="*/ 0 w 21600"/>
                <a:gd name="T7" fmla="*/ 0 h 21600"/>
                <a:gd name="T8" fmla="*/ 0 w 21600"/>
                <a:gd name="T9" fmla="*/ 0 h 21600"/>
                <a:gd name="T10" fmla="*/ 0 w 21600"/>
                <a:gd name="T11" fmla="*/ 0 h 2160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3150 w 21600"/>
                <a:gd name="T19" fmla="*/ 3150 h 21600"/>
                <a:gd name="T20" fmla="*/ 18450 w 21600"/>
                <a:gd name="T21" fmla="*/ 18450 h 21600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21600" h="21600">
                  <a:moveTo>
                    <a:pt x="21181" y="7824"/>
                  </a:moveTo>
                  <a:cubicBezTo>
                    <a:pt x="19854" y="3192"/>
                    <a:pt x="15618" y="0"/>
                    <a:pt x="10800" y="0"/>
                  </a:cubicBezTo>
                  <a:cubicBezTo>
                    <a:pt x="5284" y="-1"/>
                    <a:pt x="655" y="4156"/>
                    <a:pt x="62" y="9639"/>
                  </a:cubicBezTo>
                  <a:cubicBezTo>
                    <a:pt x="655" y="4156"/>
                    <a:pt x="5284" y="-1"/>
                    <a:pt x="10800" y="0"/>
                  </a:cubicBezTo>
                  <a:cubicBezTo>
                    <a:pt x="15618" y="0"/>
                    <a:pt x="19854" y="3192"/>
                    <a:pt x="21181" y="7824"/>
                  </a:cubicBezTo>
                  <a:lnTo>
                    <a:pt x="23777" y="7080"/>
                  </a:lnTo>
                  <a:lnTo>
                    <a:pt x="21925" y="10419"/>
                  </a:lnTo>
                  <a:lnTo>
                    <a:pt x="18586" y="8568"/>
                  </a:lnTo>
                  <a:lnTo>
                    <a:pt x="21181" y="7824"/>
                  </a:lnTo>
                  <a:close/>
                </a:path>
              </a:pathLst>
            </a:custGeom>
            <a:solidFill>
              <a:schemeClr val="accent1"/>
            </a:solidFill>
            <a:ln w="9525">
              <a:solidFill>
                <a:schemeClr val="tx1"/>
              </a:solidFill>
              <a:miter lim="800000"/>
            </a:ln>
          </p:spPr>
          <p:txBody>
            <a:bodyPr wrap="none" anchor="ctr"/>
            <a:lstStyle/>
            <a:p>
              <a:endParaRPr lang="zh-CN" altLang="en-US"/>
            </a:p>
          </p:txBody>
        </p:sp>
      </p:grpSp>
      <p:graphicFrame>
        <p:nvGraphicFramePr>
          <p:cNvPr id="18" name="表格 17"/>
          <p:cNvGraphicFramePr>
            <a:graphicFrameLocks noGrp="1"/>
          </p:cNvGraphicFramePr>
          <p:nvPr/>
        </p:nvGraphicFramePr>
        <p:xfrm>
          <a:off x="464344" y="809755"/>
          <a:ext cx="8710612" cy="8101013"/>
        </p:xfrm>
        <a:graphic>
          <a:graphicData uri="http://schemas.openxmlformats.org/drawingml/2006/table">
            <a:tbl>
              <a:tblPr/>
              <a:tblGrid>
                <a:gridCol w="871061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986213">
                <a:tc>
                  <a:txBody>
                    <a:bodyPr/>
                    <a:lstStyle/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RecognizeId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(string *</a:t>
                      </a: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source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)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{ </a:t>
                      </a: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alt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int index=0;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3898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int  state = 0; 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初始状态</a:t>
                      </a:r>
                    </a:p>
                    <a:p>
                      <a:pPr indent="3898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while(state != 2)  {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5041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0000FF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switch(state)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{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  </a:t>
                      </a:r>
                      <a:r>
                        <a:rPr lang="en-US" sz="1500" kern="100" dirty="0">
                          <a:solidFill>
                            <a:srgbClr val="0000FF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case 0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: if ( </a:t>
                      </a: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isletter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source[index]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 ) state = 1;  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是字母，转向状态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   else error(); 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否则调用出错处理，识别其它的单词</a:t>
                      </a:r>
                    </a:p>
                    <a:p>
                      <a:pPr indent="9715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break;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  </a:t>
                      </a:r>
                      <a:r>
                        <a:rPr lang="en-US" sz="1500" kern="100" dirty="0">
                          <a:solidFill>
                            <a:srgbClr val="0000FF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case 1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: </a:t>
                      </a: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ch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= </a:t>
                      </a: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source[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  <a:sym typeface="+mn-ea"/>
                        </a:rPr>
                        <a:t>++index]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; 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读取下一个输入字符</a:t>
                      </a:r>
                    </a:p>
                    <a:p>
                      <a:pPr indent="9613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if ( </a:t>
                      </a:r>
                      <a:r>
                        <a:rPr lang="en-US" sz="1500" kern="100" dirty="0" err="1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isletter</a:t>
                      </a: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1500" kern="100" dirty="0" err="1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ch</a:t>
                      </a: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 || </a:t>
                      </a:r>
                      <a:r>
                        <a:rPr lang="en-US" sz="1500" kern="100" dirty="0" err="1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isdigit</a:t>
                      </a: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</a:t>
                      </a:r>
                      <a:r>
                        <a:rPr lang="en-US" sz="1500" kern="100" dirty="0" err="1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ch</a:t>
                      </a: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) ) state  = 1; // </a:t>
                      </a:r>
                      <a:r>
                        <a:rPr lang="zh-CN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是字母或数字，状态不变</a:t>
                      </a:r>
                    </a:p>
                    <a:p>
                      <a:pPr indent="9613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solidFill>
                            <a:srgbClr val="FF000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else state = 2;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其它字符，转向状态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2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96139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break;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      }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      }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4000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 err="1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index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--;  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回退一个符号，当前列号减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1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  <a:p>
                      <a:pPr indent="400050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return (</a:t>
                      </a:r>
                      <a:r>
                        <a:rPr lang="en-US" sz="1500" kern="100" dirty="0">
                          <a:solidFill>
                            <a:srgbClr val="00B05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</a:t>
                      </a:r>
                      <a:r>
                        <a:rPr lang="en-US" sz="1500" kern="100" dirty="0" err="1">
                          <a:solidFill>
                            <a:srgbClr val="00B05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GetToken</a:t>
                      </a:r>
                      <a:r>
                        <a:rPr lang="en-US" sz="1500" kern="100" dirty="0">
                          <a:solidFill>
                            <a:srgbClr val="00B050"/>
                          </a:solidFill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()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 );  //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返回识别的单词的</a:t>
                      </a: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token</a:t>
                      </a:r>
                      <a:r>
                        <a:rPr lang="zh-CN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值</a:t>
                      </a:r>
                    </a:p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</a:pPr>
                      <a:r>
                        <a:rPr lang="en-US" sz="1500" kern="100" dirty="0">
                          <a:latin typeface="Times New Roman" panose="02020603050405020304"/>
                          <a:ea typeface="宋体" panose="02010600030101010101" pitchFamily="2" charset="-122"/>
                          <a:cs typeface="Times New Roman" panose="02020603050405020304"/>
                        </a:rPr>
                        <a:t>}</a:t>
                      </a:r>
                      <a:endParaRPr lang="zh-CN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986213">
                <a:tc>
                  <a:txBody>
                    <a:bodyPr/>
                    <a:lstStyle/>
                    <a:p>
                      <a:pPr indent="276225" algn="just">
                        <a:lnSpc>
                          <a:spcPct val="100000"/>
                        </a:lnSpc>
                        <a:spcAft>
                          <a:spcPts val="0"/>
                        </a:spcAft>
                        <a:buNone/>
                      </a:pPr>
                      <a:endParaRPr lang="zh-CN" altLang="en-US" sz="1500" kern="100" dirty="0">
                        <a:latin typeface="Times New Roman" panose="02020603050405020304"/>
                        <a:ea typeface="宋体" panose="02010600030101010101" pitchFamily="2" charset="-122"/>
                        <a:cs typeface="Times New Roman" panose="02020603050405020304"/>
                      </a:endParaRPr>
                    </a:p>
                  </a:txBody>
                  <a:tcPr marL="68584" marR="68584" marT="0" marB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5580380" y="3363595"/>
            <a:ext cx="3401695" cy="1630045"/>
          </a:xfrm>
          <a:prstGeom prst="rect">
            <a:avLst/>
          </a:prstGeom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zh-CN" altLang="en-US" sz="2000" dirty="0"/>
              <a:t>注意：</a:t>
            </a:r>
          </a:p>
          <a:p>
            <a:pPr>
              <a:defRPr/>
            </a:pPr>
            <a:r>
              <a:rPr lang="en-US" altLang="zh-CN" sz="2000" dirty="0"/>
              <a:t>1</a:t>
            </a:r>
            <a:r>
              <a:rPr lang="zh-CN" altLang="en-US" sz="2000" dirty="0"/>
              <a:t>、</a:t>
            </a:r>
            <a:r>
              <a:rPr lang="zh-CN" altLang="en-US" sz="2000">
                <a:sym typeface="+mn-ea"/>
              </a:rPr>
              <a:t>识别出来的单词在哪里？</a:t>
            </a:r>
            <a:endParaRPr lang="zh-CN" altLang="en-US" sz="2000"/>
          </a:p>
          <a:p>
            <a:pPr>
              <a:defRPr/>
            </a:pPr>
            <a:r>
              <a:rPr lang="en-US" altLang="zh-CN" sz="2000">
                <a:sym typeface="+mn-ea"/>
              </a:rPr>
              <a:t>2</a:t>
            </a:r>
            <a:r>
              <a:rPr lang="zh-CN" altLang="en-US" sz="2000">
                <a:sym typeface="+mn-ea"/>
              </a:rPr>
              <a:t>、怎么返回？</a:t>
            </a:r>
            <a:endParaRPr lang="zh-CN" altLang="en-US" sz="2000"/>
          </a:p>
          <a:p>
            <a:pPr>
              <a:defRPr/>
            </a:pPr>
            <a:r>
              <a:rPr lang="en-US" altLang="zh-CN" sz="2000" dirty="0"/>
              <a:t>3</a:t>
            </a:r>
            <a:r>
              <a:rPr lang="zh-CN" altLang="en-US" sz="2000" dirty="0"/>
              <a:t>、有些单词识别后不需要返回值，如空白符号，注释等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bldLvl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3.</a:t>
            </a:r>
            <a:r>
              <a:rPr lang="zh-CN" altLang="en-US" dirty="0"/>
              <a:t>状态转换图合并</a:t>
            </a:r>
          </a:p>
        </p:txBody>
      </p:sp>
      <p:pic>
        <p:nvPicPr>
          <p:cNvPr id="12290" name="图片 17" descr="IMG_0223(20200619-212739)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92080" y="123477"/>
            <a:ext cx="3758353" cy="493249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2291" name="图片 20" descr="IMG_0222(20200619-212739)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44351"/>
          <a:stretch>
            <a:fillRect/>
          </a:stretch>
        </p:blipFill>
        <p:spPr bwMode="auto">
          <a:xfrm>
            <a:off x="0" y="2067694"/>
            <a:ext cx="3727450" cy="27225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</a:extLst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/>
          <p:cNvSpPr>
            <a:spLocks noGrp="1"/>
          </p:cNvSpPr>
          <p:nvPr>
            <p:ph type="title"/>
          </p:nvPr>
        </p:nvSpPr>
        <p:spPr>
          <a:xfrm>
            <a:off x="755576" y="195486"/>
            <a:ext cx="6357392" cy="576064"/>
          </a:xfrm>
        </p:spPr>
        <p:txBody>
          <a:bodyPr>
            <a:normAutofit fontScale="90000"/>
          </a:bodyPr>
          <a:lstStyle/>
          <a:p>
            <a:r>
              <a:rPr lang="zh-CN" altLang="en-US" dirty="0"/>
              <a:t>从一个字符串中同时识别多种单词</a:t>
            </a:r>
          </a:p>
        </p:txBody>
      </p:sp>
      <p:pic>
        <p:nvPicPr>
          <p:cNvPr id="1026" name="图片 2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75656" y="701366"/>
            <a:ext cx="6617381" cy="441520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10997"/>
            <a:ext cx="4258816" cy="3394472"/>
          </a:xfrm>
        </p:spPr>
        <p:txBody>
          <a:bodyPr/>
          <a:lstStyle/>
          <a:p>
            <a:r>
              <a:rPr lang="zh-CN" altLang="en-US" dirty="0"/>
              <a:t>读文件、写文件等</a:t>
            </a:r>
            <a:endParaRPr lang="en-US" altLang="zh-CN" dirty="0"/>
          </a:p>
          <a:p>
            <a:r>
              <a:rPr lang="zh-CN" altLang="en-US" dirty="0"/>
              <a:t>查找</a:t>
            </a:r>
            <a:r>
              <a:rPr lang="en-US" altLang="zh-CN" dirty="0"/>
              <a:t>token</a:t>
            </a:r>
            <a:r>
              <a:rPr lang="zh-CN" altLang="en-US" dirty="0"/>
              <a:t>编码</a:t>
            </a:r>
            <a:endParaRPr lang="en-US" altLang="zh-CN" dirty="0"/>
          </a:p>
          <a:p>
            <a:r>
              <a:rPr lang="zh-CN" altLang="en-US" dirty="0"/>
              <a:t>处理错误（错误统一编码）</a:t>
            </a:r>
            <a:endParaRPr lang="en-US" altLang="zh-CN" dirty="0"/>
          </a:p>
          <a:p>
            <a:r>
              <a:rPr lang="en-US" altLang="zh-CN" dirty="0"/>
              <a:t>……</a:t>
            </a:r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107950" y="123825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4.</a:t>
            </a:r>
            <a:r>
              <a:rPr lang="zh-CN" altLang="en-US" dirty="0"/>
              <a:t>添加辅助功能的程序</a:t>
            </a:r>
          </a:p>
        </p:txBody>
      </p:sp>
      <p:pic>
        <p:nvPicPr>
          <p:cNvPr id="5" name="图片 4">
            <a:extLst>
              <a:ext uri="{FF2B5EF4-FFF2-40B4-BE49-F238E27FC236}">
                <a16:creationId xmlns:a16="http://schemas.microsoft.com/office/drawing/2014/main" id="{96B0C71C-9702-4A00-A1AB-E6234AC5D9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1560" y="2931790"/>
            <a:ext cx="7488832" cy="16083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标题 2">
            <a:extLst>
              <a:ext uri="{FF2B5EF4-FFF2-40B4-BE49-F238E27FC236}">
                <a16:creationId xmlns:a16="http://schemas.microsoft.com/office/drawing/2014/main" id="{54CB1793-3100-47A3-BC9F-DC315BF32D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相关说明</a:t>
            </a: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9F847F80-EA5A-4FCD-B5B4-CA6BE4353387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33676" y="1707654"/>
            <a:ext cx="3898776" cy="1477328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词法分析主要数据结构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CF8E6D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class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Token: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Arial Unicode MS"/>
                <a:ea typeface="JetBrains Mono"/>
              </a:rPr>
              <a:t>__init__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lexeme, token_type, line):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.lexeme = lexeme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.token_type = token_type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.line = line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def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200B2"/>
                </a:solidFill>
                <a:effectLst/>
                <a:latin typeface="Arial Unicode MS"/>
                <a:ea typeface="JetBrains Mono"/>
              </a:rPr>
              <a:t>__str__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return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f"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{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.lexeme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&lt;15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} {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.token_type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: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&lt;8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}{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94558D"/>
                </a:solidFill>
                <a:effectLst/>
                <a:latin typeface="Arial Unicode MS"/>
                <a:ea typeface="JetBrains Mono"/>
              </a:rPr>
              <a:t>self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.line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}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6" name="Rectangle 3">
            <a:extLst>
              <a:ext uri="{FF2B5EF4-FFF2-40B4-BE49-F238E27FC236}">
                <a16:creationId xmlns:a16="http://schemas.microsoft.com/office/drawing/2014/main" id="{36C7375C-2C5F-41B1-8551-2C843C837015}"/>
              </a:ext>
            </a:extLst>
          </p:cNvPr>
          <p:cNvSpPr>
            <a:spLocks noChangeArrowheads="1"/>
          </p:cNvSpPr>
          <p:nvPr/>
        </p:nvSpPr>
        <p:spPr bwMode="auto">
          <a:xfrm>
            <a:off x="4860032" y="225827"/>
            <a:ext cx="4104456" cy="2723823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种别码编码表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KEYWORDS = {</a:t>
            </a:r>
            <a:endParaRPr kumimoji="0" lang="en-US" altLang="zh-CN" sz="900" b="0" i="0" u="none" strike="noStrike" cap="none" normalizeH="0" baseline="0" dirty="0">
              <a:ln>
                <a:noFill/>
              </a:ln>
              <a:solidFill>
                <a:srgbClr val="BCBEC4"/>
              </a:solidFill>
              <a:effectLst/>
              <a:latin typeface="Arial Unicode MS"/>
              <a:ea typeface="JetBrains Mono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zh-CN" sz="900" dirty="0">
                <a:solidFill>
                  <a:srgbClr val="BCBEC4"/>
                </a:solidFill>
                <a:latin typeface="Arial Unicode MS"/>
                <a:ea typeface="JetBrains Mono"/>
              </a:rPr>
              <a:t>	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'char'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'int'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'float'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'break'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'const'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'return'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106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'void'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107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'continue'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108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'do'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109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'while'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110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'if'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111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'else'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112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'for'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113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}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OPERATORS = {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界符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'{'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301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'}'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302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';'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303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','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304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运算符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'('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')'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'['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']'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'!'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'*'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206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'/'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207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'%'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208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'+'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209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'-'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'&lt;'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211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'&lt;='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212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'&gt;'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213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'&gt;='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214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'=='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215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'!='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216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'&amp;&amp;'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217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'||'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218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'='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219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'.'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220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类别标识（非直接匹配，用于动态识别）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整数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400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字符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500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字符串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600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标识符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700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实数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(float)'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  <a:t>800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2AACB8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}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8" name="Rectangle 4">
            <a:extLst>
              <a:ext uri="{FF2B5EF4-FFF2-40B4-BE49-F238E27FC236}">
                <a16:creationId xmlns:a16="http://schemas.microsoft.com/office/drawing/2014/main" id="{66837AAA-EA92-4AEA-82E1-8230F47892E6}"/>
              </a:ext>
            </a:extLst>
          </p:cNvPr>
          <p:cNvSpPr>
            <a:spLocks noChangeArrowheads="1"/>
          </p:cNvSpPr>
          <p:nvPr/>
        </p:nvSpPr>
        <p:spPr bwMode="auto">
          <a:xfrm>
            <a:off x="633676" y="3227373"/>
            <a:ext cx="3312368" cy="1615827"/>
          </a:xfrm>
          <a:prstGeom prst="rect">
            <a:avLst/>
          </a:prstGeom>
          <a:solidFill>
            <a:srgbClr val="1E1F2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测试示例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if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__name__ == 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‘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__main__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’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#</a:t>
            </a:r>
            <a:r>
              <a:rPr kumimoji="0" lang="zh-CN" altLang="en-US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输入文件名字为</a:t>
            </a:r>
            <a:r>
              <a:rPr kumimoji="0" lang="en-US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1</a:t>
            </a:r>
            <a:r>
              <a:rPr lang="en-US" altLang="zh-CN" sz="900" dirty="0">
                <a:solidFill>
                  <a:srgbClr val="BCBEC4"/>
                </a:solidFill>
                <a:latin typeface="Arial Unicode MS"/>
                <a:ea typeface="JetBrains Mono"/>
              </a:rPr>
              <a:t>.txt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with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open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'1.txt'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'r'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,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AA4926"/>
                </a:solidFill>
                <a:effectLst/>
                <a:latin typeface="Arial Unicode MS"/>
                <a:ea typeface="JetBrains Mono"/>
              </a:rPr>
              <a:t>encoding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=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6AAB73"/>
                </a:solidFill>
                <a:effectLst/>
                <a:latin typeface="Arial Unicode MS"/>
                <a:ea typeface="JetBrains Mono"/>
              </a:rPr>
              <a:t>"utf-8"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)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as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f: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test_code = f.read()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创建分析器并执行分析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analyzer = Lexer(test_code)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result = analyzer.tokenize()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#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Courier New" panose="02070309020205020404" pitchFamily="49" charset="0"/>
                <a:ea typeface="JetBrains Mono"/>
                <a:cs typeface="Courier New" panose="02070309020205020404" pitchFamily="49" charset="0"/>
              </a:rPr>
              <a:t>输出有效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token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7A7E85"/>
                </a:solidFill>
                <a:effectLst/>
                <a:latin typeface="Arial Unicode MS"/>
                <a:ea typeface="JetBrains Mono"/>
              </a:rPr>
              <a:t>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for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t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CF8E6D"/>
                </a:solidFill>
                <a:effectLst/>
                <a:latin typeface="Arial Unicode MS"/>
                <a:ea typeface="JetBrains Mono"/>
              </a:rPr>
              <a:t>in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result:</a:t>
            </a:r>
            <a:b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</a:b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        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8888C6"/>
                </a:solidFill>
                <a:effectLst/>
                <a:latin typeface="Arial Unicode MS"/>
                <a:ea typeface="JetBrains Mono"/>
              </a:rPr>
              <a:t>print</a:t>
            </a:r>
            <a:r>
              <a:rPr kumimoji="0" lang="zh-CN" altLang="zh-CN" sz="900" b="0" i="0" u="none" strike="noStrike" cap="none" normalizeH="0" baseline="0" dirty="0">
                <a:ln>
                  <a:noFill/>
                </a:ln>
                <a:solidFill>
                  <a:srgbClr val="BCBEC4"/>
                </a:solidFill>
                <a:effectLst/>
                <a:latin typeface="Arial Unicode MS"/>
                <a:ea typeface="JetBrains Mono"/>
              </a:rPr>
              <a:t>(t)</a:t>
            </a:r>
            <a:endParaRPr kumimoji="0" lang="zh-CN" altLang="zh-CN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F9C9AF6A-1E66-48F8-98F1-05AF31930DF5}"/>
              </a:ext>
            </a:extLst>
          </p:cNvPr>
          <p:cNvSpPr/>
          <p:nvPr/>
        </p:nvSpPr>
        <p:spPr>
          <a:xfrm>
            <a:off x="5004048" y="3081030"/>
            <a:ext cx="2664295" cy="1938992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</p:spPr>
        <p:txBody>
          <a:bodyPr wrap="square">
            <a:spAutoFit/>
          </a:bodyPr>
          <a:lstStyle/>
          <a:p>
            <a:r>
              <a:rPr lang="en-US" altLang="zh-CN" sz="1200" dirty="0"/>
              <a:t>#</a:t>
            </a:r>
            <a:r>
              <a:rPr lang="zh-CN" altLang="en-US" sz="1200" dirty="0"/>
              <a:t>输出样例</a:t>
            </a:r>
            <a:endParaRPr lang="en-US" altLang="zh-CN" sz="1200" dirty="0"/>
          </a:p>
          <a:p>
            <a:r>
              <a:rPr lang="en-US" altLang="zh-CN" sz="1200" dirty="0"/>
              <a:t>int            102     1</a:t>
            </a:r>
          </a:p>
          <a:p>
            <a:r>
              <a:rPr lang="en-US" altLang="zh-CN" sz="1200" dirty="0"/>
              <a:t>main        700     1</a:t>
            </a:r>
          </a:p>
          <a:p>
            <a:r>
              <a:rPr lang="en-US" altLang="zh-CN" sz="1200" dirty="0"/>
              <a:t>(               201     1</a:t>
            </a:r>
          </a:p>
          <a:p>
            <a:r>
              <a:rPr lang="en-US" altLang="zh-CN" sz="1200" dirty="0"/>
              <a:t>)               202     1</a:t>
            </a:r>
          </a:p>
          <a:p>
            <a:r>
              <a:rPr lang="en-US" altLang="zh-CN" sz="1200" dirty="0"/>
              <a:t>{               301     1</a:t>
            </a:r>
          </a:p>
          <a:p>
            <a:r>
              <a:rPr lang="en-US" altLang="zh-CN" sz="1200" dirty="0"/>
              <a:t>int            102     3</a:t>
            </a:r>
          </a:p>
          <a:p>
            <a:r>
              <a:rPr lang="en-US" altLang="zh-CN" sz="1200" dirty="0"/>
              <a:t>a               700     3</a:t>
            </a:r>
          </a:p>
          <a:p>
            <a:r>
              <a:rPr lang="en-US" altLang="zh-CN" sz="1200" dirty="0"/>
              <a:t>=              219     3</a:t>
            </a:r>
          </a:p>
          <a:p>
            <a:r>
              <a:rPr lang="en-US" altLang="zh-CN" sz="1200" dirty="0"/>
              <a:t>10             400     3</a:t>
            </a:r>
            <a:endParaRPr lang="zh-CN" altLang="en-US" sz="1200" dirty="0"/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1E113B2A-72FD-4EAC-96BD-FE627DBC415F}"/>
              </a:ext>
            </a:extLst>
          </p:cNvPr>
          <p:cNvSpPr txBox="1"/>
          <p:nvPr/>
        </p:nvSpPr>
        <p:spPr>
          <a:xfrm>
            <a:off x="633676" y="741933"/>
            <a:ext cx="3119765" cy="923330"/>
          </a:xfrm>
          <a:prstGeom prst="rect">
            <a:avLst/>
          </a:prstGeom>
          <a:solidFill>
            <a:srgbClr val="FFFF00"/>
          </a:solidFill>
        </p:spPr>
        <p:txBody>
          <a:bodyPr wrap="none" rtlCol="0">
            <a:spAutoFit/>
          </a:bodyPr>
          <a:lstStyle/>
          <a:p>
            <a:r>
              <a:rPr lang="zh-CN" altLang="en-US" dirty="0"/>
              <a:t>实验平台：</a:t>
            </a:r>
            <a:r>
              <a:rPr lang="en-US" altLang="zh-CN" dirty="0"/>
              <a:t>coe.cqut.edu.cn</a:t>
            </a:r>
          </a:p>
          <a:p>
            <a:r>
              <a:rPr lang="zh-CN" altLang="en-US" dirty="0"/>
              <a:t>初始密码：</a:t>
            </a:r>
            <a:r>
              <a:rPr lang="en-US" altLang="zh-CN" dirty="0"/>
              <a:t>123456</a:t>
            </a:r>
          </a:p>
          <a:p>
            <a:r>
              <a:rPr lang="zh-CN" altLang="en-US" dirty="0"/>
              <a:t>自己的学号姓名登录。</a:t>
            </a:r>
          </a:p>
        </p:txBody>
      </p:sp>
    </p:spTree>
    <p:extLst>
      <p:ext uri="{BB962C8B-B14F-4D97-AF65-F5344CB8AC3E}">
        <p14:creationId xmlns:p14="http://schemas.microsoft.com/office/powerpoint/2010/main" val="296028024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457200" y="1110997"/>
            <a:ext cx="4258816" cy="2108825"/>
          </a:xfrm>
        </p:spPr>
        <p:txBody>
          <a:bodyPr/>
          <a:lstStyle/>
          <a:p>
            <a:r>
              <a:rPr lang="zh-CN" altLang="en-US" dirty="0"/>
              <a:t>构建可视化交互界面</a:t>
            </a:r>
            <a:endParaRPr lang="en-US" altLang="zh-CN" dirty="0"/>
          </a:p>
          <a:p>
            <a:r>
              <a:rPr lang="zh-CN" altLang="en-US" dirty="0"/>
              <a:t>为语法分析做准备</a:t>
            </a:r>
            <a:endParaRPr lang="en-US" altLang="zh-CN" dirty="0"/>
          </a:p>
          <a:p>
            <a:endParaRPr lang="zh-CN" altLang="en-US" dirty="0"/>
          </a:p>
        </p:txBody>
      </p:sp>
      <p:sp>
        <p:nvSpPr>
          <p:cNvPr id="4" name="标题 2"/>
          <p:cNvSpPr>
            <a:spLocks noGrp="1"/>
          </p:cNvSpPr>
          <p:nvPr>
            <p:ph type="title"/>
          </p:nvPr>
        </p:nvSpPr>
        <p:spPr>
          <a:xfrm>
            <a:off x="107950" y="123825"/>
            <a:ext cx="8229600" cy="576263"/>
          </a:xfrm>
        </p:spPr>
        <p:txBody>
          <a:bodyPr>
            <a:normAutofit fontScale="90000"/>
          </a:bodyPr>
          <a:lstStyle/>
          <a:p>
            <a:r>
              <a:rPr lang="en-US" altLang="zh-CN" dirty="0"/>
              <a:t> </a:t>
            </a:r>
            <a:r>
              <a:rPr lang="zh-CN" altLang="en-US" dirty="0"/>
              <a:t>添加程序界面</a:t>
            </a:r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8A7CB5FB-696E-44DF-99D3-2D0737A484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51920" y="771550"/>
            <a:ext cx="4732949" cy="3781632"/>
          </a:xfrm>
          <a:prstGeom prst="rect">
            <a:avLst/>
          </a:prstGeom>
        </p:spPr>
      </p:pic>
      <p:pic>
        <p:nvPicPr>
          <p:cNvPr id="6" name="图片 5">
            <a:extLst>
              <a:ext uri="{FF2B5EF4-FFF2-40B4-BE49-F238E27FC236}">
                <a16:creationId xmlns:a16="http://schemas.microsoft.com/office/drawing/2014/main" id="{B0ECD1E5-50D0-4D3C-A394-3F243AE524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880376" y="771550"/>
            <a:ext cx="5806424" cy="393990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868843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5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 descr="词法分析"/>
          <p:cNvPicPr/>
          <p:nvPr/>
        </p:nvPicPr>
        <p:blipFill rotWithShape="1">
          <a:blip r:embed="rId2"/>
          <a:srcRect r="28095" b="6372"/>
          <a:stretch>
            <a:fillRect/>
          </a:stretch>
        </p:blipFill>
        <p:spPr>
          <a:xfrm>
            <a:off x="4524082" y="36959"/>
            <a:ext cx="4491082" cy="3863315"/>
          </a:xfrm>
          <a:prstGeom prst="rect">
            <a:avLst/>
          </a:prstGeom>
        </p:spPr>
      </p:pic>
      <p:sp>
        <p:nvSpPr>
          <p:cNvPr id="2" name="内容占位符 1"/>
          <p:cNvSpPr>
            <a:spLocks noGrp="1"/>
          </p:cNvSpPr>
          <p:nvPr>
            <p:ph idx="1"/>
          </p:nvPr>
        </p:nvSpPr>
        <p:spPr>
          <a:xfrm>
            <a:off x="251520" y="786061"/>
            <a:ext cx="4320480" cy="1713681"/>
          </a:xfrm>
        </p:spPr>
        <p:txBody>
          <a:bodyPr/>
          <a:lstStyle/>
          <a:p>
            <a:r>
              <a:rPr lang="zh-CN" altLang="en-US" dirty="0"/>
              <a:t>输入字符流</a:t>
            </a:r>
            <a:endParaRPr lang="en-US" altLang="zh-CN" dirty="0"/>
          </a:p>
          <a:p>
            <a:r>
              <a:rPr lang="zh-CN" altLang="en-US" dirty="0"/>
              <a:t>根据规则进行识别</a:t>
            </a:r>
            <a:endParaRPr lang="en-US" altLang="zh-CN" dirty="0"/>
          </a:p>
          <a:p>
            <a:r>
              <a:rPr lang="zh-CN" altLang="en-US" dirty="0"/>
              <a:t>输出识别的单词及其种别码</a:t>
            </a:r>
            <a:endParaRPr lang="en-US" altLang="zh-CN" dirty="0"/>
          </a:p>
          <a:p>
            <a:r>
              <a:rPr lang="zh-CN" altLang="en-US" dirty="0"/>
              <a:t>输出错误</a:t>
            </a:r>
          </a:p>
        </p:txBody>
      </p:sp>
      <p:sp>
        <p:nvSpPr>
          <p:cNvPr id="3" name="标题 2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zh-CN" altLang="en-US" dirty="0"/>
              <a:t>输出效果</a:t>
            </a:r>
          </a:p>
        </p:txBody>
      </p:sp>
      <p:pic>
        <p:nvPicPr>
          <p:cNvPr id="7" name="Picture 6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2462284"/>
            <a:ext cx="6372200" cy="275986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7170" name="图片 1"/>
          <p:cNvPicPr>
            <a:picLocks noChangeAspect="1" noChangeArrowheads="1"/>
          </p:cNvPicPr>
          <p:nvPr/>
        </p:nvPicPr>
        <p:blipFill rotWithShape="1"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9349"/>
          <a:stretch>
            <a:fillRect/>
          </a:stretch>
        </p:blipFill>
        <p:spPr bwMode="auto">
          <a:xfrm>
            <a:off x="2628015" y="2293615"/>
            <a:ext cx="4644285" cy="285978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1628113680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b95e6b20-ce45-4081-ba6a-de3e49df23f8"/>
  <p:tag name="COMMONDATA" val="eyJoZGlkIjoiYzU2Yzg1YWViZTBkYmEwZTRlYzBjZTUwOGM0Zjk0ZDYifQ=="/>
</p:tagLst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模板1">
  <a:themeElements>
    <a:clrScheme name="聚合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聚合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  <a:font script="Geor" typeface="Sylfaen"/>
      </a:minorFont>
    </a:fontScheme>
    <a:fmtScheme name="聚合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模板1</Template>
  <TotalTime>99</TotalTime>
  <Words>1057</Words>
  <Application>Microsoft Office PowerPoint</Application>
  <PresentationFormat>全屏显示(16:9)</PresentationFormat>
  <Paragraphs>90</Paragraphs>
  <Slides>10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13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10</vt:i4>
      </vt:variant>
    </vt:vector>
  </HeadingPairs>
  <TitlesOfParts>
    <vt:vector size="25" baseType="lpstr">
      <vt:lpstr>Arial Unicode MS</vt:lpstr>
      <vt:lpstr>JetBrains Mono</vt:lpstr>
      <vt:lpstr>黑体</vt:lpstr>
      <vt:lpstr>隶书</vt:lpstr>
      <vt:lpstr>宋体</vt:lpstr>
      <vt:lpstr>Arial</vt:lpstr>
      <vt:lpstr>Calibri</vt:lpstr>
      <vt:lpstr>Courier New</vt:lpstr>
      <vt:lpstr>Lucida Sans Unicode</vt:lpstr>
      <vt:lpstr>Times New Roman</vt:lpstr>
      <vt:lpstr>Verdana</vt:lpstr>
      <vt:lpstr>Wingdings 2</vt:lpstr>
      <vt:lpstr>Wingdings 3</vt:lpstr>
      <vt:lpstr>模板1</vt:lpstr>
      <vt:lpstr>Visio</vt:lpstr>
      <vt:lpstr>实验一：单词识别（2学时+课外）</vt:lpstr>
      <vt:lpstr>实验一：单词识别（2学时+课外）</vt:lpstr>
      <vt:lpstr>1.每种单词画一个状态转换图</vt:lpstr>
      <vt:lpstr>2.根据状态转换图编写单词的识别程序</vt:lpstr>
      <vt:lpstr>3.状态转换图合并</vt:lpstr>
      <vt:lpstr>从一个字符串中同时识别多种单词</vt:lpstr>
      <vt:lpstr>4.添加辅助功能的程序</vt:lpstr>
      <vt:lpstr> 相关说明</vt:lpstr>
      <vt:lpstr> 添加程序界面</vt:lpstr>
      <vt:lpstr>输出效果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实验内容</dc:title>
  <dc:creator>hxy</dc:creator>
  <cp:lastModifiedBy>Administrator</cp:lastModifiedBy>
  <cp:revision>65</cp:revision>
  <dcterms:created xsi:type="dcterms:W3CDTF">2020-02-23T14:19:00Z</dcterms:created>
  <dcterms:modified xsi:type="dcterms:W3CDTF">2026-03-16T14:26:05Z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1C99B3AB313743A7BC748AD8A1D93E3C</vt:lpwstr>
  </property>
  <property fmtid="{D5CDD505-2E9C-101B-9397-08002B2CF9AE}" pid="3" name="KSOProductBuildVer">
    <vt:lpwstr>2052-11.1.0.13703</vt:lpwstr>
  </property>
</Properties>
</file>