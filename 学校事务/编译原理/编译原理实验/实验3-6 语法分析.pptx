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sdx" ContentType="application/vnd.ms-visio.drawing"/>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 id="2147483727" r:id="rId2"/>
  </p:sldMasterIdLst>
  <p:notesMasterIdLst>
    <p:notesMasterId r:id="rId36"/>
  </p:notesMasterIdLst>
  <p:sldIdLst>
    <p:sldId id="337" r:id="rId3"/>
    <p:sldId id="338" r:id="rId4"/>
    <p:sldId id="396" r:id="rId5"/>
    <p:sldId id="397" r:id="rId6"/>
    <p:sldId id="330" r:id="rId7"/>
    <p:sldId id="395" r:id="rId8"/>
    <p:sldId id="355" r:id="rId9"/>
    <p:sldId id="356" r:id="rId10"/>
    <p:sldId id="345" r:id="rId11"/>
    <p:sldId id="346" r:id="rId12"/>
    <p:sldId id="358" r:id="rId13"/>
    <p:sldId id="359" r:id="rId14"/>
    <p:sldId id="347" r:id="rId15"/>
    <p:sldId id="360" r:id="rId16"/>
    <p:sldId id="353" r:id="rId17"/>
    <p:sldId id="354" r:id="rId18"/>
    <p:sldId id="406" r:id="rId19"/>
    <p:sldId id="809" r:id="rId20"/>
    <p:sldId id="408" r:id="rId21"/>
    <p:sldId id="810" r:id="rId22"/>
    <p:sldId id="409" r:id="rId23"/>
    <p:sldId id="410" r:id="rId24"/>
    <p:sldId id="811" r:id="rId25"/>
    <p:sldId id="812" r:id="rId26"/>
    <p:sldId id="399" r:id="rId27"/>
    <p:sldId id="344" r:id="rId28"/>
    <p:sldId id="398" r:id="rId29"/>
    <p:sldId id="402" r:id="rId30"/>
    <p:sldId id="339" r:id="rId31"/>
    <p:sldId id="340" r:id="rId32"/>
    <p:sldId id="400" r:id="rId33"/>
    <p:sldId id="401" r:id="rId34"/>
    <p:sldId id="361" r:id="rId35"/>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826" autoAdjust="0"/>
    <p:restoredTop sz="91285" autoAdjust="0"/>
  </p:normalViewPr>
  <p:slideViewPr>
    <p:cSldViewPr>
      <p:cViewPr varScale="1">
        <p:scale>
          <a:sx n="89" d="100"/>
          <a:sy n="89" d="100"/>
        </p:scale>
        <p:origin x="91" y="811"/>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C3FB6CE-4A83-4EA5-8A28-5A2599315B17}" type="datetimeFigureOut">
              <a:rPr lang="zh-CN" altLang="en-US" smtClean="0"/>
              <a:t>2026/3/30</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99E8391-A7AA-438B-8953-8185EA502C58}" type="slidenum">
              <a:rPr lang="zh-CN" altLang="en-US" smtClean="0"/>
              <a:t>‹#›</a:t>
            </a:fld>
            <a:endParaRPr lang="zh-CN" altLang="en-US"/>
          </a:p>
        </p:txBody>
      </p:sp>
    </p:spTree>
    <p:extLst>
      <p:ext uri="{BB962C8B-B14F-4D97-AF65-F5344CB8AC3E}">
        <p14:creationId xmlns:p14="http://schemas.microsoft.com/office/powerpoint/2010/main" val="35398967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itchFamily="34" charset="0"/>
                <a:ea typeface="宋体" pitchFamily="2" charset="-122"/>
              </a:defRPr>
            </a:lvl1pPr>
            <a:lvl2pPr marL="742950" indent="-285750">
              <a:spcBef>
                <a:spcPct val="30000"/>
              </a:spcBef>
              <a:defRPr sz="1200">
                <a:solidFill>
                  <a:schemeClr val="tx1"/>
                </a:solidFill>
                <a:latin typeface="Arial" pitchFamily="34" charset="0"/>
                <a:ea typeface="宋体" pitchFamily="2" charset="-122"/>
              </a:defRPr>
            </a:lvl2pPr>
            <a:lvl3pPr marL="1143000" indent="-228600">
              <a:spcBef>
                <a:spcPct val="30000"/>
              </a:spcBef>
              <a:defRPr sz="1200">
                <a:solidFill>
                  <a:schemeClr val="tx1"/>
                </a:solidFill>
                <a:latin typeface="Arial" pitchFamily="34" charset="0"/>
                <a:ea typeface="宋体" pitchFamily="2" charset="-122"/>
              </a:defRPr>
            </a:lvl3pPr>
            <a:lvl4pPr marL="1600200" indent="-228600">
              <a:spcBef>
                <a:spcPct val="30000"/>
              </a:spcBef>
              <a:defRPr sz="1200">
                <a:solidFill>
                  <a:schemeClr val="tx1"/>
                </a:solidFill>
                <a:latin typeface="Arial" pitchFamily="34" charset="0"/>
                <a:ea typeface="宋体" pitchFamily="2" charset="-122"/>
              </a:defRPr>
            </a:lvl4pPr>
            <a:lvl5pPr marL="2057400" indent="-228600">
              <a:spcBef>
                <a:spcPct val="30000"/>
              </a:spcBef>
              <a:defRPr sz="1200">
                <a:solidFill>
                  <a:schemeClr val="tx1"/>
                </a:solidFill>
                <a:latin typeface="Arial"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itchFamily="34" charset="0"/>
                <a:ea typeface="宋体" pitchFamily="2" charset="-122"/>
              </a:defRPr>
            </a:lvl9pPr>
          </a:lstStyle>
          <a:p>
            <a:pPr algn="r" eaLnBrk="1" hangingPunct="1">
              <a:spcBef>
                <a:spcPct val="0"/>
              </a:spcBef>
            </a:pPr>
            <a:fld id="{DED72EF0-BA00-4624-AFBB-3856D9807E19}" type="slidenum">
              <a:rPr lang="en-US" altLang="zh-CN"/>
              <a:pPr algn="r" eaLnBrk="1" hangingPunct="1">
                <a:spcBef>
                  <a:spcPct val="0"/>
                </a:spcBef>
              </a:pPr>
              <a:t>1</a:t>
            </a:fld>
            <a:endParaRPr lang="en-US" altLang="zh-CN"/>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itchFamily="34" charset="0"/>
                <a:ea typeface="宋体" pitchFamily="2" charset="-122"/>
              </a:defRPr>
            </a:lvl1pPr>
            <a:lvl2pPr marL="742950" indent="-285750">
              <a:spcBef>
                <a:spcPct val="30000"/>
              </a:spcBef>
              <a:defRPr sz="1200">
                <a:solidFill>
                  <a:schemeClr val="tx1"/>
                </a:solidFill>
                <a:latin typeface="Arial" pitchFamily="34" charset="0"/>
                <a:ea typeface="宋体" pitchFamily="2" charset="-122"/>
              </a:defRPr>
            </a:lvl2pPr>
            <a:lvl3pPr marL="1143000" indent="-228600">
              <a:spcBef>
                <a:spcPct val="30000"/>
              </a:spcBef>
              <a:defRPr sz="1200">
                <a:solidFill>
                  <a:schemeClr val="tx1"/>
                </a:solidFill>
                <a:latin typeface="Arial" pitchFamily="34" charset="0"/>
                <a:ea typeface="宋体" pitchFamily="2" charset="-122"/>
              </a:defRPr>
            </a:lvl3pPr>
            <a:lvl4pPr marL="1600200" indent="-228600">
              <a:spcBef>
                <a:spcPct val="30000"/>
              </a:spcBef>
              <a:defRPr sz="1200">
                <a:solidFill>
                  <a:schemeClr val="tx1"/>
                </a:solidFill>
                <a:latin typeface="Arial" pitchFamily="34" charset="0"/>
                <a:ea typeface="宋体" pitchFamily="2" charset="-122"/>
              </a:defRPr>
            </a:lvl4pPr>
            <a:lvl5pPr marL="2057400" indent="-228600">
              <a:spcBef>
                <a:spcPct val="30000"/>
              </a:spcBef>
              <a:defRPr sz="1200">
                <a:solidFill>
                  <a:schemeClr val="tx1"/>
                </a:solidFill>
                <a:latin typeface="Arial"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itchFamily="34" charset="0"/>
                <a:ea typeface="宋体" pitchFamily="2" charset="-122"/>
              </a:defRPr>
            </a:lvl9pPr>
          </a:lstStyle>
          <a:p>
            <a:pPr algn="r" eaLnBrk="1" hangingPunct="1">
              <a:spcBef>
                <a:spcPct val="0"/>
              </a:spcBef>
            </a:pPr>
            <a:fld id="{CBD1622A-FDB8-40C3-B5DC-D9C847A3B3C3}" type="slidenum">
              <a:rPr lang="en-US" altLang="zh-CN"/>
              <a:pPr algn="r" eaLnBrk="1" hangingPunct="1">
                <a:spcBef>
                  <a:spcPct val="0"/>
                </a:spcBef>
              </a:pPr>
              <a:t>2</a:t>
            </a:fld>
            <a:endParaRPr lang="en-US" altLang="zh-CN"/>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itchFamily="34" charset="0"/>
                <a:ea typeface="宋体" pitchFamily="2" charset="-122"/>
              </a:defRPr>
            </a:lvl1pPr>
            <a:lvl2pPr marL="742950" indent="-285750">
              <a:spcBef>
                <a:spcPct val="30000"/>
              </a:spcBef>
              <a:defRPr sz="1200">
                <a:solidFill>
                  <a:schemeClr val="tx1"/>
                </a:solidFill>
                <a:latin typeface="Arial" pitchFamily="34" charset="0"/>
                <a:ea typeface="宋体" pitchFamily="2" charset="-122"/>
              </a:defRPr>
            </a:lvl2pPr>
            <a:lvl3pPr marL="1143000" indent="-228600">
              <a:spcBef>
                <a:spcPct val="30000"/>
              </a:spcBef>
              <a:defRPr sz="1200">
                <a:solidFill>
                  <a:schemeClr val="tx1"/>
                </a:solidFill>
                <a:latin typeface="Arial" pitchFamily="34" charset="0"/>
                <a:ea typeface="宋体" pitchFamily="2" charset="-122"/>
              </a:defRPr>
            </a:lvl3pPr>
            <a:lvl4pPr marL="1600200" indent="-228600">
              <a:spcBef>
                <a:spcPct val="30000"/>
              </a:spcBef>
              <a:defRPr sz="1200">
                <a:solidFill>
                  <a:schemeClr val="tx1"/>
                </a:solidFill>
                <a:latin typeface="Arial" pitchFamily="34" charset="0"/>
                <a:ea typeface="宋体" pitchFamily="2" charset="-122"/>
              </a:defRPr>
            </a:lvl4pPr>
            <a:lvl5pPr marL="2057400" indent="-228600">
              <a:spcBef>
                <a:spcPct val="30000"/>
              </a:spcBef>
              <a:defRPr sz="1200">
                <a:solidFill>
                  <a:schemeClr val="tx1"/>
                </a:solidFill>
                <a:latin typeface="Arial"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itchFamily="34" charset="0"/>
                <a:ea typeface="宋体" pitchFamily="2" charset="-122"/>
              </a:defRPr>
            </a:lvl9pPr>
          </a:lstStyle>
          <a:p>
            <a:pPr algn="r" eaLnBrk="1" hangingPunct="1">
              <a:spcBef>
                <a:spcPct val="0"/>
              </a:spcBef>
            </a:pPr>
            <a:fld id="{127377B8-A784-46FA-9D55-F0C436F246DA}" type="slidenum">
              <a:rPr lang="en-US" altLang="zh-CN"/>
              <a:pPr algn="r" eaLnBrk="1" hangingPunct="1">
                <a:spcBef>
                  <a:spcPct val="0"/>
                </a:spcBef>
              </a:pPr>
              <a:t>7</a:t>
            </a:fld>
            <a:endParaRPr lang="en-US" altLang="zh-CN"/>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itchFamily="34" charset="0"/>
                <a:ea typeface="宋体" pitchFamily="2" charset="-122"/>
              </a:defRPr>
            </a:lvl1pPr>
            <a:lvl2pPr marL="742950" indent="-285750">
              <a:spcBef>
                <a:spcPct val="30000"/>
              </a:spcBef>
              <a:defRPr sz="1200">
                <a:solidFill>
                  <a:schemeClr val="tx1"/>
                </a:solidFill>
                <a:latin typeface="Arial" pitchFamily="34" charset="0"/>
                <a:ea typeface="宋体" pitchFamily="2" charset="-122"/>
              </a:defRPr>
            </a:lvl2pPr>
            <a:lvl3pPr marL="1143000" indent="-228600">
              <a:spcBef>
                <a:spcPct val="30000"/>
              </a:spcBef>
              <a:defRPr sz="1200">
                <a:solidFill>
                  <a:schemeClr val="tx1"/>
                </a:solidFill>
                <a:latin typeface="Arial" pitchFamily="34" charset="0"/>
                <a:ea typeface="宋体" pitchFamily="2" charset="-122"/>
              </a:defRPr>
            </a:lvl3pPr>
            <a:lvl4pPr marL="1600200" indent="-228600">
              <a:spcBef>
                <a:spcPct val="30000"/>
              </a:spcBef>
              <a:defRPr sz="1200">
                <a:solidFill>
                  <a:schemeClr val="tx1"/>
                </a:solidFill>
                <a:latin typeface="Arial" pitchFamily="34" charset="0"/>
                <a:ea typeface="宋体" pitchFamily="2" charset="-122"/>
              </a:defRPr>
            </a:lvl4pPr>
            <a:lvl5pPr marL="2057400" indent="-228600">
              <a:spcBef>
                <a:spcPct val="30000"/>
              </a:spcBef>
              <a:defRPr sz="1200">
                <a:solidFill>
                  <a:schemeClr val="tx1"/>
                </a:solidFill>
                <a:latin typeface="Arial"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itchFamily="34" charset="0"/>
                <a:ea typeface="宋体" pitchFamily="2" charset="-122"/>
              </a:defRPr>
            </a:lvl9pPr>
          </a:lstStyle>
          <a:p>
            <a:pPr algn="r" eaLnBrk="1" hangingPunct="1">
              <a:spcBef>
                <a:spcPct val="0"/>
              </a:spcBef>
            </a:pPr>
            <a:fld id="{7ACFC782-6139-40B1-AEE5-F31377B8ABAB}" type="slidenum">
              <a:rPr lang="en-US" altLang="zh-CN"/>
              <a:pPr algn="r" eaLnBrk="1" hangingPunct="1">
                <a:spcBef>
                  <a:spcPct val="0"/>
                </a:spcBef>
              </a:pPr>
              <a:t>8</a:t>
            </a:fld>
            <a:endParaRPr lang="en-US" altLang="zh-CN"/>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itchFamily="34" charset="0"/>
                <a:ea typeface="宋体" pitchFamily="2" charset="-122"/>
              </a:defRPr>
            </a:lvl1pPr>
            <a:lvl2pPr marL="742950" indent="-285750">
              <a:spcBef>
                <a:spcPct val="30000"/>
              </a:spcBef>
              <a:defRPr sz="1200">
                <a:solidFill>
                  <a:schemeClr val="tx1"/>
                </a:solidFill>
                <a:latin typeface="Arial" pitchFamily="34" charset="0"/>
                <a:ea typeface="宋体" pitchFamily="2" charset="-122"/>
              </a:defRPr>
            </a:lvl2pPr>
            <a:lvl3pPr marL="1143000" indent="-228600">
              <a:spcBef>
                <a:spcPct val="30000"/>
              </a:spcBef>
              <a:defRPr sz="1200">
                <a:solidFill>
                  <a:schemeClr val="tx1"/>
                </a:solidFill>
                <a:latin typeface="Arial" pitchFamily="34" charset="0"/>
                <a:ea typeface="宋体" pitchFamily="2" charset="-122"/>
              </a:defRPr>
            </a:lvl3pPr>
            <a:lvl4pPr marL="1600200" indent="-228600">
              <a:spcBef>
                <a:spcPct val="30000"/>
              </a:spcBef>
              <a:defRPr sz="1200">
                <a:solidFill>
                  <a:schemeClr val="tx1"/>
                </a:solidFill>
                <a:latin typeface="Arial" pitchFamily="34" charset="0"/>
                <a:ea typeface="宋体" pitchFamily="2" charset="-122"/>
              </a:defRPr>
            </a:lvl4pPr>
            <a:lvl5pPr marL="2057400" indent="-228600">
              <a:spcBef>
                <a:spcPct val="30000"/>
              </a:spcBef>
              <a:defRPr sz="1200">
                <a:solidFill>
                  <a:schemeClr val="tx1"/>
                </a:solidFill>
                <a:latin typeface="Arial"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itchFamily="34" charset="0"/>
                <a:ea typeface="宋体" pitchFamily="2" charset="-122"/>
              </a:defRPr>
            </a:lvl9pPr>
          </a:lstStyle>
          <a:p>
            <a:pPr algn="r" eaLnBrk="1" hangingPunct="1">
              <a:spcBef>
                <a:spcPct val="0"/>
              </a:spcBef>
            </a:pPr>
            <a:fld id="{970C44DF-36B7-4245-B711-D6FF7C859549}" type="slidenum">
              <a:rPr lang="en-US" altLang="zh-CN"/>
              <a:pPr algn="r" eaLnBrk="1" hangingPunct="1">
                <a:spcBef>
                  <a:spcPct val="0"/>
                </a:spcBef>
              </a:pPr>
              <a:t>11</a:t>
            </a:fld>
            <a:endParaRPr lang="en-US" altLang="zh-CN"/>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Arial" pitchFamily="34" charset="0"/>
                <a:ea typeface="宋体" pitchFamily="2" charset="-122"/>
              </a:defRPr>
            </a:lvl1pPr>
            <a:lvl2pPr marL="742950" indent="-285750">
              <a:spcBef>
                <a:spcPct val="30000"/>
              </a:spcBef>
              <a:defRPr sz="1200">
                <a:solidFill>
                  <a:schemeClr val="tx1"/>
                </a:solidFill>
                <a:latin typeface="Arial" pitchFamily="34" charset="0"/>
                <a:ea typeface="宋体" pitchFamily="2" charset="-122"/>
              </a:defRPr>
            </a:lvl2pPr>
            <a:lvl3pPr marL="1143000" indent="-228600">
              <a:spcBef>
                <a:spcPct val="30000"/>
              </a:spcBef>
              <a:defRPr sz="1200">
                <a:solidFill>
                  <a:schemeClr val="tx1"/>
                </a:solidFill>
                <a:latin typeface="Arial" pitchFamily="34" charset="0"/>
                <a:ea typeface="宋体" pitchFamily="2" charset="-122"/>
              </a:defRPr>
            </a:lvl3pPr>
            <a:lvl4pPr marL="1600200" indent="-228600">
              <a:spcBef>
                <a:spcPct val="30000"/>
              </a:spcBef>
              <a:defRPr sz="1200">
                <a:solidFill>
                  <a:schemeClr val="tx1"/>
                </a:solidFill>
                <a:latin typeface="Arial" pitchFamily="34" charset="0"/>
                <a:ea typeface="宋体" pitchFamily="2" charset="-122"/>
              </a:defRPr>
            </a:lvl4pPr>
            <a:lvl5pPr marL="2057400" indent="-228600">
              <a:spcBef>
                <a:spcPct val="30000"/>
              </a:spcBef>
              <a:defRPr sz="1200">
                <a:solidFill>
                  <a:schemeClr val="tx1"/>
                </a:solidFill>
                <a:latin typeface="Arial"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itchFamily="34" charset="0"/>
                <a:ea typeface="宋体" pitchFamily="2" charset="-122"/>
              </a:defRPr>
            </a:lvl9pPr>
          </a:lstStyle>
          <a:p>
            <a:pPr algn="r" eaLnBrk="1" hangingPunct="1">
              <a:spcBef>
                <a:spcPct val="0"/>
              </a:spcBef>
            </a:pPr>
            <a:fld id="{4A5E13B6-7233-413F-8880-0ABE50F4F754}" type="slidenum">
              <a:rPr lang="en-US" altLang="zh-CN"/>
              <a:pPr algn="r" eaLnBrk="1" hangingPunct="1">
                <a:spcBef>
                  <a:spcPct val="0"/>
                </a:spcBef>
              </a:pPr>
              <a:t>12</a:t>
            </a:fld>
            <a:endParaRPr lang="en-US" altLang="zh-CN"/>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itchFamily="18" charset="0"/>
                <a:ea typeface="宋体" pitchFamily="2" charset="-122"/>
              </a:defRPr>
            </a:lvl1pPr>
            <a:lvl2pPr marL="742950" indent="-285750">
              <a:spcBef>
                <a:spcPct val="30000"/>
              </a:spcBef>
              <a:defRPr kumimoji="1" sz="1200">
                <a:solidFill>
                  <a:schemeClr val="tx1"/>
                </a:solidFill>
                <a:latin typeface="Times New Roman" pitchFamily="18" charset="0"/>
                <a:ea typeface="宋体" pitchFamily="2" charset="-122"/>
              </a:defRPr>
            </a:lvl2pPr>
            <a:lvl3pPr marL="1143000" indent="-228600">
              <a:spcBef>
                <a:spcPct val="30000"/>
              </a:spcBef>
              <a:defRPr kumimoji="1" sz="1200">
                <a:solidFill>
                  <a:schemeClr val="tx1"/>
                </a:solidFill>
                <a:latin typeface="Times New Roman" pitchFamily="18" charset="0"/>
                <a:ea typeface="宋体" pitchFamily="2" charset="-122"/>
              </a:defRPr>
            </a:lvl3pPr>
            <a:lvl4pPr marL="1600200" indent="-228600">
              <a:spcBef>
                <a:spcPct val="30000"/>
              </a:spcBef>
              <a:defRPr kumimoji="1" sz="1200">
                <a:solidFill>
                  <a:schemeClr val="tx1"/>
                </a:solidFill>
                <a:latin typeface="Times New Roman" pitchFamily="18" charset="0"/>
                <a:ea typeface="宋体" pitchFamily="2" charset="-122"/>
              </a:defRPr>
            </a:lvl4pPr>
            <a:lvl5pPr marL="2057400" indent="-22860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a:spcBef>
                <a:spcPct val="0"/>
              </a:spcBef>
            </a:pPr>
            <a:fld id="{2DD37CF4-24CA-4FAC-9E63-35377BD775AE}" type="slidenum">
              <a:rPr lang="en-US" altLang="zh-CN" smtClean="0"/>
              <a:pPr>
                <a:spcBef>
                  <a:spcPct val="0"/>
                </a:spcBef>
              </a:pPr>
              <a:t>13</a:t>
            </a:fld>
            <a:endParaRPr lang="en-US" altLang="zh-CN"/>
          </a:p>
        </p:txBody>
      </p:sp>
      <p:sp>
        <p:nvSpPr>
          <p:cNvPr id="325635" name="Rectangle 2"/>
          <p:cNvSpPr>
            <a:spLocks noGrp="1" noRot="1" noChangeAspect="1" noChangeArrowheads="1" noTextEdit="1"/>
          </p:cNvSpPr>
          <p:nvPr>
            <p:ph type="sldImg"/>
          </p:nvPr>
        </p:nvSpPr>
        <p:spPr>
          <a:ln/>
        </p:spPr>
      </p:sp>
      <p:sp>
        <p:nvSpPr>
          <p:cNvPr id="3256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itchFamily="18" charset="0"/>
                <a:ea typeface="宋体" pitchFamily="2" charset="-122"/>
              </a:defRPr>
            </a:lvl1pPr>
            <a:lvl2pPr marL="742950" indent="-285750">
              <a:spcBef>
                <a:spcPct val="30000"/>
              </a:spcBef>
              <a:defRPr kumimoji="1" sz="1200">
                <a:solidFill>
                  <a:schemeClr val="tx1"/>
                </a:solidFill>
                <a:latin typeface="Times New Roman" pitchFamily="18" charset="0"/>
                <a:ea typeface="宋体" pitchFamily="2" charset="-122"/>
              </a:defRPr>
            </a:lvl2pPr>
            <a:lvl3pPr marL="1143000" indent="-228600">
              <a:spcBef>
                <a:spcPct val="30000"/>
              </a:spcBef>
              <a:defRPr kumimoji="1" sz="1200">
                <a:solidFill>
                  <a:schemeClr val="tx1"/>
                </a:solidFill>
                <a:latin typeface="Times New Roman" pitchFamily="18" charset="0"/>
                <a:ea typeface="宋体" pitchFamily="2" charset="-122"/>
              </a:defRPr>
            </a:lvl3pPr>
            <a:lvl4pPr marL="1600200" indent="-228600">
              <a:spcBef>
                <a:spcPct val="30000"/>
              </a:spcBef>
              <a:defRPr kumimoji="1" sz="1200">
                <a:solidFill>
                  <a:schemeClr val="tx1"/>
                </a:solidFill>
                <a:latin typeface="Times New Roman" pitchFamily="18" charset="0"/>
                <a:ea typeface="宋体" pitchFamily="2" charset="-122"/>
              </a:defRPr>
            </a:lvl4pPr>
            <a:lvl5pPr marL="2057400" indent="-22860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a:spcBef>
                <a:spcPct val="0"/>
              </a:spcBef>
            </a:pPr>
            <a:fld id="{2DD37CF4-24CA-4FAC-9E63-35377BD775AE}" type="slidenum">
              <a:rPr lang="en-US" altLang="zh-CN" smtClean="0"/>
              <a:pPr>
                <a:spcBef>
                  <a:spcPct val="0"/>
                </a:spcBef>
              </a:pPr>
              <a:t>15</a:t>
            </a:fld>
            <a:endParaRPr lang="en-US" altLang="zh-CN"/>
          </a:p>
        </p:txBody>
      </p:sp>
      <p:sp>
        <p:nvSpPr>
          <p:cNvPr id="325635" name="Rectangle 2"/>
          <p:cNvSpPr>
            <a:spLocks noGrp="1" noRot="1" noChangeAspect="1" noChangeArrowheads="1" noTextEdit="1"/>
          </p:cNvSpPr>
          <p:nvPr>
            <p:ph type="sldImg"/>
          </p:nvPr>
        </p:nvSpPr>
        <p:spPr>
          <a:ln/>
        </p:spPr>
      </p:sp>
      <p:sp>
        <p:nvSpPr>
          <p:cNvPr id="3256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itchFamily="18" charset="0"/>
                <a:ea typeface="宋体" pitchFamily="2" charset="-122"/>
              </a:defRPr>
            </a:lvl1pPr>
            <a:lvl2pPr marL="742950" indent="-285750">
              <a:spcBef>
                <a:spcPct val="30000"/>
              </a:spcBef>
              <a:defRPr kumimoji="1" sz="1200">
                <a:solidFill>
                  <a:schemeClr val="tx1"/>
                </a:solidFill>
                <a:latin typeface="Times New Roman" pitchFamily="18" charset="0"/>
                <a:ea typeface="宋体" pitchFamily="2" charset="-122"/>
              </a:defRPr>
            </a:lvl2pPr>
            <a:lvl3pPr marL="1143000" indent="-228600">
              <a:spcBef>
                <a:spcPct val="30000"/>
              </a:spcBef>
              <a:defRPr kumimoji="1" sz="1200">
                <a:solidFill>
                  <a:schemeClr val="tx1"/>
                </a:solidFill>
                <a:latin typeface="Times New Roman" pitchFamily="18" charset="0"/>
                <a:ea typeface="宋体" pitchFamily="2" charset="-122"/>
              </a:defRPr>
            </a:lvl3pPr>
            <a:lvl4pPr marL="1600200" indent="-228600">
              <a:spcBef>
                <a:spcPct val="30000"/>
              </a:spcBef>
              <a:defRPr kumimoji="1" sz="1200">
                <a:solidFill>
                  <a:schemeClr val="tx1"/>
                </a:solidFill>
                <a:latin typeface="Times New Roman" pitchFamily="18" charset="0"/>
                <a:ea typeface="宋体" pitchFamily="2" charset="-122"/>
              </a:defRPr>
            </a:lvl4pPr>
            <a:lvl5pPr marL="2057400" indent="-228600">
              <a:spcBef>
                <a:spcPct val="30000"/>
              </a:spcBef>
              <a:defRPr kumimoji="1" sz="1200">
                <a:solidFill>
                  <a:schemeClr val="tx1"/>
                </a:solidFill>
                <a:latin typeface="Times New Roman" pitchFamily="18" charset="0"/>
                <a:ea typeface="宋体" pitchFamily="2" charset="-122"/>
              </a:defRPr>
            </a:lvl5pPr>
            <a:lvl6pPr marL="25146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6pPr>
            <a:lvl7pPr marL="29718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7pPr>
            <a:lvl8pPr marL="34290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8pPr>
            <a:lvl9pPr marL="3886200" indent="-228600" eaLnBrk="0" fontAlgn="base" hangingPunct="0">
              <a:spcBef>
                <a:spcPct val="30000"/>
              </a:spcBef>
              <a:spcAft>
                <a:spcPct val="0"/>
              </a:spcAft>
              <a:defRPr kumimoji="1" sz="1200">
                <a:solidFill>
                  <a:schemeClr val="tx1"/>
                </a:solidFill>
                <a:latin typeface="Times New Roman" pitchFamily="18" charset="0"/>
                <a:ea typeface="宋体" pitchFamily="2" charset="-122"/>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AE9A2622-3214-4071-B451-9E0480946490}" type="slidenum">
              <a:rPr kumimoji="1" lang="en-US" altLang="zh-CN" sz="1200" b="0" i="0" u="none" strike="noStrike" kern="1200" cap="none" spc="0" normalizeH="0" baseline="0" noProof="0" smtClean="0">
                <a:ln>
                  <a:noFill/>
                </a:ln>
                <a:solidFill>
                  <a:prstClr val="black"/>
                </a:solidFill>
                <a:effectLst/>
                <a:uLnTx/>
                <a:uFillTx/>
                <a:latin typeface="Times New Roman" pitchFamily="18" charset="0"/>
                <a:ea typeface="宋体" pitchFamily="2" charset="-122"/>
                <a:cs typeface="+mn-cs"/>
              </a:rPr>
              <a:pPr marL="0" marR="0" lvl="0" indent="0" algn="r" defTabSz="914400" rtl="0" eaLnBrk="1" fontAlgn="auto" latinLnBrk="0" hangingPunct="1">
                <a:lnSpc>
                  <a:spcPct val="100000"/>
                </a:lnSpc>
                <a:spcBef>
                  <a:spcPct val="0"/>
                </a:spcBef>
                <a:spcAft>
                  <a:spcPts val="0"/>
                </a:spcAft>
                <a:buClrTx/>
                <a:buSzTx/>
                <a:buFontTx/>
                <a:buNone/>
                <a:tabLst/>
                <a:defRPr/>
              </a:pPr>
              <a:t>17</a:t>
            </a:fld>
            <a:endParaRPr kumimoji="1" lang="en-US" altLang="zh-CN" sz="1200" b="0" i="0" u="none" strike="noStrike" kern="1200" cap="none" spc="0" normalizeH="0" baseline="0" noProof="0">
              <a:ln>
                <a:noFill/>
              </a:ln>
              <a:solidFill>
                <a:prstClr val="black"/>
              </a:solidFill>
              <a:effectLst/>
              <a:uLnTx/>
              <a:uFillTx/>
              <a:latin typeface="Times New Roman" pitchFamily="18" charset="0"/>
              <a:ea typeface="宋体" pitchFamily="2" charset="-122"/>
              <a:cs typeface="+mn-cs"/>
            </a:endParaRPr>
          </a:p>
        </p:txBody>
      </p:sp>
      <p:sp>
        <p:nvSpPr>
          <p:cNvPr id="328707" name="Rectangle 2"/>
          <p:cNvSpPr>
            <a:spLocks noGrp="1" noRot="1" noChangeAspect="1" noChangeArrowheads="1" noTextEdit="1"/>
          </p:cNvSpPr>
          <p:nvPr>
            <p:ph type="sldImg"/>
          </p:nvPr>
        </p:nvSpPr>
        <p:spPr>
          <a:ln/>
        </p:spPr>
      </p:sp>
      <p:sp>
        <p:nvSpPr>
          <p:cNvPr id="328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99E8391-A7AA-438B-8953-8185EA502C58}" type="slidenum">
              <a:rPr lang="zh-CN" altLang="en-US" smtClean="0"/>
              <a:t>18</a:t>
            </a:fld>
            <a:endParaRPr lang="zh-CN" altLang="en-US"/>
          </a:p>
        </p:txBody>
      </p:sp>
    </p:spTree>
    <p:extLst>
      <p:ext uri="{BB962C8B-B14F-4D97-AF65-F5344CB8AC3E}">
        <p14:creationId xmlns:p14="http://schemas.microsoft.com/office/powerpoint/2010/main" val="16041411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99E8391-A7AA-438B-8953-8185EA502C58}" type="slidenum">
              <a:rPr lang="zh-CN" altLang="en-US" smtClean="0"/>
              <a:t>19</a:t>
            </a:fld>
            <a:endParaRPr lang="zh-CN" altLang="en-US"/>
          </a:p>
        </p:txBody>
      </p:sp>
    </p:spTree>
    <p:extLst>
      <p:ext uri="{BB962C8B-B14F-4D97-AF65-F5344CB8AC3E}">
        <p14:creationId xmlns:p14="http://schemas.microsoft.com/office/powerpoint/2010/main" val="6531763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0" name="直角三角形 9"/>
          <p:cNvSpPr/>
          <p:nvPr/>
        </p:nvSpPr>
        <p:spPr>
          <a:xfrm>
            <a:off x="-2" y="3498110"/>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标题 8"/>
          <p:cNvSpPr>
            <a:spLocks noGrp="1"/>
          </p:cNvSpPr>
          <p:nvPr>
            <p:ph type="ctrTitle"/>
          </p:nvPr>
        </p:nvSpPr>
        <p:spPr>
          <a:xfrm>
            <a:off x="685800" y="1314451"/>
            <a:ext cx="7772400" cy="137232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zh-CN" altLang="en-US"/>
              <a:t>单击此处编辑母版标题样式</a:t>
            </a:r>
            <a:endParaRPr kumimoji="0" lang="en-US" dirty="0"/>
          </a:p>
        </p:txBody>
      </p:sp>
      <p:sp>
        <p:nvSpPr>
          <p:cNvPr id="17" name="副标题 16"/>
          <p:cNvSpPr>
            <a:spLocks noGrp="1"/>
          </p:cNvSpPr>
          <p:nvPr>
            <p:ph type="subTitle" idx="1"/>
          </p:nvPr>
        </p:nvSpPr>
        <p:spPr>
          <a:xfrm>
            <a:off x="685800" y="2708705"/>
            <a:ext cx="7772400" cy="899778"/>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zh-CN" altLang="en-US"/>
              <a:t>单击此处编辑母版副标题样式</a:t>
            </a:r>
            <a:endParaRPr kumimoji="0" lang="en-US"/>
          </a:p>
        </p:txBody>
      </p:sp>
      <p:grpSp>
        <p:nvGrpSpPr>
          <p:cNvPr id="2" name="组合 1"/>
          <p:cNvGrpSpPr/>
          <p:nvPr/>
        </p:nvGrpSpPr>
        <p:grpSpPr>
          <a:xfrm>
            <a:off x="-3765" y="3714750"/>
            <a:ext cx="9147765" cy="1434066"/>
            <a:chOff x="-3765" y="4832896"/>
            <a:chExt cx="9147765" cy="2032192"/>
          </a:xfrm>
        </p:grpSpPr>
        <p:sp>
          <p:nvSpPr>
            <p:cNvPr id="7" name="任意多边形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任意多边形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任意多边形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直接连接符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日期占位符 29"/>
          <p:cNvSpPr>
            <a:spLocks noGrp="1"/>
          </p:cNvSpPr>
          <p:nvPr>
            <p:ph type="dt" sz="half" idx="10"/>
          </p:nvPr>
        </p:nvSpPr>
        <p:spPr/>
        <p:txBody>
          <a:bodyPr/>
          <a:lstStyle>
            <a:lvl1pPr>
              <a:defRPr>
                <a:solidFill>
                  <a:srgbClr val="FFFFFF"/>
                </a:solidFill>
              </a:defRPr>
            </a:lvl1pPr>
            <a:extLst/>
          </a:lstStyle>
          <a:p>
            <a:fld id="{222983CD-40B6-4A0F-A754-6514ADAC0847}" type="datetimeFigureOut">
              <a:rPr lang="zh-CN" altLang="en-US" smtClean="0"/>
              <a:t>2026/3/30</a:t>
            </a:fld>
            <a:endParaRPr lang="zh-CN" altLang="en-US"/>
          </a:p>
        </p:txBody>
      </p:sp>
      <p:sp>
        <p:nvSpPr>
          <p:cNvPr id="19" name="页脚占位符 18"/>
          <p:cNvSpPr>
            <a:spLocks noGrp="1"/>
          </p:cNvSpPr>
          <p:nvPr>
            <p:ph type="ftr" sz="quarter" idx="11"/>
          </p:nvPr>
        </p:nvSpPr>
        <p:spPr/>
        <p:txBody>
          <a:bodyPr/>
          <a:lstStyle>
            <a:lvl1pPr>
              <a:defRPr>
                <a:solidFill>
                  <a:schemeClr val="accent1">
                    <a:tint val="20000"/>
                  </a:schemeClr>
                </a:solidFill>
              </a:defRPr>
            </a:lvl1pPr>
            <a:extLst/>
          </a:lstStyle>
          <a:p>
            <a:endParaRPr lang="zh-CN" altLang="en-US"/>
          </a:p>
        </p:txBody>
      </p:sp>
      <p:sp>
        <p:nvSpPr>
          <p:cNvPr id="27" name="灯片编号占位符 26"/>
          <p:cNvSpPr>
            <a:spLocks noGrp="1"/>
          </p:cNvSpPr>
          <p:nvPr>
            <p:ph type="sldNum" sz="quarter" idx="12"/>
          </p:nvPr>
        </p:nvSpPr>
        <p:spPr/>
        <p:txBody>
          <a:bodyPr/>
          <a:lstStyle>
            <a:lvl1pPr>
              <a:defRPr>
                <a:solidFill>
                  <a:srgbClr val="FFFFFF"/>
                </a:solidFill>
              </a:defRPr>
            </a:lvl1pPr>
            <a:extLst/>
          </a:lstStyle>
          <a:p>
            <a:fld id="{48ABA68F-732D-4838-AEEE-E87A7C2BC0FD}"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lvl1pPr>
              <a:defRPr sz="2400">
                <a:latin typeface="宋体" panose="02010600030101010101" pitchFamily="2" charset="-122"/>
                <a:ea typeface="宋体" panose="02010600030101010101" pitchFamily="2" charset="-122"/>
              </a:defRPr>
            </a:lvl1pPr>
            <a:lvl2pPr>
              <a:defRPr sz="2200">
                <a:latin typeface="宋体" panose="02010600030101010101" pitchFamily="2" charset="-122"/>
                <a:ea typeface="宋体" panose="02010600030101010101" pitchFamily="2" charset="-122"/>
              </a:defRPr>
            </a:lvl2pPr>
            <a:lvl3pPr>
              <a:defRPr sz="2000">
                <a:latin typeface="宋体" panose="02010600030101010101" pitchFamily="2" charset="-122"/>
                <a:ea typeface="宋体" panose="02010600030101010101" pitchFamily="2" charset="-122"/>
              </a:defRPr>
            </a:lvl3pPr>
            <a:lvl4pPr>
              <a:defRPr sz="2000">
                <a:latin typeface="宋体" panose="02010600030101010101" pitchFamily="2" charset="-122"/>
                <a:ea typeface="宋体" panose="02010600030101010101" pitchFamily="2" charset="-122"/>
              </a:defRPr>
            </a:lvl4pPr>
            <a:lvl5pPr>
              <a:defRPr sz="2000">
                <a:latin typeface="宋体" panose="02010600030101010101" pitchFamily="2" charset="-122"/>
                <a:ea typeface="宋体" panose="02010600030101010101" pitchFamily="2" charset="-122"/>
              </a:defRPr>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dirty="0"/>
          </a:p>
        </p:txBody>
      </p:sp>
      <p:sp>
        <p:nvSpPr>
          <p:cNvPr id="4" name="日期占位符 3"/>
          <p:cNvSpPr>
            <a:spLocks noGrp="1"/>
          </p:cNvSpPr>
          <p:nvPr>
            <p:ph type="dt" sz="half" idx="10"/>
          </p:nvPr>
        </p:nvSpPr>
        <p:spPr/>
        <p:txBody>
          <a:bodyPr/>
          <a:lstStyle/>
          <a:p>
            <a:fld id="{222983CD-40B6-4A0F-A754-6514ADAC0847}" type="datetimeFigureOut">
              <a:rPr lang="zh-CN" altLang="en-US" smtClean="0"/>
              <a:t>2026/3/30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8ABA68F-732D-4838-AEEE-E87A7C2BC0FD}" type="slidenum">
              <a:rPr lang="zh-CN" altLang="en-US" smtClean="0"/>
              <a:t>‹#›</a:t>
            </a:fld>
            <a:endParaRPr lang="zh-CN" altLang="en-US"/>
          </a:p>
        </p:txBody>
      </p:sp>
      <p:sp>
        <p:nvSpPr>
          <p:cNvPr id="7" name="标题 6"/>
          <p:cNvSpPr>
            <a:spLocks noGrp="1"/>
          </p:cNvSpPr>
          <p:nvPr>
            <p:ph type="title"/>
          </p:nvPr>
        </p:nvSpPr>
        <p:spPr>
          <a:xfrm>
            <a:off x="107504" y="123478"/>
            <a:ext cx="8229600" cy="576064"/>
          </a:xfrm>
        </p:spPr>
        <p:txBody>
          <a:bodyPr rtlCol="0">
            <a:normAutofit/>
          </a:bodyPr>
          <a:lstStyle>
            <a:lvl1pPr>
              <a:defRPr sz="3600">
                <a:latin typeface="隶书" panose="02010509060101010101" pitchFamily="49" charset="-122"/>
                <a:ea typeface="隶书" panose="02010509060101010101" pitchFamily="49" charset="-122"/>
              </a:defRPr>
            </a:lvl1pPr>
            <a:extLst/>
          </a:lstStyle>
          <a:p>
            <a:r>
              <a:rPr kumimoji="0" lang="zh-CN" altLang="en-US"/>
              <a:t>单击此处编辑母版标题样式</a:t>
            </a:r>
            <a:endParaRPr kumimoji="0"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woTxTwoObj" preserve="1">
  <p:cSld name="比较">
    <p:bg>
      <p:bgRef idx="1003">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8"/>
            <a:ext cx="8229600" cy="857250"/>
          </a:xfrm>
        </p:spPr>
        <p:txBody>
          <a:bodyPr anchor="ctr">
            <a:normAutofit/>
          </a:bodyPr>
          <a:lstStyle>
            <a:lvl1pPr>
              <a:defRPr sz="3600"/>
            </a:lvl1pPr>
            <a:extLst/>
          </a:lstStyle>
          <a:p>
            <a:r>
              <a:rPr kumimoji="0" lang="zh-CN" altLang="en-US"/>
              <a:t>单击此处编辑母版标题样式</a:t>
            </a:r>
            <a:endParaRPr kumimoji="0" lang="en-US" dirty="0"/>
          </a:p>
        </p:txBody>
      </p:sp>
      <p:sp>
        <p:nvSpPr>
          <p:cNvPr id="3" name="文本占位符 2"/>
          <p:cNvSpPr>
            <a:spLocks noGrp="1"/>
          </p:cNvSpPr>
          <p:nvPr>
            <p:ph type="body" idx="1"/>
          </p:nvPr>
        </p:nvSpPr>
        <p:spPr>
          <a:xfrm>
            <a:off x="457200" y="4057650"/>
            <a:ext cx="4040188" cy="5715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zh-CN" altLang="en-US"/>
              <a:t>单击此处编辑母版文本样式</a:t>
            </a:r>
          </a:p>
        </p:txBody>
      </p:sp>
      <p:sp>
        <p:nvSpPr>
          <p:cNvPr id="4" name="文本占位符 3"/>
          <p:cNvSpPr>
            <a:spLocks noGrp="1"/>
          </p:cNvSpPr>
          <p:nvPr>
            <p:ph type="body" sz="half" idx="3"/>
          </p:nvPr>
        </p:nvSpPr>
        <p:spPr>
          <a:xfrm>
            <a:off x="4645027" y="4057650"/>
            <a:ext cx="4041775" cy="5715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zh-CN" altLang="en-US"/>
              <a:t>单击此处编辑母版文本样式</a:t>
            </a:r>
          </a:p>
        </p:txBody>
      </p:sp>
      <p:sp>
        <p:nvSpPr>
          <p:cNvPr id="5" name="内容占位符 4"/>
          <p:cNvSpPr>
            <a:spLocks noGrp="1"/>
          </p:cNvSpPr>
          <p:nvPr>
            <p:ph sz="quarter" idx="2"/>
          </p:nvPr>
        </p:nvSpPr>
        <p:spPr>
          <a:xfrm>
            <a:off x="457200" y="1083221"/>
            <a:ext cx="4040188" cy="2956322"/>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dirty="0"/>
          </a:p>
        </p:txBody>
      </p:sp>
      <p:sp>
        <p:nvSpPr>
          <p:cNvPr id="6" name="内容占位符 5"/>
          <p:cNvSpPr>
            <a:spLocks noGrp="1"/>
          </p:cNvSpPr>
          <p:nvPr>
            <p:ph sz="quarter" idx="4"/>
          </p:nvPr>
        </p:nvSpPr>
        <p:spPr>
          <a:xfrm>
            <a:off x="4645026" y="1083221"/>
            <a:ext cx="4041775" cy="2956322"/>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dirty="0"/>
          </a:p>
        </p:txBody>
      </p:sp>
      <p:sp>
        <p:nvSpPr>
          <p:cNvPr id="7" name="日期占位符 6"/>
          <p:cNvSpPr>
            <a:spLocks noGrp="1"/>
          </p:cNvSpPr>
          <p:nvPr>
            <p:ph type="dt" sz="half" idx="10"/>
          </p:nvPr>
        </p:nvSpPr>
        <p:spPr/>
        <p:txBody>
          <a:bodyPr/>
          <a:lstStyle/>
          <a:p>
            <a:fld id="{222983CD-40B6-4A0F-A754-6514ADAC0847}" type="datetimeFigureOut">
              <a:rPr lang="zh-CN" altLang="en-US" smtClean="0"/>
              <a:t>2026/3/30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8ABA68F-732D-4838-AEEE-E87A7C2BC0FD}" type="slidenum">
              <a:rPr lang="zh-CN" altLang="en-US" smtClean="0"/>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4DF1A886-A641-4BE9-83AE-C57D3729B2CF}" type="slidenum">
              <a:rPr lang="en-US" altLang="zh-CN"/>
              <a:pPr>
                <a:defRPr/>
              </a:pPr>
              <a:t>‹#›</a:t>
            </a:fld>
            <a:endParaRPr lang="en-US" altLang="zh-CN"/>
          </a:p>
        </p:txBody>
      </p:sp>
    </p:spTree>
    <p:extLst>
      <p:ext uri="{BB962C8B-B14F-4D97-AF65-F5344CB8AC3E}">
        <p14:creationId xmlns:p14="http://schemas.microsoft.com/office/powerpoint/2010/main" val="1564843124"/>
      </p:ext>
    </p:extLst>
  </p:cSld>
  <p:clrMapOvr>
    <a:masterClrMapping/>
  </p:clrMapOvr>
  <p:transition spd="med">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0" name="直角三角形 9"/>
          <p:cNvSpPr/>
          <p:nvPr/>
        </p:nvSpPr>
        <p:spPr>
          <a:xfrm>
            <a:off x="-2" y="3498110"/>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标题 8"/>
          <p:cNvSpPr>
            <a:spLocks noGrp="1"/>
          </p:cNvSpPr>
          <p:nvPr>
            <p:ph type="ctrTitle"/>
          </p:nvPr>
        </p:nvSpPr>
        <p:spPr>
          <a:xfrm>
            <a:off x="685800" y="1314451"/>
            <a:ext cx="7772400" cy="137232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zh-CN" altLang="en-US"/>
              <a:t>单击此处编辑母版标题样式</a:t>
            </a:r>
            <a:endParaRPr kumimoji="0" lang="en-US"/>
          </a:p>
        </p:txBody>
      </p:sp>
      <p:sp>
        <p:nvSpPr>
          <p:cNvPr id="17" name="副标题 16"/>
          <p:cNvSpPr>
            <a:spLocks noGrp="1"/>
          </p:cNvSpPr>
          <p:nvPr>
            <p:ph type="subTitle" idx="1"/>
          </p:nvPr>
        </p:nvSpPr>
        <p:spPr>
          <a:xfrm>
            <a:off x="685800" y="2708705"/>
            <a:ext cx="7772400" cy="899778"/>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zh-CN" altLang="en-US"/>
              <a:t>单击此处编辑母版副标题样式</a:t>
            </a:r>
            <a:endParaRPr kumimoji="0" lang="en-US"/>
          </a:p>
        </p:txBody>
      </p:sp>
      <p:grpSp>
        <p:nvGrpSpPr>
          <p:cNvPr id="2" name="组合 1"/>
          <p:cNvGrpSpPr/>
          <p:nvPr/>
        </p:nvGrpSpPr>
        <p:grpSpPr>
          <a:xfrm>
            <a:off x="-3765" y="3714750"/>
            <a:ext cx="9147765" cy="1434066"/>
            <a:chOff x="-3765" y="4832896"/>
            <a:chExt cx="9147765" cy="2032192"/>
          </a:xfrm>
        </p:grpSpPr>
        <p:sp>
          <p:nvSpPr>
            <p:cNvPr id="7" name="任意多边形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任意多边形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任意多边形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直接连接符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日期占位符 29"/>
          <p:cNvSpPr>
            <a:spLocks noGrp="1"/>
          </p:cNvSpPr>
          <p:nvPr>
            <p:ph type="dt" sz="half" idx="10"/>
          </p:nvPr>
        </p:nvSpPr>
        <p:spPr/>
        <p:txBody>
          <a:bodyPr/>
          <a:lstStyle>
            <a:lvl1pPr>
              <a:defRPr>
                <a:solidFill>
                  <a:srgbClr val="FFFFFF"/>
                </a:solidFill>
              </a:defRPr>
            </a:lvl1pPr>
            <a:extLst/>
          </a:lstStyle>
          <a:p>
            <a:fld id="{222983CD-40B6-4A0F-A754-6514ADAC0847}" type="datetimeFigureOut">
              <a:rPr lang="zh-CN" altLang="en-US" smtClean="0"/>
              <a:t>2026/3/30</a:t>
            </a:fld>
            <a:endParaRPr lang="zh-CN" altLang="en-US"/>
          </a:p>
        </p:txBody>
      </p:sp>
      <p:sp>
        <p:nvSpPr>
          <p:cNvPr id="19" name="页脚占位符 18"/>
          <p:cNvSpPr>
            <a:spLocks noGrp="1"/>
          </p:cNvSpPr>
          <p:nvPr>
            <p:ph type="ftr" sz="quarter" idx="11"/>
          </p:nvPr>
        </p:nvSpPr>
        <p:spPr/>
        <p:txBody>
          <a:bodyPr/>
          <a:lstStyle>
            <a:lvl1pPr>
              <a:defRPr>
                <a:solidFill>
                  <a:schemeClr val="accent1">
                    <a:tint val="20000"/>
                  </a:schemeClr>
                </a:solidFill>
              </a:defRPr>
            </a:lvl1pPr>
            <a:extLst/>
          </a:lstStyle>
          <a:p>
            <a:endParaRPr lang="zh-CN" altLang="en-US"/>
          </a:p>
        </p:txBody>
      </p:sp>
      <p:sp>
        <p:nvSpPr>
          <p:cNvPr id="27" name="灯片编号占位符 26"/>
          <p:cNvSpPr>
            <a:spLocks noGrp="1"/>
          </p:cNvSpPr>
          <p:nvPr>
            <p:ph type="sldNum" sz="quarter" idx="12"/>
          </p:nvPr>
        </p:nvSpPr>
        <p:spPr/>
        <p:txBody>
          <a:bodyPr/>
          <a:lstStyle>
            <a:lvl1pPr>
              <a:defRPr>
                <a:solidFill>
                  <a:srgbClr val="FFFFFF"/>
                </a:solidFill>
              </a:defRPr>
            </a:lvl1pPr>
            <a:extLst/>
          </a:lstStyle>
          <a:p>
            <a:fld id="{48ABA68F-732D-4838-AEEE-E87A7C2BC0FD}" type="slidenum">
              <a:rPr lang="zh-CN" altLang="en-US" smtClean="0"/>
              <a:t>‹#›</a:t>
            </a:fld>
            <a:endParaRPr lang="zh-CN" altLang="en-US"/>
          </a:p>
        </p:txBody>
      </p:sp>
    </p:spTree>
    <p:extLst>
      <p:ext uri="{BB962C8B-B14F-4D97-AF65-F5344CB8AC3E}">
        <p14:creationId xmlns:p14="http://schemas.microsoft.com/office/powerpoint/2010/main" val="20076414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222983CD-40B6-4A0F-A754-6514ADAC0847}" type="datetimeFigureOut">
              <a:rPr lang="zh-CN" altLang="en-US" smtClean="0"/>
              <a:t>2026/3/30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8ABA68F-732D-4838-AEEE-E87A7C2BC0FD}" type="slidenum">
              <a:rPr lang="zh-CN" altLang="en-US" smtClean="0"/>
              <a:t>‹#›</a:t>
            </a:fld>
            <a:endParaRPr lang="zh-CN" altLang="en-US"/>
          </a:p>
        </p:txBody>
      </p:sp>
      <p:sp>
        <p:nvSpPr>
          <p:cNvPr id="7" name="标题 6"/>
          <p:cNvSpPr>
            <a:spLocks noGrp="1"/>
          </p:cNvSpPr>
          <p:nvPr>
            <p:ph type="title"/>
          </p:nvPr>
        </p:nvSpPr>
        <p:spPr/>
        <p:txBody>
          <a:bodyPr rtlCol="0"/>
          <a:lstStyle/>
          <a:p>
            <a:r>
              <a:rPr kumimoji="0" lang="zh-CN" altLang="en-US"/>
              <a:t>单击此处编辑母版标题样式</a:t>
            </a:r>
            <a:endParaRPr kumimoji="0" lang="en-US"/>
          </a:p>
        </p:txBody>
      </p:sp>
    </p:spTree>
    <p:extLst>
      <p:ext uri="{BB962C8B-B14F-4D97-AF65-F5344CB8AC3E}">
        <p14:creationId xmlns:p14="http://schemas.microsoft.com/office/powerpoint/2010/main" val="15814662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节标题">
    <p:bg>
      <p:bgRef idx="1002">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722376" y="794784"/>
            <a:ext cx="7772400" cy="13716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zh-CN" altLang="en-US"/>
              <a:t>单击此处编辑母版标题样式</a:t>
            </a:r>
            <a:endParaRPr kumimoji="0" lang="en-US"/>
          </a:p>
        </p:txBody>
      </p:sp>
      <p:sp>
        <p:nvSpPr>
          <p:cNvPr id="3" name="文本占位符 2"/>
          <p:cNvSpPr>
            <a:spLocks noGrp="1"/>
          </p:cNvSpPr>
          <p:nvPr>
            <p:ph type="body" idx="1"/>
          </p:nvPr>
        </p:nvSpPr>
        <p:spPr>
          <a:xfrm>
            <a:off x="3922713" y="2198784"/>
            <a:ext cx="4572000" cy="1091166"/>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zh-CN" altLang="en-US"/>
              <a:t>单击此处编辑母版文本样式</a:t>
            </a:r>
          </a:p>
        </p:txBody>
      </p:sp>
      <p:sp>
        <p:nvSpPr>
          <p:cNvPr id="4" name="日期占位符 3"/>
          <p:cNvSpPr>
            <a:spLocks noGrp="1"/>
          </p:cNvSpPr>
          <p:nvPr>
            <p:ph type="dt" sz="half" idx="10"/>
          </p:nvPr>
        </p:nvSpPr>
        <p:spPr/>
        <p:txBody>
          <a:bodyPr/>
          <a:lstStyle/>
          <a:p>
            <a:fld id="{222983CD-40B6-4A0F-A754-6514ADAC0847}" type="datetimeFigureOut">
              <a:rPr lang="zh-CN" altLang="en-US" smtClean="0"/>
              <a:t>2026/3/30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8ABA68F-732D-4838-AEEE-E87A7C2BC0FD}" type="slidenum">
              <a:rPr lang="zh-CN" altLang="en-US" smtClean="0"/>
              <a:t>‹#›</a:t>
            </a:fld>
            <a:endParaRPr lang="zh-CN" altLang="en-US"/>
          </a:p>
        </p:txBody>
      </p:sp>
      <p:sp>
        <p:nvSpPr>
          <p:cNvPr id="7" name="燕尾形 6"/>
          <p:cNvSpPr/>
          <p:nvPr/>
        </p:nvSpPr>
        <p:spPr>
          <a:xfrm>
            <a:off x="3636680" y="2254104"/>
            <a:ext cx="182880" cy="17145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燕尾形 7"/>
          <p:cNvSpPr/>
          <p:nvPr/>
        </p:nvSpPr>
        <p:spPr>
          <a:xfrm>
            <a:off x="3450264" y="2254104"/>
            <a:ext cx="182880" cy="17145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extLst>
      <p:ext uri="{BB962C8B-B14F-4D97-AF65-F5344CB8AC3E}">
        <p14:creationId xmlns:p14="http://schemas.microsoft.com/office/powerpoint/2010/main" val="62474617"/>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两栏内容">
    <p:bg>
      <p:bgRef idx="1002">
        <a:schemeClr val="bg1"/>
      </p:bgRef>
    </p:bg>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110997"/>
            <a:ext cx="4038600" cy="3394472"/>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内容占位符 3"/>
          <p:cNvSpPr>
            <a:spLocks noGrp="1"/>
          </p:cNvSpPr>
          <p:nvPr>
            <p:ph sz="half" idx="2"/>
          </p:nvPr>
        </p:nvSpPr>
        <p:spPr>
          <a:xfrm>
            <a:off x="4648200" y="1110997"/>
            <a:ext cx="4038600" cy="3394472"/>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222983CD-40B6-4A0F-A754-6514ADAC0847}" type="datetimeFigureOut">
              <a:rPr lang="zh-CN" altLang="en-US" smtClean="0"/>
              <a:t>2026/3/30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8ABA68F-732D-4838-AEEE-E87A7C2BC0FD}" type="slidenum">
              <a:rPr lang="zh-CN" altLang="en-US" smtClean="0"/>
              <a:t>‹#›</a:t>
            </a:fld>
            <a:endParaRPr lang="zh-CN" altLang="en-US"/>
          </a:p>
        </p:txBody>
      </p:sp>
      <p:sp>
        <p:nvSpPr>
          <p:cNvPr id="8" name="标题 7"/>
          <p:cNvSpPr>
            <a:spLocks noGrp="1"/>
          </p:cNvSpPr>
          <p:nvPr>
            <p:ph type="title"/>
          </p:nvPr>
        </p:nvSpPr>
        <p:spPr/>
        <p:txBody>
          <a:bodyPr rtlCol="0"/>
          <a:lstStyle/>
          <a:p>
            <a:r>
              <a:rPr kumimoji="0" lang="zh-CN" altLang="en-US"/>
              <a:t>单击此处编辑母版标题样式</a:t>
            </a:r>
            <a:endParaRPr kumimoji="0" lang="en-US"/>
          </a:p>
        </p:txBody>
      </p:sp>
    </p:spTree>
    <p:extLst>
      <p:ext uri="{BB962C8B-B14F-4D97-AF65-F5344CB8AC3E}">
        <p14:creationId xmlns:p14="http://schemas.microsoft.com/office/powerpoint/2010/main" val="3006667861"/>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woTxTwoObj" preserve="1">
  <p:cSld name="比较">
    <p:bg>
      <p:bgRef idx="1003">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8"/>
            <a:ext cx="8229600" cy="857250"/>
          </a:xfrm>
        </p:spPr>
        <p:txBody>
          <a:bodyPr anchor="ctr"/>
          <a:lstStyle>
            <a:lvl1pPr>
              <a:defRPr/>
            </a:lvl1pPr>
            <a:extLst/>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4057650"/>
            <a:ext cx="4040188" cy="5715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zh-CN" altLang="en-US"/>
              <a:t>单击此处编辑母版文本样式</a:t>
            </a:r>
          </a:p>
        </p:txBody>
      </p:sp>
      <p:sp>
        <p:nvSpPr>
          <p:cNvPr id="4" name="文本占位符 3"/>
          <p:cNvSpPr>
            <a:spLocks noGrp="1"/>
          </p:cNvSpPr>
          <p:nvPr>
            <p:ph type="body" sz="half" idx="3"/>
          </p:nvPr>
        </p:nvSpPr>
        <p:spPr>
          <a:xfrm>
            <a:off x="4645027" y="4057650"/>
            <a:ext cx="4041775" cy="5715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zh-CN" altLang="en-US"/>
              <a:t>单击此处编辑母版文本样式</a:t>
            </a:r>
          </a:p>
        </p:txBody>
      </p:sp>
      <p:sp>
        <p:nvSpPr>
          <p:cNvPr id="5" name="内容占位符 4"/>
          <p:cNvSpPr>
            <a:spLocks noGrp="1"/>
          </p:cNvSpPr>
          <p:nvPr>
            <p:ph sz="quarter" idx="2"/>
          </p:nvPr>
        </p:nvSpPr>
        <p:spPr>
          <a:xfrm>
            <a:off x="457200" y="1083221"/>
            <a:ext cx="4040188" cy="2956322"/>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6" name="内容占位符 5"/>
          <p:cNvSpPr>
            <a:spLocks noGrp="1"/>
          </p:cNvSpPr>
          <p:nvPr>
            <p:ph sz="quarter" idx="4"/>
          </p:nvPr>
        </p:nvSpPr>
        <p:spPr>
          <a:xfrm>
            <a:off x="4645026" y="1083221"/>
            <a:ext cx="4041775" cy="2956322"/>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7" name="日期占位符 6"/>
          <p:cNvSpPr>
            <a:spLocks noGrp="1"/>
          </p:cNvSpPr>
          <p:nvPr>
            <p:ph type="dt" sz="half" idx="10"/>
          </p:nvPr>
        </p:nvSpPr>
        <p:spPr/>
        <p:txBody>
          <a:bodyPr/>
          <a:lstStyle/>
          <a:p>
            <a:fld id="{222983CD-40B6-4A0F-A754-6514ADAC0847}" type="datetimeFigureOut">
              <a:rPr lang="zh-CN" altLang="en-US" smtClean="0"/>
              <a:t>2026/3/30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8ABA68F-732D-4838-AEEE-E87A7C2BC0FD}" type="slidenum">
              <a:rPr lang="zh-CN" altLang="en-US" smtClean="0"/>
              <a:t>‹#›</a:t>
            </a:fld>
            <a:endParaRPr lang="zh-CN" altLang="en-US"/>
          </a:p>
        </p:txBody>
      </p:sp>
    </p:spTree>
    <p:extLst>
      <p:ext uri="{BB962C8B-B14F-4D97-AF65-F5344CB8AC3E}">
        <p14:creationId xmlns:p14="http://schemas.microsoft.com/office/powerpoint/2010/main" val="658520582"/>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仅标题">
    <p:bg>
      <p:bgRef idx="1002">
        <a:schemeClr val="bg1"/>
      </p:bgRef>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222983CD-40B6-4A0F-A754-6514ADAC0847}" type="datetimeFigureOut">
              <a:rPr lang="zh-CN" altLang="en-US" smtClean="0"/>
              <a:t>2026/3/30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8ABA68F-732D-4838-AEEE-E87A7C2BC0FD}" type="slidenum">
              <a:rPr lang="zh-CN" altLang="en-US" smtClean="0"/>
              <a:t>‹#›</a:t>
            </a:fld>
            <a:endParaRPr lang="zh-CN" altLang="en-US"/>
          </a:p>
        </p:txBody>
      </p:sp>
      <p:sp>
        <p:nvSpPr>
          <p:cNvPr id="6" name="标题 5"/>
          <p:cNvSpPr>
            <a:spLocks noGrp="1"/>
          </p:cNvSpPr>
          <p:nvPr>
            <p:ph type="title"/>
          </p:nvPr>
        </p:nvSpPr>
        <p:spPr/>
        <p:txBody>
          <a:bodyPr rtlCol="0"/>
          <a:lstStyle/>
          <a:p>
            <a:r>
              <a:rPr kumimoji="0" lang="zh-CN" altLang="en-US"/>
              <a:t>单击此处编辑母版标题样式</a:t>
            </a:r>
            <a:endParaRPr kumimoji="0" lang="en-US"/>
          </a:p>
        </p:txBody>
      </p:sp>
    </p:spTree>
    <p:extLst>
      <p:ext uri="{BB962C8B-B14F-4D97-AF65-F5344CB8AC3E}">
        <p14:creationId xmlns:p14="http://schemas.microsoft.com/office/powerpoint/2010/main" val="2275793510"/>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22983CD-40B6-4A0F-A754-6514ADAC0847}" type="datetimeFigureOut">
              <a:rPr lang="zh-CN" altLang="en-US" smtClean="0"/>
              <a:t>2026/3/30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8ABA68F-732D-4838-AEEE-E87A7C2BC0FD}" type="slidenum">
              <a:rPr lang="zh-CN" altLang="en-US" smtClean="0"/>
              <a:t>‹#›</a:t>
            </a:fld>
            <a:endParaRPr lang="zh-CN" altLang="en-US"/>
          </a:p>
        </p:txBody>
      </p:sp>
    </p:spTree>
    <p:extLst>
      <p:ext uri="{BB962C8B-B14F-4D97-AF65-F5344CB8AC3E}">
        <p14:creationId xmlns:p14="http://schemas.microsoft.com/office/powerpoint/2010/main" val="14992700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Tx" preserve="1">
  <p:cSld name="内容与标题">
    <p:bg>
      <p:bgRef idx="1003">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914400" y="3657600"/>
            <a:ext cx="7481776" cy="3429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zh-CN" altLang="en-US"/>
              <a:t>单击此处编辑母版标题样式</a:t>
            </a:r>
            <a:endParaRPr kumimoji="0" lang="en-US"/>
          </a:p>
        </p:txBody>
      </p:sp>
      <p:sp>
        <p:nvSpPr>
          <p:cNvPr id="3" name="文本占位符 2"/>
          <p:cNvSpPr>
            <a:spLocks noGrp="1"/>
          </p:cNvSpPr>
          <p:nvPr>
            <p:ph type="body" idx="2"/>
          </p:nvPr>
        </p:nvSpPr>
        <p:spPr>
          <a:xfrm>
            <a:off x="4419600" y="4016327"/>
            <a:ext cx="3974592" cy="6858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zh-CN" altLang="en-US"/>
              <a:t>单击此处编辑母版文本样式</a:t>
            </a:r>
          </a:p>
        </p:txBody>
      </p:sp>
      <p:sp>
        <p:nvSpPr>
          <p:cNvPr id="4" name="内容占位符 3"/>
          <p:cNvSpPr>
            <a:spLocks noGrp="1"/>
          </p:cNvSpPr>
          <p:nvPr>
            <p:ph sz="half" idx="1"/>
          </p:nvPr>
        </p:nvSpPr>
        <p:spPr>
          <a:xfrm>
            <a:off x="914400" y="205740"/>
            <a:ext cx="7479792" cy="3429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a:xfrm>
            <a:off x="6727032" y="4805958"/>
            <a:ext cx="1920240" cy="274320"/>
          </a:xfrm>
        </p:spPr>
        <p:txBody>
          <a:bodyPr/>
          <a:lstStyle/>
          <a:p>
            <a:fld id="{222983CD-40B6-4A0F-A754-6514ADAC0847}" type="datetimeFigureOut">
              <a:rPr lang="zh-CN" altLang="en-US" smtClean="0"/>
              <a:t>2026/3/30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8ABA68F-732D-4838-AEEE-E87A7C2BC0FD}" type="slidenum">
              <a:rPr lang="zh-CN" altLang="en-US" smtClean="0"/>
              <a:t>‹#›</a:t>
            </a:fld>
            <a:endParaRPr lang="zh-CN" altLang="en-US"/>
          </a:p>
        </p:txBody>
      </p:sp>
    </p:spTree>
    <p:extLst>
      <p:ext uri="{BB962C8B-B14F-4D97-AF65-F5344CB8AC3E}">
        <p14:creationId xmlns:p14="http://schemas.microsoft.com/office/powerpoint/2010/main" val="124347225"/>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picTx" preserve="1">
  <p:cSld name="图片与标题">
    <p:bg>
      <p:bgRef idx="1002">
        <a:schemeClr val="bg1"/>
      </p:bgRef>
    </p:bg>
    <p:spTree>
      <p:nvGrpSpPr>
        <p:cNvPr id="1" name=""/>
        <p:cNvGrpSpPr/>
        <p:nvPr/>
      </p:nvGrpSpPr>
      <p:grpSpPr>
        <a:xfrm>
          <a:off x="0" y="0"/>
          <a:ext cx="0" cy="0"/>
          <a:chOff x="0" y="0"/>
          <a:chExt cx="0" cy="0"/>
        </a:xfrm>
      </p:grpSpPr>
      <p:sp>
        <p:nvSpPr>
          <p:cNvPr id="4" name="文本占位符 3"/>
          <p:cNvSpPr>
            <a:spLocks noGrp="1"/>
          </p:cNvSpPr>
          <p:nvPr>
            <p:ph type="body" sz="half" idx="2"/>
          </p:nvPr>
        </p:nvSpPr>
        <p:spPr>
          <a:xfrm>
            <a:off x="1141232" y="4082552"/>
            <a:ext cx="7162800" cy="486174"/>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zh-CN" altLang="en-US"/>
              <a:t>单击此处编辑母版文本样式</a:t>
            </a:r>
          </a:p>
        </p:txBody>
      </p:sp>
      <p:sp>
        <p:nvSpPr>
          <p:cNvPr id="3" name="图片占位符 2"/>
          <p:cNvSpPr>
            <a:spLocks noGrp="1"/>
          </p:cNvSpPr>
          <p:nvPr>
            <p:ph type="pic" idx="1"/>
          </p:nvPr>
        </p:nvSpPr>
        <p:spPr>
          <a:xfrm>
            <a:off x="228600" y="142476"/>
            <a:ext cx="8686800" cy="329184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zh-CN" altLang="en-US"/>
              <a:t>单击图标添加图片</a:t>
            </a:r>
            <a:endParaRPr kumimoji="0" lang="en-US" dirty="0"/>
          </a:p>
        </p:txBody>
      </p:sp>
      <p:sp>
        <p:nvSpPr>
          <p:cNvPr id="5" name="日期占位符 4"/>
          <p:cNvSpPr>
            <a:spLocks noGrp="1"/>
          </p:cNvSpPr>
          <p:nvPr>
            <p:ph type="dt" sz="half" idx="10"/>
          </p:nvPr>
        </p:nvSpPr>
        <p:spPr/>
        <p:txBody>
          <a:bodyPr/>
          <a:lstStyle>
            <a:lvl1pPr>
              <a:defRPr>
                <a:solidFill>
                  <a:schemeClr val="tx1"/>
                </a:solidFill>
              </a:defRPr>
            </a:lvl1pPr>
            <a:extLst/>
          </a:lstStyle>
          <a:p>
            <a:fld id="{222983CD-40B6-4A0F-A754-6514ADAC0847}" type="datetimeFigureOut">
              <a:rPr lang="zh-CN" altLang="en-US" smtClean="0"/>
              <a:t>2026/3/30</a:t>
            </a:fld>
            <a:endParaRPr lang="zh-CN" altLang="en-US"/>
          </a:p>
        </p:txBody>
      </p:sp>
      <p:sp>
        <p:nvSpPr>
          <p:cNvPr id="6" name="页脚占位符 5"/>
          <p:cNvSpPr>
            <a:spLocks noGrp="1"/>
          </p:cNvSpPr>
          <p:nvPr>
            <p:ph type="ftr" sz="quarter" idx="11"/>
          </p:nvPr>
        </p:nvSpPr>
        <p:spPr>
          <a:xfrm>
            <a:off x="4380073" y="4805958"/>
            <a:ext cx="2350681" cy="273844"/>
          </a:xfrm>
        </p:spPr>
        <p:txBody>
          <a:bodyPr/>
          <a:lstStyle>
            <a:lvl1pPr>
              <a:defRPr>
                <a:solidFill>
                  <a:schemeClr val="tx1"/>
                </a:solidFill>
              </a:defRPr>
            </a:lvl1pPr>
            <a:extLst/>
          </a:lstStyle>
          <a:p>
            <a:endParaRPr lang="zh-CN" altLang="en-US"/>
          </a:p>
        </p:txBody>
      </p:sp>
      <p:sp>
        <p:nvSpPr>
          <p:cNvPr id="7" name="灯片编号占位符 6"/>
          <p:cNvSpPr>
            <a:spLocks noGrp="1"/>
          </p:cNvSpPr>
          <p:nvPr>
            <p:ph type="sldNum" sz="quarter" idx="12"/>
          </p:nvPr>
        </p:nvSpPr>
        <p:spPr/>
        <p:txBody>
          <a:bodyPr/>
          <a:lstStyle>
            <a:lvl1pPr>
              <a:defRPr>
                <a:solidFill>
                  <a:schemeClr val="tx1"/>
                </a:solidFill>
              </a:defRPr>
            </a:lvl1pPr>
            <a:extLst/>
          </a:lstStyle>
          <a:p>
            <a:fld id="{48ABA68F-732D-4838-AEEE-E87A7C2BC0FD}" type="slidenum">
              <a:rPr lang="zh-CN" altLang="en-US" smtClean="0"/>
              <a:t>‹#›</a:t>
            </a:fld>
            <a:endParaRPr lang="zh-CN" altLang="en-US"/>
          </a:p>
        </p:txBody>
      </p:sp>
      <p:sp>
        <p:nvSpPr>
          <p:cNvPr id="2" name="标题 1"/>
          <p:cNvSpPr>
            <a:spLocks noGrp="1"/>
          </p:cNvSpPr>
          <p:nvPr>
            <p:ph type="title"/>
          </p:nvPr>
        </p:nvSpPr>
        <p:spPr>
          <a:xfrm>
            <a:off x="228600" y="3648842"/>
            <a:ext cx="8075432" cy="422004"/>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zh-CN" altLang="en-US"/>
              <a:t>单击此处编辑母版标题样式</a:t>
            </a:r>
            <a:endParaRPr kumimoji="0" lang="en-US"/>
          </a:p>
        </p:txBody>
      </p:sp>
      <p:sp>
        <p:nvSpPr>
          <p:cNvPr id="8" name="任意多边形 7"/>
          <p:cNvSpPr>
            <a:spLocks/>
          </p:cNvSpPr>
          <p:nvPr/>
        </p:nvSpPr>
        <p:spPr bwMode="auto">
          <a:xfrm>
            <a:off x="499273" y="4458702"/>
            <a:ext cx="4940624" cy="69080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任意多边形 8"/>
          <p:cNvSpPr>
            <a:spLocks/>
          </p:cNvSpPr>
          <p:nvPr/>
        </p:nvSpPr>
        <p:spPr bwMode="auto">
          <a:xfrm>
            <a:off x="485717" y="4454258"/>
            <a:ext cx="3690451" cy="700088"/>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直角三角形 9"/>
          <p:cNvSpPr>
            <a:spLocks/>
          </p:cNvSpPr>
          <p:nvPr/>
        </p:nvSpPr>
        <p:spPr bwMode="auto">
          <a:xfrm>
            <a:off x="-6042" y="4343440"/>
            <a:ext cx="3402314" cy="810651"/>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直接连接符 10"/>
          <p:cNvCxnSpPr/>
          <p:nvPr/>
        </p:nvCxnSpPr>
        <p:spPr>
          <a:xfrm>
            <a:off x="-9237" y="4340804"/>
            <a:ext cx="3405509" cy="813287"/>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燕尾形 11"/>
          <p:cNvSpPr/>
          <p:nvPr/>
        </p:nvSpPr>
        <p:spPr>
          <a:xfrm>
            <a:off x="8664112" y="3741330"/>
            <a:ext cx="182880" cy="17145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燕尾形 12"/>
          <p:cNvSpPr/>
          <p:nvPr/>
        </p:nvSpPr>
        <p:spPr>
          <a:xfrm>
            <a:off x="8477696" y="3741330"/>
            <a:ext cx="182880" cy="17145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extLst>
      <p:ext uri="{BB962C8B-B14F-4D97-AF65-F5344CB8AC3E}">
        <p14:creationId xmlns:p14="http://schemas.microsoft.com/office/powerpoint/2010/main" val="3057032197"/>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457200" y="1110997"/>
            <a:ext cx="8229600" cy="3289553"/>
          </a:xfrm>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222983CD-40B6-4A0F-A754-6514ADAC0847}" type="datetimeFigureOut">
              <a:rPr lang="zh-CN" altLang="en-US" smtClean="0"/>
              <a:t>2026/3/30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8ABA68F-732D-4838-AEEE-E87A7C2BC0FD}" type="slidenum">
              <a:rPr lang="zh-CN" altLang="en-US" smtClean="0"/>
              <a:t>‹#›</a:t>
            </a:fld>
            <a:endParaRPr lang="zh-CN" altLang="en-US"/>
          </a:p>
        </p:txBody>
      </p:sp>
    </p:spTree>
    <p:extLst>
      <p:ext uri="{BB962C8B-B14F-4D97-AF65-F5344CB8AC3E}">
        <p14:creationId xmlns:p14="http://schemas.microsoft.com/office/powerpoint/2010/main" val="36988455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44013" y="205980"/>
            <a:ext cx="1777470" cy="4194571"/>
          </a:xfrm>
        </p:spPr>
        <p:txBody>
          <a:bodyPr vert="eaVe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457200" y="205981"/>
            <a:ext cx="6324600" cy="4194570"/>
          </a:xfrm>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222983CD-40B6-4A0F-A754-6514ADAC0847}" type="datetimeFigureOut">
              <a:rPr lang="zh-CN" altLang="en-US" smtClean="0"/>
              <a:t>2026/3/30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8ABA68F-732D-4838-AEEE-E87A7C2BC0FD}" type="slidenum">
              <a:rPr lang="zh-CN" altLang="en-US" smtClean="0"/>
              <a:t>‹#›</a:t>
            </a:fld>
            <a:endParaRPr lang="zh-CN" altLang="en-US"/>
          </a:p>
        </p:txBody>
      </p:sp>
    </p:spTree>
    <p:extLst>
      <p:ext uri="{BB962C8B-B14F-4D97-AF65-F5344CB8AC3E}">
        <p14:creationId xmlns:p14="http://schemas.microsoft.com/office/powerpoint/2010/main" val="35251432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457200"/>
            <a:ext cx="7772400" cy="857250"/>
          </a:xfrm>
        </p:spPr>
        <p:txBody>
          <a:bodyPr/>
          <a:lstStyle/>
          <a:p>
            <a:r>
              <a:rPr lang="zh-CN" altLang="en-US"/>
              <a:t>单击此处编辑母版标题样式</a:t>
            </a:r>
          </a:p>
        </p:txBody>
      </p:sp>
      <p:sp>
        <p:nvSpPr>
          <p:cNvPr id="3" name="文本占位符 2"/>
          <p:cNvSpPr>
            <a:spLocks noGrp="1"/>
          </p:cNvSpPr>
          <p:nvPr>
            <p:ph type="body" sz="half" idx="1"/>
          </p:nvPr>
        </p:nvSpPr>
        <p:spPr>
          <a:xfrm>
            <a:off x="685800" y="1485900"/>
            <a:ext cx="3810000" cy="30861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485900"/>
            <a:ext cx="3810000" cy="1485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3086100"/>
            <a:ext cx="3810000" cy="1485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p:cNvSpPr>
            <a:spLocks noGrp="1" noChangeArrowheads="1"/>
          </p:cNvSpPr>
          <p:nvPr>
            <p:ph type="dt" sz="half" idx="10"/>
          </p:nvPr>
        </p:nvSpPr>
        <p:spPr/>
        <p:txBody>
          <a:bodyPr/>
          <a:lstStyle>
            <a:lvl1pPr>
              <a:defRPr/>
            </a:lvl1pPr>
          </a:lstStyle>
          <a:p>
            <a:pPr>
              <a:defRPr/>
            </a:pPr>
            <a:endParaRPr lang="en-US" altLang="zh-CN"/>
          </a:p>
        </p:txBody>
      </p:sp>
      <p:sp>
        <p:nvSpPr>
          <p:cNvPr id="7" name="Rectangle 5"/>
          <p:cNvSpPr>
            <a:spLocks noGrp="1" noChangeArrowheads="1"/>
          </p:cNvSpPr>
          <p:nvPr>
            <p:ph type="ftr" sz="quarter" idx="11"/>
          </p:nvPr>
        </p:nvSpPr>
        <p:spPr/>
        <p:txBody>
          <a:bodyPr/>
          <a:lstStyle>
            <a:lvl1pPr>
              <a:defRPr/>
            </a:lvl1pPr>
          </a:lstStyle>
          <a:p>
            <a:pPr>
              <a:defRPr/>
            </a:pPr>
            <a:endParaRPr lang="en-US" altLang="zh-CN"/>
          </a:p>
        </p:txBody>
      </p:sp>
      <p:sp>
        <p:nvSpPr>
          <p:cNvPr id="8" name="Rectangle 6"/>
          <p:cNvSpPr>
            <a:spLocks noGrp="1" noChangeArrowheads="1"/>
          </p:cNvSpPr>
          <p:nvPr>
            <p:ph type="sldNum" sz="quarter" idx="12"/>
          </p:nvPr>
        </p:nvSpPr>
        <p:spPr/>
        <p:txBody>
          <a:bodyPr/>
          <a:lstStyle>
            <a:lvl1pPr>
              <a:defRPr/>
            </a:lvl1pPr>
          </a:lstStyle>
          <a:p>
            <a:pPr>
              <a:defRPr/>
            </a:pPr>
            <a:fld id="{4083F22B-0A79-4152-B87F-715EEE279FF7}" type="slidenum">
              <a:rPr lang="en-US" altLang="zh-CN"/>
              <a:pPr>
                <a:defRPr/>
              </a:pPr>
              <a:t>‹#›</a:t>
            </a:fld>
            <a:endParaRPr lang="en-US" altLang="zh-CN"/>
          </a:p>
        </p:txBody>
      </p:sp>
    </p:spTree>
    <p:extLst>
      <p:ext uri="{BB962C8B-B14F-4D97-AF65-F5344CB8AC3E}">
        <p14:creationId xmlns:p14="http://schemas.microsoft.com/office/powerpoint/2010/main" val="1239314443"/>
      </p:ext>
    </p:extLst>
  </p:cSld>
  <p:clrMapOvr>
    <a:masterClrMapping/>
  </p:clrMapOvr>
  <p:transition>
    <p:pull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457200"/>
            <a:ext cx="7772400" cy="857250"/>
          </a:xfrm>
        </p:spPr>
        <p:txBody>
          <a:bodyPr/>
          <a:lstStyle/>
          <a:p>
            <a:r>
              <a:rPr lang="zh-CN" altLang="en-US"/>
              <a:t>单击此处编辑母版标题样式</a:t>
            </a:r>
          </a:p>
        </p:txBody>
      </p:sp>
      <p:sp>
        <p:nvSpPr>
          <p:cNvPr id="3" name="文本占位符 2"/>
          <p:cNvSpPr>
            <a:spLocks noGrp="1"/>
          </p:cNvSpPr>
          <p:nvPr>
            <p:ph type="body" sz="half" idx="1"/>
          </p:nvPr>
        </p:nvSpPr>
        <p:spPr>
          <a:xfrm>
            <a:off x="685800" y="1485900"/>
            <a:ext cx="3810000" cy="30861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485900"/>
            <a:ext cx="3810000" cy="30861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F4C99589-2AA3-468C-B3EF-37A2352EB183}" type="slidenum">
              <a:rPr lang="en-US" altLang="zh-CN"/>
              <a:pPr>
                <a:defRPr/>
              </a:pPr>
              <a:t>‹#›</a:t>
            </a:fld>
            <a:endParaRPr lang="en-US" altLang="zh-CN"/>
          </a:p>
        </p:txBody>
      </p:sp>
    </p:spTree>
    <p:extLst>
      <p:ext uri="{BB962C8B-B14F-4D97-AF65-F5344CB8AC3E}">
        <p14:creationId xmlns:p14="http://schemas.microsoft.com/office/powerpoint/2010/main" val="17660758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457200"/>
            <a:ext cx="7772400" cy="857250"/>
          </a:xfrm>
        </p:spPr>
        <p:txBody>
          <a:bodyPr/>
          <a:lstStyle/>
          <a:p>
            <a:r>
              <a:rPr lang="zh-CN" altLang="en-US"/>
              <a:t>单击此处编辑母版标题样式</a:t>
            </a:r>
          </a:p>
        </p:txBody>
      </p:sp>
      <p:sp>
        <p:nvSpPr>
          <p:cNvPr id="3" name="内容占位符 2"/>
          <p:cNvSpPr>
            <a:spLocks noGrp="1"/>
          </p:cNvSpPr>
          <p:nvPr>
            <p:ph sz="half" idx="1"/>
          </p:nvPr>
        </p:nvSpPr>
        <p:spPr>
          <a:xfrm>
            <a:off x="685800" y="1485900"/>
            <a:ext cx="3810000" cy="30861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485900"/>
            <a:ext cx="3810000" cy="1485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3086100"/>
            <a:ext cx="3810000" cy="1485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6"/>
          <p:cNvSpPr>
            <a:spLocks noGrp="1" noChangeArrowheads="1"/>
          </p:cNvSpPr>
          <p:nvPr>
            <p:ph type="sldNum" sz="quarter" idx="12"/>
          </p:nvPr>
        </p:nvSpPr>
        <p:spPr>
          <a:ln/>
        </p:spPr>
        <p:txBody>
          <a:bodyPr/>
          <a:lstStyle>
            <a:lvl1pPr>
              <a:defRPr/>
            </a:lvl1pPr>
          </a:lstStyle>
          <a:p>
            <a:pPr>
              <a:defRPr/>
            </a:pPr>
            <a:fld id="{5F45D42D-3348-4694-BF48-948B88876AF9}" type="slidenum">
              <a:rPr lang="en-US" altLang="zh-CN"/>
              <a:pPr>
                <a:defRPr/>
              </a:pPr>
              <a:t>‹#›</a:t>
            </a:fld>
            <a:endParaRPr lang="en-US" altLang="zh-CN"/>
          </a:p>
        </p:txBody>
      </p:sp>
    </p:spTree>
    <p:extLst>
      <p:ext uri="{BB962C8B-B14F-4D97-AF65-F5344CB8AC3E}">
        <p14:creationId xmlns:p14="http://schemas.microsoft.com/office/powerpoint/2010/main" val="19361341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xAndChart">
  <p:cSld name="标题，文本与图表">
    <p:spTree>
      <p:nvGrpSpPr>
        <p:cNvPr id="1" name=""/>
        <p:cNvGrpSpPr/>
        <p:nvPr/>
      </p:nvGrpSpPr>
      <p:grpSpPr>
        <a:xfrm>
          <a:off x="0" y="0"/>
          <a:ext cx="0" cy="0"/>
          <a:chOff x="0" y="0"/>
          <a:chExt cx="0" cy="0"/>
        </a:xfrm>
      </p:grpSpPr>
      <p:sp>
        <p:nvSpPr>
          <p:cNvPr id="2" name="标题 1"/>
          <p:cNvSpPr>
            <a:spLocks noGrp="1"/>
          </p:cNvSpPr>
          <p:nvPr>
            <p:ph type="title"/>
          </p:nvPr>
        </p:nvSpPr>
        <p:spPr>
          <a:xfrm>
            <a:off x="685800" y="457200"/>
            <a:ext cx="7772400" cy="857250"/>
          </a:xfrm>
        </p:spPr>
        <p:txBody>
          <a:bodyPr/>
          <a:lstStyle/>
          <a:p>
            <a:r>
              <a:rPr lang="zh-CN" altLang="en-US"/>
              <a:t>单击此处编辑母版标题样式</a:t>
            </a:r>
          </a:p>
        </p:txBody>
      </p:sp>
      <p:sp>
        <p:nvSpPr>
          <p:cNvPr id="3" name="文本占位符 2"/>
          <p:cNvSpPr>
            <a:spLocks noGrp="1"/>
          </p:cNvSpPr>
          <p:nvPr>
            <p:ph type="body" sz="half" idx="1"/>
          </p:nvPr>
        </p:nvSpPr>
        <p:spPr>
          <a:xfrm>
            <a:off x="685800" y="1485900"/>
            <a:ext cx="3810000" cy="30861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图表占位符 3"/>
          <p:cNvSpPr>
            <a:spLocks noGrp="1"/>
          </p:cNvSpPr>
          <p:nvPr>
            <p:ph type="chart" sz="half" idx="2"/>
          </p:nvPr>
        </p:nvSpPr>
        <p:spPr>
          <a:xfrm>
            <a:off x="4648200" y="1485900"/>
            <a:ext cx="3810000" cy="3086100"/>
          </a:xfrm>
        </p:spPr>
        <p:txBody>
          <a:bodyPr/>
          <a:lstStyle/>
          <a:p>
            <a:pPr lvl="0"/>
            <a:endParaRPr lang="zh-CN" altLang="en-US" noProof="0"/>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C7610B82-ACB1-4481-8FC5-4B4183CAD70B}" type="slidenum">
              <a:rPr lang="en-US" altLang="zh-CN"/>
              <a:pPr>
                <a:defRPr/>
              </a:pPr>
              <a:t>‹#›</a:t>
            </a:fld>
            <a:endParaRPr lang="en-US" altLang="zh-CN"/>
          </a:p>
        </p:txBody>
      </p:sp>
    </p:spTree>
    <p:extLst>
      <p:ext uri="{BB962C8B-B14F-4D97-AF65-F5344CB8AC3E}">
        <p14:creationId xmlns:p14="http://schemas.microsoft.com/office/powerpoint/2010/main" val="17954117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85800" y="457200"/>
            <a:ext cx="7772400" cy="857250"/>
          </a:xfrm>
        </p:spPr>
        <p:txBody>
          <a:bodyPr/>
          <a:lstStyle/>
          <a:p>
            <a:r>
              <a:rPr lang="zh-CN" altLang="en-US"/>
              <a:t>单击此处编辑母版标题样式</a:t>
            </a:r>
          </a:p>
        </p:txBody>
      </p:sp>
      <p:sp>
        <p:nvSpPr>
          <p:cNvPr id="3" name="表格占位符 2"/>
          <p:cNvSpPr>
            <a:spLocks noGrp="1"/>
          </p:cNvSpPr>
          <p:nvPr>
            <p:ph type="tbl" idx="1"/>
          </p:nvPr>
        </p:nvSpPr>
        <p:spPr>
          <a:xfrm>
            <a:off x="685800" y="1485900"/>
            <a:ext cx="7772400" cy="3086100"/>
          </a:xfrm>
        </p:spPr>
        <p:txBody>
          <a:bodyPr/>
          <a:lstStyle/>
          <a:p>
            <a:pPr lvl="0"/>
            <a:endParaRPr lang="zh-CN" altLang="en-US"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E652B953-E461-4096-BC7E-BCCAA8912EE3}" type="slidenum">
              <a:rPr lang="en-US" altLang="zh-CN"/>
              <a:pPr>
                <a:defRPr/>
              </a:pPr>
              <a:t>‹#›</a:t>
            </a:fld>
            <a:endParaRPr lang="en-US" altLang="zh-CN"/>
          </a:p>
        </p:txBody>
      </p:sp>
    </p:spTree>
    <p:extLst>
      <p:ext uri="{BB962C8B-B14F-4D97-AF65-F5344CB8AC3E}">
        <p14:creationId xmlns:p14="http://schemas.microsoft.com/office/powerpoint/2010/main" val="60488351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slideLayout" Target="../slideLayouts/slideLayout17.xml"/><Relationship Id="rId18" Type="http://schemas.openxmlformats.org/officeDocument/2006/relationships/image" Target="../media/image1.jpeg"/><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slideLayout" Target="../slideLayouts/slideLayout16.xml"/><Relationship Id="rId17" Type="http://schemas.openxmlformats.org/officeDocument/2006/relationships/theme" Target="../theme/theme2.xml"/><Relationship Id="rId2" Type="http://schemas.openxmlformats.org/officeDocument/2006/relationships/slideLayout" Target="../slideLayouts/slideLayout6.xml"/><Relationship Id="rId16" Type="http://schemas.openxmlformats.org/officeDocument/2006/relationships/slideLayout" Target="../slideLayouts/slideLayout20.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5" Type="http://schemas.openxmlformats.org/officeDocument/2006/relationships/slideLayout" Target="../slideLayouts/slideLayout1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 Id="rId14"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任意多边形 12"/>
          <p:cNvSpPr>
            <a:spLocks/>
          </p:cNvSpPr>
          <p:nvPr/>
        </p:nvSpPr>
        <p:spPr bwMode="auto">
          <a:xfrm>
            <a:off x="499273" y="4458702"/>
            <a:ext cx="4940624" cy="69080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任意多边形 11"/>
          <p:cNvSpPr>
            <a:spLocks/>
          </p:cNvSpPr>
          <p:nvPr/>
        </p:nvSpPr>
        <p:spPr bwMode="auto">
          <a:xfrm>
            <a:off x="485717" y="4454258"/>
            <a:ext cx="3690451" cy="700088"/>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直角三角形 13"/>
          <p:cNvSpPr>
            <a:spLocks/>
          </p:cNvSpPr>
          <p:nvPr/>
        </p:nvSpPr>
        <p:spPr bwMode="auto">
          <a:xfrm>
            <a:off x="-6042" y="4343440"/>
            <a:ext cx="3402314" cy="810651"/>
          </a:xfrm>
          <a:prstGeom prst="rtTriangle">
            <a:avLst/>
          </a:prstGeom>
          <a:blipFill>
            <a:blip r:embed="rId6">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直接连接符 14"/>
          <p:cNvCxnSpPr/>
          <p:nvPr/>
        </p:nvCxnSpPr>
        <p:spPr>
          <a:xfrm>
            <a:off x="-9237" y="4340804"/>
            <a:ext cx="3405509" cy="813287"/>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标题占位符 8"/>
          <p:cNvSpPr>
            <a:spLocks noGrp="1"/>
          </p:cNvSpPr>
          <p:nvPr>
            <p:ph type="title"/>
          </p:nvPr>
        </p:nvSpPr>
        <p:spPr>
          <a:xfrm>
            <a:off x="457200" y="205979"/>
            <a:ext cx="8229600" cy="857250"/>
          </a:xfrm>
          <a:prstGeom prst="rect">
            <a:avLst/>
          </a:prstGeom>
        </p:spPr>
        <p:txBody>
          <a:bodyPr vert="horz" anchor="ctr">
            <a:normAutofit/>
            <a:scene3d>
              <a:camera prst="orthographicFront"/>
              <a:lightRig rig="soft" dir="t"/>
            </a:scene3d>
            <a:sp3d prstMaterial="softEdge">
              <a:bevelT w="25400" h="25400"/>
            </a:sp3d>
          </a:bodyPr>
          <a:lstStyle/>
          <a:p>
            <a:r>
              <a:rPr kumimoji="0" lang="zh-CN" altLang="en-US" dirty="0"/>
              <a:t>单击此处编辑母版标题样式</a:t>
            </a:r>
            <a:endParaRPr kumimoji="0" lang="en-US" dirty="0"/>
          </a:p>
        </p:txBody>
      </p:sp>
      <p:sp>
        <p:nvSpPr>
          <p:cNvPr id="30" name="文本占位符 29"/>
          <p:cNvSpPr>
            <a:spLocks noGrp="1"/>
          </p:cNvSpPr>
          <p:nvPr>
            <p:ph type="body" idx="1"/>
          </p:nvPr>
        </p:nvSpPr>
        <p:spPr>
          <a:xfrm>
            <a:off x="457200" y="1110997"/>
            <a:ext cx="8229600" cy="3394472"/>
          </a:xfrm>
          <a:prstGeom prst="rect">
            <a:avLst/>
          </a:prstGeom>
        </p:spPr>
        <p:txBody>
          <a:bodyPr vert="horz">
            <a:normAutofit/>
          </a:bodyPr>
          <a:lstStyle/>
          <a:p>
            <a:pPr lvl="0" eaLnBrk="1" latinLnBrk="0" hangingPunct="1"/>
            <a:r>
              <a:rPr kumimoji="0" lang="zh-CN" altLang="en-US" dirty="0"/>
              <a:t>单击此处编辑母版文本样式</a:t>
            </a:r>
          </a:p>
          <a:p>
            <a:pPr lvl="1" eaLnBrk="1" latinLnBrk="0" hangingPunct="1"/>
            <a:r>
              <a:rPr kumimoji="0" lang="zh-CN" altLang="en-US" dirty="0"/>
              <a:t>第二级</a:t>
            </a:r>
          </a:p>
          <a:p>
            <a:pPr lvl="2" eaLnBrk="1" latinLnBrk="0" hangingPunct="1"/>
            <a:r>
              <a:rPr kumimoji="0" lang="zh-CN" altLang="en-US" dirty="0"/>
              <a:t>第三级</a:t>
            </a:r>
          </a:p>
          <a:p>
            <a:pPr lvl="3" eaLnBrk="1" latinLnBrk="0" hangingPunct="1"/>
            <a:r>
              <a:rPr kumimoji="0" lang="zh-CN" altLang="en-US" dirty="0"/>
              <a:t>第四级</a:t>
            </a:r>
          </a:p>
          <a:p>
            <a:pPr lvl="4" eaLnBrk="1" latinLnBrk="0" hangingPunct="1"/>
            <a:r>
              <a:rPr kumimoji="0" lang="zh-CN" altLang="en-US" dirty="0"/>
              <a:t>第五级</a:t>
            </a:r>
            <a:endParaRPr kumimoji="0" lang="en-US" dirty="0"/>
          </a:p>
        </p:txBody>
      </p:sp>
      <p:sp>
        <p:nvSpPr>
          <p:cNvPr id="10" name="日期占位符 9"/>
          <p:cNvSpPr>
            <a:spLocks noGrp="1"/>
          </p:cNvSpPr>
          <p:nvPr>
            <p:ph type="dt" sz="half" idx="2"/>
          </p:nvPr>
        </p:nvSpPr>
        <p:spPr>
          <a:xfrm>
            <a:off x="6727032" y="4805958"/>
            <a:ext cx="1920240" cy="274320"/>
          </a:xfrm>
          <a:prstGeom prst="rect">
            <a:avLst/>
          </a:prstGeom>
        </p:spPr>
        <p:txBody>
          <a:bodyPr vert="horz" anchor="b"/>
          <a:lstStyle>
            <a:lvl1pPr algn="l" eaLnBrk="1" latinLnBrk="0" hangingPunct="1">
              <a:defRPr kumimoji="0" sz="1000">
                <a:solidFill>
                  <a:schemeClr val="tx1"/>
                </a:solidFill>
              </a:defRPr>
            </a:lvl1pPr>
            <a:extLst/>
          </a:lstStyle>
          <a:p>
            <a:fld id="{222983CD-40B6-4A0F-A754-6514ADAC0847}" type="datetimeFigureOut">
              <a:rPr lang="zh-CN" altLang="en-US" smtClean="0"/>
              <a:t>2026/3/30</a:t>
            </a:fld>
            <a:endParaRPr lang="zh-CN" altLang="en-US"/>
          </a:p>
        </p:txBody>
      </p:sp>
      <p:sp>
        <p:nvSpPr>
          <p:cNvPr id="22" name="页脚占位符 21"/>
          <p:cNvSpPr>
            <a:spLocks noGrp="1"/>
          </p:cNvSpPr>
          <p:nvPr>
            <p:ph type="ftr" sz="quarter" idx="3"/>
          </p:nvPr>
        </p:nvSpPr>
        <p:spPr>
          <a:xfrm>
            <a:off x="4380073" y="4805958"/>
            <a:ext cx="2350681" cy="273844"/>
          </a:xfrm>
          <a:prstGeom prst="rect">
            <a:avLst/>
          </a:prstGeom>
        </p:spPr>
        <p:txBody>
          <a:bodyPr vert="horz" anchor="b"/>
          <a:lstStyle>
            <a:lvl1pPr algn="r" eaLnBrk="1" latinLnBrk="0" hangingPunct="1">
              <a:defRPr kumimoji="0" sz="1000">
                <a:solidFill>
                  <a:schemeClr val="tx1"/>
                </a:solidFill>
              </a:defRPr>
            </a:lvl1pPr>
            <a:extLst/>
          </a:lstStyle>
          <a:p>
            <a:endParaRPr lang="zh-CN" altLang="en-US"/>
          </a:p>
        </p:txBody>
      </p:sp>
      <p:sp>
        <p:nvSpPr>
          <p:cNvPr id="18" name="灯片编号占位符 17"/>
          <p:cNvSpPr>
            <a:spLocks noGrp="1"/>
          </p:cNvSpPr>
          <p:nvPr>
            <p:ph type="sldNum" sz="quarter" idx="4"/>
          </p:nvPr>
        </p:nvSpPr>
        <p:spPr>
          <a:xfrm>
            <a:off x="8647272" y="4805958"/>
            <a:ext cx="365760" cy="273844"/>
          </a:xfrm>
          <a:prstGeom prst="rect">
            <a:avLst/>
          </a:prstGeom>
        </p:spPr>
        <p:txBody>
          <a:bodyPr vert="horz" anchor="b"/>
          <a:lstStyle>
            <a:lvl1pPr algn="r" eaLnBrk="1" latinLnBrk="0" hangingPunct="1">
              <a:defRPr kumimoji="0" sz="1000" b="0">
                <a:solidFill>
                  <a:schemeClr val="tx1"/>
                </a:solidFill>
              </a:defRPr>
            </a:lvl1pPr>
            <a:extLst/>
          </a:lstStyle>
          <a:p>
            <a:fld id="{48ABA68F-732D-4838-AEEE-E87A7C2BC0F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5" r:id="rId3"/>
    <p:sldLayoutId id="2147483726" r:id="rId4"/>
  </p:sldLayoutIdLst>
  <p:txStyles>
    <p:titleStyle>
      <a:lvl1pPr algn="l" rtl="0" eaLnBrk="1" latinLnBrk="0" hangingPunct="1">
        <a:spcBef>
          <a:spcPct val="0"/>
        </a:spcBef>
        <a:buNone/>
        <a:defRPr kumimoji="0" sz="3600" b="1" kern="1200">
          <a:solidFill>
            <a:schemeClr val="tx2"/>
          </a:solidFill>
          <a:effectLst>
            <a:outerShdw blurRad="31750" dist="25400" dir="5400000" algn="tl" rotWithShape="0">
              <a:srgbClr val="000000">
                <a:alpha val="25000"/>
              </a:srgbClr>
            </a:outerShdw>
          </a:effectLst>
          <a:latin typeface="隶书" panose="02010509060101010101" pitchFamily="49" charset="-122"/>
          <a:ea typeface="隶书" panose="02010509060101010101" pitchFamily="49" charset="-122"/>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400" kern="1200">
          <a:solidFill>
            <a:schemeClr val="tx1"/>
          </a:solidFill>
          <a:latin typeface="宋体" panose="02010600030101010101" pitchFamily="2" charset="-122"/>
          <a:ea typeface="宋体" panose="02010600030101010101" pitchFamily="2" charset="-122"/>
          <a:cs typeface="+mn-cs"/>
        </a:defRPr>
      </a:lvl1pPr>
      <a:lvl2pPr marL="621792" indent="-228600" algn="l" rtl="0" eaLnBrk="1" latinLnBrk="0" hangingPunct="1">
        <a:spcBef>
          <a:spcPts val="324"/>
        </a:spcBef>
        <a:buClr>
          <a:schemeClr val="accent1"/>
        </a:buClr>
        <a:buFont typeface="Verdana"/>
        <a:buChar char="◦"/>
        <a:defRPr kumimoji="0" sz="2200" kern="1200">
          <a:solidFill>
            <a:schemeClr val="tx1"/>
          </a:solidFill>
          <a:latin typeface="宋体" panose="02010600030101010101" pitchFamily="2" charset="-122"/>
          <a:ea typeface="宋体" panose="02010600030101010101" pitchFamily="2" charset="-122"/>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tx1"/>
          </a:solidFill>
          <a:latin typeface="宋体" panose="02010600030101010101" pitchFamily="2" charset="-122"/>
          <a:ea typeface="宋体" panose="02010600030101010101" pitchFamily="2" charset="-122"/>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任意多边形 12"/>
          <p:cNvSpPr>
            <a:spLocks/>
          </p:cNvSpPr>
          <p:nvPr/>
        </p:nvSpPr>
        <p:spPr bwMode="auto">
          <a:xfrm>
            <a:off x="499273" y="4458702"/>
            <a:ext cx="4940624" cy="69080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任意多边形 11"/>
          <p:cNvSpPr>
            <a:spLocks/>
          </p:cNvSpPr>
          <p:nvPr/>
        </p:nvSpPr>
        <p:spPr bwMode="auto">
          <a:xfrm>
            <a:off x="485717" y="4454258"/>
            <a:ext cx="3690451" cy="700088"/>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直角三角形 13"/>
          <p:cNvSpPr>
            <a:spLocks/>
          </p:cNvSpPr>
          <p:nvPr/>
        </p:nvSpPr>
        <p:spPr bwMode="auto">
          <a:xfrm>
            <a:off x="-6042" y="4343440"/>
            <a:ext cx="3402314" cy="810651"/>
          </a:xfrm>
          <a:prstGeom prst="rtTriangle">
            <a:avLst/>
          </a:prstGeom>
          <a:blipFill>
            <a:blip r:embed="rId18">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直接连接符 14"/>
          <p:cNvCxnSpPr/>
          <p:nvPr/>
        </p:nvCxnSpPr>
        <p:spPr>
          <a:xfrm>
            <a:off x="-9237" y="4340804"/>
            <a:ext cx="3405509" cy="813287"/>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标题占位符 8"/>
          <p:cNvSpPr>
            <a:spLocks noGrp="1"/>
          </p:cNvSpPr>
          <p:nvPr>
            <p:ph type="title"/>
          </p:nvPr>
        </p:nvSpPr>
        <p:spPr>
          <a:xfrm>
            <a:off x="457200" y="205979"/>
            <a:ext cx="8229600" cy="857250"/>
          </a:xfrm>
          <a:prstGeom prst="rect">
            <a:avLst/>
          </a:prstGeom>
        </p:spPr>
        <p:txBody>
          <a:bodyPr vert="horz" anchor="ctr">
            <a:normAutofit/>
            <a:scene3d>
              <a:camera prst="orthographicFront"/>
              <a:lightRig rig="soft" dir="t"/>
            </a:scene3d>
            <a:sp3d prstMaterial="softEdge">
              <a:bevelT w="25400" h="25400"/>
            </a:sp3d>
          </a:bodyPr>
          <a:lstStyle/>
          <a:p>
            <a:r>
              <a:rPr kumimoji="0" lang="zh-CN" altLang="en-US"/>
              <a:t>单击此处编辑母版标题样式</a:t>
            </a:r>
            <a:endParaRPr kumimoji="0" lang="en-US"/>
          </a:p>
        </p:txBody>
      </p:sp>
      <p:sp>
        <p:nvSpPr>
          <p:cNvPr id="30" name="文本占位符 29"/>
          <p:cNvSpPr>
            <a:spLocks noGrp="1"/>
          </p:cNvSpPr>
          <p:nvPr>
            <p:ph type="body" idx="1"/>
          </p:nvPr>
        </p:nvSpPr>
        <p:spPr>
          <a:xfrm>
            <a:off x="457200" y="1110997"/>
            <a:ext cx="8229600" cy="3394472"/>
          </a:xfrm>
          <a:prstGeom prst="rect">
            <a:avLst/>
          </a:prstGeom>
        </p:spPr>
        <p:txBody>
          <a:bodyPr vert="horz">
            <a:normAutofit/>
          </a:bodyPr>
          <a:lstStyle/>
          <a:p>
            <a:pPr lvl="0" eaLnBrk="1" latinLnBrk="0" hangingPunct="1"/>
            <a:r>
              <a:rPr kumimoji="0" lang="zh-CN" altLang="en-US"/>
              <a:t>单击此处编辑母版文本样式</a:t>
            </a:r>
          </a:p>
          <a:p>
            <a:pPr lvl="1" eaLnBrk="1" latinLnBrk="0" hangingPunct="1"/>
            <a:r>
              <a:rPr kumimoji="0" lang="zh-CN" altLang="en-US"/>
              <a:t>第二级</a:t>
            </a:r>
          </a:p>
          <a:p>
            <a:pPr lvl="2" eaLnBrk="1" latinLnBrk="0" hangingPunct="1"/>
            <a:r>
              <a:rPr kumimoji="0" lang="zh-CN" altLang="en-US"/>
              <a:t>第三级</a:t>
            </a:r>
          </a:p>
          <a:p>
            <a:pPr lvl="3" eaLnBrk="1" latinLnBrk="0" hangingPunct="1"/>
            <a:r>
              <a:rPr kumimoji="0" lang="zh-CN" altLang="en-US"/>
              <a:t>第四级</a:t>
            </a:r>
          </a:p>
          <a:p>
            <a:pPr lvl="4" eaLnBrk="1" latinLnBrk="0" hangingPunct="1"/>
            <a:r>
              <a:rPr kumimoji="0" lang="zh-CN" altLang="en-US"/>
              <a:t>第五级</a:t>
            </a:r>
            <a:endParaRPr kumimoji="0" lang="en-US"/>
          </a:p>
        </p:txBody>
      </p:sp>
      <p:sp>
        <p:nvSpPr>
          <p:cNvPr id="10" name="日期占位符 9"/>
          <p:cNvSpPr>
            <a:spLocks noGrp="1"/>
          </p:cNvSpPr>
          <p:nvPr>
            <p:ph type="dt" sz="half" idx="2"/>
          </p:nvPr>
        </p:nvSpPr>
        <p:spPr>
          <a:xfrm>
            <a:off x="6727032" y="4805958"/>
            <a:ext cx="1920240" cy="274320"/>
          </a:xfrm>
          <a:prstGeom prst="rect">
            <a:avLst/>
          </a:prstGeom>
        </p:spPr>
        <p:txBody>
          <a:bodyPr vert="horz" anchor="b"/>
          <a:lstStyle>
            <a:lvl1pPr algn="l" eaLnBrk="1" latinLnBrk="0" hangingPunct="1">
              <a:defRPr kumimoji="0" sz="1000">
                <a:solidFill>
                  <a:schemeClr val="tx1"/>
                </a:solidFill>
              </a:defRPr>
            </a:lvl1pPr>
            <a:extLst/>
          </a:lstStyle>
          <a:p>
            <a:fld id="{222983CD-40B6-4A0F-A754-6514ADAC0847}" type="datetimeFigureOut">
              <a:rPr lang="zh-CN" altLang="en-US" smtClean="0"/>
              <a:t>2026/3/30</a:t>
            </a:fld>
            <a:endParaRPr lang="zh-CN" altLang="en-US"/>
          </a:p>
        </p:txBody>
      </p:sp>
      <p:sp>
        <p:nvSpPr>
          <p:cNvPr id="22" name="页脚占位符 21"/>
          <p:cNvSpPr>
            <a:spLocks noGrp="1"/>
          </p:cNvSpPr>
          <p:nvPr>
            <p:ph type="ftr" sz="quarter" idx="3"/>
          </p:nvPr>
        </p:nvSpPr>
        <p:spPr>
          <a:xfrm>
            <a:off x="4380073" y="4805958"/>
            <a:ext cx="2350681" cy="273844"/>
          </a:xfrm>
          <a:prstGeom prst="rect">
            <a:avLst/>
          </a:prstGeom>
        </p:spPr>
        <p:txBody>
          <a:bodyPr vert="horz" anchor="b"/>
          <a:lstStyle>
            <a:lvl1pPr algn="r" eaLnBrk="1" latinLnBrk="0" hangingPunct="1">
              <a:defRPr kumimoji="0" sz="1000">
                <a:solidFill>
                  <a:schemeClr val="tx1"/>
                </a:solidFill>
              </a:defRPr>
            </a:lvl1pPr>
            <a:extLst/>
          </a:lstStyle>
          <a:p>
            <a:endParaRPr lang="zh-CN" altLang="en-US"/>
          </a:p>
        </p:txBody>
      </p:sp>
      <p:sp>
        <p:nvSpPr>
          <p:cNvPr id="18" name="灯片编号占位符 17"/>
          <p:cNvSpPr>
            <a:spLocks noGrp="1"/>
          </p:cNvSpPr>
          <p:nvPr>
            <p:ph type="sldNum" sz="quarter" idx="4"/>
          </p:nvPr>
        </p:nvSpPr>
        <p:spPr>
          <a:xfrm>
            <a:off x="8647272" y="4805958"/>
            <a:ext cx="365760" cy="273844"/>
          </a:xfrm>
          <a:prstGeom prst="rect">
            <a:avLst/>
          </a:prstGeom>
        </p:spPr>
        <p:txBody>
          <a:bodyPr vert="horz" anchor="b"/>
          <a:lstStyle>
            <a:lvl1pPr algn="r" eaLnBrk="1" latinLnBrk="0" hangingPunct="1">
              <a:defRPr kumimoji="0" sz="1000" b="0">
                <a:solidFill>
                  <a:schemeClr val="tx1"/>
                </a:solidFill>
              </a:defRPr>
            </a:lvl1pPr>
            <a:extLst/>
          </a:lstStyle>
          <a:p>
            <a:fld id="{48ABA68F-732D-4838-AEEE-E87A7C2BC0FD}" type="slidenum">
              <a:rPr lang="zh-CN" altLang="en-US" smtClean="0"/>
              <a:t>‹#›</a:t>
            </a:fld>
            <a:endParaRPr lang="zh-CN" altLang="en-US"/>
          </a:p>
        </p:txBody>
      </p:sp>
    </p:spTree>
    <p:extLst>
      <p:ext uri="{BB962C8B-B14F-4D97-AF65-F5344CB8AC3E}">
        <p14:creationId xmlns:p14="http://schemas.microsoft.com/office/powerpoint/2010/main" val="2412173934"/>
      </p:ext>
    </p:extLst>
  </p:cSld>
  <p:clrMap bg1="lt1" tx1="dk1" bg2="lt2" tx2="dk2" accent1="accent1" accent2="accent2" accent3="accent3" accent4="accent4" accent5="accent5" accent6="accent6" hlink="hlink" folHlink="folHlink"/>
  <p:sldLayoutIdLst>
    <p:sldLayoutId id="2147483728" r:id="rId1"/>
    <p:sldLayoutId id="2147483729" r:id="rId2"/>
    <p:sldLayoutId id="2147483730" r:id="rId3"/>
    <p:sldLayoutId id="2147483731" r:id="rId4"/>
    <p:sldLayoutId id="2147483732" r:id="rId5"/>
    <p:sldLayoutId id="2147483733" r:id="rId6"/>
    <p:sldLayoutId id="2147483734" r:id="rId7"/>
    <p:sldLayoutId id="2147483735" r:id="rId8"/>
    <p:sldLayoutId id="2147483736" r:id="rId9"/>
    <p:sldLayoutId id="2147483737" r:id="rId10"/>
    <p:sldLayoutId id="2147483738" r:id="rId11"/>
    <p:sldLayoutId id="2147483739" r:id="rId12"/>
    <p:sldLayoutId id="2147483740" r:id="rId13"/>
    <p:sldLayoutId id="2147483741" r:id="rId14"/>
    <p:sldLayoutId id="2147483742" r:id="rId15"/>
    <p:sldLayoutId id="2147483743" r:id="rId16"/>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7.emf"/></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6.xml"/><Relationship Id="rId1" Type="http://schemas.openxmlformats.org/officeDocument/2006/relationships/vmlDrawing" Target="../drawings/vmlDrawing2.vml"/><Relationship Id="rId5" Type="http://schemas.openxmlformats.org/officeDocument/2006/relationships/image" Target="../media/image8.emf"/><Relationship Id="rId4" Type="http://schemas.openxmlformats.org/officeDocument/2006/relationships/oleObject" Target="../embeddings/oleObject2.bin"/></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vmlDrawing" Target="../drawings/vmlDrawing3.vml"/><Relationship Id="rId5" Type="http://schemas.openxmlformats.org/officeDocument/2006/relationships/image" Target="../media/image9.emf"/><Relationship Id="rId4" Type="http://schemas.openxmlformats.org/officeDocument/2006/relationships/package" Target="../embeddings/Microsoft_Visio___10.vsdx"/></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10.emf"/><Relationship Id="rId4" Type="http://schemas.openxmlformats.org/officeDocument/2006/relationships/package" Target="../embeddings/Microsoft_Visio___11.vsdx"/></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package" Target="../embeddings/Microsoft_Visio___12.vsdx"/><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11.e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blog.csdn.net/lusic01/article/details/80735850" TargetMode="External"/><Relationship Id="rId2" Type="http://schemas.openxmlformats.org/officeDocument/2006/relationships/hyperlink" Target="https://www.cnblogs.com/suhaha/p/11733487.html"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2"/>
          <p:cNvSpPr>
            <a:spLocks noGrp="1" noChangeArrowheads="1"/>
          </p:cNvSpPr>
          <p:nvPr>
            <p:ph type="body" idx="4294967295"/>
          </p:nvPr>
        </p:nvSpPr>
        <p:spPr>
          <a:xfrm>
            <a:off x="369889" y="1360885"/>
            <a:ext cx="8302625" cy="3224213"/>
          </a:xfrm>
        </p:spPr>
        <p:txBody>
          <a:bodyPr/>
          <a:lstStyle/>
          <a:p>
            <a:pPr eaLnBrk="1" hangingPunct="1">
              <a:lnSpc>
                <a:spcPct val="150000"/>
              </a:lnSpc>
              <a:spcBef>
                <a:spcPct val="30000"/>
              </a:spcBef>
            </a:pPr>
            <a:r>
              <a:rPr kumimoji="1" lang="zh-CN" altLang="en-US" sz="2400" dirty="0"/>
              <a:t>实验目的：理解和掌握算术表达式的文法构造，熟悉常用的语法分析方法。</a:t>
            </a:r>
            <a:endParaRPr kumimoji="1" lang="en-US" altLang="zh-CN" sz="2400" dirty="0"/>
          </a:p>
          <a:p>
            <a:pPr eaLnBrk="1" hangingPunct="1">
              <a:lnSpc>
                <a:spcPct val="150000"/>
              </a:lnSpc>
              <a:spcBef>
                <a:spcPct val="30000"/>
              </a:spcBef>
            </a:pPr>
            <a:r>
              <a:rPr kumimoji="1" lang="zh-CN" altLang="en-US" sz="2400" dirty="0"/>
              <a:t>实验内容：根据</a:t>
            </a:r>
            <a:r>
              <a:rPr kumimoji="1" lang="en-US" altLang="zh-CN" sz="2400" dirty="0"/>
              <a:t>Sample</a:t>
            </a:r>
            <a:r>
              <a:rPr kumimoji="1" lang="zh-CN" altLang="en-US" sz="2400" dirty="0"/>
              <a:t>语言的语法规则判定输入的一串单词能否构成一个正确的算术表达式。</a:t>
            </a:r>
          </a:p>
        </p:txBody>
      </p:sp>
      <p:sp>
        <p:nvSpPr>
          <p:cNvPr id="8195" name="Rectangle 3"/>
          <p:cNvSpPr>
            <a:spLocks noGrp="1" noChangeArrowheads="1"/>
          </p:cNvSpPr>
          <p:nvPr>
            <p:ph type="title" idx="4294967295"/>
          </p:nvPr>
        </p:nvSpPr>
        <p:spPr>
          <a:xfrm>
            <a:off x="0" y="100013"/>
            <a:ext cx="9144000" cy="746522"/>
          </a:xfrm>
        </p:spPr>
        <p:txBody>
          <a:bodyPr>
            <a:normAutofit fontScale="90000"/>
          </a:bodyPr>
          <a:lstStyle/>
          <a:p>
            <a:pPr eaLnBrk="1" hangingPunct="1">
              <a:lnSpc>
                <a:spcPct val="80000"/>
              </a:lnSpc>
            </a:pPr>
            <a:r>
              <a:rPr kumimoji="1" lang="zh-CN" altLang="en-US" b="1" dirty="0">
                <a:solidFill>
                  <a:srgbClr val="663399"/>
                </a:solidFill>
                <a:latin typeface="Times New Roman" pitchFamily="18" charset="0"/>
                <a:ea typeface="隶书" pitchFamily="49" charset="-122"/>
              </a:rPr>
              <a:t>实验三：算术表达式的分析</a:t>
            </a:r>
            <a:br>
              <a:rPr kumimoji="1" lang="en-US" altLang="zh-CN" b="1" dirty="0">
                <a:solidFill>
                  <a:srgbClr val="663399"/>
                </a:solidFill>
                <a:latin typeface="Times New Roman" pitchFamily="18" charset="0"/>
                <a:ea typeface="隶书" pitchFamily="49" charset="-122"/>
              </a:rPr>
            </a:br>
            <a:r>
              <a:rPr kumimoji="1" lang="zh-CN" altLang="en-US" b="1" dirty="0">
                <a:solidFill>
                  <a:srgbClr val="663399"/>
                </a:solidFill>
                <a:latin typeface="Times New Roman" pitchFamily="18" charset="0"/>
                <a:ea typeface="隶书" pitchFamily="49" charset="-122"/>
              </a:rPr>
              <a:t>（</a:t>
            </a:r>
            <a:r>
              <a:rPr kumimoji="1" lang="en-US" altLang="zh-CN" b="1" dirty="0">
                <a:solidFill>
                  <a:srgbClr val="663399"/>
                </a:solidFill>
                <a:latin typeface="Times New Roman" pitchFamily="18" charset="0"/>
                <a:ea typeface="隶书" pitchFamily="49" charset="-122"/>
              </a:rPr>
              <a:t>2</a:t>
            </a:r>
            <a:r>
              <a:rPr kumimoji="1" lang="zh-CN" altLang="en-US" b="1" dirty="0">
                <a:solidFill>
                  <a:srgbClr val="663399"/>
                </a:solidFill>
                <a:latin typeface="Times New Roman" pitchFamily="18" charset="0"/>
                <a:ea typeface="隶书" pitchFamily="49" charset="-122"/>
              </a:rPr>
              <a:t>学时</a:t>
            </a:r>
            <a:r>
              <a:rPr kumimoji="1" lang="en-US" altLang="zh-CN" b="1" dirty="0">
                <a:solidFill>
                  <a:srgbClr val="663399"/>
                </a:solidFill>
                <a:latin typeface="Times New Roman" pitchFamily="18" charset="0"/>
                <a:ea typeface="隶书" pitchFamily="49" charset="-122"/>
              </a:rPr>
              <a:t>+</a:t>
            </a:r>
            <a:r>
              <a:rPr kumimoji="1" lang="zh-CN" altLang="en-US" b="1" dirty="0">
                <a:solidFill>
                  <a:srgbClr val="663399"/>
                </a:solidFill>
                <a:latin typeface="Times New Roman" pitchFamily="18" charset="0"/>
                <a:ea typeface="隶书" pitchFamily="49" charset="-122"/>
              </a:rPr>
              <a:t>课外）</a:t>
            </a:r>
          </a:p>
        </p:txBody>
      </p:sp>
    </p:spTree>
    <p:extLst>
      <p:ext uri="{BB962C8B-B14F-4D97-AF65-F5344CB8AC3E}">
        <p14:creationId xmlns:p14="http://schemas.microsoft.com/office/powerpoint/2010/main" val="392154039"/>
      </p:ext>
    </p:extLst>
  </p:cSld>
  <p:clrMapOvr>
    <a:masterClrMapping/>
  </p:clrMapOvr>
  <p:transition spd="med">
    <p:random/>
  </p:transition>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2"/>
          <p:cNvSpPr>
            <a:spLocks noGrp="1" noChangeArrowheads="1"/>
          </p:cNvSpPr>
          <p:nvPr>
            <p:ph type="body" idx="4294967295"/>
          </p:nvPr>
        </p:nvSpPr>
        <p:spPr>
          <a:xfrm>
            <a:off x="539552" y="948840"/>
            <a:ext cx="8302625" cy="4179094"/>
          </a:xfrm>
          <a:solidFill>
            <a:schemeClr val="bg1"/>
          </a:solidFill>
        </p:spPr>
        <p:txBody>
          <a:bodyPr>
            <a:normAutofit/>
          </a:bodyPr>
          <a:lstStyle/>
          <a:p>
            <a:pPr eaLnBrk="1" hangingPunct="1">
              <a:lnSpc>
                <a:spcPct val="80000"/>
              </a:lnSpc>
              <a:spcBef>
                <a:spcPct val="30000"/>
              </a:spcBef>
            </a:pPr>
            <a:r>
              <a:rPr kumimoji="1" lang="zh-CN" altLang="en-US" sz="1800" dirty="0"/>
              <a:t>实验要求</a:t>
            </a:r>
            <a:r>
              <a:rPr kumimoji="1" lang="en-US" altLang="zh-CN" sz="1800" dirty="0"/>
              <a:t>:</a:t>
            </a:r>
          </a:p>
          <a:p>
            <a:pPr lvl="1" eaLnBrk="1" hangingPunct="1">
              <a:lnSpc>
                <a:spcPct val="80000"/>
              </a:lnSpc>
              <a:spcBef>
                <a:spcPct val="30000"/>
              </a:spcBef>
            </a:pPr>
            <a:r>
              <a:rPr kumimoji="1" lang="zh-CN" altLang="en-US" sz="1600" b="1" dirty="0"/>
              <a:t>（</a:t>
            </a:r>
            <a:r>
              <a:rPr kumimoji="1" lang="en-US" altLang="zh-CN" sz="1600" b="1" dirty="0"/>
              <a:t>1</a:t>
            </a:r>
            <a:r>
              <a:rPr kumimoji="1" lang="zh-CN" altLang="en-US" sz="1600" b="1" dirty="0"/>
              <a:t>）基本内容</a:t>
            </a:r>
            <a:r>
              <a:rPr lang="zh-CN" altLang="en-US" sz="1600" b="1" dirty="0"/>
              <a:t>（必做）</a:t>
            </a:r>
            <a:endParaRPr kumimoji="1" lang="zh-CN" altLang="en-US" sz="1600" dirty="0"/>
          </a:p>
          <a:p>
            <a:pPr lvl="2" eaLnBrk="1" hangingPunct="1">
              <a:lnSpc>
                <a:spcPct val="80000"/>
              </a:lnSpc>
              <a:spcBef>
                <a:spcPct val="30000"/>
              </a:spcBef>
            </a:pPr>
            <a:r>
              <a:rPr kumimoji="1" lang="zh-CN" altLang="en-US" sz="1600" dirty="0"/>
              <a:t>写出</a:t>
            </a:r>
            <a:r>
              <a:rPr kumimoji="1" lang="en-US" altLang="zh-CN" sz="1600" dirty="0"/>
              <a:t>Sample</a:t>
            </a:r>
            <a:r>
              <a:rPr kumimoji="1" lang="zh-CN" altLang="en-US" sz="1600" dirty="0"/>
              <a:t>语言（或你所选定的语言）的算术表达式的文法</a:t>
            </a:r>
          </a:p>
          <a:p>
            <a:pPr lvl="2" eaLnBrk="1" hangingPunct="1">
              <a:lnSpc>
                <a:spcPct val="80000"/>
              </a:lnSpc>
              <a:spcBef>
                <a:spcPct val="30000"/>
              </a:spcBef>
            </a:pPr>
            <a:r>
              <a:rPr kumimoji="1" lang="zh-CN" altLang="en-US" sz="1600" dirty="0"/>
              <a:t>利用</a:t>
            </a:r>
            <a:r>
              <a:rPr kumimoji="1" lang="zh-CN" altLang="en-US" sz="1600" dirty="0">
                <a:solidFill>
                  <a:srgbClr val="FF0000"/>
                </a:solidFill>
              </a:rPr>
              <a:t>递归下降</a:t>
            </a:r>
            <a:r>
              <a:rPr kumimoji="1" lang="zh-CN" altLang="en-US" sz="1600" dirty="0"/>
              <a:t>或者算符优先的方法编写判定给定的单词串能否构成一个正确的算术表达式的函数</a:t>
            </a:r>
          </a:p>
          <a:p>
            <a:pPr lvl="2" eaLnBrk="1" hangingPunct="1">
              <a:lnSpc>
                <a:spcPct val="80000"/>
              </a:lnSpc>
              <a:spcBef>
                <a:spcPct val="30000"/>
              </a:spcBef>
            </a:pPr>
            <a:r>
              <a:rPr kumimoji="1" lang="zh-CN" altLang="en-US" sz="1600" dirty="0"/>
              <a:t>写一个主函数读入一个单词串，进行测试</a:t>
            </a:r>
            <a:endParaRPr kumimoji="1" lang="en-US" altLang="zh-CN" sz="1600" dirty="0"/>
          </a:p>
          <a:p>
            <a:pPr lvl="1" eaLnBrk="1" hangingPunct="1">
              <a:lnSpc>
                <a:spcPct val="80000"/>
              </a:lnSpc>
              <a:spcBef>
                <a:spcPct val="30000"/>
              </a:spcBef>
            </a:pPr>
            <a:r>
              <a:rPr kumimoji="1" lang="zh-CN" altLang="en-US" sz="1600" b="1" dirty="0"/>
              <a:t>（</a:t>
            </a:r>
            <a:r>
              <a:rPr kumimoji="1" lang="en-US" altLang="zh-CN" sz="1600" b="1" dirty="0"/>
              <a:t>2</a:t>
            </a:r>
            <a:r>
              <a:rPr kumimoji="1" lang="zh-CN" altLang="en-US" sz="1600" b="1" dirty="0"/>
              <a:t>）扩展内容</a:t>
            </a:r>
            <a:r>
              <a:rPr lang="zh-CN" altLang="en-US" sz="1600" b="1" dirty="0"/>
              <a:t>（选做）</a:t>
            </a:r>
            <a:endParaRPr kumimoji="1" lang="en-US" altLang="zh-CN" sz="1600" b="1" dirty="0"/>
          </a:p>
          <a:p>
            <a:pPr lvl="2" eaLnBrk="1" hangingPunct="1">
              <a:lnSpc>
                <a:spcPct val="80000"/>
              </a:lnSpc>
              <a:spcBef>
                <a:spcPct val="30000"/>
              </a:spcBef>
            </a:pPr>
            <a:r>
              <a:rPr kumimoji="1" lang="zh-CN" altLang="en-US" sz="1600" dirty="0"/>
              <a:t>尽可能多、尽可能准确地给出错误信息</a:t>
            </a:r>
            <a:endParaRPr kumimoji="1" lang="en-US" altLang="zh-CN" sz="1600" dirty="0"/>
          </a:p>
          <a:p>
            <a:pPr lvl="2" eaLnBrk="1" hangingPunct="1">
              <a:lnSpc>
                <a:spcPct val="80000"/>
              </a:lnSpc>
              <a:spcBef>
                <a:spcPct val="30000"/>
              </a:spcBef>
            </a:pPr>
            <a:r>
              <a:rPr kumimoji="1" lang="zh-CN" altLang="en-US" sz="1600" dirty="0"/>
              <a:t>生成对应的语法分析树</a:t>
            </a:r>
            <a:endParaRPr kumimoji="1" lang="en-US" altLang="zh-CN" sz="1600" dirty="0"/>
          </a:p>
          <a:p>
            <a:pPr lvl="2" eaLnBrk="1" hangingPunct="1">
              <a:lnSpc>
                <a:spcPct val="80000"/>
              </a:lnSpc>
              <a:spcBef>
                <a:spcPct val="30000"/>
              </a:spcBef>
            </a:pPr>
            <a:r>
              <a:rPr kumimoji="1" lang="zh-CN" altLang="en-US" sz="1600" dirty="0"/>
              <a:t>提供多种错误恢复方式</a:t>
            </a:r>
            <a:endParaRPr kumimoji="1" lang="en-US" altLang="zh-CN" sz="1600" dirty="0"/>
          </a:p>
          <a:p>
            <a:pPr lvl="2" eaLnBrk="1" hangingPunct="1">
              <a:lnSpc>
                <a:spcPct val="80000"/>
              </a:lnSpc>
              <a:spcBef>
                <a:spcPct val="30000"/>
              </a:spcBef>
            </a:pPr>
            <a:r>
              <a:rPr kumimoji="1" lang="zh-CN" altLang="en-US" sz="1600" dirty="0"/>
              <a:t>提供错误修改建议</a:t>
            </a:r>
            <a:endParaRPr kumimoji="1" lang="en-US" altLang="zh-CN" sz="1600" dirty="0"/>
          </a:p>
          <a:p>
            <a:pPr lvl="1">
              <a:lnSpc>
                <a:spcPct val="80000"/>
              </a:lnSpc>
              <a:spcBef>
                <a:spcPct val="30000"/>
              </a:spcBef>
            </a:pPr>
            <a:r>
              <a:rPr kumimoji="1" lang="zh-CN" altLang="en-US" sz="1600" b="1" dirty="0"/>
              <a:t>（</a:t>
            </a:r>
            <a:r>
              <a:rPr kumimoji="1" lang="en-US" altLang="zh-CN" sz="1600" b="1" dirty="0"/>
              <a:t>3</a:t>
            </a:r>
            <a:r>
              <a:rPr kumimoji="1" lang="zh-CN" altLang="en-US" sz="1600" b="1" dirty="0"/>
              <a:t>）创新及应用</a:t>
            </a:r>
            <a:r>
              <a:rPr lang="zh-CN" altLang="en-US" sz="1600" b="1" dirty="0"/>
              <a:t>（选做）</a:t>
            </a:r>
            <a:endParaRPr kumimoji="1" lang="en-US" altLang="zh-CN" sz="1600" b="1" dirty="0"/>
          </a:p>
          <a:p>
            <a:pPr lvl="2" eaLnBrk="1" hangingPunct="1">
              <a:lnSpc>
                <a:spcPct val="80000"/>
              </a:lnSpc>
              <a:spcBef>
                <a:spcPct val="30000"/>
              </a:spcBef>
            </a:pPr>
            <a:r>
              <a:rPr kumimoji="1" lang="zh-CN" altLang="en-US" sz="1600" b="1" dirty="0">
                <a:solidFill>
                  <a:srgbClr val="CC00FF"/>
                </a:solidFill>
              </a:rPr>
              <a:t>了解自动生成器的原理及使用，使用</a:t>
            </a:r>
            <a:r>
              <a:rPr kumimoji="1" lang="en-US" altLang="zh-CN" sz="1600" b="1" dirty="0" err="1">
                <a:solidFill>
                  <a:srgbClr val="CC00FF"/>
                </a:solidFill>
              </a:rPr>
              <a:t>javaCC</a:t>
            </a:r>
            <a:r>
              <a:rPr kumimoji="1" lang="zh-CN" altLang="en-US" sz="1600" b="1" dirty="0">
                <a:solidFill>
                  <a:srgbClr val="CC00FF"/>
                </a:solidFill>
              </a:rPr>
              <a:t>生成算术表达式的语法分析程序</a:t>
            </a:r>
          </a:p>
        </p:txBody>
      </p:sp>
      <p:sp>
        <p:nvSpPr>
          <p:cNvPr id="9219" name="Rectangle 3"/>
          <p:cNvSpPr>
            <a:spLocks noGrp="1" noChangeArrowheads="1"/>
          </p:cNvSpPr>
          <p:nvPr>
            <p:ph type="title" idx="4294967295"/>
          </p:nvPr>
        </p:nvSpPr>
        <p:spPr>
          <a:xfrm>
            <a:off x="0" y="100013"/>
            <a:ext cx="9144000" cy="746522"/>
          </a:xfrm>
        </p:spPr>
        <p:txBody>
          <a:bodyPr>
            <a:normAutofit fontScale="90000"/>
          </a:bodyPr>
          <a:lstStyle/>
          <a:p>
            <a:pPr eaLnBrk="1" hangingPunct="1">
              <a:lnSpc>
                <a:spcPct val="80000"/>
              </a:lnSpc>
            </a:pPr>
            <a:r>
              <a:rPr kumimoji="1" lang="zh-CN" altLang="en-US" b="1" dirty="0">
                <a:solidFill>
                  <a:srgbClr val="663399"/>
                </a:solidFill>
                <a:latin typeface="Times New Roman" pitchFamily="18" charset="0"/>
                <a:ea typeface="隶书" pitchFamily="49" charset="-122"/>
              </a:rPr>
              <a:t>实验三：算术表达式的分析</a:t>
            </a:r>
            <a:br>
              <a:rPr kumimoji="1" lang="en-US" altLang="zh-CN" b="1" dirty="0">
                <a:solidFill>
                  <a:srgbClr val="663399"/>
                </a:solidFill>
                <a:latin typeface="Times New Roman" pitchFamily="18" charset="0"/>
                <a:ea typeface="隶书" pitchFamily="49" charset="-122"/>
              </a:rPr>
            </a:br>
            <a:r>
              <a:rPr kumimoji="1" lang="zh-CN" altLang="en-US" b="1" dirty="0">
                <a:solidFill>
                  <a:srgbClr val="663399"/>
                </a:solidFill>
                <a:latin typeface="Times New Roman" pitchFamily="18" charset="0"/>
                <a:ea typeface="隶书" pitchFamily="49" charset="-122"/>
              </a:rPr>
              <a:t>（</a:t>
            </a:r>
            <a:r>
              <a:rPr kumimoji="1" lang="en-US" altLang="zh-CN" b="1" dirty="0">
                <a:solidFill>
                  <a:srgbClr val="663399"/>
                </a:solidFill>
                <a:latin typeface="Times New Roman" pitchFamily="18" charset="0"/>
                <a:ea typeface="隶书" pitchFamily="49" charset="-122"/>
              </a:rPr>
              <a:t>2</a:t>
            </a:r>
            <a:r>
              <a:rPr kumimoji="1" lang="zh-CN" altLang="en-US" b="1" dirty="0">
                <a:solidFill>
                  <a:srgbClr val="663399"/>
                </a:solidFill>
                <a:latin typeface="Times New Roman" pitchFamily="18" charset="0"/>
                <a:ea typeface="隶书" pitchFamily="49" charset="-122"/>
              </a:rPr>
              <a:t>学时</a:t>
            </a:r>
            <a:r>
              <a:rPr kumimoji="1" lang="en-US" altLang="zh-CN" b="1" dirty="0">
                <a:solidFill>
                  <a:srgbClr val="663399"/>
                </a:solidFill>
                <a:latin typeface="Times New Roman" pitchFamily="18" charset="0"/>
                <a:ea typeface="隶书" pitchFamily="49" charset="-122"/>
              </a:rPr>
              <a:t>+</a:t>
            </a:r>
            <a:r>
              <a:rPr kumimoji="1" lang="zh-CN" altLang="en-US" b="1" dirty="0">
                <a:solidFill>
                  <a:srgbClr val="663399"/>
                </a:solidFill>
                <a:latin typeface="Times New Roman" pitchFamily="18" charset="0"/>
                <a:ea typeface="隶书" pitchFamily="49" charset="-122"/>
              </a:rPr>
              <a:t>课外）</a:t>
            </a:r>
          </a:p>
        </p:txBody>
      </p:sp>
    </p:spTree>
    <p:extLst>
      <p:ext uri="{BB962C8B-B14F-4D97-AF65-F5344CB8AC3E}">
        <p14:creationId xmlns:p14="http://schemas.microsoft.com/office/powerpoint/2010/main" val="790983540"/>
      </p:ext>
    </p:extLst>
  </p:cSld>
  <p:clrMapOvr>
    <a:masterClrMapping/>
  </p:clrMapOvr>
  <p:transition spd="med">
    <p:rand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E0F4B249-DC55-4934-900A-8C80586EB29F}"/>
              </a:ext>
            </a:extLst>
          </p:cNvPr>
          <p:cNvPicPr>
            <a:picLocks noChangeAspect="1"/>
          </p:cNvPicPr>
          <p:nvPr/>
        </p:nvPicPr>
        <p:blipFill>
          <a:blip r:embed="rId2"/>
          <a:stretch>
            <a:fillRect/>
          </a:stretch>
        </p:blipFill>
        <p:spPr>
          <a:xfrm>
            <a:off x="2863555" y="975033"/>
            <a:ext cx="6224555" cy="3468925"/>
          </a:xfrm>
          <a:prstGeom prst="rect">
            <a:avLst/>
          </a:prstGeom>
        </p:spPr>
      </p:pic>
      <p:sp>
        <p:nvSpPr>
          <p:cNvPr id="2" name="内容占位符 1"/>
          <p:cNvSpPr>
            <a:spLocks noGrp="1"/>
          </p:cNvSpPr>
          <p:nvPr>
            <p:ph idx="1"/>
          </p:nvPr>
        </p:nvSpPr>
        <p:spPr>
          <a:xfrm>
            <a:off x="467544" y="4803998"/>
            <a:ext cx="8229600" cy="315053"/>
          </a:xfrm>
        </p:spPr>
        <p:txBody>
          <a:bodyPr>
            <a:normAutofit fontScale="70000" lnSpcReduction="20000"/>
          </a:bodyPr>
          <a:lstStyle/>
          <a:p>
            <a:endParaRPr lang="zh-CN" altLang="en-US" dirty="0"/>
          </a:p>
        </p:txBody>
      </p:sp>
      <p:sp>
        <p:nvSpPr>
          <p:cNvPr id="3" name="标题 2"/>
          <p:cNvSpPr>
            <a:spLocks noGrp="1"/>
          </p:cNvSpPr>
          <p:nvPr>
            <p:ph type="title"/>
          </p:nvPr>
        </p:nvSpPr>
        <p:spPr>
          <a:xfrm>
            <a:off x="12616" y="1273"/>
            <a:ext cx="8229600" cy="576064"/>
          </a:xfrm>
        </p:spPr>
        <p:txBody>
          <a:bodyPr>
            <a:normAutofit fontScale="90000"/>
          </a:bodyPr>
          <a:lstStyle/>
          <a:p>
            <a:r>
              <a:rPr lang="zh-CN" altLang="en-US" dirty="0"/>
              <a:t>语法分析实验实例（算术表达式）</a:t>
            </a:r>
          </a:p>
        </p:txBody>
      </p:sp>
      <p:sp>
        <p:nvSpPr>
          <p:cNvPr id="4" name="矩形 3"/>
          <p:cNvSpPr/>
          <p:nvPr/>
        </p:nvSpPr>
        <p:spPr>
          <a:xfrm>
            <a:off x="55890" y="777900"/>
            <a:ext cx="2286000" cy="120032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dirty="0"/>
              <a:t>1. </a:t>
            </a:r>
            <a:r>
              <a:rPr lang="en-US" altLang="zh-CN" b="1" dirty="0">
                <a:solidFill>
                  <a:srgbClr val="FF0000"/>
                </a:solidFill>
              </a:rPr>
              <a:t>E→E+T|E-T|T</a:t>
            </a:r>
            <a:endParaRPr lang="zh-CN" altLang="zh-CN" b="1" dirty="0">
              <a:solidFill>
                <a:srgbClr val="FF0000"/>
              </a:solidFill>
            </a:endParaRPr>
          </a:p>
          <a:p>
            <a:r>
              <a:rPr lang="en-US" altLang="zh-CN" dirty="0"/>
              <a:t>2. T→T*F|T/F|F</a:t>
            </a:r>
            <a:endParaRPr lang="zh-CN" altLang="zh-CN" dirty="0"/>
          </a:p>
          <a:p>
            <a:r>
              <a:rPr lang="en-US" altLang="zh-CN" dirty="0"/>
              <a:t>3. F→-P</a:t>
            </a:r>
            <a:endParaRPr lang="zh-CN" altLang="zh-CN" dirty="0"/>
          </a:p>
          <a:p>
            <a:r>
              <a:rPr lang="en-US" altLang="zh-CN" dirty="0"/>
              <a:t>4. </a:t>
            </a:r>
            <a:r>
              <a:rPr lang="en-US" altLang="zh-CN" dirty="0" err="1"/>
              <a:t>P→i</a:t>
            </a:r>
            <a:r>
              <a:rPr lang="en-US" altLang="zh-CN" dirty="0"/>
              <a:t>|(E)</a:t>
            </a:r>
            <a:endParaRPr lang="zh-CN" altLang="en-US" dirty="0"/>
          </a:p>
        </p:txBody>
      </p:sp>
      <p:sp>
        <p:nvSpPr>
          <p:cNvPr id="5" name="矩形 4"/>
          <p:cNvSpPr/>
          <p:nvPr/>
        </p:nvSpPr>
        <p:spPr>
          <a:xfrm>
            <a:off x="2411760" y="771549"/>
            <a:ext cx="6624736" cy="3637919"/>
          </a:xfrm>
          <a:prstGeom prst="rect">
            <a:avLst/>
          </a:prstGeom>
          <a:ln>
            <a:solidFill>
              <a:srgbClr val="00B050"/>
            </a:solidFill>
          </a:ln>
        </p:spPr>
        <p:txBody>
          <a:bodyPr wrap="square">
            <a:spAutoFit/>
          </a:bodyPr>
          <a:lstStyle/>
          <a:p>
            <a:pPr>
              <a:lnSpc>
                <a:spcPct val="90000"/>
              </a:lnSpc>
            </a:pPr>
            <a:r>
              <a:rPr lang="en-US" altLang="zh-CN" sz="1600" dirty="0"/>
              <a:t>void  </a:t>
            </a:r>
            <a:r>
              <a:rPr lang="en-US" altLang="zh-CN" sz="1600" dirty="0" err="1"/>
              <a:t>aexpr</a:t>
            </a:r>
            <a:r>
              <a:rPr lang="en-US" altLang="zh-CN" sz="1600" dirty="0"/>
              <a:t>( )// </a:t>
            </a:r>
            <a:r>
              <a:rPr lang="zh-CN" altLang="zh-CN" sz="1600" dirty="0"/>
              <a:t>处理算术表达式</a:t>
            </a:r>
          </a:p>
          <a:p>
            <a:pPr>
              <a:lnSpc>
                <a:spcPct val="90000"/>
              </a:lnSpc>
            </a:pPr>
            <a:r>
              <a:rPr lang="en-US" altLang="zh-CN" sz="1600" dirty="0"/>
              <a:t>{</a:t>
            </a:r>
            <a:endParaRPr lang="zh-CN" altLang="zh-CN" sz="1600" dirty="0"/>
          </a:p>
          <a:p>
            <a:pPr>
              <a:lnSpc>
                <a:spcPct val="90000"/>
              </a:lnSpc>
            </a:pPr>
            <a:r>
              <a:rPr lang="en-US" altLang="zh-CN" sz="1600" dirty="0"/>
              <a:t>      token= </a:t>
            </a:r>
            <a:r>
              <a:rPr lang="en-US" altLang="zh-CN" sz="1600" dirty="0" err="1"/>
              <a:t>getnexttoken</a:t>
            </a:r>
            <a:r>
              <a:rPr lang="en-US" altLang="zh-CN" sz="1600" dirty="0"/>
              <a:t>();</a:t>
            </a:r>
            <a:endParaRPr lang="zh-CN" altLang="zh-CN" sz="1600" dirty="0"/>
          </a:p>
          <a:p>
            <a:pPr>
              <a:lnSpc>
                <a:spcPct val="90000"/>
              </a:lnSpc>
            </a:pPr>
            <a:r>
              <a:rPr lang="en-US" altLang="zh-CN" sz="1600" dirty="0">
                <a:solidFill>
                  <a:srgbClr val="CC00FF"/>
                </a:solidFill>
              </a:rPr>
              <a:t>      term(); //</a:t>
            </a:r>
            <a:r>
              <a:rPr lang="zh-CN" altLang="zh-CN" sz="1600" dirty="0">
                <a:solidFill>
                  <a:srgbClr val="CC00FF"/>
                </a:solidFill>
              </a:rPr>
              <a:t>处理乘除，取负和括号部分</a:t>
            </a:r>
          </a:p>
          <a:p>
            <a:pPr>
              <a:lnSpc>
                <a:spcPct val="90000"/>
              </a:lnSpc>
            </a:pPr>
            <a:r>
              <a:rPr lang="en-US" altLang="zh-CN" sz="1600" dirty="0"/>
              <a:t>      while(1) {</a:t>
            </a:r>
            <a:endParaRPr lang="zh-CN" altLang="zh-CN" sz="1600" dirty="0"/>
          </a:p>
          <a:p>
            <a:pPr>
              <a:lnSpc>
                <a:spcPct val="90000"/>
              </a:lnSpc>
            </a:pPr>
            <a:r>
              <a:rPr lang="en-US" altLang="zh-CN" sz="1600" dirty="0"/>
              <a:t>           token= </a:t>
            </a:r>
            <a:r>
              <a:rPr lang="en-US" altLang="zh-CN" sz="1600" dirty="0" err="1"/>
              <a:t>getnexttoken</a:t>
            </a:r>
            <a:r>
              <a:rPr lang="en-US" altLang="zh-CN" sz="1600" dirty="0"/>
              <a:t>();</a:t>
            </a:r>
            <a:endParaRPr lang="zh-CN" altLang="zh-CN" sz="1600" dirty="0"/>
          </a:p>
          <a:p>
            <a:pPr>
              <a:lnSpc>
                <a:spcPct val="90000"/>
              </a:lnSpc>
            </a:pPr>
            <a:r>
              <a:rPr lang="en-US" altLang="zh-CN" sz="1600" dirty="0"/>
              <a:t>           if ((!</a:t>
            </a:r>
            <a:r>
              <a:rPr lang="en-US" altLang="zh-CN" sz="1600" dirty="0" err="1"/>
              <a:t>strcmp</a:t>
            </a:r>
            <a:r>
              <a:rPr lang="en-US" altLang="zh-CN" sz="1600" dirty="0"/>
              <a:t>(token,“+”))||(!</a:t>
            </a:r>
            <a:r>
              <a:rPr lang="en-US" altLang="zh-CN" sz="1600" dirty="0" err="1"/>
              <a:t>strcmp</a:t>
            </a:r>
            <a:r>
              <a:rPr lang="en-US" altLang="zh-CN" sz="1600" dirty="0"/>
              <a:t>(token,“-”))) {//</a:t>
            </a:r>
            <a:r>
              <a:rPr lang="zh-CN" altLang="en-US" sz="1600" dirty="0"/>
              <a:t>处理</a:t>
            </a:r>
            <a:r>
              <a:rPr lang="en-US" altLang="zh-CN" sz="1600" dirty="0"/>
              <a:t>+,-</a:t>
            </a:r>
            <a:r>
              <a:rPr lang="zh-CN" altLang="zh-CN" sz="1600" dirty="0"/>
              <a:t>号</a:t>
            </a:r>
          </a:p>
          <a:p>
            <a:pPr>
              <a:lnSpc>
                <a:spcPct val="90000"/>
              </a:lnSpc>
            </a:pPr>
            <a:r>
              <a:rPr lang="en-US" altLang="zh-CN" sz="1600" dirty="0"/>
              <a:t>	  token= </a:t>
            </a:r>
            <a:r>
              <a:rPr lang="en-US" altLang="zh-CN" sz="1600" dirty="0" err="1"/>
              <a:t>getnexttoken</a:t>
            </a:r>
            <a:r>
              <a:rPr lang="en-US" altLang="zh-CN" sz="1600" dirty="0"/>
              <a:t>();</a:t>
            </a:r>
            <a:endParaRPr lang="zh-CN" altLang="zh-CN" sz="1600" dirty="0"/>
          </a:p>
          <a:p>
            <a:pPr>
              <a:lnSpc>
                <a:spcPct val="90000"/>
              </a:lnSpc>
            </a:pPr>
            <a:r>
              <a:rPr lang="en-US" altLang="zh-CN" sz="1600" dirty="0"/>
              <a:t>                </a:t>
            </a:r>
            <a:r>
              <a:rPr lang="en-US" altLang="zh-CN" sz="1600" dirty="0">
                <a:solidFill>
                  <a:srgbClr val="CC00FF"/>
                </a:solidFill>
              </a:rPr>
              <a:t>term(); //</a:t>
            </a:r>
            <a:r>
              <a:rPr lang="zh-CN" altLang="zh-CN" sz="1600" dirty="0">
                <a:solidFill>
                  <a:srgbClr val="CC00FF"/>
                </a:solidFill>
              </a:rPr>
              <a:t>处理加减之后的部分</a:t>
            </a:r>
          </a:p>
          <a:p>
            <a:pPr>
              <a:lnSpc>
                <a:spcPct val="90000"/>
              </a:lnSpc>
            </a:pPr>
            <a:r>
              <a:rPr lang="en-US" altLang="zh-CN" sz="1600" dirty="0"/>
              <a:t>	 }</a:t>
            </a:r>
            <a:endParaRPr lang="zh-CN" altLang="zh-CN" sz="1600" dirty="0"/>
          </a:p>
          <a:p>
            <a:pPr>
              <a:lnSpc>
                <a:spcPct val="90000"/>
              </a:lnSpc>
            </a:pPr>
            <a:r>
              <a:rPr lang="en-US" altLang="zh-CN" sz="1600" dirty="0"/>
              <a:t>           else  {  // </a:t>
            </a:r>
            <a:r>
              <a:rPr lang="zh-CN" altLang="zh-CN" sz="1600" dirty="0"/>
              <a:t>表达式处理完毕</a:t>
            </a:r>
            <a:r>
              <a:rPr lang="en-US" altLang="zh-CN" sz="1600" dirty="0"/>
              <a:t> </a:t>
            </a:r>
            <a:endParaRPr lang="zh-CN" altLang="zh-CN" sz="1600" dirty="0"/>
          </a:p>
          <a:p>
            <a:pPr>
              <a:lnSpc>
                <a:spcPct val="90000"/>
              </a:lnSpc>
            </a:pPr>
            <a:r>
              <a:rPr lang="en-US" altLang="zh-CN" sz="1600" dirty="0"/>
              <a:t>	  next = next - 1;//</a:t>
            </a:r>
            <a:r>
              <a:rPr lang="zh-CN" altLang="zh-CN" sz="1600" dirty="0"/>
              <a:t>退回当前取出的</a:t>
            </a:r>
            <a:r>
              <a:rPr lang="en-US" altLang="zh-CN" sz="1600" dirty="0"/>
              <a:t>token</a:t>
            </a:r>
            <a:r>
              <a:rPr lang="zh-CN" altLang="zh-CN" sz="1600" dirty="0"/>
              <a:t>字</a:t>
            </a:r>
          </a:p>
          <a:p>
            <a:pPr>
              <a:lnSpc>
                <a:spcPct val="90000"/>
              </a:lnSpc>
            </a:pPr>
            <a:r>
              <a:rPr lang="en-US" altLang="zh-CN" sz="1600" dirty="0"/>
              <a:t>	  break;</a:t>
            </a:r>
            <a:endParaRPr lang="zh-CN" altLang="zh-CN" sz="1600" dirty="0"/>
          </a:p>
          <a:p>
            <a:pPr>
              <a:lnSpc>
                <a:spcPct val="90000"/>
              </a:lnSpc>
            </a:pPr>
            <a:r>
              <a:rPr lang="en-US" altLang="zh-CN" sz="1600" dirty="0"/>
              <a:t>	}</a:t>
            </a:r>
            <a:endParaRPr lang="zh-CN" altLang="zh-CN" sz="1600" dirty="0"/>
          </a:p>
          <a:p>
            <a:pPr>
              <a:lnSpc>
                <a:spcPct val="90000"/>
              </a:lnSpc>
            </a:pPr>
            <a:r>
              <a:rPr lang="en-US" altLang="zh-CN" sz="1600" dirty="0"/>
              <a:t>      }</a:t>
            </a:r>
            <a:endParaRPr lang="zh-CN" altLang="zh-CN" sz="1600" dirty="0"/>
          </a:p>
          <a:p>
            <a:pPr>
              <a:lnSpc>
                <a:spcPct val="90000"/>
              </a:lnSpc>
            </a:pPr>
            <a:r>
              <a:rPr lang="en-US" altLang="zh-CN" sz="1600" dirty="0"/>
              <a:t>}</a:t>
            </a:r>
            <a:endParaRPr lang="zh-CN" altLang="en-US" sz="1600" dirty="0"/>
          </a:p>
        </p:txBody>
      </p:sp>
      <p:sp>
        <p:nvSpPr>
          <p:cNvPr id="9" name="Rectangle 4"/>
          <p:cNvSpPr>
            <a:spLocks noChangeArrowheads="1"/>
          </p:cNvSpPr>
          <p:nvPr/>
        </p:nvSpPr>
        <p:spPr bwMode="auto">
          <a:xfrm>
            <a:off x="222892" y="2529066"/>
            <a:ext cx="2188868" cy="590931"/>
          </a:xfrm>
          <a:prstGeom prst="rect">
            <a:avLst/>
          </a:prstGeom>
          <a:solidFill>
            <a:schemeClr val="bg1"/>
          </a:solidFill>
          <a:ln w="28575">
            <a:solidFill>
              <a:srgbClr val="0066FF"/>
            </a:solidFill>
            <a:miter lim="800000"/>
            <a:headEnd/>
            <a:tailEnd/>
          </a:ln>
        </p:spPr>
        <p:txBody>
          <a:bodyPr wrap="square">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nSpc>
                <a:spcPct val="90000"/>
              </a:lnSpc>
              <a:spcBef>
                <a:spcPct val="0"/>
              </a:spcBef>
              <a:buNone/>
            </a:pPr>
            <a:r>
              <a:rPr lang="en-US" altLang="zh-CN" sz="1800" dirty="0">
                <a:solidFill>
                  <a:srgbClr val="CC00FF"/>
                </a:solidFill>
              </a:rPr>
              <a:t>E </a:t>
            </a:r>
            <a:r>
              <a:rPr lang="en-US" altLang="zh-CN" sz="1800" dirty="0">
                <a:solidFill>
                  <a:srgbClr val="CC00FF"/>
                </a:solidFill>
                <a:sym typeface="Wingdings" pitchFamily="2" charset="2"/>
              </a:rPr>
              <a:t></a:t>
            </a:r>
            <a:r>
              <a:rPr lang="en-US" altLang="zh-CN" sz="1800" dirty="0">
                <a:solidFill>
                  <a:srgbClr val="CC00FF"/>
                </a:solidFill>
              </a:rPr>
              <a:t>TE'</a:t>
            </a:r>
            <a:br>
              <a:rPr lang="en-US" altLang="zh-CN" sz="1800" dirty="0">
                <a:solidFill>
                  <a:srgbClr val="CC00FF"/>
                </a:solidFill>
              </a:rPr>
            </a:br>
            <a:r>
              <a:rPr lang="en-US" altLang="zh-CN" sz="1800" dirty="0">
                <a:solidFill>
                  <a:srgbClr val="CC00FF"/>
                </a:solidFill>
              </a:rPr>
              <a:t>E' </a:t>
            </a:r>
            <a:r>
              <a:rPr lang="en-US" altLang="zh-CN" sz="1800" dirty="0">
                <a:solidFill>
                  <a:srgbClr val="CC00FF"/>
                </a:solidFill>
                <a:sym typeface="Wingdings" pitchFamily="2" charset="2"/>
              </a:rPr>
              <a:t></a:t>
            </a:r>
            <a:r>
              <a:rPr lang="en-US" altLang="zh-CN" sz="1800" dirty="0">
                <a:solidFill>
                  <a:srgbClr val="CC00FF"/>
                </a:solidFill>
              </a:rPr>
              <a:t> +TE' | </a:t>
            </a:r>
            <a:r>
              <a:rPr lang="en-US" altLang="zh-CN" sz="1800" dirty="0"/>
              <a:t>-</a:t>
            </a:r>
            <a:r>
              <a:rPr lang="en-US" altLang="zh-CN" sz="1800" dirty="0">
                <a:solidFill>
                  <a:srgbClr val="CC00FF"/>
                </a:solidFill>
              </a:rPr>
              <a:t>TE' |ε</a:t>
            </a:r>
            <a:endParaRPr lang="en-US" altLang="zh-CN" sz="1800" dirty="0"/>
          </a:p>
        </p:txBody>
      </p:sp>
      <p:sp>
        <p:nvSpPr>
          <p:cNvPr id="11" name="下箭头 10"/>
          <p:cNvSpPr/>
          <p:nvPr/>
        </p:nvSpPr>
        <p:spPr bwMode="auto">
          <a:xfrm>
            <a:off x="935361" y="1978229"/>
            <a:ext cx="265113" cy="474662"/>
          </a:xfrm>
          <a:prstGeom prst="downArrow">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a:lstStyle/>
          <a:p>
            <a:pPr algn="ctr" eaLnBrk="1" hangingPunct="1">
              <a:defRPr/>
            </a:pPr>
            <a:endParaRPr lang="zh-CN" altLang="en-US">
              <a:solidFill>
                <a:schemeClr val="tx1"/>
              </a:solidFill>
              <a:ea typeface="华文行楷" pitchFamily="2" charset="-122"/>
            </a:endParaRPr>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12" y="4389780"/>
            <a:ext cx="3363996" cy="7537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下箭头 9"/>
          <p:cNvSpPr/>
          <p:nvPr/>
        </p:nvSpPr>
        <p:spPr bwMode="auto">
          <a:xfrm>
            <a:off x="935361" y="3174175"/>
            <a:ext cx="265113" cy="1269783"/>
          </a:xfrm>
          <a:prstGeom prst="downArrow">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a:lstStyle/>
          <a:p>
            <a:pPr algn="ctr" eaLnBrk="1" hangingPunct="1">
              <a:defRPr/>
            </a:pPr>
            <a:endParaRPr lang="zh-CN" altLang="en-US">
              <a:solidFill>
                <a:schemeClr val="tx1"/>
              </a:solidFill>
              <a:ea typeface="华文行楷" pitchFamily="2" charset="-122"/>
            </a:endParaRPr>
          </a:p>
        </p:txBody>
      </p:sp>
      <p:sp>
        <p:nvSpPr>
          <p:cNvPr id="6" name="任意多边形 5"/>
          <p:cNvSpPr/>
          <p:nvPr/>
        </p:nvSpPr>
        <p:spPr>
          <a:xfrm>
            <a:off x="3329609" y="3647661"/>
            <a:ext cx="1666718" cy="1232452"/>
          </a:xfrm>
          <a:custGeom>
            <a:avLst/>
            <a:gdLst>
              <a:gd name="connsiteX0" fmla="*/ 0 w 1666718"/>
              <a:gd name="connsiteY0" fmla="*/ 1232452 h 1232452"/>
              <a:gd name="connsiteX1" fmla="*/ 1580321 w 1666718"/>
              <a:gd name="connsiteY1" fmla="*/ 1023730 h 1232452"/>
              <a:gd name="connsiteX2" fmla="*/ 1470991 w 1666718"/>
              <a:gd name="connsiteY2" fmla="*/ 0 h 1232452"/>
              <a:gd name="connsiteX3" fmla="*/ 1470991 w 1666718"/>
              <a:gd name="connsiteY3" fmla="*/ 0 h 1232452"/>
            </a:gdLst>
            <a:ahLst/>
            <a:cxnLst>
              <a:cxn ang="0">
                <a:pos x="connsiteX0" y="connsiteY0"/>
              </a:cxn>
              <a:cxn ang="0">
                <a:pos x="connsiteX1" y="connsiteY1"/>
              </a:cxn>
              <a:cxn ang="0">
                <a:pos x="connsiteX2" y="connsiteY2"/>
              </a:cxn>
              <a:cxn ang="0">
                <a:pos x="connsiteX3" y="connsiteY3"/>
              </a:cxn>
            </a:cxnLst>
            <a:rect l="l" t="t" r="r" b="b"/>
            <a:pathLst>
              <a:path w="1666718" h="1232452">
                <a:moveTo>
                  <a:pt x="0" y="1232452"/>
                </a:moveTo>
                <a:cubicBezTo>
                  <a:pt x="667578" y="1230795"/>
                  <a:pt x="1335156" y="1229139"/>
                  <a:pt x="1580321" y="1023730"/>
                </a:cubicBezTo>
                <a:cubicBezTo>
                  <a:pt x="1825486" y="818321"/>
                  <a:pt x="1470991" y="0"/>
                  <a:pt x="1470991" y="0"/>
                </a:cubicBezTo>
                <a:lnTo>
                  <a:pt x="1470991" y="0"/>
                </a:lnTo>
              </a:path>
            </a:pathLst>
          </a:custGeom>
          <a:noFill/>
          <a:ln w="104775" cmpd="tri">
            <a:solidFill>
              <a:schemeClr val="accent2"/>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Tree>
    <p:extLst>
      <p:ext uri="{BB962C8B-B14F-4D97-AF65-F5344CB8AC3E}">
        <p14:creationId xmlns:p14="http://schemas.microsoft.com/office/powerpoint/2010/main" val="793754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up)">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up)">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xit" presetSubtype="0" fill="hold" nodeType="clickEffect">
                                  <p:stCondLst>
                                    <p:cond delay="0"/>
                                  </p:stCondLst>
                                  <p:childTnLst>
                                    <p:set>
                                      <p:cBhvr>
                                        <p:cTn id="21" dur="1" fill="hold">
                                          <p:stCondLst>
                                            <p:cond delay="0"/>
                                          </p:stCondLst>
                                        </p:cTn>
                                        <p:tgtEl>
                                          <p:spTgt spid="7"/>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7170"/>
                                        </p:tgtEl>
                                        <p:attrNameLst>
                                          <p:attrName>style.visibility</p:attrName>
                                        </p:attrNameLst>
                                      </p:cBhvr>
                                      <p:to>
                                        <p:strVal val="visible"/>
                                      </p:to>
                                    </p:set>
                                    <p:animEffect transition="in" filter="wipe(down)">
                                      <p:cBhvr>
                                        <p:cTn id="26" dur="500"/>
                                        <p:tgtEl>
                                          <p:spTgt spid="7170"/>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wipe(down)">
                                      <p:cBhvr>
                                        <p:cTn id="31" dur="500"/>
                                        <p:tgtEl>
                                          <p:spTgt spid="6"/>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1" grpId="0" animBg="1"/>
      <p:bldP spid="10" grpId="0" animBg="1"/>
      <p:bldP spid="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67544" y="4803998"/>
            <a:ext cx="8229600" cy="315053"/>
          </a:xfrm>
        </p:spPr>
        <p:txBody>
          <a:bodyPr>
            <a:normAutofit fontScale="70000" lnSpcReduction="20000"/>
          </a:bodyPr>
          <a:lstStyle/>
          <a:p>
            <a:endParaRPr lang="zh-CN" altLang="en-US" dirty="0"/>
          </a:p>
        </p:txBody>
      </p:sp>
      <p:sp>
        <p:nvSpPr>
          <p:cNvPr id="3" name="标题 2"/>
          <p:cNvSpPr>
            <a:spLocks noGrp="1"/>
          </p:cNvSpPr>
          <p:nvPr>
            <p:ph type="title"/>
          </p:nvPr>
        </p:nvSpPr>
        <p:spPr>
          <a:xfrm>
            <a:off x="12616" y="1273"/>
            <a:ext cx="8229600" cy="576064"/>
          </a:xfrm>
        </p:spPr>
        <p:txBody>
          <a:bodyPr>
            <a:normAutofit fontScale="90000"/>
          </a:bodyPr>
          <a:lstStyle/>
          <a:p>
            <a:r>
              <a:rPr lang="zh-CN" altLang="en-US" dirty="0"/>
              <a:t>语法分析实验实例（算术表达式）</a:t>
            </a:r>
          </a:p>
        </p:txBody>
      </p:sp>
      <p:sp>
        <p:nvSpPr>
          <p:cNvPr id="4" name="矩形 3"/>
          <p:cNvSpPr/>
          <p:nvPr/>
        </p:nvSpPr>
        <p:spPr>
          <a:xfrm>
            <a:off x="55890" y="777900"/>
            <a:ext cx="2286000" cy="120032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dirty="0"/>
              <a:t>1. E→E+T|E-T|T</a:t>
            </a:r>
            <a:endParaRPr lang="zh-CN" altLang="zh-CN" dirty="0"/>
          </a:p>
          <a:p>
            <a:r>
              <a:rPr lang="en-US" altLang="zh-CN" dirty="0"/>
              <a:t>2. </a:t>
            </a:r>
            <a:r>
              <a:rPr lang="en-US" altLang="zh-CN" b="1" dirty="0">
                <a:solidFill>
                  <a:srgbClr val="FF0000"/>
                </a:solidFill>
              </a:rPr>
              <a:t>T→T*F|T/F|F</a:t>
            </a:r>
          </a:p>
          <a:p>
            <a:r>
              <a:rPr lang="en-US" altLang="zh-CN" dirty="0"/>
              <a:t>3. F→-P</a:t>
            </a:r>
            <a:endParaRPr lang="zh-CN" altLang="zh-CN" dirty="0"/>
          </a:p>
          <a:p>
            <a:r>
              <a:rPr lang="en-US" altLang="zh-CN" dirty="0"/>
              <a:t>4. </a:t>
            </a:r>
            <a:r>
              <a:rPr lang="en-US" altLang="zh-CN" dirty="0" err="1"/>
              <a:t>P→i</a:t>
            </a:r>
            <a:r>
              <a:rPr lang="en-US" altLang="zh-CN" dirty="0"/>
              <a:t>|(E)</a:t>
            </a:r>
            <a:endParaRPr lang="zh-CN" altLang="en-US" dirty="0"/>
          </a:p>
        </p:txBody>
      </p:sp>
      <p:sp>
        <p:nvSpPr>
          <p:cNvPr id="5" name="矩形 4"/>
          <p:cNvSpPr/>
          <p:nvPr/>
        </p:nvSpPr>
        <p:spPr>
          <a:xfrm>
            <a:off x="2555776" y="689377"/>
            <a:ext cx="6552728" cy="3908762"/>
          </a:xfrm>
          <a:prstGeom prst="rect">
            <a:avLst/>
          </a:prstGeom>
          <a:ln>
            <a:solidFill>
              <a:srgbClr val="00B050"/>
            </a:solidFill>
          </a:ln>
        </p:spPr>
        <p:txBody>
          <a:bodyPr wrap="square">
            <a:spAutoFit/>
          </a:bodyPr>
          <a:lstStyle/>
          <a:p>
            <a:r>
              <a:rPr lang="en-US" altLang="zh-CN" sz="1600" dirty="0"/>
              <a:t>term( )  //</a:t>
            </a:r>
            <a:r>
              <a:rPr lang="zh-CN" altLang="en-US" sz="1600" dirty="0"/>
              <a:t>处理*，</a:t>
            </a:r>
            <a:r>
              <a:rPr lang="en-US" altLang="zh-CN" sz="1600" dirty="0"/>
              <a:t>/</a:t>
            </a:r>
            <a:endParaRPr lang="zh-CN" altLang="en-US" sz="1600" dirty="0"/>
          </a:p>
          <a:p>
            <a:r>
              <a:rPr lang="en-US" altLang="zh-CN" sz="1600" dirty="0"/>
              <a:t>{</a:t>
            </a:r>
          </a:p>
          <a:p>
            <a:r>
              <a:rPr lang="en-US" altLang="zh-CN" sz="1600" dirty="0"/>
              <a:t>       token = </a:t>
            </a:r>
            <a:r>
              <a:rPr lang="en-US" altLang="zh-CN" sz="1600" dirty="0" err="1"/>
              <a:t>getnexttoken</a:t>
            </a:r>
            <a:r>
              <a:rPr lang="en-US" altLang="zh-CN" sz="1600" dirty="0"/>
              <a:t>();</a:t>
            </a:r>
          </a:p>
          <a:p>
            <a:r>
              <a:rPr lang="en-US" altLang="zh-CN" sz="1600" dirty="0"/>
              <a:t>       </a:t>
            </a:r>
            <a:r>
              <a:rPr lang="en-US" altLang="zh-CN" sz="1600" dirty="0">
                <a:solidFill>
                  <a:srgbClr val="CC00FF"/>
                </a:solidFill>
              </a:rPr>
              <a:t>factor( );</a:t>
            </a:r>
            <a:r>
              <a:rPr lang="en-US" altLang="zh-CN" sz="1600" dirty="0"/>
              <a:t>      //</a:t>
            </a:r>
            <a:r>
              <a:rPr lang="zh-CN" altLang="en-US" sz="1600" dirty="0"/>
              <a:t>处理因子</a:t>
            </a:r>
          </a:p>
          <a:p>
            <a:r>
              <a:rPr lang="en-US" altLang="zh-CN" sz="1600" dirty="0"/>
              <a:t>       while(1) {</a:t>
            </a:r>
          </a:p>
          <a:p>
            <a:r>
              <a:rPr lang="en-US" altLang="zh-CN" sz="1600" dirty="0"/>
              <a:t>             token = </a:t>
            </a:r>
            <a:r>
              <a:rPr lang="en-US" altLang="zh-CN" sz="1600" dirty="0" err="1"/>
              <a:t>getnexttoken</a:t>
            </a:r>
            <a:r>
              <a:rPr lang="en-US" altLang="zh-CN" sz="1600" dirty="0"/>
              <a:t>();</a:t>
            </a:r>
          </a:p>
          <a:p>
            <a:r>
              <a:rPr lang="en-US" altLang="zh-CN" sz="1600" dirty="0"/>
              <a:t>             if  ((!</a:t>
            </a:r>
            <a:r>
              <a:rPr lang="en-US" altLang="zh-CN" sz="1600" dirty="0" err="1"/>
              <a:t>strcmp</a:t>
            </a:r>
            <a:r>
              <a:rPr lang="en-US" altLang="zh-CN" sz="1600" dirty="0"/>
              <a:t>(token,“*”))||(!</a:t>
            </a:r>
            <a:r>
              <a:rPr lang="en-US" altLang="zh-CN" sz="1600" dirty="0" err="1"/>
              <a:t>strcmp</a:t>
            </a:r>
            <a:r>
              <a:rPr lang="en-US" altLang="zh-CN" sz="1600" dirty="0"/>
              <a:t>(token,“/”))) {//</a:t>
            </a:r>
            <a:r>
              <a:rPr lang="zh-CN" altLang="en-US" sz="1600" dirty="0"/>
              <a:t>处理*</a:t>
            </a:r>
            <a:r>
              <a:rPr lang="en-US" altLang="zh-CN" sz="1600" dirty="0"/>
              <a:t>/</a:t>
            </a:r>
          </a:p>
          <a:p>
            <a:r>
              <a:rPr lang="en-US" altLang="zh-CN" sz="1600" dirty="0"/>
              <a:t>	    token = </a:t>
            </a:r>
            <a:r>
              <a:rPr lang="en-US" altLang="zh-CN" sz="1600" dirty="0" err="1"/>
              <a:t>getnexttoken</a:t>
            </a:r>
            <a:r>
              <a:rPr lang="en-US" altLang="zh-CN" sz="1600" dirty="0"/>
              <a:t>();</a:t>
            </a:r>
          </a:p>
          <a:p>
            <a:r>
              <a:rPr lang="en-US" altLang="zh-CN" sz="1600" dirty="0"/>
              <a:t>	</a:t>
            </a:r>
            <a:r>
              <a:rPr lang="en-US" altLang="zh-CN" sz="1600" dirty="0">
                <a:solidFill>
                  <a:srgbClr val="CC00FF"/>
                </a:solidFill>
              </a:rPr>
              <a:t>    factor( ); </a:t>
            </a:r>
            <a:r>
              <a:rPr lang="en-US" altLang="zh-CN" sz="1600" dirty="0"/>
              <a:t>//</a:t>
            </a:r>
            <a:r>
              <a:rPr lang="zh-CN" altLang="en-US" sz="1600" dirty="0"/>
              <a:t>递归调用，*</a:t>
            </a:r>
            <a:r>
              <a:rPr lang="en-US" altLang="zh-CN" sz="1600" dirty="0"/>
              <a:t>/</a:t>
            </a:r>
            <a:r>
              <a:rPr lang="zh-CN" altLang="en-US" sz="1600" dirty="0"/>
              <a:t>之后跟随的另一个项</a:t>
            </a:r>
          </a:p>
          <a:p>
            <a:r>
              <a:rPr lang="zh-CN" altLang="en-US" sz="1600" dirty="0"/>
              <a:t>	</a:t>
            </a:r>
            <a:r>
              <a:rPr lang="en-US" altLang="zh-CN" sz="1600" dirty="0"/>
              <a:t>}</a:t>
            </a:r>
          </a:p>
          <a:p>
            <a:pPr>
              <a:lnSpc>
                <a:spcPct val="90000"/>
              </a:lnSpc>
            </a:pPr>
            <a:r>
              <a:rPr lang="en-US" altLang="zh-CN" sz="1600" dirty="0"/>
              <a:t>	else {  // </a:t>
            </a:r>
            <a:r>
              <a:rPr lang="zh-CN" altLang="zh-CN" sz="1600" dirty="0"/>
              <a:t>表达式处理完毕</a:t>
            </a:r>
            <a:r>
              <a:rPr lang="en-US" altLang="zh-CN" sz="1600" dirty="0"/>
              <a:t> </a:t>
            </a:r>
            <a:endParaRPr lang="zh-CN" altLang="zh-CN" sz="1600" dirty="0"/>
          </a:p>
          <a:p>
            <a:pPr>
              <a:lnSpc>
                <a:spcPct val="90000"/>
              </a:lnSpc>
            </a:pPr>
            <a:r>
              <a:rPr lang="en-US" altLang="zh-CN" sz="1600" dirty="0"/>
              <a:t>	     next = next - 1;//</a:t>
            </a:r>
            <a:r>
              <a:rPr lang="zh-CN" altLang="zh-CN" sz="1600" dirty="0"/>
              <a:t>退回当前取出的</a:t>
            </a:r>
            <a:r>
              <a:rPr lang="en-US" altLang="zh-CN" sz="1600" dirty="0"/>
              <a:t>token</a:t>
            </a:r>
            <a:r>
              <a:rPr lang="zh-CN" altLang="zh-CN" sz="1600" dirty="0"/>
              <a:t>字</a:t>
            </a:r>
          </a:p>
          <a:p>
            <a:pPr>
              <a:lnSpc>
                <a:spcPct val="90000"/>
              </a:lnSpc>
            </a:pPr>
            <a:r>
              <a:rPr lang="en-US" altLang="zh-CN" sz="1600" dirty="0"/>
              <a:t>	     break;</a:t>
            </a:r>
            <a:endParaRPr lang="zh-CN" altLang="zh-CN" sz="1600" dirty="0"/>
          </a:p>
          <a:p>
            <a:pPr>
              <a:lnSpc>
                <a:spcPct val="90000"/>
              </a:lnSpc>
            </a:pPr>
            <a:r>
              <a:rPr lang="en-US" altLang="zh-CN" sz="1600" dirty="0"/>
              <a:t>	}</a:t>
            </a:r>
          </a:p>
          <a:p>
            <a:pPr>
              <a:lnSpc>
                <a:spcPct val="90000"/>
              </a:lnSpc>
            </a:pPr>
            <a:r>
              <a:rPr lang="en-US" altLang="zh-CN" sz="1600" dirty="0"/>
              <a:t>       }</a:t>
            </a:r>
            <a:endParaRPr lang="zh-CN" altLang="en-US" sz="1600" dirty="0"/>
          </a:p>
          <a:p>
            <a:r>
              <a:rPr lang="en-US" altLang="zh-CN" sz="1600" dirty="0"/>
              <a:t>}</a:t>
            </a:r>
          </a:p>
        </p:txBody>
      </p:sp>
      <p:sp>
        <p:nvSpPr>
          <p:cNvPr id="9" name="Rectangle 4"/>
          <p:cNvSpPr>
            <a:spLocks noChangeArrowheads="1"/>
          </p:cNvSpPr>
          <p:nvPr/>
        </p:nvSpPr>
        <p:spPr bwMode="auto">
          <a:xfrm>
            <a:off x="222892" y="2643758"/>
            <a:ext cx="1951996" cy="590931"/>
          </a:xfrm>
          <a:prstGeom prst="rect">
            <a:avLst/>
          </a:prstGeom>
          <a:solidFill>
            <a:schemeClr val="bg1"/>
          </a:solidFill>
          <a:ln w="28575">
            <a:solidFill>
              <a:srgbClr val="0066FF"/>
            </a:solidFill>
            <a:miter lim="800000"/>
            <a:headEnd/>
            <a:tailEnd/>
          </a:ln>
        </p:spPr>
        <p:txBody>
          <a:bodyPr wrap="square">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nSpc>
                <a:spcPct val="90000"/>
              </a:lnSpc>
              <a:spcBef>
                <a:spcPct val="0"/>
              </a:spcBef>
              <a:buNone/>
            </a:pPr>
            <a:r>
              <a:rPr lang="en-US" altLang="zh-CN" sz="1800" dirty="0">
                <a:solidFill>
                  <a:srgbClr val="CC00FF"/>
                </a:solidFill>
              </a:rPr>
              <a:t>T </a:t>
            </a:r>
            <a:r>
              <a:rPr lang="en-US" altLang="zh-CN" sz="1800" dirty="0">
                <a:solidFill>
                  <a:srgbClr val="CC00FF"/>
                </a:solidFill>
                <a:sym typeface="Wingdings" pitchFamily="2" charset="2"/>
              </a:rPr>
              <a:t></a:t>
            </a:r>
            <a:r>
              <a:rPr lang="en-US" altLang="zh-CN" sz="1800" dirty="0">
                <a:solidFill>
                  <a:srgbClr val="CC00FF"/>
                </a:solidFill>
              </a:rPr>
              <a:t> FT'</a:t>
            </a:r>
            <a:br>
              <a:rPr lang="en-US" altLang="zh-CN" sz="1800" dirty="0">
                <a:solidFill>
                  <a:srgbClr val="CC00FF"/>
                </a:solidFill>
              </a:rPr>
            </a:br>
            <a:r>
              <a:rPr lang="en-US" altLang="zh-CN" sz="1800" dirty="0">
                <a:solidFill>
                  <a:srgbClr val="CC00FF"/>
                </a:solidFill>
              </a:rPr>
              <a:t>T' </a:t>
            </a:r>
            <a:r>
              <a:rPr lang="en-US" altLang="zh-CN" sz="1800" dirty="0">
                <a:solidFill>
                  <a:srgbClr val="CC00FF"/>
                </a:solidFill>
                <a:sym typeface="Wingdings" pitchFamily="2" charset="2"/>
              </a:rPr>
              <a:t></a:t>
            </a:r>
            <a:r>
              <a:rPr lang="en-US" altLang="zh-CN" sz="1800" dirty="0">
                <a:solidFill>
                  <a:srgbClr val="CC00FF"/>
                </a:solidFill>
              </a:rPr>
              <a:t> *FT' | /FT' | ε</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11" y="4440598"/>
            <a:ext cx="2577587" cy="6269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下箭头 9"/>
          <p:cNvSpPr/>
          <p:nvPr/>
        </p:nvSpPr>
        <p:spPr bwMode="auto">
          <a:xfrm>
            <a:off x="935361" y="2025080"/>
            <a:ext cx="265113" cy="546670"/>
          </a:xfrm>
          <a:prstGeom prst="downArrow">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a:lstStyle/>
          <a:p>
            <a:pPr algn="ctr" eaLnBrk="1" hangingPunct="1">
              <a:defRPr/>
            </a:pPr>
            <a:endParaRPr lang="zh-CN" altLang="en-US">
              <a:solidFill>
                <a:schemeClr val="tx1"/>
              </a:solidFill>
              <a:ea typeface="华文行楷" pitchFamily="2" charset="-122"/>
            </a:endParaRPr>
          </a:p>
        </p:txBody>
      </p:sp>
      <p:sp>
        <p:nvSpPr>
          <p:cNvPr id="11" name="下箭头 10"/>
          <p:cNvSpPr/>
          <p:nvPr/>
        </p:nvSpPr>
        <p:spPr bwMode="auto">
          <a:xfrm>
            <a:off x="922511" y="3249216"/>
            <a:ext cx="265113" cy="1112606"/>
          </a:xfrm>
          <a:prstGeom prst="downArrow">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a:lstStyle/>
          <a:p>
            <a:pPr algn="ctr" eaLnBrk="1" hangingPunct="1">
              <a:defRPr/>
            </a:pPr>
            <a:endParaRPr lang="zh-CN" altLang="en-US">
              <a:solidFill>
                <a:schemeClr val="tx1"/>
              </a:solidFill>
              <a:ea typeface="华文行楷" pitchFamily="2" charset="-122"/>
            </a:endParaRPr>
          </a:p>
        </p:txBody>
      </p:sp>
      <p:sp>
        <p:nvSpPr>
          <p:cNvPr id="12" name="任意多边形 11"/>
          <p:cNvSpPr/>
          <p:nvPr/>
        </p:nvSpPr>
        <p:spPr>
          <a:xfrm rot="469381">
            <a:off x="2487880" y="3745596"/>
            <a:ext cx="1666718" cy="1232452"/>
          </a:xfrm>
          <a:custGeom>
            <a:avLst/>
            <a:gdLst>
              <a:gd name="connsiteX0" fmla="*/ 0 w 1666718"/>
              <a:gd name="connsiteY0" fmla="*/ 1232452 h 1232452"/>
              <a:gd name="connsiteX1" fmla="*/ 1580321 w 1666718"/>
              <a:gd name="connsiteY1" fmla="*/ 1023730 h 1232452"/>
              <a:gd name="connsiteX2" fmla="*/ 1470991 w 1666718"/>
              <a:gd name="connsiteY2" fmla="*/ 0 h 1232452"/>
              <a:gd name="connsiteX3" fmla="*/ 1470991 w 1666718"/>
              <a:gd name="connsiteY3" fmla="*/ 0 h 1232452"/>
            </a:gdLst>
            <a:ahLst/>
            <a:cxnLst>
              <a:cxn ang="0">
                <a:pos x="connsiteX0" y="connsiteY0"/>
              </a:cxn>
              <a:cxn ang="0">
                <a:pos x="connsiteX1" y="connsiteY1"/>
              </a:cxn>
              <a:cxn ang="0">
                <a:pos x="connsiteX2" y="connsiteY2"/>
              </a:cxn>
              <a:cxn ang="0">
                <a:pos x="connsiteX3" y="connsiteY3"/>
              </a:cxn>
            </a:cxnLst>
            <a:rect l="l" t="t" r="r" b="b"/>
            <a:pathLst>
              <a:path w="1666718" h="1232452">
                <a:moveTo>
                  <a:pt x="0" y="1232452"/>
                </a:moveTo>
                <a:cubicBezTo>
                  <a:pt x="667578" y="1230795"/>
                  <a:pt x="1335156" y="1229139"/>
                  <a:pt x="1580321" y="1023730"/>
                </a:cubicBezTo>
                <a:cubicBezTo>
                  <a:pt x="1825486" y="818321"/>
                  <a:pt x="1470991" y="0"/>
                  <a:pt x="1470991" y="0"/>
                </a:cubicBezTo>
                <a:lnTo>
                  <a:pt x="1470991" y="0"/>
                </a:lnTo>
              </a:path>
            </a:pathLst>
          </a:custGeom>
          <a:noFill/>
          <a:ln w="104775" cmpd="tri">
            <a:solidFill>
              <a:schemeClr val="accent2"/>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Tree>
    <p:extLst>
      <p:ext uri="{BB962C8B-B14F-4D97-AF65-F5344CB8AC3E}">
        <p14:creationId xmlns:p14="http://schemas.microsoft.com/office/powerpoint/2010/main" val="1507177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up)">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194"/>
                                        </p:tgtEl>
                                        <p:attrNameLst>
                                          <p:attrName>style.visibility</p:attrName>
                                        </p:attrNameLst>
                                      </p:cBhvr>
                                      <p:to>
                                        <p:strVal val="visible"/>
                                      </p:to>
                                    </p:set>
                                    <p:animEffect transition="in" filter="wipe(left)">
                                      <p:cBhvr>
                                        <p:cTn id="22" dur="500"/>
                                        <p:tgtEl>
                                          <p:spTgt spid="819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down)">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P spid="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403648" y="4299942"/>
            <a:ext cx="5112568" cy="315053"/>
          </a:xfrm>
        </p:spPr>
        <p:txBody>
          <a:bodyPr>
            <a:normAutofit fontScale="70000" lnSpcReduction="20000"/>
          </a:bodyPr>
          <a:lstStyle/>
          <a:p>
            <a:r>
              <a:rPr lang="zh-CN" altLang="en-US" dirty="0"/>
              <a:t>有问题没？</a:t>
            </a:r>
          </a:p>
        </p:txBody>
      </p:sp>
      <p:sp>
        <p:nvSpPr>
          <p:cNvPr id="3" name="标题 2"/>
          <p:cNvSpPr>
            <a:spLocks noGrp="1"/>
          </p:cNvSpPr>
          <p:nvPr>
            <p:ph type="title"/>
          </p:nvPr>
        </p:nvSpPr>
        <p:spPr>
          <a:xfrm>
            <a:off x="12616" y="1273"/>
            <a:ext cx="8229600" cy="576064"/>
          </a:xfrm>
        </p:spPr>
        <p:txBody>
          <a:bodyPr>
            <a:normAutofit fontScale="90000"/>
          </a:bodyPr>
          <a:lstStyle/>
          <a:p>
            <a:r>
              <a:rPr lang="zh-CN" altLang="en-US" dirty="0"/>
              <a:t>语法分析实验实例（算术表达式）</a:t>
            </a:r>
          </a:p>
        </p:txBody>
      </p:sp>
      <p:sp>
        <p:nvSpPr>
          <p:cNvPr id="4" name="矩形 3"/>
          <p:cNvSpPr/>
          <p:nvPr/>
        </p:nvSpPr>
        <p:spPr>
          <a:xfrm>
            <a:off x="55890" y="777900"/>
            <a:ext cx="2286000" cy="120032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dirty="0"/>
              <a:t>1. E→E+T|E-T|T</a:t>
            </a:r>
            <a:endParaRPr lang="zh-CN" altLang="zh-CN" dirty="0"/>
          </a:p>
          <a:p>
            <a:r>
              <a:rPr lang="en-US" altLang="zh-CN" dirty="0"/>
              <a:t>2. T→T*F|T/F|F</a:t>
            </a:r>
          </a:p>
          <a:p>
            <a:r>
              <a:rPr lang="en-US" altLang="zh-CN" dirty="0"/>
              <a:t>3. </a:t>
            </a:r>
            <a:r>
              <a:rPr lang="en-US" altLang="zh-CN" dirty="0">
                <a:solidFill>
                  <a:srgbClr val="CC00FF"/>
                </a:solidFill>
              </a:rPr>
              <a:t>F→-P|P</a:t>
            </a:r>
            <a:endParaRPr lang="zh-CN" altLang="zh-CN" dirty="0">
              <a:solidFill>
                <a:srgbClr val="CC00FF"/>
              </a:solidFill>
            </a:endParaRPr>
          </a:p>
          <a:p>
            <a:r>
              <a:rPr lang="en-US" altLang="zh-CN" dirty="0">
                <a:solidFill>
                  <a:schemeClr val="tx1"/>
                </a:solidFill>
              </a:rPr>
              <a:t>4. </a:t>
            </a:r>
            <a:r>
              <a:rPr lang="en-US" altLang="zh-CN" dirty="0" err="1">
                <a:solidFill>
                  <a:srgbClr val="CC00FF"/>
                </a:solidFill>
              </a:rPr>
              <a:t>P→i</a:t>
            </a:r>
            <a:r>
              <a:rPr lang="en-US" altLang="zh-CN" dirty="0">
                <a:solidFill>
                  <a:srgbClr val="CC00FF"/>
                </a:solidFill>
              </a:rPr>
              <a:t>|(E)</a:t>
            </a:r>
            <a:endParaRPr lang="zh-CN" altLang="en-US" dirty="0">
              <a:solidFill>
                <a:srgbClr val="CC00FF"/>
              </a:solidFill>
            </a:endParaRPr>
          </a:p>
        </p:txBody>
      </p:sp>
      <p:sp>
        <p:nvSpPr>
          <p:cNvPr id="5" name="矩形 4"/>
          <p:cNvSpPr/>
          <p:nvPr/>
        </p:nvSpPr>
        <p:spPr>
          <a:xfrm>
            <a:off x="2599375" y="1100065"/>
            <a:ext cx="6365113" cy="3293209"/>
          </a:xfrm>
          <a:prstGeom prst="rect">
            <a:avLst/>
          </a:prstGeom>
          <a:ln>
            <a:solidFill>
              <a:srgbClr val="00B050"/>
            </a:solidFill>
          </a:ln>
        </p:spPr>
        <p:txBody>
          <a:bodyPr wrap="square">
            <a:spAutoFit/>
          </a:bodyPr>
          <a:lstStyle/>
          <a:p>
            <a:r>
              <a:rPr lang="en-US" altLang="zh-CN" sz="1600" dirty="0"/>
              <a:t>void factor( ) //</a:t>
            </a:r>
            <a:r>
              <a:rPr lang="zh-CN" altLang="zh-CN" sz="1600" dirty="0"/>
              <a:t>处理单个因子</a:t>
            </a:r>
            <a:r>
              <a:rPr lang="en-US" altLang="zh-CN" sz="1600" dirty="0"/>
              <a:t>:</a:t>
            </a:r>
            <a:r>
              <a:rPr lang="zh-CN" altLang="zh-CN" sz="1600" dirty="0"/>
              <a:t>括号和单目取负、单个常量、变量</a:t>
            </a:r>
          </a:p>
          <a:p>
            <a:r>
              <a:rPr lang="en-US" altLang="zh-CN" sz="1600" dirty="0"/>
              <a:t>{</a:t>
            </a:r>
            <a:endParaRPr lang="zh-CN" altLang="zh-CN" sz="1600" dirty="0"/>
          </a:p>
          <a:p>
            <a:r>
              <a:rPr lang="en-US" altLang="zh-CN" sz="1600" dirty="0"/>
              <a:t>       token= </a:t>
            </a:r>
            <a:r>
              <a:rPr lang="en-US" altLang="zh-CN" sz="1600" dirty="0" err="1"/>
              <a:t>getnexttoken</a:t>
            </a:r>
            <a:r>
              <a:rPr lang="en-US" altLang="zh-CN" sz="1600" dirty="0"/>
              <a:t>(); </a:t>
            </a:r>
          </a:p>
          <a:p>
            <a:r>
              <a:rPr lang="en-US" altLang="zh-CN" sz="1600" dirty="0"/>
              <a:t>       if (!</a:t>
            </a:r>
            <a:r>
              <a:rPr lang="en-US" altLang="zh-CN" sz="1600" dirty="0" err="1"/>
              <a:t>strcmp</a:t>
            </a:r>
            <a:r>
              <a:rPr lang="en-US" altLang="zh-CN" sz="1600" dirty="0"/>
              <a:t>(token,"(")) {//</a:t>
            </a:r>
            <a:r>
              <a:rPr lang="zh-CN" altLang="zh-CN" sz="1600" dirty="0"/>
              <a:t>处理括号</a:t>
            </a:r>
          </a:p>
          <a:p>
            <a:r>
              <a:rPr lang="en-US" altLang="zh-CN" sz="1600" dirty="0"/>
              <a:t>           </a:t>
            </a:r>
            <a:r>
              <a:rPr lang="en-US" altLang="zh-CN" sz="1600" dirty="0" err="1">
                <a:solidFill>
                  <a:srgbClr val="CC00FF"/>
                </a:solidFill>
              </a:rPr>
              <a:t>aexpr</a:t>
            </a:r>
            <a:r>
              <a:rPr lang="en-US" altLang="zh-CN" sz="1600" dirty="0">
                <a:solidFill>
                  <a:srgbClr val="CC00FF"/>
                </a:solidFill>
              </a:rPr>
              <a:t>( )</a:t>
            </a:r>
            <a:r>
              <a:rPr lang="en-US" altLang="zh-CN" sz="1600" dirty="0"/>
              <a:t>;//</a:t>
            </a:r>
            <a:r>
              <a:rPr lang="zh-CN" altLang="zh-CN" sz="1600" dirty="0"/>
              <a:t>再调用表达式的分析</a:t>
            </a:r>
          </a:p>
          <a:p>
            <a:r>
              <a:rPr lang="en-US" altLang="zh-CN" sz="1600" dirty="0"/>
              <a:t>           token= </a:t>
            </a:r>
            <a:r>
              <a:rPr lang="en-US" altLang="zh-CN" sz="1600" dirty="0" err="1"/>
              <a:t>getnexttoken</a:t>
            </a:r>
            <a:r>
              <a:rPr lang="en-US" altLang="zh-CN" sz="1600" dirty="0"/>
              <a:t>();</a:t>
            </a:r>
            <a:endParaRPr lang="zh-CN" altLang="zh-CN" sz="1600" dirty="0"/>
          </a:p>
          <a:p>
            <a:r>
              <a:rPr lang="en-US" altLang="zh-CN" sz="1600" dirty="0"/>
              <a:t>           if (</a:t>
            </a:r>
            <a:r>
              <a:rPr lang="en-US" altLang="zh-CN" sz="1600" dirty="0" err="1"/>
              <a:t>strcmp</a:t>
            </a:r>
            <a:r>
              <a:rPr lang="en-US" altLang="zh-CN" sz="1600" dirty="0"/>
              <a:t>(token,")")) error("</a:t>
            </a:r>
            <a:r>
              <a:rPr lang="zh-CN" altLang="zh-CN" sz="1600" dirty="0"/>
              <a:t>缺少</a:t>
            </a:r>
            <a:r>
              <a:rPr lang="en-US" altLang="zh-CN" sz="1600" dirty="0"/>
              <a:t> )");</a:t>
            </a:r>
            <a:endParaRPr lang="zh-CN" altLang="zh-CN" sz="1600" dirty="0"/>
          </a:p>
          <a:p>
            <a:r>
              <a:rPr lang="en-US" altLang="zh-CN" sz="1600" dirty="0"/>
              <a:t>        }</a:t>
            </a:r>
            <a:endParaRPr lang="zh-CN" altLang="zh-CN" sz="1600" dirty="0"/>
          </a:p>
          <a:p>
            <a:r>
              <a:rPr lang="en-US" altLang="zh-CN" sz="1600" dirty="0"/>
              <a:t>     else if (!</a:t>
            </a:r>
            <a:r>
              <a:rPr lang="en-US" altLang="zh-CN" sz="1600" dirty="0" err="1"/>
              <a:t>strcmp</a:t>
            </a:r>
            <a:r>
              <a:rPr lang="en-US" altLang="zh-CN" sz="1600" dirty="0"/>
              <a:t>(token,"-"))  </a:t>
            </a:r>
            <a:r>
              <a:rPr lang="en-US" altLang="zh-CN" sz="1600" dirty="0" err="1"/>
              <a:t>aexpr</a:t>
            </a:r>
            <a:r>
              <a:rPr lang="en-US" altLang="zh-CN" sz="1600" dirty="0"/>
              <a:t>( );//</a:t>
            </a:r>
            <a:r>
              <a:rPr lang="zh-CN" altLang="zh-CN" sz="1600" dirty="0"/>
              <a:t>处理单目取负</a:t>
            </a:r>
          </a:p>
          <a:p>
            <a:r>
              <a:rPr lang="en-US" altLang="zh-CN" sz="1600" dirty="0"/>
              <a:t>     else if(!</a:t>
            </a:r>
            <a:r>
              <a:rPr lang="en-US" altLang="zh-CN" sz="1600" dirty="0" err="1"/>
              <a:t>isidentifier</a:t>
            </a:r>
            <a:r>
              <a:rPr lang="en-US" altLang="zh-CN" sz="1600" dirty="0"/>
              <a:t>(token)&amp;&amp;!</a:t>
            </a:r>
            <a:r>
              <a:rPr lang="en-US" altLang="zh-CN" sz="1600" dirty="0" err="1"/>
              <a:t>isconst</a:t>
            </a:r>
            <a:r>
              <a:rPr lang="en-US" altLang="zh-CN" sz="1600" dirty="0"/>
              <a:t>(token))//</a:t>
            </a:r>
            <a:r>
              <a:rPr lang="zh-CN" altLang="zh-CN" sz="1600" dirty="0"/>
              <a:t>单个常量、变量</a:t>
            </a:r>
          </a:p>
          <a:p>
            <a:r>
              <a:rPr lang="en-US" altLang="zh-CN" sz="1600" dirty="0"/>
              <a:t>	error("</a:t>
            </a:r>
            <a:r>
              <a:rPr lang="zh-CN" altLang="zh-CN" sz="1600" dirty="0"/>
              <a:t>语法错误</a:t>
            </a:r>
            <a:r>
              <a:rPr lang="en-US" altLang="zh-CN" sz="1600" dirty="0"/>
              <a:t>");</a:t>
            </a:r>
            <a:endParaRPr lang="zh-CN" altLang="zh-CN" sz="1600" dirty="0"/>
          </a:p>
          <a:p>
            <a:r>
              <a:rPr lang="en-US" altLang="zh-CN" sz="1600" dirty="0"/>
              <a:t>}</a:t>
            </a:r>
          </a:p>
        </p:txBody>
      </p:sp>
      <p:sp>
        <p:nvSpPr>
          <p:cNvPr id="6" name="矩形 5"/>
          <p:cNvSpPr/>
          <p:nvPr/>
        </p:nvSpPr>
        <p:spPr>
          <a:xfrm>
            <a:off x="55890" y="2623559"/>
            <a:ext cx="2286000" cy="64633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dirty="0"/>
              <a:t>3. F→-P|P</a:t>
            </a:r>
            <a:endParaRPr lang="zh-CN" altLang="zh-CN" dirty="0"/>
          </a:p>
          <a:p>
            <a:r>
              <a:rPr lang="en-US" altLang="zh-CN" dirty="0"/>
              <a:t>4. </a:t>
            </a:r>
            <a:r>
              <a:rPr lang="en-US" altLang="zh-CN" dirty="0" err="1"/>
              <a:t>P→i</a:t>
            </a:r>
            <a:r>
              <a:rPr lang="en-US" altLang="zh-CN" dirty="0"/>
              <a:t>|(E)</a:t>
            </a:r>
            <a:endParaRPr lang="zh-CN" altLang="en-US" dirty="0"/>
          </a:p>
        </p:txBody>
      </p:sp>
      <p:sp>
        <p:nvSpPr>
          <p:cNvPr id="8" name="下箭头 7"/>
          <p:cNvSpPr/>
          <p:nvPr/>
        </p:nvSpPr>
        <p:spPr>
          <a:xfrm>
            <a:off x="888326" y="1978229"/>
            <a:ext cx="443314" cy="61227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55890" y="3777721"/>
            <a:ext cx="2286000" cy="36933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dirty="0">
                <a:solidFill>
                  <a:srgbClr val="FF0000"/>
                </a:solidFill>
              </a:rPr>
              <a:t>3. </a:t>
            </a:r>
            <a:r>
              <a:rPr lang="en-US" altLang="zh-CN" dirty="0" err="1">
                <a:solidFill>
                  <a:srgbClr val="FF0000"/>
                </a:solidFill>
              </a:rPr>
              <a:t>F→i</a:t>
            </a:r>
            <a:r>
              <a:rPr lang="en-US" altLang="zh-CN" dirty="0">
                <a:solidFill>
                  <a:srgbClr val="FF0000"/>
                </a:solidFill>
              </a:rPr>
              <a:t>|(E)|-E    </a:t>
            </a:r>
            <a:r>
              <a:rPr lang="zh-CN" altLang="en-US" dirty="0">
                <a:solidFill>
                  <a:srgbClr val="FF0000"/>
                </a:solidFill>
              </a:rPr>
              <a:t>？</a:t>
            </a:r>
            <a:endParaRPr lang="zh-CN" altLang="zh-CN" dirty="0">
              <a:solidFill>
                <a:srgbClr val="FF0000"/>
              </a:solidFill>
            </a:endParaRPr>
          </a:p>
        </p:txBody>
      </p:sp>
    </p:spTree>
    <p:extLst>
      <p:ext uri="{BB962C8B-B14F-4D97-AF65-F5344CB8AC3E}">
        <p14:creationId xmlns:p14="http://schemas.microsoft.com/office/powerpoint/2010/main" val="42882395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normAutofit fontScale="90000"/>
          </a:bodyPr>
          <a:lstStyle/>
          <a:p>
            <a:endParaRPr lang="zh-CN" altLang="en-US"/>
          </a:p>
        </p:txBody>
      </p:sp>
      <p:pic>
        <p:nvPicPr>
          <p:cNvPr id="1331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68" y="123478"/>
            <a:ext cx="7597775" cy="4144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31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9792" y="81943"/>
            <a:ext cx="6336704" cy="50663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27224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2"/>
          <p:cNvSpPr>
            <a:spLocks noGrp="1" noChangeArrowheads="1"/>
          </p:cNvSpPr>
          <p:nvPr>
            <p:ph type="body" idx="4294967295"/>
          </p:nvPr>
        </p:nvSpPr>
        <p:spPr>
          <a:xfrm>
            <a:off x="369889" y="964406"/>
            <a:ext cx="8302625" cy="3324225"/>
          </a:xfrm>
        </p:spPr>
        <p:txBody>
          <a:bodyPr>
            <a:normAutofit lnSpcReduction="10000"/>
          </a:bodyPr>
          <a:lstStyle/>
          <a:p>
            <a:pPr eaLnBrk="1" hangingPunct="1">
              <a:lnSpc>
                <a:spcPct val="80000"/>
              </a:lnSpc>
              <a:spcBef>
                <a:spcPct val="30000"/>
              </a:spcBef>
            </a:pPr>
            <a:endParaRPr kumimoji="1" lang="en-US" altLang="zh-CN" sz="2400" dirty="0"/>
          </a:p>
          <a:p>
            <a:pPr eaLnBrk="1" hangingPunct="1">
              <a:lnSpc>
                <a:spcPct val="150000"/>
              </a:lnSpc>
              <a:spcBef>
                <a:spcPct val="30000"/>
              </a:spcBef>
            </a:pPr>
            <a:r>
              <a:rPr kumimoji="1" lang="zh-CN" altLang="en-US" sz="2400" dirty="0"/>
              <a:t>实验目的：理解和掌握布尔表达式的文法构造，熟悉常用的语法分析方法。</a:t>
            </a:r>
            <a:endParaRPr kumimoji="1" lang="en-US" altLang="zh-CN" sz="2400" dirty="0"/>
          </a:p>
          <a:p>
            <a:pPr eaLnBrk="1" hangingPunct="1">
              <a:lnSpc>
                <a:spcPct val="150000"/>
              </a:lnSpc>
              <a:spcBef>
                <a:spcPct val="30000"/>
              </a:spcBef>
            </a:pPr>
            <a:endParaRPr kumimoji="1" lang="en-US" altLang="zh-CN" sz="2400" dirty="0"/>
          </a:p>
          <a:p>
            <a:pPr eaLnBrk="1" hangingPunct="1">
              <a:lnSpc>
                <a:spcPct val="150000"/>
              </a:lnSpc>
              <a:spcBef>
                <a:spcPct val="30000"/>
              </a:spcBef>
            </a:pPr>
            <a:r>
              <a:rPr kumimoji="1" lang="zh-CN" altLang="en-US" sz="2400" dirty="0"/>
              <a:t>实验内容：根据</a:t>
            </a:r>
            <a:r>
              <a:rPr kumimoji="1" lang="en-US" altLang="zh-CN" sz="2400" dirty="0"/>
              <a:t>Sample</a:t>
            </a:r>
            <a:r>
              <a:rPr kumimoji="1" lang="zh-CN" altLang="en-US" sz="2400" dirty="0"/>
              <a:t>语言的语法规则判定输入的一串单词能否构成一个正确的布尔表达式。</a:t>
            </a:r>
          </a:p>
        </p:txBody>
      </p:sp>
      <p:sp>
        <p:nvSpPr>
          <p:cNvPr id="10243" name="Rectangle 3"/>
          <p:cNvSpPr>
            <a:spLocks noGrp="1" noChangeArrowheads="1"/>
          </p:cNvSpPr>
          <p:nvPr>
            <p:ph type="title" idx="4294967295"/>
          </p:nvPr>
        </p:nvSpPr>
        <p:spPr>
          <a:xfrm>
            <a:off x="0" y="100013"/>
            <a:ext cx="9144000" cy="746522"/>
          </a:xfrm>
        </p:spPr>
        <p:txBody>
          <a:bodyPr>
            <a:normAutofit fontScale="90000"/>
          </a:bodyPr>
          <a:lstStyle/>
          <a:p>
            <a:pPr eaLnBrk="1" hangingPunct="1">
              <a:lnSpc>
                <a:spcPct val="80000"/>
              </a:lnSpc>
            </a:pPr>
            <a:r>
              <a:rPr kumimoji="1" lang="zh-CN" altLang="en-US" b="1">
                <a:solidFill>
                  <a:srgbClr val="663399"/>
                </a:solidFill>
                <a:latin typeface="Times New Roman" pitchFamily="18" charset="0"/>
                <a:ea typeface="隶书" pitchFamily="49" charset="-122"/>
              </a:rPr>
              <a:t>实验四：布尔表达式的分析</a:t>
            </a:r>
            <a:br>
              <a:rPr kumimoji="1" lang="en-US" altLang="zh-CN" b="1">
                <a:solidFill>
                  <a:srgbClr val="663399"/>
                </a:solidFill>
                <a:latin typeface="Times New Roman" pitchFamily="18" charset="0"/>
                <a:ea typeface="隶书" pitchFamily="49" charset="-122"/>
              </a:rPr>
            </a:br>
            <a:r>
              <a:rPr kumimoji="1" lang="zh-CN" altLang="en-US" b="1">
                <a:solidFill>
                  <a:srgbClr val="663399"/>
                </a:solidFill>
                <a:latin typeface="Times New Roman" pitchFamily="18" charset="0"/>
                <a:ea typeface="隶书" pitchFamily="49" charset="-122"/>
              </a:rPr>
              <a:t>（</a:t>
            </a:r>
            <a:r>
              <a:rPr kumimoji="1" lang="en-US" altLang="zh-CN" b="1">
                <a:solidFill>
                  <a:srgbClr val="663399"/>
                </a:solidFill>
                <a:latin typeface="Times New Roman" pitchFamily="18" charset="0"/>
                <a:ea typeface="隶书" pitchFamily="49" charset="-122"/>
              </a:rPr>
              <a:t>2</a:t>
            </a:r>
            <a:r>
              <a:rPr kumimoji="1" lang="zh-CN" altLang="en-US" b="1">
                <a:solidFill>
                  <a:srgbClr val="663399"/>
                </a:solidFill>
                <a:latin typeface="Times New Roman" pitchFamily="18" charset="0"/>
                <a:ea typeface="隶书" pitchFamily="49" charset="-122"/>
              </a:rPr>
              <a:t>学时</a:t>
            </a:r>
            <a:r>
              <a:rPr kumimoji="1" lang="en-US" altLang="zh-CN" b="1">
                <a:solidFill>
                  <a:srgbClr val="663399"/>
                </a:solidFill>
                <a:latin typeface="Times New Roman" pitchFamily="18" charset="0"/>
                <a:ea typeface="隶书" pitchFamily="49" charset="-122"/>
              </a:rPr>
              <a:t>+</a:t>
            </a:r>
            <a:r>
              <a:rPr kumimoji="1" lang="zh-CN" altLang="en-US" b="1">
                <a:solidFill>
                  <a:srgbClr val="663399"/>
                </a:solidFill>
                <a:latin typeface="Times New Roman" pitchFamily="18" charset="0"/>
                <a:ea typeface="隶书" pitchFamily="49" charset="-122"/>
              </a:rPr>
              <a:t>课外）</a:t>
            </a:r>
          </a:p>
        </p:txBody>
      </p:sp>
    </p:spTree>
    <p:extLst>
      <p:ext uri="{BB962C8B-B14F-4D97-AF65-F5344CB8AC3E}">
        <p14:creationId xmlns:p14="http://schemas.microsoft.com/office/powerpoint/2010/main" val="4190835446"/>
      </p:ext>
    </p:extLst>
  </p:cSld>
  <p:clrMapOvr>
    <a:masterClrMapping/>
  </p:clrMapOvr>
  <p:transition spd="med">
    <p:random/>
  </p:transition>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p:cNvSpPr>
            <a:spLocks noGrp="1" noChangeArrowheads="1"/>
          </p:cNvSpPr>
          <p:nvPr>
            <p:ph type="body" idx="4294967295"/>
          </p:nvPr>
        </p:nvSpPr>
        <p:spPr>
          <a:xfrm>
            <a:off x="369889" y="964407"/>
            <a:ext cx="8302625" cy="4179094"/>
          </a:xfrm>
          <a:solidFill>
            <a:schemeClr val="bg1"/>
          </a:solidFill>
        </p:spPr>
        <p:txBody>
          <a:bodyPr>
            <a:normAutofit/>
          </a:bodyPr>
          <a:lstStyle/>
          <a:p>
            <a:pPr eaLnBrk="1" hangingPunct="1">
              <a:lnSpc>
                <a:spcPct val="80000"/>
              </a:lnSpc>
              <a:spcBef>
                <a:spcPct val="30000"/>
              </a:spcBef>
            </a:pPr>
            <a:r>
              <a:rPr kumimoji="1" lang="zh-CN" altLang="en-US" sz="1800" dirty="0"/>
              <a:t>实验要求</a:t>
            </a:r>
            <a:r>
              <a:rPr kumimoji="1" lang="en-US" altLang="zh-CN" sz="1800" dirty="0"/>
              <a:t>:</a:t>
            </a:r>
          </a:p>
          <a:p>
            <a:pPr lvl="1"/>
            <a:r>
              <a:rPr lang="zh-CN" altLang="zh-CN" sz="1600" b="1" dirty="0"/>
              <a:t>（</a:t>
            </a:r>
            <a:r>
              <a:rPr lang="en-US" altLang="zh-CN" sz="1600" b="1" dirty="0"/>
              <a:t>1</a:t>
            </a:r>
            <a:r>
              <a:rPr lang="zh-CN" altLang="zh-CN" sz="1600" b="1" dirty="0"/>
              <a:t>）基本内容</a:t>
            </a:r>
            <a:r>
              <a:rPr lang="zh-CN" altLang="en-US" sz="1600" b="1" dirty="0"/>
              <a:t>（必做）</a:t>
            </a:r>
            <a:endParaRPr lang="zh-CN" altLang="zh-CN" sz="1600" b="1" dirty="0"/>
          </a:p>
          <a:p>
            <a:pPr lvl="2" eaLnBrk="1" hangingPunct="1">
              <a:lnSpc>
                <a:spcPct val="80000"/>
              </a:lnSpc>
              <a:spcBef>
                <a:spcPct val="30000"/>
              </a:spcBef>
            </a:pPr>
            <a:r>
              <a:rPr kumimoji="1" lang="zh-CN" altLang="en-US" sz="1600" dirty="0"/>
              <a:t>写出</a:t>
            </a:r>
            <a:r>
              <a:rPr kumimoji="1" lang="en-US" altLang="zh-CN" sz="1600" dirty="0"/>
              <a:t>Sample</a:t>
            </a:r>
            <a:r>
              <a:rPr kumimoji="1" lang="zh-CN" altLang="en-US" sz="1600" dirty="0"/>
              <a:t>语言（或你所选定的语言）的布尔表达式的文法</a:t>
            </a:r>
          </a:p>
          <a:p>
            <a:pPr lvl="2" eaLnBrk="1" hangingPunct="1">
              <a:lnSpc>
                <a:spcPct val="80000"/>
              </a:lnSpc>
              <a:spcBef>
                <a:spcPct val="30000"/>
              </a:spcBef>
            </a:pPr>
            <a:r>
              <a:rPr kumimoji="1" lang="zh-CN" altLang="en-US" sz="1600" dirty="0"/>
              <a:t>利用递归下降或者算符优先的方法编写判定给定的单词串能否构成一个正确的布尔表达式的函数</a:t>
            </a:r>
          </a:p>
          <a:p>
            <a:pPr lvl="2" eaLnBrk="1" hangingPunct="1">
              <a:lnSpc>
                <a:spcPct val="80000"/>
              </a:lnSpc>
              <a:spcBef>
                <a:spcPct val="30000"/>
              </a:spcBef>
            </a:pPr>
            <a:r>
              <a:rPr kumimoji="1" lang="zh-CN" altLang="en-US" sz="1600" dirty="0"/>
              <a:t>写一个主函数读入一个单词串，进行测试</a:t>
            </a:r>
            <a:endParaRPr kumimoji="1" lang="en-US" altLang="zh-CN" sz="1600" dirty="0"/>
          </a:p>
          <a:p>
            <a:pPr lvl="1"/>
            <a:r>
              <a:rPr lang="zh-CN" altLang="zh-CN" sz="1600" b="1" dirty="0"/>
              <a:t>（</a:t>
            </a:r>
            <a:r>
              <a:rPr lang="en-US" altLang="zh-CN" sz="1600" b="1" dirty="0"/>
              <a:t>2</a:t>
            </a:r>
            <a:r>
              <a:rPr lang="zh-CN" altLang="zh-CN" sz="1600" b="1" dirty="0"/>
              <a:t>）扩展内容</a:t>
            </a:r>
            <a:r>
              <a:rPr lang="zh-CN" altLang="en-US" sz="1600" b="1" dirty="0"/>
              <a:t>（选做）</a:t>
            </a:r>
            <a:endParaRPr lang="zh-CN" altLang="zh-CN" sz="1600" b="1" dirty="0"/>
          </a:p>
          <a:p>
            <a:pPr lvl="2" eaLnBrk="1" hangingPunct="1">
              <a:lnSpc>
                <a:spcPct val="80000"/>
              </a:lnSpc>
              <a:spcBef>
                <a:spcPct val="30000"/>
              </a:spcBef>
            </a:pPr>
            <a:r>
              <a:rPr kumimoji="1" lang="zh-CN" altLang="en-US" sz="1600" dirty="0"/>
              <a:t>尽可能多、尽可能准确地给出错误信息</a:t>
            </a:r>
            <a:endParaRPr kumimoji="1" lang="en-US" altLang="zh-CN" sz="1600" dirty="0"/>
          </a:p>
          <a:p>
            <a:pPr lvl="2" eaLnBrk="1" hangingPunct="1">
              <a:lnSpc>
                <a:spcPct val="80000"/>
              </a:lnSpc>
              <a:spcBef>
                <a:spcPct val="30000"/>
              </a:spcBef>
            </a:pPr>
            <a:r>
              <a:rPr kumimoji="1" lang="zh-CN" altLang="en-US" sz="1600" dirty="0"/>
              <a:t>生成对应的语法分析树</a:t>
            </a:r>
            <a:endParaRPr kumimoji="1" lang="en-US" altLang="zh-CN" sz="1600" dirty="0"/>
          </a:p>
          <a:p>
            <a:pPr lvl="2" eaLnBrk="1" hangingPunct="1">
              <a:lnSpc>
                <a:spcPct val="80000"/>
              </a:lnSpc>
              <a:spcBef>
                <a:spcPct val="30000"/>
              </a:spcBef>
            </a:pPr>
            <a:r>
              <a:rPr kumimoji="1" lang="zh-CN" altLang="en-US" sz="1600" dirty="0"/>
              <a:t>提供多种错误恢复方式</a:t>
            </a:r>
            <a:endParaRPr kumimoji="1" lang="en-US" altLang="zh-CN" sz="1600" dirty="0"/>
          </a:p>
          <a:p>
            <a:pPr lvl="2" eaLnBrk="1" hangingPunct="1">
              <a:lnSpc>
                <a:spcPct val="80000"/>
              </a:lnSpc>
              <a:spcBef>
                <a:spcPct val="30000"/>
              </a:spcBef>
            </a:pPr>
            <a:r>
              <a:rPr kumimoji="1" lang="zh-CN" altLang="en-US" sz="1600" dirty="0"/>
              <a:t>提供错误修改建议</a:t>
            </a:r>
          </a:p>
          <a:p>
            <a:pPr lvl="1"/>
            <a:r>
              <a:rPr lang="zh-CN" altLang="zh-CN" sz="1600" b="1" dirty="0"/>
              <a:t>（</a:t>
            </a:r>
            <a:r>
              <a:rPr lang="en-US" altLang="zh-CN" sz="1600" b="1" dirty="0"/>
              <a:t>3</a:t>
            </a:r>
            <a:r>
              <a:rPr lang="zh-CN" altLang="zh-CN" sz="1600" b="1" dirty="0"/>
              <a:t>）</a:t>
            </a:r>
            <a:r>
              <a:rPr lang="zh-CN" altLang="en-US" sz="1600" b="1" dirty="0"/>
              <a:t>创新及应用（选做）</a:t>
            </a:r>
            <a:endParaRPr lang="zh-CN" altLang="zh-CN" sz="1600" b="1" dirty="0"/>
          </a:p>
        </p:txBody>
      </p:sp>
      <p:sp>
        <p:nvSpPr>
          <p:cNvPr id="11267" name="Rectangle 3"/>
          <p:cNvSpPr>
            <a:spLocks noGrp="1" noChangeArrowheads="1"/>
          </p:cNvSpPr>
          <p:nvPr>
            <p:ph type="title" idx="4294967295"/>
          </p:nvPr>
        </p:nvSpPr>
        <p:spPr>
          <a:xfrm>
            <a:off x="0" y="100013"/>
            <a:ext cx="9144000" cy="746522"/>
          </a:xfrm>
        </p:spPr>
        <p:txBody>
          <a:bodyPr>
            <a:normAutofit fontScale="90000"/>
          </a:bodyPr>
          <a:lstStyle/>
          <a:p>
            <a:pPr eaLnBrk="1" hangingPunct="1">
              <a:lnSpc>
                <a:spcPct val="80000"/>
              </a:lnSpc>
            </a:pPr>
            <a:r>
              <a:rPr kumimoji="1" lang="zh-CN" altLang="en-US" b="1">
                <a:solidFill>
                  <a:srgbClr val="663399"/>
                </a:solidFill>
                <a:latin typeface="Times New Roman" pitchFamily="18" charset="0"/>
                <a:ea typeface="隶书" pitchFamily="49" charset="-122"/>
              </a:rPr>
              <a:t>实验四：布尔表达式的分析</a:t>
            </a:r>
            <a:br>
              <a:rPr kumimoji="1" lang="en-US" altLang="zh-CN" b="1">
                <a:solidFill>
                  <a:srgbClr val="663399"/>
                </a:solidFill>
                <a:latin typeface="Times New Roman" pitchFamily="18" charset="0"/>
                <a:ea typeface="隶书" pitchFamily="49" charset="-122"/>
              </a:rPr>
            </a:br>
            <a:r>
              <a:rPr kumimoji="1" lang="zh-CN" altLang="en-US" b="1">
                <a:solidFill>
                  <a:srgbClr val="663399"/>
                </a:solidFill>
                <a:latin typeface="Times New Roman" pitchFamily="18" charset="0"/>
                <a:ea typeface="隶书" pitchFamily="49" charset="-122"/>
              </a:rPr>
              <a:t>（</a:t>
            </a:r>
            <a:r>
              <a:rPr kumimoji="1" lang="en-US" altLang="zh-CN" b="1">
                <a:solidFill>
                  <a:srgbClr val="663399"/>
                </a:solidFill>
                <a:latin typeface="Times New Roman" pitchFamily="18" charset="0"/>
                <a:ea typeface="隶书" pitchFamily="49" charset="-122"/>
              </a:rPr>
              <a:t>2</a:t>
            </a:r>
            <a:r>
              <a:rPr kumimoji="1" lang="zh-CN" altLang="en-US" b="1">
                <a:solidFill>
                  <a:srgbClr val="663399"/>
                </a:solidFill>
                <a:latin typeface="Times New Roman" pitchFamily="18" charset="0"/>
                <a:ea typeface="隶书" pitchFamily="49" charset="-122"/>
              </a:rPr>
              <a:t>学时</a:t>
            </a:r>
            <a:r>
              <a:rPr kumimoji="1" lang="en-US" altLang="zh-CN" b="1">
                <a:solidFill>
                  <a:srgbClr val="663399"/>
                </a:solidFill>
                <a:latin typeface="Times New Roman" pitchFamily="18" charset="0"/>
                <a:ea typeface="隶书" pitchFamily="49" charset="-122"/>
              </a:rPr>
              <a:t>+</a:t>
            </a:r>
            <a:r>
              <a:rPr kumimoji="1" lang="zh-CN" altLang="en-US" b="1">
                <a:solidFill>
                  <a:srgbClr val="663399"/>
                </a:solidFill>
                <a:latin typeface="Times New Roman" pitchFamily="18" charset="0"/>
                <a:ea typeface="隶书" pitchFamily="49" charset="-122"/>
              </a:rPr>
              <a:t>课外）</a:t>
            </a:r>
          </a:p>
        </p:txBody>
      </p:sp>
    </p:spTree>
    <p:extLst>
      <p:ext uri="{BB962C8B-B14F-4D97-AF65-F5344CB8AC3E}">
        <p14:creationId xmlns:p14="http://schemas.microsoft.com/office/powerpoint/2010/main" val="2925054629"/>
      </p:ext>
    </p:extLst>
  </p:cSld>
  <p:clrMapOvr>
    <a:masterClrMapping/>
  </p:clrMapOvr>
  <p:transition spd="med">
    <p:rand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899593" y="2410603"/>
            <a:ext cx="7344814" cy="2753435"/>
          </a:xfrm>
        </p:spPr>
        <p:style>
          <a:lnRef idx="2">
            <a:schemeClr val="accent1"/>
          </a:lnRef>
          <a:fillRef idx="1">
            <a:schemeClr val="lt1"/>
          </a:fillRef>
          <a:effectRef idx="0">
            <a:schemeClr val="accent1"/>
          </a:effectRef>
          <a:fontRef idx="minor">
            <a:schemeClr val="dk1"/>
          </a:fontRef>
        </p:style>
        <p:txBody>
          <a:bodyPr>
            <a:normAutofit lnSpcReduction="10000"/>
          </a:bodyPr>
          <a:lstStyle/>
          <a:p>
            <a:pPr marL="109728" indent="0">
              <a:buNone/>
            </a:pPr>
            <a:r>
              <a:rPr lang="en-US" altLang="zh-CN" sz="1800" dirty="0">
                <a:solidFill>
                  <a:srgbClr val="FF0000"/>
                </a:solidFill>
              </a:rPr>
              <a:t>&lt;</a:t>
            </a:r>
            <a:r>
              <a:rPr lang="zh-CN" altLang="en-US" sz="1800" dirty="0">
                <a:solidFill>
                  <a:srgbClr val="FF0000"/>
                </a:solidFill>
              </a:rPr>
              <a:t>表达式</a:t>
            </a:r>
            <a:r>
              <a:rPr lang="en-US" altLang="zh-CN" sz="1800" dirty="0">
                <a:solidFill>
                  <a:srgbClr val="FF0000"/>
                </a:solidFill>
              </a:rPr>
              <a:t>&gt;→&lt;</a:t>
            </a:r>
            <a:r>
              <a:rPr lang="zh-CN" altLang="en-US" sz="1800" dirty="0">
                <a:solidFill>
                  <a:srgbClr val="FF0000"/>
                </a:solidFill>
              </a:rPr>
              <a:t>算术表达式</a:t>
            </a:r>
            <a:r>
              <a:rPr lang="en-US" altLang="zh-CN" sz="1800" dirty="0">
                <a:solidFill>
                  <a:srgbClr val="FF0000"/>
                </a:solidFill>
              </a:rPr>
              <a:t>&gt;|&lt;</a:t>
            </a:r>
            <a:r>
              <a:rPr lang="zh-CN" altLang="en-US" sz="1800" dirty="0">
                <a:solidFill>
                  <a:srgbClr val="FF0000"/>
                </a:solidFill>
              </a:rPr>
              <a:t>关系表达式</a:t>
            </a:r>
            <a:r>
              <a:rPr lang="en-US" altLang="zh-CN" sz="1800" dirty="0">
                <a:solidFill>
                  <a:srgbClr val="FF0000"/>
                </a:solidFill>
              </a:rPr>
              <a:t>&gt;|&lt;</a:t>
            </a:r>
            <a:r>
              <a:rPr lang="zh-CN" altLang="en-US" sz="1800" dirty="0">
                <a:solidFill>
                  <a:srgbClr val="FF0000"/>
                </a:solidFill>
              </a:rPr>
              <a:t>布尔表达式</a:t>
            </a:r>
            <a:r>
              <a:rPr lang="en-US" altLang="zh-CN" sz="1800" dirty="0">
                <a:solidFill>
                  <a:srgbClr val="FF0000"/>
                </a:solidFill>
              </a:rPr>
              <a:t>&gt;|&lt;</a:t>
            </a:r>
            <a:r>
              <a:rPr lang="zh-CN" altLang="en-US" sz="1800" dirty="0">
                <a:solidFill>
                  <a:srgbClr val="FF0000"/>
                </a:solidFill>
              </a:rPr>
              <a:t>赋值表达式</a:t>
            </a:r>
            <a:r>
              <a:rPr lang="en-US" altLang="zh-CN" sz="1800" dirty="0">
                <a:solidFill>
                  <a:srgbClr val="FF0000"/>
                </a:solidFill>
              </a:rPr>
              <a:t>&gt;</a:t>
            </a:r>
          </a:p>
          <a:p>
            <a:pPr marL="109728" indent="0">
              <a:buNone/>
            </a:pPr>
            <a:r>
              <a:rPr lang="en-US" altLang="zh-CN" sz="1800" dirty="0">
                <a:solidFill>
                  <a:srgbClr val="FF0000"/>
                </a:solidFill>
              </a:rPr>
              <a:t>&lt;</a:t>
            </a:r>
            <a:r>
              <a:rPr lang="zh-CN" altLang="zh-CN" sz="1800" dirty="0">
                <a:solidFill>
                  <a:srgbClr val="FF0000"/>
                </a:solidFill>
              </a:rPr>
              <a:t>算术表达式</a:t>
            </a:r>
            <a:r>
              <a:rPr lang="en-US" altLang="zh-CN" sz="1800" dirty="0">
                <a:solidFill>
                  <a:srgbClr val="FF0000"/>
                </a:solidFill>
              </a:rPr>
              <a:t>&gt;</a:t>
            </a:r>
            <a:r>
              <a:rPr lang="zh-CN" altLang="zh-CN" sz="1800" dirty="0">
                <a:solidFill>
                  <a:srgbClr val="FF0000"/>
                </a:solidFill>
              </a:rPr>
              <a:t>→</a:t>
            </a:r>
            <a:r>
              <a:rPr lang="en-US" altLang="zh-CN" sz="1800" dirty="0">
                <a:solidFill>
                  <a:srgbClr val="FF0000"/>
                </a:solidFill>
              </a:rPr>
              <a:t>&lt;</a:t>
            </a:r>
            <a:r>
              <a:rPr lang="zh-CN" altLang="zh-CN" sz="1800" dirty="0">
                <a:solidFill>
                  <a:srgbClr val="FF0000"/>
                </a:solidFill>
              </a:rPr>
              <a:t>算术表达式</a:t>
            </a:r>
            <a:r>
              <a:rPr lang="en-US" altLang="zh-CN" sz="1800" dirty="0">
                <a:solidFill>
                  <a:srgbClr val="FF0000"/>
                </a:solidFill>
              </a:rPr>
              <a:t>&gt;+&lt;</a:t>
            </a:r>
            <a:r>
              <a:rPr lang="zh-CN" altLang="zh-CN" sz="1800" dirty="0">
                <a:solidFill>
                  <a:srgbClr val="FF0000"/>
                </a:solidFill>
              </a:rPr>
              <a:t>项</a:t>
            </a:r>
            <a:r>
              <a:rPr lang="en-US" altLang="zh-CN" sz="1800" dirty="0">
                <a:solidFill>
                  <a:srgbClr val="FF0000"/>
                </a:solidFill>
              </a:rPr>
              <a:t>&gt;|&lt;</a:t>
            </a:r>
            <a:r>
              <a:rPr lang="zh-CN" altLang="zh-CN" sz="1800" dirty="0">
                <a:solidFill>
                  <a:srgbClr val="FF0000"/>
                </a:solidFill>
              </a:rPr>
              <a:t>算术表达式</a:t>
            </a:r>
            <a:r>
              <a:rPr lang="en-US" altLang="zh-CN" sz="1800" dirty="0">
                <a:solidFill>
                  <a:srgbClr val="FF0000"/>
                </a:solidFill>
              </a:rPr>
              <a:t>&gt;-&lt;</a:t>
            </a:r>
            <a:r>
              <a:rPr lang="zh-CN" altLang="zh-CN" sz="1800" dirty="0">
                <a:solidFill>
                  <a:srgbClr val="FF0000"/>
                </a:solidFill>
              </a:rPr>
              <a:t>项</a:t>
            </a:r>
            <a:r>
              <a:rPr lang="en-US" altLang="zh-CN" sz="1800" dirty="0">
                <a:solidFill>
                  <a:srgbClr val="FF0000"/>
                </a:solidFill>
              </a:rPr>
              <a:t>&gt;|&lt;</a:t>
            </a:r>
            <a:r>
              <a:rPr lang="zh-CN" altLang="zh-CN" sz="1800" dirty="0">
                <a:solidFill>
                  <a:srgbClr val="FF0000"/>
                </a:solidFill>
              </a:rPr>
              <a:t>项</a:t>
            </a:r>
            <a:r>
              <a:rPr lang="en-US" altLang="zh-CN" sz="1800" dirty="0">
                <a:solidFill>
                  <a:srgbClr val="FF0000"/>
                </a:solidFill>
              </a:rPr>
              <a:t>&gt; </a:t>
            </a:r>
            <a:endParaRPr lang="zh-CN" altLang="zh-CN" sz="1800" dirty="0">
              <a:solidFill>
                <a:srgbClr val="FF0000"/>
              </a:solidFill>
            </a:endParaRPr>
          </a:p>
          <a:p>
            <a:pPr marL="109728" indent="0">
              <a:buNone/>
            </a:pPr>
            <a:r>
              <a:rPr lang="en-US" altLang="zh-CN" sz="1800" dirty="0">
                <a:solidFill>
                  <a:srgbClr val="FF0000"/>
                </a:solidFill>
              </a:rPr>
              <a:t>&lt;</a:t>
            </a:r>
            <a:r>
              <a:rPr lang="zh-CN" altLang="zh-CN" sz="1800" dirty="0">
                <a:solidFill>
                  <a:srgbClr val="FF0000"/>
                </a:solidFill>
              </a:rPr>
              <a:t>项</a:t>
            </a:r>
            <a:r>
              <a:rPr lang="en-US" altLang="zh-CN" sz="1800" dirty="0">
                <a:solidFill>
                  <a:srgbClr val="FF0000"/>
                </a:solidFill>
              </a:rPr>
              <a:t>&gt;</a:t>
            </a:r>
            <a:r>
              <a:rPr lang="zh-CN" altLang="zh-CN" sz="1800" dirty="0">
                <a:solidFill>
                  <a:srgbClr val="FF0000"/>
                </a:solidFill>
              </a:rPr>
              <a:t>→</a:t>
            </a:r>
            <a:r>
              <a:rPr lang="en-US" altLang="zh-CN" sz="1800" dirty="0">
                <a:solidFill>
                  <a:srgbClr val="FF0000"/>
                </a:solidFill>
              </a:rPr>
              <a:t>&lt;</a:t>
            </a:r>
            <a:r>
              <a:rPr lang="zh-CN" altLang="zh-CN" sz="1800" dirty="0">
                <a:solidFill>
                  <a:srgbClr val="FF0000"/>
                </a:solidFill>
              </a:rPr>
              <a:t>项</a:t>
            </a:r>
            <a:r>
              <a:rPr lang="en-US" altLang="zh-CN" sz="1800" dirty="0">
                <a:solidFill>
                  <a:srgbClr val="FF0000"/>
                </a:solidFill>
              </a:rPr>
              <a:t>&gt;*&lt;</a:t>
            </a:r>
            <a:r>
              <a:rPr lang="zh-CN" altLang="zh-CN" sz="1800" dirty="0">
                <a:solidFill>
                  <a:srgbClr val="FF0000"/>
                </a:solidFill>
              </a:rPr>
              <a:t>因子</a:t>
            </a:r>
            <a:r>
              <a:rPr lang="en-US" altLang="zh-CN" sz="1800" dirty="0">
                <a:solidFill>
                  <a:srgbClr val="FF0000"/>
                </a:solidFill>
              </a:rPr>
              <a:t>&gt;|&lt;</a:t>
            </a:r>
            <a:r>
              <a:rPr lang="zh-CN" altLang="zh-CN" sz="1800" dirty="0">
                <a:solidFill>
                  <a:srgbClr val="FF0000"/>
                </a:solidFill>
              </a:rPr>
              <a:t>项</a:t>
            </a:r>
            <a:r>
              <a:rPr lang="en-US" altLang="zh-CN" sz="1800" dirty="0">
                <a:solidFill>
                  <a:srgbClr val="FF0000"/>
                </a:solidFill>
              </a:rPr>
              <a:t>&gt;/&lt;</a:t>
            </a:r>
            <a:r>
              <a:rPr lang="zh-CN" altLang="zh-CN" sz="1800" dirty="0">
                <a:solidFill>
                  <a:srgbClr val="FF0000"/>
                </a:solidFill>
              </a:rPr>
              <a:t>因子</a:t>
            </a:r>
            <a:r>
              <a:rPr lang="en-US" altLang="zh-CN" sz="1800" dirty="0">
                <a:solidFill>
                  <a:srgbClr val="FF0000"/>
                </a:solidFill>
              </a:rPr>
              <a:t>&gt;|&lt;</a:t>
            </a:r>
            <a:r>
              <a:rPr lang="zh-CN" altLang="zh-CN" sz="1800" dirty="0">
                <a:solidFill>
                  <a:srgbClr val="FF0000"/>
                </a:solidFill>
              </a:rPr>
              <a:t>项</a:t>
            </a:r>
            <a:r>
              <a:rPr lang="en-US" altLang="zh-CN" sz="1800" dirty="0">
                <a:solidFill>
                  <a:srgbClr val="FF0000"/>
                </a:solidFill>
              </a:rPr>
              <a:t>&gt;%&lt;</a:t>
            </a:r>
            <a:r>
              <a:rPr lang="zh-CN" altLang="zh-CN" sz="1800" dirty="0">
                <a:solidFill>
                  <a:srgbClr val="FF0000"/>
                </a:solidFill>
              </a:rPr>
              <a:t>因子</a:t>
            </a:r>
            <a:r>
              <a:rPr lang="en-US" altLang="zh-CN" sz="1800" dirty="0">
                <a:solidFill>
                  <a:srgbClr val="FF0000"/>
                </a:solidFill>
              </a:rPr>
              <a:t>&gt;|&lt;</a:t>
            </a:r>
            <a:r>
              <a:rPr lang="zh-CN" altLang="zh-CN" sz="1800" dirty="0">
                <a:solidFill>
                  <a:srgbClr val="FF0000"/>
                </a:solidFill>
              </a:rPr>
              <a:t>因子</a:t>
            </a:r>
            <a:r>
              <a:rPr lang="en-US" altLang="zh-CN" sz="1800" dirty="0">
                <a:solidFill>
                  <a:srgbClr val="FF0000"/>
                </a:solidFill>
              </a:rPr>
              <a:t>&gt;</a:t>
            </a:r>
            <a:endParaRPr lang="zh-CN" altLang="zh-CN" sz="1800" dirty="0">
              <a:solidFill>
                <a:srgbClr val="FF0000"/>
              </a:solidFill>
            </a:endParaRPr>
          </a:p>
          <a:p>
            <a:pPr marL="109728" indent="0">
              <a:buNone/>
            </a:pPr>
            <a:r>
              <a:rPr lang="en-US" altLang="zh-CN" sz="1800" dirty="0">
                <a:solidFill>
                  <a:srgbClr val="FF0000"/>
                </a:solidFill>
              </a:rPr>
              <a:t>&lt;</a:t>
            </a:r>
            <a:r>
              <a:rPr lang="zh-CN" altLang="zh-CN" sz="1800" dirty="0">
                <a:solidFill>
                  <a:srgbClr val="FF0000"/>
                </a:solidFill>
              </a:rPr>
              <a:t>因子</a:t>
            </a:r>
            <a:r>
              <a:rPr lang="en-US" altLang="zh-CN" sz="1800" dirty="0">
                <a:solidFill>
                  <a:srgbClr val="FF0000"/>
                </a:solidFill>
              </a:rPr>
              <a:t>&gt;</a:t>
            </a:r>
            <a:r>
              <a:rPr lang="zh-CN" altLang="zh-CN" sz="1800" dirty="0">
                <a:solidFill>
                  <a:srgbClr val="FF0000"/>
                </a:solidFill>
              </a:rPr>
              <a:t>→</a:t>
            </a:r>
            <a:r>
              <a:rPr lang="en-US" altLang="zh-CN" sz="1800" dirty="0">
                <a:solidFill>
                  <a:srgbClr val="FF0000"/>
                </a:solidFill>
              </a:rPr>
              <a:t>(&lt;</a:t>
            </a:r>
            <a:r>
              <a:rPr lang="zh-CN" altLang="zh-CN" sz="1800" dirty="0">
                <a:solidFill>
                  <a:srgbClr val="FF0000"/>
                </a:solidFill>
              </a:rPr>
              <a:t>算术表达式</a:t>
            </a:r>
            <a:r>
              <a:rPr lang="en-US" altLang="zh-CN" sz="1800" dirty="0">
                <a:solidFill>
                  <a:srgbClr val="FF0000"/>
                </a:solidFill>
              </a:rPr>
              <a:t>&gt;)|&lt;</a:t>
            </a:r>
            <a:r>
              <a:rPr lang="zh-CN" altLang="zh-CN" sz="1800" dirty="0">
                <a:solidFill>
                  <a:srgbClr val="FF0000"/>
                </a:solidFill>
              </a:rPr>
              <a:t>常量</a:t>
            </a:r>
            <a:r>
              <a:rPr lang="en-US" altLang="zh-CN" sz="1800" dirty="0">
                <a:solidFill>
                  <a:srgbClr val="FF0000"/>
                </a:solidFill>
              </a:rPr>
              <a:t>&gt;|&lt;</a:t>
            </a:r>
            <a:r>
              <a:rPr lang="zh-CN" altLang="zh-CN" sz="1800" dirty="0">
                <a:solidFill>
                  <a:srgbClr val="FF0000"/>
                </a:solidFill>
              </a:rPr>
              <a:t>变量</a:t>
            </a:r>
            <a:r>
              <a:rPr lang="en-US" altLang="zh-CN" sz="1800" dirty="0">
                <a:solidFill>
                  <a:srgbClr val="FF0000"/>
                </a:solidFill>
              </a:rPr>
              <a:t>&gt;|&lt;</a:t>
            </a:r>
            <a:r>
              <a:rPr lang="zh-CN" altLang="zh-CN" sz="1800" dirty="0">
                <a:solidFill>
                  <a:srgbClr val="FF0000"/>
                </a:solidFill>
              </a:rPr>
              <a:t>函数调用</a:t>
            </a:r>
            <a:r>
              <a:rPr lang="en-US" altLang="zh-CN" sz="1800" dirty="0">
                <a:solidFill>
                  <a:srgbClr val="FF0000"/>
                </a:solidFill>
              </a:rPr>
              <a:t>&gt;</a:t>
            </a:r>
            <a:endParaRPr lang="zh-CN" altLang="zh-CN" sz="1800" dirty="0">
              <a:solidFill>
                <a:srgbClr val="FF0000"/>
              </a:solidFill>
            </a:endParaRPr>
          </a:p>
          <a:p>
            <a:pPr marL="109728" indent="0">
              <a:buNone/>
            </a:pPr>
            <a:r>
              <a:rPr lang="en-US" altLang="zh-CN" sz="1800" dirty="0"/>
              <a:t>&lt;</a:t>
            </a:r>
            <a:r>
              <a:rPr lang="zh-CN" altLang="zh-CN" sz="1800" dirty="0"/>
              <a:t>常量</a:t>
            </a:r>
            <a:r>
              <a:rPr lang="en-US" altLang="zh-CN" sz="1800" dirty="0"/>
              <a:t>&gt;</a:t>
            </a:r>
            <a:r>
              <a:rPr lang="zh-CN" altLang="zh-CN" sz="1800" dirty="0"/>
              <a:t>→</a:t>
            </a:r>
            <a:r>
              <a:rPr lang="en-US" altLang="zh-CN" sz="1800" dirty="0"/>
              <a:t>&lt;</a:t>
            </a:r>
            <a:r>
              <a:rPr lang="zh-CN" altLang="zh-CN" sz="1800" dirty="0"/>
              <a:t>数值型常量</a:t>
            </a:r>
            <a:r>
              <a:rPr lang="en-US" altLang="zh-CN" sz="1800" dirty="0"/>
              <a:t>&gt;|&lt;</a:t>
            </a:r>
            <a:r>
              <a:rPr lang="zh-CN" altLang="zh-CN" sz="1800" dirty="0"/>
              <a:t>字符型常量</a:t>
            </a:r>
            <a:r>
              <a:rPr lang="en-US" altLang="zh-CN" sz="1800" dirty="0"/>
              <a:t>&gt;</a:t>
            </a:r>
            <a:endParaRPr lang="zh-CN" altLang="zh-CN" sz="1800" dirty="0"/>
          </a:p>
          <a:p>
            <a:pPr marL="109728" indent="0">
              <a:buNone/>
            </a:pPr>
            <a:r>
              <a:rPr lang="en-US" altLang="zh-CN" sz="1800" dirty="0"/>
              <a:t>&lt;</a:t>
            </a:r>
            <a:r>
              <a:rPr lang="zh-CN" altLang="zh-CN" sz="1800" dirty="0"/>
              <a:t>变量</a:t>
            </a:r>
            <a:r>
              <a:rPr lang="en-US" altLang="zh-CN" sz="1800" dirty="0"/>
              <a:t>&gt;</a:t>
            </a:r>
            <a:r>
              <a:rPr lang="zh-CN" altLang="zh-CN" sz="1800" dirty="0"/>
              <a:t>→</a:t>
            </a:r>
            <a:r>
              <a:rPr lang="en-US" altLang="zh-CN" sz="1800" dirty="0"/>
              <a:t>&lt;</a:t>
            </a:r>
            <a:r>
              <a:rPr lang="zh-CN" altLang="zh-CN" sz="1800" dirty="0"/>
              <a:t>标识符</a:t>
            </a:r>
            <a:r>
              <a:rPr lang="en-US" altLang="zh-CN" sz="1800" dirty="0"/>
              <a:t>&gt;</a:t>
            </a:r>
            <a:endParaRPr lang="zh-CN" altLang="zh-CN" sz="1800" dirty="0"/>
          </a:p>
          <a:p>
            <a:pPr marL="109728" indent="0">
              <a:buNone/>
            </a:pPr>
            <a:r>
              <a:rPr lang="en-US" altLang="zh-CN" sz="1800" dirty="0"/>
              <a:t>&lt;</a:t>
            </a:r>
            <a:r>
              <a:rPr lang="zh-CN" altLang="zh-CN" sz="1800" dirty="0"/>
              <a:t>函数调用</a:t>
            </a:r>
            <a:r>
              <a:rPr lang="en-US" altLang="zh-CN" sz="1800" dirty="0"/>
              <a:t>&gt;</a:t>
            </a:r>
            <a:r>
              <a:rPr lang="zh-CN" altLang="zh-CN" sz="1800" dirty="0"/>
              <a:t>→</a:t>
            </a:r>
            <a:r>
              <a:rPr lang="en-US" altLang="zh-CN" sz="1800" dirty="0"/>
              <a:t>&lt;</a:t>
            </a:r>
            <a:r>
              <a:rPr lang="zh-CN" altLang="zh-CN" sz="1800" dirty="0"/>
              <a:t>标识符</a:t>
            </a:r>
            <a:r>
              <a:rPr lang="en-US" altLang="zh-CN" sz="1800" dirty="0"/>
              <a:t>&gt;(&lt;</a:t>
            </a:r>
            <a:r>
              <a:rPr lang="zh-CN" altLang="zh-CN" sz="1800" dirty="0"/>
              <a:t>实参列表</a:t>
            </a:r>
            <a:r>
              <a:rPr lang="en-US" altLang="zh-CN" sz="1800" dirty="0"/>
              <a:t>&gt;)</a:t>
            </a:r>
            <a:endParaRPr lang="zh-CN" altLang="zh-CN" sz="1800" dirty="0"/>
          </a:p>
          <a:p>
            <a:pPr marL="109728" indent="0">
              <a:buNone/>
            </a:pPr>
            <a:r>
              <a:rPr lang="en-US" altLang="zh-CN" sz="1800" dirty="0"/>
              <a:t>&lt;</a:t>
            </a:r>
            <a:r>
              <a:rPr lang="zh-CN" altLang="zh-CN" sz="1800" dirty="0"/>
              <a:t>实参列表</a:t>
            </a:r>
            <a:r>
              <a:rPr lang="en-US" altLang="zh-CN" sz="1800" dirty="0"/>
              <a:t>&gt;</a:t>
            </a:r>
            <a:r>
              <a:rPr lang="zh-CN" altLang="zh-CN" sz="1800" dirty="0"/>
              <a:t>→</a:t>
            </a:r>
            <a:r>
              <a:rPr lang="en-US" altLang="zh-CN" sz="1800" dirty="0"/>
              <a:t>&lt;</a:t>
            </a:r>
            <a:r>
              <a:rPr lang="zh-CN" altLang="zh-CN" sz="1800" dirty="0"/>
              <a:t>实参</a:t>
            </a:r>
            <a:r>
              <a:rPr lang="en-US" altLang="zh-CN" sz="1800" dirty="0"/>
              <a:t>&gt;|</a:t>
            </a:r>
            <a:r>
              <a:rPr lang="en-US" altLang="zh-CN" sz="1800" dirty="0">
                <a:sym typeface="Symbol"/>
              </a:rPr>
              <a:t></a:t>
            </a:r>
            <a:endParaRPr lang="zh-CN" altLang="zh-CN" sz="1800" dirty="0"/>
          </a:p>
          <a:p>
            <a:pPr marL="109728" indent="0">
              <a:buNone/>
            </a:pPr>
            <a:r>
              <a:rPr lang="en-US" altLang="zh-CN" sz="1800" dirty="0"/>
              <a:t>&lt;</a:t>
            </a:r>
            <a:r>
              <a:rPr lang="zh-CN" altLang="zh-CN" sz="1800" dirty="0"/>
              <a:t>实参</a:t>
            </a:r>
            <a:r>
              <a:rPr lang="en-US" altLang="zh-CN" sz="1800" dirty="0"/>
              <a:t>&gt;</a:t>
            </a:r>
            <a:r>
              <a:rPr lang="zh-CN" altLang="zh-CN" sz="1800" dirty="0"/>
              <a:t>→</a:t>
            </a:r>
            <a:r>
              <a:rPr lang="en-US" altLang="zh-CN" sz="1800" dirty="0"/>
              <a:t>&lt;</a:t>
            </a:r>
            <a:r>
              <a:rPr lang="zh-CN" altLang="zh-CN" sz="1800" dirty="0"/>
              <a:t>表达式</a:t>
            </a:r>
            <a:r>
              <a:rPr lang="en-US" altLang="zh-CN" sz="1800" dirty="0"/>
              <a:t>&gt;|&lt;</a:t>
            </a:r>
            <a:r>
              <a:rPr lang="zh-CN" altLang="zh-CN" sz="1800" dirty="0"/>
              <a:t>表达式</a:t>
            </a:r>
            <a:r>
              <a:rPr lang="en-US" altLang="zh-CN" sz="1800" dirty="0"/>
              <a:t>&gt;,&lt;</a:t>
            </a:r>
            <a:r>
              <a:rPr lang="zh-CN" altLang="zh-CN" sz="1800" dirty="0"/>
              <a:t>实参</a:t>
            </a:r>
            <a:r>
              <a:rPr lang="en-US" altLang="zh-CN" sz="1800" dirty="0"/>
              <a:t>&gt; </a:t>
            </a:r>
            <a:endParaRPr lang="zh-CN" altLang="zh-CN" sz="1800" dirty="0"/>
          </a:p>
          <a:p>
            <a:pPr marL="109728" indent="0">
              <a:buNone/>
            </a:pPr>
            <a:endParaRPr lang="zh-CN" altLang="en-US" sz="1800" dirty="0"/>
          </a:p>
        </p:txBody>
      </p:sp>
      <p:sp>
        <p:nvSpPr>
          <p:cNvPr id="5" name="标题 2"/>
          <p:cNvSpPr>
            <a:spLocks noGrp="1"/>
          </p:cNvSpPr>
          <p:nvPr>
            <p:ph type="title"/>
          </p:nvPr>
        </p:nvSpPr>
        <p:spPr>
          <a:xfrm>
            <a:off x="3481535" y="373703"/>
            <a:ext cx="3333056" cy="432048"/>
          </a:xfrm>
        </p:spPr>
        <p:txBody>
          <a:bodyPr>
            <a:noAutofit/>
          </a:bodyPr>
          <a:lstStyle/>
          <a:p>
            <a:r>
              <a:rPr lang="zh-CN" altLang="en-US" sz="2800" dirty="0"/>
              <a:t>表达式之间的关系</a:t>
            </a:r>
          </a:p>
        </p:txBody>
      </p:sp>
      <p:sp>
        <p:nvSpPr>
          <p:cNvPr id="6" name="矩形 5"/>
          <p:cNvSpPr/>
          <p:nvPr/>
        </p:nvSpPr>
        <p:spPr>
          <a:xfrm>
            <a:off x="3553540" y="989722"/>
            <a:ext cx="2530627" cy="1200329"/>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dirty="0"/>
              <a:t>&lt;</a:t>
            </a:r>
            <a:r>
              <a:rPr lang="zh-CN" altLang="zh-CN" dirty="0"/>
              <a:t>赋值表达式</a:t>
            </a:r>
            <a:r>
              <a:rPr lang="en-US" altLang="zh-CN" dirty="0"/>
              <a:t>&gt;</a:t>
            </a:r>
          </a:p>
          <a:p>
            <a:r>
              <a:rPr lang="en-US" altLang="zh-CN" dirty="0"/>
              <a:t>     </a:t>
            </a:r>
            <a:r>
              <a:rPr lang="zh-CN" altLang="en-US" dirty="0"/>
              <a:t>调用</a:t>
            </a:r>
            <a:r>
              <a:rPr lang="en-US" altLang="zh-CN" dirty="0"/>
              <a:t>&lt;</a:t>
            </a:r>
            <a:r>
              <a:rPr lang="zh-CN" altLang="en-US" dirty="0"/>
              <a:t>布尔表达式</a:t>
            </a:r>
            <a:r>
              <a:rPr lang="en-US" altLang="zh-CN" dirty="0"/>
              <a:t>&gt;</a:t>
            </a:r>
          </a:p>
          <a:p>
            <a:r>
              <a:rPr lang="zh-CN" altLang="en-US" dirty="0"/>
              <a:t>     调用</a:t>
            </a:r>
            <a:r>
              <a:rPr lang="en-US" altLang="zh-CN" dirty="0"/>
              <a:t>&lt;</a:t>
            </a:r>
            <a:r>
              <a:rPr lang="zh-CN" altLang="en-US" dirty="0"/>
              <a:t>关系表达式</a:t>
            </a:r>
            <a:r>
              <a:rPr lang="en-US" altLang="zh-CN" dirty="0"/>
              <a:t>&gt;</a:t>
            </a:r>
          </a:p>
          <a:p>
            <a:r>
              <a:rPr lang="zh-CN" altLang="en-US" dirty="0"/>
              <a:t>     调用</a:t>
            </a:r>
            <a:r>
              <a:rPr lang="en-US" altLang="zh-CN" dirty="0"/>
              <a:t>&lt;</a:t>
            </a:r>
            <a:r>
              <a:rPr lang="zh-CN" altLang="en-US" dirty="0"/>
              <a:t>算术</a:t>
            </a:r>
            <a:r>
              <a:rPr lang="zh-CN" altLang="zh-CN" dirty="0"/>
              <a:t>表达式</a:t>
            </a:r>
            <a:r>
              <a:rPr lang="en-US" altLang="zh-CN" dirty="0"/>
              <a:t>&gt;</a:t>
            </a:r>
            <a:endParaRPr lang="zh-CN" altLang="zh-CN" dirty="0"/>
          </a:p>
        </p:txBody>
      </p:sp>
      <p:sp>
        <p:nvSpPr>
          <p:cNvPr id="7" name="右箭头 6"/>
          <p:cNvSpPr/>
          <p:nvPr/>
        </p:nvSpPr>
        <p:spPr>
          <a:xfrm>
            <a:off x="6012161" y="1589887"/>
            <a:ext cx="720079" cy="26178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8" name="TextBox 7"/>
          <p:cNvSpPr txBox="1"/>
          <p:nvPr/>
        </p:nvSpPr>
        <p:spPr>
          <a:xfrm>
            <a:off x="6814591" y="1536169"/>
            <a:ext cx="2941984" cy="369332"/>
          </a:xfrm>
          <a:prstGeom prst="rect">
            <a:avLst/>
          </a:prstGeom>
          <a:noFill/>
        </p:spPr>
        <p:txBody>
          <a:bodyPr wrap="square" rtlCol="0">
            <a:spAutoFit/>
          </a:bodyPr>
          <a:lstStyle/>
          <a:p>
            <a:r>
              <a:rPr lang="en-US" altLang="zh-CN" dirty="0">
                <a:solidFill>
                  <a:srgbClr val="CC00FF"/>
                </a:solidFill>
              </a:rPr>
              <a:t>&lt;</a:t>
            </a:r>
            <a:r>
              <a:rPr lang="zh-CN" altLang="en-US" dirty="0">
                <a:solidFill>
                  <a:srgbClr val="CC00FF"/>
                </a:solidFill>
              </a:rPr>
              <a:t>算术表达式</a:t>
            </a:r>
            <a:r>
              <a:rPr lang="en-US" altLang="zh-CN" dirty="0">
                <a:solidFill>
                  <a:srgbClr val="CC00FF"/>
                </a:solidFill>
              </a:rPr>
              <a:t>&gt;</a:t>
            </a:r>
            <a:r>
              <a:rPr lang="zh-CN" altLang="en-US" dirty="0">
                <a:solidFill>
                  <a:srgbClr val="CC00FF"/>
                </a:solidFill>
              </a:rPr>
              <a:t>是基础</a:t>
            </a:r>
          </a:p>
        </p:txBody>
      </p:sp>
      <p:sp>
        <p:nvSpPr>
          <p:cNvPr id="9" name="标题 2">
            <a:extLst>
              <a:ext uri="{FF2B5EF4-FFF2-40B4-BE49-F238E27FC236}">
                <a16:creationId xmlns:a16="http://schemas.microsoft.com/office/drawing/2014/main" id="{83E348FC-CF45-4E7F-B007-030E11109D48}"/>
              </a:ext>
            </a:extLst>
          </p:cNvPr>
          <p:cNvSpPr txBox="1">
            <a:spLocks/>
          </p:cNvSpPr>
          <p:nvPr/>
        </p:nvSpPr>
        <p:spPr>
          <a:xfrm>
            <a:off x="0" y="123479"/>
            <a:ext cx="3203848" cy="432048"/>
          </a:xfrm>
          <a:prstGeom prst="rect">
            <a:avLst/>
          </a:prstGeom>
        </p:spPr>
        <p:txBody>
          <a:bodyPr vert="horz" rtlCol="0" anchor="ctr">
            <a:noAutofit/>
            <a:scene3d>
              <a:camera prst="orthographicFront"/>
              <a:lightRig rig="soft" dir="t"/>
            </a:scene3d>
            <a:sp3d prstMaterial="softEdge">
              <a:bevelT w="25400" h="25400"/>
            </a:sp3d>
          </a:bodyPr>
          <a:lstStyle>
            <a:lvl1pPr algn="l" rtl="0" eaLnBrk="1" latinLnBrk="0" hangingPunct="1">
              <a:spcBef>
                <a:spcPct val="0"/>
              </a:spcBef>
              <a:buNone/>
              <a:defRPr kumimoji="0" sz="3600" b="1" kern="1200">
                <a:solidFill>
                  <a:schemeClr val="tx2"/>
                </a:solidFill>
                <a:effectLst>
                  <a:outerShdw blurRad="31750" dist="25400" dir="5400000" algn="tl" rotWithShape="0">
                    <a:srgbClr val="000000">
                      <a:alpha val="25000"/>
                    </a:srgbClr>
                  </a:outerShdw>
                </a:effectLst>
                <a:latin typeface="隶书" panose="02010509060101010101" pitchFamily="49" charset="-122"/>
                <a:ea typeface="隶书" panose="02010509060101010101" pitchFamily="49" charset="-122"/>
                <a:cs typeface="+mj-cs"/>
              </a:defRPr>
            </a:lvl1pPr>
            <a:extLst/>
          </a:lstStyle>
          <a:p>
            <a:r>
              <a:rPr lang="zh-CN" altLang="en-US" sz="2800" dirty="0"/>
              <a:t>实现方式：</a:t>
            </a:r>
          </a:p>
        </p:txBody>
      </p:sp>
      <p:sp>
        <p:nvSpPr>
          <p:cNvPr id="10" name="标题 2">
            <a:extLst>
              <a:ext uri="{FF2B5EF4-FFF2-40B4-BE49-F238E27FC236}">
                <a16:creationId xmlns:a16="http://schemas.microsoft.com/office/drawing/2014/main" id="{9595E24A-ADE5-4774-8155-A9BC4C297F1C}"/>
              </a:ext>
            </a:extLst>
          </p:cNvPr>
          <p:cNvSpPr txBox="1">
            <a:spLocks/>
          </p:cNvSpPr>
          <p:nvPr/>
        </p:nvSpPr>
        <p:spPr>
          <a:xfrm>
            <a:off x="0" y="555527"/>
            <a:ext cx="3347866" cy="1711059"/>
          </a:xfrm>
          <a:prstGeom prst="rect">
            <a:avLst/>
          </a:prstGeom>
        </p:spPr>
        <p:style>
          <a:lnRef idx="1">
            <a:schemeClr val="accent2"/>
          </a:lnRef>
          <a:fillRef idx="2">
            <a:schemeClr val="accent2"/>
          </a:fillRef>
          <a:effectRef idx="1">
            <a:schemeClr val="accent2"/>
          </a:effectRef>
          <a:fontRef idx="minor">
            <a:schemeClr val="dk1"/>
          </a:fontRef>
        </p:style>
        <p:txBody>
          <a:bodyPr vert="horz" rtlCol="0" anchor="ctr">
            <a:noAutofit/>
            <a:scene3d>
              <a:camera prst="orthographicFront"/>
              <a:lightRig rig="soft" dir="t"/>
            </a:scene3d>
            <a:sp3d prstMaterial="softEdge">
              <a:bevelT w="25400" h="25400"/>
            </a:sp3d>
          </a:bodyPr>
          <a:lstStyle>
            <a:lvl1pPr algn="l" rtl="0" eaLnBrk="1" latinLnBrk="0" hangingPunct="1">
              <a:spcBef>
                <a:spcPct val="0"/>
              </a:spcBef>
              <a:buNone/>
              <a:defRPr kumimoji="0" sz="3600" b="1" kern="1200">
                <a:solidFill>
                  <a:schemeClr val="tx2"/>
                </a:solidFill>
                <a:effectLst>
                  <a:outerShdw blurRad="31750" dist="25400" dir="5400000" algn="tl" rotWithShape="0">
                    <a:srgbClr val="000000">
                      <a:alpha val="25000"/>
                    </a:srgbClr>
                  </a:outerShdw>
                </a:effectLst>
                <a:latin typeface="隶书" panose="02010509060101010101" pitchFamily="49" charset="-122"/>
                <a:ea typeface="隶书" panose="02010509060101010101" pitchFamily="49" charset="-122"/>
                <a:cs typeface="+mj-cs"/>
              </a:defRPr>
            </a:lvl1pPr>
            <a:extLst/>
          </a:lstStyle>
          <a:p>
            <a:r>
              <a:rPr lang="zh-CN" altLang="en-US" sz="2200" dirty="0"/>
              <a:t>①分不同表达式类型分别写。</a:t>
            </a:r>
            <a:endParaRPr lang="en-US" altLang="zh-CN" sz="2200" dirty="0"/>
          </a:p>
          <a:p>
            <a:r>
              <a:rPr lang="zh-CN" altLang="en-US" sz="2200" dirty="0"/>
              <a:t>②按照各种表达式的关系统一写一个表达式语法分析代码</a:t>
            </a:r>
          </a:p>
        </p:txBody>
      </p:sp>
    </p:spTree>
    <p:extLst>
      <p:ext uri="{BB962C8B-B14F-4D97-AF65-F5344CB8AC3E}">
        <p14:creationId xmlns:p14="http://schemas.microsoft.com/office/powerpoint/2010/main" val="4612415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95035" y="83770"/>
            <a:ext cx="8229600" cy="576064"/>
          </a:xfrm>
        </p:spPr>
        <p:txBody>
          <a:bodyPr>
            <a:normAutofit fontScale="90000"/>
          </a:bodyPr>
          <a:lstStyle/>
          <a:p>
            <a:endParaRPr lang="zh-CN" altLang="en-US"/>
          </a:p>
        </p:txBody>
      </p:sp>
      <p:sp>
        <p:nvSpPr>
          <p:cNvPr id="4" name="矩形 3"/>
          <p:cNvSpPr/>
          <p:nvPr/>
        </p:nvSpPr>
        <p:spPr>
          <a:xfrm>
            <a:off x="509611" y="1318210"/>
            <a:ext cx="7848872" cy="101566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sz="2000" dirty="0"/>
              <a:t>&lt;</a:t>
            </a:r>
            <a:r>
              <a:rPr lang="zh-CN" altLang="zh-CN" sz="2000" dirty="0"/>
              <a:t>布尔表达式</a:t>
            </a:r>
            <a:r>
              <a:rPr lang="en-US" altLang="zh-CN" sz="2000" dirty="0"/>
              <a:t>&gt;</a:t>
            </a:r>
            <a:r>
              <a:rPr lang="zh-CN" altLang="zh-CN" sz="2000" dirty="0"/>
              <a:t>→</a:t>
            </a:r>
            <a:r>
              <a:rPr lang="en-US" altLang="zh-CN" sz="2000" dirty="0"/>
              <a:t>&lt;</a:t>
            </a:r>
            <a:r>
              <a:rPr lang="zh-CN" altLang="zh-CN" sz="2000" dirty="0"/>
              <a:t>布尔表达式</a:t>
            </a:r>
            <a:r>
              <a:rPr lang="en-US" altLang="zh-CN" sz="2000" dirty="0"/>
              <a:t>&gt;||&lt;</a:t>
            </a:r>
            <a:r>
              <a:rPr lang="zh-CN" altLang="zh-CN" sz="2000" dirty="0"/>
              <a:t>布尔项</a:t>
            </a:r>
            <a:r>
              <a:rPr lang="en-US" altLang="zh-CN" sz="2000" dirty="0"/>
              <a:t>&gt; | &lt;</a:t>
            </a:r>
            <a:r>
              <a:rPr lang="zh-CN" altLang="zh-CN" sz="2000" dirty="0"/>
              <a:t>布尔项</a:t>
            </a:r>
            <a:r>
              <a:rPr lang="en-US" altLang="zh-CN" sz="2000" dirty="0"/>
              <a:t>&gt;</a:t>
            </a:r>
            <a:endParaRPr lang="zh-CN" altLang="zh-CN" sz="2000" dirty="0"/>
          </a:p>
          <a:p>
            <a:r>
              <a:rPr lang="en-US" altLang="zh-CN" sz="2000" dirty="0"/>
              <a:t>&lt;</a:t>
            </a:r>
            <a:r>
              <a:rPr lang="zh-CN" altLang="zh-CN" sz="2000" dirty="0"/>
              <a:t>布尔项</a:t>
            </a:r>
            <a:r>
              <a:rPr lang="en-US" altLang="zh-CN" sz="2000" dirty="0"/>
              <a:t>&gt;</a:t>
            </a:r>
            <a:r>
              <a:rPr lang="zh-CN" altLang="zh-CN" sz="2000" dirty="0"/>
              <a:t>→</a:t>
            </a:r>
            <a:r>
              <a:rPr lang="en-US" altLang="zh-CN" sz="2000" dirty="0"/>
              <a:t>&lt;</a:t>
            </a:r>
            <a:r>
              <a:rPr lang="zh-CN" altLang="zh-CN" sz="2000" dirty="0"/>
              <a:t>布尔项</a:t>
            </a:r>
            <a:r>
              <a:rPr lang="en-US" altLang="zh-CN" sz="2000" dirty="0"/>
              <a:t>&gt; &amp;&amp;&lt;</a:t>
            </a:r>
            <a:r>
              <a:rPr lang="zh-CN" altLang="zh-CN" sz="2000" dirty="0"/>
              <a:t>布尔因子</a:t>
            </a:r>
            <a:r>
              <a:rPr lang="en-US" altLang="zh-CN" sz="2000" dirty="0"/>
              <a:t>&gt;| &lt;</a:t>
            </a:r>
            <a:r>
              <a:rPr lang="zh-CN" altLang="zh-CN" sz="2000" dirty="0"/>
              <a:t>布尔因子</a:t>
            </a:r>
            <a:r>
              <a:rPr lang="en-US" altLang="zh-CN" sz="2000" dirty="0"/>
              <a:t>&gt;</a:t>
            </a:r>
            <a:endParaRPr lang="zh-CN" altLang="zh-CN" sz="2000" dirty="0"/>
          </a:p>
          <a:p>
            <a:r>
              <a:rPr lang="en-US" altLang="zh-CN" sz="2000" dirty="0"/>
              <a:t>&lt;</a:t>
            </a:r>
            <a:r>
              <a:rPr lang="zh-CN" altLang="zh-CN" sz="2000" dirty="0"/>
              <a:t>布尔因子</a:t>
            </a:r>
            <a:r>
              <a:rPr lang="en-US" altLang="zh-CN" sz="2000" dirty="0"/>
              <a:t>&gt;</a:t>
            </a:r>
            <a:r>
              <a:rPr lang="zh-CN" altLang="zh-CN" sz="2000" dirty="0"/>
              <a:t>→</a:t>
            </a:r>
            <a:r>
              <a:rPr lang="en-US" altLang="zh-CN" sz="2000" dirty="0">
                <a:solidFill>
                  <a:srgbClr val="FF0000"/>
                </a:solidFill>
              </a:rPr>
              <a:t>&lt;</a:t>
            </a:r>
            <a:r>
              <a:rPr lang="zh-CN" altLang="zh-CN" sz="2000" dirty="0">
                <a:solidFill>
                  <a:srgbClr val="FF0000"/>
                </a:solidFill>
              </a:rPr>
              <a:t>算术表达式</a:t>
            </a:r>
            <a:r>
              <a:rPr lang="en-US" altLang="zh-CN" sz="2000" dirty="0">
                <a:solidFill>
                  <a:srgbClr val="FF0000"/>
                </a:solidFill>
              </a:rPr>
              <a:t>&gt;|&lt;</a:t>
            </a:r>
            <a:r>
              <a:rPr lang="zh-CN" altLang="zh-CN" sz="2000" dirty="0">
                <a:solidFill>
                  <a:srgbClr val="FF0000"/>
                </a:solidFill>
              </a:rPr>
              <a:t>关系表达式</a:t>
            </a:r>
            <a:r>
              <a:rPr lang="en-US" altLang="zh-CN" sz="2000" dirty="0">
                <a:solidFill>
                  <a:srgbClr val="FF0000"/>
                </a:solidFill>
              </a:rPr>
              <a:t>&gt; </a:t>
            </a:r>
            <a:r>
              <a:rPr lang="en-US" altLang="zh-CN" sz="2000" dirty="0"/>
              <a:t>| !&lt;</a:t>
            </a:r>
            <a:r>
              <a:rPr lang="zh-CN" altLang="zh-CN" sz="2000" dirty="0"/>
              <a:t>布尔表达式</a:t>
            </a:r>
            <a:r>
              <a:rPr lang="en-US" altLang="zh-CN" sz="2000" dirty="0"/>
              <a:t>&gt;</a:t>
            </a:r>
            <a:endParaRPr lang="zh-CN" altLang="zh-CN" sz="2000" dirty="0"/>
          </a:p>
        </p:txBody>
      </p:sp>
      <p:sp>
        <p:nvSpPr>
          <p:cNvPr id="5" name="矩形 4"/>
          <p:cNvSpPr/>
          <p:nvPr/>
        </p:nvSpPr>
        <p:spPr>
          <a:xfrm>
            <a:off x="509611" y="4195996"/>
            <a:ext cx="7848872" cy="40011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sz="2000" dirty="0"/>
              <a:t>&lt;</a:t>
            </a:r>
            <a:r>
              <a:rPr lang="zh-CN" altLang="zh-CN" sz="2000" dirty="0"/>
              <a:t>赋值表达式</a:t>
            </a:r>
            <a:r>
              <a:rPr lang="en-US" altLang="zh-CN" sz="2000" dirty="0"/>
              <a:t>&gt;</a:t>
            </a:r>
            <a:r>
              <a:rPr lang="zh-CN" altLang="zh-CN" sz="2000" dirty="0"/>
              <a:t>→</a:t>
            </a:r>
            <a:r>
              <a:rPr lang="en-US" altLang="zh-CN" sz="2000" dirty="0"/>
              <a:t>&lt;</a:t>
            </a:r>
            <a:r>
              <a:rPr lang="zh-CN" altLang="zh-CN" sz="2000" dirty="0"/>
              <a:t>标识符</a:t>
            </a:r>
            <a:r>
              <a:rPr lang="en-US" altLang="zh-CN" sz="2000" dirty="0"/>
              <a:t>&gt;=&lt;</a:t>
            </a:r>
            <a:r>
              <a:rPr lang="zh-CN" altLang="zh-CN" sz="2000" dirty="0"/>
              <a:t>表达式</a:t>
            </a:r>
            <a:r>
              <a:rPr lang="en-US" altLang="zh-CN" sz="2000" dirty="0"/>
              <a:t>&gt;</a:t>
            </a:r>
            <a:endParaRPr lang="zh-CN" altLang="zh-CN" sz="2000" dirty="0"/>
          </a:p>
        </p:txBody>
      </p:sp>
      <p:sp>
        <p:nvSpPr>
          <p:cNvPr id="6" name="线形标注 1 5"/>
          <p:cNvSpPr/>
          <p:nvPr/>
        </p:nvSpPr>
        <p:spPr>
          <a:xfrm>
            <a:off x="5517312" y="2206700"/>
            <a:ext cx="3600400" cy="766460"/>
          </a:xfrm>
          <a:prstGeom prst="borderCallout1">
            <a:avLst>
              <a:gd name="adj1" fmla="val 42610"/>
              <a:gd name="adj2" fmla="val -1137"/>
              <a:gd name="adj3" fmla="val 9105"/>
              <a:gd name="adj4" fmla="val -34947"/>
            </a:avLst>
          </a:prstGeom>
        </p:spPr>
        <p:style>
          <a:lnRef idx="2">
            <a:schemeClr val="accent3"/>
          </a:lnRef>
          <a:fillRef idx="1">
            <a:schemeClr val="lt1"/>
          </a:fillRef>
          <a:effectRef idx="0">
            <a:schemeClr val="accent3"/>
          </a:effectRef>
          <a:fontRef idx="minor">
            <a:schemeClr val="dk1"/>
          </a:fontRef>
        </p:style>
        <p:txBody>
          <a:bodyPr rtlCol="0" anchor="ctr"/>
          <a:lstStyle/>
          <a:p>
            <a:r>
              <a:rPr lang="zh-CN" altLang="en-US" dirty="0"/>
              <a:t>怎么知道调用的是布尔表达式，还是算术表达式？</a:t>
            </a:r>
          </a:p>
        </p:txBody>
      </p:sp>
      <p:sp>
        <p:nvSpPr>
          <p:cNvPr id="7" name="线形标注 1 6"/>
          <p:cNvSpPr/>
          <p:nvPr/>
        </p:nvSpPr>
        <p:spPr>
          <a:xfrm>
            <a:off x="5529536" y="3142804"/>
            <a:ext cx="3600400" cy="936104"/>
          </a:xfrm>
          <a:prstGeom prst="borderCallout1">
            <a:avLst>
              <a:gd name="adj1" fmla="val 42610"/>
              <a:gd name="adj2" fmla="val -1137"/>
              <a:gd name="adj3" fmla="val -91833"/>
              <a:gd name="adj4" fmla="val -23942"/>
            </a:avLst>
          </a:prstGeom>
        </p:spPr>
        <p:style>
          <a:lnRef idx="2">
            <a:schemeClr val="accent3"/>
          </a:lnRef>
          <a:fillRef idx="1">
            <a:schemeClr val="lt1"/>
          </a:fillRef>
          <a:effectRef idx="0">
            <a:schemeClr val="accent3"/>
          </a:effectRef>
          <a:fontRef idx="minor">
            <a:schemeClr val="dk1"/>
          </a:fontRef>
        </p:style>
        <p:txBody>
          <a:bodyPr rtlCol="0" anchor="ctr"/>
          <a:lstStyle/>
          <a:p>
            <a:r>
              <a:rPr lang="en-US" altLang="zh-CN" dirty="0"/>
              <a:t>LL(1)</a:t>
            </a:r>
            <a:r>
              <a:rPr lang="zh-CN" altLang="en-US" dirty="0"/>
              <a:t>文法才能使用递归下降分析，如果第一个符号相同，需要进行文法改造，看下一页</a:t>
            </a:r>
            <a:r>
              <a:rPr lang="en-US" altLang="zh-CN" dirty="0" err="1"/>
              <a:t>ppt</a:t>
            </a:r>
            <a:r>
              <a:rPr lang="zh-CN" altLang="en-US" dirty="0"/>
              <a:t>的过程</a:t>
            </a:r>
          </a:p>
        </p:txBody>
      </p:sp>
      <p:sp>
        <p:nvSpPr>
          <p:cNvPr id="9" name="矩形 8"/>
          <p:cNvSpPr/>
          <p:nvPr/>
        </p:nvSpPr>
        <p:spPr>
          <a:xfrm>
            <a:off x="467544" y="411510"/>
            <a:ext cx="7890939" cy="70788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sz="2000" dirty="0"/>
              <a:t>&lt;</a:t>
            </a:r>
            <a:r>
              <a:rPr lang="zh-CN" altLang="zh-CN" sz="2000" dirty="0"/>
              <a:t>关系表达式</a:t>
            </a:r>
            <a:r>
              <a:rPr lang="en-US" altLang="zh-CN" sz="2000" dirty="0"/>
              <a:t>&gt;</a:t>
            </a:r>
            <a:r>
              <a:rPr lang="zh-CN" altLang="zh-CN" sz="2000" dirty="0"/>
              <a:t>→</a:t>
            </a:r>
            <a:r>
              <a:rPr lang="en-US" altLang="zh-CN" sz="2000" dirty="0"/>
              <a:t>&lt;</a:t>
            </a:r>
            <a:r>
              <a:rPr lang="zh-CN" altLang="zh-CN" sz="2000" dirty="0"/>
              <a:t>算术表达式</a:t>
            </a:r>
            <a:r>
              <a:rPr lang="en-US" altLang="zh-CN" sz="2000" dirty="0"/>
              <a:t>&gt;&lt;</a:t>
            </a:r>
            <a:r>
              <a:rPr lang="zh-CN" altLang="zh-CN" sz="2000" dirty="0"/>
              <a:t>关系运算符</a:t>
            </a:r>
            <a:r>
              <a:rPr lang="en-US" altLang="zh-CN" sz="2000" dirty="0"/>
              <a:t>&gt;&lt;</a:t>
            </a:r>
            <a:r>
              <a:rPr lang="zh-CN" altLang="zh-CN" sz="2000" dirty="0"/>
              <a:t>算术表达式</a:t>
            </a:r>
            <a:r>
              <a:rPr lang="en-US" altLang="zh-CN" sz="2000" dirty="0"/>
              <a:t>&gt;</a:t>
            </a:r>
            <a:endParaRPr lang="zh-CN" altLang="zh-CN" sz="2000" dirty="0"/>
          </a:p>
          <a:p>
            <a:r>
              <a:rPr lang="en-US" altLang="zh-CN" sz="2000" dirty="0"/>
              <a:t>&lt;</a:t>
            </a:r>
            <a:r>
              <a:rPr lang="zh-CN" altLang="zh-CN" sz="2000" dirty="0"/>
              <a:t>关系运算符</a:t>
            </a:r>
            <a:r>
              <a:rPr lang="en-US" altLang="zh-CN" sz="2000" dirty="0"/>
              <a:t>&gt;</a:t>
            </a:r>
            <a:r>
              <a:rPr lang="zh-CN" altLang="zh-CN" sz="2000" dirty="0"/>
              <a:t>→</a:t>
            </a:r>
            <a:r>
              <a:rPr lang="en-US" altLang="zh-CN" sz="2000" dirty="0"/>
              <a:t>&gt;|&lt;|&gt;=|&lt;=|==|!=</a:t>
            </a:r>
            <a:endParaRPr lang="zh-CN" altLang="zh-CN" sz="2000" dirty="0"/>
          </a:p>
        </p:txBody>
      </p:sp>
    </p:spTree>
    <p:extLst>
      <p:ext uri="{BB962C8B-B14F-4D97-AF65-F5344CB8AC3E}">
        <p14:creationId xmlns:p14="http://schemas.microsoft.com/office/powerpoint/2010/main" val="25794064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p:cNvSpPr>
            <a:spLocks noGrp="1" noChangeArrowheads="1"/>
          </p:cNvSpPr>
          <p:nvPr>
            <p:ph type="body" idx="4294967295"/>
          </p:nvPr>
        </p:nvSpPr>
        <p:spPr>
          <a:xfrm>
            <a:off x="369889" y="1075135"/>
            <a:ext cx="8269287" cy="3876675"/>
          </a:xfrm>
        </p:spPr>
        <p:txBody>
          <a:bodyPr/>
          <a:lstStyle/>
          <a:p>
            <a:pPr eaLnBrk="1" hangingPunct="1">
              <a:lnSpc>
                <a:spcPct val="150000"/>
              </a:lnSpc>
              <a:spcBef>
                <a:spcPct val="30000"/>
              </a:spcBef>
            </a:pPr>
            <a:r>
              <a:rPr kumimoji="1" lang="zh-CN" altLang="en-US" sz="2400"/>
              <a:t>实验目的：理解和掌握各种语句的文法构造，熟悉常用的语法分析方法。</a:t>
            </a:r>
            <a:endParaRPr kumimoji="1" lang="en-US" altLang="zh-CN" sz="2400"/>
          </a:p>
          <a:p>
            <a:pPr eaLnBrk="1" hangingPunct="1">
              <a:lnSpc>
                <a:spcPct val="150000"/>
              </a:lnSpc>
              <a:spcBef>
                <a:spcPct val="30000"/>
              </a:spcBef>
            </a:pPr>
            <a:r>
              <a:rPr kumimoji="1" lang="zh-CN" altLang="en-US" sz="2400"/>
              <a:t>实验内容：根据</a:t>
            </a:r>
            <a:r>
              <a:rPr kumimoji="1" lang="en-US" altLang="zh-CN" sz="2400"/>
              <a:t>Sample</a:t>
            </a:r>
            <a:r>
              <a:rPr kumimoji="1" lang="zh-CN" altLang="en-US" sz="2400"/>
              <a:t>语言的语法规则判定输入的一串单词能否构成一个正确的语句。</a:t>
            </a:r>
          </a:p>
        </p:txBody>
      </p:sp>
      <p:sp>
        <p:nvSpPr>
          <p:cNvPr id="12291" name="Rectangle 3"/>
          <p:cNvSpPr>
            <a:spLocks noGrp="1" noChangeArrowheads="1"/>
          </p:cNvSpPr>
          <p:nvPr>
            <p:ph type="title" idx="4294967295"/>
          </p:nvPr>
        </p:nvSpPr>
        <p:spPr>
          <a:xfrm>
            <a:off x="0" y="0"/>
            <a:ext cx="9144000" cy="452438"/>
          </a:xfrm>
        </p:spPr>
        <p:txBody>
          <a:bodyPr>
            <a:normAutofit fontScale="90000"/>
          </a:bodyPr>
          <a:lstStyle/>
          <a:p>
            <a:pPr eaLnBrk="1" hangingPunct="1"/>
            <a:r>
              <a:rPr kumimoji="1" lang="zh-CN" altLang="en-US" b="1">
                <a:solidFill>
                  <a:srgbClr val="663399"/>
                </a:solidFill>
                <a:latin typeface="Times New Roman" pitchFamily="18" charset="0"/>
                <a:ea typeface="隶书" pitchFamily="49" charset="-122"/>
              </a:rPr>
              <a:t>实验五：语句的分析（</a:t>
            </a:r>
            <a:r>
              <a:rPr kumimoji="1" lang="en-US" altLang="zh-CN" b="1">
                <a:solidFill>
                  <a:srgbClr val="663399"/>
                </a:solidFill>
                <a:latin typeface="Times New Roman" pitchFamily="18" charset="0"/>
                <a:ea typeface="隶书" pitchFamily="49" charset="-122"/>
              </a:rPr>
              <a:t>2</a:t>
            </a:r>
            <a:r>
              <a:rPr kumimoji="1" lang="zh-CN" altLang="en-US" b="1">
                <a:solidFill>
                  <a:srgbClr val="663399"/>
                </a:solidFill>
                <a:latin typeface="Times New Roman" pitchFamily="18" charset="0"/>
                <a:ea typeface="隶书" pitchFamily="49" charset="-122"/>
              </a:rPr>
              <a:t>学时</a:t>
            </a:r>
            <a:r>
              <a:rPr kumimoji="1" lang="en-US" altLang="zh-CN" b="1">
                <a:solidFill>
                  <a:srgbClr val="663399"/>
                </a:solidFill>
                <a:latin typeface="Times New Roman" pitchFamily="18" charset="0"/>
                <a:ea typeface="隶书" pitchFamily="49" charset="-122"/>
              </a:rPr>
              <a:t>+</a:t>
            </a:r>
            <a:r>
              <a:rPr kumimoji="1" lang="zh-CN" altLang="en-US" b="1">
                <a:solidFill>
                  <a:srgbClr val="663399"/>
                </a:solidFill>
                <a:latin typeface="Times New Roman" pitchFamily="18" charset="0"/>
                <a:ea typeface="隶书" pitchFamily="49" charset="-122"/>
              </a:rPr>
              <a:t>课外）</a:t>
            </a:r>
          </a:p>
        </p:txBody>
      </p:sp>
    </p:spTree>
    <p:extLst>
      <p:ext uri="{BB962C8B-B14F-4D97-AF65-F5344CB8AC3E}">
        <p14:creationId xmlns:p14="http://schemas.microsoft.com/office/powerpoint/2010/main" val="1254843844"/>
      </p:ext>
    </p:extLst>
  </p:cSld>
  <p:clrMapOvr>
    <a:masterClrMapping/>
  </p:clrMapOvr>
  <p:transition spd="med">
    <p:random/>
  </p:transition>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Rectangle 2"/>
          <p:cNvSpPr>
            <a:spLocks noGrp="1" noChangeArrowheads="1"/>
          </p:cNvSpPr>
          <p:nvPr>
            <p:ph type="body" idx="4294967295"/>
          </p:nvPr>
        </p:nvSpPr>
        <p:spPr>
          <a:xfrm>
            <a:off x="683568" y="699542"/>
            <a:ext cx="8269287" cy="3969544"/>
          </a:xfrm>
          <a:solidFill>
            <a:schemeClr val="bg1"/>
          </a:solidFill>
        </p:spPr>
        <p:txBody>
          <a:bodyPr>
            <a:normAutofit fontScale="92500" lnSpcReduction="20000"/>
          </a:bodyPr>
          <a:lstStyle/>
          <a:p>
            <a:pPr eaLnBrk="1" hangingPunct="1">
              <a:lnSpc>
                <a:spcPct val="90000"/>
              </a:lnSpc>
              <a:spcBef>
                <a:spcPct val="30000"/>
              </a:spcBef>
            </a:pPr>
            <a:r>
              <a:rPr kumimoji="1" lang="zh-CN" altLang="en-US" sz="2000" dirty="0"/>
              <a:t>实验要求</a:t>
            </a:r>
            <a:r>
              <a:rPr kumimoji="1" lang="en-US" altLang="zh-CN" sz="2000" dirty="0"/>
              <a:t>:</a:t>
            </a:r>
          </a:p>
          <a:p>
            <a:pPr lvl="1"/>
            <a:r>
              <a:rPr lang="zh-CN" altLang="zh-CN" sz="1800" b="1" dirty="0"/>
              <a:t>（</a:t>
            </a:r>
            <a:r>
              <a:rPr lang="en-US" altLang="zh-CN" sz="1800" b="1" dirty="0"/>
              <a:t>1</a:t>
            </a:r>
            <a:r>
              <a:rPr lang="zh-CN" altLang="zh-CN" sz="1800" b="1" dirty="0"/>
              <a:t>）基本内容</a:t>
            </a:r>
            <a:r>
              <a:rPr lang="zh-CN" altLang="en-US" sz="1800" b="1" dirty="0"/>
              <a:t>（必做）</a:t>
            </a:r>
            <a:endParaRPr lang="zh-CN" altLang="zh-CN" sz="1800" b="1" dirty="0"/>
          </a:p>
          <a:p>
            <a:pPr lvl="2" eaLnBrk="1" hangingPunct="1">
              <a:lnSpc>
                <a:spcPct val="90000"/>
              </a:lnSpc>
              <a:spcBef>
                <a:spcPct val="30000"/>
              </a:spcBef>
            </a:pPr>
            <a:r>
              <a:rPr kumimoji="1" lang="zh-CN" altLang="en-US" sz="1800" dirty="0"/>
              <a:t>写出</a:t>
            </a:r>
            <a:r>
              <a:rPr kumimoji="1" lang="en-US" altLang="zh-CN" sz="1800" dirty="0"/>
              <a:t>Sample</a:t>
            </a:r>
            <a:r>
              <a:rPr kumimoji="1" lang="zh-CN" altLang="en-US" sz="1800" dirty="0"/>
              <a:t>语言（或你所选定的语言）的赋值语句的文法</a:t>
            </a:r>
          </a:p>
          <a:p>
            <a:pPr lvl="2" eaLnBrk="1" hangingPunct="1">
              <a:lnSpc>
                <a:spcPct val="90000"/>
              </a:lnSpc>
              <a:spcBef>
                <a:spcPct val="30000"/>
              </a:spcBef>
            </a:pPr>
            <a:r>
              <a:rPr kumimoji="1" lang="zh-CN" altLang="en-US" sz="1800" dirty="0"/>
              <a:t>编写一个递归下降分析函数，判断给定的一串单词能否构成一个正确的赋值语句</a:t>
            </a:r>
          </a:p>
          <a:p>
            <a:pPr lvl="2" eaLnBrk="1" hangingPunct="1">
              <a:lnSpc>
                <a:spcPct val="90000"/>
              </a:lnSpc>
              <a:spcBef>
                <a:spcPct val="30000"/>
              </a:spcBef>
            </a:pPr>
            <a:r>
              <a:rPr kumimoji="1" lang="zh-CN" altLang="en-US" sz="1800" dirty="0"/>
              <a:t>写出</a:t>
            </a:r>
            <a:r>
              <a:rPr kumimoji="1" lang="en-US" altLang="zh-CN" sz="1800" dirty="0"/>
              <a:t>if</a:t>
            </a:r>
            <a:r>
              <a:rPr kumimoji="1" lang="zh-CN" altLang="en-US" sz="1800" dirty="0"/>
              <a:t>语句的文法</a:t>
            </a:r>
          </a:p>
          <a:p>
            <a:pPr lvl="2" eaLnBrk="1" hangingPunct="1">
              <a:lnSpc>
                <a:spcPct val="90000"/>
              </a:lnSpc>
              <a:spcBef>
                <a:spcPct val="30000"/>
              </a:spcBef>
            </a:pPr>
            <a:r>
              <a:rPr kumimoji="1" lang="zh-CN" altLang="en-US" sz="1800" dirty="0"/>
              <a:t>编写一个递归下降分析函数，判断给定的一串单词能否构成一个正确的</a:t>
            </a:r>
            <a:r>
              <a:rPr kumimoji="1" lang="en-US" altLang="zh-CN" sz="1800" dirty="0"/>
              <a:t>IF</a:t>
            </a:r>
            <a:r>
              <a:rPr kumimoji="1" lang="zh-CN" altLang="en-US" sz="1800" dirty="0"/>
              <a:t>语句</a:t>
            </a:r>
          </a:p>
          <a:p>
            <a:pPr lvl="1"/>
            <a:r>
              <a:rPr lang="zh-CN" altLang="zh-CN" sz="1800" b="1" dirty="0"/>
              <a:t>（</a:t>
            </a:r>
            <a:r>
              <a:rPr lang="en-US" altLang="zh-CN" sz="1800" b="1" dirty="0"/>
              <a:t>2</a:t>
            </a:r>
            <a:r>
              <a:rPr lang="zh-CN" altLang="zh-CN" sz="1800" b="1" dirty="0"/>
              <a:t>）扩展内容</a:t>
            </a:r>
            <a:r>
              <a:rPr lang="zh-CN" altLang="en-US" sz="1800" b="1" dirty="0"/>
              <a:t>（选做）</a:t>
            </a:r>
            <a:endParaRPr lang="zh-CN" altLang="zh-CN" sz="1800" b="1" dirty="0"/>
          </a:p>
          <a:p>
            <a:pPr lvl="2" eaLnBrk="1" hangingPunct="1">
              <a:lnSpc>
                <a:spcPct val="90000"/>
              </a:lnSpc>
              <a:spcBef>
                <a:spcPct val="30000"/>
              </a:spcBef>
            </a:pPr>
            <a:r>
              <a:rPr kumimoji="1" lang="zh-CN" altLang="en-US" sz="1800" dirty="0"/>
              <a:t>用上面同样的方法，实现</a:t>
            </a:r>
            <a:r>
              <a:rPr kumimoji="1" lang="en-US" altLang="zh-CN" sz="1800" dirty="0"/>
              <a:t>for</a:t>
            </a:r>
            <a:r>
              <a:rPr kumimoji="1" lang="zh-CN" altLang="en-US" sz="1800" dirty="0"/>
              <a:t>语句、</a:t>
            </a:r>
            <a:r>
              <a:rPr kumimoji="1" lang="en-US" altLang="zh-CN" sz="1800" dirty="0"/>
              <a:t>while</a:t>
            </a:r>
            <a:r>
              <a:rPr kumimoji="1" lang="zh-CN" altLang="en-US" sz="1800" dirty="0"/>
              <a:t>语句和</a:t>
            </a:r>
            <a:r>
              <a:rPr kumimoji="1" lang="en-US" altLang="zh-CN" sz="1800" dirty="0"/>
              <a:t>do while</a:t>
            </a:r>
            <a:r>
              <a:rPr kumimoji="1" lang="zh-CN" altLang="en-US" sz="1800" dirty="0"/>
              <a:t>语句的递归下降分析程序</a:t>
            </a:r>
            <a:endParaRPr kumimoji="1" lang="en-US" altLang="zh-CN" sz="1800" dirty="0"/>
          </a:p>
          <a:p>
            <a:pPr lvl="1">
              <a:lnSpc>
                <a:spcPct val="90000"/>
              </a:lnSpc>
              <a:spcBef>
                <a:spcPct val="30000"/>
              </a:spcBef>
            </a:pPr>
            <a:r>
              <a:rPr lang="zh-CN" altLang="zh-CN" sz="1800" b="1" dirty="0"/>
              <a:t>（</a:t>
            </a:r>
            <a:r>
              <a:rPr lang="en-US" altLang="zh-CN" sz="1800" b="1" dirty="0"/>
              <a:t>3</a:t>
            </a:r>
            <a:r>
              <a:rPr lang="zh-CN" altLang="zh-CN" sz="1800" b="1" dirty="0"/>
              <a:t>）</a:t>
            </a:r>
            <a:r>
              <a:rPr lang="zh-CN" altLang="en-US" sz="1800" b="1" dirty="0"/>
              <a:t>创新及应用（选做）</a:t>
            </a:r>
            <a:endParaRPr lang="zh-CN" altLang="zh-CN" sz="1800" b="1" dirty="0"/>
          </a:p>
          <a:p>
            <a:pPr lvl="2">
              <a:lnSpc>
                <a:spcPct val="90000"/>
              </a:lnSpc>
              <a:spcBef>
                <a:spcPct val="30000"/>
              </a:spcBef>
            </a:pPr>
            <a:r>
              <a:rPr kumimoji="1" lang="zh-CN" altLang="en-US" sz="1600" b="1" dirty="0">
                <a:solidFill>
                  <a:srgbClr val="CC00FF"/>
                </a:solidFill>
              </a:rPr>
              <a:t>完成完整的递归下降分析器</a:t>
            </a:r>
            <a:endParaRPr kumimoji="1" lang="en-US" altLang="zh-CN" sz="1600" b="1" dirty="0">
              <a:solidFill>
                <a:srgbClr val="CC00FF"/>
              </a:solidFill>
            </a:endParaRPr>
          </a:p>
          <a:p>
            <a:pPr lvl="1" eaLnBrk="1" hangingPunct="1">
              <a:lnSpc>
                <a:spcPct val="90000"/>
              </a:lnSpc>
              <a:spcBef>
                <a:spcPct val="30000"/>
              </a:spcBef>
            </a:pPr>
            <a:endParaRPr kumimoji="1" lang="en-US" altLang="zh-CN" sz="1800" dirty="0"/>
          </a:p>
          <a:p>
            <a:pPr lvl="1" eaLnBrk="1" hangingPunct="1">
              <a:lnSpc>
                <a:spcPct val="90000"/>
              </a:lnSpc>
              <a:spcBef>
                <a:spcPct val="30000"/>
              </a:spcBef>
            </a:pPr>
            <a:r>
              <a:rPr kumimoji="1" lang="zh-CN" altLang="en-US" sz="1800" b="1" dirty="0"/>
              <a:t>（</a:t>
            </a:r>
            <a:r>
              <a:rPr kumimoji="1" lang="en-US" altLang="zh-CN" sz="1800" b="1" dirty="0"/>
              <a:t>4</a:t>
            </a:r>
            <a:r>
              <a:rPr kumimoji="1" lang="zh-CN" altLang="en-US" sz="1800" b="1" dirty="0"/>
              <a:t>）完成实验</a:t>
            </a:r>
            <a:r>
              <a:rPr kumimoji="1" lang="en-US" altLang="zh-CN" sz="1800" b="1" dirty="0"/>
              <a:t>3~5</a:t>
            </a:r>
            <a:r>
              <a:rPr kumimoji="1" lang="zh-CN" altLang="en-US" sz="1800" b="1" dirty="0"/>
              <a:t>的实验报告（必做）</a:t>
            </a:r>
          </a:p>
        </p:txBody>
      </p:sp>
      <p:sp>
        <p:nvSpPr>
          <p:cNvPr id="13315" name="Rectangle 3"/>
          <p:cNvSpPr>
            <a:spLocks noGrp="1" noChangeArrowheads="1"/>
          </p:cNvSpPr>
          <p:nvPr>
            <p:ph type="title" idx="4294967295"/>
          </p:nvPr>
        </p:nvSpPr>
        <p:spPr>
          <a:xfrm>
            <a:off x="0" y="0"/>
            <a:ext cx="9144000" cy="452438"/>
          </a:xfrm>
        </p:spPr>
        <p:txBody>
          <a:bodyPr>
            <a:normAutofit fontScale="90000"/>
          </a:bodyPr>
          <a:lstStyle/>
          <a:p>
            <a:pPr eaLnBrk="1" hangingPunct="1"/>
            <a:r>
              <a:rPr kumimoji="1" lang="zh-CN" altLang="en-US" b="1">
                <a:solidFill>
                  <a:srgbClr val="663399"/>
                </a:solidFill>
                <a:latin typeface="Times New Roman" pitchFamily="18" charset="0"/>
                <a:ea typeface="隶书" pitchFamily="49" charset="-122"/>
              </a:rPr>
              <a:t>实验五：语句的分析（</a:t>
            </a:r>
            <a:r>
              <a:rPr kumimoji="1" lang="en-US" altLang="zh-CN" b="1">
                <a:solidFill>
                  <a:srgbClr val="663399"/>
                </a:solidFill>
                <a:latin typeface="Times New Roman" pitchFamily="18" charset="0"/>
                <a:ea typeface="隶书" pitchFamily="49" charset="-122"/>
              </a:rPr>
              <a:t>2</a:t>
            </a:r>
            <a:r>
              <a:rPr kumimoji="1" lang="zh-CN" altLang="en-US" b="1">
                <a:solidFill>
                  <a:srgbClr val="663399"/>
                </a:solidFill>
                <a:latin typeface="Times New Roman" pitchFamily="18" charset="0"/>
                <a:ea typeface="隶书" pitchFamily="49" charset="-122"/>
              </a:rPr>
              <a:t>学时</a:t>
            </a:r>
            <a:r>
              <a:rPr kumimoji="1" lang="en-US" altLang="zh-CN" b="1">
                <a:solidFill>
                  <a:srgbClr val="663399"/>
                </a:solidFill>
                <a:latin typeface="Times New Roman" pitchFamily="18" charset="0"/>
                <a:ea typeface="隶书" pitchFamily="49" charset="-122"/>
              </a:rPr>
              <a:t>+</a:t>
            </a:r>
            <a:r>
              <a:rPr kumimoji="1" lang="zh-CN" altLang="en-US" b="1">
                <a:solidFill>
                  <a:srgbClr val="663399"/>
                </a:solidFill>
                <a:latin typeface="Times New Roman" pitchFamily="18" charset="0"/>
                <a:ea typeface="隶书" pitchFamily="49" charset="-122"/>
              </a:rPr>
              <a:t>课外）</a:t>
            </a:r>
          </a:p>
        </p:txBody>
      </p:sp>
    </p:spTree>
    <p:extLst>
      <p:ext uri="{BB962C8B-B14F-4D97-AF65-F5344CB8AC3E}">
        <p14:creationId xmlns:p14="http://schemas.microsoft.com/office/powerpoint/2010/main" val="37981223"/>
      </p:ext>
    </p:extLst>
  </p:cSld>
  <p:clrMapOvr>
    <a:masterClrMapping/>
  </p:clrMapOvr>
  <p:transition spd="med">
    <p:rand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3"/>
          <p:cNvSpPr>
            <a:spLocks noGrp="1" noChangeArrowheads="1"/>
          </p:cNvSpPr>
          <p:nvPr>
            <p:ph type="body" idx="1"/>
          </p:nvPr>
        </p:nvSpPr>
        <p:spPr>
          <a:xfrm>
            <a:off x="251520" y="267494"/>
            <a:ext cx="8183562" cy="548481"/>
          </a:xfrm>
        </p:spPr>
        <p:txBody>
          <a:bodyPr>
            <a:normAutofit/>
          </a:bodyPr>
          <a:lstStyle/>
          <a:p>
            <a:pPr algn="just" eaLnBrk="1" hangingPunct="1">
              <a:buFontTx/>
              <a:buNone/>
            </a:pPr>
            <a:r>
              <a:rPr lang="zh-CN" altLang="en-US" sz="2200" b="1" i="1" dirty="0">
                <a:solidFill>
                  <a:srgbClr val="008000"/>
                </a:solidFill>
              </a:rPr>
              <a:t>实例：写出</a:t>
            </a:r>
            <a:r>
              <a:rPr lang="en-US" altLang="zh-CN" sz="2200" b="1" i="1" dirty="0">
                <a:solidFill>
                  <a:srgbClr val="008000"/>
                </a:solidFill>
              </a:rPr>
              <a:t>sample</a:t>
            </a:r>
            <a:r>
              <a:rPr lang="zh-CN" altLang="en-US" sz="2200" b="1" i="1" dirty="0">
                <a:solidFill>
                  <a:srgbClr val="008000"/>
                </a:solidFill>
              </a:rPr>
              <a:t>语言中</a:t>
            </a:r>
            <a:r>
              <a:rPr lang="en-US" altLang="zh-CN" sz="2200" b="1" i="1" dirty="0">
                <a:solidFill>
                  <a:srgbClr val="008000"/>
                </a:solidFill>
              </a:rPr>
              <a:t>IF</a:t>
            </a:r>
            <a:r>
              <a:rPr lang="zh-CN" altLang="en-US" sz="2200" b="1" i="1" dirty="0">
                <a:solidFill>
                  <a:srgbClr val="008000"/>
                </a:solidFill>
              </a:rPr>
              <a:t>语句的递归下降分析程序</a:t>
            </a:r>
            <a:endParaRPr lang="en-US" altLang="zh-CN" sz="2200" dirty="0">
              <a:solidFill>
                <a:srgbClr val="3333CC"/>
              </a:solidFill>
            </a:endParaRPr>
          </a:p>
        </p:txBody>
      </p:sp>
      <p:sp>
        <p:nvSpPr>
          <p:cNvPr id="86019" name="Text Box 4"/>
          <p:cNvSpPr txBox="1">
            <a:spLocks noChangeArrowheads="1"/>
          </p:cNvSpPr>
          <p:nvPr/>
        </p:nvSpPr>
        <p:spPr bwMode="auto">
          <a:xfrm>
            <a:off x="866775" y="4073525"/>
            <a:ext cx="7747000" cy="769441"/>
          </a:xfrm>
          <a:prstGeom prst="rect">
            <a:avLst/>
          </a:prstGeom>
          <a:ln/>
        </p:spPr>
        <p:style>
          <a:lnRef idx="2">
            <a:schemeClr val="accent2"/>
          </a:lnRef>
          <a:fillRef idx="1">
            <a:schemeClr val="lt1"/>
          </a:fillRef>
          <a:effectRef idx="0">
            <a:schemeClr val="accent2"/>
          </a:effectRef>
          <a:fontRef idx="minor">
            <a:schemeClr val="dk1"/>
          </a:fontRef>
        </p:style>
        <p:txBody>
          <a:bodyPr>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200" i="1" dirty="0"/>
              <a:t>&lt;if</a:t>
            </a:r>
            <a:r>
              <a:rPr lang="zh-CN" altLang="zh-CN" sz="2200" i="1" dirty="0"/>
              <a:t>语句</a:t>
            </a:r>
            <a:r>
              <a:rPr lang="en-US" altLang="zh-CN" sz="2200" i="1" dirty="0"/>
              <a:t>&gt;</a:t>
            </a:r>
            <a:r>
              <a:rPr lang="zh-CN" altLang="zh-CN" sz="2200" i="1" dirty="0"/>
              <a:t>→</a:t>
            </a:r>
            <a:r>
              <a:rPr lang="en-US" altLang="zh-CN" sz="2200" i="1" dirty="0"/>
              <a:t>if (&lt;</a:t>
            </a:r>
            <a:r>
              <a:rPr lang="zh-CN" altLang="zh-CN" sz="2200" i="1" dirty="0"/>
              <a:t>表达式</a:t>
            </a:r>
            <a:r>
              <a:rPr lang="en-US" altLang="zh-CN" sz="2200" i="1" dirty="0"/>
              <a:t>&gt;)&lt;</a:t>
            </a:r>
            <a:r>
              <a:rPr lang="zh-CN" altLang="zh-CN" sz="2200" i="1" dirty="0"/>
              <a:t>复合语句</a:t>
            </a:r>
            <a:r>
              <a:rPr lang="en-US" altLang="zh-CN" sz="2200" i="1" dirty="0"/>
              <a:t>&gt; &lt;if Tail&gt;</a:t>
            </a:r>
            <a:br>
              <a:rPr lang="zh-CN" altLang="zh-CN" sz="2200" dirty="0"/>
            </a:br>
            <a:r>
              <a:rPr lang="en-US" altLang="zh-CN" sz="2200" i="1" dirty="0"/>
              <a:t>&lt;if Tail&gt;</a:t>
            </a:r>
            <a:r>
              <a:rPr lang="zh-CN" altLang="zh-CN" sz="2200" i="1" dirty="0"/>
              <a:t>→</a:t>
            </a:r>
            <a:r>
              <a:rPr lang="en-US" altLang="zh-CN" sz="2200" i="1" dirty="0"/>
              <a:t>else &lt;</a:t>
            </a:r>
            <a:r>
              <a:rPr lang="zh-CN" altLang="zh-CN" sz="2200" i="1" dirty="0"/>
              <a:t>复合语句</a:t>
            </a:r>
            <a:r>
              <a:rPr lang="en-US" altLang="zh-CN" sz="2200" i="1" dirty="0"/>
              <a:t>&gt; | </a:t>
            </a:r>
            <a:r>
              <a:rPr lang="en-US" altLang="zh-CN" sz="2200" i="1" dirty="0">
                <a:sym typeface="Symbol" pitchFamily="18" charset="2"/>
              </a:rPr>
              <a:t></a:t>
            </a:r>
            <a:r>
              <a:rPr lang="en-US" altLang="zh-CN" sz="2200" dirty="0">
                <a:ea typeface="华文行楷" pitchFamily="2" charset="-122"/>
              </a:rPr>
              <a:t> </a:t>
            </a:r>
          </a:p>
        </p:txBody>
      </p:sp>
      <p:sp>
        <p:nvSpPr>
          <p:cNvPr id="3" name="矩形 2"/>
          <p:cNvSpPr/>
          <p:nvPr/>
        </p:nvSpPr>
        <p:spPr>
          <a:xfrm>
            <a:off x="866775" y="2403895"/>
            <a:ext cx="7747000" cy="887935"/>
          </a:xfrm>
          <a:prstGeom prst="rect">
            <a:avLst/>
          </a:prstGeom>
        </p:spPr>
        <p:style>
          <a:lnRef idx="2">
            <a:schemeClr val="accent6"/>
          </a:lnRef>
          <a:fillRef idx="1">
            <a:schemeClr val="lt1"/>
          </a:fillRef>
          <a:effectRef idx="0">
            <a:schemeClr val="accent6"/>
          </a:effectRef>
          <a:fontRef idx="minor">
            <a:schemeClr val="dk1"/>
          </a:fontRef>
        </p:style>
        <p:txBody>
          <a:bodyPr>
            <a:spAutoFit/>
          </a:bodyPr>
          <a:lstStyle/>
          <a:p>
            <a:pPr marL="266700" eaLnBrk="1" hangingPunct="1">
              <a:lnSpc>
                <a:spcPct val="120000"/>
              </a:lnSpc>
              <a:spcAft>
                <a:spcPts val="0"/>
              </a:spcAft>
              <a:defRPr/>
            </a:pPr>
            <a:r>
              <a:rPr lang="en-US" altLang="zh-CN" sz="2200" i="1" kern="0" dirty="0">
                <a:latin typeface="Calibri" panose="020F0502020204030204" pitchFamily="34" charset="0"/>
              </a:rPr>
              <a:t>&lt;if</a:t>
            </a:r>
            <a:r>
              <a:rPr lang="zh-CN" altLang="zh-CN" sz="2200" i="1" kern="0" dirty="0">
                <a:cs typeface="宋体" panose="02010600030101010101" pitchFamily="2" charset="-122"/>
              </a:rPr>
              <a:t>语句</a:t>
            </a:r>
            <a:r>
              <a:rPr lang="en-US" altLang="zh-CN" sz="2200" i="1" kern="0" dirty="0">
                <a:latin typeface="Calibri" panose="020F0502020204030204" pitchFamily="34" charset="0"/>
              </a:rPr>
              <a:t>&gt;</a:t>
            </a:r>
            <a:r>
              <a:rPr lang="zh-CN" altLang="zh-CN" sz="2200" i="1" kern="0" dirty="0">
                <a:cs typeface="宋体" panose="02010600030101010101" pitchFamily="2" charset="-122"/>
              </a:rPr>
              <a:t>→</a:t>
            </a:r>
            <a:r>
              <a:rPr lang="en-US" altLang="zh-CN" sz="2200" i="1" kern="0" dirty="0">
                <a:latin typeface="Calibri" panose="020F0502020204030204" pitchFamily="34" charset="0"/>
              </a:rPr>
              <a:t>if (&lt;</a:t>
            </a:r>
            <a:r>
              <a:rPr lang="zh-CN" altLang="zh-CN" sz="2200" i="1" kern="0" dirty="0">
                <a:cs typeface="宋体" panose="02010600030101010101" pitchFamily="2" charset="-122"/>
              </a:rPr>
              <a:t>表达式</a:t>
            </a:r>
            <a:r>
              <a:rPr lang="en-US" altLang="zh-CN" sz="2200" i="1" kern="0" dirty="0">
                <a:latin typeface="Calibri" panose="020F0502020204030204" pitchFamily="34" charset="0"/>
              </a:rPr>
              <a:t>&gt;)&lt;</a:t>
            </a:r>
            <a:r>
              <a:rPr lang="zh-CN" altLang="zh-CN" sz="2200" i="1" kern="0" dirty="0">
                <a:cs typeface="宋体" panose="02010600030101010101" pitchFamily="2" charset="-122"/>
              </a:rPr>
              <a:t>复合语句</a:t>
            </a:r>
            <a:r>
              <a:rPr lang="en-US" altLang="zh-CN" sz="2200" i="1" kern="0" dirty="0">
                <a:latin typeface="Calibri" panose="020F0502020204030204" pitchFamily="34" charset="0"/>
              </a:rPr>
              <a:t>&gt; </a:t>
            </a:r>
          </a:p>
          <a:p>
            <a:pPr marL="266700" eaLnBrk="1" hangingPunct="1">
              <a:lnSpc>
                <a:spcPct val="120000"/>
              </a:lnSpc>
              <a:spcAft>
                <a:spcPts val="0"/>
              </a:spcAft>
              <a:defRPr/>
            </a:pPr>
            <a:r>
              <a:rPr lang="en-US" altLang="zh-CN" sz="2200" i="1" kern="0" dirty="0">
                <a:latin typeface="Calibri" panose="020F0502020204030204" pitchFamily="34" charset="0"/>
              </a:rPr>
              <a:t> &lt;if</a:t>
            </a:r>
            <a:r>
              <a:rPr lang="zh-CN" altLang="zh-CN" sz="2200" i="1" kern="0" dirty="0">
                <a:cs typeface="宋体" panose="02010600030101010101" pitchFamily="2" charset="-122"/>
              </a:rPr>
              <a:t>语句</a:t>
            </a:r>
            <a:r>
              <a:rPr lang="en-US" altLang="zh-CN" sz="2200" i="1" kern="0" dirty="0">
                <a:latin typeface="Calibri" panose="020F0502020204030204" pitchFamily="34" charset="0"/>
              </a:rPr>
              <a:t>&gt;</a:t>
            </a:r>
            <a:r>
              <a:rPr lang="zh-CN" altLang="zh-CN" sz="2200" i="1" kern="0" dirty="0">
                <a:cs typeface="宋体" panose="02010600030101010101" pitchFamily="2" charset="-122"/>
              </a:rPr>
              <a:t>→ </a:t>
            </a:r>
            <a:r>
              <a:rPr lang="en-US" altLang="zh-CN" sz="2200" i="1" kern="0" dirty="0">
                <a:latin typeface="Calibri" panose="020F0502020204030204" pitchFamily="34" charset="0"/>
              </a:rPr>
              <a:t>if (&lt;</a:t>
            </a:r>
            <a:r>
              <a:rPr lang="zh-CN" altLang="zh-CN" sz="2200" i="1" kern="0" dirty="0">
                <a:cs typeface="宋体" panose="02010600030101010101" pitchFamily="2" charset="-122"/>
              </a:rPr>
              <a:t>表达式</a:t>
            </a:r>
            <a:r>
              <a:rPr lang="en-US" altLang="zh-CN" sz="2200" i="1" kern="0" dirty="0">
                <a:latin typeface="Calibri" panose="020F0502020204030204" pitchFamily="34" charset="0"/>
              </a:rPr>
              <a:t>&gt;) &lt;</a:t>
            </a:r>
            <a:r>
              <a:rPr lang="zh-CN" altLang="zh-CN" sz="2200" i="1" kern="0" dirty="0">
                <a:cs typeface="宋体" panose="02010600030101010101" pitchFamily="2" charset="-122"/>
              </a:rPr>
              <a:t>复合语句</a:t>
            </a:r>
            <a:r>
              <a:rPr lang="en-US" altLang="zh-CN" sz="2200" i="1" kern="0" dirty="0">
                <a:latin typeface="Calibri" panose="020F0502020204030204" pitchFamily="34" charset="0"/>
              </a:rPr>
              <a:t>&gt; else &lt;</a:t>
            </a:r>
            <a:r>
              <a:rPr lang="zh-CN" altLang="zh-CN" sz="2200" i="1" kern="0" dirty="0">
                <a:cs typeface="宋体" panose="02010600030101010101" pitchFamily="2" charset="-122"/>
              </a:rPr>
              <a:t>复合语句</a:t>
            </a:r>
            <a:r>
              <a:rPr lang="en-US" altLang="zh-CN" sz="2200" i="1" kern="0" dirty="0">
                <a:latin typeface="Calibri" panose="020F0502020204030204" pitchFamily="34" charset="0"/>
              </a:rPr>
              <a:t>&gt;</a:t>
            </a:r>
            <a:endParaRPr lang="zh-CN" altLang="zh-CN" sz="2200" kern="100" dirty="0"/>
          </a:p>
        </p:txBody>
      </p:sp>
      <p:sp>
        <p:nvSpPr>
          <p:cNvPr id="4" name="矩形 3"/>
          <p:cNvSpPr/>
          <p:nvPr/>
        </p:nvSpPr>
        <p:spPr>
          <a:xfrm>
            <a:off x="5328593" y="725658"/>
            <a:ext cx="3285182" cy="1477328"/>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eaLnBrk="1" hangingPunct="1">
              <a:defRPr/>
            </a:pPr>
            <a:r>
              <a:rPr lang="zh-CN" altLang="en-US" dirty="0">
                <a:solidFill>
                  <a:srgbClr val="3333CC"/>
                </a:solidFill>
              </a:rPr>
              <a:t>方法：</a:t>
            </a:r>
            <a:endParaRPr lang="en-US" altLang="zh-CN" dirty="0">
              <a:solidFill>
                <a:srgbClr val="3333CC"/>
              </a:solidFill>
            </a:endParaRPr>
          </a:p>
          <a:p>
            <a:pPr eaLnBrk="1" hangingPunct="1">
              <a:defRPr/>
            </a:pPr>
            <a:r>
              <a:rPr lang="en-US" altLang="zh-CN" dirty="0">
                <a:solidFill>
                  <a:srgbClr val="3333CC"/>
                </a:solidFill>
              </a:rPr>
              <a:t>(1)</a:t>
            </a:r>
            <a:r>
              <a:rPr lang="zh-CN" altLang="en-US" dirty="0">
                <a:solidFill>
                  <a:srgbClr val="3333CC"/>
                </a:solidFill>
              </a:rPr>
              <a:t>找出</a:t>
            </a:r>
            <a:r>
              <a:rPr lang="en-US" altLang="zh-CN" dirty="0">
                <a:solidFill>
                  <a:srgbClr val="3333CC"/>
                </a:solidFill>
              </a:rPr>
              <a:t>IF</a:t>
            </a:r>
            <a:r>
              <a:rPr lang="zh-CN" altLang="en-US" dirty="0">
                <a:solidFill>
                  <a:srgbClr val="3333CC"/>
                </a:solidFill>
              </a:rPr>
              <a:t>语句的产生式</a:t>
            </a:r>
            <a:r>
              <a:rPr lang="en-US" altLang="zh-CN" dirty="0">
                <a:solidFill>
                  <a:srgbClr val="3333CC"/>
                </a:solidFill>
              </a:rPr>
              <a:t>;</a:t>
            </a:r>
          </a:p>
          <a:p>
            <a:pPr eaLnBrk="1" hangingPunct="1">
              <a:defRPr/>
            </a:pPr>
            <a:r>
              <a:rPr lang="en-US" altLang="zh-CN" dirty="0">
                <a:solidFill>
                  <a:srgbClr val="3333CC"/>
                </a:solidFill>
              </a:rPr>
              <a:t>(2)</a:t>
            </a:r>
            <a:r>
              <a:rPr lang="zh-CN" altLang="en-US" dirty="0">
                <a:solidFill>
                  <a:srgbClr val="3333CC"/>
                </a:solidFill>
              </a:rPr>
              <a:t>判断是不是</a:t>
            </a:r>
            <a:r>
              <a:rPr lang="en-US" altLang="zh-CN" dirty="0">
                <a:solidFill>
                  <a:srgbClr val="3333CC"/>
                </a:solidFill>
              </a:rPr>
              <a:t>LL(1)</a:t>
            </a:r>
            <a:r>
              <a:rPr lang="zh-CN" altLang="en-US" dirty="0">
                <a:solidFill>
                  <a:srgbClr val="3333CC"/>
                </a:solidFill>
              </a:rPr>
              <a:t>文法</a:t>
            </a:r>
            <a:r>
              <a:rPr lang="en-US" altLang="zh-CN" dirty="0">
                <a:solidFill>
                  <a:srgbClr val="3333CC"/>
                </a:solidFill>
              </a:rPr>
              <a:t>;</a:t>
            </a:r>
          </a:p>
          <a:p>
            <a:pPr eaLnBrk="1" hangingPunct="1">
              <a:defRPr/>
            </a:pPr>
            <a:r>
              <a:rPr lang="en-US" altLang="zh-CN" dirty="0">
                <a:solidFill>
                  <a:srgbClr val="3333CC"/>
                </a:solidFill>
              </a:rPr>
              <a:t>(3)</a:t>
            </a:r>
            <a:r>
              <a:rPr lang="zh-CN" altLang="en-US" dirty="0">
                <a:solidFill>
                  <a:srgbClr val="3333CC"/>
                </a:solidFill>
              </a:rPr>
              <a:t>改造</a:t>
            </a:r>
            <a:endParaRPr lang="en-US" altLang="zh-CN" dirty="0">
              <a:solidFill>
                <a:srgbClr val="3333CC"/>
              </a:solidFill>
            </a:endParaRPr>
          </a:p>
          <a:p>
            <a:pPr eaLnBrk="1" hangingPunct="1">
              <a:defRPr/>
            </a:pPr>
            <a:r>
              <a:rPr lang="en-US" altLang="zh-CN" dirty="0">
                <a:solidFill>
                  <a:srgbClr val="3333CC"/>
                </a:solidFill>
              </a:rPr>
              <a:t>(4)</a:t>
            </a:r>
            <a:r>
              <a:rPr lang="zh-CN" altLang="en-US" dirty="0">
                <a:solidFill>
                  <a:srgbClr val="3333CC"/>
                </a:solidFill>
              </a:rPr>
              <a:t>针对每个非终结符写函数</a:t>
            </a:r>
            <a:endParaRPr lang="zh-CN" altLang="en-US" dirty="0"/>
          </a:p>
        </p:txBody>
      </p:sp>
      <p:sp>
        <p:nvSpPr>
          <p:cNvPr id="6" name="下箭头 5"/>
          <p:cNvSpPr/>
          <p:nvPr/>
        </p:nvSpPr>
        <p:spPr bwMode="auto">
          <a:xfrm flipH="1">
            <a:off x="4087813" y="3340100"/>
            <a:ext cx="968375" cy="703263"/>
          </a:xfrm>
          <a:prstGeom prst="downArrow">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a:lstStyle/>
          <a:p>
            <a:pPr algn="ctr" eaLnBrk="1" hangingPunct="1">
              <a:defRPr/>
            </a:pPr>
            <a:r>
              <a:rPr lang="zh-CN" altLang="en-US" dirty="0"/>
              <a:t>改造</a:t>
            </a:r>
          </a:p>
        </p:txBody>
      </p:sp>
    </p:spTree>
    <p:extLst>
      <p:ext uri="{BB962C8B-B14F-4D97-AF65-F5344CB8AC3E}">
        <p14:creationId xmlns:p14="http://schemas.microsoft.com/office/powerpoint/2010/main" val="22080786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60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9" grpId="0" animBg="1"/>
      <p:bldP spid="3" grpId="0" animBg="1"/>
      <p:bldP spid="4" grpId="0" animBg="1"/>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95752" y="1584176"/>
            <a:ext cx="8712967" cy="3559324"/>
          </a:xfrm>
        </p:spPr>
        <p:style>
          <a:lnRef idx="2">
            <a:schemeClr val="accent1"/>
          </a:lnRef>
          <a:fillRef idx="1">
            <a:schemeClr val="lt1"/>
          </a:fillRef>
          <a:effectRef idx="0">
            <a:schemeClr val="accent1"/>
          </a:effectRef>
          <a:fontRef idx="minor">
            <a:schemeClr val="dk1"/>
          </a:fontRef>
        </p:style>
        <p:txBody>
          <a:bodyPr>
            <a:noAutofit/>
          </a:bodyPr>
          <a:lstStyle/>
          <a:p>
            <a:pPr marL="109728" indent="0">
              <a:buNone/>
            </a:pPr>
            <a:r>
              <a:rPr lang="en-US" altLang="zh-CN" sz="2000" dirty="0"/>
              <a:t>&lt;</a:t>
            </a:r>
            <a:r>
              <a:rPr lang="zh-CN" altLang="zh-CN" sz="2000" dirty="0"/>
              <a:t>语句</a:t>
            </a:r>
            <a:r>
              <a:rPr lang="en-US" altLang="zh-CN" sz="2000" dirty="0"/>
              <a:t>&gt;</a:t>
            </a:r>
            <a:r>
              <a:rPr lang="zh-CN" altLang="zh-CN" sz="2000" dirty="0"/>
              <a:t>→</a:t>
            </a:r>
            <a:r>
              <a:rPr lang="en-US" altLang="zh-CN" sz="2000" dirty="0"/>
              <a:t>&lt;</a:t>
            </a:r>
            <a:r>
              <a:rPr lang="zh-CN" altLang="zh-CN" sz="2000" dirty="0"/>
              <a:t>声明语句</a:t>
            </a:r>
            <a:r>
              <a:rPr lang="en-US" altLang="zh-CN" sz="2000" dirty="0"/>
              <a:t>&gt;|&lt;</a:t>
            </a:r>
            <a:r>
              <a:rPr lang="zh-CN" altLang="zh-CN" sz="2000" dirty="0"/>
              <a:t>执行语句</a:t>
            </a:r>
            <a:r>
              <a:rPr lang="en-US" altLang="zh-CN" sz="2000" dirty="0"/>
              <a:t>&gt;</a:t>
            </a:r>
            <a:endParaRPr lang="zh-CN" altLang="zh-CN" sz="2000" dirty="0"/>
          </a:p>
          <a:p>
            <a:pPr marL="109728" indent="0">
              <a:buNone/>
            </a:pPr>
            <a:r>
              <a:rPr lang="en-US" altLang="zh-CN" sz="2000" dirty="0"/>
              <a:t>&lt;</a:t>
            </a:r>
            <a:r>
              <a:rPr lang="zh-CN" altLang="zh-CN" sz="2000" dirty="0"/>
              <a:t>执行语句</a:t>
            </a:r>
            <a:r>
              <a:rPr lang="en-US" altLang="zh-CN" sz="2000" dirty="0"/>
              <a:t>&gt;</a:t>
            </a:r>
            <a:r>
              <a:rPr lang="zh-CN" altLang="zh-CN" sz="2000" dirty="0"/>
              <a:t>→</a:t>
            </a:r>
            <a:r>
              <a:rPr lang="en-US" altLang="zh-CN" sz="2000" dirty="0"/>
              <a:t>&lt;</a:t>
            </a:r>
            <a:r>
              <a:rPr lang="zh-CN" altLang="zh-CN" sz="2000" dirty="0"/>
              <a:t>数据处理语句</a:t>
            </a:r>
            <a:r>
              <a:rPr lang="en-US" altLang="zh-CN" sz="2000" dirty="0"/>
              <a:t>&gt;|&lt;</a:t>
            </a:r>
            <a:r>
              <a:rPr lang="zh-CN" altLang="zh-CN" sz="2000" dirty="0"/>
              <a:t>控制语句</a:t>
            </a:r>
            <a:r>
              <a:rPr lang="en-US" altLang="zh-CN" sz="2000" dirty="0"/>
              <a:t>&gt;|&lt;</a:t>
            </a:r>
            <a:r>
              <a:rPr lang="zh-CN" altLang="zh-CN" sz="2000" dirty="0"/>
              <a:t>复合语句</a:t>
            </a:r>
            <a:r>
              <a:rPr lang="en-US" altLang="zh-CN" sz="2000" dirty="0"/>
              <a:t>&gt;</a:t>
            </a:r>
            <a:endParaRPr lang="zh-CN" altLang="zh-CN" sz="2000" dirty="0"/>
          </a:p>
          <a:p>
            <a:pPr marL="109728" indent="0">
              <a:buNone/>
            </a:pPr>
            <a:r>
              <a:rPr lang="en-US" altLang="zh-CN" sz="2000" dirty="0"/>
              <a:t>&lt;</a:t>
            </a:r>
            <a:r>
              <a:rPr lang="zh-CN" altLang="zh-CN" sz="2000" dirty="0"/>
              <a:t>数据处理语句</a:t>
            </a:r>
            <a:r>
              <a:rPr lang="en-US" altLang="zh-CN" sz="2000" dirty="0"/>
              <a:t>&gt;</a:t>
            </a:r>
            <a:r>
              <a:rPr lang="zh-CN" altLang="zh-CN" sz="2000" dirty="0"/>
              <a:t>→</a:t>
            </a:r>
            <a:r>
              <a:rPr lang="en-US" altLang="zh-CN" sz="2000" dirty="0"/>
              <a:t>&lt;</a:t>
            </a:r>
            <a:r>
              <a:rPr lang="zh-CN" altLang="zh-CN" sz="2000" dirty="0"/>
              <a:t>赋值语句</a:t>
            </a:r>
            <a:r>
              <a:rPr lang="en-US" altLang="zh-CN" sz="2000" dirty="0"/>
              <a:t>&gt;|&lt;</a:t>
            </a:r>
            <a:r>
              <a:rPr lang="zh-CN" altLang="zh-CN" sz="2000" dirty="0"/>
              <a:t>函数调用语句</a:t>
            </a:r>
            <a:r>
              <a:rPr lang="en-US" altLang="zh-CN" sz="2000" dirty="0"/>
              <a:t>&gt;</a:t>
            </a:r>
            <a:endParaRPr lang="zh-CN" altLang="zh-CN" sz="2000" dirty="0"/>
          </a:p>
          <a:p>
            <a:pPr marL="109728" indent="0">
              <a:buNone/>
            </a:pPr>
            <a:r>
              <a:rPr lang="en-US" altLang="zh-CN" sz="2000" dirty="0">
                <a:solidFill>
                  <a:srgbClr val="FF0000"/>
                </a:solidFill>
              </a:rPr>
              <a:t>&lt;</a:t>
            </a:r>
            <a:r>
              <a:rPr lang="zh-CN" altLang="zh-CN" sz="2000" dirty="0">
                <a:solidFill>
                  <a:srgbClr val="FF0000"/>
                </a:solidFill>
              </a:rPr>
              <a:t>赋值语句</a:t>
            </a:r>
            <a:r>
              <a:rPr lang="en-US" altLang="zh-CN" sz="2000" dirty="0">
                <a:solidFill>
                  <a:srgbClr val="FF0000"/>
                </a:solidFill>
              </a:rPr>
              <a:t>&gt;</a:t>
            </a:r>
            <a:r>
              <a:rPr lang="zh-CN" altLang="zh-CN" sz="2000" dirty="0">
                <a:solidFill>
                  <a:srgbClr val="FF0000"/>
                </a:solidFill>
              </a:rPr>
              <a:t>→</a:t>
            </a:r>
            <a:r>
              <a:rPr lang="en-US" altLang="zh-CN" sz="2000" dirty="0">
                <a:solidFill>
                  <a:srgbClr val="FF0000"/>
                </a:solidFill>
              </a:rPr>
              <a:t>&lt;</a:t>
            </a:r>
            <a:r>
              <a:rPr lang="zh-CN" altLang="zh-CN" sz="2000" dirty="0">
                <a:solidFill>
                  <a:srgbClr val="FF0000"/>
                </a:solidFill>
              </a:rPr>
              <a:t>赋值表达式</a:t>
            </a:r>
            <a:r>
              <a:rPr lang="en-US" altLang="zh-CN" sz="2000" dirty="0">
                <a:solidFill>
                  <a:srgbClr val="FF0000"/>
                </a:solidFill>
              </a:rPr>
              <a:t>&gt;;</a:t>
            </a:r>
            <a:endParaRPr lang="zh-CN" altLang="zh-CN" sz="2000" dirty="0">
              <a:solidFill>
                <a:srgbClr val="FF0000"/>
              </a:solidFill>
            </a:endParaRPr>
          </a:p>
          <a:p>
            <a:pPr marL="109728" indent="0">
              <a:buNone/>
            </a:pPr>
            <a:r>
              <a:rPr lang="en-US" altLang="zh-CN" sz="2000" dirty="0"/>
              <a:t>&lt;</a:t>
            </a:r>
            <a:r>
              <a:rPr lang="zh-CN" altLang="zh-CN" sz="2000" dirty="0"/>
              <a:t>函数调用语句</a:t>
            </a:r>
            <a:r>
              <a:rPr lang="en-US" altLang="zh-CN" sz="2000" dirty="0"/>
              <a:t>&gt;</a:t>
            </a:r>
            <a:r>
              <a:rPr lang="zh-CN" altLang="zh-CN" sz="2000" dirty="0"/>
              <a:t>→</a:t>
            </a:r>
            <a:r>
              <a:rPr lang="en-US" altLang="zh-CN" sz="2000" dirty="0"/>
              <a:t>&lt;</a:t>
            </a:r>
            <a:r>
              <a:rPr lang="zh-CN" altLang="zh-CN" sz="2000" dirty="0"/>
              <a:t>函数调用</a:t>
            </a:r>
            <a:r>
              <a:rPr lang="en-US" altLang="zh-CN" sz="2000" dirty="0"/>
              <a:t>&gt;;</a:t>
            </a:r>
            <a:endParaRPr lang="zh-CN" altLang="zh-CN" sz="2000" dirty="0"/>
          </a:p>
          <a:p>
            <a:pPr marL="109728" indent="0">
              <a:buNone/>
            </a:pPr>
            <a:r>
              <a:rPr lang="en-US" altLang="zh-CN" sz="2000" dirty="0"/>
              <a:t>&lt;</a:t>
            </a:r>
            <a:r>
              <a:rPr lang="zh-CN" altLang="zh-CN" sz="2000" dirty="0"/>
              <a:t>控制语句</a:t>
            </a:r>
            <a:r>
              <a:rPr lang="en-US" altLang="zh-CN" sz="2000" dirty="0"/>
              <a:t>&gt;</a:t>
            </a:r>
            <a:r>
              <a:rPr lang="zh-CN" altLang="zh-CN" sz="2000" dirty="0"/>
              <a:t>→</a:t>
            </a:r>
            <a:r>
              <a:rPr lang="en-US" altLang="zh-CN" sz="2000" dirty="0"/>
              <a:t>&lt;if</a:t>
            </a:r>
            <a:r>
              <a:rPr lang="zh-CN" altLang="zh-CN" sz="2000" dirty="0"/>
              <a:t>语句</a:t>
            </a:r>
            <a:r>
              <a:rPr lang="en-US" altLang="zh-CN" sz="2000" dirty="0"/>
              <a:t>&gt;|&lt;for</a:t>
            </a:r>
            <a:r>
              <a:rPr lang="zh-CN" altLang="zh-CN" sz="2000" dirty="0"/>
              <a:t>语句</a:t>
            </a:r>
            <a:r>
              <a:rPr lang="en-US" altLang="zh-CN" sz="2000" dirty="0"/>
              <a:t>&gt;|&lt;while</a:t>
            </a:r>
            <a:r>
              <a:rPr lang="zh-CN" altLang="zh-CN" sz="2000" dirty="0"/>
              <a:t>语句</a:t>
            </a:r>
            <a:r>
              <a:rPr lang="en-US" altLang="zh-CN" sz="2000" dirty="0"/>
              <a:t>&gt;|&lt;do while</a:t>
            </a:r>
            <a:r>
              <a:rPr lang="zh-CN" altLang="zh-CN" sz="2000" dirty="0"/>
              <a:t>语句</a:t>
            </a:r>
            <a:r>
              <a:rPr lang="en-US" altLang="zh-CN" sz="2000" dirty="0"/>
              <a:t>&gt;|&lt;return</a:t>
            </a:r>
            <a:r>
              <a:rPr lang="zh-CN" altLang="zh-CN" sz="2000" dirty="0"/>
              <a:t>语句</a:t>
            </a:r>
            <a:r>
              <a:rPr lang="en-US" altLang="zh-CN" sz="2000" dirty="0"/>
              <a:t>&gt;</a:t>
            </a:r>
            <a:endParaRPr lang="zh-CN" altLang="zh-CN" sz="2000" dirty="0"/>
          </a:p>
          <a:p>
            <a:pPr marL="109728" indent="0">
              <a:buNone/>
            </a:pPr>
            <a:r>
              <a:rPr lang="en-US" altLang="zh-CN" sz="2000" dirty="0"/>
              <a:t>&lt;</a:t>
            </a:r>
            <a:r>
              <a:rPr lang="zh-CN" altLang="zh-CN" sz="2000" dirty="0"/>
              <a:t>复合语句</a:t>
            </a:r>
            <a:r>
              <a:rPr lang="en-US" altLang="zh-CN" sz="2000" dirty="0"/>
              <a:t>&gt;</a:t>
            </a:r>
            <a:r>
              <a:rPr lang="zh-CN" altLang="zh-CN" sz="2000" dirty="0"/>
              <a:t>→</a:t>
            </a:r>
            <a:r>
              <a:rPr lang="en-US" altLang="zh-CN" sz="2000" dirty="0"/>
              <a:t>{&lt;</a:t>
            </a:r>
            <a:r>
              <a:rPr lang="zh-CN" altLang="zh-CN" sz="2000" dirty="0"/>
              <a:t>语句表</a:t>
            </a:r>
            <a:r>
              <a:rPr lang="en-US" altLang="zh-CN" sz="2000" dirty="0"/>
              <a:t>&gt; }</a:t>
            </a:r>
            <a:endParaRPr lang="zh-CN" altLang="zh-CN" sz="2000" dirty="0"/>
          </a:p>
          <a:p>
            <a:pPr marL="109728" indent="0">
              <a:buNone/>
            </a:pPr>
            <a:r>
              <a:rPr lang="en-US" altLang="zh-CN" sz="2000" dirty="0"/>
              <a:t>&lt;</a:t>
            </a:r>
            <a:r>
              <a:rPr lang="zh-CN" altLang="zh-CN" sz="2000" dirty="0"/>
              <a:t>语句表</a:t>
            </a:r>
            <a:r>
              <a:rPr lang="en-US" altLang="zh-CN" sz="2000" dirty="0"/>
              <a:t>&gt;</a:t>
            </a:r>
            <a:r>
              <a:rPr lang="zh-CN" altLang="zh-CN" sz="2000" dirty="0"/>
              <a:t>→</a:t>
            </a:r>
            <a:r>
              <a:rPr lang="en-US" altLang="zh-CN" sz="2000" dirty="0"/>
              <a:t>&lt;</a:t>
            </a:r>
            <a:r>
              <a:rPr lang="zh-CN" altLang="zh-CN" sz="2000" dirty="0"/>
              <a:t>语句</a:t>
            </a:r>
            <a:r>
              <a:rPr lang="en-US" altLang="zh-CN" sz="2000" dirty="0"/>
              <a:t>&gt; | &lt;</a:t>
            </a:r>
            <a:r>
              <a:rPr lang="zh-CN" altLang="zh-CN" sz="2000" dirty="0"/>
              <a:t>语句</a:t>
            </a:r>
            <a:r>
              <a:rPr lang="en-US" altLang="zh-CN" sz="2000" dirty="0"/>
              <a:t>&gt;&lt;</a:t>
            </a:r>
            <a:r>
              <a:rPr lang="zh-CN" altLang="zh-CN" sz="2000" dirty="0"/>
              <a:t>语句表</a:t>
            </a:r>
            <a:r>
              <a:rPr lang="en-US" altLang="zh-CN" sz="2000" dirty="0"/>
              <a:t>&gt; </a:t>
            </a:r>
            <a:endParaRPr lang="zh-CN" altLang="zh-CN" sz="2000" dirty="0"/>
          </a:p>
          <a:p>
            <a:pPr marL="109728" indent="0">
              <a:buNone/>
            </a:pPr>
            <a:r>
              <a:rPr lang="en-US" altLang="zh-CN" sz="2000" dirty="0"/>
              <a:t>&lt;if</a:t>
            </a:r>
            <a:r>
              <a:rPr lang="zh-CN" altLang="zh-CN" sz="2000" dirty="0"/>
              <a:t>语句</a:t>
            </a:r>
            <a:r>
              <a:rPr lang="en-US" altLang="zh-CN" sz="2000" dirty="0"/>
              <a:t>&gt;</a:t>
            </a:r>
            <a:r>
              <a:rPr lang="zh-CN" altLang="zh-CN" sz="2000" dirty="0"/>
              <a:t>→</a:t>
            </a:r>
            <a:r>
              <a:rPr lang="en-US" altLang="zh-CN" sz="2000" dirty="0"/>
              <a:t>if (&lt;</a:t>
            </a:r>
            <a:r>
              <a:rPr lang="zh-CN" altLang="zh-CN" sz="2000" dirty="0"/>
              <a:t>表达式</a:t>
            </a:r>
            <a:r>
              <a:rPr lang="en-US" altLang="zh-CN" sz="2000" dirty="0"/>
              <a:t>&gt;)&lt;</a:t>
            </a:r>
            <a:r>
              <a:rPr lang="zh-CN" altLang="zh-CN" sz="2000" dirty="0"/>
              <a:t>语句</a:t>
            </a:r>
            <a:r>
              <a:rPr lang="en-US" altLang="zh-CN" sz="2000" dirty="0"/>
              <a:t>&gt; | if (&lt;</a:t>
            </a:r>
            <a:r>
              <a:rPr lang="zh-CN" altLang="zh-CN" sz="2000" dirty="0"/>
              <a:t>表达式</a:t>
            </a:r>
            <a:r>
              <a:rPr lang="en-US" altLang="zh-CN" sz="2000" dirty="0"/>
              <a:t>&gt;) &lt;</a:t>
            </a:r>
            <a:r>
              <a:rPr lang="zh-CN" altLang="zh-CN" sz="2000" dirty="0"/>
              <a:t>语句</a:t>
            </a:r>
            <a:r>
              <a:rPr lang="en-US" altLang="zh-CN" sz="2000" dirty="0"/>
              <a:t>&gt; else &lt;</a:t>
            </a:r>
            <a:r>
              <a:rPr lang="zh-CN" altLang="zh-CN" sz="2000" dirty="0"/>
              <a:t>语句</a:t>
            </a:r>
            <a:r>
              <a:rPr lang="en-US" altLang="zh-CN" sz="2000" dirty="0"/>
              <a:t>&gt;</a:t>
            </a:r>
            <a:endParaRPr lang="zh-CN" altLang="zh-CN" sz="2000" dirty="0"/>
          </a:p>
          <a:p>
            <a:pPr marL="109728" indent="0">
              <a:buNone/>
            </a:pPr>
            <a:endParaRPr lang="zh-CN" altLang="en-US" sz="2000" dirty="0"/>
          </a:p>
        </p:txBody>
      </p:sp>
      <p:sp>
        <p:nvSpPr>
          <p:cNvPr id="3" name="标题 2"/>
          <p:cNvSpPr>
            <a:spLocks noGrp="1"/>
          </p:cNvSpPr>
          <p:nvPr>
            <p:ph type="title"/>
          </p:nvPr>
        </p:nvSpPr>
        <p:spPr/>
        <p:txBody>
          <a:bodyPr>
            <a:normAutofit fontScale="90000"/>
          </a:bodyPr>
          <a:lstStyle/>
          <a:p>
            <a:r>
              <a:rPr lang="zh-CN" altLang="en-US" dirty="0"/>
              <a:t>语句分析</a:t>
            </a:r>
          </a:p>
        </p:txBody>
      </p:sp>
      <p:sp>
        <p:nvSpPr>
          <p:cNvPr id="5" name="矩形 4"/>
          <p:cNvSpPr/>
          <p:nvPr/>
        </p:nvSpPr>
        <p:spPr>
          <a:xfrm>
            <a:off x="323528" y="1063028"/>
            <a:ext cx="7848872" cy="40011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altLang="zh-CN" sz="2000" dirty="0"/>
              <a:t>&lt;</a:t>
            </a:r>
            <a:r>
              <a:rPr lang="zh-CN" altLang="zh-CN" sz="2000" dirty="0"/>
              <a:t>赋值表达式</a:t>
            </a:r>
            <a:r>
              <a:rPr lang="en-US" altLang="zh-CN" sz="2000" dirty="0"/>
              <a:t>&gt;</a:t>
            </a:r>
            <a:r>
              <a:rPr lang="zh-CN" altLang="zh-CN" sz="2000" dirty="0"/>
              <a:t>→</a:t>
            </a:r>
            <a:r>
              <a:rPr lang="en-US" altLang="zh-CN" sz="2000" dirty="0"/>
              <a:t>&lt;</a:t>
            </a:r>
            <a:r>
              <a:rPr lang="zh-CN" altLang="zh-CN" sz="2000" dirty="0"/>
              <a:t>标识符</a:t>
            </a:r>
            <a:r>
              <a:rPr lang="en-US" altLang="zh-CN" sz="2000" dirty="0"/>
              <a:t>&gt;=&lt;</a:t>
            </a:r>
            <a:r>
              <a:rPr lang="zh-CN" altLang="zh-CN" sz="2000" dirty="0"/>
              <a:t>表达式</a:t>
            </a:r>
            <a:r>
              <a:rPr lang="en-US" altLang="zh-CN" sz="2000" dirty="0"/>
              <a:t>&gt;</a:t>
            </a:r>
            <a:endParaRPr lang="zh-CN" altLang="zh-CN" sz="2000" dirty="0"/>
          </a:p>
        </p:txBody>
      </p:sp>
      <p:sp>
        <p:nvSpPr>
          <p:cNvPr id="8" name="TextBox 7"/>
          <p:cNvSpPr txBox="1"/>
          <p:nvPr/>
        </p:nvSpPr>
        <p:spPr>
          <a:xfrm>
            <a:off x="5004048" y="411510"/>
            <a:ext cx="3168352" cy="400110"/>
          </a:xfrm>
          <a:prstGeom prst="rect">
            <a:avLst/>
          </a:prstGeom>
          <a:noFill/>
        </p:spPr>
        <p:txBody>
          <a:bodyPr wrap="square" rtlCol="0">
            <a:spAutoFit/>
          </a:bodyPr>
          <a:lstStyle/>
          <a:p>
            <a:r>
              <a:rPr lang="zh-CN" altLang="en-US" sz="2000" dirty="0"/>
              <a:t>表达式和赋值语句是基础</a:t>
            </a:r>
          </a:p>
        </p:txBody>
      </p:sp>
    </p:spTree>
    <p:extLst>
      <p:ext uri="{BB962C8B-B14F-4D97-AF65-F5344CB8AC3E}">
        <p14:creationId xmlns:p14="http://schemas.microsoft.com/office/powerpoint/2010/main" val="35674134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3"/>
          <p:cNvSpPr>
            <a:spLocks noGrp="1" noChangeArrowheads="1"/>
          </p:cNvSpPr>
          <p:nvPr>
            <p:ph type="body" idx="1"/>
          </p:nvPr>
        </p:nvSpPr>
        <p:spPr>
          <a:xfrm>
            <a:off x="251520" y="267494"/>
            <a:ext cx="8183562" cy="548481"/>
          </a:xfrm>
        </p:spPr>
        <p:txBody>
          <a:bodyPr>
            <a:normAutofit/>
          </a:bodyPr>
          <a:lstStyle/>
          <a:p>
            <a:pPr algn="just" eaLnBrk="1" hangingPunct="1">
              <a:buFontTx/>
              <a:buNone/>
            </a:pPr>
            <a:r>
              <a:rPr lang="zh-CN" altLang="en-US" sz="2200" b="1" i="1" dirty="0">
                <a:solidFill>
                  <a:srgbClr val="008000"/>
                </a:solidFill>
              </a:rPr>
              <a:t>实例：</a:t>
            </a:r>
            <a:r>
              <a:rPr lang="en-US" altLang="zh-CN" sz="2200" b="1" i="1" dirty="0">
                <a:solidFill>
                  <a:srgbClr val="008000"/>
                </a:solidFill>
              </a:rPr>
              <a:t>IF</a:t>
            </a:r>
            <a:r>
              <a:rPr lang="zh-CN" altLang="en-US" sz="2200" b="1" i="1" dirty="0">
                <a:solidFill>
                  <a:srgbClr val="008000"/>
                </a:solidFill>
              </a:rPr>
              <a:t>语句的递归下降分析函数</a:t>
            </a:r>
            <a:endParaRPr lang="en-US" altLang="zh-CN" sz="2200" dirty="0">
              <a:solidFill>
                <a:srgbClr val="3333CC"/>
              </a:solidFill>
            </a:endParaRPr>
          </a:p>
        </p:txBody>
      </p:sp>
      <p:sp>
        <p:nvSpPr>
          <p:cNvPr id="86019" name="Text Box 4"/>
          <p:cNvSpPr txBox="1">
            <a:spLocks noChangeArrowheads="1"/>
          </p:cNvSpPr>
          <p:nvPr/>
        </p:nvSpPr>
        <p:spPr bwMode="auto">
          <a:xfrm>
            <a:off x="866775" y="4073525"/>
            <a:ext cx="7747000" cy="769441"/>
          </a:xfrm>
          <a:prstGeom prst="rect">
            <a:avLst/>
          </a:prstGeom>
          <a:ln/>
        </p:spPr>
        <p:style>
          <a:lnRef idx="2">
            <a:schemeClr val="accent2"/>
          </a:lnRef>
          <a:fillRef idx="1">
            <a:schemeClr val="lt1"/>
          </a:fillRef>
          <a:effectRef idx="0">
            <a:schemeClr val="accent2"/>
          </a:effectRef>
          <a:fontRef idx="minor">
            <a:schemeClr val="dk1"/>
          </a:fontRef>
        </p:style>
        <p:txBody>
          <a:bodyPr>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200" i="1" dirty="0"/>
              <a:t>&lt;if</a:t>
            </a:r>
            <a:r>
              <a:rPr lang="zh-CN" altLang="zh-CN" sz="2200" i="1" dirty="0"/>
              <a:t>语句</a:t>
            </a:r>
            <a:r>
              <a:rPr lang="en-US" altLang="zh-CN" sz="2200" i="1" dirty="0"/>
              <a:t>&gt;</a:t>
            </a:r>
            <a:r>
              <a:rPr lang="zh-CN" altLang="zh-CN" sz="2200" i="1" dirty="0"/>
              <a:t>→</a:t>
            </a:r>
            <a:r>
              <a:rPr lang="en-US" altLang="zh-CN" sz="2200" i="1" dirty="0"/>
              <a:t>if (&lt;</a:t>
            </a:r>
            <a:r>
              <a:rPr lang="zh-CN" altLang="zh-CN" sz="2200" i="1" dirty="0"/>
              <a:t>表达式</a:t>
            </a:r>
            <a:r>
              <a:rPr lang="en-US" altLang="zh-CN" sz="2200" i="1" dirty="0"/>
              <a:t>&gt;)&lt;</a:t>
            </a:r>
            <a:r>
              <a:rPr lang="zh-CN" altLang="zh-CN" sz="2200" i="1" dirty="0"/>
              <a:t>复合语句</a:t>
            </a:r>
            <a:r>
              <a:rPr lang="en-US" altLang="zh-CN" sz="2200" i="1" dirty="0"/>
              <a:t>&gt; &lt;if Tail&gt;</a:t>
            </a:r>
            <a:br>
              <a:rPr lang="zh-CN" altLang="zh-CN" sz="2200" dirty="0"/>
            </a:br>
            <a:r>
              <a:rPr lang="en-US" altLang="zh-CN" sz="2200" i="1" dirty="0"/>
              <a:t>&lt;if Tail&gt;</a:t>
            </a:r>
            <a:r>
              <a:rPr lang="zh-CN" altLang="zh-CN" sz="2200" i="1" dirty="0"/>
              <a:t>→</a:t>
            </a:r>
            <a:r>
              <a:rPr lang="en-US" altLang="zh-CN" sz="2200" i="1" dirty="0"/>
              <a:t>else &lt;</a:t>
            </a:r>
            <a:r>
              <a:rPr lang="zh-CN" altLang="zh-CN" sz="2200" i="1" dirty="0"/>
              <a:t>复合语句</a:t>
            </a:r>
            <a:r>
              <a:rPr lang="en-US" altLang="zh-CN" sz="2200" i="1" dirty="0"/>
              <a:t>&gt; | </a:t>
            </a:r>
            <a:r>
              <a:rPr lang="en-US" altLang="zh-CN" sz="2200" i="1" dirty="0">
                <a:sym typeface="Symbol" pitchFamily="18" charset="2"/>
              </a:rPr>
              <a:t></a:t>
            </a:r>
            <a:r>
              <a:rPr lang="en-US" altLang="zh-CN" sz="2200" dirty="0">
                <a:ea typeface="华文行楷" pitchFamily="2" charset="-122"/>
              </a:rPr>
              <a:t> </a:t>
            </a:r>
          </a:p>
        </p:txBody>
      </p:sp>
      <p:sp>
        <p:nvSpPr>
          <p:cNvPr id="3" name="矩形 2"/>
          <p:cNvSpPr/>
          <p:nvPr/>
        </p:nvSpPr>
        <p:spPr>
          <a:xfrm>
            <a:off x="866775" y="2403895"/>
            <a:ext cx="7747000" cy="887935"/>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marL="266700" eaLnBrk="1" hangingPunct="1">
              <a:lnSpc>
                <a:spcPct val="120000"/>
              </a:lnSpc>
              <a:spcAft>
                <a:spcPts val="0"/>
              </a:spcAft>
              <a:defRPr/>
            </a:pPr>
            <a:r>
              <a:rPr lang="en-US" altLang="zh-CN" sz="2200" i="1" kern="0" dirty="0">
                <a:latin typeface="Calibri" panose="020F0502020204030204" pitchFamily="34" charset="0"/>
              </a:rPr>
              <a:t>&lt;if</a:t>
            </a:r>
            <a:r>
              <a:rPr lang="zh-CN" altLang="zh-CN" sz="2200" i="1" kern="0" dirty="0">
                <a:cs typeface="宋体" panose="02010600030101010101" pitchFamily="2" charset="-122"/>
              </a:rPr>
              <a:t>语句</a:t>
            </a:r>
            <a:r>
              <a:rPr lang="en-US" altLang="zh-CN" sz="2200" i="1" kern="0" dirty="0">
                <a:latin typeface="Calibri" panose="020F0502020204030204" pitchFamily="34" charset="0"/>
              </a:rPr>
              <a:t>&gt;</a:t>
            </a:r>
            <a:r>
              <a:rPr lang="zh-CN" altLang="zh-CN" sz="2200" i="1" kern="0" dirty="0">
                <a:cs typeface="宋体" panose="02010600030101010101" pitchFamily="2" charset="-122"/>
              </a:rPr>
              <a:t>→</a:t>
            </a:r>
            <a:r>
              <a:rPr lang="en-US" altLang="zh-CN" sz="2200" i="1" kern="0" dirty="0">
                <a:latin typeface="Calibri" panose="020F0502020204030204" pitchFamily="34" charset="0"/>
              </a:rPr>
              <a:t>if (&lt;</a:t>
            </a:r>
            <a:r>
              <a:rPr lang="zh-CN" altLang="zh-CN" sz="2200" i="1" kern="0" dirty="0">
                <a:cs typeface="宋体" panose="02010600030101010101" pitchFamily="2" charset="-122"/>
              </a:rPr>
              <a:t>表达式</a:t>
            </a:r>
            <a:r>
              <a:rPr lang="en-US" altLang="zh-CN" sz="2200" i="1" kern="0" dirty="0">
                <a:latin typeface="Calibri" panose="020F0502020204030204" pitchFamily="34" charset="0"/>
              </a:rPr>
              <a:t>&gt;)&lt;</a:t>
            </a:r>
            <a:r>
              <a:rPr lang="zh-CN" altLang="zh-CN" sz="2200" i="1" kern="0" dirty="0">
                <a:cs typeface="宋体" panose="02010600030101010101" pitchFamily="2" charset="-122"/>
              </a:rPr>
              <a:t>复合语句</a:t>
            </a:r>
            <a:r>
              <a:rPr lang="en-US" altLang="zh-CN" sz="2200" i="1" kern="0" dirty="0">
                <a:latin typeface="Calibri" panose="020F0502020204030204" pitchFamily="34" charset="0"/>
              </a:rPr>
              <a:t>&gt; </a:t>
            </a:r>
          </a:p>
          <a:p>
            <a:pPr marL="266700" eaLnBrk="1" hangingPunct="1">
              <a:lnSpc>
                <a:spcPct val="120000"/>
              </a:lnSpc>
              <a:spcAft>
                <a:spcPts val="0"/>
              </a:spcAft>
              <a:defRPr/>
            </a:pPr>
            <a:r>
              <a:rPr lang="en-US" altLang="zh-CN" sz="2200" i="1" kern="0" dirty="0">
                <a:latin typeface="Calibri" panose="020F0502020204030204" pitchFamily="34" charset="0"/>
              </a:rPr>
              <a:t> &lt;if</a:t>
            </a:r>
            <a:r>
              <a:rPr lang="zh-CN" altLang="zh-CN" sz="2200" i="1" kern="0" dirty="0">
                <a:cs typeface="宋体" panose="02010600030101010101" pitchFamily="2" charset="-122"/>
              </a:rPr>
              <a:t>语句</a:t>
            </a:r>
            <a:r>
              <a:rPr lang="en-US" altLang="zh-CN" sz="2200" i="1" kern="0" dirty="0">
                <a:latin typeface="Calibri" panose="020F0502020204030204" pitchFamily="34" charset="0"/>
              </a:rPr>
              <a:t>&gt;</a:t>
            </a:r>
            <a:r>
              <a:rPr lang="zh-CN" altLang="zh-CN" sz="2200" i="1" kern="0" dirty="0">
                <a:cs typeface="宋体" panose="02010600030101010101" pitchFamily="2" charset="-122"/>
              </a:rPr>
              <a:t>→ </a:t>
            </a:r>
            <a:r>
              <a:rPr lang="en-US" altLang="zh-CN" sz="2200" i="1" kern="0" dirty="0">
                <a:latin typeface="Calibri" panose="020F0502020204030204" pitchFamily="34" charset="0"/>
              </a:rPr>
              <a:t>if (&lt;</a:t>
            </a:r>
            <a:r>
              <a:rPr lang="zh-CN" altLang="zh-CN" sz="2200" i="1" kern="0" dirty="0">
                <a:cs typeface="宋体" panose="02010600030101010101" pitchFamily="2" charset="-122"/>
              </a:rPr>
              <a:t>表达式</a:t>
            </a:r>
            <a:r>
              <a:rPr lang="en-US" altLang="zh-CN" sz="2200" i="1" kern="0" dirty="0">
                <a:latin typeface="Calibri" panose="020F0502020204030204" pitchFamily="34" charset="0"/>
              </a:rPr>
              <a:t>&gt;) &lt;</a:t>
            </a:r>
            <a:r>
              <a:rPr lang="zh-CN" altLang="zh-CN" sz="2200" i="1" kern="0" dirty="0">
                <a:cs typeface="宋体" panose="02010600030101010101" pitchFamily="2" charset="-122"/>
              </a:rPr>
              <a:t>复合语句</a:t>
            </a:r>
            <a:r>
              <a:rPr lang="en-US" altLang="zh-CN" sz="2200" i="1" kern="0" dirty="0">
                <a:latin typeface="Calibri" panose="020F0502020204030204" pitchFamily="34" charset="0"/>
              </a:rPr>
              <a:t>&gt; else &lt;</a:t>
            </a:r>
            <a:r>
              <a:rPr lang="zh-CN" altLang="zh-CN" sz="2200" i="1" kern="0" dirty="0">
                <a:cs typeface="宋体" panose="02010600030101010101" pitchFamily="2" charset="-122"/>
              </a:rPr>
              <a:t>复合语句</a:t>
            </a:r>
            <a:r>
              <a:rPr lang="en-US" altLang="zh-CN" sz="2200" i="1" kern="0" dirty="0">
                <a:latin typeface="Calibri" panose="020F0502020204030204" pitchFamily="34" charset="0"/>
              </a:rPr>
              <a:t>&gt;</a:t>
            </a:r>
            <a:endParaRPr lang="zh-CN" altLang="zh-CN" sz="2200" kern="100" dirty="0"/>
          </a:p>
        </p:txBody>
      </p:sp>
      <p:sp>
        <p:nvSpPr>
          <p:cNvPr id="4" name="矩形 3"/>
          <p:cNvSpPr/>
          <p:nvPr/>
        </p:nvSpPr>
        <p:spPr>
          <a:xfrm>
            <a:off x="5328593" y="725658"/>
            <a:ext cx="3285182" cy="1477328"/>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eaLnBrk="1" hangingPunct="1">
              <a:defRPr/>
            </a:pPr>
            <a:r>
              <a:rPr lang="zh-CN" altLang="en-US" dirty="0">
                <a:solidFill>
                  <a:srgbClr val="3333CC"/>
                </a:solidFill>
              </a:rPr>
              <a:t>方法：</a:t>
            </a:r>
            <a:endParaRPr lang="en-US" altLang="zh-CN" dirty="0">
              <a:solidFill>
                <a:srgbClr val="3333CC"/>
              </a:solidFill>
            </a:endParaRPr>
          </a:p>
          <a:p>
            <a:pPr eaLnBrk="1" hangingPunct="1">
              <a:defRPr/>
            </a:pPr>
            <a:r>
              <a:rPr lang="en-US" altLang="zh-CN" dirty="0">
                <a:solidFill>
                  <a:srgbClr val="3333CC"/>
                </a:solidFill>
              </a:rPr>
              <a:t>(1)</a:t>
            </a:r>
            <a:r>
              <a:rPr lang="zh-CN" altLang="en-US" dirty="0">
                <a:solidFill>
                  <a:srgbClr val="3333CC"/>
                </a:solidFill>
              </a:rPr>
              <a:t>找出</a:t>
            </a:r>
            <a:r>
              <a:rPr lang="en-US" altLang="zh-CN" dirty="0">
                <a:solidFill>
                  <a:srgbClr val="3333CC"/>
                </a:solidFill>
              </a:rPr>
              <a:t>IF</a:t>
            </a:r>
            <a:r>
              <a:rPr lang="zh-CN" altLang="en-US" dirty="0">
                <a:solidFill>
                  <a:srgbClr val="3333CC"/>
                </a:solidFill>
              </a:rPr>
              <a:t>语句的产生式</a:t>
            </a:r>
            <a:r>
              <a:rPr lang="en-US" altLang="zh-CN" dirty="0">
                <a:solidFill>
                  <a:srgbClr val="3333CC"/>
                </a:solidFill>
              </a:rPr>
              <a:t>;</a:t>
            </a:r>
          </a:p>
          <a:p>
            <a:pPr eaLnBrk="1" hangingPunct="1">
              <a:defRPr/>
            </a:pPr>
            <a:r>
              <a:rPr lang="en-US" altLang="zh-CN" dirty="0">
                <a:solidFill>
                  <a:srgbClr val="3333CC"/>
                </a:solidFill>
              </a:rPr>
              <a:t>(2)</a:t>
            </a:r>
            <a:r>
              <a:rPr lang="zh-CN" altLang="en-US" dirty="0">
                <a:solidFill>
                  <a:srgbClr val="3333CC"/>
                </a:solidFill>
              </a:rPr>
              <a:t>判断是不是</a:t>
            </a:r>
            <a:r>
              <a:rPr lang="en-US" altLang="zh-CN" dirty="0">
                <a:solidFill>
                  <a:srgbClr val="3333CC"/>
                </a:solidFill>
              </a:rPr>
              <a:t>LL(1)</a:t>
            </a:r>
            <a:r>
              <a:rPr lang="zh-CN" altLang="en-US" dirty="0">
                <a:solidFill>
                  <a:srgbClr val="3333CC"/>
                </a:solidFill>
              </a:rPr>
              <a:t>文法</a:t>
            </a:r>
            <a:r>
              <a:rPr lang="en-US" altLang="zh-CN" dirty="0">
                <a:solidFill>
                  <a:srgbClr val="3333CC"/>
                </a:solidFill>
              </a:rPr>
              <a:t>;</a:t>
            </a:r>
          </a:p>
          <a:p>
            <a:pPr eaLnBrk="1" hangingPunct="1">
              <a:defRPr/>
            </a:pPr>
            <a:r>
              <a:rPr lang="en-US" altLang="zh-CN" dirty="0">
                <a:solidFill>
                  <a:srgbClr val="3333CC"/>
                </a:solidFill>
              </a:rPr>
              <a:t>(3)</a:t>
            </a:r>
            <a:r>
              <a:rPr lang="zh-CN" altLang="en-US" dirty="0">
                <a:solidFill>
                  <a:srgbClr val="3333CC"/>
                </a:solidFill>
              </a:rPr>
              <a:t>改造</a:t>
            </a:r>
            <a:endParaRPr lang="en-US" altLang="zh-CN" dirty="0">
              <a:solidFill>
                <a:srgbClr val="3333CC"/>
              </a:solidFill>
            </a:endParaRPr>
          </a:p>
          <a:p>
            <a:pPr eaLnBrk="1" hangingPunct="1">
              <a:defRPr/>
            </a:pPr>
            <a:r>
              <a:rPr lang="en-US" altLang="zh-CN" dirty="0">
                <a:solidFill>
                  <a:srgbClr val="3333CC"/>
                </a:solidFill>
              </a:rPr>
              <a:t>(4)</a:t>
            </a:r>
            <a:r>
              <a:rPr lang="zh-CN" altLang="en-US" dirty="0">
                <a:solidFill>
                  <a:srgbClr val="3333CC"/>
                </a:solidFill>
              </a:rPr>
              <a:t>针对每个非终结符写函数</a:t>
            </a:r>
            <a:endParaRPr lang="zh-CN" altLang="en-US" dirty="0"/>
          </a:p>
        </p:txBody>
      </p:sp>
      <p:sp>
        <p:nvSpPr>
          <p:cNvPr id="6" name="下箭头 5"/>
          <p:cNvSpPr/>
          <p:nvPr/>
        </p:nvSpPr>
        <p:spPr bwMode="auto">
          <a:xfrm flipH="1">
            <a:off x="4087813" y="3340100"/>
            <a:ext cx="968375" cy="703263"/>
          </a:xfrm>
          <a:prstGeom prst="downArrow">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a:lstStyle/>
          <a:p>
            <a:pPr algn="ctr" eaLnBrk="1" hangingPunct="1">
              <a:defRPr/>
            </a:pPr>
            <a:r>
              <a:rPr lang="zh-CN" altLang="en-US" dirty="0"/>
              <a:t>改造</a:t>
            </a:r>
          </a:p>
        </p:txBody>
      </p:sp>
    </p:spTree>
    <p:extLst>
      <p:ext uri="{BB962C8B-B14F-4D97-AF65-F5344CB8AC3E}">
        <p14:creationId xmlns:p14="http://schemas.microsoft.com/office/powerpoint/2010/main" val="5252109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60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9" grpId="0" animBg="1"/>
      <p:bldP spid="3" grpId="0" animBg="1"/>
      <p:bldP spid="4" grpId="0" animBg="1"/>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8066" name="对象 6"/>
          <p:cNvGraphicFramePr>
            <a:graphicFrameLocks noChangeAspect="1"/>
          </p:cNvGraphicFramePr>
          <p:nvPr>
            <p:extLst>
              <p:ext uri="{D42A27DB-BD31-4B8C-83A1-F6EECF244321}">
                <p14:modId xmlns:p14="http://schemas.microsoft.com/office/powerpoint/2010/main" val="3719797575"/>
              </p:ext>
            </p:extLst>
          </p:nvPr>
        </p:nvGraphicFramePr>
        <p:xfrm>
          <a:off x="1619672" y="730038"/>
          <a:ext cx="7272808" cy="833600"/>
        </p:xfrm>
        <a:graphic>
          <a:graphicData uri="http://schemas.openxmlformats.org/presentationml/2006/ole">
            <mc:AlternateContent xmlns:mc="http://schemas.openxmlformats.org/markup-compatibility/2006">
              <mc:Choice xmlns:v="urn:schemas-microsoft-com:vml" Requires="v">
                <p:oleObj spid="_x0000_s5147" name="Visio" r:id="rId3" imgW="5656403" imgH="747729" progId="Visio.Drawing.11">
                  <p:embed/>
                </p:oleObj>
              </mc:Choice>
              <mc:Fallback>
                <p:oleObj name="Visio" r:id="rId3" imgW="5656403" imgH="747729"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672" y="730038"/>
                        <a:ext cx="7272808" cy="833600"/>
                      </a:xfrm>
                      <a:prstGeom prst="rect">
                        <a:avLst/>
                      </a:prstGeom>
                      <a:noFill/>
                      <a:ln>
                        <a:noFill/>
                      </a:ln>
                    </p:spPr>
                  </p:pic>
                </p:oleObj>
              </mc:Fallback>
            </mc:AlternateContent>
          </a:graphicData>
        </a:graphic>
      </p:graphicFrame>
      <p:sp>
        <p:nvSpPr>
          <p:cNvPr id="8" name="Text Box 4"/>
          <p:cNvSpPr txBox="1">
            <a:spLocks noChangeArrowheads="1"/>
          </p:cNvSpPr>
          <p:nvPr/>
        </p:nvSpPr>
        <p:spPr bwMode="auto">
          <a:xfrm>
            <a:off x="179512" y="-3131"/>
            <a:ext cx="5472608" cy="707886"/>
          </a:xfrm>
          <a:prstGeom prst="rect">
            <a:avLst/>
          </a:prstGeom>
          <a:ln/>
        </p:spPr>
        <p:style>
          <a:lnRef idx="2">
            <a:schemeClr val="accent2"/>
          </a:lnRef>
          <a:fillRef idx="1">
            <a:schemeClr val="lt1"/>
          </a:fillRef>
          <a:effectRef idx="0">
            <a:schemeClr val="accent2"/>
          </a:effectRef>
          <a:fontRef idx="minor">
            <a:schemeClr val="dk1"/>
          </a:fontRef>
        </p:style>
        <p:txBody>
          <a:bodyPr wrap="square">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000" i="1" dirty="0"/>
              <a:t>&lt;if</a:t>
            </a:r>
            <a:r>
              <a:rPr lang="zh-CN" altLang="zh-CN" sz="2000" i="1" dirty="0"/>
              <a:t>语句</a:t>
            </a:r>
            <a:r>
              <a:rPr lang="en-US" altLang="zh-CN" sz="2000" i="1" dirty="0"/>
              <a:t>&gt;</a:t>
            </a:r>
            <a:r>
              <a:rPr lang="zh-CN" altLang="zh-CN" sz="2000" i="1" dirty="0"/>
              <a:t>→</a:t>
            </a:r>
            <a:r>
              <a:rPr lang="en-US" altLang="zh-CN" sz="2000" i="1" dirty="0"/>
              <a:t>if (&lt;</a:t>
            </a:r>
            <a:r>
              <a:rPr lang="zh-CN" altLang="zh-CN" sz="2000" i="1" dirty="0"/>
              <a:t>表达式</a:t>
            </a:r>
            <a:r>
              <a:rPr lang="en-US" altLang="zh-CN" sz="2000" i="1" dirty="0"/>
              <a:t>&gt;)&lt;</a:t>
            </a:r>
            <a:r>
              <a:rPr lang="zh-CN" altLang="zh-CN" sz="2000" i="1" dirty="0"/>
              <a:t>复合语句</a:t>
            </a:r>
            <a:r>
              <a:rPr lang="en-US" altLang="zh-CN" sz="2000" i="1" dirty="0"/>
              <a:t>&gt; &lt;if Tail&gt;</a:t>
            </a:r>
          </a:p>
          <a:p>
            <a:pPr eaLnBrk="1" hangingPunct="1">
              <a:spcBef>
                <a:spcPct val="0"/>
              </a:spcBef>
              <a:buFontTx/>
              <a:buNone/>
            </a:pPr>
            <a:r>
              <a:rPr lang="en-US" altLang="zh-CN" sz="2000" i="1" dirty="0"/>
              <a:t>&lt;if Tail&gt;</a:t>
            </a:r>
            <a:r>
              <a:rPr lang="zh-CN" altLang="zh-CN" sz="2000" i="1" dirty="0"/>
              <a:t>→</a:t>
            </a:r>
            <a:r>
              <a:rPr lang="en-US" altLang="zh-CN" sz="2000" i="1" dirty="0"/>
              <a:t>else &lt;</a:t>
            </a:r>
            <a:r>
              <a:rPr lang="zh-CN" altLang="zh-CN" sz="2000" i="1" dirty="0"/>
              <a:t>复合语句</a:t>
            </a:r>
            <a:r>
              <a:rPr lang="en-US" altLang="zh-CN" sz="2000" i="1" dirty="0"/>
              <a:t>&gt; | </a:t>
            </a:r>
            <a:r>
              <a:rPr lang="en-US" altLang="zh-CN" sz="2000" i="1" dirty="0">
                <a:sym typeface="Symbol" pitchFamily="18" charset="2"/>
              </a:rPr>
              <a:t></a:t>
            </a:r>
            <a:endParaRPr lang="en-US" altLang="zh-CN" sz="2000" dirty="0">
              <a:ea typeface="华文行楷" pitchFamily="2" charset="-122"/>
            </a:endParaRPr>
          </a:p>
        </p:txBody>
      </p:sp>
      <p:graphicFrame>
        <p:nvGraphicFramePr>
          <p:cNvPr id="10" name="表格 9"/>
          <p:cNvGraphicFramePr>
            <a:graphicFrameLocks noGrp="1"/>
          </p:cNvGraphicFramePr>
          <p:nvPr>
            <p:extLst>
              <p:ext uri="{D42A27DB-BD31-4B8C-83A1-F6EECF244321}">
                <p14:modId xmlns:p14="http://schemas.microsoft.com/office/powerpoint/2010/main" val="2084102195"/>
              </p:ext>
            </p:extLst>
          </p:nvPr>
        </p:nvGraphicFramePr>
        <p:xfrm>
          <a:off x="471270" y="1419622"/>
          <a:ext cx="7299380" cy="3627120"/>
        </p:xfrm>
        <a:graphic>
          <a:graphicData uri="http://schemas.openxmlformats.org/drawingml/2006/table">
            <a:tbl>
              <a:tblPr>
                <a:tableStyleId>{5C22544A-7EE6-4342-B048-85BDC9FD1C3A}</a:tableStyleId>
              </a:tblPr>
              <a:tblGrid>
                <a:gridCol w="7299380">
                  <a:extLst>
                    <a:ext uri="{9D8B030D-6E8A-4147-A177-3AD203B41FA5}">
                      <a16:colId xmlns:a16="http://schemas.microsoft.com/office/drawing/2014/main" val="20000"/>
                    </a:ext>
                  </a:extLst>
                </a:gridCol>
              </a:tblGrid>
              <a:tr h="3624510">
                <a:tc>
                  <a:txBody>
                    <a:bodyPr/>
                    <a:lstStyle/>
                    <a:p>
                      <a:pPr algn="just">
                        <a:lnSpc>
                          <a:spcPct val="100000"/>
                        </a:lnSpc>
                        <a:spcAft>
                          <a:spcPts val="0"/>
                        </a:spcAft>
                      </a:pPr>
                      <a:r>
                        <a:rPr lang="en-US" sz="1400" kern="100" dirty="0">
                          <a:effectLst/>
                        </a:rPr>
                        <a:t>ifs( )  { /*</a:t>
                      </a:r>
                      <a:r>
                        <a:rPr lang="zh-CN" sz="1400" kern="100" dirty="0">
                          <a:effectLst/>
                        </a:rPr>
                        <a:t>当读取的单词符号是</a:t>
                      </a:r>
                      <a:r>
                        <a:rPr lang="en-US" sz="1400" kern="100" dirty="0">
                          <a:effectLst/>
                        </a:rPr>
                        <a:t>if</a:t>
                      </a:r>
                      <a:r>
                        <a:rPr lang="zh-CN" sz="1400" kern="100" dirty="0">
                          <a:effectLst/>
                        </a:rPr>
                        <a:t>时，才调用该函数</a:t>
                      </a:r>
                      <a:r>
                        <a:rPr lang="en-US" sz="1400" kern="100" dirty="0">
                          <a:effectLst/>
                        </a:rPr>
                        <a:t>*/</a:t>
                      </a:r>
                      <a:endParaRPr lang="zh-CN" sz="1800" kern="100" dirty="0">
                        <a:effectLst/>
                      </a:endParaRPr>
                    </a:p>
                    <a:p>
                      <a:pPr indent="228600" algn="just">
                        <a:lnSpc>
                          <a:spcPct val="100000"/>
                        </a:lnSpc>
                        <a:spcAft>
                          <a:spcPts val="0"/>
                        </a:spcAft>
                      </a:pPr>
                      <a:r>
                        <a:rPr lang="en-US" sz="1400" kern="100" dirty="0">
                          <a:effectLst/>
                        </a:rPr>
                        <a:t>token = </a:t>
                      </a:r>
                      <a:r>
                        <a:rPr lang="en-US" sz="1400" kern="100" dirty="0" err="1">
                          <a:effectLst/>
                        </a:rPr>
                        <a:t>GetNextToken</a:t>
                      </a:r>
                      <a:r>
                        <a:rPr lang="en-US" sz="1400" kern="100" dirty="0">
                          <a:effectLst/>
                        </a:rPr>
                        <a:t>();    //</a:t>
                      </a:r>
                      <a:r>
                        <a:rPr lang="zh-CN" sz="1400" kern="100" dirty="0">
                          <a:effectLst/>
                        </a:rPr>
                        <a:t>从输入串中读取一个单词符号，指针后移一个单词</a:t>
                      </a:r>
                      <a:endParaRPr lang="zh-CN" sz="1800" kern="100" dirty="0">
                        <a:effectLst/>
                      </a:endParaRPr>
                    </a:p>
                    <a:p>
                      <a:pPr indent="228600" algn="just">
                        <a:lnSpc>
                          <a:spcPct val="100000"/>
                        </a:lnSpc>
                        <a:spcAft>
                          <a:spcPts val="0"/>
                        </a:spcAft>
                      </a:pPr>
                      <a:r>
                        <a:rPr lang="en-US" sz="1400" kern="100" dirty="0">
                          <a:effectLst/>
                        </a:rPr>
                        <a:t>if (token </a:t>
                      </a:r>
                      <a:r>
                        <a:rPr lang="zh-CN" sz="1400" kern="100" dirty="0">
                          <a:effectLst/>
                        </a:rPr>
                        <a:t>不是</a:t>
                      </a:r>
                      <a:r>
                        <a:rPr lang="en-US" sz="1400" kern="100" dirty="0">
                          <a:effectLst/>
                        </a:rPr>
                        <a:t>  ''if'' )   // </a:t>
                      </a:r>
                      <a:r>
                        <a:rPr lang="zh-CN" sz="1400" kern="100" dirty="0">
                          <a:effectLst/>
                        </a:rPr>
                        <a:t>如果调用函数已经读取了</a:t>
                      </a:r>
                      <a:r>
                        <a:rPr lang="en-US" sz="1400" kern="100" dirty="0">
                          <a:effectLst/>
                        </a:rPr>
                        <a:t>if</a:t>
                      </a:r>
                      <a:r>
                        <a:rPr lang="zh-CN" sz="1400" kern="100" dirty="0">
                          <a:effectLst/>
                        </a:rPr>
                        <a:t>，此处不再读入和判断</a:t>
                      </a:r>
                      <a:endParaRPr lang="zh-CN" sz="1800" kern="100" dirty="0">
                        <a:effectLst/>
                      </a:endParaRPr>
                    </a:p>
                    <a:p>
                      <a:pPr indent="514350" algn="just">
                        <a:lnSpc>
                          <a:spcPct val="100000"/>
                        </a:lnSpc>
                        <a:spcAft>
                          <a:spcPts val="0"/>
                        </a:spcAft>
                      </a:pPr>
                      <a:r>
                        <a:rPr lang="en-US" sz="1400" kern="100" dirty="0" err="1">
                          <a:effectLst/>
                        </a:rPr>
                        <a:t>SyntaxError</a:t>
                      </a:r>
                      <a:r>
                        <a:rPr lang="en-US" sz="1400" kern="100" dirty="0">
                          <a:effectLst/>
                        </a:rPr>
                        <a:t>();  //</a:t>
                      </a:r>
                      <a:r>
                        <a:rPr lang="zh-CN" sz="1400" kern="100" dirty="0">
                          <a:effectLst/>
                        </a:rPr>
                        <a:t>调用错误处理</a:t>
                      </a:r>
                      <a:endParaRPr lang="zh-CN" sz="1800" kern="100" dirty="0">
                        <a:effectLst/>
                      </a:endParaRPr>
                    </a:p>
                    <a:p>
                      <a:pPr indent="228600" algn="just">
                        <a:lnSpc>
                          <a:spcPct val="100000"/>
                        </a:lnSpc>
                        <a:spcAft>
                          <a:spcPts val="0"/>
                        </a:spcAft>
                      </a:pPr>
                      <a:r>
                        <a:rPr lang="en-US" sz="1400" kern="100" dirty="0">
                          <a:effectLst/>
                        </a:rPr>
                        <a:t>token = </a:t>
                      </a:r>
                      <a:r>
                        <a:rPr lang="en-US" sz="1400" kern="100" dirty="0" err="1">
                          <a:effectLst/>
                        </a:rPr>
                        <a:t>GetNextToken</a:t>
                      </a:r>
                      <a:r>
                        <a:rPr lang="en-US" sz="1400" kern="100" dirty="0">
                          <a:effectLst/>
                        </a:rPr>
                        <a:t>();  </a:t>
                      </a:r>
                      <a:endParaRPr lang="zh-CN" sz="1800" kern="100" dirty="0">
                        <a:effectLst/>
                      </a:endParaRPr>
                    </a:p>
                    <a:p>
                      <a:pPr indent="228600" algn="just">
                        <a:lnSpc>
                          <a:spcPct val="100000"/>
                        </a:lnSpc>
                        <a:spcAft>
                          <a:spcPts val="0"/>
                        </a:spcAft>
                      </a:pPr>
                      <a:r>
                        <a:rPr lang="en-US" sz="1400" kern="100" dirty="0">
                          <a:effectLst/>
                        </a:rPr>
                        <a:t>if (token </a:t>
                      </a:r>
                      <a:r>
                        <a:rPr lang="zh-CN" sz="1400" kern="100" dirty="0">
                          <a:effectLst/>
                        </a:rPr>
                        <a:t>不是</a:t>
                      </a:r>
                      <a:r>
                        <a:rPr lang="en-US" sz="1400" kern="100" dirty="0">
                          <a:effectLst/>
                        </a:rPr>
                        <a:t>  ''('' ) </a:t>
                      </a:r>
                      <a:r>
                        <a:rPr lang="en-US" sz="1400" kern="100" dirty="0" err="1">
                          <a:effectLst/>
                        </a:rPr>
                        <a:t>SyntaxError</a:t>
                      </a:r>
                      <a:r>
                        <a:rPr lang="en-US" sz="1400" kern="100" dirty="0">
                          <a:effectLst/>
                        </a:rPr>
                        <a:t>();  //</a:t>
                      </a:r>
                      <a:r>
                        <a:rPr lang="zh-CN" sz="1400" kern="100" dirty="0">
                          <a:effectLst/>
                        </a:rPr>
                        <a:t>调用错误处理</a:t>
                      </a:r>
                      <a:endParaRPr lang="zh-CN" sz="1800" kern="100" dirty="0">
                        <a:effectLst/>
                      </a:endParaRPr>
                    </a:p>
                    <a:p>
                      <a:pPr indent="228600" algn="just">
                        <a:lnSpc>
                          <a:spcPct val="100000"/>
                        </a:lnSpc>
                        <a:spcAft>
                          <a:spcPts val="0"/>
                        </a:spcAft>
                      </a:pPr>
                      <a:r>
                        <a:rPr lang="en-US" sz="1400" kern="100" dirty="0">
                          <a:effectLst/>
                        </a:rPr>
                        <a:t>token = </a:t>
                      </a:r>
                      <a:r>
                        <a:rPr lang="en-US" sz="1400" kern="100" dirty="0" err="1">
                          <a:effectLst/>
                        </a:rPr>
                        <a:t>GetNextToken</a:t>
                      </a:r>
                      <a:r>
                        <a:rPr lang="en-US" sz="1400" kern="100" dirty="0">
                          <a:effectLst/>
                        </a:rPr>
                        <a:t>();</a:t>
                      </a:r>
                      <a:endParaRPr lang="zh-CN" sz="1800" kern="100" dirty="0">
                        <a:effectLst/>
                      </a:endParaRPr>
                    </a:p>
                    <a:p>
                      <a:pPr indent="228600" algn="just">
                        <a:lnSpc>
                          <a:spcPct val="100000"/>
                        </a:lnSpc>
                        <a:spcAft>
                          <a:spcPts val="0"/>
                        </a:spcAft>
                      </a:pPr>
                      <a:r>
                        <a:rPr lang="en-US" sz="1400" kern="100" dirty="0" err="1">
                          <a:solidFill>
                            <a:srgbClr val="FF0000"/>
                          </a:solidFill>
                          <a:effectLst/>
                        </a:rPr>
                        <a:t>BoolExpressionAnalyzer</a:t>
                      </a:r>
                      <a:r>
                        <a:rPr lang="en-US" sz="1400" kern="100" dirty="0">
                          <a:effectLst/>
                        </a:rPr>
                        <a:t>();         //</a:t>
                      </a:r>
                      <a:r>
                        <a:rPr lang="zh-CN" sz="1400" kern="100" dirty="0">
                          <a:effectLst/>
                        </a:rPr>
                        <a:t>调用分析表达式的函数</a:t>
                      </a:r>
                      <a:endParaRPr lang="zh-CN" sz="1800" kern="100" dirty="0">
                        <a:effectLst/>
                      </a:endParaRPr>
                    </a:p>
                    <a:p>
                      <a:pPr indent="228600" algn="just">
                        <a:lnSpc>
                          <a:spcPct val="100000"/>
                        </a:lnSpc>
                        <a:spcAft>
                          <a:spcPts val="0"/>
                        </a:spcAft>
                      </a:pPr>
                      <a:r>
                        <a:rPr lang="en-US" sz="1400" kern="100" dirty="0">
                          <a:effectLst/>
                        </a:rPr>
                        <a:t>token = </a:t>
                      </a:r>
                      <a:r>
                        <a:rPr lang="en-US" sz="1400" kern="100" dirty="0" err="1">
                          <a:effectLst/>
                        </a:rPr>
                        <a:t>GetNextToken</a:t>
                      </a:r>
                      <a:r>
                        <a:rPr lang="en-US" sz="1400" kern="100" dirty="0">
                          <a:effectLst/>
                        </a:rPr>
                        <a:t>();</a:t>
                      </a:r>
                      <a:endParaRPr lang="zh-CN" sz="1800" kern="100" dirty="0">
                        <a:effectLst/>
                      </a:endParaRPr>
                    </a:p>
                    <a:p>
                      <a:pPr indent="228600" algn="just">
                        <a:lnSpc>
                          <a:spcPct val="100000"/>
                        </a:lnSpc>
                        <a:spcAft>
                          <a:spcPts val="0"/>
                        </a:spcAft>
                      </a:pPr>
                      <a:r>
                        <a:rPr lang="en-US" sz="1400" kern="100" dirty="0">
                          <a:effectLst/>
                        </a:rPr>
                        <a:t>if (token </a:t>
                      </a:r>
                      <a:r>
                        <a:rPr lang="zh-CN" sz="1400" kern="100" dirty="0">
                          <a:effectLst/>
                        </a:rPr>
                        <a:t>不是</a:t>
                      </a:r>
                      <a:r>
                        <a:rPr lang="en-US" sz="1400" kern="100" dirty="0">
                          <a:effectLst/>
                        </a:rPr>
                        <a:t>  '')'' ) </a:t>
                      </a:r>
                      <a:r>
                        <a:rPr lang="en-US" sz="1400" kern="100" dirty="0" err="1">
                          <a:effectLst/>
                        </a:rPr>
                        <a:t>SyntaxError</a:t>
                      </a:r>
                      <a:r>
                        <a:rPr lang="en-US" sz="1400" kern="100" dirty="0">
                          <a:effectLst/>
                        </a:rPr>
                        <a:t>();  //</a:t>
                      </a:r>
                      <a:r>
                        <a:rPr lang="zh-CN" sz="1400" kern="100" dirty="0">
                          <a:effectLst/>
                        </a:rPr>
                        <a:t>调用错误处理</a:t>
                      </a:r>
                      <a:endParaRPr lang="zh-CN" sz="1800" kern="100" dirty="0">
                        <a:effectLst/>
                      </a:endParaRPr>
                    </a:p>
                    <a:p>
                      <a:pPr indent="228600" algn="just">
                        <a:lnSpc>
                          <a:spcPct val="100000"/>
                        </a:lnSpc>
                        <a:spcAft>
                          <a:spcPts val="0"/>
                        </a:spcAft>
                      </a:pPr>
                      <a:r>
                        <a:rPr lang="en-US" sz="1400" kern="100" dirty="0" err="1">
                          <a:solidFill>
                            <a:srgbClr val="FF0000"/>
                          </a:solidFill>
                          <a:effectLst/>
                        </a:rPr>
                        <a:t>CompoundSentenceAnalyzer</a:t>
                      </a:r>
                      <a:r>
                        <a:rPr lang="en-US" sz="1400" kern="100" dirty="0">
                          <a:effectLst/>
                        </a:rPr>
                        <a:t>();//</a:t>
                      </a:r>
                      <a:r>
                        <a:rPr lang="zh-CN" sz="1400" kern="100" dirty="0">
                          <a:effectLst/>
                        </a:rPr>
                        <a:t>处理复合语句</a:t>
                      </a:r>
                      <a:endParaRPr lang="zh-CN" sz="1800" kern="100" dirty="0">
                        <a:effectLst/>
                      </a:endParaRPr>
                    </a:p>
                    <a:p>
                      <a:pPr indent="228600" algn="just">
                        <a:lnSpc>
                          <a:spcPct val="100000"/>
                        </a:lnSpc>
                        <a:spcAft>
                          <a:spcPts val="0"/>
                        </a:spcAft>
                      </a:pPr>
                      <a:r>
                        <a:rPr lang="en-US" sz="1400" kern="100" dirty="0">
                          <a:effectLst/>
                        </a:rPr>
                        <a:t>token = </a:t>
                      </a:r>
                      <a:r>
                        <a:rPr lang="en-US" sz="1400" kern="100" dirty="0" err="1">
                          <a:effectLst/>
                        </a:rPr>
                        <a:t>GetNextToken</a:t>
                      </a:r>
                      <a:r>
                        <a:rPr lang="en-US" sz="1400" kern="100" dirty="0">
                          <a:effectLst/>
                        </a:rPr>
                        <a:t>();</a:t>
                      </a:r>
                      <a:endParaRPr lang="zh-CN" sz="1800" kern="100" dirty="0">
                        <a:effectLst/>
                      </a:endParaRPr>
                    </a:p>
                    <a:p>
                      <a:pPr indent="228600" algn="just">
                        <a:lnSpc>
                          <a:spcPct val="100000"/>
                        </a:lnSpc>
                        <a:spcAft>
                          <a:spcPts val="0"/>
                        </a:spcAft>
                      </a:pPr>
                      <a:r>
                        <a:rPr lang="en-US" sz="1400" kern="100" dirty="0">
                          <a:effectLst/>
                        </a:rPr>
                        <a:t>if(token </a:t>
                      </a:r>
                      <a:r>
                        <a:rPr lang="zh-CN" sz="1400" kern="100" dirty="0">
                          <a:effectLst/>
                        </a:rPr>
                        <a:t>是</a:t>
                      </a:r>
                      <a:r>
                        <a:rPr lang="en-US" sz="1400" kern="100" dirty="0">
                          <a:effectLst/>
                        </a:rPr>
                        <a:t> "else") {  /* </a:t>
                      </a:r>
                      <a:r>
                        <a:rPr lang="zh-CN" sz="1400" kern="100" dirty="0">
                          <a:effectLst/>
                        </a:rPr>
                        <a:t>带有</a:t>
                      </a:r>
                      <a:r>
                        <a:rPr lang="en-US" sz="1400" kern="100" dirty="0">
                          <a:effectLst/>
                        </a:rPr>
                        <a:t>else</a:t>
                      </a:r>
                      <a:r>
                        <a:rPr lang="zh-CN" sz="1400" kern="100" dirty="0">
                          <a:effectLst/>
                        </a:rPr>
                        <a:t>部分时处理</a:t>
                      </a:r>
                      <a:r>
                        <a:rPr lang="en-US" sz="1400" kern="100" dirty="0">
                          <a:effectLst/>
                        </a:rPr>
                        <a:t>else</a:t>
                      </a:r>
                      <a:r>
                        <a:rPr lang="zh-CN" sz="1400" kern="100" dirty="0">
                          <a:effectLst/>
                        </a:rPr>
                        <a:t>部分</a:t>
                      </a:r>
                      <a:r>
                        <a:rPr lang="en-US" sz="1400" kern="100" dirty="0">
                          <a:effectLst/>
                        </a:rPr>
                        <a:t>*/</a:t>
                      </a:r>
                      <a:endParaRPr lang="zh-CN" sz="1800" kern="100" dirty="0">
                        <a:effectLst/>
                      </a:endParaRPr>
                    </a:p>
                    <a:p>
                      <a:pPr indent="342900" algn="just">
                        <a:lnSpc>
                          <a:spcPct val="100000"/>
                        </a:lnSpc>
                        <a:spcAft>
                          <a:spcPts val="0"/>
                        </a:spcAft>
                      </a:pPr>
                      <a:r>
                        <a:rPr lang="en-US" sz="1400" kern="100" dirty="0">
                          <a:effectLst/>
                        </a:rPr>
                        <a:t>token = </a:t>
                      </a:r>
                      <a:r>
                        <a:rPr lang="en-US" sz="1400" kern="100" dirty="0" err="1">
                          <a:effectLst/>
                        </a:rPr>
                        <a:t>GetNextToken</a:t>
                      </a:r>
                      <a:r>
                        <a:rPr lang="en-US" sz="1400" kern="100" dirty="0">
                          <a:effectLst/>
                        </a:rPr>
                        <a:t>();</a:t>
                      </a:r>
                      <a:endParaRPr lang="zh-CN" sz="1800" kern="100" dirty="0">
                        <a:effectLst/>
                      </a:endParaRPr>
                    </a:p>
                    <a:p>
                      <a:pPr indent="342900" algn="just">
                        <a:lnSpc>
                          <a:spcPct val="100000"/>
                        </a:lnSpc>
                        <a:spcAft>
                          <a:spcPts val="0"/>
                        </a:spcAft>
                      </a:pPr>
                      <a:r>
                        <a:rPr lang="en-US" sz="1400" kern="100" dirty="0" err="1">
                          <a:solidFill>
                            <a:srgbClr val="FF0000"/>
                          </a:solidFill>
                          <a:effectLst/>
                        </a:rPr>
                        <a:t>CompoundSentenceAnalyzer</a:t>
                      </a:r>
                      <a:r>
                        <a:rPr lang="en-US" sz="1400" kern="100" dirty="0">
                          <a:effectLst/>
                        </a:rPr>
                        <a:t>();  //</a:t>
                      </a:r>
                      <a:r>
                        <a:rPr lang="zh-CN" sz="1400" kern="100" dirty="0">
                          <a:effectLst/>
                        </a:rPr>
                        <a:t>处理</a:t>
                      </a:r>
                      <a:r>
                        <a:rPr lang="en-US" sz="1400" kern="100" dirty="0">
                          <a:effectLst/>
                        </a:rPr>
                        <a:t>else</a:t>
                      </a:r>
                      <a:r>
                        <a:rPr lang="zh-CN" sz="1400" kern="100" dirty="0">
                          <a:effectLst/>
                        </a:rPr>
                        <a:t>后的复合语句</a:t>
                      </a:r>
                      <a:endParaRPr lang="zh-CN" sz="1800" kern="100" dirty="0">
                        <a:effectLst/>
                      </a:endParaRPr>
                    </a:p>
                    <a:p>
                      <a:pPr indent="228600" algn="just">
                        <a:lnSpc>
                          <a:spcPct val="100000"/>
                        </a:lnSpc>
                        <a:spcAft>
                          <a:spcPts val="0"/>
                        </a:spcAft>
                      </a:pPr>
                      <a:r>
                        <a:rPr lang="en-US" sz="1400" kern="100" dirty="0">
                          <a:effectLst/>
                        </a:rPr>
                        <a:t>}</a:t>
                      </a:r>
                      <a:endParaRPr lang="zh-CN" sz="1800" kern="100" dirty="0">
                        <a:effectLst/>
                      </a:endParaRPr>
                    </a:p>
                    <a:p>
                      <a:pPr algn="just">
                        <a:lnSpc>
                          <a:spcPct val="100000"/>
                        </a:lnSpc>
                        <a:spcAft>
                          <a:spcPts val="0"/>
                        </a:spcAft>
                      </a:pPr>
                      <a:r>
                        <a:rPr lang="en-US" sz="1400" kern="100" dirty="0">
                          <a:effectLst/>
                        </a:rPr>
                        <a:t>}</a:t>
                      </a:r>
                      <a:endParaRPr lang="zh-CN" sz="1800" kern="100" dirty="0">
                        <a:effectLst/>
                        <a:latin typeface="Times New Roman" panose="02020603050405020304" pitchFamily="18" charset="0"/>
                        <a:ea typeface="宋体" panose="02010600030101010101" pitchFamily="2" charset="-122"/>
                      </a:endParaRPr>
                    </a:p>
                  </a:txBody>
                  <a:tcPr marL="68583" marR="68583" marT="0" marB="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4286668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a:xfrm>
            <a:off x="0" y="0"/>
            <a:ext cx="8950325" cy="654050"/>
          </a:xfrm>
        </p:spPr>
        <p:txBody>
          <a:bodyPr>
            <a:normAutofit fontScale="90000"/>
          </a:bodyPr>
          <a:lstStyle/>
          <a:p>
            <a:pPr eaLnBrk="1" hangingPunct="1"/>
            <a:r>
              <a:rPr lang="zh-CN" altLang="en-US" sz="4800" b="1">
                <a:solidFill>
                  <a:srgbClr val="CC0099"/>
                </a:solidFill>
                <a:ea typeface="隶书" pitchFamily="49" charset="-122"/>
              </a:rPr>
              <a:t>递归下降的语法分析程序的设计</a:t>
            </a:r>
            <a:r>
              <a:rPr lang="zh-CN" altLang="en-US" sz="4000">
                <a:latin typeface="隶书" pitchFamily="49" charset="-122"/>
                <a:ea typeface="隶书" pitchFamily="49" charset="-122"/>
              </a:rPr>
              <a:t> </a:t>
            </a:r>
          </a:p>
        </p:txBody>
      </p:sp>
      <p:sp>
        <p:nvSpPr>
          <p:cNvPr id="92163" name="Rectangle 5"/>
          <p:cNvSpPr>
            <a:spLocks noChangeArrowheads="1"/>
          </p:cNvSpPr>
          <p:nvPr/>
        </p:nvSpPr>
        <p:spPr bwMode="auto">
          <a:xfrm>
            <a:off x="0" y="2055813"/>
            <a:ext cx="1841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1" lang="zh-CN" altLang="en-US" sz="2800" b="0" i="0" u="none" strike="noStrike" kern="1200" cap="none" spc="0" normalizeH="0" baseline="0" noProof="0">
              <a:ln>
                <a:noFill/>
              </a:ln>
              <a:solidFill>
                <a:prstClr val="black"/>
              </a:solidFill>
              <a:effectLst/>
              <a:uLnTx/>
              <a:uFillTx/>
              <a:latin typeface="Times New Roman" pitchFamily="18" charset="0"/>
              <a:ea typeface="华文行楷" pitchFamily="2" charset="-122"/>
              <a:cs typeface="+mn-cs"/>
            </a:endParaRPr>
          </a:p>
        </p:txBody>
      </p:sp>
      <p:sp>
        <p:nvSpPr>
          <p:cNvPr id="92164" name="Rectangle 6"/>
          <p:cNvSpPr>
            <a:spLocks noChangeArrowheads="1"/>
          </p:cNvSpPr>
          <p:nvPr/>
        </p:nvSpPr>
        <p:spPr bwMode="auto">
          <a:xfrm>
            <a:off x="92075" y="2163554"/>
            <a:ext cx="7907934" cy="2800767"/>
          </a:xfrm>
          <a:prstGeom prst="rect">
            <a:avLst/>
          </a:prstGeom>
          <a:solidFill>
            <a:schemeClr val="bg1"/>
          </a:solidFill>
          <a:ln>
            <a:noFill/>
          </a:ln>
        </p:spPr>
        <p:txBody>
          <a:bodyPr wrap="none" anchor="ctr">
            <a:spAutoFit/>
          </a:bodyPr>
          <a:lstStyle>
            <a:lvl1pPr indent="266700">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marL="0" marR="0" lvl="0" indent="266700" algn="l" defTabSz="914400" rtl="0" eaLnBrk="1" fontAlgn="auto" latinLnBrk="0" hangingPunct="1">
              <a:lnSpc>
                <a:spcPct val="100000"/>
              </a:lnSpc>
              <a:spcBef>
                <a:spcPct val="0"/>
              </a:spcBef>
              <a:spcAft>
                <a:spcPts val="0"/>
              </a:spcAft>
              <a:buClrTx/>
              <a:buSzTx/>
              <a:buFontTx/>
              <a:buNone/>
              <a:tabLst/>
              <a:defRPr/>
            </a:pPr>
            <a:r>
              <a:rPr kumimoji="1" lang="zh-CN" altLang="en-US" sz="2200" b="1" i="0" u="none" strike="noStrike" kern="1200" cap="none" spc="0" normalizeH="0" baseline="0" noProof="0" dirty="0">
                <a:ln>
                  <a:noFill/>
                </a:ln>
                <a:solidFill>
                  <a:srgbClr val="FF0000"/>
                </a:solidFill>
                <a:effectLst/>
                <a:uLnTx/>
                <a:uFillTx/>
                <a:latin typeface="Times New Roman" pitchFamily="18" charset="0"/>
                <a:ea typeface="华文行楷" pitchFamily="2" charset="-122"/>
                <a:cs typeface="+mn-cs"/>
              </a:rPr>
              <a:t>实现的语法成分包括</a:t>
            </a:r>
            <a:r>
              <a:rPr kumimoji="1" lang="zh-CN" altLang="en-US" sz="2200" b="0" i="0" u="none" strike="noStrike" kern="1200" cap="none" spc="0" normalizeH="0" baseline="0" noProof="0" dirty="0">
                <a:ln>
                  <a:noFill/>
                </a:ln>
                <a:solidFill>
                  <a:prstClr val="black"/>
                </a:solidFill>
                <a:effectLst/>
                <a:uLnTx/>
                <a:uFillTx/>
                <a:latin typeface="Times New Roman" pitchFamily="18" charset="0"/>
                <a:ea typeface="华文行楷" pitchFamily="2" charset="-122"/>
                <a:cs typeface="+mn-cs"/>
              </a:rPr>
              <a:t>：</a:t>
            </a:r>
          </a:p>
          <a:p>
            <a:pPr marL="0" marR="0" lvl="0" indent="266700" algn="l" defTabSz="914400" rtl="0" eaLnBrk="1" fontAlgn="auto" latinLnBrk="0" hangingPunct="1">
              <a:lnSpc>
                <a:spcPct val="100000"/>
              </a:lnSpc>
              <a:spcBef>
                <a:spcPct val="0"/>
              </a:spcBef>
              <a:spcAft>
                <a:spcPts val="0"/>
              </a:spcAft>
              <a:buClrTx/>
              <a:buSzTx/>
              <a:buFontTx/>
              <a:buNone/>
              <a:tabLst/>
              <a:defRPr/>
            </a:pPr>
            <a:r>
              <a:rPr kumimoji="1" lang="zh-CN" altLang="en-US" sz="2200" b="0" i="0" u="none" strike="noStrike" kern="1200" cap="none" spc="0" normalizeH="0" baseline="0" noProof="0" dirty="0">
                <a:ln>
                  <a:noFill/>
                </a:ln>
                <a:solidFill>
                  <a:prstClr val="black"/>
                </a:solidFill>
                <a:effectLst/>
                <a:uLnTx/>
                <a:uFillTx/>
                <a:latin typeface="Times New Roman" pitchFamily="18" charset="0"/>
                <a:ea typeface="华文行楷" pitchFamily="2" charset="-122"/>
                <a:cs typeface="+mn-cs"/>
              </a:rPr>
              <a:t>    </a:t>
            </a:r>
            <a:r>
              <a:rPr kumimoji="1" lang="en-US" altLang="zh-CN" sz="2200" b="0" i="0" u="none" strike="noStrike" kern="1200" cap="none" spc="0" normalizeH="0" baseline="0" noProof="0" dirty="0">
                <a:ln>
                  <a:noFill/>
                </a:ln>
                <a:solidFill>
                  <a:prstClr val="black"/>
                </a:solidFill>
                <a:effectLst/>
                <a:uLnTx/>
                <a:uFillTx/>
                <a:latin typeface="Times New Roman" pitchFamily="18" charset="0"/>
                <a:ea typeface="华文行楷" pitchFamily="2" charset="-122"/>
                <a:cs typeface="+mn-cs"/>
              </a:rPr>
              <a:t>(1) </a:t>
            </a:r>
            <a:r>
              <a:rPr kumimoji="1" lang="zh-CN" altLang="en-US" sz="2200" b="0" i="0" u="none" strike="noStrike" kern="1200" cap="none" spc="0" normalizeH="0" baseline="0" noProof="0" dirty="0">
                <a:ln>
                  <a:noFill/>
                </a:ln>
                <a:solidFill>
                  <a:prstClr val="black"/>
                </a:solidFill>
                <a:effectLst/>
                <a:uLnTx/>
                <a:uFillTx/>
                <a:latin typeface="Times New Roman" pitchFamily="18" charset="0"/>
                <a:ea typeface="华文行楷" pitchFamily="2" charset="-122"/>
                <a:cs typeface="+mn-cs"/>
              </a:rPr>
              <a:t>带类型的简单变量声明、常量声明；</a:t>
            </a:r>
            <a:endParaRPr kumimoji="1" lang="en-US" altLang="zh-CN" sz="2200" b="0" i="0" u="none" strike="noStrike" kern="1200" cap="none" spc="0" normalizeH="0" baseline="0" noProof="0" dirty="0">
              <a:ln>
                <a:noFill/>
              </a:ln>
              <a:solidFill>
                <a:prstClr val="black"/>
              </a:solidFill>
              <a:effectLst/>
              <a:uLnTx/>
              <a:uFillTx/>
              <a:latin typeface="Times New Roman" pitchFamily="18" charset="0"/>
              <a:ea typeface="华文行楷" pitchFamily="2" charset="-122"/>
              <a:cs typeface="+mn-cs"/>
            </a:endParaRPr>
          </a:p>
          <a:p>
            <a:pPr marL="0" marR="0" lvl="0" indent="266700" algn="l" defTabSz="914400" rtl="0" eaLnBrk="1" fontAlgn="auto" latinLnBrk="0" hangingPunct="1">
              <a:lnSpc>
                <a:spcPct val="100000"/>
              </a:lnSpc>
              <a:spcBef>
                <a:spcPct val="0"/>
              </a:spcBef>
              <a:spcAft>
                <a:spcPts val="0"/>
              </a:spcAft>
              <a:buClrTx/>
              <a:buSzTx/>
              <a:buFontTx/>
              <a:buNone/>
              <a:tabLst/>
              <a:defRPr/>
            </a:pPr>
            <a:r>
              <a:rPr kumimoji="1" lang="zh-CN" altLang="en-US" sz="2200" b="0" i="0" u="none" strike="noStrike" kern="1200" cap="none" spc="0" normalizeH="0" baseline="0" noProof="0" dirty="0">
                <a:ln>
                  <a:noFill/>
                </a:ln>
                <a:solidFill>
                  <a:prstClr val="black"/>
                </a:solidFill>
                <a:effectLst/>
                <a:uLnTx/>
                <a:uFillTx/>
                <a:latin typeface="Times New Roman" pitchFamily="18" charset="0"/>
                <a:ea typeface="华文行楷" pitchFamily="2" charset="-122"/>
                <a:cs typeface="+mn-cs"/>
              </a:rPr>
              <a:t>    </a:t>
            </a:r>
            <a:r>
              <a:rPr kumimoji="1" lang="en-US" altLang="zh-CN" sz="2200" b="0" i="0" u="none" strike="noStrike" kern="1200" cap="none" spc="0" normalizeH="0" baseline="0" noProof="0" dirty="0">
                <a:ln>
                  <a:noFill/>
                </a:ln>
                <a:solidFill>
                  <a:prstClr val="black"/>
                </a:solidFill>
                <a:effectLst/>
                <a:uLnTx/>
                <a:uFillTx/>
                <a:latin typeface="Times New Roman" pitchFamily="18" charset="0"/>
                <a:ea typeface="华文行楷" pitchFamily="2" charset="-122"/>
                <a:cs typeface="+mn-cs"/>
              </a:rPr>
              <a:t>(2)</a:t>
            </a:r>
            <a:r>
              <a:rPr kumimoji="1" lang="zh-CN" altLang="en-US" sz="2200" b="0" i="0" u="none" strike="noStrike" kern="1200" cap="none" spc="0" normalizeH="0" baseline="0" noProof="0" dirty="0">
                <a:ln>
                  <a:noFill/>
                </a:ln>
                <a:solidFill>
                  <a:prstClr val="black"/>
                </a:solidFill>
                <a:effectLst/>
                <a:uLnTx/>
                <a:uFillTx/>
                <a:latin typeface="Times New Roman" pitchFamily="18" charset="0"/>
                <a:ea typeface="华文行楷" pitchFamily="2" charset="-122"/>
                <a:cs typeface="+mn-cs"/>
              </a:rPr>
              <a:t>四种类型的表达式：算术、布尔、关系和赋值表达式； </a:t>
            </a:r>
          </a:p>
          <a:p>
            <a:pPr marL="0" marR="0" lvl="0" indent="266700" algn="l" defTabSz="914400" rtl="0" eaLnBrk="1" fontAlgn="auto" latinLnBrk="0" hangingPunct="1">
              <a:lnSpc>
                <a:spcPct val="100000"/>
              </a:lnSpc>
              <a:spcBef>
                <a:spcPct val="0"/>
              </a:spcBef>
              <a:spcAft>
                <a:spcPts val="0"/>
              </a:spcAft>
              <a:buClrTx/>
              <a:buSzTx/>
              <a:buFontTx/>
              <a:buNone/>
              <a:tabLst/>
              <a:defRPr/>
            </a:pPr>
            <a:r>
              <a:rPr kumimoji="1" lang="zh-CN" altLang="en-US" sz="2200" b="0" i="0" u="none" strike="noStrike" kern="1200" cap="none" spc="0" normalizeH="0" baseline="0" noProof="0" dirty="0">
                <a:ln>
                  <a:noFill/>
                </a:ln>
                <a:solidFill>
                  <a:prstClr val="black"/>
                </a:solidFill>
                <a:effectLst/>
                <a:uLnTx/>
                <a:uFillTx/>
                <a:latin typeface="Times New Roman" pitchFamily="18" charset="0"/>
                <a:ea typeface="华文行楷" pitchFamily="2" charset="-122"/>
                <a:cs typeface="+mn-cs"/>
              </a:rPr>
              <a:t>    </a:t>
            </a:r>
            <a:r>
              <a:rPr kumimoji="1" lang="en-US" altLang="zh-CN" sz="2200" b="0" i="0" u="none" strike="noStrike" kern="1200" cap="none" spc="0" normalizeH="0" baseline="0" noProof="0" dirty="0">
                <a:ln>
                  <a:noFill/>
                </a:ln>
                <a:solidFill>
                  <a:prstClr val="black"/>
                </a:solidFill>
                <a:effectLst/>
                <a:uLnTx/>
                <a:uFillTx/>
                <a:latin typeface="Times New Roman" pitchFamily="18" charset="0"/>
                <a:ea typeface="华文行楷" pitchFamily="2" charset="-122"/>
                <a:cs typeface="+mn-cs"/>
              </a:rPr>
              <a:t>(3)</a:t>
            </a:r>
            <a:r>
              <a:rPr kumimoji="1" lang="zh-CN" altLang="en-US" sz="2200" b="0" i="0" u="none" strike="noStrike" kern="1200" cap="none" spc="0" normalizeH="0" baseline="0" noProof="0" dirty="0">
                <a:ln>
                  <a:noFill/>
                </a:ln>
                <a:solidFill>
                  <a:prstClr val="black"/>
                </a:solidFill>
                <a:effectLst/>
                <a:uLnTx/>
                <a:uFillTx/>
                <a:latin typeface="Times New Roman" pitchFamily="18" charset="0"/>
                <a:ea typeface="华文行楷" pitchFamily="2" charset="-122"/>
                <a:cs typeface="+mn-cs"/>
              </a:rPr>
              <a:t> 函数声明、函数定义和函数调用；</a:t>
            </a:r>
            <a:endParaRPr kumimoji="1" lang="en-US" altLang="zh-CN" sz="2200" b="0" i="0" u="none" strike="noStrike" kern="1200" cap="none" spc="0" normalizeH="0" baseline="0" noProof="0" dirty="0">
              <a:ln>
                <a:noFill/>
              </a:ln>
              <a:solidFill>
                <a:prstClr val="black"/>
              </a:solidFill>
              <a:effectLst/>
              <a:uLnTx/>
              <a:uFillTx/>
              <a:latin typeface="Times New Roman" pitchFamily="18" charset="0"/>
              <a:ea typeface="华文行楷" pitchFamily="2" charset="-122"/>
              <a:cs typeface="+mn-cs"/>
            </a:endParaRPr>
          </a:p>
          <a:p>
            <a:pPr marL="0" marR="0" lvl="0" indent="266700" algn="l" defTabSz="914400" rtl="0" eaLnBrk="1" fontAlgn="auto" latinLnBrk="0" hangingPunct="1">
              <a:lnSpc>
                <a:spcPct val="100000"/>
              </a:lnSpc>
              <a:spcBef>
                <a:spcPct val="0"/>
              </a:spcBef>
              <a:spcAft>
                <a:spcPts val="0"/>
              </a:spcAft>
              <a:buClrTx/>
              <a:buSzTx/>
              <a:buFontTx/>
              <a:buNone/>
              <a:tabLst/>
              <a:defRPr/>
            </a:pPr>
            <a:r>
              <a:rPr kumimoji="1" lang="en-US" altLang="zh-CN" sz="2200" b="0" i="0" u="none" strike="noStrike" kern="1200" cap="none" spc="0" normalizeH="0" baseline="0" noProof="0" dirty="0">
                <a:ln>
                  <a:noFill/>
                </a:ln>
                <a:solidFill>
                  <a:prstClr val="black"/>
                </a:solidFill>
                <a:effectLst/>
                <a:uLnTx/>
                <a:uFillTx/>
                <a:latin typeface="Times New Roman" pitchFamily="18" charset="0"/>
                <a:ea typeface="华文行楷" pitchFamily="2" charset="-122"/>
                <a:cs typeface="+mn-cs"/>
              </a:rPr>
              <a:t>   </a:t>
            </a:r>
            <a:r>
              <a:rPr kumimoji="1" lang="zh-CN" altLang="en-US" sz="2200" b="0" i="0" u="none" strike="noStrike" kern="1200" cap="none" spc="0" normalizeH="0" baseline="0" noProof="0" dirty="0">
                <a:ln>
                  <a:noFill/>
                </a:ln>
                <a:solidFill>
                  <a:prstClr val="black"/>
                </a:solidFill>
                <a:effectLst/>
                <a:uLnTx/>
                <a:uFillTx/>
                <a:latin typeface="Times New Roman" pitchFamily="18" charset="0"/>
                <a:ea typeface="华文行楷" pitchFamily="2" charset="-122"/>
                <a:cs typeface="+mn-cs"/>
              </a:rPr>
              <a:t> </a:t>
            </a:r>
            <a:r>
              <a:rPr kumimoji="1" lang="en-US" altLang="zh-CN" sz="2200" b="0" i="0" u="none" strike="noStrike" kern="1200" cap="none" spc="0" normalizeH="0" baseline="0" noProof="0" dirty="0">
                <a:ln>
                  <a:noFill/>
                </a:ln>
                <a:solidFill>
                  <a:prstClr val="black"/>
                </a:solidFill>
                <a:effectLst/>
                <a:uLnTx/>
                <a:uFillTx/>
                <a:latin typeface="Times New Roman" pitchFamily="18" charset="0"/>
                <a:ea typeface="华文行楷" pitchFamily="2" charset="-122"/>
                <a:cs typeface="+mn-cs"/>
              </a:rPr>
              <a:t>(4)</a:t>
            </a:r>
            <a:r>
              <a:rPr kumimoji="1" lang="zh-CN" altLang="en-US" sz="2200" b="0" i="0" u="none" strike="noStrike" kern="1200" cap="none" spc="0" normalizeH="0" baseline="0" noProof="0" dirty="0">
                <a:ln>
                  <a:noFill/>
                </a:ln>
                <a:solidFill>
                  <a:prstClr val="black"/>
                </a:solidFill>
                <a:effectLst/>
                <a:uLnTx/>
                <a:uFillTx/>
                <a:latin typeface="Times New Roman" pitchFamily="18" charset="0"/>
                <a:ea typeface="华文行楷" pitchFamily="2" charset="-122"/>
                <a:cs typeface="+mn-cs"/>
              </a:rPr>
              <a:t>表达式语句；</a:t>
            </a:r>
          </a:p>
          <a:p>
            <a:pPr marL="0" marR="0" lvl="0" indent="266700" algn="l" defTabSz="914400" rtl="0" eaLnBrk="1" fontAlgn="auto" latinLnBrk="0" hangingPunct="1">
              <a:lnSpc>
                <a:spcPct val="100000"/>
              </a:lnSpc>
              <a:spcBef>
                <a:spcPct val="0"/>
              </a:spcBef>
              <a:spcAft>
                <a:spcPts val="0"/>
              </a:spcAft>
              <a:buClrTx/>
              <a:buSzTx/>
              <a:buFontTx/>
              <a:buNone/>
              <a:tabLst/>
              <a:defRPr/>
            </a:pPr>
            <a:r>
              <a:rPr kumimoji="1" lang="zh-CN" altLang="en-US" sz="2200" b="0" i="0" u="none" strike="noStrike" kern="1200" cap="none" spc="0" normalizeH="0" baseline="0" noProof="0" dirty="0">
                <a:ln>
                  <a:noFill/>
                </a:ln>
                <a:solidFill>
                  <a:prstClr val="black"/>
                </a:solidFill>
                <a:effectLst/>
                <a:uLnTx/>
                <a:uFillTx/>
                <a:latin typeface="Times New Roman" pitchFamily="18" charset="0"/>
                <a:ea typeface="华文行楷" pitchFamily="2" charset="-122"/>
                <a:cs typeface="+mn-cs"/>
              </a:rPr>
              <a:t>    </a:t>
            </a:r>
            <a:r>
              <a:rPr kumimoji="1" lang="en-US" altLang="zh-CN" sz="2200" b="0" i="0" u="none" strike="noStrike" kern="1200" cap="none" spc="0" normalizeH="0" baseline="0" noProof="0" dirty="0">
                <a:ln>
                  <a:noFill/>
                </a:ln>
                <a:solidFill>
                  <a:prstClr val="black"/>
                </a:solidFill>
                <a:effectLst/>
                <a:uLnTx/>
                <a:uFillTx/>
                <a:latin typeface="Times New Roman" pitchFamily="18" charset="0"/>
                <a:ea typeface="华文行楷" pitchFamily="2" charset="-122"/>
                <a:cs typeface="+mn-cs"/>
              </a:rPr>
              <a:t>(5)</a:t>
            </a:r>
            <a:r>
              <a:rPr kumimoji="1" lang="zh-CN" altLang="en-US" sz="2200" b="0" i="0" u="none" strike="noStrike" kern="1200" cap="none" spc="0" normalizeH="0" baseline="0" noProof="0" dirty="0">
                <a:ln>
                  <a:noFill/>
                </a:ln>
                <a:solidFill>
                  <a:prstClr val="black"/>
                </a:solidFill>
                <a:effectLst/>
                <a:uLnTx/>
                <a:uFillTx/>
                <a:latin typeface="Times New Roman" pitchFamily="18" charset="0"/>
                <a:ea typeface="华文行楷" pitchFamily="2" charset="-122"/>
                <a:cs typeface="+mn-cs"/>
              </a:rPr>
              <a:t>分支控制语句：</a:t>
            </a:r>
            <a:r>
              <a:rPr kumimoji="1" lang="en-US" altLang="zh-CN" sz="2200" b="0" i="0" u="none" strike="noStrike" kern="1200" cap="none" spc="0" normalizeH="0" baseline="0" noProof="0" dirty="0">
                <a:ln>
                  <a:noFill/>
                </a:ln>
                <a:solidFill>
                  <a:prstClr val="black"/>
                </a:solidFill>
                <a:effectLst/>
                <a:uLnTx/>
                <a:uFillTx/>
                <a:latin typeface="Times New Roman" pitchFamily="18" charset="0"/>
                <a:ea typeface="华文行楷" pitchFamily="2" charset="-122"/>
                <a:cs typeface="+mn-cs"/>
              </a:rPr>
              <a:t>if</a:t>
            </a:r>
            <a:r>
              <a:rPr kumimoji="1" lang="zh-CN" altLang="en-US" sz="2200" b="0" i="0" u="none" strike="noStrike" kern="1200" cap="none" spc="0" normalizeH="0" baseline="0" noProof="0" dirty="0">
                <a:ln>
                  <a:noFill/>
                </a:ln>
                <a:solidFill>
                  <a:prstClr val="black"/>
                </a:solidFill>
                <a:effectLst/>
                <a:uLnTx/>
                <a:uFillTx/>
                <a:latin typeface="Times New Roman" pitchFamily="18" charset="0"/>
                <a:ea typeface="华文行楷" pitchFamily="2" charset="-122"/>
                <a:cs typeface="+mn-cs"/>
              </a:rPr>
              <a:t>语句；</a:t>
            </a:r>
            <a:endParaRPr kumimoji="1" lang="en-US" altLang="zh-CN" sz="2200" b="0" i="0" u="none" strike="noStrike" kern="1200" cap="none" spc="0" normalizeH="0" baseline="0" noProof="0" dirty="0">
              <a:ln>
                <a:noFill/>
              </a:ln>
              <a:solidFill>
                <a:prstClr val="black"/>
              </a:solidFill>
              <a:effectLst/>
              <a:uLnTx/>
              <a:uFillTx/>
              <a:latin typeface="Times New Roman" pitchFamily="18" charset="0"/>
              <a:ea typeface="华文行楷" pitchFamily="2" charset="-122"/>
              <a:cs typeface="+mn-cs"/>
            </a:endParaRPr>
          </a:p>
          <a:p>
            <a:pPr marL="0" marR="0" lvl="0" indent="266700" algn="l" defTabSz="914400" rtl="0" eaLnBrk="1" fontAlgn="auto" latinLnBrk="0" hangingPunct="1">
              <a:lnSpc>
                <a:spcPct val="100000"/>
              </a:lnSpc>
              <a:spcBef>
                <a:spcPct val="0"/>
              </a:spcBef>
              <a:spcAft>
                <a:spcPts val="0"/>
              </a:spcAft>
              <a:buClrTx/>
              <a:buSzTx/>
              <a:buFontTx/>
              <a:buNone/>
              <a:tabLst/>
              <a:defRPr/>
            </a:pPr>
            <a:r>
              <a:rPr kumimoji="1" lang="en-US" altLang="zh-CN" sz="2200" b="0" i="0" u="none" strike="noStrike" kern="1200" cap="none" spc="0" normalizeH="0" baseline="0" noProof="0" dirty="0">
                <a:ln>
                  <a:noFill/>
                </a:ln>
                <a:solidFill>
                  <a:prstClr val="black"/>
                </a:solidFill>
                <a:effectLst/>
                <a:uLnTx/>
                <a:uFillTx/>
                <a:latin typeface="Times New Roman" pitchFamily="18" charset="0"/>
                <a:ea typeface="华文行楷" pitchFamily="2" charset="-122"/>
                <a:cs typeface="+mn-cs"/>
              </a:rPr>
              <a:t>   </a:t>
            </a:r>
            <a:r>
              <a:rPr kumimoji="1" lang="zh-CN" altLang="en-US" sz="2200" b="0" i="0" u="none" strike="noStrike" kern="1200" cap="none" spc="0" normalizeH="0" baseline="0" noProof="0" dirty="0">
                <a:ln>
                  <a:noFill/>
                </a:ln>
                <a:solidFill>
                  <a:prstClr val="black"/>
                </a:solidFill>
                <a:effectLst/>
                <a:uLnTx/>
                <a:uFillTx/>
                <a:latin typeface="Times New Roman" pitchFamily="18" charset="0"/>
                <a:ea typeface="华文行楷" pitchFamily="2" charset="-122"/>
                <a:cs typeface="+mn-cs"/>
              </a:rPr>
              <a:t> </a:t>
            </a:r>
            <a:r>
              <a:rPr kumimoji="1" lang="en-US" altLang="zh-CN" sz="2200" b="0" i="0" u="none" strike="noStrike" kern="1200" cap="none" spc="0" normalizeH="0" baseline="0" noProof="0" dirty="0">
                <a:ln>
                  <a:noFill/>
                </a:ln>
                <a:solidFill>
                  <a:prstClr val="black"/>
                </a:solidFill>
                <a:effectLst/>
                <a:uLnTx/>
                <a:uFillTx/>
                <a:latin typeface="Times New Roman" pitchFamily="18" charset="0"/>
                <a:ea typeface="华文行楷" pitchFamily="2" charset="-122"/>
                <a:cs typeface="+mn-cs"/>
              </a:rPr>
              <a:t>(6)</a:t>
            </a:r>
            <a:r>
              <a:rPr kumimoji="1" lang="zh-CN" altLang="en-US" sz="2200" b="0" i="0" u="none" strike="noStrike" kern="1200" cap="none" spc="0" normalizeH="0" baseline="0" noProof="0" dirty="0">
                <a:ln>
                  <a:noFill/>
                </a:ln>
                <a:solidFill>
                  <a:prstClr val="black"/>
                </a:solidFill>
                <a:effectLst/>
                <a:uLnTx/>
                <a:uFillTx/>
                <a:latin typeface="Times New Roman" pitchFamily="18" charset="0"/>
                <a:ea typeface="华文行楷" pitchFamily="2" charset="-122"/>
                <a:cs typeface="+mn-cs"/>
              </a:rPr>
              <a:t>循环控制语句：</a:t>
            </a:r>
            <a:r>
              <a:rPr kumimoji="1" lang="en-US" altLang="zh-CN" sz="2200" b="0" i="0" u="none" strike="noStrike" kern="1200" cap="none" spc="0" normalizeH="0" baseline="0" noProof="0" dirty="0">
                <a:ln>
                  <a:noFill/>
                </a:ln>
                <a:solidFill>
                  <a:prstClr val="black"/>
                </a:solidFill>
                <a:effectLst/>
                <a:uLnTx/>
                <a:uFillTx/>
                <a:latin typeface="Times New Roman" pitchFamily="18" charset="0"/>
                <a:ea typeface="华文行楷" pitchFamily="2" charset="-122"/>
                <a:cs typeface="+mn-cs"/>
              </a:rPr>
              <a:t>while</a:t>
            </a:r>
            <a:r>
              <a:rPr kumimoji="1" lang="zh-CN" altLang="en-US" sz="2200" b="0" i="0" u="none" strike="noStrike" kern="1200" cap="none" spc="0" normalizeH="0" baseline="0" noProof="0" dirty="0">
                <a:ln>
                  <a:noFill/>
                </a:ln>
                <a:solidFill>
                  <a:prstClr val="black"/>
                </a:solidFill>
                <a:effectLst/>
                <a:uLnTx/>
                <a:uFillTx/>
                <a:latin typeface="Times New Roman" pitchFamily="18" charset="0"/>
                <a:ea typeface="华文行楷" pitchFamily="2" charset="-122"/>
                <a:cs typeface="+mn-cs"/>
              </a:rPr>
              <a:t>语句、</a:t>
            </a:r>
            <a:r>
              <a:rPr kumimoji="1" lang="en-US" altLang="zh-CN" sz="2200" b="0" i="0" u="none" strike="noStrike" kern="1200" cap="none" spc="0" normalizeH="0" baseline="0" noProof="0" dirty="0">
                <a:ln>
                  <a:noFill/>
                </a:ln>
                <a:solidFill>
                  <a:prstClr val="black"/>
                </a:solidFill>
                <a:effectLst/>
                <a:uLnTx/>
                <a:uFillTx/>
                <a:latin typeface="Times New Roman" pitchFamily="18" charset="0"/>
                <a:ea typeface="华文行楷" pitchFamily="2" charset="-122"/>
                <a:cs typeface="+mn-cs"/>
              </a:rPr>
              <a:t>do while</a:t>
            </a:r>
            <a:r>
              <a:rPr kumimoji="1" lang="zh-CN" altLang="en-US" sz="2200" b="0" i="0" u="none" strike="noStrike" kern="1200" cap="none" spc="0" normalizeH="0" baseline="0" noProof="0" dirty="0">
                <a:ln>
                  <a:noFill/>
                </a:ln>
                <a:solidFill>
                  <a:prstClr val="black"/>
                </a:solidFill>
                <a:effectLst/>
                <a:uLnTx/>
                <a:uFillTx/>
                <a:latin typeface="Times New Roman" pitchFamily="18" charset="0"/>
                <a:ea typeface="华文行楷" pitchFamily="2" charset="-122"/>
                <a:cs typeface="+mn-cs"/>
              </a:rPr>
              <a:t>语句、</a:t>
            </a:r>
            <a:r>
              <a:rPr kumimoji="1" lang="en-US" altLang="zh-CN" sz="2200" b="0" i="0" u="none" strike="noStrike" kern="1200" cap="none" spc="0" normalizeH="0" baseline="0" noProof="0" dirty="0">
                <a:ln>
                  <a:noFill/>
                </a:ln>
                <a:solidFill>
                  <a:prstClr val="black"/>
                </a:solidFill>
                <a:effectLst/>
                <a:uLnTx/>
                <a:uFillTx/>
                <a:latin typeface="Times New Roman" pitchFamily="18" charset="0"/>
                <a:ea typeface="华文行楷" pitchFamily="2" charset="-122"/>
                <a:cs typeface="+mn-cs"/>
              </a:rPr>
              <a:t>for</a:t>
            </a:r>
            <a:r>
              <a:rPr kumimoji="1" lang="zh-CN" altLang="en-US" sz="2200" b="0" i="0" u="none" strike="noStrike" kern="1200" cap="none" spc="0" normalizeH="0" baseline="0" noProof="0" dirty="0">
                <a:ln>
                  <a:noFill/>
                </a:ln>
                <a:solidFill>
                  <a:prstClr val="black"/>
                </a:solidFill>
                <a:effectLst/>
                <a:uLnTx/>
                <a:uFillTx/>
                <a:latin typeface="Times New Roman" pitchFamily="18" charset="0"/>
                <a:ea typeface="华文行楷" pitchFamily="2" charset="-122"/>
                <a:cs typeface="+mn-cs"/>
              </a:rPr>
              <a:t>语句</a:t>
            </a:r>
            <a:endParaRPr kumimoji="1" lang="en-US" altLang="zh-CN" sz="2200" b="0" i="0" u="none" strike="noStrike" kern="1200" cap="none" spc="0" normalizeH="0" baseline="0" noProof="0" dirty="0">
              <a:ln>
                <a:noFill/>
              </a:ln>
              <a:solidFill>
                <a:prstClr val="black"/>
              </a:solidFill>
              <a:effectLst/>
              <a:uLnTx/>
              <a:uFillTx/>
              <a:latin typeface="Times New Roman" pitchFamily="18" charset="0"/>
              <a:ea typeface="华文行楷" pitchFamily="2" charset="-122"/>
              <a:cs typeface="+mn-cs"/>
            </a:endParaRPr>
          </a:p>
          <a:p>
            <a:pPr marL="0" marR="0" lvl="0" indent="266700" algn="l" defTabSz="914400" rtl="0" eaLnBrk="1" fontAlgn="auto" latinLnBrk="0" hangingPunct="1">
              <a:lnSpc>
                <a:spcPct val="100000"/>
              </a:lnSpc>
              <a:spcBef>
                <a:spcPct val="0"/>
              </a:spcBef>
              <a:spcAft>
                <a:spcPts val="0"/>
              </a:spcAft>
              <a:buClrTx/>
              <a:buSzTx/>
              <a:buFontTx/>
              <a:buNone/>
              <a:tabLst/>
              <a:defRPr/>
            </a:pPr>
            <a:r>
              <a:rPr kumimoji="1" lang="zh-CN" altLang="en-US" sz="2200" b="0" i="0" u="none" strike="noStrike" kern="1200" cap="none" spc="0" normalizeH="0" baseline="0" noProof="0" dirty="0">
                <a:ln>
                  <a:noFill/>
                </a:ln>
                <a:solidFill>
                  <a:prstClr val="black"/>
                </a:solidFill>
                <a:effectLst/>
                <a:uLnTx/>
                <a:uFillTx/>
                <a:latin typeface="Times New Roman" pitchFamily="18" charset="0"/>
                <a:ea typeface="华文行楷" pitchFamily="2" charset="-122"/>
                <a:cs typeface="+mn-cs"/>
              </a:rPr>
              <a:t>    </a:t>
            </a:r>
            <a:r>
              <a:rPr kumimoji="1" lang="en-US" altLang="zh-CN" sz="2200" b="0" i="0" u="none" strike="noStrike" kern="1200" cap="none" spc="0" normalizeH="0" baseline="0" noProof="0" dirty="0">
                <a:ln>
                  <a:noFill/>
                </a:ln>
                <a:solidFill>
                  <a:prstClr val="black"/>
                </a:solidFill>
                <a:effectLst/>
                <a:uLnTx/>
                <a:uFillTx/>
                <a:latin typeface="Times New Roman" pitchFamily="18" charset="0"/>
                <a:ea typeface="华文行楷" pitchFamily="2" charset="-122"/>
                <a:cs typeface="+mn-cs"/>
              </a:rPr>
              <a:t>(7)</a:t>
            </a:r>
            <a:r>
              <a:rPr kumimoji="1" lang="zh-CN" altLang="en-US" sz="2200" b="0" i="0" u="none" strike="noStrike" kern="1200" cap="none" spc="0" normalizeH="0" baseline="0" noProof="0" dirty="0">
                <a:ln>
                  <a:noFill/>
                </a:ln>
                <a:solidFill>
                  <a:prstClr val="black"/>
                </a:solidFill>
                <a:effectLst/>
                <a:uLnTx/>
                <a:uFillTx/>
                <a:latin typeface="Times New Roman" pitchFamily="18" charset="0"/>
                <a:ea typeface="华文行楷" pitchFamily="2" charset="-122"/>
                <a:cs typeface="+mn-cs"/>
              </a:rPr>
              <a:t>其他控制语句：</a:t>
            </a:r>
            <a:r>
              <a:rPr kumimoji="1" lang="en-US" altLang="zh-CN" sz="2200" b="0" i="0" u="none" strike="noStrike" kern="1200" cap="none" spc="0" normalizeH="0" baseline="0" noProof="0" dirty="0">
                <a:ln>
                  <a:noFill/>
                </a:ln>
                <a:solidFill>
                  <a:prstClr val="black"/>
                </a:solidFill>
                <a:effectLst/>
                <a:uLnTx/>
                <a:uFillTx/>
                <a:latin typeface="Times New Roman" pitchFamily="18" charset="0"/>
                <a:ea typeface="华文行楷" pitchFamily="2" charset="-122"/>
                <a:cs typeface="+mn-cs"/>
              </a:rPr>
              <a:t>return</a:t>
            </a:r>
            <a:r>
              <a:rPr kumimoji="1" lang="zh-CN" altLang="en-US" sz="2200" b="0" i="0" u="none" strike="noStrike" kern="1200" cap="none" spc="0" normalizeH="0" baseline="0" noProof="0" dirty="0">
                <a:ln>
                  <a:noFill/>
                </a:ln>
                <a:solidFill>
                  <a:prstClr val="black"/>
                </a:solidFill>
                <a:effectLst/>
                <a:uLnTx/>
                <a:uFillTx/>
                <a:latin typeface="Times New Roman" pitchFamily="18" charset="0"/>
                <a:ea typeface="华文行楷" pitchFamily="2" charset="-122"/>
                <a:cs typeface="+mn-cs"/>
              </a:rPr>
              <a:t>、</a:t>
            </a:r>
            <a:r>
              <a:rPr kumimoji="1" lang="en-US" altLang="zh-CN" sz="2200" b="0" i="0" u="none" strike="noStrike" kern="1200" cap="none" spc="0" normalizeH="0" baseline="0" noProof="0" dirty="0">
                <a:ln>
                  <a:noFill/>
                </a:ln>
                <a:solidFill>
                  <a:prstClr val="black"/>
                </a:solidFill>
                <a:effectLst/>
                <a:uLnTx/>
                <a:uFillTx/>
                <a:latin typeface="Times New Roman" pitchFamily="18" charset="0"/>
                <a:ea typeface="华文行楷" pitchFamily="2" charset="-122"/>
                <a:cs typeface="+mn-cs"/>
              </a:rPr>
              <a:t>continue</a:t>
            </a:r>
            <a:r>
              <a:rPr kumimoji="1" lang="zh-CN" altLang="en-US" sz="2200" b="0" i="0" u="none" strike="noStrike" kern="1200" cap="none" spc="0" normalizeH="0" baseline="0" noProof="0" dirty="0">
                <a:ln>
                  <a:noFill/>
                </a:ln>
                <a:solidFill>
                  <a:prstClr val="black"/>
                </a:solidFill>
                <a:effectLst/>
                <a:uLnTx/>
                <a:uFillTx/>
                <a:latin typeface="Times New Roman" pitchFamily="18" charset="0"/>
                <a:ea typeface="华文行楷" pitchFamily="2" charset="-122"/>
                <a:cs typeface="+mn-cs"/>
              </a:rPr>
              <a:t>、</a:t>
            </a:r>
            <a:r>
              <a:rPr kumimoji="1" lang="en-US" altLang="zh-CN" sz="2200" b="0" i="0" u="none" strike="noStrike" kern="1200" cap="none" spc="0" normalizeH="0" baseline="0" noProof="0" dirty="0">
                <a:ln>
                  <a:noFill/>
                </a:ln>
                <a:solidFill>
                  <a:prstClr val="black"/>
                </a:solidFill>
                <a:effectLst/>
                <a:uLnTx/>
                <a:uFillTx/>
                <a:latin typeface="Times New Roman" pitchFamily="18" charset="0"/>
                <a:ea typeface="华文行楷" pitchFamily="2" charset="-122"/>
                <a:cs typeface="+mn-cs"/>
              </a:rPr>
              <a:t>break</a:t>
            </a:r>
            <a:r>
              <a:rPr kumimoji="1" lang="zh-CN" altLang="en-US" sz="2200" b="0" i="0" u="none" strike="noStrike" kern="1200" cap="none" spc="0" normalizeH="0" baseline="0" noProof="0" dirty="0">
                <a:ln>
                  <a:noFill/>
                </a:ln>
                <a:solidFill>
                  <a:prstClr val="black"/>
                </a:solidFill>
                <a:effectLst/>
                <a:uLnTx/>
                <a:uFillTx/>
                <a:latin typeface="Times New Roman" pitchFamily="18" charset="0"/>
                <a:ea typeface="华文行楷" pitchFamily="2" charset="-122"/>
                <a:cs typeface="+mn-cs"/>
              </a:rPr>
              <a:t>语句等</a:t>
            </a:r>
          </a:p>
        </p:txBody>
      </p:sp>
      <p:sp>
        <p:nvSpPr>
          <p:cNvPr id="92165" name="Rectangle 2"/>
          <p:cNvSpPr>
            <a:spLocks noChangeArrowheads="1"/>
          </p:cNvSpPr>
          <p:nvPr/>
        </p:nvSpPr>
        <p:spPr bwMode="auto">
          <a:xfrm>
            <a:off x="0" y="-230188"/>
            <a:ext cx="184150" cy="4603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Times New Roman" pitchFamily="18" charset="0"/>
              <a:ea typeface="华文行楷" pitchFamily="2" charset="-122"/>
              <a:cs typeface="+mn-cs"/>
            </a:endParaRPr>
          </a:p>
        </p:txBody>
      </p:sp>
      <p:graphicFrame>
        <p:nvGraphicFramePr>
          <p:cNvPr id="92166" name="对象 2"/>
          <p:cNvGraphicFramePr>
            <a:graphicFrameLocks noChangeAspect="1"/>
          </p:cNvGraphicFramePr>
          <p:nvPr>
            <p:extLst/>
          </p:nvPr>
        </p:nvGraphicFramePr>
        <p:xfrm>
          <a:off x="2123728" y="962641"/>
          <a:ext cx="6414988" cy="1370645"/>
        </p:xfrm>
        <a:graphic>
          <a:graphicData uri="http://schemas.openxmlformats.org/presentationml/2006/ole">
            <mc:AlternateContent xmlns:mc="http://schemas.openxmlformats.org/markup-compatibility/2006">
              <mc:Choice xmlns:v="urn:schemas-microsoft-com:vml" Requires="v">
                <p:oleObj spid="_x0000_s6155" name="Visio" r:id="rId4" imgW="2701911" imgH="766673" progId="Visio.Drawing.11">
                  <p:embed/>
                </p:oleObj>
              </mc:Choice>
              <mc:Fallback>
                <p:oleObj name="Visio" r:id="rId4" imgW="2701911" imgH="766673" progId="Visio.Drawing.11">
                  <p:embed/>
                  <p:pic>
                    <p:nvPicPr>
                      <p:cNvPr id="92166" name="对象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23728" y="962641"/>
                        <a:ext cx="6414988" cy="1370645"/>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4004530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1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a:extLst>
              <a:ext uri="{FF2B5EF4-FFF2-40B4-BE49-F238E27FC236}">
                <a16:creationId xmlns:a16="http://schemas.microsoft.com/office/drawing/2014/main" id="{3E421239-6AD6-63C7-3F5D-A3082939E20B}"/>
              </a:ext>
            </a:extLst>
          </p:cNvPr>
          <p:cNvGraphicFramePr>
            <a:graphicFrameLocks noChangeAspect="1"/>
          </p:cNvGraphicFramePr>
          <p:nvPr>
            <p:extLst/>
          </p:nvPr>
        </p:nvGraphicFramePr>
        <p:xfrm>
          <a:off x="2915816" y="2285892"/>
          <a:ext cx="6071523" cy="2950154"/>
        </p:xfrm>
        <a:graphic>
          <a:graphicData uri="http://schemas.openxmlformats.org/presentationml/2006/ole">
            <mc:AlternateContent xmlns:mc="http://schemas.openxmlformats.org/markup-compatibility/2006">
              <mc:Choice xmlns:v="urn:schemas-microsoft-com:vml" Requires="v">
                <p:oleObj spid="_x0000_s7179" name="Visio" r:id="rId4" imgW="4895745" imgH="1933586" progId="Visio.Drawing.15">
                  <p:embed/>
                </p:oleObj>
              </mc:Choice>
              <mc:Fallback>
                <p:oleObj name="Visio" r:id="rId4" imgW="4895745" imgH="1933586" progId="Visio.Drawing.15">
                  <p:embed/>
                  <p:pic>
                    <p:nvPicPr>
                      <p:cNvPr id="3" name="对象 2">
                        <a:extLst>
                          <a:ext uri="{FF2B5EF4-FFF2-40B4-BE49-F238E27FC236}">
                            <a16:creationId xmlns:a16="http://schemas.microsoft.com/office/drawing/2014/main" id="{3E421239-6AD6-63C7-3F5D-A3082939E20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15816" y="2285892"/>
                        <a:ext cx="6071523" cy="2950154"/>
                      </a:xfrm>
                      <a:prstGeom prst="rect">
                        <a:avLst/>
                      </a:prstGeom>
                      <a:noFill/>
                    </p:spPr>
                  </p:pic>
                </p:oleObj>
              </mc:Fallback>
            </mc:AlternateContent>
          </a:graphicData>
        </a:graphic>
      </p:graphicFrame>
      <p:sp>
        <p:nvSpPr>
          <p:cNvPr id="5" name="矩形 4">
            <a:extLst>
              <a:ext uri="{FF2B5EF4-FFF2-40B4-BE49-F238E27FC236}">
                <a16:creationId xmlns:a16="http://schemas.microsoft.com/office/drawing/2014/main" id="{6913FCA0-DFD1-BB4F-87EB-89EC963AD13F}"/>
              </a:ext>
            </a:extLst>
          </p:cNvPr>
          <p:cNvSpPr/>
          <p:nvPr/>
        </p:nvSpPr>
        <p:spPr>
          <a:xfrm>
            <a:off x="156662" y="1276968"/>
            <a:ext cx="2759154" cy="375487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defRPr/>
            </a:pPr>
            <a:r>
              <a:rPr lang="en-US" altLang="zh-CN" sz="1400" dirty="0"/>
              <a:t>int b;</a:t>
            </a:r>
          </a:p>
          <a:p>
            <a:pPr>
              <a:defRPr/>
            </a:pPr>
            <a:r>
              <a:rPr lang="en-US" altLang="zh-CN" sz="1400" dirty="0"/>
              <a:t>int </a:t>
            </a:r>
            <a:r>
              <a:rPr lang="en-US" altLang="zh-CN" sz="1400" dirty="0" err="1"/>
              <a:t>c,d</a:t>
            </a:r>
            <a:r>
              <a:rPr lang="en-US" altLang="zh-CN" sz="1400" dirty="0"/>
              <a:t>=3;</a:t>
            </a:r>
          </a:p>
          <a:p>
            <a:pPr>
              <a:defRPr/>
            </a:pPr>
            <a:r>
              <a:rPr lang="en-US" altLang="zh-CN" sz="1400" dirty="0"/>
              <a:t>int a = 1 ;</a:t>
            </a:r>
          </a:p>
          <a:p>
            <a:pPr>
              <a:defRPr/>
            </a:pPr>
            <a:r>
              <a:rPr lang="en-US" altLang="zh-CN" sz="1400" dirty="0" err="1"/>
              <a:t>int</a:t>
            </a:r>
            <a:r>
              <a:rPr lang="en-US" altLang="zh-CN" sz="1400" dirty="0"/>
              <a:t> sum(</a:t>
            </a:r>
            <a:r>
              <a:rPr lang="en-US" altLang="zh-CN" sz="1400" dirty="0" err="1"/>
              <a:t>int,int</a:t>
            </a:r>
            <a:r>
              <a:rPr lang="en-US" altLang="zh-CN" sz="1400" dirty="0"/>
              <a:t>);</a:t>
            </a:r>
          </a:p>
          <a:p>
            <a:pPr>
              <a:defRPr/>
            </a:pPr>
            <a:r>
              <a:rPr lang="en-US" altLang="zh-CN" sz="1400" dirty="0"/>
              <a:t>const PI=3.14;</a:t>
            </a:r>
          </a:p>
          <a:p>
            <a:pPr>
              <a:defRPr/>
            </a:pPr>
            <a:endParaRPr lang="en-US" altLang="zh-CN" sz="1400" dirty="0"/>
          </a:p>
          <a:p>
            <a:pPr>
              <a:defRPr/>
            </a:pPr>
            <a:r>
              <a:rPr lang="en-US" altLang="zh-CN" sz="1400" dirty="0"/>
              <a:t>main(){</a:t>
            </a:r>
          </a:p>
          <a:p>
            <a:pPr>
              <a:defRPr/>
            </a:pPr>
            <a:r>
              <a:rPr lang="en-US" altLang="zh-CN" sz="1400" dirty="0"/>
              <a:t>    </a:t>
            </a:r>
            <a:r>
              <a:rPr lang="en-US" altLang="zh-CN" sz="1400" dirty="0" err="1"/>
              <a:t>int</a:t>
            </a:r>
            <a:r>
              <a:rPr lang="en-US" altLang="zh-CN" sz="1400" dirty="0"/>
              <a:t> N = read() ;</a:t>
            </a:r>
          </a:p>
          <a:p>
            <a:pPr>
              <a:defRPr/>
            </a:pPr>
            <a:r>
              <a:rPr lang="en-US" altLang="zh-CN" sz="1400" dirty="0"/>
              <a:t>    a = sum(sum(3,4),N) ;</a:t>
            </a:r>
          </a:p>
          <a:p>
            <a:pPr>
              <a:defRPr/>
            </a:pPr>
            <a:r>
              <a:rPr lang="en-US" altLang="zh-CN" sz="1400" dirty="0"/>
              <a:t>    write(a);</a:t>
            </a:r>
          </a:p>
          <a:p>
            <a:pPr>
              <a:defRPr/>
            </a:pPr>
            <a:r>
              <a:rPr lang="en-US" altLang="zh-CN" sz="1400" dirty="0"/>
              <a:t>}</a:t>
            </a:r>
          </a:p>
          <a:p>
            <a:pPr>
              <a:defRPr/>
            </a:pPr>
            <a:endParaRPr lang="en-US" altLang="zh-CN" sz="1400" dirty="0"/>
          </a:p>
          <a:p>
            <a:pPr>
              <a:defRPr/>
            </a:pPr>
            <a:r>
              <a:rPr lang="en-US" altLang="zh-CN" sz="1400" dirty="0" err="1"/>
              <a:t>int</a:t>
            </a:r>
            <a:r>
              <a:rPr lang="en-US" altLang="zh-CN" sz="1400" dirty="0"/>
              <a:t> sum(</a:t>
            </a:r>
            <a:r>
              <a:rPr lang="en-US" altLang="zh-CN" sz="1400" dirty="0" err="1"/>
              <a:t>int</a:t>
            </a:r>
            <a:r>
              <a:rPr lang="en-US" altLang="zh-CN" sz="1400" dirty="0"/>
              <a:t> </a:t>
            </a:r>
            <a:r>
              <a:rPr lang="en-US" altLang="zh-CN" sz="1400" dirty="0" err="1"/>
              <a:t>sum_x,int</a:t>
            </a:r>
            <a:r>
              <a:rPr lang="en-US" altLang="zh-CN" sz="1400" dirty="0"/>
              <a:t> </a:t>
            </a:r>
            <a:r>
              <a:rPr lang="en-US" altLang="zh-CN" sz="1400" dirty="0" err="1"/>
              <a:t>sum_y</a:t>
            </a:r>
            <a:r>
              <a:rPr lang="en-US" altLang="zh-CN" sz="1400" dirty="0"/>
              <a:t>){</a:t>
            </a:r>
          </a:p>
          <a:p>
            <a:pPr>
              <a:defRPr/>
            </a:pPr>
            <a:r>
              <a:rPr lang="en-US" altLang="zh-CN" sz="1400" dirty="0"/>
              <a:t>    </a:t>
            </a:r>
            <a:r>
              <a:rPr lang="en-US" altLang="zh-CN" sz="1400" dirty="0" err="1"/>
              <a:t>int</a:t>
            </a:r>
            <a:r>
              <a:rPr lang="en-US" altLang="zh-CN" sz="1400" dirty="0"/>
              <a:t> result ;</a:t>
            </a:r>
          </a:p>
          <a:p>
            <a:pPr>
              <a:defRPr/>
            </a:pPr>
            <a:r>
              <a:rPr lang="en-US" altLang="zh-CN" sz="1400" dirty="0"/>
              <a:t>    result = </a:t>
            </a:r>
            <a:r>
              <a:rPr lang="en-US" altLang="zh-CN" sz="1400" dirty="0" err="1"/>
              <a:t>sum_x</a:t>
            </a:r>
            <a:r>
              <a:rPr lang="en-US" altLang="zh-CN" sz="1400" dirty="0"/>
              <a:t> + </a:t>
            </a:r>
            <a:r>
              <a:rPr lang="en-US" altLang="zh-CN" sz="1400" dirty="0" err="1"/>
              <a:t>sum_y</a:t>
            </a:r>
            <a:r>
              <a:rPr lang="en-US" altLang="zh-CN" sz="1400" dirty="0"/>
              <a:t> ;</a:t>
            </a:r>
          </a:p>
          <a:p>
            <a:pPr>
              <a:defRPr/>
            </a:pPr>
            <a:r>
              <a:rPr lang="en-US" altLang="zh-CN" sz="1400" dirty="0"/>
              <a:t>    return result ;</a:t>
            </a:r>
          </a:p>
          <a:p>
            <a:pPr>
              <a:defRPr/>
            </a:pPr>
            <a:r>
              <a:rPr lang="en-US" altLang="zh-CN" sz="1400" dirty="0"/>
              <a:t>}</a:t>
            </a:r>
            <a:endParaRPr lang="zh-CN" altLang="en-US" sz="1400" dirty="0"/>
          </a:p>
        </p:txBody>
      </p:sp>
      <p:sp>
        <p:nvSpPr>
          <p:cNvPr id="7" name="文本框 6">
            <a:extLst>
              <a:ext uri="{FF2B5EF4-FFF2-40B4-BE49-F238E27FC236}">
                <a16:creationId xmlns:a16="http://schemas.microsoft.com/office/drawing/2014/main" id="{F75C9C1C-57AB-D8CE-E36C-2E10C72C9850}"/>
              </a:ext>
            </a:extLst>
          </p:cNvPr>
          <p:cNvSpPr txBox="1"/>
          <p:nvPr/>
        </p:nvSpPr>
        <p:spPr>
          <a:xfrm>
            <a:off x="3572410" y="47402"/>
            <a:ext cx="5842852" cy="2308324"/>
          </a:xfrm>
          <a:prstGeom prst="rect">
            <a:avLst/>
          </a:prstGeom>
          <a:solidFill>
            <a:srgbClr val="FDECE3"/>
          </a:solidFill>
        </p:spPr>
        <p:txBody>
          <a:bodyPr wrap="square">
            <a:spAutoFit/>
          </a:bodyPr>
          <a:lstStyle/>
          <a:p>
            <a:pPr algn="just"/>
            <a:r>
              <a:rPr lang="en-US" altLang="zh-CN" sz="1600" kern="100" dirty="0">
                <a:solidFill>
                  <a:srgbClr val="000000"/>
                </a:solidFill>
                <a:effectLst/>
                <a:latin typeface="Times New Roman" panose="02020603050405020304" pitchFamily="18" charset="0"/>
                <a:ea typeface="宋体" panose="02010600030101010101" pitchFamily="2" charset="-122"/>
              </a:rPr>
              <a:t>&lt;</a:t>
            </a:r>
            <a:r>
              <a:rPr lang="zh-CN" altLang="zh-CN" sz="1600" kern="100" dirty="0">
                <a:solidFill>
                  <a:srgbClr val="000000"/>
                </a:solidFill>
                <a:effectLst/>
                <a:latin typeface="Times New Roman" panose="02020603050405020304" pitchFamily="18" charset="0"/>
                <a:ea typeface="宋体" panose="02010600030101010101" pitchFamily="2" charset="-122"/>
              </a:rPr>
              <a:t>程序</a:t>
            </a:r>
            <a:r>
              <a:rPr lang="en-US" altLang="zh-CN" sz="1600" kern="100" dirty="0">
                <a:solidFill>
                  <a:srgbClr val="000000"/>
                </a:solidFill>
                <a:effectLst/>
                <a:latin typeface="Times New Roman" panose="02020603050405020304" pitchFamily="18" charset="0"/>
                <a:ea typeface="宋体" panose="02010600030101010101" pitchFamily="2" charset="-122"/>
              </a:rPr>
              <a:t>&gt;→&lt;</a:t>
            </a:r>
            <a:r>
              <a:rPr lang="zh-CN" altLang="zh-CN" sz="1600" kern="100" dirty="0">
                <a:solidFill>
                  <a:srgbClr val="000000"/>
                </a:solidFill>
                <a:effectLst/>
                <a:latin typeface="Times New Roman" panose="02020603050405020304" pitchFamily="18" charset="0"/>
                <a:ea typeface="宋体" panose="02010600030101010101" pitchFamily="2" charset="-122"/>
              </a:rPr>
              <a:t>全局声明列表</a:t>
            </a:r>
            <a:r>
              <a:rPr lang="en-US" altLang="zh-CN" sz="1600" kern="100" dirty="0">
                <a:solidFill>
                  <a:srgbClr val="000000"/>
                </a:solidFill>
                <a:effectLst/>
                <a:latin typeface="Times New Roman" panose="02020603050405020304" pitchFamily="18" charset="0"/>
                <a:ea typeface="宋体" panose="02010600030101010101" pitchFamily="2" charset="-122"/>
              </a:rPr>
              <a:t>&gt; &lt;MAIN</a:t>
            </a:r>
            <a:r>
              <a:rPr lang="zh-CN" altLang="zh-CN" sz="1600" kern="100" dirty="0">
                <a:solidFill>
                  <a:srgbClr val="000000"/>
                </a:solidFill>
                <a:effectLst/>
                <a:latin typeface="Times New Roman" panose="02020603050405020304" pitchFamily="18" charset="0"/>
                <a:ea typeface="宋体" panose="02010600030101010101" pitchFamily="2" charset="-122"/>
              </a:rPr>
              <a:t>函数定义</a:t>
            </a:r>
            <a:r>
              <a:rPr lang="en-US" altLang="zh-CN" sz="1600" kern="100" dirty="0">
                <a:solidFill>
                  <a:srgbClr val="000000"/>
                </a:solidFill>
                <a:effectLst/>
                <a:latin typeface="Times New Roman" panose="02020603050405020304" pitchFamily="18" charset="0"/>
                <a:ea typeface="宋体" panose="02010600030101010101" pitchFamily="2" charset="-122"/>
              </a:rPr>
              <a:t>&gt;&lt;</a:t>
            </a:r>
            <a:r>
              <a:rPr lang="zh-CN" altLang="zh-CN" sz="1600" kern="100" dirty="0">
                <a:solidFill>
                  <a:srgbClr val="000000"/>
                </a:solidFill>
                <a:effectLst/>
                <a:latin typeface="Times New Roman" panose="02020603050405020304" pitchFamily="18" charset="0"/>
                <a:ea typeface="宋体" panose="02010600030101010101" pitchFamily="2" charset="-122"/>
              </a:rPr>
              <a:t>函数定义列表</a:t>
            </a:r>
            <a:r>
              <a:rPr lang="en-US" altLang="zh-CN" sz="1600" kern="100" dirty="0">
                <a:solidFill>
                  <a:srgbClr val="000000"/>
                </a:solidFill>
                <a:effectLst/>
                <a:latin typeface="Times New Roman" panose="02020603050405020304" pitchFamily="18" charset="0"/>
                <a:ea typeface="宋体" panose="02010600030101010101" pitchFamily="2" charset="-122"/>
              </a:rPr>
              <a:t>&gt;</a:t>
            </a:r>
            <a:endParaRPr lang="zh-CN" altLang="zh-CN" sz="1600" kern="100" dirty="0">
              <a:effectLst/>
              <a:latin typeface="Times New Roman" panose="02020603050405020304" pitchFamily="18" charset="0"/>
              <a:ea typeface="宋体" panose="02010600030101010101" pitchFamily="2" charset="-122"/>
            </a:endParaRPr>
          </a:p>
          <a:p>
            <a:pPr algn="just"/>
            <a:r>
              <a:rPr lang="en-US" altLang="zh-CN" sz="1600" kern="100" dirty="0">
                <a:solidFill>
                  <a:srgbClr val="000000"/>
                </a:solidFill>
                <a:effectLst/>
                <a:latin typeface="Times New Roman" panose="02020603050405020304" pitchFamily="18" charset="0"/>
                <a:ea typeface="宋体" panose="02010600030101010101" pitchFamily="2" charset="-122"/>
              </a:rPr>
              <a:t>&lt;</a:t>
            </a:r>
            <a:r>
              <a:rPr lang="zh-CN" altLang="zh-CN" sz="1600" kern="100" dirty="0">
                <a:solidFill>
                  <a:srgbClr val="000000"/>
                </a:solidFill>
                <a:effectLst/>
                <a:latin typeface="Times New Roman" panose="02020603050405020304" pitchFamily="18" charset="0"/>
                <a:ea typeface="宋体" panose="02010600030101010101" pitchFamily="2" charset="-122"/>
              </a:rPr>
              <a:t>全局声明列表</a:t>
            </a:r>
            <a:r>
              <a:rPr lang="en-US" altLang="zh-CN" sz="1600" kern="100" dirty="0">
                <a:solidFill>
                  <a:srgbClr val="000000"/>
                </a:solidFill>
                <a:effectLst/>
                <a:latin typeface="Times New Roman" panose="02020603050405020304" pitchFamily="18" charset="0"/>
                <a:ea typeface="宋体" panose="02010600030101010101" pitchFamily="2" charset="-122"/>
              </a:rPr>
              <a:t>&gt;→&lt;</a:t>
            </a:r>
            <a:r>
              <a:rPr lang="zh-CN" altLang="zh-CN" sz="1600" kern="100" dirty="0">
                <a:solidFill>
                  <a:srgbClr val="000000"/>
                </a:solidFill>
                <a:effectLst/>
                <a:latin typeface="Times New Roman" panose="02020603050405020304" pitchFamily="18" charset="0"/>
                <a:ea typeface="宋体" panose="02010600030101010101" pitchFamily="2" charset="-122"/>
              </a:rPr>
              <a:t>全局声明</a:t>
            </a:r>
            <a:r>
              <a:rPr lang="en-US" altLang="zh-CN" sz="1600" kern="100" dirty="0">
                <a:solidFill>
                  <a:srgbClr val="000000"/>
                </a:solidFill>
                <a:effectLst/>
                <a:latin typeface="Times New Roman" panose="02020603050405020304" pitchFamily="18" charset="0"/>
                <a:ea typeface="宋体" panose="02010600030101010101" pitchFamily="2" charset="-122"/>
              </a:rPr>
              <a:t>&gt;&lt;</a:t>
            </a:r>
            <a:r>
              <a:rPr lang="zh-CN" altLang="zh-CN" sz="1600" kern="100" dirty="0">
                <a:solidFill>
                  <a:srgbClr val="000000"/>
                </a:solidFill>
                <a:effectLst/>
                <a:latin typeface="Times New Roman" panose="02020603050405020304" pitchFamily="18" charset="0"/>
                <a:ea typeface="宋体" panose="02010600030101010101" pitchFamily="2" charset="-122"/>
              </a:rPr>
              <a:t>全局声明列表</a:t>
            </a:r>
            <a:r>
              <a:rPr lang="en-US" altLang="zh-CN" sz="1600" kern="100" dirty="0">
                <a:solidFill>
                  <a:srgbClr val="000000"/>
                </a:solidFill>
                <a:effectLst/>
                <a:latin typeface="Times New Roman" panose="02020603050405020304" pitchFamily="18" charset="0"/>
                <a:ea typeface="宋体" panose="02010600030101010101" pitchFamily="2" charset="-122"/>
              </a:rPr>
              <a:t>&gt;|</a:t>
            </a:r>
            <a:r>
              <a:rPr lang="en-US" altLang="zh-CN" sz="1600" kern="0" dirty="0">
                <a:solidFill>
                  <a:srgbClr val="000000"/>
                </a:solidFill>
                <a:effectLst/>
                <a:latin typeface="Times New Roman" panose="02020603050405020304" pitchFamily="18" charset="0"/>
                <a:ea typeface="宋体" panose="02010600030101010101" pitchFamily="2" charset="-122"/>
                <a:sym typeface="Symbol" panose="05050102010706020507" pitchFamily="18" charset="2"/>
              </a:rPr>
              <a:t></a:t>
            </a:r>
            <a:endParaRPr lang="zh-CN" altLang="zh-CN" sz="1600" kern="100" dirty="0">
              <a:effectLst/>
              <a:latin typeface="Times New Roman" panose="02020603050405020304" pitchFamily="18" charset="0"/>
              <a:ea typeface="宋体" panose="02010600030101010101" pitchFamily="2" charset="-122"/>
            </a:endParaRPr>
          </a:p>
          <a:p>
            <a:pPr algn="just"/>
            <a:r>
              <a:rPr lang="en-US" altLang="zh-CN" sz="1600" kern="100" dirty="0">
                <a:solidFill>
                  <a:srgbClr val="000000"/>
                </a:solidFill>
                <a:effectLst/>
                <a:latin typeface="Times New Roman" panose="02020603050405020304" pitchFamily="18" charset="0"/>
                <a:ea typeface="宋体" panose="02010600030101010101" pitchFamily="2" charset="-122"/>
              </a:rPr>
              <a:t>&lt;</a:t>
            </a:r>
            <a:r>
              <a:rPr lang="zh-CN" altLang="zh-CN" sz="1600" kern="100" dirty="0">
                <a:solidFill>
                  <a:srgbClr val="000000"/>
                </a:solidFill>
                <a:effectLst/>
                <a:latin typeface="Times New Roman" panose="02020603050405020304" pitchFamily="18" charset="0"/>
                <a:ea typeface="宋体" panose="02010600030101010101" pitchFamily="2" charset="-122"/>
              </a:rPr>
              <a:t>函数定义列表</a:t>
            </a:r>
            <a:r>
              <a:rPr lang="en-US" altLang="zh-CN" sz="1600" kern="100" dirty="0">
                <a:solidFill>
                  <a:srgbClr val="000000"/>
                </a:solidFill>
                <a:effectLst/>
                <a:latin typeface="Times New Roman" panose="02020603050405020304" pitchFamily="18" charset="0"/>
                <a:ea typeface="宋体" panose="02010600030101010101" pitchFamily="2" charset="-122"/>
              </a:rPr>
              <a:t>&gt;→&lt;</a:t>
            </a:r>
            <a:r>
              <a:rPr lang="zh-CN" altLang="zh-CN" sz="1600" kern="100" dirty="0">
                <a:solidFill>
                  <a:srgbClr val="000000"/>
                </a:solidFill>
                <a:effectLst/>
                <a:latin typeface="Times New Roman" panose="02020603050405020304" pitchFamily="18" charset="0"/>
                <a:ea typeface="宋体" panose="02010600030101010101" pitchFamily="2" charset="-122"/>
              </a:rPr>
              <a:t>函数定义</a:t>
            </a:r>
            <a:r>
              <a:rPr lang="en-US" altLang="zh-CN" sz="1600" kern="100" dirty="0">
                <a:solidFill>
                  <a:srgbClr val="000000"/>
                </a:solidFill>
                <a:effectLst/>
                <a:latin typeface="Times New Roman" panose="02020603050405020304" pitchFamily="18" charset="0"/>
                <a:ea typeface="宋体" panose="02010600030101010101" pitchFamily="2" charset="-122"/>
              </a:rPr>
              <a:t>&gt;&lt;</a:t>
            </a:r>
            <a:r>
              <a:rPr lang="zh-CN" altLang="zh-CN" sz="1600" kern="100" dirty="0">
                <a:solidFill>
                  <a:srgbClr val="000000"/>
                </a:solidFill>
                <a:effectLst/>
                <a:latin typeface="Times New Roman" panose="02020603050405020304" pitchFamily="18" charset="0"/>
                <a:ea typeface="宋体" panose="02010600030101010101" pitchFamily="2" charset="-122"/>
              </a:rPr>
              <a:t>函数定义列表</a:t>
            </a:r>
            <a:r>
              <a:rPr lang="en-US" altLang="zh-CN" sz="1600" kern="100" dirty="0">
                <a:solidFill>
                  <a:srgbClr val="000000"/>
                </a:solidFill>
                <a:effectLst/>
                <a:latin typeface="Times New Roman" panose="02020603050405020304" pitchFamily="18" charset="0"/>
                <a:ea typeface="宋体" panose="02010600030101010101" pitchFamily="2" charset="-122"/>
              </a:rPr>
              <a:t>&gt;|</a:t>
            </a:r>
            <a:r>
              <a:rPr lang="en-US" altLang="zh-CN" sz="1600" kern="0" dirty="0">
                <a:solidFill>
                  <a:srgbClr val="000000"/>
                </a:solidFill>
                <a:effectLst/>
                <a:latin typeface="Times New Roman" panose="02020603050405020304" pitchFamily="18" charset="0"/>
                <a:ea typeface="宋体" panose="02010600030101010101" pitchFamily="2" charset="-122"/>
                <a:sym typeface="Symbol" panose="05050102010706020507" pitchFamily="18" charset="2"/>
              </a:rPr>
              <a:t></a:t>
            </a:r>
          </a:p>
          <a:p>
            <a:pPr algn="just"/>
            <a:r>
              <a:rPr lang="en-US" altLang="zh-CN" sz="1600" kern="100" dirty="0">
                <a:solidFill>
                  <a:srgbClr val="000000"/>
                </a:solidFill>
                <a:effectLst/>
                <a:latin typeface="Times New Roman" panose="02020603050405020304" pitchFamily="18" charset="0"/>
                <a:ea typeface="宋体" panose="02010600030101010101" pitchFamily="2" charset="-122"/>
              </a:rPr>
              <a:t>&lt;</a:t>
            </a:r>
            <a:r>
              <a:rPr lang="zh-CN" altLang="zh-CN" sz="1600" kern="100" dirty="0">
                <a:solidFill>
                  <a:srgbClr val="000000"/>
                </a:solidFill>
                <a:effectLst/>
                <a:latin typeface="Times New Roman" panose="02020603050405020304" pitchFamily="18" charset="0"/>
                <a:ea typeface="宋体" panose="02010600030101010101" pitchFamily="2" charset="-122"/>
              </a:rPr>
              <a:t>全局声明</a:t>
            </a:r>
            <a:r>
              <a:rPr lang="en-US" altLang="zh-CN" sz="1600" kern="100" dirty="0">
                <a:solidFill>
                  <a:srgbClr val="000000"/>
                </a:solidFill>
                <a:effectLst/>
                <a:latin typeface="Times New Roman" panose="02020603050405020304" pitchFamily="18" charset="0"/>
                <a:ea typeface="宋体" panose="02010600030101010101" pitchFamily="2" charset="-122"/>
              </a:rPr>
              <a:t>&gt;→&lt;</a:t>
            </a:r>
            <a:r>
              <a:rPr lang="zh-CN" altLang="zh-CN" sz="1600" kern="100" dirty="0">
                <a:solidFill>
                  <a:srgbClr val="000000"/>
                </a:solidFill>
                <a:effectLst/>
                <a:latin typeface="Times New Roman" panose="02020603050405020304" pitchFamily="18" charset="0"/>
                <a:ea typeface="宋体" panose="02010600030101010101" pitchFamily="2" charset="-122"/>
              </a:rPr>
              <a:t>常量声明</a:t>
            </a:r>
            <a:r>
              <a:rPr lang="en-US" altLang="zh-CN" sz="1600" kern="100" dirty="0">
                <a:solidFill>
                  <a:srgbClr val="000000"/>
                </a:solidFill>
                <a:effectLst/>
                <a:latin typeface="Times New Roman" panose="02020603050405020304" pitchFamily="18" charset="0"/>
                <a:ea typeface="宋体" panose="02010600030101010101" pitchFamily="2" charset="-122"/>
              </a:rPr>
              <a:t>&gt;|&lt;</a:t>
            </a:r>
            <a:r>
              <a:rPr lang="zh-CN" altLang="zh-CN" sz="1600" kern="100" dirty="0">
                <a:solidFill>
                  <a:srgbClr val="000000"/>
                </a:solidFill>
                <a:effectLst/>
                <a:latin typeface="Times New Roman" panose="02020603050405020304" pitchFamily="18" charset="0"/>
                <a:ea typeface="宋体" panose="02010600030101010101" pitchFamily="2" charset="-122"/>
              </a:rPr>
              <a:t>变量声明</a:t>
            </a:r>
            <a:r>
              <a:rPr lang="en-US" altLang="zh-CN" sz="1600" kern="100" dirty="0">
                <a:solidFill>
                  <a:srgbClr val="000000"/>
                </a:solidFill>
                <a:effectLst/>
                <a:latin typeface="Times New Roman" panose="02020603050405020304" pitchFamily="18" charset="0"/>
                <a:ea typeface="宋体" panose="02010600030101010101" pitchFamily="2" charset="-122"/>
              </a:rPr>
              <a:t>&gt;|&lt;</a:t>
            </a:r>
            <a:r>
              <a:rPr lang="zh-CN" altLang="zh-CN" sz="1600" kern="100" dirty="0">
                <a:solidFill>
                  <a:srgbClr val="000000"/>
                </a:solidFill>
                <a:effectLst/>
                <a:latin typeface="Times New Roman" panose="02020603050405020304" pitchFamily="18" charset="0"/>
                <a:ea typeface="宋体" panose="02010600030101010101" pitchFamily="2" charset="-122"/>
              </a:rPr>
              <a:t>函数声明</a:t>
            </a:r>
            <a:r>
              <a:rPr lang="en-US" altLang="zh-CN" sz="1600" kern="100" dirty="0">
                <a:solidFill>
                  <a:srgbClr val="000000"/>
                </a:solidFill>
                <a:effectLst/>
                <a:latin typeface="Times New Roman" panose="02020603050405020304" pitchFamily="18" charset="0"/>
                <a:ea typeface="宋体" panose="02010600030101010101" pitchFamily="2" charset="-122"/>
              </a:rPr>
              <a:t>&gt;</a:t>
            </a:r>
            <a:endParaRPr lang="zh-CN" altLang="zh-CN" sz="1600" kern="100" dirty="0">
              <a:effectLst/>
              <a:latin typeface="Times New Roman" panose="02020603050405020304" pitchFamily="18" charset="0"/>
              <a:ea typeface="宋体" panose="02010600030101010101" pitchFamily="2" charset="-122"/>
            </a:endParaRPr>
          </a:p>
          <a:p>
            <a:pPr algn="just"/>
            <a:r>
              <a:rPr lang="en-US" altLang="zh-CN" sz="1600" kern="100" dirty="0">
                <a:solidFill>
                  <a:srgbClr val="000000"/>
                </a:solidFill>
                <a:effectLst/>
                <a:latin typeface="Times New Roman" panose="02020603050405020304" pitchFamily="18" charset="0"/>
                <a:ea typeface="宋体" panose="02010600030101010101" pitchFamily="2" charset="-122"/>
              </a:rPr>
              <a:t>&lt;</a:t>
            </a:r>
            <a:r>
              <a:rPr lang="zh-CN" altLang="zh-CN" sz="1600" kern="100" dirty="0">
                <a:solidFill>
                  <a:srgbClr val="000000"/>
                </a:solidFill>
                <a:effectLst/>
                <a:latin typeface="Times New Roman" panose="02020603050405020304" pitchFamily="18" charset="0"/>
                <a:ea typeface="宋体" panose="02010600030101010101" pitchFamily="2" charset="-122"/>
              </a:rPr>
              <a:t>常量声明</a:t>
            </a:r>
            <a:r>
              <a:rPr lang="en-US" altLang="zh-CN" sz="1600" kern="100" dirty="0">
                <a:solidFill>
                  <a:srgbClr val="000000"/>
                </a:solidFill>
                <a:effectLst/>
                <a:latin typeface="Times New Roman" panose="02020603050405020304" pitchFamily="18" charset="0"/>
                <a:ea typeface="宋体" panose="02010600030101010101" pitchFamily="2" charset="-122"/>
              </a:rPr>
              <a:t>&gt;→const &lt;</a:t>
            </a:r>
            <a:r>
              <a:rPr lang="zh-CN" altLang="zh-CN" sz="1600" kern="100" dirty="0">
                <a:solidFill>
                  <a:srgbClr val="000000"/>
                </a:solidFill>
                <a:effectLst/>
                <a:latin typeface="Times New Roman" panose="02020603050405020304" pitchFamily="18" charset="0"/>
                <a:ea typeface="宋体" panose="02010600030101010101" pitchFamily="2" charset="-122"/>
              </a:rPr>
              <a:t>数据类型</a:t>
            </a:r>
            <a:r>
              <a:rPr lang="en-US" altLang="zh-CN" sz="1600" kern="100" dirty="0">
                <a:solidFill>
                  <a:srgbClr val="000000"/>
                </a:solidFill>
                <a:effectLst/>
                <a:latin typeface="Times New Roman" panose="02020603050405020304" pitchFamily="18" charset="0"/>
                <a:ea typeface="宋体" panose="02010600030101010101" pitchFamily="2" charset="-122"/>
              </a:rPr>
              <a:t>&gt; &lt;</a:t>
            </a:r>
            <a:r>
              <a:rPr lang="zh-CN" altLang="zh-CN" sz="1600" kern="100" dirty="0">
                <a:solidFill>
                  <a:srgbClr val="000000"/>
                </a:solidFill>
                <a:effectLst/>
                <a:latin typeface="Times New Roman" panose="02020603050405020304" pitchFamily="18" charset="0"/>
                <a:ea typeface="宋体" panose="02010600030101010101" pitchFamily="2" charset="-122"/>
              </a:rPr>
              <a:t>常量声明表</a:t>
            </a:r>
            <a:r>
              <a:rPr lang="en-US" altLang="zh-CN" sz="1600" kern="100" dirty="0">
                <a:solidFill>
                  <a:srgbClr val="000000"/>
                </a:solidFill>
                <a:effectLst/>
                <a:latin typeface="Times New Roman" panose="02020603050405020304" pitchFamily="18" charset="0"/>
                <a:ea typeface="宋体" panose="02010600030101010101" pitchFamily="2" charset="-122"/>
              </a:rPr>
              <a:t>&gt;</a:t>
            </a:r>
          </a:p>
          <a:p>
            <a:pPr algn="just"/>
            <a:r>
              <a:rPr lang="en-US" altLang="zh-CN" sz="1600" kern="100" dirty="0">
                <a:solidFill>
                  <a:srgbClr val="000000"/>
                </a:solidFill>
                <a:effectLst/>
                <a:latin typeface="Times New Roman" panose="02020603050405020304" pitchFamily="18" charset="0"/>
                <a:ea typeface="宋体" panose="02010600030101010101" pitchFamily="2" charset="-122"/>
              </a:rPr>
              <a:t>&lt;</a:t>
            </a:r>
            <a:r>
              <a:rPr lang="zh-CN" altLang="zh-CN" sz="1600" kern="100" dirty="0">
                <a:solidFill>
                  <a:srgbClr val="000000"/>
                </a:solidFill>
                <a:effectLst/>
                <a:latin typeface="Times New Roman" panose="02020603050405020304" pitchFamily="18" charset="0"/>
                <a:ea typeface="宋体" panose="02010600030101010101" pitchFamily="2" charset="-122"/>
              </a:rPr>
              <a:t>变量声明</a:t>
            </a:r>
            <a:r>
              <a:rPr lang="en-US" altLang="zh-CN" sz="1600" kern="100" dirty="0">
                <a:solidFill>
                  <a:srgbClr val="000000"/>
                </a:solidFill>
                <a:effectLst/>
                <a:latin typeface="Times New Roman" panose="02020603050405020304" pitchFamily="18" charset="0"/>
                <a:ea typeface="宋体" panose="02010600030101010101" pitchFamily="2" charset="-122"/>
              </a:rPr>
              <a:t>&gt;→&lt;</a:t>
            </a:r>
            <a:r>
              <a:rPr lang="zh-CN" altLang="zh-CN" sz="1600" kern="100" dirty="0">
                <a:solidFill>
                  <a:srgbClr val="000000"/>
                </a:solidFill>
                <a:effectLst/>
                <a:latin typeface="Times New Roman" panose="02020603050405020304" pitchFamily="18" charset="0"/>
                <a:ea typeface="宋体" panose="02010600030101010101" pitchFamily="2" charset="-122"/>
              </a:rPr>
              <a:t>数据类型</a:t>
            </a:r>
            <a:r>
              <a:rPr lang="en-US" altLang="zh-CN" sz="1600" kern="100" dirty="0">
                <a:solidFill>
                  <a:srgbClr val="000000"/>
                </a:solidFill>
                <a:effectLst/>
                <a:latin typeface="Times New Roman" panose="02020603050405020304" pitchFamily="18" charset="0"/>
                <a:ea typeface="宋体" panose="02010600030101010101" pitchFamily="2" charset="-122"/>
              </a:rPr>
              <a:t>&gt; &lt;</a:t>
            </a:r>
            <a:r>
              <a:rPr lang="zh-CN" altLang="zh-CN" sz="1600" kern="100" dirty="0">
                <a:solidFill>
                  <a:srgbClr val="000000"/>
                </a:solidFill>
                <a:effectLst/>
                <a:latin typeface="Times New Roman" panose="02020603050405020304" pitchFamily="18" charset="0"/>
                <a:ea typeface="宋体" panose="02010600030101010101" pitchFamily="2" charset="-122"/>
              </a:rPr>
              <a:t>变量声明表</a:t>
            </a:r>
            <a:r>
              <a:rPr lang="en-US" altLang="zh-CN" sz="1600" kern="100" dirty="0">
                <a:solidFill>
                  <a:srgbClr val="000000"/>
                </a:solidFill>
                <a:effectLst/>
                <a:latin typeface="Times New Roman" panose="02020603050405020304" pitchFamily="18" charset="0"/>
                <a:ea typeface="宋体" panose="02010600030101010101" pitchFamily="2" charset="-122"/>
              </a:rPr>
              <a:t>&gt;</a:t>
            </a:r>
            <a:endParaRPr lang="zh-CN" altLang="zh-CN" sz="1600" kern="100" dirty="0">
              <a:effectLst/>
              <a:latin typeface="Times New Roman" panose="02020603050405020304" pitchFamily="18" charset="0"/>
              <a:ea typeface="宋体" panose="02010600030101010101" pitchFamily="2" charset="-122"/>
            </a:endParaRPr>
          </a:p>
          <a:p>
            <a:pPr algn="just"/>
            <a:r>
              <a:rPr lang="en-US" altLang="zh-CN" sz="1600" kern="100" dirty="0">
                <a:solidFill>
                  <a:srgbClr val="000000"/>
                </a:solidFill>
                <a:effectLst/>
                <a:latin typeface="Times New Roman" panose="02020603050405020304" pitchFamily="18" charset="0"/>
                <a:ea typeface="宋体" panose="02010600030101010101" pitchFamily="2" charset="-122"/>
              </a:rPr>
              <a:t>&lt;</a:t>
            </a:r>
            <a:r>
              <a:rPr lang="zh-CN" altLang="zh-CN" sz="1600" kern="100" dirty="0">
                <a:solidFill>
                  <a:srgbClr val="000000"/>
                </a:solidFill>
                <a:effectLst/>
                <a:latin typeface="Times New Roman" panose="02020603050405020304" pitchFamily="18" charset="0"/>
                <a:ea typeface="宋体" panose="02010600030101010101" pitchFamily="2" charset="-122"/>
              </a:rPr>
              <a:t>函数声明</a:t>
            </a:r>
            <a:r>
              <a:rPr lang="en-US" altLang="zh-CN" sz="1600" kern="100" dirty="0">
                <a:solidFill>
                  <a:srgbClr val="000000"/>
                </a:solidFill>
                <a:effectLst/>
                <a:latin typeface="Times New Roman" panose="02020603050405020304" pitchFamily="18" charset="0"/>
                <a:ea typeface="宋体" panose="02010600030101010101" pitchFamily="2" charset="-122"/>
              </a:rPr>
              <a:t>&gt;→&lt;</a:t>
            </a:r>
            <a:r>
              <a:rPr lang="zh-CN" altLang="zh-CN" sz="1600" kern="100" dirty="0">
                <a:solidFill>
                  <a:srgbClr val="000000"/>
                </a:solidFill>
                <a:effectLst/>
                <a:latin typeface="Times New Roman" panose="02020603050405020304" pitchFamily="18" charset="0"/>
                <a:ea typeface="宋体" panose="02010600030101010101" pitchFamily="2" charset="-122"/>
              </a:rPr>
              <a:t>函数类型</a:t>
            </a:r>
            <a:r>
              <a:rPr lang="en-US" altLang="zh-CN" sz="1600" kern="100" dirty="0">
                <a:solidFill>
                  <a:srgbClr val="000000"/>
                </a:solidFill>
                <a:effectLst/>
                <a:latin typeface="Times New Roman" panose="02020603050405020304" pitchFamily="18" charset="0"/>
                <a:ea typeface="宋体" panose="02010600030101010101" pitchFamily="2" charset="-122"/>
              </a:rPr>
              <a:t>&gt; &lt;</a:t>
            </a:r>
            <a:r>
              <a:rPr lang="zh-CN" altLang="zh-CN" sz="1600" kern="100" dirty="0">
                <a:solidFill>
                  <a:srgbClr val="000000"/>
                </a:solidFill>
                <a:effectLst/>
                <a:latin typeface="Times New Roman" panose="02020603050405020304" pitchFamily="18" charset="0"/>
                <a:ea typeface="宋体" panose="02010600030101010101" pitchFamily="2" charset="-122"/>
              </a:rPr>
              <a:t>函数名</a:t>
            </a:r>
            <a:r>
              <a:rPr lang="en-US" altLang="zh-CN" sz="1600" kern="100" dirty="0">
                <a:solidFill>
                  <a:srgbClr val="000000"/>
                </a:solidFill>
                <a:effectLst/>
                <a:latin typeface="Times New Roman" panose="02020603050405020304" pitchFamily="18" charset="0"/>
                <a:ea typeface="宋体" panose="02010600030101010101" pitchFamily="2" charset="-122"/>
              </a:rPr>
              <a:t>&gt;(&lt;</a:t>
            </a:r>
            <a:r>
              <a:rPr lang="zh-CN" altLang="zh-CN" sz="1600" kern="100" dirty="0">
                <a:solidFill>
                  <a:srgbClr val="000000"/>
                </a:solidFill>
                <a:effectLst/>
                <a:latin typeface="Times New Roman" panose="02020603050405020304" pitchFamily="18" charset="0"/>
                <a:ea typeface="宋体" panose="02010600030101010101" pitchFamily="2" charset="-122"/>
              </a:rPr>
              <a:t>函数声明形参列表</a:t>
            </a:r>
            <a:r>
              <a:rPr lang="en-US" altLang="zh-CN" sz="1600" kern="100" dirty="0">
                <a:solidFill>
                  <a:srgbClr val="000000"/>
                </a:solidFill>
                <a:effectLst/>
                <a:latin typeface="Times New Roman" panose="02020603050405020304" pitchFamily="18" charset="0"/>
                <a:ea typeface="宋体" panose="02010600030101010101" pitchFamily="2" charset="-122"/>
              </a:rPr>
              <a:t>&gt;);</a:t>
            </a:r>
            <a:endParaRPr lang="zh-CN" altLang="zh-CN" sz="1600" kern="100" dirty="0">
              <a:effectLst/>
              <a:latin typeface="Times New Roman" panose="02020603050405020304" pitchFamily="18" charset="0"/>
              <a:ea typeface="宋体" panose="02010600030101010101" pitchFamily="2" charset="-122"/>
            </a:endParaRPr>
          </a:p>
          <a:p>
            <a:pPr algn="just"/>
            <a:r>
              <a:rPr lang="en-US" altLang="zh-CN" sz="1600" kern="100" dirty="0">
                <a:solidFill>
                  <a:srgbClr val="000000"/>
                </a:solidFill>
                <a:effectLst/>
                <a:latin typeface="Times New Roman" panose="02020603050405020304" pitchFamily="18" charset="0"/>
                <a:ea typeface="宋体" panose="02010600030101010101" pitchFamily="2" charset="-122"/>
              </a:rPr>
              <a:t>&lt;MAIN</a:t>
            </a:r>
            <a:r>
              <a:rPr lang="zh-CN" altLang="zh-CN" sz="1600" kern="100" dirty="0">
                <a:solidFill>
                  <a:srgbClr val="000000"/>
                </a:solidFill>
                <a:effectLst/>
                <a:latin typeface="Times New Roman" panose="02020603050405020304" pitchFamily="18" charset="0"/>
                <a:ea typeface="宋体" panose="02010600030101010101" pitchFamily="2" charset="-122"/>
              </a:rPr>
              <a:t>函数定义</a:t>
            </a:r>
            <a:r>
              <a:rPr lang="en-US" altLang="zh-CN" sz="1600" kern="100" dirty="0">
                <a:solidFill>
                  <a:srgbClr val="000000"/>
                </a:solidFill>
                <a:effectLst/>
                <a:latin typeface="Times New Roman" panose="02020603050405020304" pitchFamily="18" charset="0"/>
                <a:ea typeface="宋体" panose="02010600030101010101" pitchFamily="2" charset="-122"/>
              </a:rPr>
              <a:t>&gt;→main()&lt;</a:t>
            </a:r>
            <a:r>
              <a:rPr lang="zh-CN" altLang="zh-CN" sz="1600" kern="100" dirty="0">
                <a:solidFill>
                  <a:srgbClr val="000000"/>
                </a:solidFill>
                <a:effectLst/>
                <a:latin typeface="Times New Roman" panose="02020603050405020304" pitchFamily="18" charset="0"/>
                <a:ea typeface="宋体" panose="02010600030101010101" pitchFamily="2" charset="-122"/>
              </a:rPr>
              <a:t>复合语句</a:t>
            </a:r>
            <a:r>
              <a:rPr lang="en-US" altLang="zh-CN" sz="1600" kern="100" dirty="0">
                <a:solidFill>
                  <a:srgbClr val="000000"/>
                </a:solidFill>
                <a:effectLst/>
                <a:latin typeface="Times New Roman" panose="02020603050405020304" pitchFamily="18" charset="0"/>
                <a:ea typeface="宋体" panose="02010600030101010101" pitchFamily="2" charset="-122"/>
              </a:rPr>
              <a:t>&gt;</a:t>
            </a:r>
            <a:endParaRPr lang="zh-CN" altLang="zh-CN" sz="1600" kern="100" dirty="0">
              <a:effectLst/>
              <a:latin typeface="Times New Roman" panose="02020603050405020304" pitchFamily="18" charset="0"/>
              <a:ea typeface="宋体" panose="02010600030101010101" pitchFamily="2" charset="-122"/>
            </a:endParaRPr>
          </a:p>
          <a:p>
            <a:pPr algn="just"/>
            <a:r>
              <a:rPr lang="en-US" altLang="zh-CN" sz="1600" kern="100" dirty="0">
                <a:solidFill>
                  <a:srgbClr val="000000"/>
                </a:solidFill>
                <a:latin typeface="Times New Roman" panose="02020603050405020304" pitchFamily="18" charset="0"/>
                <a:ea typeface="宋体" panose="02010600030101010101" pitchFamily="2" charset="-122"/>
              </a:rPr>
              <a:t>……</a:t>
            </a:r>
            <a:endParaRPr lang="zh-CN" altLang="zh-CN" sz="1600" kern="100" dirty="0">
              <a:effectLst/>
              <a:latin typeface="Times New Roman" panose="02020603050405020304" pitchFamily="18" charset="0"/>
              <a:ea typeface="宋体" panose="02010600030101010101" pitchFamily="2" charset="-122"/>
            </a:endParaRPr>
          </a:p>
        </p:txBody>
      </p:sp>
      <p:sp>
        <p:nvSpPr>
          <p:cNvPr id="8" name="Rectangle 2">
            <a:extLst>
              <a:ext uri="{FF2B5EF4-FFF2-40B4-BE49-F238E27FC236}">
                <a16:creationId xmlns:a16="http://schemas.microsoft.com/office/drawing/2014/main" id="{4C787B7A-71E8-F988-E073-6A2646A568E4}"/>
              </a:ext>
            </a:extLst>
          </p:cNvPr>
          <p:cNvSpPr txBox="1">
            <a:spLocks noChangeArrowheads="1"/>
          </p:cNvSpPr>
          <p:nvPr/>
        </p:nvSpPr>
        <p:spPr>
          <a:xfrm>
            <a:off x="0" y="282575"/>
            <a:ext cx="3491880" cy="763940"/>
          </a:xfrm>
          <a:prstGeom prst="rect">
            <a:avLst/>
          </a:prstGeom>
        </p:spPr>
        <p:txBody>
          <a:bodyPr>
            <a:normAutofit/>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a:lstStyle>
          <a:p>
            <a:r>
              <a:rPr lang="zh-CN" altLang="en-US" sz="3600"/>
              <a:t>语法分析主程序</a:t>
            </a:r>
            <a:endParaRPr lang="zh-CN" altLang="zh-CN" sz="3600" dirty="0"/>
          </a:p>
        </p:txBody>
      </p:sp>
      <p:sp>
        <p:nvSpPr>
          <p:cNvPr id="2" name="矩形 1">
            <a:extLst>
              <a:ext uri="{FF2B5EF4-FFF2-40B4-BE49-F238E27FC236}">
                <a16:creationId xmlns:a16="http://schemas.microsoft.com/office/drawing/2014/main" id="{B9DCFA12-F951-6E96-D2BB-486E57B7BC55}"/>
              </a:ext>
            </a:extLst>
          </p:cNvPr>
          <p:cNvSpPr/>
          <p:nvPr/>
        </p:nvSpPr>
        <p:spPr>
          <a:xfrm>
            <a:off x="156662" y="1276968"/>
            <a:ext cx="2759154" cy="1150766"/>
          </a:xfrm>
          <a:prstGeom prst="rect">
            <a:avLst/>
          </a:prstGeom>
          <a:noFill/>
          <a:ln>
            <a:solidFill>
              <a:srgbClr val="3333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90763792-6C96-4E89-E334-F62090610C40}"/>
              </a:ext>
            </a:extLst>
          </p:cNvPr>
          <p:cNvSpPr/>
          <p:nvPr/>
        </p:nvSpPr>
        <p:spPr>
          <a:xfrm>
            <a:off x="158994" y="2427734"/>
            <a:ext cx="2759154" cy="1150766"/>
          </a:xfrm>
          <a:prstGeom prst="rect">
            <a:avLst/>
          </a:prstGeom>
          <a:noFill/>
          <a:ln>
            <a:solidFill>
              <a:srgbClr val="3333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D4A46540-FA61-3C2E-21EF-1BFCE6C8E14F}"/>
              </a:ext>
            </a:extLst>
          </p:cNvPr>
          <p:cNvSpPr/>
          <p:nvPr/>
        </p:nvSpPr>
        <p:spPr>
          <a:xfrm>
            <a:off x="156662" y="3667111"/>
            <a:ext cx="2759154" cy="1316455"/>
          </a:xfrm>
          <a:prstGeom prst="rect">
            <a:avLst/>
          </a:prstGeom>
          <a:noFill/>
          <a:ln>
            <a:solidFill>
              <a:srgbClr val="3333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76F07EA2-BA27-E305-788F-8B3A761E4D65}"/>
              </a:ext>
            </a:extLst>
          </p:cNvPr>
          <p:cNvSpPr/>
          <p:nvPr/>
        </p:nvSpPr>
        <p:spPr>
          <a:xfrm>
            <a:off x="4716016" y="2715766"/>
            <a:ext cx="2664296" cy="576064"/>
          </a:xfrm>
          <a:prstGeom prst="ellipse">
            <a:avLst/>
          </a:prstGeom>
          <a:noFill/>
          <a:ln>
            <a:solidFill>
              <a:srgbClr val="CC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22366785-C966-2B02-2523-90A351A37653}"/>
              </a:ext>
            </a:extLst>
          </p:cNvPr>
          <p:cNvSpPr/>
          <p:nvPr/>
        </p:nvSpPr>
        <p:spPr>
          <a:xfrm>
            <a:off x="4582797" y="3184905"/>
            <a:ext cx="2664296" cy="576064"/>
          </a:xfrm>
          <a:prstGeom prst="ellipse">
            <a:avLst/>
          </a:prstGeom>
          <a:noFill/>
          <a:ln>
            <a:solidFill>
              <a:srgbClr val="CC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5EA3E89C-DAB5-C30B-8B0A-622C08DD768C}"/>
              </a:ext>
            </a:extLst>
          </p:cNvPr>
          <p:cNvSpPr/>
          <p:nvPr/>
        </p:nvSpPr>
        <p:spPr>
          <a:xfrm>
            <a:off x="4340490" y="3832977"/>
            <a:ext cx="2664296" cy="576064"/>
          </a:xfrm>
          <a:prstGeom prst="ellipse">
            <a:avLst/>
          </a:prstGeom>
          <a:noFill/>
          <a:ln>
            <a:solidFill>
              <a:srgbClr val="CC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5C004F3D-D11F-0FC4-AE63-944907BA2759}"/>
              </a:ext>
            </a:extLst>
          </p:cNvPr>
          <p:cNvSpPr/>
          <p:nvPr/>
        </p:nvSpPr>
        <p:spPr>
          <a:xfrm>
            <a:off x="7038315" y="3443191"/>
            <a:ext cx="2015633" cy="1316455"/>
          </a:xfrm>
          <a:prstGeom prst="ellipse">
            <a:avLst/>
          </a:prstGeom>
          <a:noFill/>
          <a:ln>
            <a:solidFill>
              <a:srgbClr val="CC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a:extLst>
              <a:ext uri="{FF2B5EF4-FFF2-40B4-BE49-F238E27FC236}">
                <a16:creationId xmlns:a16="http://schemas.microsoft.com/office/drawing/2014/main" id="{7DE80CF3-A751-AA09-D547-4462DAD03B19}"/>
              </a:ext>
            </a:extLst>
          </p:cNvPr>
          <p:cNvSpPr/>
          <p:nvPr/>
        </p:nvSpPr>
        <p:spPr>
          <a:xfrm>
            <a:off x="4644008" y="4481049"/>
            <a:ext cx="2936010" cy="662451"/>
          </a:xfrm>
          <a:prstGeom prst="ellipse">
            <a:avLst/>
          </a:prstGeom>
          <a:noFill/>
          <a:ln>
            <a:solidFill>
              <a:srgbClr val="CC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15641902"/>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9"/>
                                        </p:tgtEl>
                                        <p:attrNameLst>
                                          <p:attrName>style.visibility</p:attrName>
                                        </p:attrNameLst>
                                      </p:cBhvr>
                                      <p:to>
                                        <p:strVal val="hidden"/>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1" nodeType="clickEffect">
                                  <p:stCondLst>
                                    <p:cond delay="0"/>
                                  </p:stCondLst>
                                  <p:childTnLst>
                                    <p:set>
                                      <p:cBhvr>
                                        <p:cTn id="32" dur="1" fill="hold">
                                          <p:stCondLst>
                                            <p:cond delay="0"/>
                                          </p:stCondLst>
                                        </p:cTn>
                                        <p:tgtEl>
                                          <p:spTgt spid="2"/>
                                        </p:tgtEl>
                                        <p:attrNameLst>
                                          <p:attrName>style.visibility</p:attrName>
                                        </p:attrNameLst>
                                      </p:cBhvr>
                                      <p:to>
                                        <p:strVal val="hidden"/>
                                      </p:to>
                                    </p:set>
                                  </p:childTnLst>
                                </p:cTn>
                              </p:par>
                              <p:par>
                                <p:cTn id="33" presetID="1" presetClass="exit" presetSubtype="0" fill="hold" grpId="1" nodeType="withEffect">
                                  <p:stCondLst>
                                    <p:cond delay="0"/>
                                  </p:stCondLst>
                                  <p:childTnLst>
                                    <p:set>
                                      <p:cBhvr>
                                        <p:cTn id="34" dur="1" fill="hold">
                                          <p:stCondLst>
                                            <p:cond delay="0"/>
                                          </p:stCondLst>
                                        </p:cTn>
                                        <p:tgtEl>
                                          <p:spTgt spid="12"/>
                                        </p:tgtEl>
                                        <p:attrNameLst>
                                          <p:attrName>style.visibility</p:attrName>
                                        </p:attrNameLst>
                                      </p:cBhvr>
                                      <p:to>
                                        <p:strVal val="hidden"/>
                                      </p:to>
                                    </p:set>
                                  </p:childTnLst>
                                </p:cTn>
                              </p:par>
                              <p:par>
                                <p:cTn id="35" presetID="1" presetClass="entr" presetSubtype="0" fill="hold" grpId="0" nodeType="withEffect">
                                  <p:stCondLst>
                                    <p:cond delay="0"/>
                                  </p:stCondLst>
                                  <p:childTnLst>
                                    <p:set>
                                      <p:cBhvr>
                                        <p:cTn id="36" dur="1" fill="hold">
                                          <p:stCondLst>
                                            <p:cond delay="0"/>
                                          </p:stCondLst>
                                        </p:cTn>
                                        <p:tgtEl>
                                          <p:spTgt spid="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grpId="1" nodeType="clickEffect">
                                  <p:stCondLst>
                                    <p:cond delay="0"/>
                                  </p:stCondLst>
                                  <p:childTnLst>
                                    <p:set>
                                      <p:cBhvr>
                                        <p:cTn id="44" dur="1" fill="hold">
                                          <p:stCondLst>
                                            <p:cond delay="0"/>
                                          </p:stCondLst>
                                        </p:cTn>
                                        <p:tgtEl>
                                          <p:spTgt spid="13"/>
                                        </p:tgtEl>
                                        <p:attrNameLst>
                                          <p:attrName>style.visibility</p:attrName>
                                        </p:attrNameLst>
                                      </p:cBhvr>
                                      <p:to>
                                        <p:strVal val="hidden"/>
                                      </p:to>
                                    </p:set>
                                  </p:childTnLst>
                                </p:cTn>
                              </p:par>
                              <p:par>
                                <p:cTn id="45" presetID="1" presetClass="exit" presetSubtype="0" fill="hold" grpId="1" nodeType="withEffect">
                                  <p:stCondLst>
                                    <p:cond delay="0"/>
                                  </p:stCondLst>
                                  <p:childTnLst>
                                    <p:set>
                                      <p:cBhvr>
                                        <p:cTn id="46" dur="1" fill="hold">
                                          <p:stCondLst>
                                            <p:cond delay="0"/>
                                          </p:stCondLst>
                                        </p:cTn>
                                        <p:tgtEl>
                                          <p:spTgt spid="4"/>
                                        </p:tgtEl>
                                        <p:attrNameLst>
                                          <p:attrName>style.visibility</p:attrName>
                                        </p:attrNameLst>
                                      </p:cBhvr>
                                      <p:to>
                                        <p:strVal val="hidden"/>
                                      </p:to>
                                    </p:set>
                                  </p:childTnLst>
                                </p:cTn>
                              </p:par>
                              <p:par>
                                <p:cTn id="47" presetID="1" presetClass="entr" presetSubtype="0" fill="hold" grpId="0" nodeType="withEffect">
                                  <p:stCondLst>
                                    <p:cond delay="0"/>
                                  </p:stCondLst>
                                  <p:childTnLst>
                                    <p:set>
                                      <p:cBhvr>
                                        <p:cTn id="48" dur="1" fill="hold">
                                          <p:stCondLst>
                                            <p:cond delay="0"/>
                                          </p:stCondLst>
                                        </p:cTn>
                                        <p:tgtEl>
                                          <p:spTgt spid="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xit" presetSubtype="0" fill="hold" grpId="1" nodeType="clickEffect">
                                  <p:stCondLst>
                                    <p:cond delay="0"/>
                                  </p:stCondLst>
                                  <p:childTnLst>
                                    <p:set>
                                      <p:cBhvr>
                                        <p:cTn id="56" dur="1" fill="hold">
                                          <p:stCondLst>
                                            <p:cond delay="0"/>
                                          </p:stCondLst>
                                        </p:cTn>
                                        <p:tgtEl>
                                          <p:spTgt spid="16"/>
                                        </p:tgtEl>
                                        <p:attrNameLst>
                                          <p:attrName>style.visibility</p:attrName>
                                        </p:attrNameLst>
                                      </p:cBhvr>
                                      <p:to>
                                        <p:strVal val="hidden"/>
                                      </p:to>
                                    </p:set>
                                  </p:childTnLst>
                                </p:cTn>
                              </p:par>
                              <p:par>
                                <p:cTn id="57" presetID="1" presetClass="entr" presetSubtype="0" fill="hold" grpId="0" nodeType="withEffect">
                                  <p:stCondLst>
                                    <p:cond delay="0"/>
                                  </p:stCondLst>
                                  <p:childTnLst>
                                    <p:set>
                                      <p:cBhvr>
                                        <p:cTn id="5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2" grpId="0" animBg="1"/>
      <p:bldP spid="2" grpId="1" animBg="1"/>
      <p:bldP spid="4" grpId="0" animBg="1"/>
      <p:bldP spid="4" grpId="1" animBg="1"/>
      <p:bldP spid="6" grpId="0" animBg="1"/>
      <p:bldP spid="9" grpId="0" animBg="1"/>
      <p:bldP spid="9" grpId="1" animBg="1"/>
      <p:bldP spid="12" grpId="0" animBg="1"/>
      <p:bldP spid="12" grpId="1" animBg="1"/>
      <p:bldP spid="13" grpId="0" animBg="1"/>
      <p:bldP spid="13" grpId="1" animBg="1"/>
      <p:bldP spid="16" grpId="0" animBg="1"/>
      <p:bldP spid="16" grpId="1" animBg="1"/>
      <p:bldP spid="1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a:xfrm>
            <a:off x="251520" y="123478"/>
            <a:ext cx="850900" cy="4514850"/>
          </a:xfrm>
        </p:spPr>
        <p:txBody>
          <a:bodyPr/>
          <a:lstStyle/>
          <a:p>
            <a:pPr eaLnBrk="1" hangingPunct="1"/>
            <a:r>
              <a:rPr lang="zh-CN" altLang="en-US" dirty="0">
                <a:latin typeface="隶书" pitchFamily="49" charset="-122"/>
                <a:ea typeface="隶书" pitchFamily="49" charset="-122"/>
              </a:rPr>
              <a:t>总控程序的框架 </a:t>
            </a:r>
          </a:p>
        </p:txBody>
      </p:sp>
      <p:graphicFrame>
        <p:nvGraphicFramePr>
          <p:cNvPr id="3" name="表格 2">
            <a:extLst>
              <a:ext uri="{FF2B5EF4-FFF2-40B4-BE49-F238E27FC236}">
                <a16:creationId xmlns:a16="http://schemas.microsoft.com/office/drawing/2014/main" id="{6ECE021A-BFC6-5674-43F5-6A61B40AE5FE}"/>
              </a:ext>
            </a:extLst>
          </p:cNvPr>
          <p:cNvGraphicFramePr>
            <a:graphicFrameLocks noGrp="1"/>
          </p:cNvGraphicFramePr>
          <p:nvPr>
            <p:extLst/>
          </p:nvPr>
        </p:nvGraphicFramePr>
        <p:xfrm>
          <a:off x="1080120" y="212455"/>
          <a:ext cx="7920880" cy="4756785"/>
        </p:xfrm>
        <a:graphic>
          <a:graphicData uri="http://schemas.openxmlformats.org/drawingml/2006/table">
            <a:tbl>
              <a:tblPr>
                <a:tableStyleId>{5C22544A-7EE6-4342-B048-85BDC9FD1C3A}</a:tableStyleId>
              </a:tblPr>
              <a:tblGrid>
                <a:gridCol w="7920880">
                  <a:extLst>
                    <a:ext uri="{9D8B030D-6E8A-4147-A177-3AD203B41FA5}">
                      <a16:colId xmlns:a16="http://schemas.microsoft.com/office/drawing/2014/main" val="2381259582"/>
                    </a:ext>
                  </a:extLst>
                </a:gridCol>
              </a:tblGrid>
              <a:tr h="4718590">
                <a:tc>
                  <a:txBody>
                    <a:bodyPr/>
                    <a:lstStyle/>
                    <a:p>
                      <a:pPr algn="just">
                        <a:lnSpc>
                          <a:spcPts val="1700"/>
                        </a:lnSpc>
                      </a:pPr>
                      <a:r>
                        <a:rPr lang="en-US" sz="1600" kern="100" dirty="0">
                          <a:effectLst/>
                        </a:rPr>
                        <a:t>void </a:t>
                      </a:r>
                      <a:r>
                        <a:rPr lang="en-US" sz="1600" kern="100" dirty="0">
                          <a:solidFill>
                            <a:srgbClr val="FF0000"/>
                          </a:solidFill>
                          <a:effectLst/>
                        </a:rPr>
                        <a:t>parser</a:t>
                      </a:r>
                      <a:r>
                        <a:rPr lang="en-US" sz="1600" kern="100" dirty="0">
                          <a:effectLst/>
                        </a:rPr>
                        <a:t>( )  /*</a:t>
                      </a:r>
                      <a:r>
                        <a:rPr lang="zh-CN" sz="1600" kern="100" dirty="0">
                          <a:effectLst/>
                        </a:rPr>
                        <a:t>语法分析器总控程序</a:t>
                      </a:r>
                      <a:r>
                        <a:rPr lang="en-US" sz="1600" kern="100" dirty="0">
                          <a:effectLst/>
                        </a:rPr>
                        <a:t>*/</a:t>
                      </a:r>
                      <a:endParaRPr lang="zh-CN" sz="1600" kern="100" dirty="0">
                        <a:effectLst/>
                      </a:endParaRPr>
                    </a:p>
                    <a:p>
                      <a:pPr algn="just">
                        <a:lnSpc>
                          <a:spcPts val="1700"/>
                        </a:lnSpc>
                      </a:pPr>
                      <a:r>
                        <a:rPr lang="en-US" sz="1600" kern="100" dirty="0">
                          <a:effectLst/>
                        </a:rPr>
                        <a:t>{</a:t>
                      </a:r>
                      <a:endParaRPr lang="zh-CN" sz="1600" kern="100" dirty="0">
                        <a:effectLst/>
                      </a:endParaRPr>
                    </a:p>
                    <a:p>
                      <a:pPr algn="just">
                        <a:lnSpc>
                          <a:spcPts val="1700"/>
                        </a:lnSpc>
                      </a:pPr>
                      <a:r>
                        <a:rPr lang="en-US" sz="1600" kern="100" dirty="0">
                          <a:effectLst/>
                        </a:rPr>
                        <a:t>    token = </a:t>
                      </a:r>
                      <a:r>
                        <a:rPr lang="en-US" sz="1600" kern="100" dirty="0" err="1">
                          <a:effectLst/>
                        </a:rPr>
                        <a:t>GetNextToken</a:t>
                      </a:r>
                      <a:r>
                        <a:rPr lang="en-US" sz="1600" kern="100" dirty="0">
                          <a:effectLst/>
                        </a:rPr>
                        <a:t>();  //</a:t>
                      </a:r>
                      <a:r>
                        <a:rPr lang="zh-CN" sz="1600" kern="100" dirty="0">
                          <a:effectLst/>
                        </a:rPr>
                        <a:t>从输入串中读一个符号到</a:t>
                      </a:r>
                      <a:r>
                        <a:rPr lang="en-US" sz="1600" kern="100" dirty="0">
                          <a:effectLst/>
                        </a:rPr>
                        <a:t>token</a:t>
                      </a:r>
                      <a:r>
                        <a:rPr lang="zh-CN" sz="1600" kern="100" dirty="0">
                          <a:effectLst/>
                        </a:rPr>
                        <a:t>中，指针后移</a:t>
                      </a:r>
                    </a:p>
                    <a:p>
                      <a:pPr algn="just">
                        <a:lnSpc>
                          <a:spcPts val="1700"/>
                        </a:lnSpc>
                      </a:pPr>
                      <a:r>
                        <a:rPr lang="en-US" sz="1600" kern="100" dirty="0">
                          <a:effectLst/>
                        </a:rPr>
                        <a:t>    while(token!= EOF){ </a:t>
                      </a:r>
                      <a:endParaRPr lang="zh-CN" sz="1600" kern="100" dirty="0">
                        <a:effectLst/>
                      </a:endParaRPr>
                    </a:p>
                    <a:p>
                      <a:pPr algn="just">
                        <a:lnSpc>
                          <a:spcPts val="1700"/>
                        </a:lnSpc>
                      </a:pPr>
                      <a:r>
                        <a:rPr lang="en-US" sz="1600" kern="100" dirty="0">
                          <a:effectLst/>
                        </a:rPr>
                        <a:t>        if (token </a:t>
                      </a:r>
                      <a:r>
                        <a:rPr lang="zh-CN" sz="1600" kern="100" dirty="0">
                          <a:effectLst/>
                        </a:rPr>
                        <a:t>是</a:t>
                      </a:r>
                      <a:r>
                        <a:rPr lang="en-US" sz="1600" kern="100" dirty="0">
                          <a:effectLst/>
                        </a:rPr>
                        <a:t> ''const'')  {</a:t>
                      </a:r>
                      <a:endParaRPr lang="zh-CN" sz="1600" kern="100" dirty="0">
                        <a:effectLst/>
                      </a:endParaRPr>
                    </a:p>
                    <a:p>
                      <a:pPr algn="just">
                        <a:lnSpc>
                          <a:spcPts val="1700"/>
                        </a:lnSpc>
                      </a:pPr>
                      <a:r>
                        <a:rPr lang="en-US" sz="1600" kern="100" dirty="0">
                          <a:effectLst/>
                        </a:rPr>
                        <a:t>              </a:t>
                      </a:r>
                      <a:r>
                        <a:rPr lang="en-US" sz="1600" b="1" kern="100" dirty="0" err="1">
                          <a:solidFill>
                            <a:srgbClr val="3333FF"/>
                          </a:solidFill>
                          <a:effectLst/>
                        </a:rPr>
                        <a:t>ConstDeclareAnalyzer</a:t>
                      </a:r>
                      <a:r>
                        <a:rPr lang="en-US" sz="1600" b="1" kern="100" dirty="0">
                          <a:solidFill>
                            <a:srgbClr val="3333FF"/>
                          </a:solidFill>
                          <a:effectLst/>
                        </a:rPr>
                        <a:t>()</a:t>
                      </a:r>
                      <a:r>
                        <a:rPr lang="zh-CN" sz="1600" kern="100" dirty="0">
                          <a:effectLst/>
                        </a:rPr>
                        <a:t>；</a:t>
                      </a:r>
                      <a:r>
                        <a:rPr lang="en-US" sz="1600" kern="100" dirty="0">
                          <a:effectLst/>
                        </a:rPr>
                        <a:t>//</a:t>
                      </a:r>
                      <a:r>
                        <a:rPr lang="zh-CN" sz="1600" kern="100" dirty="0">
                          <a:effectLst/>
                        </a:rPr>
                        <a:t>处理常量声明</a:t>
                      </a:r>
                    </a:p>
                    <a:p>
                      <a:pPr indent="379730" algn="just">
                        <a:lnSpc>
                          <a:spcPts val="1700"/>
                        </a:lnSpc>
                      </a:pPr>
                      <a:r>
                        <a:rPr lang="en-US" sz="1600" kern="100" dirty="0">
                          <a:effectLst/>
                        </a:rPr>
                        <a:t>       token = </a:t>
                      </a:r>
                      <a:r>
                        <a:rPr lang="en-US" sz="1600" kern="100" dirty="0" err="1">
                          <a:effectLst/>
                        </a:rPr>
                        <a:t>GetNextToken</a:t>
                      </a:r>
                      <a:r>
                        <a:rPr lang="en-US" sz="1600" kern="100" dirty="0">
                          <a:effectLst/>
                        </a:rPr>
                        <a:t>(); </a:t>
                      </a:r>
                      <a:endParaRPr lang="zh-CN" sz="1600" kern="100" dirty="0">
                        <a:effectLst/>
                      </a:endParaRPr>
                    </a:p>
                    <a:p>
                      <a:pPr algn="just">
                        <a:lnSpc>
                          <a:spcPts val="1700"/>
                        </a:lnSpc>
                      </a:pPr>
                      <a:r>
                        <a:rPr lang="en-US" sz="1600" kern="100" dirty="0">
                          <a:effectLst/>
                        </a:rPr>
                        <a:t>             }</a:t>
                      </a:r>
                      <a:endParaRPr lang="zh-CN" sz="1600" kern="100" dirty="0">
                        <a:effectLst/>
                      </a:endParaRPr>
                    </a:p>
                    <a:p>
                      <a:pPr indent="228600" algn="just">
                        <a:lnSpc>
                          <a:spcPts val="1700"/>
                        </a:lnSpc>
                      </a:pPr>
                      <a:r>
                        <a:rPr lang="en-US" sz="1600" kern="100" dirty="0">
                          <a:effectLst/>
                        </a:rPr>
                        <a:t>else if (token </a:t>
                      </a:r>
                      <a:r>
                        <a:rPr lang="zh-CN" sz="1600" kern="100" dirty="0">
                          <a:effectLst/>
                        </a:rPr>
                        <a:t>是 </a:t>
                      </a:r>
                      <a:r>
                        <a:rPr lang="en-US" sz="1600" kern="100" dirty="0">
                          <a:effectLst/>
                        </a:rPr>
                        <a:t>''int''</a:t>
                      </a:r>
                      <a:r>
                        <a:rPr lang="zh-CN" sz="1600" kern="100" dirty="0">
                          <a:effectLst/>
                        </a:rPr>
                        <a:t>、</a:t>
                      </a:r>
                      <a:r>
                        <a:rPr lang="en-US" sz="1600" kern="100" dirty="0">
                          <a:effectLst/>
                        </a:rPr>
                        <a:t>''char''</a:t>
                      </a:r>
                      <a:r>
                        <a:rPr lang="zh-CN" sz="1600" kern="100" dirty="0">
                          <a:effectLst/>
                        </a:rPr>
                        <a:t>、</a:t>
                      </a:r>
                      <a:r>
                        <a:rPr lang="en-US" sz="1600" kern="100" dirty="0">
                          <a:effectLst/>
                        </a:rPr>
                        <a:t>''float''</a:t>
                      </a:r>
                      <a:r>
                        <a:rPr lang="zh-CN" sz="1600" kern="100" dirty="0">
                          <a:effectLst/>
                        </a:rPr>
                        <a:t>、</a:t>
                      </a:r>
                      <a:r>
                        <a:rPr lang="en-US" sz="1600" kern="100" dirty="0">
                          <a:effectLst/>
                        </a:rPr>
                        <a:t>''void''</a:t>
                      </a:r>
                      <a:r>
                        <a:rPr lang="zh-CN" sz="1600" kern="100" dirty="0">
                          <a:effectLst/>
                        </a:rPr>
                        <a:t>中的一个</a:t>
                      </a:r>
                      <a:r>
                        <a:rPr lang="en-US" sz="1600" kern="100" dirty="0">
                          <a:effectLst/>
                        </a:rPr>
                        <a:t>)  {</a:t>
                      </a:r>
                      <a:endParaRPr lang="zh-CN" sz="1600" kern="100" dirty="0">
                        <a:effectLst/>
                      </a:endParaRPr>
                    </a:p>
                    <a:p>
                      <a:pPr algn="just">
                        <a:lnSpc>
                          <a:spcPts val="1700"/>
                        </a:lnSpc>
                      </a:pPr>
                      <a:r>
                        <a:rPr lang="en-US" sz="1600" kern="100" dirty="0">
                          <a:effectLst/>
                        </a:rPr>
                        <a:t>              </a:t>
                      </a:r>
                      <a:r>
                        <a:rPr lang="en-US" sz="1600" b="1" kern="100" dirty="0" err="1">
                          <a:solidFill>
                            <a:srgbClr val="3333FF"/>
                          </a:solidFill>
                          <a:effectLst/>
                        </a:rPr>
                        <a:t>VarFuncDeclareAnalyzer</a:t>
                      </a:r>
                      <a:r>
                        <a:rPr lang="en-US" sz="1600" b="1" kern="100" dirty="0">
                          <a:solidFill>
                            <a:srgbClr val="3333FF"/>
                          </a:solidFill>
                          <a:effectLst/>
                        </a:rPr>
                        <a:t>()</a:t>
                      </a:r>
                      <a:r>
                        <a:rPr lang="en-US" sz="1600" kern="100" dirty="0">
                          <a:effectLst/>
                        </a:rPr>
                        <a:t>; //</a:t>
                      </a:r>
                      <a:r>
                        <a:rPr lang="zh-CN" sz="1600" kern="100" dirty="0">
                          <a:effectLst/>
                        </a:rPr>
                        <a:t>处理函数声明和变量声明，具体再细分</a:t>
                      </a:r>
                    </a:p>
                    <a:p>
                      <a:pPr indent="228600" algn="just">
                        <a:lnSpc>
                          <a:spcPts val="1700"/>
                        </a:lnSpc>
                      </a:pPr>
                      <a:r>
                        <a:rPr lang="en-US" sz="1600" kern="100" dirty="0">
                          <a:effectLst/>
                        </a:rPr>
                        <a:t>else if (token </a:t>
                      </a:r>
                      <a:r>
                        <a:rPr lang="zh-CN" sz="1600" kern="100" dirty="0">
                          <a:effectLst/>
                        </a:rPr>
                        <a:t>是</a:t>
                      </a:r>
                      <a:r>
                        <a:rPr lang="en-US" sz="1600" kern="100" dirty="0">
                          <a:effectLst/>
                        </a:rPr>
                        <a:t> ''main''){</a:t>
                      </a:r>
                      <a:endParaRPr lang="zh-CN" sz="1600" kern="100" dirty="0">
                        <a:effectLst/>
                      </a:endParaRPr>
                    </a:p>
                    <a:p>
                      <a:pPr indent="457200" algn="just">
                        <a:lnSpc>
                          <a:spcPts val="1700"/>
                        </a:lnSpc>
                      </a:pPr>
                      <a:r>
                        <a:rPr lang="en-US" sz="1600" b="1" kern="100" dirty="0" err="1">
                          <a:solidFill>
                            <a:srgbClr val="FF0000"/>
                          </a:solidFill>
                          <a:effectLst/>
                        </a:rPr>
                        <a:t>MainFunctionAnalyzer</a:t>
                      </a:r>
                      <a:r>
                        <a:rPr lang="en-US" sz="1600" b="1" kern="100" dirty="0">
                          <a:solidFill>
                            <a:srgbClr val="FF0000"/>
                          </a:solidFill>
                          <a:effectLst/>
                        </a:rPr>
                        <a:t>()</a:t>
                      </a:r>
                      <a:r>
                        <a:rPr lang="en-US" sz="1600" kern="100" dirty="0">
                          <a:effectLst/>
                        </a:rPr>
                        <a:t>; //</a:t>
                      </a:r>
                      <a:r>
                        <a:rPr lang="zh-CN" sz="1600" kern="100" dirty="0">
                          <a:effectLst/>
                        </a:rPr>
                        <a:t>处理</a:t>
                      </a:r>
                      <a:r>
                        <a:rPr lang="en-US" sz="1600" kern="100" dirty="0">
                          <a:effectLst/>
                        </a:rPr>
                        <a:t>main</a:t>
                      </a:r>
                      <a:r>
                        <a:rPr lang="zh-CN" sz="1600" kern="100" dirty="0">
                          <a:effectLst/>
                        </a:rPr>
                        <a:t>函数</a:t>
                      </a:r>
                    </a:p>
                    <a:p>
                      <a:pPr indent="457200" algn="just">
                        <a:lnSpc>
                          <a:spcPts val="1700"/>
                        </a:lnSpc>
                      </a:pPr>
                      <a:r>
                        <a:rPr lang="en-US" sz="1600" kern="100" dirty="0">
                          <a:effectLst/>
                        </a:rPr>
                        <a:t>token = </a:t>
                      </a:r>
                      <a:r>
                        <a:rPr lang="en-US" sz="1600" kern="100" dirty="0" err="1">
                          <a:effectLst/>
                        </a:rPr>
                        <a:t>GetNextToken</a:t>
                      </a:r>
                      <a:r>
                        <a:rPr lang="en-US" sz="1600" kern="100" dirty="0">
                          <a:effectLst/>
                        </a:rPr>
                        <a:t>(); </a:t>
                      </a:r>
                      <a:endParaRPr lang="zh-CN" sz="1600" kern="100" dirty="0">
                        <a:effectLst/>
                      </a:endParaRPr>
                    </a:p>
                    <a:p>
                      <a:pPr indent="342900" algn="just">
                        <a:lnSpc>
                          <a:spcPts val="1700"/>
                        </a:lnSpc>
                      </a:pPr>
                      <a:r>
                        <a:rPr lang="en-US" sz="1600" kern="100" dirty="0">
                          <a:effectLst/>
                        </a:rPr>
                        <a:t>    while (token </a:t>
                      </a:r>
                      <a:r>
                        <a:rPr lang="zh-CN" sz="1600" kern="100" dirty="0">
                          <a:effectLst/>
                        </a:rPr>
                        <a:t>是</a:t>
                      </a:r>
                      <a:r>
                        <a:rPr lang="en-US" sz="1600" kern="100" dirty="0">
                          <a:effectLst/>
                        </a:rPr>
                        <a:t>  ''int''</a:t>
                      </a:r>
                      <a:r>
                        <a:rPr lang="zh-CN" sz="1600" kern="100" dirty="0">
                          <a:effectLst/>
                        </a:rPr>
                        <a:t>、</a:t>
                      </a:r>
                      <a:r>
                        <a:rPr lang="en-US" sz="1600" kern="100" dirty="0">
                          <a:effectLst/>
                        </a:rPr>
                        <a:t>''char''</a:t>
                      </a:r>
                      <a:r>
                        <a:rPr lang="zh-CN" sz="1600" kern="100" dirty="0">
                          <a:effectLst/>
                        </a:rPr>
                        <a:t>、</a:t>
                      </a:r>
                      <a:r>
                        <a:rPr lang="en-US" sz="1600" kern="100" dirty="0">
                          <a:effectLst/>
                        </a:rPr>
                        <a:t>''float'' </a:t>
                      </a:r>
                      <a:r>
                        <a:rPr lang="zh-CN" sz="1600" kern="100" dirty="0">
                          <a:effectLst/>
                        </a:rPr>
                        <a:t>、</a:t>
                      </a:r>
                      <a:r>
                        <a:rPr lang="en-US" sz="1600" kern="100" dirty="0">
                          <a:effectLst/>
                        </a:rPr>
                        <a:t>''void''</a:t>
                      </a:r>
                      <a:r>
                        <a:rPr lang="zh-CN" sz="1600" kern="100" dirty="0">
                          <a:effectLst/>
                        </a:rPr>
                        <a:t>中的一个</a:t>
                      </a:r>
                      <a:r>
                        <a:rPr lang="en-US" sz="1600" kern="100" dirty="0">
                          <a:effectLst/>
                        </a:rPr>
                        <a:t>){  //</a:t>
                      </a:r>
                      <a:r>
                        <a:rPr lang="zh-CN" sz="1600" kern="100" dirty="0">
                          <a:effectLst/>
                        </a:rPr>
                        <a:t>处理函数定义</a:t>
                      </a:r>
                    </a:p>
                    <a:p>
                      <a:pPr indent="342900" algn="just">
                        <a:lnSpc>
                          <a:spcPts val="1700"/>
                        </a:lnSpc>
                      </a:pPr>
                      <a:r>
                        <a:rPr lang="en-US" sz="1600" kern="100" dirty="0">
                          <a:effectLst/>
                        </a:rPr>
                        <a:t>         </a:t>
                      </a:r>
                      <a:r>
                        <a:rPr lang="en-US" sz="1600" b="1" kern="100" dirty="0" err="1">
                          <a:solidFill>
                            <a:srgbClr val="3333FF"/>
                          </a:solidFill>
                          <a:effectLst/>
                        </a:rPr>
                        <a:t>FunctionDefinitionAnalyzer</a:t>
                      </a:r>
                      <a:r>
                        <a:rPr lang="en-US" sz="1600" b="1" kern="100" dirty="0">
                          <a:solidFill>
                            <a:srgbClr val="3333FF"/>
                          </a:solidFill>
                          <a:effectLst/>
                        </a:rPr>
                        <a:t>()</a:t>
                      </a:r>
                      <a:r>
                        <a:rPr lang="en-US" sz="1600" kern="100" dirty="0">
                          <a:effectLst/>
                        </a:rPr>
                        <a:t>;</a:t>
                      </a:r>
                      <a:endParaRPr lang="zh-CN" sz="1600" kern="100" dirty="0">
                        <a:effectLst/>
                      </a:endParaRPr>
                    </a:p>
                    <a:p>
                      <a:pPr indent="342900" algn="just">
                        <a:lnSpc>
                          <a:spcPts val="1700"/>
                        </a:lnSpc>
                      </a:pPr>
                      <a:r>
                        <a:rPr lang="en-US" sz="1600" kern="100" dirty="0">
                          <a:effectLst/>
                        </a:rPr>
                        <a:t>         token = </a:t>
                      </a:r>
                      <a:r>
                        <a:rPr lang="en-US" sz="1600" kern="100" dirty="0" err="1">
                          <a:effectLst/>
                        </a:rPr>
                        <a:t>GetNextToken</a:t>
                      </a:r>
                      <a:r>
                        <a:rPr lang="en-US" sz="1600" kern="100" dirty="0">
                          <a:effectLst/>
                        </a:rPr>
                        <a:t>();</a:t>
                      </a:r>
                      <a:endParaRPr lang="zh-CN" sz="1600" kern="100" dirty="0">
                        <a:effectLst/>
                      </a:endParaRPr>
                    </a:p>
                    <a:p>
                      <a:pPr algn="just">
                        <a:lnSpc>
                          <a:spcPts val="1700"/>
                        </a:lnSpc>
                      </a:pPr>
                      <a:r>
                        <a:rPr lang="en-US" sz="1600" kern="100" dirty="0">
                          <a:effectLst/>
                        </a:rPr>
                        <a:t>                   }</a:t>
                      </a:r>
                      <a:endParaRPr lang="zh-CN" sz="1600" kern="100" dirty="0">
                        <a:effectLst/>
                      </a:endParaRPr>
                    </a:p>
                    <a:p>
                      <a:pPr algn="just">
                        <a:lnSpc>
                          <a:spcPts val="1700"/>
                        </a:lnSpc>
                      </a:pPr>
                      <a:r>
                        <a:rPr lang="en-US" sz="1600" kern="100" dirty="0">
                          <a:effectLst/>
                        </a:rPr>
                        <a:t>             }</a:t>
                      </a:r>
                      <a:endParaRPr lang="zh-CN" sz="1600" kern="100" dirty="0">
                        <a:effectLst/>
                      </a:endParaRPr>
                    </a:p>
                    <a:p>
                      <a:pPr algn="just">
                        <a:lnSpc>
                          <a:spcPts val="1700"/>
                        </a:lnSpc>
                      </a:pPr>
                      <a:r>
                        <a:rPr lang="en-US" sz="1600" kern="100" dirty="0">
                          <a:effectLst/>
                        </a:rPr>
                        <a:t>       else </a:t>
                      </a:r>
                      <a:r>
                        <a:rPr lang="en-US" sz="1600" kern="100" dirty="0" err="1">
                          <a:effectLst/>
                        </a:rPr>
                        <a:t>SyntaxError</a:t>
                      </a:r>
                      <a:r>
                        <a:rPr lang="en-US" sz="1600" kern="100" dirty="0">
                          <a:effectLst/>
                        </a:rPr>
                        <a:t>(); //  </a:t>
                      </a:r>
                      <a:r>
                        <a:rPr lang="zh-CN" sz="1600" kern="100" dirty="0">
                          <a:effectLst/>
                        </a:rPr>
                        <a:t>语法分析错误处理</a:t>
                      </a:r>
                    </a:p>
                    <a:p>
                      <a:pPr algn="just">
                        <a:lnSpc>
                          <a:spcPts val="1700"/>
                        </a:lnSpc>
                      </a:pPr>
                      <a:r>
                        <a:rPr lang="en-US" sz="1600" kern="100" dirty="0">
                          <a:effectLst/>
                        </a:rPr>
                        <a:t>       }</a:t>
                      </a:r>
                      <a:endParaRPr lang="zh-CN" sz="1600" kern="100" dirty="0">
                        <a:effectLst/>
                      </a:endParaRPr>
                    </a:p>
                    <a:p>
                      <a:pPr algn="just">
                        <a:lnSpc>
                          <a:spcPts val="1700"/>
                        </a:lnSpc>
                      </a:pPr>
                      <a:r>
                        <a:rPr lang="en-US" sz="1600" kern="100" dirty="0">
                          <a:effectLst/>
                        </a:rPr>
                        <a:t>       //……</a:t>
                      </a:r>
                      <a:r>
                        <a:rPr lang="zh-CN" sz="1600" kern="100" dirty="0">
                          <a:effectLst/>
                        </a:rPr>
                        <a:t>进行语法分析相应的结束处理工作</a:t>
                      </a:r>
                    </a:p>
                    <a:p>
                      <a:pPr algn="just">
                        <a:lnSpc>
                          <a:spcPts val="1700"/>
                        </a:lnSpc>
                      </a:pPr>
                      <a:r>
                        <a:rPr lang="en-US" sz="1600" kern="100" dirty="0">
                          <a:effectLst/>
                        </a:rPr>
                        <a:t>   } //</a:t>
                      </a:r>
                      <a:r>
                        <a:rPr lang="zh-CN" sz="1600" kern="100" dirty="0">
                          <a:effectLst/>
                        </a:rPr>
                        <a:t>整个程序结束</a:t>
                      </a:r>
                      <a:endParaRPr lang="zh-CN" sz="1600" kern="100" dirty="0">
                        <a:effectLst/>
                        <a:latin typeface="Times New Roman" panose="02020603050405020304" pitchFamily="18" charset="0"/>
                        <a:ea typeface="宋体" panose="02010600030101010101" pitchFamily="2" charset="-122"/>
                      </a:endParaRPr>
                    </a:p>
                  </a:txBody>
                  <a:tcPr marL="64365" marR="64365" marT="0" marB="0">
                    <a:solidFill>
                      <a:schemeClr val="bg1"/>
                    </a:solidFill>
                  </a:tcPr>
                </a:tc>
                <a:extLst>
                  <a:ext uri="{0D108BD9-81ED-4DB2-BD59-A6C34878D82A}">
                    <a16:rowId xmlns:a16="http://schemas.microsoft.com/office/drawing/2014/main" val="2439065242"/>
                  </a:ext>
                </a:extLst>
              </a:tr>
            </a:tbl>
          </a:graphicData>
        </a:graphic>
      </p:graphicFrame>
      <p:graphicFrame>
        <p:nvGraphicFramePr>
          <p:cNvPr id="6" name="对象 5">
            <a:extLst>
              <a:ext uri="{FF2B5EF4-FFF2-40B4-BE49-F238E27FC236}">
                <a16:creationId xmlns:a16="http://schemas.microsoft.com/office/drawing/2014/main" id="{F08A998C-3441-B1F3-0788-71A883C16E39}"/>
              </a:ext>
            </a:extLst>
          </p:cNvPr>
          <p:cNvGraphicFramePr>
            <a:graphicFrameLocks noChangeAspect="1"/>
          </p:cNvGraphicFramePr>
          <p:nvPr>
            <p:extLst/>
          </p:nvPr>
        </p:nvGraphicFramePr>
        <p:xfrm>
          <a:off x="5364088" y="3260722"/>
          <a:ext cx="3636912" cy="1767176"/>
        </p:xfrm>
        <a:graphic>
          <a:graphicData uri="http://schemas.openxmlformats.org/presentationml/2006/ole">
            <mc:AlternateContent xmlns:mc="http://schemas.openxmlformats.org/markup-compatibility/2006">
              <mc:Choice xmlns:v="urn:schemas-microsoft-com:vml" Requires="v">
                <p:oleObj spid="_x0000_s8203" name="Visio" r:id="rId4" imgW="4900612" imgH="1943043" progId="Visio.Drawing.15">
                  <p:embed/>
                </p:oleObj>
              </mc:Choice>
              <mc:Fallback>
                <p:oleObj name="Visio" r:id="rId4" imgW="4900612" imgH="1943043" progId="Visio.Drawing.15">
                  <p:embed/>
                  <p:pic>
                    <p:nvPicPr>
                      <p:cNvPr id="6" name="对象 5">
                        <a:extLst>
                          <a:ext uri="{FF2B5EF4-FFF2-40B4-BE49-F238E27FC236}">
                            <a16:creationId xmlns:a16="http://schemas.microsoft.com/office/drawing/2014/main" id="{F08A998C-3441-B1F3-0788-71A883C16E39}"/>
                          </a:ext>
                        </a:extLst>
                      </p:cNvPr>
                      <p:cNvPicPr>
                        <a:picLocks noChangeAspect="1" noChangeArrowheads="1"/>
                      </p:cNvPicPr>
                      <p:nvPr/>
                    </p:nvPicPr>
                    <p:blipFill>
                      <a:blip r:embed="rId5"/>
                      <a:srcRect/>
                      <a:stretch>
                        <a:fillRect/>
                      </a:stretch>
                    </p:blipFill>
                    <p:spPr bwMode="auto">
                      <a:xfrm>
                        <a:off x="5364088" y="3260722"/>
                        <a:ext cx="3636912" cy="1767176"/>
                      </a:xfrm>
                      <a:prstGeom prst="rect">
                        <a:avLst/>
                      </a:prstGeom>
                      <a:noFill/>
                    </p:spPr>
                  </p:pic>
                </p:oleObj>
              </mc:Fallback>
            </mc:AlternateContent>
          </a:graphicData>
        </a:graphic>
      </p:graphicFrame>
    </p:spTree>
    <p:extLst>
      <p:ext uri="{BB962C8B-B14F-4D97-AF65-F5344CB8AC3E}">
        <p14:creationId xmlns:p14="http://schemas.microsoft.com/office/powerpoint/2010/main" val="8704648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内容占位符 3">
            <a:extLst>
              <a:ext uri="{FF2B5EF4-FFF2-40B4-BE49-F238E27FC236}">
                <a16:creationId xmlns:a16="http://schemas.microsoft.com/office/drawing/2014/main" id="{F1498C0A-E80F-FA76-45FB-7B7AAC1CDF72}"/>
              </a:ext>
            </a:extLst>
          </p:cNvPr>
          <p:cNvGraphicFramePr>
            <a:graphicFrameLocks noGrp="1"/>
          </p:cNvGraphicFramePr>
          <p:nvPr>
            <p:ph idx="1"/>
            <p:extLst/>
          </p:nvPr>
        </p:nvGraphicFramePr>
        <p:xfrm>
          <a:off x="1043608" y="1635646"/>
          <a:ext cx="6795710" cy="2988135"/>
        </p:xfrm>
        <a:graphic>
          <a:graphicData uri="http://schemas.openxmlformats.org/drawingml/2006/table">
            <a:tbl>
              <a:tblPr firstRow="1" firstCol="1" bandRow="1">
                <a:tableStyleId>{5C22544A-7EE6-4342-B048-85BDC9FD1C3A}</a:tableStyleId>
              </a:tblPr>
              <a:tblGrid>
                <a:gridCol w="6795710">
                  <a:extLst>
                    <a:ext uri="{9D8B030D-6E8A-4147-A177-3AD203B41FA5}">
                      <a16:colId xmlns:a16="http://schemas.microsoft.com/office/drawing/2014/main" val="1138304586"/>
                    </a:ext>
                  </a:extLst>
                </a:gridCol>
              </a:tblGrid>
              <a:tr h="2988135">
                <a:tc>
                  <a:txBody>
                    <a:bodyPr/>
                    <a:lstStyle/>
                    <a:p>
                      <a:pPr algn="just">
                        <a:lnSpc>
                          <a:spcPct val="100000"/>
                        </a:lnSpc>
                      </a:pPr>
                      <a:r>
                        <a:rPr lang="en-US" sz="1600" b="0" kern="100" dirty="0">
                          <a:solidFill>
                            <a:schemeClr val="tx1"/>
                          </a:solidFill>
                          <a:effectLst/>
                        </a:rPr>
                        <a:t>void </a:t>
                      </a:r>
                      <a:r>
                        <a:rPr lang="en-US" sz="1600" b="0" kern="100" dirty="0" err="1">
                          <a:solidFill>
                            <a:schemeClr val="tx1"/>
                          </a:solidFill>
                          <a:effectLst/>
                        </a:rPr>
                        <a:t>MainFunctionAnalyzer</a:t>
                      </a:r>
                      <a:r>
                        <a:rPr lang="en-US" sz="1600" b="0" kern="100" dirty="0">
                          <a:solidFill>
                            <a:schemeClr val="tx1"/>
                          </a:solidFill>
                          <a:effectLst/>
                        </a:rPr>
                        <a:t>( )  /*</a:t>
                      </a:r>
                      <a:r>
                        <a:rPr lang="zh-CN" sz="1600" b="0" kern="100" dirty="0">
                          <a:solidFill>
                            <a:schemeClr val="tx1"/>
                          </a:solidFill>
                          <a:effectLst/>
                        </a:rPr>
                        <a:t>语法分析器的</a:t>
                      </a:r>
                      <a:r>
                        <a:rPr lang="en-US" sz="1600" b="0" kern="100" dirty="0">
                          <a:solidFill>
                            <a:schemeClr val="tx1"/>
                          </a:solidFill>
                          <a:effectLst/>
                        </a:rPr>
                        <a:t>main</a:t>
                      </a:r>
                      <a:r>
                        <a:rPr lang="zh-CN" sz="1600" b="0" kern="100" dirty="0">
                          <a:solidFill>
                            <a:schemeClr val="tx1"/>
                          </a:solidFill>
                          <a:effectLst/>
                        </a:rPr>
                        <a:t>函数的结构分析</a:t>
                      </a:r>
                      <a:r>
                        <a:rPr lang="en-US" sz="1600" b="0" kern="100" dirty="0">
                          <a:solidFill>
                            <a:schemeClr val="tx1"/>
                          </a:solidFill>
                          <a:effectLst/>
                        </a:rPr>
                        <a:t>*/</a:t>
                      </a:r>
                      <a:endParaRPr lang="zh-CN" sz="2000" b="0" kern="100" dirty="0">
                        <a:solidFill>
                          <a:schemeClr val="tx1"/>
                        </a:solidFill>
                        <a:effectLst/>
                      </a:endParaRPr>
                    </a:p>
                    <a:p>
                      <a:pPr algn="just">
                        <a:lnSpc>
                          <a:spcPct val="100000"/>
                        </a:lnSpc>
                      </a:pPr>
                      <a:r>
                        <a:rPr lang="en-US" sz="1600" b="0" kern="100" dirty="0">
                          <a:solidFill>
                            <a:schemeClr val="tx1"/>
                          </a:solidFill>
                          <a:effectLst/>
                        </a:rPr>
                        <a:t>{</a:t>
                      </a:r>
                      <a:endParaRPr lang="zh-CN" sz="2000" b="0" kern="100" dirty="0">
                        <a:solidFill>
                          <a:schemeClr val="tx1"/>
                        </a:solidFill>
                        <a:effectLst/>
                      </a:endParaRPr>
                    </a:p>
                    <a:p>
                      <a:pPr indent="228600" algn="just">
                        <a:lnSpc>
                          <a:spcPct val="100000"/>
                        </a:lnSpc>
                      </a:pPr>
                      <a:r>
                        <a:rPr lang="en-US" sz="1600" b="0" kern="100" dirty="0">
                          <a:solidFill>
                            <a:schemeClr val="tx1"/>
                          </a:solidFill>
                          <a:effectLst/>
                        </a:rPr>
                        <a:t>……</a:t>
                      </a:r>
                      <a:endParaRPr lang="zh-CN" sz="2000" b="0" kern="100" dirty="0">
                        <a:solidFill>
                          <a:schemeClr val="tx1"/>
                        </a:solidFill>
                        <a:effectLst/>
                      </a:endParaRPr>
                    </a:p>
                    <a:p>
                      <a:pPr algn="just">
                        <a:lnSpc>
                          <a:spcPct val="100000"/>
                        </a:lnSpc>
                      </a:pPr>
                      <a:r>
                        <a:rPr lang="en-US" sz="1600" b="0" kern="100" dirty="0">
                          <a:solidFill>
                            <a:schemeClr val="tx1"/>
                          </a:solidFill>
                          <a:effectLst/>
                        </a:rPr>
                        <a:t>      if (token == “main” ) {    //</a:t>
                      </a:r>
                      <a:r>
                        <a:rPr lang="zh-CN" sz="1600" b="0" kern="100" dirty="0">
                          <a:solidFill>
                            <a:schemeClr val="tx1"/>
                          </a:solidFill>
                          <a:effectLst/>
                        </a:rPr>
                        <a:t>分析器读入词法输出的</a:t>
                      </a:r>
                      <a:r>
                        <a:rPr lang="en-US" sz="1600" b="0" kern="100" dirty="0">
                          <a:solidFill>
                            <a:schemeClr val="tx1"/>
                          </a:solidFill>
                          <a:effectLst/>
                        </a:rPr>
                        <a:t>token</a:t>
                      </a:r>
                      <a:r>
                        <a:rPr lang="zh-CN" sz="1600" b="0" kern="100" dirty="0">
                          <a:solidFill>
                            <a:schemeClr val="tx1"/>
                          </a:solidFill>
                          <a:effectLst/>
                        </a:rPr>
                        <a:t>符号</a:t>
                      </a:r>
                      <a:r>
                        <a:rPr lang="en-US" sz="1600" b="0" kern="100" dirty="0">
                          <a:solidFill>
                            <a:schemeClr val="tx1"/>
                          </a:solidFill>
                          <a:effectLst/>
                        </a:rPr>
                        <a:t>main</a:t>
                      </a:r>
                      <a:r>
                        <a:rPr lang="zh-CN" sz="1600" b="0" kern="100" dirty="0">
                          <a:solidFill>
                            <a:schemeClr val="tx1"/>
                          </a:solidFill>
                          <a:effectLst/>
                        </a:rPr>
                        <a:t>，主程序开始</a:t>
                      </a:r>
                      <a:endParaRPr lang="zh-CN" sz="2000" b="0" kern="100" dirty="0">
                        <a:solidFill>
                          <a:schemeClr val="tx1"/>
                        </a:solidFill>
                        <a:effectLst/>
                      </a:endParaRPr>
                    </a:p>
                    <a:p>
                      <a:pPr indent="470535" algn="just">
                        <a:lnSpc>
                          <a:spcPct val="100000"/>
                        </a:lnSpc>
                      </a:pPr>
                      <a:r>
                        <a:rPr lang="en-US" sz="1600" b="0" kern="100" dirty="0">
                          <a:solidFill>
                            <a:schemeClr val="tx1"/>
                          </a:solidFill>
                          <a:effectLst/>
                        </a:rPr>
                        <a:t>token = </a:t>
                      </a:r>
                      <a:r>
                        <a:rPr lang="en-US" sz="1600" b="0" kern="100" dirty="0" err="1">
                          <a:solidFill>
                            <a:schemeClr val="tx1"/>
                          </a:solidFill>
                          <a:effectLst/>
                        </a:rPr>
                        <a:t>GetNextToken</a:t>
                      </a:r>
                      <a:r>
                        <a:rPr lang="en-US" sz="1600" b="0" kern="100" dirty="0">
                          <a:solidFill>
                            <a:schemeClr val="tx1"/>
                          </a:solidFill>
                          <a:effectLst/>
                        </a:rPr>
                        <a:t>();</a:t>
                      </a:r>
                      <a:endParaRPr lang="zh-CN" sz="2000" b="0" kern="100" dirty="0">
                        <a:solidFill>
                          <a:schemeClr val="tx1"/>
                        </a:solidFill>
                        <a:effectLst/>
                      </a:endParaRPr>
                    </a:p>
                    <a:p>
                      <a:pPr indent="469900" algn="just">
                        <a:lnSpc>
                          <a:spcPct val="100000"/>
                        </a:lnSpc>
                      </a:pPr>
                      <a:r>
                        <a:rPr lang="en-US" sz="1600" b="0" kern="100" dirty="0">
                          <a:solidFill>
                            <a:schemeClr val="tx1"/>
                          </a:solidFill>
                          <a:effectLst/>
                        </a:rPr>
                        <a:t>if (token </a:t>
                      </a:r>
                      <a:r>
                        <a:rPr lang="zh-CN" sz="1600" b="0" kern="100" dirty="0">
                          <a:solidFill>
                            <a:schemeClr val="tx1"/>
                          </a:solidFill>
                          <a:effectLst/>
                        </a:rPr>
                        <a:t>不是</a:t>
                      </a:r>
                      <a:r>
                        <a:rPr lang="en-US" sz="1600" b="0" kern="100" dirty="0">
                          <a:solidFill>
                            <a:schemeClr val="tx1"/>
                          </a:solidFill>
                          <a:effectLst/>
                        </a:rPr>
                        <a:t>  ''('' ) </a:t>
                      </a:r>
                      <a:r>
                        <a:rPr lang="en-US" sz="1600" b="0" kern="100" dirty="0" err="1">
                          <a:solidFill>
                            <a:schemeClr val="tx1"/>
                          </a:solidFill>
                          <a:effectLst/>
                        </a:rPr>
                        <a:t>SyntaxError</a:t>
                      </a:r>
                      <a:r>
                        <a:rPr lang="en-US" sz="1600" b="0" kern="100" dirty="0">
                          <a:solidFill>
                            <a:schemeClr val="tx1"/>
                          </a:solidFill>
                          <a:effectLst/>
                        </a:rPr>
                        <a:t>();  //</a:t>
                      </a:r>
                      <a:r>
                        <a:rPr lang="zh-CN" sz="1600" b="0" kern="100" dirty="0">
                          <a:solidFill>
                            <a:schemeClr val="tx1"/>
                          </a:solidFill>
                          <a:effectLst/>
                        </a:rPr>
                        <a:t>调用错误处理</a:t>
                      </a:r>
                      <a:endParaRPr lang="zh-CN" sz="2000" b="0" kern="100" dirty="0">
                        <a:solidFill>
                          <a:schemeClr val="tx1"/>
                        </a:solidFill>
                        <a:effectLst/>
                      </a:endParaRPr>
                    </a:p>
                    <a:p>
                      <a:pPr indent="469900" algn="just">
                        <a:lnSpc>
                          <a:spcPct val="100000"/>
                        </a:lnSpc>
                      </a:pPr>
                      <a:r>
                        <a:rPr lang="en-US" sz="1600" b="0" kern="100" dirty="0">
                          <a:solidFill>
                            <a:schemeClr val="tx1"/>
                          </a:solidFill>
                          <a:effectLst/>
                        </a:rPr>
                        <a:t>token = </a:t>
                      </a:r>
                      <a:r>
                        <a:rPr lang="en-US" sz="1600" b="0" kern="100" dirty="0" err="1">
                          <a:solidFill>
                            <a:schemeClr val="tx1"/>
                          </a:solidFill>
                          <a:effectLst/>
                        </a:rPr>
                        <a:t>GetNextToken</a:t>
                      </a:r>
                      <a:r>
                        <a:rPr lang="en-US" sz="1600" b="0" kern="100" dirty="0">
                          <a:solidFill>
                            <a:schemeClr val="tx1"/>
                          </a:solidFill>
                          <a:effectLst/>
                        </a:rPr>
                        <a:t>();</a:t>
                      </a:r>
                      <a:endParaRPr lang="zh-CN" sz="2000" b="0" kern="100" dirty="0">
                        <a:solidFill>
                          <a:schemeClr val="tx1"/>
                        </a:solidFill>
                        <a:effectLst/>
                      </a:endParaRPr>
                    </a:p>
                    <a:p>
                      <a:pPr indent="469900" algn="just">
                        <a:lnSpc>
                          <a:spcPct val="100000"/>
                        </a:lnSpc>
                      </a:pPr>
                      <a:r>
                        <a:rPr lang="en-US" sz="1600" b="0" kern="100" dirty="0">
                          <a:solidFill>
                            <a:schemeClr val="tx1"/>
                          </a:solidFill>
                          <a:effectLst/>
                        </a:rPr>
                        <a:t>if (token </a:t>
                      </a:r>
                      <a:r>
                        <a:rPr lang="zh-CN" sz="1600" b="0" kern="100" dirty="0">
                          <a:solidFill>
                            <a:schemeClr val="tx1"/>
                          </a:solidFill>
                          <a:effectLst/>
                        </a:rPr>
                        <a:t>不是</a:t>
                      </a:r>
                      <a:r>
                        <a:rPr lang="en-US" sz="1600" b="0" kern="100" dirty="0">
                          <a:solidFill>
                            <a:schemeClr val="tx1"/>
                          </a:solidFill>
                          <a:effectLst/>
                        </a:rPr>
                        <a:t>  '')'' ) </a:t>
                      </a:r>
                      <a:r>
                        <a:rPr lang="en-US" sz="1600" b="0" kern="100" dirty="0" err="1">
                          <a:solidFill>
                            <a:schemeClr val="tx1"/>
                          </a:solidFill>
                          <a:effectLst/>
                        </a:rPr>
                        <a:t>SyntaxError</a:t>
                      </a:r>
                      <a:r>
                        <a:rPr lang="en-US" sz="1600" b="0" kern="100" dirty="0">
                          <a:solidFill>
                            <a:schemeClr val="tx1"/>
                          </a:solidFill>
                          <a:effectLst/>
                        </a:rPr>
                        <a:t>();  //</a:t>
                      </a:r>
                      <a:r>
                        <a:rPr lang="zh-CN" sz="1600" b="0" kern="100" dirty="0">
                          <a:solidFill>
                            <a:schemeClr val="tx1"/>
                          </a:solidFill>
                          <a:effectLst/>
                        </a:rPr>
                        <a:t>调用错误处理</a:t>
                      </a:r>
                      <a:endParaRPr lang="en-US" altLang="zh-CN" sz="1600" b="0" kern="100" dirty="0">
                        <a:solidFill>
                          <a:schemeClr val="tx1"/>
                        </a:solidFill>
                        <a:effectLst/>
                      </a:endParaRPr>
                    </a:p>
                    <a:p>
                      <a:pPr indent="469900" algn="just">
                        <a:lnSpc>
                          <a:spcPct val="100000"/>
                        </a:lnSpc>
                      </a:pPr>
                      <a:r>
                        <a:rPr lang="en-US" sz="1600" b="0" kern="100" dirty="0" err="1">
                          <a:solidFill>
                            <a:srgbClr val="FF0000"/>
                          </a:solidFill>
                          <a:effectLst/>
                        </a:rPr>
                        <a:t>CSTAnalyzer</a:t>
                      </a:r>
                      <a:r>
                        <a:rPr lang="en-US" sz="1600" b="0" kern="100" dirty="0">
                          <a:solidFill>
                            <a:srgbClr val="FF0000"/>
                          </a:solidFill>
                          <a:effectLst/>
                        </a:rPr>
                        <a:t>()</a:t>
                      </a:r>
                      <a:r>
                        <a:rPr lang="en-US" sz="1600" b="0" kern="100" dirty="0">
                          <a:solidFill>
                            <a:schemeClr val="tx1"/>
                          </a:solidFill>
                          <a:effectLst/>
                        </a:rPr>
                        <a:t>;//</a:t>
                      </a:r>
                      <a:r>
                        <a:rPr lang="zh-CN" sz="1600" b="0" kern="100" dirty="0">
                          <a:solidFill>
                            <a:schemeClr val="tx1"/>
                          </a:solidFill>
                          <a:effectLst/>
                        </a:rPr>
                        <a:t>处理复合语句</a:t>
                      </a:r>
                      <a:endParaRPr lang="zh-CN" sz="2000" b="0" kern="100" dirty="0">
                        <a:solidFill>
                          <a:schemeClr val="tx1"/>
                        </a:solidFill>
                        <a:effectLst/>
                      </a:endParaRPr>
                    </a:p>
                    <a:p>
                      <a:pPr indent="469900" algn="just">
                        <a:lnSpc>
                          <a:spcPct val="100000"/>
                        </a:lnSpc>
                      </a:pPr>
                      <a:r>
                        <a:rPr lang="en-US" sz="1600" b="0" kern="100" dirty="0">
                          <a:solidFill>
                            <a:schemeClr val="tx1"/>
                          </a:solidFill>
                          <a:effectLst/>
                        </a:rPr>
                        <a:t>} </a:t>
                      </a:r>
                      <a:endParaRPr lang="zh-CN" sz="2000" b="0" kern="100" dirty="0">
                        <a:solidFill>
                          <a:schemeClr val="tx1"/>
                        </a:solidFill>
                        <a:effectLst/>
                      </a:endParaRPr>
                    </a:p>
                    <a:p>
                      <a:pPr algn="just">
                        <a:lnSpc>
                          <a:spcPct val="100000"/>
                        </a:lnSpc>
                      </a:pPr>
                      <a:r>
                        <a:rPr lang="en-US" sz="1600" b="0" kern="100" dirty="0">
                          <a:solidFill>
                            <a:schemeClr val="tx1"/>
                          </a:solidFill>
                          <a:effectLst/>
                        </a:rPr>
                        <a:t>   }</a:t>
                      </a:r>
                      <a:endParaRPr lang="zh-CN" sz="2000" b="0" kern="100" dirty="0">
                        <a:solidFill>
                          <a:schemeClr val="tx1"/>
                        </a:solidFill>
                        <a:effectLst/>
                        <a:latin typeface="Times New Roman" panose="02020603050405020304" pitchFamily="18" charset="0"/>
                        <a:ea typeface="宋体" panose="02010600030101010101" pitchFamily="2" charset="-122"/>
                      </a:endParaRPr>
                    </a:p>
                  </a:txBody>
                  <a:tcPr marL="68580" marR="68580" marT="0" marB="0">
                    <a:solidFill>
                      <a:schemeClr val="bg1"/>
                    </a:solidFill>
                  </a:tcPr>
                </a:tc>
                <a:extLst>
                  <a:ext uri="{0D108BD9-81ED-4DB2-BD59-A6C34878D82A}">
                    <a16:rowId xmlns:a16="http://schemas.microsoft.com/office/drawing/2014/main" val="2656315028"/>
                  </a:ext>
                </a:extLst>
              </a:tr>
            </a:tbl>
          </a:graphicData>
        </a:graphic>
      </p:graphicFrame>
      <p:sp>
        <p:nvSpPr>
          <p:cNvPr id="3" name="标题 2">
            <a:extLst>
              <a:ext uri="{FF2B5EF4-FFF2-40B4-BE49-F238E27FC236}">
                <a16:creationId xmlns:a16="http://schemas.microsoft.com/office/drawing/2014/main" id="{BF78DF2B-87E5-9B95-07A8-FBB5A5202C81}"/>
              </a:ext>
            </a:extLst>
          </p:cNvPr>
          <p:cNvSpPr>
            <a:spLocks noGrp="1"/>
          </p:cNvSpPr>
          <p:nvPr>
            <p:ph type="title"/>
          </p:nvPr>
        </p:nvSpPr>
        <p:spPr/>
        <p:txBody>
          <a:bodyPr>
            <a:normAutofit fontScale="90000"/>
          </a:bodyPr>
          <a:lstStyle/>
          <a:p>
            <a:r>
              <a:rPr lang="en-US" altLang="zh-CN" dirty="0"/>
              <a:t>MAIN</a:t>
            </a:r>
            <a:r>
              <a:rPr lang="zh-CN" altLang="en-US" dirty="0"/>
              <a:t>函数处理</a:t>
            </a:r>
          </a:p>
        </p:txBody>
      </p:sp>
      <p:sp>
        <p:nvSpPr>
          <p:cNvPr id="6" name="文本框 5">
            <a:extLst>
              <a:ext uri="{FF2B5EF4-FFF2-40B4-BE49-F238E27FC236}">
                <a16:creationId xmlns:a16="http://schemas.microsoft.com/office/drawing/2014/main" id="{F5545D2E-D533-5FEC-0E66-D46508A83269}"/>
              </a:ext>
            </a:extLst>
          </p:cNvPr>
          <p:cNvSpPr txBox="1"/>
          <p:nvPr/>
        </p:nvSpPr>
        <p:spPr>
          <a:xfrm>
            <a:off x="4355976" y="980105"/>
            <a:ext cx="4577574" cy="369332"/>
          </a:xfrm>
          <a:prstGeom prst="rect">
            <a:avLst/>
          </a:prstGeom>
          <a:solidFill>
            <a:srgbClr val="FDECE3"/>
          </a:solidFill>
        </p:spPr>
        <p:txBody>
          <a:bodyPr wrap="square">
            <a:spAutoFit/>
          </a:bodyPr>
          <a:lstStyle/>
          <a:p>
            <a:pPr indent="266700" algn="just"/>
            <a:r>
              <a:rPr lang="en-US" altLang="zh-CN" sz="1800" kern="100" dirty="0">
                <a:solidFill>
                  <a:srgbClr val="000000"/>
                </a:solidFill>
                <a:effectLst/>
                <a:latin typeface="Times New Roman" panose="02020603050405020304" pitchFamily="18" charset="0"/>
                <a:ea typeface="宋体" panose="02010600030101010101" pitchFamily="2" charset="-122"/>
              </a:rPr>
              <a:t>&lt;MAIN</a:t>
            </a:r>
            <a:r>
              <a:rPr lang="zh-CN" altLang="zh-CN" sz="1800" kern="100" dirty="0">
                <a:solidFill>
                  <a:srgbClr val="000000"/>
                </a:solidFill>
                <a:effectLst/>
                <a:latin typeface="Times New Roman" panose="02020603050405020304" pitchFamily="18" charset="0"/>
                <a:ea typeface="宋体" panose="02010600030101010101" pitchFamily="2" charset="-122"/>
              </a:rPr>
              <a:t>函数定义</a:t>
            </a:r>
            <a:r>
              <a:rPr lang="en-US" altLang="zh-CN" sz="1800" kern="100" dirty="0">
                <a:solidFill>
                  <a:srgbClr val="000000"/>
                </a:solidFill>
                <a:effectLst/>
                <a:latin typeface="Times New Roman" panose="02020603050405020304" pitchFamily="18" charset="0"/>
                <a:ea typeface="宋体" panose="02010600030101010101" pitchFamily="2" charset="-122"/>
              </a:rPr>
              <a:t>&gt;→main()&lt;</a:t>
            </a:r>
            <a:r>
              <a:rPr lang="zh-CN" altLang="zh-CN" sz="1800" kern="100" dirty="0">
                <a:solidFill>
                  <a:srgbClr val="000000"/>
                </a:solidFill>
                <a:effectLst/>
                <a:latin typeface="Times New Roman" panose="02020603050405020304" pitchFamily="18" charset="0"/>
                <a:ea typeface="宋体" panose="02010600030101010101" pitchFamily="2" charset="-122"/>
              </a:rPr>
              <a:t>复合语句</a:t>
            </a:r>
            <a:r>
              <a:rPr lang="en-US" altLang="zh-CN" sz="1800" kern="100" dirty="0">
                <a:solidFill>
                  <a:srgbClr val="000000"/>
                </a:solidFill>
                <a:effectLst/>
                <a:latin typeface="Times New Roman" panose="02020603050405020304" pitchFamily="18" charset="0"/>
                <a:ea typeface="宋体" panose="02010600030101010101" pitchFamily="2" charset="-122"/>
              </a:rPr>
              <a:t>&gt;</a:t>
            </a:r>
            <a:endParaRPr lang="zh-CN" altLang="zh-CN" sz="1800" kern="1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24001613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标题 1"/>
          <p:cNvSpPr>
            <a:spLocks noGrp="1"/>
          </p:cNvSpPr>
          <p:nvPr>
            <p:ph type="title"/>
          </p:nvPr>
        </p:nvSpPr>
        <p:spPr>
          <a:xfrm>
            <a:off x="76200" y="-20637"/>
            <a:ext cx="5387975" cy="576164"/>
          </a:xfrm>
        </p:spPr>
        <p:txBody>
          <a:bodyPr>
            <a:noAutofit/>
          </a:bodyPr>
          <a:lstStyle/>
          <a:p>
            <a:r>
              <a:rPr lang="zh-CN" altLang="en-US" sz="3200" dirty="0"/>
              <a:t>复合语句处理：分类</a:t>
            </a:r>
          </a:p>
        </p:txBody>
      </p:sp>
      <p:sp>
        <p:nvSpPr>
          <p:cNvPr id="95235" name="Rectangle 2"/>
          <p:cNvSpPr>
            <a:spLocks noChangeArrowheads="1"/>
          </p:cNvSpPr>
          <p:nvPr/>
        </p:nvSpPr>
        <p:spPr bwMode="auto">
          <a:xfrm>
            <a:off x="0" y="-230188"/>
            <a:ext cx="184150" cy="4603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FontTx/>
              <a:buNone/>
            </a:pPr>
            <a:endParaRPr lang="zh-CN" altLang="en-US" sz="2400">
              <a:ea typeface="华文行楷" pitchFamily="2" charset="-122"/>
            </a:endParaRPr>
          </a:p>
        </p:txBody>
      </p:sp>
      <p:sp>
        <p:nvSpPr>
          <p:cNvPr id="6" name="矩形 5"/>
          <p:cNvSpPr/>
          <p:nvPr/>
        </p:nvSpPr>
        <p:spPr>
          <a:xfrm>
            <a:off x="5780088" y="20638"/>
            <a:ext cx="3363912" cy="1477328"/>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a:defRPr/>
            </a:pPr>
            <a:r>
              <a:rPr lang="en-US" altLang="zh-CN" dirty="0"/>
              <a:t>main(){</a:t>
            </a:r>
          </a:p>
          <a:p>
            <a:pPr>
              <a:defRPr/>
            </a:pPr>
            <a:r>
              <a:rPr lang="en-US" altLang="zh-CN" dirty="0"/>
              <a:t>    </a:t>
            </a:r>
            <a:r>
              <a:rPr lang="en-US" altLang="zh-CN" dirty="0" err="1"/>
              <a:t>int</a:t>
            </a:r>
            <a:r>
              <a:rPr lang="en-US" altLang="zh-CN" dirty="0"/>
              <a:t> N = read() ;</a:t>
            </a:r>
          </a:p>
          <a:p>
            <a:pPr>
              <a:defRPr/>
            </a:pPr>
            <a:r>
              <a:rPr lang="en-US" altLang="zh-CN" dirty="0"/>
              <a:t>    a = sum(sum(3,4),N) ;</a:t>
            </a:r>
          </a:p>
          <a:p>
            <a:pPr>
              <a:defRPr/>
            </a:pPr>
            <a:r>
              <a:rPr lang="en-US" altLang="zh-CN" dirty="0"/>
              <a:t>    write(a);</a:t>
            </a:r>
          </a:p>
          <a:p>
            <a:pPr>
              <a:defRPr/>
            </a:pPr>
            <a:r>
              <a:rPr lang="en-US" altLang="zh-CN" dirty="0"/>
              <a:t>}</a:t>
            </a:r>
          </a:p>
        </p:txBody>
      </p:sp>
      <p:sp>
        <p:nvSpPr>
          <p:cNvPr id="2" name="矩形 1"/>
          <p:cNvSpPr/>
          <p:nvPr/>
        </p:nvSpPr>
        <p:spPr>
          <a:xfrm>
            <a:off x="161596" y="537517"/>
            <a:ext cx="5409639" cy="4539704"/>
          </a:xfrm>
          <a:prstGeom prst="rect">
            <a:avLst/>
          </a:prstGeom>
          <a:solidFill>
            <a:srgbClr val="FDECE3"/>
          </a:solidFill>
          <a:ln>
            <a:noFill/>
          </a:ln>
        </p:spPr>
        <p:style>
          <a:lnRef idx="2">
            <a:schemeClr val="accent2"/>
          </a:lnRef>
          <a:fillRef idx="1">
            <a:schemeClr val="lt1"/>
          </a:fillRef>
          <a:effectRef idx="0">
            <a:schemeClr val="accent2"/>
          </a:effectRef>
          <a:fontRef idx="minor">
            <a:schemeClr val="dk1"/>
          </a:fontRef>
        </p:style>
        <p:txBody>
          <a:bodyPr wrap="square">
            <a:spAutoFit/>
          </a:bodyPr>
          <a:lstStyle/>
          <a:p>
            <a:pPr algn="just">
              <a:lnSpc>
                <a:spcPct val="95000"/>
              </a:lnSpc>
            </a:pPr>
            <a:r>
              <a:rPr lang="en-US" altLang="zh-CN" sz="1600" kern="100" dirty="0">
                <a:solidFill>
                  <a:srgbClr val="000000"/>
                </a:solidFill>
                <a:effectLst/>
                <a:latin typeface="Times New Roman" panose="02020603050405020304" pitchFamily="18" charset="0"/>
                <a:ea typeface="宋体" panose="02010600030101010101" pitchFamily="2" charset="-122"/>
              </a:rPr>
              <a:t>&lt;</a:t>
            </a:r>
            <a:r>
              <a:rPr lang="zh-CN" altLang="zh-CN" sz="1600" kern="100" dirty="0">
                <a:solidFill>
                  <a:srgbClr val="000000"/>
                </a:solidFill>
                <a:effectLst/>
                <a:latin typeface="Times New Roman" panose="02020603050405020304" pitchFamily="18" charset="0"/>
                <a:ea typeface="宋体" panose="02010600030101010101" pitchFamily="2" charset="-122"/>
              </a:rPr>
              <a:t>复合语句</a:t>
            </a:r>
            <a:r>
              <a:rPr lang="en-US" altLang="zh-CN" sz="1600" kern="100" dirty="0">
                <a:solidFill>
                  <a:srgbClr val="000000"/>
                </a:solidFill>
                <a:effectLst/>
                <a:latin typeface="Times New Roman" panose="02020603050405020304" pitchFamily="18" charset="0"/>
                <a:ea typeface="宋体" panose="02010600030101010101" pitchFamily="2" charset="-122"/>
              </a:rPr>
              <a:t>&gt;→{&lt;</a:t>
            </a:r>
            <a:r>
              <a:rPr lang="zh-CN" altLang="zh-CN" sz="1600" kern="100" dirty="0">
                <a:solidFill>
                  <a:srgbClr val="000000"/>
                </a:solidFill>
                <a:effectLst/>
                <a:latin typeface="Times New Roman" panose="02020603050405020304" pitchFamily="18" charset="0"/>
                <a:ea typeface="宋体" panose="02010600030101010101" pitchFamily="2" charset="-122"/>
              </a:rPr>
              <a:t>局部声明</a:t>
            </a:r>
            <a:r>
              <a:rPr lang="en-US" altLang="zh-CN" sz="1600" kern="100" dirty="0">
                <a:solidFill>
                  <a:srgbClr val="000000"/>
                </a:solidFill>
                <a:effectLst/>
                <a:latin typeface="Times New Roman" panose="02020603050405020304" pitchFamily="18" charset="0"/>
                <a:ea typeface="宋体" panose="02010600030101010101" pitchFamily="2" charset="-122"/>
              </a:rPr>
              <a:t>&gt;&lt;</a:t>
            </a:r>
            <a:r>
              <a:rPr lang="zh-CN" altLang="zh-CN" sz="1600" kern="100" dirty="0">
                <a:solidFill>
                  <a:srgbClr val="000000"/>
                </a:solidFill>
                <a:effectLst/>
                <a:latin typeface="Times New Roman" panose="02020603050405020304" pitchFamily="18" charset="0"/>
                <a:ea typeface="宋体" panose="02010600030101010101" pitchFamily="2" charset="-122"/>
              </a:rPr>
              <a:t>语句表</a:t>
            </a:r>
            <a:r>
              <a:rPr lang="en-US" altLang="zh-CN" sz="1600" kern="100" dirty="0">
                <a:solidFill>
                  <a:srgbClr val="000000"/>
                </a:solidFill>
                <a:effectLst/>
                <a:latin typeface="Times New Roman" panose="02020603050405020304" pitchFamily="18" charset="0"/>
                <a:ea typeface="宋体" panose="02010600030101010101" pitchFamily="2" charset="-122"/>
              </a:rPr>
              <a:t>&gt;}</a:t>
            </a:r>
            <a:endParaRPr lang="zh-CN" altLang="zh-CN" sz="1600" kern="100" dirty="0">
              <a:effectLst/>
              <a:latin typeface="Times New Roman" panose="02020603050405020304" pitchFamily="18" charset="0"/>
              <a:ea typeface="宋体" panose="02010600030101010101" pitchFamily="2" charset="-122"/>
            </a:endParaRPr>
          </a:p>
          <a:p>
            <a:pPr algn="just">
              <a:lnSpc>
                <a:spcPct val="95000"/>
              </a:lnSpc>
            </a:pPr>
            <a:r>
              <a:rPr lang="en-US" altLang="zh-CN" sz="1600" kern="100" dirty="0">
                <a:solidFill>
                  <a:srgbClr val="000000"/>
                </a:solidFill>
                <a:effectLst/>
                <a:latin typeface="Times New Roman" panose="02020603050405020304" pitchFamily="18" charset="0"/>
                <a:ea typeface="宋体" panose="02010600030101010101" pitchFamily="2" charset="-122"/>
              </a:rPr>
              <a:t>&lt;</a:t>
            </a:r>
            <a:r>
              <a:rPr lang="zh-CN" altLang="zh-CN" sz="1600" kern="100" dirty="0">
                <a:solidFill>
                  <a:srgbClr val="000000"/>
                </a:solidFill>
                <a:effectLst/>
                <a:latin typeface="Times New Roman" panose="02020603050405020304" pitchFamily="18" charset="0"/>
                <a:ea typeface="宋体" panose="02010600030101010101" pitchFamily="2" charset="-122"/>
              </a:rPr>
              <a:t>局部声明</a:t>
            </a:r>
            <a:r>
              <a:rPr lang="en-US" altLang="zh-CN" sz="1600" kern="100" dirty="0">
                <a:solidFill>
                  <a:srgbClr val="000000"/>
                </a:solidFill>
                <a:effectLst/>
                <a:latin typeface="Times New Roman" panose="02020603050405020304" pitchFamily="18" charset="0"/>
                <a:ea typeface="宋体" panose="02010600030101010101" pitchFamily="2" charset="-122"/>
              </a:rPr>
              <a:t>&gt;→&lt;</a:t>
            </a:r>
            <a:r>
              <a:rPr lang="zh-CN" altLang="zh-CN" sz="1600" kern="100" dirty="0">
                <a:solidFill>
                  <a:srgbClr val="000000"/>
                </a:solidFill>
                <a:effectLst/>
                <a:latin typeface="Times New Roman" panose="02020603050405020304" pitchFamily="18" charset="0"/>
                <a:ea typeface="宋体" panose="02010600030101010101" pitchFamily="2" charset="-122"/>
              </a:rPr>
              <a:t>变量声明</a:t>
            </a:r>
            <a:r>
              <a:rPr lang="en-US" altLang="zh-CN" sz="1600" kern="100" dirty="0">
                <a:solidFill>
                  <a:srgbClr val="000000"/>
                </a:solidFill>
                <a:effectLst/>
                <a:latin typeface="Times New Roman" panose="02020603050405020304" pitchFamily="18" charset="0"/>
                <a:ea typeface="宋体" panose="02010600030101010101" pitchFamily="2" charset="-122"/>
              </a:rPr>
              <a:t>&gt; | &lt;</a:t>
            </a:r>
            <a:r>
              <a:rPr lang="zh-CN" altLang="zh-CN" sz="1600" kern="100" dirty="0">
                <a:solidFill>
                  <a:srgbClr val="000000"/>
                </a:solidFill>
                <a:effectLst/>
                <a:latin typeface="Times New Roman" panose="02020603050405020304" pitchFamily="18" charset="0"/>
                <a:ea typeface="宋体" panose="02010600030101010101" pitchFamily="2" charset="-122"/>
              </a:rPr>
              <a:t>变量声明</a:t>
            </a:r>
            <a:r>
              <a:rPr lang="en-US" altLang="zh-CN" sz="1600" kern="100" dirty="0">
                <a:solidFill>
                  <a:srgbClr val="000000"/>
                </a:solidFill>
                <a:effectLst/>
                <a:latin typeface="Times New Roman" panose="02020603050405020304" pitchFamily="18" charset="0"/>
                <a:ea typeface="宋体" panose="02010600030101010101" pitchFamily="2" charset="-122"/>
              </a:rPr>
              <a:t>&gt;&lt;</a:t>
            </a:r>
            <a:r>
              <a:rPr lang="zh-CN" altLang="zh-CN" sz="1600" kern="100" dirty="0">
                <a:solidFill>
                  <a:srgbClr val="000000"/>
                </a:solidFill>
                <a:effectLst/>
                <a:latin typeface="Times New Roman" panose="02020603050405020304" pitchFamily="18" charset="0"/>
                <a:ea typeface="宋体" panose="02010600030101010101" pitchFamily="2" charset="-122"/>
              </a:rPr>
              <a:t>局部声明</a:t>
            </a:r>
            <a:r>
              <a:rPr lang="en-US" altLang="zh-CN" sz="1600" kern="100" dirty="0">
                <a:solidFill>
                  <a:srgbClr val="000000"/>
                </a:solidFill>
                <a:effectLst/>
                <a:latin typeface="Times New Roman" panose="02020603050405020304" pitchFamily="18" charset="0"/>
                <a:ea typeface="宋体" panose="02010600030101010101" pitchFamily="2" charset="-122"/>
              </a:rPr>
              <a:t>&gt;|</a:t>
            </a:r>
            <a:r>
              <a:rPr lang="en-US" altLang="zh-CN" sz="1600" kern="0" dirty="0">
                <a:solidFill>
                  <a:srgbClr val="000000"/>
                </a:solidFill>
                <a:effectLst/>
                <a:latin typeface="Times New Roman" panose="02020603050405020304" pitchFamily="18" charset="0"/>
                <a:ea typeface="宋体" panose="02010600030101010101" pitchFamily="2" charset="-122"/>
                <a:sym typeface="Symbol" panose="05050102010706020507" pitchFamily="18" charset="2"/>
              </a:rPr>
              <a:t></a:t>
            </a:r>
            <a:endParaRPr lang="zh-CN" altLang="zh-CN" sz="1600" kern="100" dirty="0">
              <a:effectLst/>
              <a:latin typeface="Times New Roman" panose="02020603050405020304" pitchFamily="18" charset="0"/>
              <a:ea typeface="宋体" panose="02010600030101010101" pitchFamily="2" charset="-122"/>
            </a:endParaRPr>
          </a:p>
          <a:p>
            <a:pPr algn="just">
              <a:lnSpc>
                <a:spcPct val="95000"/>
              </a:lnSpc>
            </a:pPr>
            <a:r>
              <a:rPr lang="en-US" altLang="zh-CN" sz="1600" kern="100" dirty="0">
                <a:solidFill>
                  <a:srgbClr val="000000"/>
                </a:solidFill>
                <a:effectLst/>
                <a:latin typeface="Times New Roman" panose="02020603050405020304" pitchFamily="18" charset="0"/>
                <a:ea typeface="宋体" panose="02010600030101010101" pitchFamily="2" charset="-122"/>
              </a:rPr>
              <a:t>&lt;</a:t>
            </a:r>
            <a:r>
              <a:rPr lang="zh-CN" altLang="zh-CN" sz="1600" kern="100" dirty="0">
                <a:solidFill>
                  <a:srgbClr val="000000"/>
                </a:solidFill>
                <a:effectLst/>
                <a:latin typeface="Times New Roman" panose="02020603050405020304" pitchFamily="18" charset="0"/>
                <a:ea typeface="宋体" panose="02010600030101010101" pitchFamily="2" charset="-122"/>
              </a:rPr>
              <a:t>语句表</a:t>
            </a:r>
            <a:r>
              <a:rPr lang="en-US" altLang="zh-CN" sz="1600" kern="100" dirty="0">
                <a:solidFill>
                  <a:srgbClr val="000000"/>
                </a:solidFill>
                <a:effectLst/>
                <a:latin typeface="Times New Roman" panose="02020603050405020304" pitchFamily="18" charset="0"/>
                <a:ea typeface="宋体" panose="02010600030101010101" pitchFamily="2" charset="-122"/>
              </a:rPr>
              <a:t>&gt;→&lt;</a:t>
            </a:r>
            <a:r>
              <a:rPr lang="zh-CN" altLang="zh-CN" sz="1600" kern="100" dirty="0">
                <a:solidFill>
                  <a:srgbClr val="000000"/>
                </a:solidFill>
                <a:effectLst/>
                <a:latin typeface="Times New Roman" panose="02020603050405020304" pitchFamily="18" charset="0"/>
                <a:ea typeface="宋体" panose="02010600030101010101" pitchFamily="2" charset="-122"/>
              </a:rPr>
              <a:t>语句</a:t>
            </a:r>
            <a:r>
              <a:rPr lang="en-US" altLang="zh-CN" sz="1600" kern="100" dirty="0">
                <a:solidFill>
                  <a:srgbClr val="000000"/>
                </a:solidFill>
                <a:effectLst/>
                <a:latin typeface="Times New Roman" panose="02020603050405020304" pitchFamily="18" charset="0"/>
                <a:ea typeface="宋体" panose="02010600030101010101" pitchFamily="2" charset="-122"/>
              </a:rPr>
              <a:t>&gt; | &lt;</a:t>
            </a:r>
            <a:r>
              <a:rPr lang="zh-CN" altLang="zh-CN" sz="1600" kern="100" dirty="0">
                <a:solidFill>
                  <a:srgbClr val="000000"/>
                </a:solidFill>
                <a:effectLst/>
                <a:latin typeface="Times New Roman" panose="02020603050405020304" pitchFamily="18" charset="0"/>
                <a:ea typeface="宋体" panose="02010600030101010101" pitchFamily="2" charset="-122"/>
              </a:rPr>
              <a:t>语句</a:t>
            </a:r>
            <a:r>
              <a:rPr lang="en-US" altLang="zh-CN" sz="1600" kern="100" dirty="0">
                <a:solidFill>
                  <a:srgbClr val="000000"/>
                </a:solidFill>
                <a:effectLst/>
                <a:latin typeface="Times New Roman" panose="02020603050405020304" pitchFamily="18" charset="0"/>
                <a:ea typeface="宋体" panose="02010600030101010101" pitchFamily="2" charset="-122"/>
              </a:rPr>
              <a:t>&gt;&lt;</a:t>
            </a:r>
            <a:r>
              <a:rPr lang="zh-CN" altLang="zh-CN" sz="1600" kern="100" dirty="0">
                <a:solidFill>
                  <a:srgbClr val="000000"/>
                </a:solidFill>
                <a:effectLst/>
                <a:latin typeface="Times New Roman" panose="02020603050405020304" pitchFamily="18" charset="0"/>
                <a:ea typeface="宋体" panose="02010600030101010101" pitchFamily="2" charset="-122"/>
              </a:rPr>
              <a:t>语句表</a:t>
            </a:r>
            <a:r>
              <a:rPr lang="en-US" altLang="zh-CN" sz="1600" kern="100" dirty="0">
                <a:solidFill>
                  <a:srgbClr val="000000"/>
                </a:solidFill>
                <a:effectLst/>
                <a:latin typeface="Times New Roman" panose="02020603050405020304" pitchFamily="18" charset="0"/>
                <a:ea typeface="宋体" panose="02010600030101010101" pitchFamily="2" charset="-122"/>
              </a:rPr>
              <a:t>&gt;|</a:t>
            </a:r>
            <a:r>
              <a:rPr lang="en-US" altLang="zh-CN" sz="1600" kern="0" dirty="0">
                <a:solidFill>
                  <a:srgbClr val="000000"/>
                </a:solidFill>
                <a:effectLst/>
                <a:latin typeface="Times New Roman" panose="02020603050405020304" pitchFamily="18" charset="0"/>
                <a:ea typeface="宋体" panose="02010600030101010101" pitchFamily="2" charset="-122"/>
                <a:sym typeface="Symbol" panose="05050102010706020507" pitchFamily="18" charset="2"/>
              </a:rPr>
              <a:t></a:t>
            </a:r>
            <a:endParaRPr lang="zh-CN" altLang="zh-CN" sz="1600" kern="100" dirty="0">
              <a:effectLst/>
              <a:latin typeface="Times New Roman" panose="02020603050405020304" pitchFamily="18" charset="0"/>
              <a:ea typeface="宋体" panose="02010600030101010101" pitchFamily="2" charset="-122"/>
            </a:endParaRPr>
          </a:p>
          <a:p>
            <a:pPr algn="just">
              <a:lnSpc>
                <a:spcPct val="95000"/>
              </a:lnSpc>
            </a:pPr>
            <a:r>
              <a:rPr lang="en-US" altLang="zh-CN" sz="1600" kern="100" dirty="0">
                <a:solidFill>
                  <a:srgbClr val="000000"/>
                </a:solidFill>
                <a:effectLst/>
                <a:latin typeface="Times New Roman" panose="02020603050405020304" pitchFamily="18" charset="0"/>
                <a:ea typeface="宋体" panose="02010600030101010101" pitchFamily="2" charset="-122"/>
              </a:rPr>
              <a:t>&lt;</a:t>
            </a:r>
            <a:r>
              <a:rPr lang="zh-CN" altLang="zh-CN" sz="1600" kern="100" dirty="0">
                <a:solidFill>
                  <a:srgbClr val="000000"/>
                </a:solidFill>
                <a:effectLst/>
                <a:latin typeface="Times New Roman" panose="02020603050405020304" pitchFamily="18" charset="0"/>
                <a:ea typeface="宋体" panose="02010600030101010101" pitchFamily="2" charset="-122"/>
              </a:rPr>
              <a:t>语句</a:t>
            </a:r>
            <a:r>
              <a:rPr lang="en-US" altLang="zh-CN" sz="1600" kern="100" dirty="0">
                <a:solidFill>
                  <a:srgbClr val="000000"/>
                </a:solidFill>
                <a:effectLst/>
                <a:latin typeface="Times New Roman" panose="02020603050405020304" pitchFamily="18" charset="0"/>
                <a:ea typeface="宋体" panose="02010600030101010101" pitchFamily="2" charset="-122"/>
              </a:rPr>
              <a:t>&gt;→&lt;</a:t>
            </a:r>
            <a:r>
              <a:rPr lang="zh-CN" altLang="zh-CN" sz="1600" kern="100" dirty="0">
                <a:solidFill>
                  <a:srgbClr val="000000"/>
                </a:solidFill>
                <a:effectLst/>
                <a:latin typeface="Times New Roman" panose="02020603050405020304" pitchFamily="18" charset="0"/>
                <a:ea typeface="宋体" panose="02010600030101010101" pitchFamily="2" charset="-122"/>
              </a:rPr>
              <a:t>数据处理语句</a:t>
            </a:r>
            <a:r>
              <a:rPr lang="en-US" altLang="zh-CN" sz="1600" kern="100" dirty="0">
                <a:solidFill>
                  <a:srgbClr val="000000"/>
                </a:solidFill>
                <a:effectLst/>
                <a:latin typeface="Times New Roman" panose="02020603050405020304" pitchFamily="18" charset="0"/>
                <a:ea typeface="宋体" panose="02010600030101010101" pitchFamily="2" charset="-122"/>
              </a:rPr>
              <a:t>&gt;|&lt;</a:t>
            </a:r>
            <a:r>
              <a:rPr lang="zh-CN" altLang="zh-CN" sz="1600" kern="100" dirty="0">
                <a:solidFill>
                  <a:srgbClr val="000000"/>
                </a:solidFill>
                <a:effectLst/>
                <a:latin typeface="Times New Roman" panose="02020603050405020304" pitchFamily="18" charset="0"/>
                <a:ea typeface="宋体" panose="02010600030101010101" pitchFamily="2" charset="-122"/>
              </a:rPr>
              <a:t>控制语句</a:t>
            </a:r>
            <a:r>
              <a:rPr lang="en-US" altLang="zh-CN" sz="1600" kern="100" dirty="0">
                <a:solidFill>
                  <a:srgbClr val="000000"/>
                </a:solidFill>
                <a:effectLst/>
                <a:latin typeface="Times New Roman" panose="02020603050405020304" pitchFamily="18" charset="0"/>
                <a:ea typeface="宋体" panose="02010600030101010101" pitchFamily="2" charset="-122"/>
              </a:rPr>
              <a:t>&gt;|&lt;</a:t>
            </a:r>
            <a:r>
              <a:rPr lang="zh-CN" altLang="zh-CN" sz="1600" kern="100" dirty="0">
                <a:solidFill>
                  <a:srgbClr val="000000"/>
                </a:solidFill>
                <a:effectLst/>
                <a:latin typeface="Times New Roman" panose="02020603050405020304" pitchFamily="18" charset="0"/>
                <a:ea typeface="宋体" panose="02010600030101010101" pitchFamily="2" charset="-122"/>
              </a:rPr>
              <a:t>复合语句</a:t>
            </a:r>
            <a:r>
              <a:rPr lang="en-US" altLang="zh-CN" sz="1600" kern="100" dirty="0">
                <a:solidFill>
                  <a:srgbClr val="000000"/>
                </a:solidFill>
                <a:effectLst/>
                <a:latin typeface="Times New Roman" panose="02020603050405020304" pitchFamily="18" charset="0"/>
                <a:ea typeface="宋体" panose="02010600030101010101" pitchFamily="2" charset="-122"/>
              </a:rPr>
              <a:t>&gt;</a:t>
            </a:r>
            <a:endParaRPr lang="zh-CN" altLang="zh-CN" sz="1600" kern="100" dirty="0">
              <a:effectLst/>
              <a:latin typeface="Times New Roman" panose="02020603050405020304" pitchFamily="18" charset="0"/>
              <a:ea typeface="宋体" panose="02010600030101010101" pitchFamily="2" charset="-122"/>
            </a:endParaRPr>
          </a:p>
          <a:p>
            <a:pPr algn="just">
              <a:lnSpc>
                <a:spcPct val="95000"/>
              </a:lnSpc>
            </a:pPr>
            <a:r>
              <a:rPr lang="en-US" altLang="zh-CN" sz="1600" kern="100" dirty="0">
                <a:solidFill>
                  <a:srgbClr val="000000"/>
                </a:solidFill>
                <a:effectLst/>
                <a:latin typeface="Times New Roman" panose="02020603050405020304" pitchFamily="18" charset="0"/>
                <a:ea typeface="宋体" panose="02010600030101010101" pitchFamily="2" charset="-122"/>
              </a:rPr>
              <a:t>&lt;</a:t>
            </a:r>
            <a:r>
              <a:rPr lang="zh-CN" altLang="zh-CN" sz="1600" kern="100" dirty="0">
                <a:solidFill>
                  <a:srgbClr val="000000"/>
                </a:solidFill>
                <a:effectLst/>
                <a:latin typeface="Times New Roman" panose="02020603050405020304" pitchFamily="18" charset="0"/>
                <a:ea typeface="宋体" panose="02010600030101010101" pitchFamily="2" charset="-122"/>
              </a:rPr>
              <a:t>数据处理语句</a:t>
            </a:r>
            <a:r>
              <a:rPr lang="en-US" altLang="zh-CN" sz="1600" kern="100" dirty="0">
                <a:solidFill>
                  <a:srgbClr val="000000"/>
                </a:solidFill>
                <a:effectLst/>
                <a:latin typeface="Times New Roman" panose="02020603050405020304" pitchFamily="18" charset="0"/>
                <a:ea typeface="宋体" panose="02010600030101010101" pitchFamily="2" charset="-122"/>
              </a:rPr>
              <a:t>&gt;→&lt;</a:t>
            </a:r>
            <a:r>
              <a:rPr lang="zh-CN" altLang="zh-CN" sz="1600" kern="100" dirty="0">
                <a:solidFill>
                  <a:srgbClr val="000000"/>
                </a:solidFill>
                <a:effectLst/>
                <a:latin typeface="Times New Roman" panose="02020603050405020304" pitchFamily="18" charset="0"/>
                <a:ea typeface="宋体" panose="02010600030101010101" pitchFamily="2" charset="-122"/>
              </a:rPr>
              <a:t>表达式</a:t>
            </a:r>
            <a:r>
              <a:rPr lang="en-US" altLang="zh-CN" sz="1600" kern="100" dirty="0">
                <a:solidFill>
                  <a:srgbClr val="000000"/>
                </a:solidFill>
                <a:effectLst/>
                <a:latin typeface="Times New Roman" panose="02020603050405020304" pitchFamily="18" charset="0"/>
                <a:ea typeface="宋体" panose="02010600030101010101" pitchFamily="2" charset="-122"/>
              </a:rPr>
              <a:t>&gt;;</a:t>
            </a:r>
            <a:endParaRPr lang="zh-CN" altLang="zh-CN" sz="1600" kern="100" dirty="0">
              <a:effectLst/>
              <a:latin typeface="Times New Roman" panose="02020603050405020304" pitchFamily="18" charset="0"/>
              <a:ea typeface="宋体" panose="02010600030101010101" pitchFamily="2" charset="-122"/>
            </a:endParaRPr>
          </a:p>
          <a:p>
            <a:pPr marL="623888" indent="-623888" algn="just">
              <a:lnSpc>
                <a:spcPct val="95000"/>
              </a:lnSpc>
            </a:pPr>
            <a:r>
              <a:rPr lang="en-US" altLang="zh-CN" sz="1600" kern="100" dirty="0">
                <a:solidFill>
                  <a:srgbClr val="000000"/>
                </a:solidFill>
                <a:effectLst/>
                <a:latin typeface="Times New Roman" panose="02020603050405020304" pitchFamily="18" charset="0"/>
                <a:ea typeface="宋体" panose="02010600030101010101" pitchFamily="2" charset="-122"/>
              </a:rPr>
              <a:t>&lt;</a:t>
            </a:r>
            <a:r>
              <a:rPr lang="zh-CN" altLang="zh-CN" sz="1600" kern="100" dirty="0">
                <a:solidFill>
                  <a:srgbClr val="000000"/>
                </a:solidFill>
                <a:effectLst/>
                <a:latin typeface="Times New Roman" panose="02020603050405020304" pitchFamily="18" charset="0"/>
                <a:ea typeface="宋体" panose="02010600030101010101" pitchFamily="2" charset="-122"/>
              </a:rPr>
              <a:t>控制语句</a:t>
            </a:r>
            <a:r>
              <a:rPr lang="en-US" altLang="zh-CN" sz="1600" kern="100" dirty="0">
                <a:solidFill>
                  <a:srgbClr val="000000"/>
                </a:solidFill>
                <a:effectLst/>
                <a:latin typeface="Times New Roman" panose="02020603050405020304" pitchFamily="18" charset="0"/>
                <a:ea typeface="宋体" panose="02010600030101010101" pitchFamily="2" charset="-122"/>
              </a:rPr>
              <a:t>&gt;→</a:t>
            </a:r>
            <a:r>
              <a:rPr lang="en-US" altLang="zh-CN" sz="1500" kern="100" dirty="0">
                <a:solidFill>
                  <a:srgbClr val="000000"/>
                </a:solidFill>
                <a:effectLst/>
                <a:latin typeface="Times New Roman" panose="02020603050405020304" pitchFamily="18" charset="0"/>
                <a:ea typeface="宋体" panose="02010600030101010101" pitchFamily="2" charset="-122"/>
              </a:rPr>
              <a:t>&lt;if</a:t>
            </a:r>
            <a:r>
              <a:rPr lang="zh-CN" altLang="zh-CN" sz="1500" kern="100" dirty="0">
                <a:solidFill>
                  <a:srgbClr val="000000"/>
                </a:solidFill>
                <a:effectLst/>
                <a:latin typeface="Times New Roman" panose="02020603050405020304" pitchFamily="18" charset="0"/>
                <a:ea typeface="宋体" panose="02010600030101010101" pitchFamily="2" charset="-122"/>
              </a:rPr>
              <a:t>语句</a:t>
            </a:r>
            <a:r>
              <a:rPr lang="en-US" altLang="zh-CN" sz="1500" kern="100" dirty="0">
                <a:solidFill>
                  <a:srgbClr val="000000"/>
                </a:solidFill>
                <a:effectLst/>
                <a:latin typeface="Times New Roman" panose="02020603050405020304" pitchFamily="18" charset="0"/>
                <a:ea typeface="宋体" panose="02010600030101010101" pitchFamily="2" charset="-122"/>
              </a:rPr>
              <a:t>&gt;|&lt;while</a:t>
            </a:r>
            <a:r>
              <a:rPr lang="zh-CN" altLang="zh-CN" sz="1500" kern="100" dirty="0">
                <a:solidFill>
                  <a:srgbClr val="000000"/>
                </a:solidFill>
                <a:effectLst/>
                <a:latin typeface="Times New Roman" panose="02020603050405020304" pitchFamily="18" charset="0"/>
                <a:ea typeface="宋体" panose="02010600030101010101" pitchFamily="2" charset="-122"/>
              </a:rPr>
              <a:t>语句</a:t>
            </a:r>
            <a:r>
              <a:rPr lang="en-US" altLang="zh-CN" sz="1500" kern="100" dirty="0">
                <a:solidFill>
                  <a:srgbClr val="000000"/>
                </a:solidFill>
                <a:effectLst/>
                <a:latin typeface="Times New Roman" panose="02020603050405020304" pitchFamily="18" charset="0"/>
                <a:ea typeface="宋体" panose="02010600030101010101" pitchFamily="2" charset="-122"/>
              </a:rPr>
              <a:t>&gt;|&lt;do while</a:t>
            </a:r>
            <a:r>
              <a:rPr lang="zh-CN" altLang="zh-CN" sz="1500" kern="100" dirty="0">
                <a:solidFill>
                  <a:srgbClr val="000000"/>
                </a:solidFill>
                <a:effectLst/>
                <a:latin typeface="Times New Roman" panose="02020603050405020304" pitchFamily="18" charset="0"/>
                <a:ea typeface="宋体" panose="02010600030101010101" pitchFamily="2" charset="-122"/>
              </a:rPr>
              <a:t>语句</a:t>
            </a:r>
            <a:r>
              <a:rPr lang="en-US" altLang="zh-CN" sz="1500" kern="100" dirty="0">
                <a:solidFill>
                  <a:srgbClr val="000000"/>
                </a:solidFill>
                <a:effectLst/>
                <a:latin typeface="Times New Roman" panose="02020603050405020304" pitchFamily="18" charset="0"/>
                <a:ea typeface="宋体" panose="02010600030101010101" pitchFamily="2" charset="-122"/>
              </a:rPr>
              <a:t>&gt;</a:t>
            </a:r>
            <a:r>
              <a:rPr lang="en-US" altLang="zh-CN" sz="1500" kern="100" dirty="0">
                <a:solidFill>
                  <a:srgbClr val="000000"/>
                </a:solidFill>
                <a:latin typeface="Times New Roman" panose="02020603050405020304" pitchFamily="18" charset="0"/>
                <a:ea typeface="宋体" panose="02010600030101010101" pitchFamily="2" charset="-122"/>
              </a:rPr>
              <a:t> </a:t>
            </a:r>
            <a:r>
              <a:rPr lang="en-US" altLang="zh-CN" sz="1500" kern="100" dirty="0">
                <a:solidFill>
                  <a:srgbClr val="000000"/>
                </a:solidFill>
                <a:effectLst/>
                <a:latin typeface="Times New Roman" panose="02020603050405020304" pitchFamily="18" charset="0"/>
                <a:ea typeface="宋体" panose="02010600030101010101" pitchFamily="2" charset="-122"/>
              </a:rPr>
              <a:t>|&lt;for</a:t>
            </a:r>
            <a:r>
              <a:rPr lang="zh-CN" altLang="zh-CN" sz="1500" kern="100" dirty="0">
                <a:solidFill>
                  <a:srgbClr val="000000"/>
                </a:solidFill>
                <a:effectLst/>
                <a:latin typeface="Times New Roman" panose="02020603050405020304" pitchFamily="18" charset="0"/>
                <a:ea typeface="宋体" panose="02010600030101010101" pitchFamily="2" charset="-122"/>
              </a:rPr>
              <a:t>语句</a:t>
            </a:r>
            <a:r>
              <a:rPr lang="en-US" altLang="zh-CN" sz="1500" kern="100" dirty="0">
                <a:solidFill>
                  <a:srgbClr val="000000"/>
                </a:solidFill>
                <a:effectLst/>
                <a:latin typeface="Times New Roman" panose="02020603050405020304" pitchFamily="18" charset="0"/>
                <a:ea typeface="宋体" panose="02010600030101010101" pitchFamily="2" charset="-122"/>
              </a:rPr>
              <a:t>&gt;</a:t>
            </a:r>
          </a:p>
          <a:p>
            <a:pPr marL="623888" indent="-623888" algn="just">
              <a:lnSpc>
                <a:spcPct val="95000"/>
              </a:lnSpc>
            </a:pPr>
            <a:r>
              <a:rPr lang="en-US" altLang="zh-CN" sz="1600" kern="100" dirty="0">
                <a:solidFill>
                  <a:srgbClr val="000000"/>
                </a:solidFill>
                <a:effectLst/>
                <a:latin typeface="Times New Roman" panose="02020603050405020304" pitchFamily="18" charset="0"/>
                <a:ea typeface="宋体" panose="02010600030101010101" pitchFamily="2" charset="-122"/>
              </a:rPr>
              <a:t>                       |&lt;return</a:t>
            </a:r>
            <a:r>
              <a:rPr lang="zh-CN" altLang="zh-CN" sz="1600" kern="100" dirty="0">
                <a:solidFill>
                  <a:srgbClr val="000000"/>
                </a:solidFill>
                <a:effectLst/>
                <a:latin typeface="Times New Roman" panose="02020603050405020304" pitchFamily="18" charset="0"/>
                <a:ea typeface="宋体" panose="02010600030101010101" pitchFamily="2" charset="-122"/>
              </a:rPr>
              <a:t>语句</a:t>
            </a:r>
            <a:r>
              <a:rPr lang="en-US" altLang="zh-CN" sz="1600" kern="100" dirty="0">
                <a:solidFill>
                  <a:srgbClr val="000000"/>
                </a:solidFill>
                <a:effectLst/>
                <a:latin typeface="Times New Roman" panose="02020603050405020304" pitchFamily="18" charset="0"/>
                <a:ea typeface="宋体" panose="02010600030101010101" pitchFamily="2" charset="-122"/>
              </a:rPr>
              <a:t>&gt;|&lt; break</a:t>
            </a:r>
            <a:r>
              <a:rPr lang="zh-CN" altLang="zh-CN" sz="1600" kern="100" dirty="0">
                <a:solidFill>
                  <a:srgbClr val="000000"/>
                </a:solidFill>
                <a:effectLst/>
                <a:latin typeface="Times New Roman" panose="02020603050405020304" pitchFamily="18" charset="0"/>
                <a:ea typeface="宋体" panose="02010600030101010101" pitchFamily="2" charset="-122"/>
              </a:rPr>
              <a:t>语句</a:t>
            </a:r>
            <a:r>
              <a:rPr lang="en-US" altLang="zh-CN" sz="1600" kern="100" dirty="0">
                <a:solidFill>
                  <a:srgbClr val="000000"/>
                </a:solidFill>
                <a:effectLst/>
                <a:latin typeface="Times New Roman" panose="02020603050405020304" pitchFamily="18" charset="0"/>
                <a:ea typeface="宋体" panose="02010600030101010101" pitchFamily="2" charset="-122"/>
              </a:rPr>
              <a:t>&gt;|&lt; continue</a:t>
            </a:r>
            <a:r>
              <a:rPr lang="zh-CN" altLang="zh-CN" sz="1600" kern="100" dirty="0">
                <a:solidFill>
                  <a:srgbClr val="000000"/>
                </a:solidFill>
                <a:effectLst/>
                <a:latin typeface="Times New Roman" panose="02020603050405020304" pitchFamily="18" charset="0"/>
                <a:ea typeface="宋体" panose="02010600030101010101" pitchFamily="2" charset="-122"/>
              </a:rPr>
              <a:t>语句</a:t>
            </a:r>
            <a:r>
              <a:rPr lang="en-US" altLang="zh-CN" sz="1600" kern="100" dirty="0">
                <a:solidFill>
                  <a:srgbClr val="000000"/>
                </a:solidFill>
                <a:effectLst/>
                <a:latin typeface="Times New Roman" panose="02020603050405020304" pitchFamily="18" charset="0"/>
                <a:ea typeface="宋体" panose="02010600030101010101" pitchFamily="2" charset="-122"/>
              </a:rPr>
              <a:t>&gt;</a:t>
            </a:r>
            <a:endParaRPr lang="zh-CN" altLang="zh-CN" sz="1600" kern="100" dirty="0">
              <a:effectLst/>
              <a:latin typeface="Times New Roman" panose="02020603050405020304" pitchFamily="18" charset="0"/>
              <a:ea typeface="宋体" panose="02010600030101010101" pitchFamily="2" charset="-122"/>
            </a:endParaRPr>
          </a:p>
          <a:p>
            <a:pPr marL="714375" indent="-714375" algn="just">
              <a:lnSpc>
                <a:spcPct val="95000"/>
              </a:lnSpc>
            </a:pPr>
            <a:r>
              <a:rPr lang="en-US" altLang="zh-CN" sz="1600" kern="100" dirty="0">
                <a:solidFill>
                  <a:srgbClr val="000000"/>
                </a:solidFill>
                <a:effectLst/>
                <a:latin typeface="Times New Roman" panose="02020603050405020304" pitchFamily="18" charset="0"/>
                <a:ea typeface="宋体" panose="02010600030101010101" pitchFamily="2" charset="-122"/>
              </a:rPr>
              <a:t>&lt;if</a:t>
            </a:r>
            <a:r>
              <a:rPr lang="zh-CN" altLang="zh-CN" sz="1600" kern="100" dirty="0">
                <a:solidFill>
                  <a:srgbClr val="000000"/>
                </a:solidFill>
                <a:effectLst/>
                <a:latin typeface="Times New Roman" panose="02020603050405020304" pitchFamily="18" charset="0"/>
                <a:ea typeface="宋体" panose="02010600030101010101" pitchFamily="2" charset="-122"/>
              </a:rPr>
              <a:t>语句</a:t>
            </a:r>
            <a:r>
              <a:rPr lang="en-US" altLang="zh-CN" sz="1600" kern="100" dirty="0">
                <a:solidFill>
                  <a:srgbClr val="000000"/>
                </a:solidFill>
                <a:effectLst/>
                <a:latin typeface="Times New Roman" panose="02020603050405020304" pitchFamily="18" charset="0"/>
                <a:ea typeface="宋体" panose="02010600030101010101" pitchFamily="2" charset="-122"/>
              </a:rPr>
              <a:t>&gt;→if (&lt;</a:t>
            </a:r>
            <a:r>
              <a:rPr lang="zh-CN" altLang="zh-CN" sz="1600" kern="100" dirty="0">
                <a:solidFill>
                  <a:srgbClr val="000000"/>
                </a:solidFill>
                <a:effectLst/>
                <a:latin typeface="Times New Roman" panose="02020603050405020304" pitchFamily="18" charset="0"/>
                <a:ea typeface="宋体" panose="02010600030101010101" pitchFamily="2" charset="-122"/>
              </a:rPr>
              <a:t>表达式</a:t>
            </a:r>
            <a:r>
              <a:rPr lang="en-US" altLang="zh-CN" sz="1600" kern="100" dirty="0">
                <a:solidFill>
                  <a:srgbClr val="000000"/>
                </a:solidFill>
                <a:effectLst/>
                <a:latin typeface="Times New Roman" panose="02020603050405020304" pitchFamily="18" charset="0"/>
                <a:ea typeface="宋体" panose="02010600030101010101" pitchFamily="2" charset="-122"/>
              </a:rPr>
              <a:t>&gt;)&lt;</a:t>
            </a:r>
            <a:r>
              <a:rPr lang="zh-CN" altLang="zh-CN" sz="1600" kern="100" dirty="0">
                <a:solidFill>
                  <a:srgbClr val="000000"/>
                </a:solidFill>
                <a:effectLst/>
                <a:latin typeface="Times New Roman" panose="02020603050405020304" pitchFamily="18" charset="0"/>
                <a:ea typeface="宋体" panose="02010600030101010101" pitchFamily="2" charset="-122"/>
              </a:rPr>
              <a:t>语句</a:t>
            </a:r>
            <a:r>
              <a:rPr lang="en-US" altLang="zh-CN" sz="1600" kern="100" dirty="0">
                <a:solidFill>
                  <a:srgbClr val="000000"/>
                </a:solidFill>
                <a:effectLst/>
                <a:latin typeface="Times New Roman" panose="02020603050405020304" pitchFamily="18" charset="0"/>
                <a:ea typeface="宋体" panose="02010600030101010101" pitchFamily="2" charset="-122"/>
              </a:rPr>
              <a:t>&gt;</a:t>
            </a:r>
          </a:p>
          <a:p>
            <a:pPr marL="714375" indent="-714375" algn="just">
              <a:lnSpc>
                <a:spcPct val="95000"/>
              </a:lnSpc>
            </a:pPr>
            <a:r>
              <a:rPr lang="en-US" altLang="zh-CN" sz="1600" kern="100" dirty="0">
                <a:solidFill>
                  <a:srgbClr val="000000"/>
                </a:solidFill>
                <a:latin typeface="Times New Roman" panose="02020603050405020304" pitchFamily="18" charset="0"/>
                <a:ea typeface="宋体" panose="02010600030101010101" pitchFamily="2" charset="-122"/>
              </a:rPr>
              <a:t>                </a:t>
            </a:r>
            <a:r>
              <a:rPr lang="en-US" altLang="zh-CN" sz="1600" kern="100" dirty="0">
                <a:solidFill>
                  <a:srgbClr val="000000"/>
                </a:solidFill>
                <a:effectLst/>
                <a:latin typeface="Times New Roman" panose="02020603050405020304" pitchFamily="18" charset="0"/>
                <a:ea typeface="宋体" panose="02010600030101010101" pitchFamily="2" charset="-122"/>
              </a:rPr>
              <a:t> | if (&lt;</a:t>
            </a:r>
            <a:r>
              <a:rPr lang="zh-CN" altLang="zh-CN" sz="1600" kern="100" dirty="0">
                <a:solidFill>
                  <a:srgbClr val="000000"/>
                </a:solidFill>
                <a:effectLst/>
                <a:latin typeface="Times New Roman" panose="02020603050405020304" pitchFamily="18" charset="0"/>
                <a:ea typeface="宋体" panose="02010600030101010101" pitchFamily="2" charset="-122"/>
              </a:rPr>
              <a:t>表达式</a:t>
            </a:r>
            <a:r>
              <a:rPr lang="en-US" altLang="zh-CN" sz="1600" kern="100" dirty="0">
                <a:solidFill>
                  <a:srgbClr val="000000"/>
                </a:solidFill>
                <a:effectLst/>
                <a:latin typeface="Times New Roman" panose="02020603050405020304" pitchFamily="18" charset="0"/>
                <a:ea typeface="宋体" panose="02010600030101010101" pitchFamily="2" charset="-122"/>
              </a:rPr>
              <a:t>&gt;) &lt;</a:t>
            </a:r>
            <a:r>
              <a:rPr lang="zh-CN" altLang="zh-CN" sz="1600" kern="100" dirty="0">
                <a:solidFill>
                  <a:srgbClr val="000000"/>
                </a:solidFill>
                <a:effectLst/>
                <a:latin typeface="Times New Roman" panose="02020603050405020304" pitchFamily="18" charset="0"/>
                <a:ea typeface="宋体" panose="02010600030101010101" pitchFamily="2" charset="-122"/>
              </a:rPr>
              <a:t>语句</a:t>
            </a:r>
            <a:r>
              <a:rPr lang="en-US" altLang="zh-CN" sz="1600" kern="100" dirty="0">
                <a:solidFill>
                  <a:srgbClr val="000000"/>
                </a:solidFill>
                <a:effectLst/>
                <a:latin typeface="Times New Roman" panose="02020603050405020304" pitchFamily="18" charset="0"/>
                <a:ea typeface="宋体" panose="02010600030101010101" pitchFamily="2" charset="-122"/>
              </a:rPr>
              <a:t>&gt; else &lt;</a:t>
            </a:r>
            <a:r>
              <a:rPr lang="zh-CN" altLang="zh-CN" sz="1600" kern="100" dirty="0">
                <a:solidFill>
                  <a:srgbClr val="000000"/>
                </a:solidFill>
                <a:effectLst/>
                <a:latin typeface="Times New Roman" panose="02020603050405020304" pitchFamily="18" charset="0"/>
                <a:ea typeface="宋体" panose="02010600030101010101" pitchFamily="2" charset="-122"/>
              </a:rPr>
              <a:t>语句</a:t>
            </a:r>
            <a:r>
              <a:rPr lang="en-US" altLang="zh-CN" sz="1600" kern="100" dirty="0">
                <a:solidFill>
                  <a:srgbClr val="000000"/>
                </a:solidFill>
                <a:effectLst/>
                <a:latin typeface="Times New Roman" panose="02020603050405020304" pitchFamily="18" charset="0"/>
                <a:ea typeface="宋体" panose="02010600030101010101" pitchFamily="2" charset="-122"/>
              </a:rPr>
              <a:t>&gt;</a:t>
            </a:r>
            <a:endParaRPr lang="zh-CN" altLang="zh-CN" sz="1600" kern="100" dirty="0">
              <a:effectLst/>
              <a:latin typeface="Times New Roman" panose="02020603050405020304" pitchFamily="18" charset="0"/>
              <a:ea typeface="宋体" panose="02010600030101010101" pitchFamily="2" charset="-122"/>
            </a:endParaRPr>
          </a:p>
          <a:p>
            <a:pPr algn="just">
              <a:lnSpc>
                <a:spcPct val="95000"/>
              </a:lnSpc>
            </a:pPr>
            <a:r>
              <a:rPr lang="en-US" altLang="zh-CN" sz="1600" kern="100" dirty="0">
                <a:solidFill>
                  <a:srgbClr val="000000"/>
                </a:solidFill>
                <a:effectLst/>
                <a:latin typeface="Times New Roman" panose="02020603050405020304" pitchFamily="18" charset="0"/>
                <a:ea typeface="宋体" panose="02010600030101010101" pitchFamily="2" charset="-122"/>
              </a:rPr>
              <a:t>&lt;for</a:t>
            </a:r>
            <a:r>
              <a:rPr lang="zh-CN" altLang="zh-CN" sz="1600" kern="100" dirty="0">
                <a:solidFill>
                  <a:srgbClr val="000000"/>
                </a:solidFill>
                <a:effectLst/>
                <a:latin typeface="Times New Roman" panose="02020603050405020304" pitchFamily="18" charset="0"/>
                <a:ea typeface="宋体" panose="02010600030101010101" pitchFamily="2" charset="-122"/>
              </a:rPr>
              <a:t>语句</a:t>
            </a:r>
            <a:r>
              <a:rPr lang="en-US" altLang="zh-CN" sz="1600" kern="100" dirty="0">
                <a:solidFill>
                  <a:srgbClr val="000000"/>
                </a:solidFill>
                <a:effectLst/>
                <a:latin typeface="Times New Roman" panose="02020603050405020304" pitchFamily="18" charset="0"/>
                <a:ea typeface="宋体" panose="02010600030101010101" pitchFamily="2" charset="-122"/>
              </a:rPr>
              <a:t>&gt;→for (&lt;</a:t>
            </a:r>
            <a:r>
              <a:rPr lang="zh-CN" altLang="zh-CN" sz="1600" kern="100" dirty="0">
                <a:solidFill>
                  <a:srgbClr val="000000"/>
                </a:solidFill>
                <a:effectLst/>
                <a:latin typeface="Times New Roman" panose="02020603050405020304" pitchFamily="18" charset="0"/>
                <a:ea typeface="宋体" panose="02010600030101010101" pitchFamily="2" charset="-122"/>
              </a:rPr>
              <a:t>表达式</a:t>
            </a:r>
            <a:r>
              <a:rPr lang="en-US" altLang="zh-CN" sz="1600" kern="100" dirty="0">
                <a:solidFill>
                  <a:srgbClr val="000000"/>
                </a:solidFill>
                <a:effectLst/>
                <a:latin typeface="Times New Roman" panose="02020603050405020304" pitchFamily="18" charset="0"/>
                <a:ea typeface="宋体" panose="02010600030101010101" pitchFamily="2" charset="-122"/>
              </a:rPr>
              <a:t>1&gt;;&lt;</a:t>
            </a:r>
            <a:r>
              <a:rPr lang="zh-CN" altLang="zh-CN" sz="1600" kern="100" dirty="0">
                <a:solidFill>
                  <a:srgbClr val="000000"/>
                </a:solidFill>
                <a:effectLst/>
                <a:latin typeface="Times New Roman" panose="02020603050405020304" pitchFamily="18" charset="0"/>
                <a:ea typeface="宋体" panose="02010600030101010101" pitchFamily="2" charset="-122"/>
              </a:rPr>
              <a:t>表达式</a:t>
            </a:r>
            <a:r>
              <a:rPr lang="en-US" altLang="zh-CN" sz="1600" kern="100" dirty="0">
                <a:solidFill>
                  <a:srgbClr val="000000"/>
                </a:solidFill>
                <a:effectLst/>
                <a:latin typeface="Times New Roman" panose="02020603050405020304" pitchFamily="18" charset="0"/>
                <a:ea typeface="宋体" panose="02010600030101010101" pitchFamily="2" charset="-122"/>
              </a:rPr>
              <a:t>2&gt;;&lt;</a:t>
            </a:r>
            <a:r>
              <a:rPr lang="zh-CN" altLang="zh-CN" sz="1600" kern="100" dirty="0">
                <a:solidFill>
                  <a:srgbClr val="000000"/>
                </a:solidFill>
                <a:effectLst/>
                <a:latin typeface="Times New Roman" panose="02020603050405020304" pitchFamily="18" charset="0"/>
                <a:ea typeface="宋体" panose="02010600030101010101" pitchFamily="2" charset="-122"/>
              </a:rPr>
              <a:t>表达式</a:t>
            </a:r>
            <a:r>
              <a:rPr lang="en-US" altLang="zh-CN" sz="1600" kern="100" dirty="0">
                <a:solidFill>
                  <a:srgbClr val="000000"/>
                </a:solidFill>
                <a:effectLst/>
                <a:latin typeface="Times New Roman" panose="02020603050405020304" pitchFamily="18" charset="0"/>
                <a:ea typeface="宋体" panose="02010600030101010101" pitchFamily="2" charset="-122"/>
              </a:rPr>
              <a:t>3&gt;)&lt;</a:t>
            </a:r>
            <a:r>
              <a:rPr lang="zh-CN" altLang="zh-CN" sz="1600" kern="100" dirty="0">
                <a:solidFill>
                  <a:srgbClr val="000000"/>
                </a:solidFill>
                <a:effectLst/>
                <a:latin typeface="Times New Roman" panose="02020603050405020304" pitchFamily="18" charset="0"/>
                <a:ea typeface="宋体" panose="02010600030101010101" pitchFamily="2" charset="-122"/>
              </a:rPr>
              <a:t>语句</a:t>
            </a:r>
            <a:r>
              <a:rPr lang="en-US" altLang="zh-CN" sz="1600" kern="100" dirty="0">
                <a:solidFill>
                  <a:srgbClr val="000000"/>
                </a:solidFill>
                <a:effectLst/>
                <a:latin typeface="Times New Roman" panose="02020603050405020304" pitchFamily="18" charset="0"/>
                <a:ea typeface="宋体" panose="02010600030101010101" pitchFamily="2" charset="-122"/>
              </a:rPr>
              <a:t>&gt;</a:t>
            </a:r>
            <a:endParaRPr lang="zh-CN" altLang="zh-CN" sz="1600" kern="100" dirty="0">
              <a:effectLst/>
              <a:latin typeface="Times New Roman" panose="02020603050405020304" pitchFamily="18" charset="0"/>
              <a:ea typeface="宋体" panose="02010600030101010101" pitchFamily="2" charset="-122"/>
            </a:endParaRPr>
          </a:p>
          <a:p>
            <a:pPr algn="just">
              <a:lnSpc>
                <a:spcPct val="95000"/>
              </a:lnSpc>
            </a:pPr>
            <a:r>
              <a:rPr lang="en-US" altLang="zh-CN" sz="1600" kern="100" dirty="0">
                <a:solidFill>
                  <a:srgbClr val="000000"/>
                </a:solidFill>
                <a:effectLst/>
                <a:latin typeface="Times New Roman" panose="02020603050405020304" pitchFamily="18" charset="0"/>
                <a:ea typeface="宋体" panose="02010600030101010101" pitchFamily="2" charset="-122"/>
              </a:rPr>
              <a:t>&lt;</a:t>
            </a:r>
            <a:r>
              <a:rPr lang="zh-CN" altLang="zh-CN" sz="1600" kern="100" dirty="0">
                <a:solidFill>
                  <a:srgbClr val="000000"/>
                </a:solidFill>
                <a:effectLst/>
                <a:latin typeface="Times New Roman" panose="02020603050405020304" pitchFamily="18" charset="0"/>
                <a:ea typeface="宋体" panose="02010600030101010101" pitchFamily="2" charset="-122"/>
              </a:rPr>
              <a:t>表达式</a:t>
            </a:r>
            <a:r>
              <a:rPr lang="en-US" altLang="zh-CN" sz="1600" kern="100" dirty="0">
                <a:solidFill>
                  <a:srgbClr val="000000"/>
                </a:solidFill>
                <a:effectLst/>
                <a:latin typeface="Times New Roman" panose="02020603050405020304" pitchFamily="18" charset="0"/>
                <a:ea typeface="宋体" panose="02010600030101010101" pitchFamily="2" charset="-122"/>
              </a:rPr>
              <a:t>1&gt;→&lt;</a:t>
            </a:r>
            <a:r>
              <a:rPr lang="zh-CN" altLang="zh-CN" sz="1600" kern="100" dirty="0">
                <a:solidFill>
                  <a:srgbClr val="000000"/>
                </a:solidFill>
                <a:effectLst/>
                <a:latin typeface="Times New Roman" panose="02020603050405020304" pitchFamily="18" charset="0"/>
                <a:ea typeface="宋体" panose="02010600030101010101" pitchFamily="2" charset="-122"/>
              </a:rPr>
              <a:t>表达式</a:t>
            </a:r>
            <a:r>
              <a:rPr lang="en-US" altLang="zh-CN" sz="1600" kern="100" dirty="0">
                <a:solidFill>
                  <a:srgbClr val="000000"/>
                </a:solidFill>
                <a:effectLst/>
                <a:latin typeface="Times New Roman" panose="02020603050405020304" pitchFamily="18" charset="0"/>
                <a:ea typeface="宋体" panose="02010600030101010101" pitchFamily="2" charset="-122"/>
              </a:rPr>
              <a:t>&gt;|</a:t>
            </a:r>
            <a:r>
              <a:rPr lang="en-US" altLang="zh-CN" sz="1600" kern="0" dirty="0">
                <a:solidFill>
                  <a:srgbClr val="000000"/>
                </a:solidFill>
                <a:effectLst/>
                <a:latin typeface="Times New Roman" panose="02020603050405020304" pitchFamily="18" charset="0"/>
                <a:ea typeface="宋体" panose="02010600030101010101" pitchFamily="2" charset="-122"/>
                <a:sym typeface="Symbol" panose="05050102010706020507" pitchFamily="18" charset="2"/>
              </a:rPr>
              <a:t></a:t>
            </a:r>
            <a:endParaRPr lang="zh-CN" altLang="zh-CN" sz="1600" kern="100" dirty="0">
              <a:effectLst/>
              <a:latin typeface="Times New Roman" panose="02020603050405020304" pitchFamily="18" charset="0"/>
              <a:ea typeface="宋体" panose="02010600030101010101" pitchFamily="2" charset="-122"/>
            </a:endParaRPr>
          </a:p>
          <a:p>
            <a:pPr algn="just">
              <a:lnSpc>
                <a:spcPct val="95000"/>
              </a:lnSpc>
            </a:pPr>
            <a:r>
              <a:rPr lang="en-US" altLang="zh-CN" sz="1600" kern="100" dirty="0">
                <a:solidFill>
                  <a:srgbClr val="000000"/>
                </a:solidFill>
                <a:effectLst/>
                <a:latin typeface="Times New Roman" panose="02020603050405020304" pitchFamily="18" charset="0"/>
                <a:ea typeface="宋体" panose="02010600030101010101" pitchFamily="2" charset="-122"/>
              </a:rPr>
              <a:t>&lt;</a:t>
            </a:r>
            <a:r>
              <a:rPr lang="zh-CN" altLang="zh-CN" sz="1600" kern="100" dirty="0">
                <a:solidFill>
                  <a:srgbClr val="000000"/>
                </a:solidFill>
                <a:effectLst/>
                <a:latin typeface="Times New Roman" panose="02020603050405020304" pitchFamily="18" charset="0"/>
                <a:ea typeface="宋体" panose="02010600030101010101" pitchFamily="2" charset="-122"/>
              </a:rPr>
              <a:t>表达式</a:t>
            </a:r>
            <a:r>
              <a:rPr lang="en-US" altLang="zh-CN" sz="1600" kern="100" dirty="0">
                <a:solidFill>
                  <a:srgbClr val="000000"/>
                </a:solidFill>
                <a:effectLst/>
                <a:latin typeface="Times New Roman" panose="02020603050405020304" pitchFamily="18" charset="0"/>
                <a:ea typeface="宋体" panose="02010600030101010101" pitchFamily="2" charset="-122"/>
              </a:rPr>
              <a:t>2&gt;→&lt;</a:t>
            </a:r>
            <a:r>
              <a:rPr lang="zh-CN" altLang="zh-CN" sz="1600" kern="100" dirty="0">
                <a:solidFill>
                  <a:srgbClr val="000000"/>
                </a:solidFill>
                <a:effectLst/>
                <a:latin typeface="Times New Roman" panose="02020603050405020304" pitchFamily="18" charset="0"/>
                <a:ea typeface="宋体" panose="02010600030101010101" pitchFamily="2" charset="-122"/>
              </a:rPr>
              <a:t>表达式</a:t>
            </a:r>
            <a:r>
              <a:rPr lang="en-US" altLang="zh-CN" sz="1600" kern="100" dirty="0">
                <a:solidFill>
                  <a:srgbClr val="000000"/>
                </a:solidFill>
                <a:effectLst/>
                <a:latin typeface="Times New Roman" panose="02020603050405020304" pitchFamily="18" charset="0"/>
                <a:ea typeface="宋体" panose="02010600030101010101" pitchFamily="2" charset="-122"/>
              </a:rPr>
              <a:t>&gt;|</a:t>
            </a:r>
            <a:r>
              <a:rPr lang="en-US" altLang="zh-CN" sz="1600" kern="0" dirty="0">
                <a:solidFill>
                  <a:srgbClr val="000000"/>
                </a:solidFill>
                <a:effectLst/>
                <a:latin typeface="Times New Roman" panose="02020603050405020304" pitchFamily="18" charset="0"/>
                <a:ea typeface="宋体" panose="02010600030101010101" pitchFamily="2" charset="-122"/>
                <a:sym typeface="Symbol" panose="05050102010706020507" pitchFamily="18" charset="2"/>
              </a:rPr>
              <a:t></a:t>
            </a:r>
            <a:endParaRPr lang="zh-CN" altLang="zh-CN" sz="1600" kern="100" dirty="0">
              <a:effectLst/>
              <a:latin typeface="Times New Roman" panose="02020603050405020304" pitchFamily="18" charset="0"/>
              <a:ea typeface="宋体" panose="02010600030101010101" pitchFamily="2" charset="-122"/>
            </a:endParaRPr>
          </a:p>
          <a:p>
            <a:pPr algn="just">
              <a:lnSpc>
                <a:spcPct val="95000"/>
              </a:lnSpc>
            </a:pPr>
            <a:r>
              <a:rPr lang="en-US" altLang="zh-CN" sz="1600" kern="100" dirty="0">
                <a:solidFill>
                  <a:srgbClr val="000000"/>
                </a:solidFill>
                <a:effectLst/>
                <a:latin typeface="Times New Roman" panose="02020603050405020304" pitchFamily="18" charset="0"/>
                <a:ea typeface="宋体" panose="02010600030101010101" pitchFamily="2" charset="-122"/>
              </a:rPr>
              <a:t>&lt;</a:t>
            </a:r>
            <a:r>
              <a:rPr lang="zh-CN" altLang="zh-CN" sz="1600" kern="100" dirty="0">
                <a:solidFill>
                  <a:srgbClr val="000000"/>
                </a:solidFill>
                <a:effectLst/>
                <a:latin typeface="Times New Roman" panose="02020603050405020304" pitchFamily="18" charset="0"/>
                <a:ea typeface="宋体" panose="02010600030101010101" pitchFamily="2" charset="-122"/>
              </a:rPr>
              <a:t>表达式</a:t>
            </a:r>
            <a:r>
              <a:rPr lang="en-US" altLang="zh-CN" sz="1600" kern="100" dirty="0">
                <a:solidFill>
                  <a:srgbClr val="000000"/>
                </a:solidFill>
                <a:effectLst/>
                <a:latin typeface="Times New Roman" panose="02020603050405020304" pitchFamily="18" charset="0"/>
                <a:ea typeface="宋体" panose="02010600030101010101" pitchFamily="2" charset="-122"/>
              </a:rPr>
              <a:t>3&gt;→&lt;</a:t>
            </a:r>
            <a:r>
              <a:rPr lang="zh-CN" altLang="zh-CN" sz="1600" kern="100" dirty="0">
                <a:solidFill>
                  <a:srgbClr val="000000"/>
                </a:solidFill>
                <a:effectLst/>
                <a:latin typeface="Times New Roman" panose="02020603050405020304" pitchFamily="18" charset="0"/>
                <a:ea typeface="宋体" panose="02010600030101010101" pitchFamily="2" charset="-122"/>
              </a:rPr>
              <a:t>表达式</a:t>
            </a:r>
            <a:r>
              <a:rPr lang="en-US" altLang="zh-CN" sz="1600" kern="100" dirty="0">
                <a:solidFill>
                  <a:srgbClr val="000000"/>
                </a:solidFill>
                <a:effectLst/>
                <a:latin typeface="Times New Roman" panose="02020603050405020304" pitchFamily="18" charset="0"/>
                <a:ea typeface="宋体" panose="02010600030101010101" pitchFamily="2" charset="-122"/>
              </a:rPr>
              <a:t>&gt;|</a:t>
            </a:r>
            <a:r>
              <a:rPr lang="en-US" altLang="zh-CN" sz="1600" kern="0" dirty="0">
                <a:solidFill>
                  <a:srgbClr val="000000"/>
                </a:solidFill>
                <a:effectLst/>
                <a:latin typeface="Times New Roman" panose="02020603050405020304" pitchFamily="18" charset="0"/>
                <a:ea typeface="宋体" panose="02010600030101010101" pitchFamily="2" charset="-122"/>
                <a:sym typeface="Symbol" panose="05050102010706020507" pitchFamily="18" charset="2"/>
              </a:rPr>
              <a:t></a:t>
            </a:r>
            <a:endParaRPr lang="zh-CN" altLang="zh-CN" sz="1600" kern="100" dirty="0">
              <a:effectLst/>
              <a:latin typeface="Times New Roman" panose="02020603050405020304" pitchFamily="18" charset="0"/>
              <a:ea typeface="宋体" panose="02010600030101010101" pitchFamily="2" charset="-122"/>
            </a:endParaRPr>
          </a:p>
          <a:p>
            <a:pPr algn="just">
              <a:lnSpc>
                <a:spcPct val="95000"/>
              </a:lnSpc>
            </a:pPr>
            <a:r>
              <a:rPr lang="en-US" altLang="zh-CN" sz="1600" kern="100" dirty="0">
                <a:solidFill>
                  <a:srgbClr val="000000"/>
                </a:solidFill>
                <a:effectLst/>
                <a:latin typeface="Times New Roman" panose="02020603050405020304" pitchFamily="18" charset="0"/>
                <a:ea typeface="宋体" panose="02010600030101010101" pitchFamily="2" charset="-122"/>
              </a:rPr>
              <a:t>&lt;while</a:t>
            </a:r>
            <a:r>
              <a:rPr lang="zh-CN" altLang="zh-CN" sz="1600" kern="100" dirty="0">
                <a:solidFill>
                  <a:srgbClr val="000000"/>
                </a:solidFill>
                <a:effectLst/>
                <a:latin typeface="Times New Roman" panose="02020603050405020304" pitchFamily="18" charset="0"/>
                <a:ea typeface="宋体" panose="02010600030101010101" pitchFamily="2" charset="-122"/>
              </a:rPr>
              <a:t>语句</a:t>
            </a:r>
            <a:r>
              <a:rPr lang="en-US" altLang="zh-CN" sz="1600" kern="100" dirty="0">
                <a:solidFill>
                  <a:srgbClr val="000000"/>
                </a:solidFill>
                <a:effectLst/>
                <a:latin typeface="Times New Roman" panose="02020603050405020304" pitchFamily="18" charset="0"/>
                <a:ea typeface="宋体" panose="02010600030101010101" pitchFamily="2" charset="-122"/>
              </a:rPr>
              <a:t>&gt;→while (&lt;</a:t>
            </a:r>
            <a:r>
              <a:rPr lang="zh-CN" altLang="zh-CN" sz="1600" kern="100" dirty="0">
                <a:solidFill>
                  <a:srgbClr val="000000"/>
                </a:solidFill>
                <a:effectLst/>
                <a:latin typeface="Times New Roman" panose="02020603050405020304" pitchFamily="18" charset="0"/>
                <a:ea typeface="宋体" panose="02010600030101010101" pitchFamily="2" charset="-122"/>
              </a:rPr>
              <a:t>表达式</a:t>
            </a:r>
            <a:r>
              <a:rPr lang="en-US" altLang="zh-CN" sz="1600" kern="100" dirty="0">
                <a:solidFill>
                  <a:srgbClr val="000000"/>
                </a:solidFill>
                <a:effectLst/>
                <a:latin typeface="Times New Roman" panose="02020603050405020304" pitchFamily="18" charset="0"/>
                <a:ea typeface="宋体" panose="02010600030101010101" pitchFamily="2" charset="-122"/>
              </a:rPr>
              <a:t>&gt;)&lt;</a:t>
            </a:r>
            <a:r>
              <a:rPr lang="zh-CN" altLang="zh-CN" sz="1600" kern="100" dirty="0">
                <a:solidFill>
                  <a:srgbClr val="000000"/>
                </a:solidFill>
                <a:effectLst/>
                <a:latin typeface="Times New Roman" panose="02020603050405020304" pitchFamily="18" charset="0"/>
                <a:ea typeface="宋体" panose="02010600030101010101" pitchFamily="2" charset="-122"/>
              </a:rPr>
              <a:t>语句</a:t>
            </a:r>
            <a:r>
              <a:rPr lang="en-US" altLang="zh-CN" sz="1600" kern="100" dirty="0">
                <a:solidFill>
                  <a:srgbClr val="000000"/>
                </a:solidFill>
                <a:effectLst/>
                <a:latin typeface="Times New Roman" panose="02020603050405020304" pitchFamily="18" charset="0"/>
                <a:ea typeface="宋体" panose="02010600030101010101" pitchFamily="2" charset="-122"/>
              </a:rPr>
              <a:t>&gt;</a:t>
            </a:r>
            <a:endParaRPr lang="zh-CN" altLang="zh-CN" sz="1600" kern="100" dirty="0">
              <a:effectLst/>
              <a:latin typeface="Times New Roman" panose="02020603050405020304" pitchFamily="18" charset="0"/>
              <a:ea typeface="宋体" panose="02010600030101010101" pitchFamily="2" charset="-122"/>
            </a:endParaRPr>
          </a:p>
          <a:p>
            <a:pPr algn="just">
              <a:lnSpc>
                <a:spcPct val="95000"/>
              </a:lnSpc>
            </a:pPr>
            <a:r>
              <a:rPr lang="en-US" altLang="zh-CN" sz="1600" kern="100" dirty="0">
                <a:solidFill>
                  <a:srgbClr val="000000"/>
                </a:solidFill>
                <a:effectLst/>
                <a:latin typeface="Times New Roman" panose="02020603050405020304" pitchFamily="18" charset="0"/>
                <a:ea typeface="宋体" panose="02010600030101010101" pitchFamily="2" charset="-122"/>
              </a:rPr>
              <a:t>&lt;do while</a:t>
            </a:r>
            <a:r>
              <a:rPr lang="zh-CN" altLang="zh-CN" sz="1600" kern="100" dirty="0">
                <a:solidFill>
                  <a:srgbClr val="000000"/>
                </a:solidFill>
                <a:effectLst/>
                <a:latin typeface="Times New Roman" panose="02020603050405020304" pitchFamily="18" charset="0"/>
                <a:ea typeface="宋体" panose="02010600030101010101" pitchFamily="2" charset="-122"/>
              </a:rPr>
              <a:t>语句</a:t>
            </a:r>
            <a:r>
              <a:rPr lang="en-US" altLang="zh-CN" sz="1600" kern="100" dirty="0">
                <a:solidFill>
                  <a:srgbClr val="000000"/>
                </a:solidFill>
                <a:effectLst/>
                <a:latin typeface="Times New Roman" panose="02020603050405020304" pitchFamily="18" charset="0"/>
                <a:ea typeface="宋体" panose="02010600030101010101" pitchFamily="2" charset="-122"/>
              </a:rPr>
              <a:t>&gt;→do &lt;</a:t>
            </a:r>
            <a:r>
              <a:rPr lang="zh-CN" altLang="zh-CN" sz="1600" kern="100" dirty="0">
                <a:solidFill>
                  <a:srgbClr val="000000"/>
                </a:solidFill>
                <a:effectLst/>
                <a:latin typeface="Times New Roman" panose="02020603050405020304" pitchFamily="18" charset="0"/>
                <a:ea typeface="宋体" panose="02010600030101010101" pitchFamily="2" charset="-122"/>
              </a:rPr>
              <a:t>语句</a:t>
            </a:r>
            <a:r>
              <a:rPr lang="en-US" altLang="zh-CN" sz="1600" kern="100" dirty="0">
                <a:solidFill>
                  <a:srgbClr val="000000"/>
                </a:solidFill>
                <a:effectLst/>
                <a:latin typeface="Times New Roman" panose="02020603050405020304" pitchFamily="18" charset="0"/>
                <a:ea typeface="宋体" panose="02010600030101010101" pitchFamily="2" charset="-122"/>
              </a:rPr>
              <a:t>&gt; while (&lt;</a:t>
            </a:r>
            <a:r>
              <a:rPr lang="zh-CN" altLang="zh-CN" sz="1600" kern="100" dirty="0">
                <a:solidFill>
                  <a:srgbClr val="000000"/>
                </a:solidFill>
                <a:effectLst/>
                <a:latin typeface="Times New Roman" panose="02020603050405020304" pitchFamily="18" charset="0"/>
                <a:ea typeface="宋体" panose="02010600030101010101" pitchFamily="2" charset="-122"/>
              </a:rPr>
              <a:t>表达式</a:t>
            </a:r>
            <a:r>
              <a:rPr lang="en-US" altLang="zh-CN" sz="1600" kern="100" dirty="0">
                <a:solidFill>
                  <a:srgbClr val="000000"/>
                </a:solidFill>
                <a:effectLst/>
                <a:latin typeface="Times New Roman" panose="02020603050405020304" pitchFamily="18" charset="0"/>
                <a:ea typeface="宋体" panose="02010600030101010101" pitchFamily="2" charset="-122"/>
              </a:rPr>
              <a:t>&gt;);</a:t>
            </a:r>
            <a:endParaRPr lang="zh-CN" altLang="zh-CN" sz="1600" kern="100" dirty="0">
              <a:effectLst/>
              <a:latin typeface="Times New Roman" panose="02020603050405020304" pitchFamily="18" charset="0"/>
              <a:ea typeface="宋体" panose="02010600030101010101" pitchFamily="2" charset="-122"/>
            </a:endParaRPr>
          </a:p>
          <a:p>
            <a:pPr algn="just">
              <a:lnSpc>
                <a:spcPct val="95000"/>
              </a:lnSpc>
            </a:pPr>
            <a:r>
              <a:rPr lang="en-US" altLang="zh-CN" sz="1600" kern="100" dirty="0">
                <a:solidFill>
                  <a:srgbClr val="000000"/>
                </a:solidFill>
                <a:effectLst/>
                <a:latin typeface="Times New Roman" panose="02020603050405020304" pitchFamily="18" charset="0"/>
                <a:ea typeface="宋体" panose="02010600030101010101" pitchFamily="2" charset="-122"/>
              </a:rPr>
              <a:t>&lt;return</a:t>
            </a:r>
            <a:r>
              <a:rPr lang="zh-CN" altLang="zh-CN" sz="1600" kern="100" dirty="0">
                <a:solidFill>
                  <a:srgbClr val="000000"/>
                </a:solidFill>
                <a:effectLst/>
                <a:latin typeface="Times New Roman" panose="02020603050405020304" pitchFamily="18" charset="0"/>
                <a:ea typeface="宋体" panose="02010600030101010101" pitchFamily="2" charset="-122"/>
              </a:rPr>
              <a:t>语句</a:t>
            </a:r>
            <a:r>
              <a:rPr lang="en-US" altLang="zh-CN" sz="1600" kern="100" dirty="0">
                <a:solidFill>
                  <a:srgbClr val="000000"/>
                </a:solidFill>
                <a:effectLst/>
                <a:latin typeface="Times New Roman" panose="02020603050405020304" pitchFamily="18" charset="0"/>
                <a:ea typeface="宋体" panose="02010600030101010101" pitchFamily="2" charset="-122"/>
              </a:rPr>
              <a:t>&gt;→return; |return &lt;</a:t>
            </a:r>
            <a:r>
              <a:rPr lang="zh-CN" altLang="zh-CN" sz="1600" kern="100" dirty="0">
                <a:solidFill>
                  <a:srgbClr val="000000"/>
                </a:solidFill>
                <a:effectLst/>
                <a:latin typeface="Times New Roman" panose="02020603050405020304" pitchFamily="18" charset="0"/>
                <a:ea typeface="宋体" panose="02010600030101010101" pitchFamily="2" charset="-122"/>
              </a:rPr>
              <a:t>表达式</a:t>
            </a:r>
            <a:r>
              <a:rPr lang="en-US" altLang="zh-CN" sz="1600" kern="100" dirty="0">
                <a:solidFill>
                  <a:srgbClr val="000000"/>
                </a:solidFill>
                <a:effectLst/>
                <a:latin typeface="Times New Roman" panose="02020603050405020304" pitchFamily="18" charset="0"/>
                <a:ea typeface="宋体" panose="02010600030101010101" pitchFamily="2" charset="-122"/>
              </a:rPr>
              <a:t>&gt;;</a:t>
            </a:r>
            <a:endParaRPr lang="zh-CN" altLang="zh-CN" sz="1600" kern="100" dirty="0">
              <a:effectLst/>
              <a:latin typeface="Times New Roman" panose="02020603050405020304" pitchFamily="18" charset="0"/>
              <a:ea typeface="宋体" panose="02010600030101010101" pitchFamily="2" charset="-122"/>
            </a:endParaRPr>
          </a:p>
          <a:p>
            <a:pPr algn="just">
              <a:lnSpc>
                <a:spcPct val="95000"/>
              </a:lnSpc>
            </a:pPr>
            <a:r>
              <a:rPr lang="en-US" altLang="zh-CN" sz="1600" kern="100" dirty="0">
                <a:solidFill>
                  <a:srgbClr val="000000"/>
                </a:solidFill>
                <a:effectLst/>
                <a:latin typeface="Times New Roman" panose="02020603050405020304" pitchFamily="18" charset="0"/>
                <a:ea typeface="宋体" panose="02010600030101010101" pitchFamily="2" charset="-122"/>
              </a:rPr>
              <a:t>&lt;break</a:t>
            </a:r>
            <a:r>
              <a:rPr lang="zh-CN" altLang="zh-CN" sz="1600" kern="100" dirty="0">
                <a:solidFill>
                  <a:srgbClr val="000000"/>
                </a:solidFill>
                <a:effectLst/>
                <a:latin typeface="Times New Roman" panose="02020603050405020304" pitchFamily="18" charset="0"/>
                <a:ea typeface="宋体" panose="02010600030101010101" pitchFamily="2" charset="-122"/>
              </a:rPr>
              <a:t>语句</a:t>
            </a:r>
            <a:r>
              <a:rPr lang="en-US" altLang="zh-CN" sz="1600" kern="100" dirty="0">
                <a:solidFill>
                  <a:srgbClr val="000000"/>
                </a:solidFill>
                <a:effectLst/>
                <a:latin typeface="Times New Roman" panose="02020603050405020304" pitchFamily="18" charset="0"/>
                <a:ea typeface="宋体" panose="02010600030101010101" pitchFamily="2" charset="-122"/>
              </a:rPr>
              <a:t>&gt;→break;</a:t>
            </a:r>
            <a:endParaRPr lang="zh-CN" altLang="zh-CN" sz="1600" kern="100" dirty="0">
              <a:effectLst/>
              <a:latin typeface="Times New Roman" panose="02020603050405020304" pitchFamily="18" charset="0"/>
              <a:ea typeface="宋体" panose="02010600030101010101" pitchFamily="2" charset="-122"/>
            </a:endParaRPr>
          </a:p>
          <a:p>
            <a:pPr algn="just">
              <a:lnSpc>
                <a:spcPct val="95000"/>
              </a:lnSpc>
            </a:pPr>
            <a:r>
              <a:rPr lang="en-US" altLang="zh-CN" sz="1600" kern="100" dirty="0">
                <a:solidFill>
                  <a:srgbClr val="000000"/>
                </a:solidFill>
                <a:effectLst/>
                <a:latin typeface="Times New Roman" panose="02020603050405020304" pitchFamily="18" charset="0"/>
                <a:ea typeface="宋体" panose="02010600030101010101" pitchFamily="2" charset="-122"/>
              </a:rPr>
              <a:t>&lt;continue</a:t>
            </a:r>
            <a:r>
              <a:rPr lang="zh-CN" altLang="zh-CN" sz="1600" kern="100" dirty="0">
                <a:solidFill>
                  <a:srgbClr val="000000"/>
                </a:solidFill>
                <a:effectLst/>
                <a:latin typeface="Times New Roman" panose="02020603050405020304" pitchFamily="18" charset="0"/>
                <a:ea typeface="宋体" panose="02010600030101010101" pitchFamily="2" charset="-122"/>
              </a:rPr>
              <a:t>语句</a:t>
            </a:r>
            <a:r>
              <a:rPr lang="en-US" altLang="zh-CN" sz="1600" kern="100" dirty="0">
                <a:solidFill>
                  <a:srgbClr val="000000"/>
                </a:solidFill>
                <a:effectLst/>
                <a:latin typeface="Times New Roman" panose="02020603050405020304" pitchFamily="18" charset="0"/>
                <a:ea typeface="宋体" panose="02010600030101010101" pitchFamily="2" charset="-122"/>
              </a:rPr>
              <a:t>&gt;→continue;</a:t>
            </a:r>
            <a:endParaRPr lang="zh-CN" altLang="zh-CN" sz="1600" kern="100" dirty="0">
              <a:effectLst/>
              <a:latin typeface="Times New Roman" panose="02020603050405020304" pitchFamily="18" charset="0"/>
              <a:ea typeface="宋体" panose="02010600030101010101" pitchFamily="2" charset="-122"/>
            </a:endParaRPr>
          </a:p>
          <a:p>
            <a:pPr>
              <a:lnSpc>
                <a:spcPct val="95000"/>
              </a:lnSpc>
            </a:pPr>
            <a:r>
              <a:rPr lang="en-US" altLang="zh-CN" sz="1600" i="1" kern="100" dirty="0"/>
              <a:t>…… </a:t>
            </a:r>
            <a:endParaRPr lang="zh-CN" altLang="en-US" sz="1600" dirty="0"/>
          </a:p>
        </p:txBody>
      </p:sp>
      <p:graphicFrame>
        <p:nvGraphicFramePr>
          <p:cNvPr id="7" name="对象 6">
            <a:extLst>
              <a:ext uri="{FF2B5EF4-FFF2-40B4-BE49-F238E27FC236}">
                <a16:creationId xmlns:a16="http://schemas.microsoft.com/office/drawing/2014/main" id="{A6170C58-C1C3-F618-CD3F-3333C1FB9F83}"/>
              </a:ext>
            </a:extLst>
          </p:cNvPr>
          <p:cNvGraphicFramePr>
            <a:graphicFrameLocks noChangeAspect="1"/>
          </p:cNvGraphicFramePr>
          <p:nvPr>
            <p:extLst/>
          </p:nvPr>
        </p:nvGraphicFramePr>
        <p:xfrm>
          <a:off x="4575097" y="1635646"/>
          <a:ext cx="4686300" cy="3371850"/>
        </p:xfrm>
        <a:graphic>
          <a:graphicData uri="http://schemas.openxmlformats.org/presentationml/2006/ole">
            <mc:AlternateContent xmlns:mc="http://schemas.openxmlformats.org/markup-compatibility/2006">
              <mc:Choice xmlns:v="urn:schemas-microsoft-com:vml" Requires="v">
                <p:oleObj spid="_x0000_s9227" name="Visio" r:id="rId3" imgW="4686434" imgH="3371918" progId="Visio.Drawing.15">
                  <p:embed/>
                </p:oleObj>
              </mc:Choice>
              <mc:Fallback>
                <p:oleObj name="Visio" r:id="rId3" imgW="4686434" imgH="3371918" progId="Visio.Drawing.15">
                  <p:embed/>
                  <p:pic>
                    <p:nvPicPr>
                      <p:cNvPr id="7" name="对象 6">
                        <a:extLst>
                          <a:ext uri="{FF2B5EF4-FFF2-40B4-BE49-F238E27FC236}">
                            <a16:creationId xmlns:a16="http://schemas.microsoft.com/office/drawing/2014/main" id="{A6170C58-C1C3-F618-CD3F-3333C1FB9F8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5097" y="1635646"/>
                        <a:ext cx="4686300" cy="3371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矩形 2">
            <a:extLst>
              <a:ext uri="{FF2B5EF4-FFF2-40B4-BE49-F238E27FC236}">
                <a16:creationId xmlns:a16="http://schemas.microsoft.com/office/drawing/2014/main" id="{08DB4797-50FC-974A-7C9A-32CBBB6E0958}"/>
              </a:ext>
            </a:extLst>
          </p:cNvPr>
          <p:cNvSpPr/>
          <p:nvPr/>
        </p:nvSpPr>
        <p:spPr>
          <a:xfrm>
            <a:off x="6804248" y="2715766"/>
            <a:ext cx="1224136" cy="288032"/>
          </a:xfrm>
          <a:prstGeom prst="rect">
            <a:avLst/>
          </a:prstGeom>
          <a:no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E4584FD8-F50B-0734-6167-F13DB4ADC020}"/>
              </a:ext>
            </a:extLst>
          </p:cNvPr>
          <p:cNvSpPr/>
          <p:nvPr/>
        </p:nvSpPr>
        <p:spPr>
          <a:xfrm>
            <a:off x="161596" y="2168712"/>
            <a:ext cx="5130484" cy="512763"/>
          </a:xfrm>
          <a:prstGeom prst="rect">
            <a:avLst/>
          </a:prstGeom>
          <a:noFill/>
          <a:ln>
            <a:solidFill>
              <a:srgbClr val="3333FF"/>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1295055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a:xfrm>
            <a:off x="366713" y="0"/>
            <a:ext cx="8381751" cy="509588"/>
          </a:xfrm>
        </p:spPr>
        <p:txBody>
          <a:bodyPr>
            <a:normAutofit fontScale="90000"/>
          </a:bodyPr>
          <a:lstStyle/>
          <a:p>
            <a:pPr eaLnBrk="1" hangingPunct="1"/>
            <a:r>
              <a:rPr lang="zh-CN" altLang="en-US" sz="4000" dirty="0">
                <a:latin typeface="隶书" pitchFamily="49" charset="-122"/>
                <a:ea typeface="隶书" pitchFamily="49" charset="-122"/>
              </a:rPr>
              <a:t>语句分类函数</a:t>
            </a:r>
            <a:r>
              <a:rPr lang="en-US" altLang="zh-CN" sz="3100" dirty="0" err="1">
                <a:latin typeface="隶书" pitchFamily="49" charset="-122"/>
                <a:ea typeface="隶书" pitchFamily="49" charset="-122"/>
              </a:rPr>
              <a:t>FirstWordClasify</a:t>
            </a:r>
            <a:r>
              <a:rPr lang="en-US" altLang="zh-CN" sz="3100" dirty="0">
                <a:latin typeface="隶书" pitchFamily="49" charset="-122"/>
                <a:ea typeface="隶书" pitchFamily="49" charset="-122"/>
              </a:rPr>
              <a:t>(token)</a:t>
            </a:r>
            <a:endParaRPr lang="en-US" altLang="zh-CN" sz="4000" dirty="0">
              <a:latin typeface="隶书" pitchFamily="49" charset="-122"/>
              <a:ea typeface="隶书" pitchFamily="49" charset="-122"/>
            </a:endParaRPr>
          </a:p>
        </p:txBody>
      </p:sp>
      <p:sp>
        <p:nvSpPr>
          <p:cNvPr id="96259" name="Rectangle 3"/>
          <p:cNvSpPr>
            <a:spLocks noGrp="1" noChangeArrowheads="1"/>
          </p:cNvSpPr>
          <p:nvPr>
            <p:ph type="body" idx="1"/>
          </p:nvPr>
        </p:nvSpPr>
        <p:spPr>
          <a:xfrm>
            <a:off x="251520" y="511311"/>
            <a:ext cx="8274050" cy="495573"/>
          </a:xfrm>
        </p:spPr>
        <p:txBody>
          <a:bodyPr>
            <a:normAutofit/>
          </a:bodyPr>
          <a:lstStyle/>
          <a:p>
            <a:pPr eaLnBrk="1" hangingPunct="1">
              <a:lnSpc>
                <a:spcPct val="90000"/>
              </a:lnSpc>
            </a:pPr>
            <a:r>
              <a:rPr lang="zh-CN" altLang="en-US" sz="2400" dirty="0"/>
              <a:t>功能：根据传递的单词判断应该调用哪个语句的处理函数。</a:t>
            </a:r>
          </a:p>
          <a:p>
            <a:pPr eaLnBrk="1" hangingPunct="1">
              <a:lnSpc>
                <a:spcPct val="90000"/>
              </a:lnSpc>
            </a:pPr>
            <a:endParaRPr lang="en-US" altLang="zh-CN" sz="2400" dirty="0"/>
          </a:p>
        </p:txBody>
      </p:sp>
      <p:sp>
        <p:nvSpPr>
          <p:cNvPr id="96260" name="Rectangle 5"/>
          <p:cNvSpPr>
            <a:spLocks noChangeArrowheads="1"/>
          </p:cNvSpPr>
          <p:nvPr/>
        </p:nvSpPr>
        <p:spPr bwMode="auto">
          <a:xfrm>
            <a:off x="885825" y="1006884"/>
            <a:ext cx="7754938" cy="3859518"/>
          </a:xfrm>
          <a:prstGeom prst="rect">
            <a:avLst/>
          </a:prstGeom>
          <a:solidFill>
            <a:schemeClr val="bg1"/>
          </a:solidFill>
          <a:ln w="38100" algn="ctr">
            <a:solidFill>
              <a:srgbClr val="0066FF"/>
            </a:solidFill>
            <a:miter lim="800000"/>
            <a:headEnd/>
            <a:tailEnd/>
          </a:ln>
        </p:spPr>
        <p:txBody>
          <a:bodyPr>
            <a:spAutoFit/>
          </a:bodyPr>
          <a:lstStyle>
            <a:lvl1pPr>
              <a:spcBef>
                <a:spcPct val="20000"/>
              </a:spcBef>
              <a:buChar char="•"/>
              <a:defRPr kumimoji="1" sz="3200">
                <a:solidFill>
                  <a:schemeClr val="tx1"/>
                </a:solidFill>
                <a:latin typeface="Times New Roman" pitchFamily="18" charset="0"/>
                <a:ea typeface="宋体" pitchFamily="2" charset="-122"/>
              </a:defRPr>
            </a:lvl1pPr>
            <a:lvl2pPr marL="742950" indent="-285750">
              <a:spcBef>
                <a:spcPct val="20000"/>
              </a:spcBef>
              <a:buChar char="–"/>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nSpc>
                <a:spcPct val="90000"/>
              </a:lnSpc>
              <a:spcBef>
                <a:spcPct val="0"/>
              </a:spcBef>
              <a:buNone/>
            </a:pPr>
            <a:r>
              <a:rPr lang="en-US" altLang="zh-CN" sz="2400" kern="100" dirty="0"/>
              <a:t>void </a:t>
            </a:r>
            <a:r>
              <a:rPr lang="en-US" altLang="zh-CN" sz="2400" kern="100" dirty="0" err="1"/>
              <a:t>FirstWordClasify</a:t>
            </a:r>
            <a:r>
              <a:rPr lang="en-US" altLang="zh-CN" sz="2400" kern="100" dirty="0"/>
              <a:t>(token) </a:t>
            </a:r>
            <a:r>
              <a:rPr lang="en-US" altLang="zh-CN" sz="2400" dirty="0">
                <a:latin typeface="宋体" pitchFamily="2" charset="-122"/>
              </a:rPr>
              <a:t>//</a:t>
            </a:r>
            <a:r>
              <a:rPr lang="zh-CN" altLang="en-US" sz="2400" dirty="0">
                <a:latin typeface="宋体" pitchFamily="2" charset="-122"/>
              </a:rPr>
              <a:t>根据读入的单词分类处理，</a:t>
            </a:r>
            <a:endParaRPr lang="en-US" altLang="zh-CN" sz="2400" dirty="0">
              <a:latin typeface="宋体" pitchFamily="2" charset="-122"/>
            </a:endParaRPr>
          </a:p>
          <a:p>
            <a:pPr>
              <a:lnSpc>
                <a:spcPct val="90000"/>
              </a:lnSpc>
              <a:spcBef>
                <a:spcPct val="0"/>
              </a:spcBef>
              <a:buNone/>
            </a:pPr>
            <a:r>
              <a:rPr lang="en-US" altLang="zh-CN" sz="2400" dirty="0">
                <a:latin typeface="宋体" pitchFamily="2" charset="-122"/>
              </a:rPr>
              <a:t>                    </a:t>
            </a:r>
            <a:r>
              <a:rPr lang="zh-CN" altLang="en-US" sz="2400" dirty="0">
                <a:latin typeface="宋体" pitchFamily="2" charset="-122"/>
              </a:rPr>
              <a:t>   </a:t>
            </a:r>
            <a:r>
              <a:rPr lang="en-US" altLang="zh-CN" sz="2400" dirty="0">
                <a:latin typeface="宋体" pitchFamily="2" charset="-122"/>
              </a:rPr>
              <a:t>//</a:t>
            </a:r>
            <a:r>
              <a:rPr lang="zh-CN" altLang="en-US" sz="2400" dirty="0">
                <a:latin typeface="宋体" pitchFamily="2" charset="-122"/>
              </a:rPr>
              <a:t>不同语句的第一个单词不同</a:t>
            </a:r>
            <a:endParaRPr lang="en-US" altLang="zh-CN" sz="2400" dirty="0">
              <a:latin typeface="宋体" pitchFamily="2" charset="-122"/>
            </a:endParaRPr>
          </a:p>
          <a:p>
            <a:pPr>
              <a:lnSpc>
                <a:spcPct val="90000"/>
              </a:lnSpc>
              <a:spcBef>
                <a:spcPct val="0"/>
              </a:spcBef>
              <a:buNone/>
            </a:pPr>
            <a:r>
              <a:rPr lang="en-US" altLang="zh-CN" sz="2400" dirty="0">
                <a:latin typeface="宋体" pitchFamily="2" charset="-122"/>
              </a:rPr>
              <a:t>{</a:t>
            </a:r>
          </a:p>
          <a:p>
            <a:pPr>
              <a:lnSpc>
                <a:spcPct val="90000"/>
              </a:lnSpc>
              <a:spcBef>
                <a:spcPct val="0"/>
              </a:spcBef>
              <a:buNone/>
            </a:pPr>
            <a:r>
              <a:rPr lang="en-US" altLang="zh-CN" sz="2400" dirty="0">
                <a:latin typeface="宋体" pitchFamily="2" charset="-122"/>
              </a:rPr>
              <a:t>    if (token </a:t>
            </a:r>
            <a:r>
              <a:rPr lang="zh-CN" altLang="en-US" sz="2400" dirty="0">
                <a:latin typeface="宋体" pitchFamily="2" charset="-122"/>
              </a:rPr>
              <a:t>是 ‘</a:t>
            </a:r>
            <a:r>
              <a:rPr lang="en-US" altLang="zh-CN" sz="2400" dirty="0">
                <a:latin typeface="宋体" pitchFamily="2" charset="-122"/>
              </a:rPr>
              <a:t>int</a:t>
            </a:r>
            <a:r>
              <a:rPr lang="zh-CN" altLang="en-US" sz="2400" dirty="0">
                <a:latin typeface="宋体" pitchFamily="2" charset="-122"/>
              </a:rPr>
              <a:t>等类型</a:t>
            </a:r>
            <a:r>
              <a:rPr lang="en-US" altLang="zh-CN" sz="2400" dirty="0">
                <a:latin typeface="宋体" pitchFamily="2" charset="-122"/>
              </a:rPr>
              <a:t>’)</a:t>
            </a:r>
            <a:r>
              <a:rPr lang="zh-CN" altLang="en-US" sz="2400" dirty="0">
                <a:latin typeface="宋体" pitchFamily="2" charset="-122"/>
              </a:rPr>
              <a:t> </a:t>
            </a:r>
            <a:r>
              <a:rPr lang="en-US" altLang="zh-CN" sz="2400" dirty="0" err="1">
                <a:solidFill>
                  <a:srgbClr val="3333FF"/>
                </a:solidFill>
              </a:rPr>
              <a:t>VarDeclareAnalyzer</a:t>
            </a:r>
            <a:r>
              <a:rPr lang="en-US" altLang="zh-CN" sz="2400" dirty="0"/>
              <a:t>();</a:t>
            </a:r>
            <a:endParaRPr lang="en-US" altLang="zh-CN" sz="2400" dirty="0">
              <a:latin typeface="宋体" pitchFamily="2" charset="-122"/>
            </a:endParaRPr>
          </a:p>
          <a:p>
            <a:pPr eaLnBrk="1" hangingPunct="1">
              <a:lnSpc>
                <a:spcPct val="90000"/>
              </a:lnSpc>
              <a:spcBef>
                <a:spcPct val="0"/>
              </a:spcBef>
              <a:buFontTx/>
              <a:buNone/>
            </a:pPr>
            <a:r>
              <a:rPr lang="en-US" altLang="zh-CN" sz="2200" dirty="0">
                <a:latin typeface="宋体" pitchFamily="2" charset="-122"/>
              </a:rPr>
              <a:t>    if (token </a:t>
            </a:r>
            <a:r>
              <a:rPr lang="zh-CN" altLang="en-US" sz="2200" dirty="0">
                <a:latin typeface="宋体" pitchFamily="2" charset="-122"/>
              </a:rPr>
              <a:t>是 ‘</a:t>
            </a:r>
            <a:r>
              <a:rPr lang="en-US" altLang="zh-CN" sz="2200" dirty="0">
                <a:latin typeface="宋体" pitchFamily="2" charset="-122"/>
              </a:rPr>
              <a:t>if’</a:t>
            </a:r>
            <a:r>
              <a:rPr lang="zh-CN" altLang="en-US" sz="2200" dirty="0">
                <a:latin typeface="宋体" pitchFamily="2" charset="-122"/>
              </a:rPr>
              <a:t>） </a:t>
            </a:r>
            <a:r>
              <a:rPr lang="en-US" altLang="zh-CN" sz="2200" dirty="0">
                <a:solidFill>
                  <a:srgbClr val="FF0000"/>
                </a:solidFill>
                <a:latin typeface="宋体" pitchFamily="2" charset="-122"/>
              </a:rPr>
              <a:t>ifs()</a:t>
            </a:r>
            <a:r>
              <a:rPr lang="zh-CN" altLang="en-US" sz="2200" dirty="0">
                <a:latin typeface="宋体" pitchFamily="2" charset="-122"/>
              </a:rPr>
              <a:t>；</a:t>
            </a:r>
          </a:p>
          <a:p>
            <a:pPr eaLnBrk="1" hangingPunct="1">
              <a:lnSpc>
                <a:spcPct val="90000"/>
              </a:lnSpc>
              <a:spcBef>
                <a:spcPct val="0"/>
              </a:spcBef>
              <a:buFontTx/>
              <a:buNone/>
            </a:pPr>
            <a:r>
              <a:rPr lang="zh-CN" altLang="en-US" sz="2200" dirty="0">
                <a:latin typeface="宋体" pitchFamily="2" charset="-122"/>
              </a:rPr>
              <a:t>    </a:t>
            </a:r>
            <a:r>
              <a:rPr lang="en-US" altLang="zh-CN" sz="2200" dirty="0">
                <a:latin typeface="宋体" pitchFamily="2" charset="-122"/>
              </a:rPr>
              <a:t>if (token </a:t>
            </a:r>
            <a:r>
              <a:rPr lang="zh-CN" altLang="en-US" sz="2200" dirty="0">
                <a:latin typeface="宋体" pitchFamily="2" charset="-122"/>
              </a:rPr>
              <a:t>是 ‘</a:t>
            </a:r>
            <a:r>
              <a:rPr lang="en-US" altLang="zh-CN" sz="2200" dirty="0">
                <a:latin typeface="宋体" pitchFamily="2" charset="-122"/>
              </a:rPr>
              <a:t>for’</a:t>
            </a:r>
            <a:r>
              <a:rPr lang="zh-CN" altLang="en-US" sz="2200" dirty="0">
                <a:latin typeface="宋体" pitchFamily="2" charset="-122"/>
              </a:rPr>
              <a:t>） </a:t>
            </a:r>
            <a:r>
              <a:rPr lang="en-US" altLang="zh-CN" sz="2200" dirty="0" err="1">
                <a:solidFill>
                  <a:srgbClr val="FF0000"/>
                </a:solidFill>
                <a:latin typeface="宋体" pitchFamily="2" charset="-122"/>
              </a:rPr>
              <a:t>fors</a:t>
            </a:r>
            <a:r>
              <a:rPr lang="en-US" altLang="zh-CN" sz="2200" dirty="0">
                <a:solidFill>
                  <a:srgbClr val="FF0000"/>
                </a:solidFill>
                <a:latin typeface="宋体" pitchFamily="2" charset="-122"/>
              </a:rPr>
              <a:t>()</a:t>
            </a:r>
            <a:r>
              <a:rPr lang="zh-CN" altLang="en-US" sz="2200" dirty="0">
                <a:latin typeface="宋体" pitchFamily="2" charset="-122"/>
              </a:rPr>
              <a:t>；</a:t>
            </a:r>
          </a:p>
          <a:p>
            <a:pPr eaLnBrk="1" hangingPunct="1">
              <a:lnSpc>
                <a:spcPct val="90000"/>
              </a:lnSpc>
              <a:spcBef>
                <a:spcPct val="0"/>
              </a:spcBef>
              <a:buFontTx/>
              <a:buNone/>
            </a:pPr>
            <a:r>
              <a:rPr lang="zh-CN" altLang="en-US" sz="2200" dirty="0">
                <a:latin typeface="宋体" pitchFamily="2" charset="-122"/>
              </a:rPr>
              <a:t>    </a:t>
            </a:r>
            <a:r>
              <a:rPr lang="en-US" altLang="zh-CN" sz="2200" dirty="0">
                <a:latin typeface="宋体" pitchFamily="2" charset="-122"/>
              </a:rPr>
              <a:t>if (token </a:t>
            </a:r>
            <a:r>
              <a:rPr lang="zh-CN" altLang="en-US" sz="2200" dirty="0">
                <a:latin typeface="宋体" pitchFamily="2" charset="-122"/>
              </a:rPr>
              <a:t>是 ‘</a:t>
            </a:r>
            <a:r>
              <a:rPr lang="en-US" altLang="zh-CN" sz="2200" dirty="0">
                <a:latin typeface="宋体" pitchFamily="2" charset="-122"/>
              </a:rPr>
              <a:t>while’</a:t>
            </a:r>
            <a:r>
              <a:rPr lang="zh-CN" altLang="en-US" sz="2200" dirty="0">
                <a:latin typeface="宋体" pitchFamily="2" charset="-122"/>
              </a:rPr>
              <a:t>） </a:t>
            </a:r>
            <a:r>
              <a:rPr lang="en-US" altLang="zh-CN" sz="2200" dirty="0">
                <a:solidFill>
                  <a:srgbClr val="FF0000"/>
                </a:solidFill>
                <a:latin typeface="宋体" pitchFamily="2" charset="-122"/>
              </a:rPr>
              <a:t>whiles()</a:t>
            </a:r>
            <a:r>
              <a:rPr lang="zh-CN" altLang="en-US" sz="2200" dirty="0">
                <a:latin typeface="宋体" pitchFamily="2" charset="-122"/>
              </a:rPr>
              <a:t>；</a:t>
            </a:r>
          </a:p>
          <a:p>
            <a:pPr eaLnBrk="1" hangingPunct="1">
              <a:lnSpc>
                <a:spcPct val="90000"/>
              </a:lnSpc>
              <a:spcBef>
                <a:spcPct val="0"/>
              </a:spcBef>
              <a:buFontTx/>
              <a:buNone/>
            </a:pPr>
            <a:r>
              <a:rPr lang="zh-CN" altLang="en-US" sz="2200" dirty="0">
                <a:latin typeface="宋体" pitchFamily="2" charset="-122"/>
              </a:rPr>
              <a:t>    </a:t>
            </a:r>
            <a:r>
              <a:rPr lang="en-US" altLang="zh-CN" sz="2200" dirty="0">
                <a:latin typeface="宋体" pitchFamily="2" charset="-122"/>
              </a:rPr>
              <a:t>if (token </a:t>
            </a:r>
            <a:r>
              <a:rPr lang="zh-CN" altLang="en-US" sz="2200" dirty="0">
                <a:latin typeface="宋体" pitchFamily="2" charset="-122"/>
              </a:rPr>
              <a:t>是 ‘</a:t>
            </a:r>
            <a:r>
              <a:rPr lang="en-US" altLang="zh-CN" sz="2200" dirty="0">
                <a:latin typeface="宋体" pitchFamily="2" charset="-122"/>
              </a:rPr>
              <a:t>do’</a:t>
            </a:r>
            <a:r>
              <a:rPr lang="zh-CN" altLang="en-US" sz="2200" dirty="0">
                <a:latin typeface="宋体" pitchFamily="2" charset="-122"/>
              </a:rPr>
              <a:t>） </a:t>
            </a:r>
            <a:r>
              <a:rPr lang="en-US" altLang="zh-CN" sz="2200" dirty="0" err="1">
                <a:solidFill>
                  <a:srgbClr val="FF0000"/>
                </a:solidFill>
                <a:latin typeface="宋体" pitchFamily="2" charset="-122"/>
              </a:rPr>
              <a:t>dowhile</a:t>
            </a:r>
            <a:r>
              <a:rPr lang="en-US" altLang="zh-CN" sz="2200" dirty="0">
                <a:solidFill>
                  <a:srgbClr val="FF0000"/>
                </a:solidFill>
                <a:latin typeface="宋体" pitchFamily="2" charset="-122"/>
              </a:rPr>
              <a:t>()</a:t>
            </a:r>
            <a:r>
              <a:rPr lang="zh-CN" altLang="en-US" sz="2200" dirty="0">
                <a:latin typeface="宋体" pitchFamily="2" charset="-122"/>
              </a:rPr>
              <a:t>；</a:t>
            </a:r>
          </a:p>
          <a:p>
            <a:pPr eaLnBrk="1" hangingPunct="1">
              <a:lnSpc>
                <a:spcPct val="90000"/>
              </a:lnSpc>
              <a:spcBef>
                <a:spcPct val="0"/>
              </a:spcBef>
              <a:buFontTx/>
              <a:buNone/>
            </a:pPr>
            <a:r>
              <a:rPr lang="zh-CN" altLang="en-US" sz="2200" dirty="0">
                <a:latin typeface="宋体" pitchFamily="2" charset="-122"/>
              </a:rPr>
              <a:t>    </a:t>
            </a:r>
            <a:r>
              <a:rPr lang="en-US" altLang="zh-CN" sz="2200" dirty="0">
                <a:latin typeface="宋体" pitchFamily="2" charset="-122"/>
              </a:rPr>
              <a:t>if (token </a:t>
            </a:r>
            <a:r>
              <a:rPr lang="zh-CN" altLang="en-US" sz="2200" dirty="0">
                <a:latin typeface="宋体" pitchFamily="2" charset="-122"/>
              </a:rPr>
              <a:t>是 标识符） </a:t>
            </a:r>
            <a:r>
              <a:rPr lang="en-US" altLang="zh-CN" sz="2200" dirty="0">
                <a:solidFill>
                  <a:srgbClr val="FF0000"/>
                </a:solidFill>
                <a:latin typeface="宋体" pitchFamily="2" charset="-122"/>
              </a:rPr>
              <a:t>assigns()</a:t>
            </a:r>
            <a:r>
              <a:rPr lang="zh-CN" altLang="en-US" sz="2200" dirty="0">
                <a:latin typeface="宋体" pitchFamily="2" charset="-122"/>
              </a:rPr>
              <a:t>；</a:t>
            </a:r>
            <a:endParaRPr lang="en-US" altLang="zh-CN" sz="2200" dirty="0">
              <a:latin typeface="宋体" pitchFamily="2" charset="-122"/>
            </a:endParaRPr>
          </a:p>
          <a:p>
            <a:pPr eaLnBrk="1" hangingPunct="1">
              <a:lnSpc>
                <a:spcPct val="90000"/>
              </a:lnSpc>
              <a:spcBef>
                <a:spcPct val="0"/>
              </a:spcBef>
              <a:buFontTx/>
              <a:buNone/>
            </a:pPr>
            <a:r>
              <a:rPr lang="en-US" altLang="zh-CN" sz="2200" dirty="0">
                <a:latin typeface="宋体" pitchFamily="2" charset="-122"/>
              </a:rPr>
              <a:t>    else ……</a:t>
            </a:r>
          </a:p>
          <a:p>
            <a:pPr eaLnBrk="1" hangingPunct="1">
              <a:lnSpc>
                <a:spcPct val="90000"/>
              </a:lnSpc>
              <a:spcBef>
                <a:spcPct val="0"/>
              </a:spcBef>
              <a:buFontTx/>
              <a:buNone/>
            </a:pPr>
            <a:r>
              <a:rPr lang="en-US" altLang="zh-CN" sz="2200" dirty="0">
                <a:latin typeface="宋体" pitchFamily="2" charset="-122"/>
              </a:rPr>
              <a:t>    else </a:t>
            </a:r>
            <a:r>
              <a:rPr lang="en-US" altLang="zh-CN" sz="2200" dirty="0">
                <a:solidFill>
                  <a:srgbClr val="FF0000"/>
                </a:solidFill>
                <a:latin typeface="宋体" pitchFamily="2" charset="-122"/>
              </a:rPr>
              <a:t>error()</a:t>
            </a:r>
            <a:r>
              <a:rPr lang="en-US" altLang="zh-CN" sz="2200" dirty="0">
                <a:latin typeface="宋体" pitchFamily="2" charset="-122"/>
              </a:rPr>
              <a:t>;</a:t>
            </a:r>
          </a:p>
          <a:p>
            <a:pPr eaLnBrk="1" hangingPunct="1">
              <a:lnSpc>
                <a:spcPct val="90000"/>
              </a:lnSpc>
              <a:spcBef>
                <a:spcPct val="0"/>
              </a:spcBef>
              <a:buFontTx/>
              <a:buNone/>
            </a:pPr>
            <a:r>
              <a:rPr lang="en-US" altLang="zh-CN" sz="2200" dirty="0">
                <a:latin typeface="宋体" pitchFamily="2" charset="-122"/>
              </a:rPr>
              <a:t>}</a:t>
            </a:r>
          </a:p>
        </p:txBody>
      </p:sp>
    </p:spTree>
    <p:extLst>
      <p:ext uri="{BB962C8B-B14F-4D97-AF65-F5344CB8AC3E}">
        <p14:creationId xmlns:p14="http://schemas.microsoft.com/office/powerpoint/2010/main" val="10712702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905EEDA7-8855-4D59-858B-CA0146050745}"/>
              </a:ext>
            </a:extLst>
          </p:cNvPr>
          <p:cNvSpPr>
            <a:spLocks noGrp="1"/>
          </p:cNvSpPr>
          <p:nvPr>
            <p:ph idx="1"/>
          </p:nvPr>
        </p:nvSpPr>
        <p:spPr>
          <a:xfrm>
            <a:off x="457200" y="771550"/>
            <a:ext cx="8229600" cy="1584176"/>
          </a:xfrm>
        </p:spPr>
        <p:txBody>
          <a:bodyPr>
            <a:normAutofit lnSpcReduction="10000"/>
          </a:bodyPr>
          <a:lstStyle/>
          <a:p>
            <a:r>
              <a:rPr lang="zh-CN" altLang="en-US" dirty="0"/>
              <a:t>每个解析函数返回一个 </a:t>
            </a:r>
            <a:r>
              <a:rPr lang="en-US" altLang="zh-CN" dirty="0"/>
              <a:t>AST </a:t>
            </a:r>
            <a:r>
              <a:rPr lang="zh-CN" altLang="en-US" dirty="0"/>
              <a:t>节点</a:t>
            </a:r>
          </a:p>
          <a:p>
            <a:r>
              <a:rPr lang="zh-CN" altLang="en-US" dirty="0"/>
              <a:t>叶子节点（如数字、标识符）直接创建并返回</a:t>
            </a:r>
          </a:p>
          <a:p>
            <a:r>
              <a:rPr lang="zh-CN" altLang="en-US" dirty="0"/>
              <a:t>组合节点（如二元运算）通过子函数调用获得子节点，然后创建组合节点并返回</a:t>
            </a:r>
          </a:p>
        </p:txBody>
      </p:sp>
      <p:sp>
        <p:nvSpPr>
          <p:cNvPr id="3" name="标题 2">
            <a:extLst>
              <a:ext uri="{FF2B5EF4-FFF2-40B4-BE49-F238E27FC236}">
                <a16:creationId xmlns:a16="http://schemas.microsoft.com/office/drawing/2014/main" id="{21ACC5AD-38ED-4EAB-87E9-9C1F9C35E28F}"/>
              </a:ext>
            </a:extLst>
          </p:cNvPr>
          <p:cNvSpPr>
            <a:spLocks noGrp="1"/>
          </p:cNvSpPr>
          <p:nvPr>
            <p:ph type="title"/>
          </p:nvPr>
        </p:nvSpPr>
        <p:spPr/>
        <p:txBody>
          <a:bodyPr>
            <a:normAutofit fontScale="90000"/>
          </a:bodyPr>
          <a:lstStyle/>
          <a:p>
            <a:r>
              <a:rPr lang="zh-CN" altLang="en-US" dirty="0">
                <a:effectLst/>
              </a:rPr>
              <a:t> 构建 </a:t>
            </a:r>
            <a:r>
              <a:rPr lang="en-US" altLang="zh-CN" dirty="0">
                <a:effectLst/>
              </a:rPr>
              <a:t>AST</a:t>
            </a:r>
            <a:endParaRPr lang="zh-CN" altLang="en-US" dirty="0"/>
          </a:p>
        </p:txBody>
      </p:sp>
      <p:sp>
        <p:nvSpPr>
          <p:cNvPr id="5" name="Rectangle 2">
            <a:extLst>
              <a:ext uri="{FF2B5EF4-FFF2-40B4-BE49-F238E27FC236}">
                <a16:creationId xmlns:a16="http://schemas.microsoft.com/office/drawing/2014/main" id="{4CF8753E-11EB-414D-8362-79C2F42B320E}"/>
              </a:ext>
            </a:extLst>
          </p:cNvPr>
          <p:cNvSpPr>
            <a:spLocks noChangeArrowheads="1"/>
          </p:cNvSpPr>
          <p:nvPr/>
        </p:nvSpPr>
        <p:spPr bwMode="auto">
          <a:xfrm>
            <a:off x="5652571" y="1995686"/>
            <a:ext cx="3456384" cy="2677656"/>
          </a:xfrm>
          <a:prstGeom prst="rect">
            <a:avLst/>
          </a:prstGeom>
          <a:solidFill>
            <a:srgbClr val="1E1F2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rgbClr val="7A7E85"/>
                </a:solidFill>
                <a:effectLst/>
                <a:latin typeface="Arial Unicode MS"/>
                <a:ea typeface="JetBrains Mono"/>
              </a:rPr>
              <a:t># ===============================</a:t>
            </a:r>
            <a:br>
              <a:rPr kumimoji="0" lang="zh-CN" altLang="zh-CN" sz="1200" b="0" i="0" u="none" strike="noStrike" cap="none" normalizeH="0" baseline="0" dirty="0">
                <a:ln>
                  <a:noFill/>
                </a:ln>
                <a:solidFill>
                  <a:srgbClr val="7A7E85"/>
                </a:solidFill>
                <a:effectLst/>
                <a:latin typeface="Arial Unicode MS"/>
                <a:ea typeface="JetBrains Mono"/>
              </a:rPr>
            </a:br>
            <a:r>
              <a:rPr kumimoji="0" lang="zh-CN" altLang="zh-CN" sz="1200" b="0" i="0" u="none" strike="noStrike" cap="none" normalizeH="0" baseline="0" dirty="0">
                <a:ln>
                  <a:noFill/>
                </a:ln>
                <a:solidFill>
                  <a:srgbClr val="7A7E85"/>
                </a:solidFill>
                <a:effectLst/>
                <a:latin typeface="Arial Unicode MS"/>
                <a:ea typeface="JetBrains Mono"/>
              </a:rPr>
              <a:t># AST </a:t>
            </a:r>
            <a:r>
              <a:rPr kumimoji="0" lang="zh-CN" altLang="zh-CN" sz="1200" b="0" i="0" u="none" strike="noStrike" cap="none" normalizeH="0" baseline="0" dirty="0">
                <a:ln>
                  <a:noFill/>
                </a:ln>
                <a:solidFill>
                  <a:srgbClr val="7A7E85"/>
                </a:solidFill>
                <a:effectLst/>
                <a:latin typeface="Courier New" panose="02070309020205020404" pitchFamily="49" charset="0"/>
                <a:ea typeface="JetBrains Mono"/>
                <a:cs typeface="Courier New" panose="02070309020205020404" pitchFamily="49" charset="0"/>
              </a:rPr>
              <a:t>基类</a:t>
            </a:r>
            <a:br>
              <a:rPr kumimoji="0" lang="zh-CN" altLang="zh-CN" sz="1200" b="0" i="0" u="none" strike="noStrike" cap="none" normalizeH="0" baseline="0" dirty="0">
                <a:ln>
                  <a:noFill/>
                </a:ln>
                <a:solidFill>
                  <a:srgbClr val="7A7E85"/>
                </a:solidFill>
                <a:effectLst/>
                <a:latin typeface="Courier New" panose="02070309020205020404" pitchFamily="49" charset="0"/>
                <a:ea typeface="JetBrains Mono"/>
                <a:cs typeface="Courier New" panose="02070309020205020404" pitchFamily="49" charset="0"/>
              </a:rPr>
            </a:br>
            <a:r>
              <a:rPr kumimoji="0" lang="zh-CN" altLang="zh-CN" sz="1200" b="0" i="0" u="none" strike="noStrike" cap="none" normalizeH="0" baseline="0" dirty="0">
                <a:ln>
                  <a:noFill/>
                </a:ln>
                <a:solidFill>
                  <a:srgbClr val="7A7E85"/>
                </a:solidFill>
                <a:effectLst/>
                <a:latin typeface="Arial Unicode MS"/>
                <a:ea typeface="JetBrains Mono"/>
              </a:rPr>
              <a:t># ===============================</a:t>
            </a:r>
            <a:br>
              <a:rPr kumimoji="0" lang="zh-CN" altLang="zh-CN" sz="1200" b="0" i="0" u="none" strike="noStrike" cap="none" normalizeH="0" baseline="0" dirty="0">
                <a:ln>
                  <a:noFill/>
                </a:ln>
                <a:solidFill>
                  <a:srgbClr val="7A7E85"/>
                </a:solidFill>
                <a:effectLst/>
                <a:latin typeface="Arial Unicode MS"/>
                <a:ea typeface="JetBrains Mono"/>
              </a:rPr>
            </a:br>
            <a:r>
              <a:rPr kumimoji="0" lang="zh-CN" altLang="zh-CN" sz="1200" b="0" i="0" u="none" strike="noStrike" cap="none" normalizeH="0" baseline="0" dirty="0">
                <a:ln>
                  <a:noFill/>
                </a:ln>
                <a:solidFill>
                  <a:srgbClr val="CF8E6D"/>
                </a:solidFill>
                <a:effectLst/>
                <a:latin typeface="Arial Unicode MS"/>
                <a:ea typeface="JetBrains Mono"/>
              </a:rPr>
              <a:t>class </a:t>
            </a:r>
            <a:r>
              <a:rPr kumimoji="0" lang="zh-CN" altLang="zh-CN" sz="1200" b="0" i="0" u="none" strike="noStrike" cap="none" normalizeH="0" baseline="0" dirty="0">
                <a:ln>
                  <a:noFill/>
                </a:ln>
                <a:solidFill>
                  <a:srgbClr val="BCBEC4"/>
                </a:solidFill>
                <a:effectLst/>
                <a:latin typeface="Arial Unicode MS"/>
                <a:ea typeface="JetBrains Mono"/>
              </a:rPr>
              <a:t>ASTNode:</a:t>
            </a:r>
            <a:br>
              <a:rPr kumimoji="0" lang="zh-CN" altLang="zh-CN" sz="1200" b="0" i="0" u="none" strike="noStrike" cap="none" normalizeH="0" baseline="0" dirty="0">
                <a:ln>
                  <a:noFill/>
                </a:ln>
                <a:solidFill>
                  <a:srgbClr val="BCBEC4"/>
                </a:solidFill>
                <a:effectLst/>
                <a:latin typeface="Arial Unicode MS"/>
                <a:ea typeface="JetBrains Mono"/>
              </a:rPr>
            </a:br>
            <a:r>
              <a:rPr kumimoji="0" lang="zh-CN" altLang="zh-CN" sz="1200" b="0" i="0" u="none" strike="noStrike" cap="none" normalizeH="0" baseline="0" dirty="0">
                <a:ln>
                  <a:noFill/>
                </a:ln>
                <a:solidFill>
                  <a:srgbClr val="BCBEC4"/>
                </a:solidFill>
                <a:effectLst/>
                <a:latin typeface="Arial Unicode MS"/>
                <a:ea typeface="JetBrains Mono"/>
              </a:rPr>
              <a:t>    </a:t>
            </a:r>
            <a:r>
              <a:rPr kumimoji="0" lang="zh-CN" altLang="zh-CN" sz="1200" b="0" i="0" u="none" strike="noStrike" cap="none" normalizeH="0" baseline="0" dirty="0">
                <a:ln>
                  <a:noFill/>
                </a:ln>
                <a:solidFill>
                  <a:srgbClr val="CF8E6D"/>
                </a:solidFill>
                <a:effectLst/>
                <a:latin typeface="Arial Unicode MS"/>
                <a:ea typeface="JetBrains Mono"/>
              </a:rPr>
              <a:t>def </a:t>
            </a:r>
            <a:r>
              <a:rPr kumimoji="0" lang="zh-CN" altLang="zh-CN" sz="1200" b="0" i="0" u="none" strike="noStrike" cap="none" normalizeH="0" baseline="0" dirty="0">
                <a:ln>
                  <a:noFill/>
                </a:ln>
                <a:solidFill>
                  <a:srgbClr val="B200B2"/>
                </a:solidFill>
                <a:effectLst/>
                <a:latin typeface="Arial Unicode MS"/>
                <a:ea typeface="JetBrains Mono"/>
              </a:rPr>
              <a:t>__init__</a:t>
            </a:r>
            <a:r>
              <a:rPr kumimoji="0" lang="zh-CN" altLang="zh-CN" sz="1200" b="0" i="0" u="none" strike="noStrike" cap="none" normalizeH="0" baseline="0" dirty="0">
                <a:ln>
                  <a:noFill/>
                </a:ln>
                <a:solidFill>
                  <a:srgbClr val="BCBEC4"/>
                </a:solidFill>
                <a:effectLst/>
                <a:latin typeface="Arial Unicode MS"/>
                <a:ea typeface="JetBrains Mono"/>
              </a:rPr>
              <a:t>(</a:t>
            </a:r>
            <a:r>
              <a:rPr kumimoji="0" lang="zh-CN" altLang="zh-CN" sz="1200" b="0" i="0" u="none" strike="noStrike" cap="none" normalizeH="0" baseline="0" dirty="0">
                <a:ln>
                  <a:noFill/>
                </a:ln>
                <a:solidFill>
                  <a:srgbClr val="94558D"/>
                </a:solidFill>
                <a:effectLst/>
                <a:latin typeface="Arial Unicode MS"/>
                <a:ea typeface="JetBrains Mono"/>
              </a:rPr>
              <a:t>self</a:t>
            </a:r>
            <a:r>
              <a:rPr kumimoji="0" lang="zh-CN" altLang="zh-CN" sz="1200" b="0" i="0" u="none" strike="noStrike" cap="none" normalizeH="0" baseline="0" dirty="0">
                <a:ln>
                  <a:noFill/>
                </a:ln>
                <a:solidFill>
                  <a:srgbClr val="BCBEC4"/>
                </a:solidFill>
                <a:effectLst/>
                <a:latin typeface="Arial Unicode MS"/>
                <a:ea typeface="JetBrains Mono"/>
              </a:rPr>
              <a:t>, lineno=</a:t>
            </a:r>
            <a:r>
              <a:rPr kumimoji="0" lang="zh-CN" altLang="zh-CN" sz="1200" b="0" i="0" u="none" strike="noStrike" cap="none" normalizeH="0" baseline="0" dirty="0">
                <a:ln>
                  <a:noFill/>
                </a:ln>
                <a:solidFill>
                  <a:srgbClr val="CF8E6D"/>
                </a:solidFill>
                <a:effectLst/>
                <a:latin typeface="Arial Unicode MS"/>
                <a:ea typeface="JetBrains Mono"/>
              </a:rPr>
              <a:t>None</a:t>
            </a:r>
            <a:r>
              <a:rPr kumimoji="0" lang="zh-CN" altLang="zh-CN" sz="1200" b="0" i="0" u="none" strike="noStrike" cap="none" normalizeH="0" baseline="0" dirty="0">
                <a:ln>
                  <a:noFill/>
                </a:ln>
                <a:solidFill>
                  <a:srgbClr val="BCBEC4"/>
                </a:solidFill>
                <a:effectLst/>
                <a:latin typeface="Arial Unicode MS"/>
                <a:ea typeface="JetBrains Mono"/>
              </a:rPr>
              <a:t>):</a:t>
            </a:r>
            <a:br>
              <a:rPr kumimoji="0" lang="zh-CN" altLang="zh-CN" sz="1200" b="0" i="0" u="none" strike="noStrike" cap="none" normalizeH="0" baseline="0" dirty="0">
                <a:ln>
                  <a:noFill/>
                </a:ln>
                <a:solidFill>
                  <a:srgbClr val="BCBEC4"/>
                </a:solidFill>
                <a:effectLst/>
                <a:latin typeface="Arial Unicode MS"/>
                <a:ea typeface="JetBrains Mono"/>
              </a:rPr>
            </a:br>
            <a:r>
              <a:rPr kumimoji="0" lang="zh-CN" altLang="zh-CN" sz="1200" b="0" i="0" u="none" strike="noStrike" cap="none" normalizeH="0" baseline="0" dirty="0">
                <a:ln>
                  <a:noFill/>
                </a:ln>
                <a:solidFill>
                  <a:srgbClr val="BCBEC4"/>
                </a:solidFill>
                <a:effectLst/>
                <a:latin typeface="Arial Unicode MS"/>
                <a:ea typeface="JetBrains Mono"/>
              </a:rPr>
              <a:t>        </a:t>
            </a:r>
            <a:r>
              <a:rPr kumimoji="0" lang="zh-CN" altLang="zh-CN" sz="1200" b="0" i="0" u="none" strike="noStrike" cap="none" normalizeH="0" baseline="0" dirty="0">
                <a:ln>
                  <a:noFill/>
                </a:ln>
                <a:solidFill>
                  <a:srgbClr val="94558D"/>
                </a:solidFill>
                <a:effectLst/>
                <a:latin typeface="Arial Unicode MS"/>
                <a:ea typeface="JetBrains Mono"/>
              </a:rPr>
              <a:t>self</a:t>
            </a:r>
            <a:r>
              <a:rPr kumimoji="0" lang="zh-CN" altLang="zh-CN" sz="1200" b="0" i="0" u="none" strike="noStrike" cap="none" normalizeH="0" baseline="0" dirty="0">
                <a:ln>
                  <a:noFill/>
                </a:ln>
                <a:solidFill>
                  <a:srgbClr val="BCBEC4"/>
                </a:solidFill>
                <a:effectLst/>
                <a:latin typeface="Arial Unicode MS"/>
                <a:ea typeface="JetBrains Mono"/>
              </a:rPr>
              <a:t>.type = </a:t>
            </a:r>
            <a:r>
              <a:rPr kumimoji="0" lang="zh-CN" altLang="zh-CN" sz="1200" b="0" i="0" u="none" strike="noStrike" cap="none" normalizeH="0" baseline="0" dirty="0">
                <a:ln>
                  <a:noFill/>
                </a:ln>
                <a:solidFill>
                  <a:srgbClr val="CF8E6D"/>
                </a:solidFill>
                <a:effectLst/>
                <a:latin typeface="Arial Unicode MS"/>
                <a:ea typeface="JetBrains Mono"/>
              </a:rPr>
              <a:t>None  </a:t>
            </a:r>
            <a:r>
              <a:rPr kumimoji="0" lang="zh-CN" altLang="zh-CN" sz="1200" b="0" i="0" u="none" strike="noStrike" cap="none" normalizeH="0" baseline="0" dirty="0">
                <a:ln>
                  <a:noFill/>
                </a:ln>
                <a:solidFill>
                  <a:srgbClr val="7A7E85"/>
                </a:solidFill>
                <a:effectLst/>
                <a:latin typeface="Arial Unicode MS"/>
                <a:ea typeface="JetBrains Mono"/>
              </a:rPr>
              <a:t># </a:t>
            </a:r>
            <a:r>
              <a:rPr kumimoji="0" lang="zh-CN" altLang="zh-CN" sz="1200" b="0" i="0" u="none" strike="noStrike" cap="none" normalizeH="0" baseline="0" dirty="0">
                <a:ln>
                  <a:noFill/>
                </a:ln>
                <a:solidFill>
                  <a:srgbClr val="7A7E85"/>
                </a:solidFill>
                <a:effectLst/>
                <a:latin typeface="Courier New" panose="02070309020205020404" pitchFamily="49" charset="0"/>
                <a:ea typeface="JetBrains Mono"/>
                <a:cs typeface="Courier New" panose="02070309020205020404" pitchFamily="49" charset="0"/>
              </a:rPr>
              <a:t>表达式类型</a:t>
            </a:r>
            <a:br>
              <a:rPr kumimoji="0" lang="zh-CN" altLang="zh-CN" sz="1200" b="0" i="0" u="none" strike="noStrike" cap="none" normalizeH="0" baseline="0" dirty="0">
                <a:ln>
                  <a:noFill/>
                </a:ln>
                <a:solidFill>
                  <a:srgbClr val="7A7E85"/>
                </a:solidFill>
                <a:effectLst/>
                <a:latin typeface="Courier New" panose="02070309020205020404" pitchFamily="49" charset="0"/>
                <a:ea typeface="JetBrains Mono"/>
                <a:cs typeface="Courier New" panose="02070309020205020404" pitchFamily="49" charset="0"/>
              </a:rPr>
            </a:br>
            <a:r>
              <a:rPr kumimoji="0" lang="zh-CN" altLang="zh-CN" sz="1200" b="0" i="0" u="none" strike="noStrike" cap="none" normalizeH="0" baseline="0" dirty="0">
                <a:ln>
                  <a:noFill/>
                </a:ln>
                <a:solidFill>
                  <a:srgbClr val="7A7E85"/>
                </a:solidFill>
                <a:effectLst/>
                <a:latin typeface="Courier New" panose="02070309020205020404" pitchFamily="49" charset="0"/>
                <a:ea typeface="JetBrains Mono"/>
                <a:cs typeface="Courier New" panose="02070309020205020404" pitchFamily="49" charset="0"/>
              </a:rPr>
              <a:t>        </a:t>
            </a:r>
            <a:r>
              <a:rPr kumimoji="0" lang="zh-CN" altLang="zh-CN" sz="1200" b="0" i="0" u="none" strike="noStrike" cap="none" normalizeH="0" baseline="0" dirty="0">
                <a:ln>
                  <a:noFill/>
                </a:ln>
                <a:solidFill>
                  <a:srgbClr val="94558D"/>
                </a:solidFill>
                <a:effectLst/>
                <a:latin typeface="Arial Unicode MS"/>
                <a:ea typeface="JetBrains Mono"/>
              </a:rPr>
              <a:t>self</a:t>
            </a:r>
            <a:r>
              <a:rPr kumimoji="0" lang="zh-CN" altLang="zh-CN" sz="1200" b="0" i="0" u="none" strike="noStrike" cap="none" normalizeH="0" baseline="0" dirty="0">
                <a:ln>
                  <a:noFill/>
                </a:ln>
                <a:solidFill>
                  <a:srgbClr val="BCBEC4"/>
                </a:solidFill>
                <a:effectLst/>
                <a:latin typeface="Arial Unicode MS"/>
                <a:ea typeface="JetBrains Mono"/>
              </a:rPr>
              <a:t>.is_lvalue = </a:t>
            </a:r>
            <a:r>
              <a:rPr kumimoji="0" lang="zh-CN" altLang="zh-CN" sz="1200" b="0" i="0" u="none" strike="noStrike" cap="none" normalizeH="0" baseline="0" dirty="0">
                <a:ln>
                  <a:noFill/>
                </a:ln>
                <a:solidFill>
                  <a:srgbClr val="CF8E6D"/>
                </a:solidFill>
                <a:effectLst/>
                <a:latin typeface="Arial Unicode MS"/>
                <a:ea typeface="JetBrains Mono"/>
              </a:rPr>
              <a:t>False  </a:t>
            </a:r>
            <a:r>
              <a:rPr kumimoji="0" lang="zh-CN" altLang="zh-CN" sz="1200" b="0" i="0" u="none" strike="noStrike" cap="none" normalizeH="0" baseline="0" dirty="0">
                <a:ln>
                  <a:noFill/>
                </a:ln>
                <a:solidFill>
                  <a:srgbClr val="7A7E85"/>
                </a:solidFill>
                <a:effectLst/>
                <a:latin typeface="Arial Unicode MS"/>
                <a:ea typeface="JetBrains Mono"/>
              </a:rPr>
              <a:t># </a:t>
            </a:r>
            <a:r>
              <a:rPr kumimoji="0" lang="zh-CN" altLang="zh-CN" sz="1200" b="0" i="0" u="none" strike="noStrike" cap="none" normalizeH="0" baseline="0" dirty="0">
                <a:ln>
                  <a:noFill/>
                </a:ln>
                <a:solidFill>
                  <a:srgbClr val="7A7E85"/>
                </a:solidFill>
                <a:effectLst/>
                <a:latin typeface="Courier New" panose="02070309020205020404" pitchFamily="49" charset="0"/>
                <a:ea typeface="JetBrains Mono"/>
                <a:cs typeface="Courier New" panose="02070309020205020404" pitchFamily="49" charset="0"/>
              </a:rPr>
              <a:t>是否左值</a:t>
            </a:r>
            <a:br>
              <a:rPr kumimoji="0" lang="zh-CN" altLang="zh-CN" sz="1200" b="0" i="0" u="none" strike="noStrike" cap="none" normalizeH="0" baseline="0" dirty="0">
                <a:ln>
                  <a:noFill/>
                </a:ln>
                <a:solidFill>
                  <a:srgbClr val="7A7E85"/>
                </a:solidFill>
                <a:effectLst/>
                <a:latin typeface="Courier New" panose="02070309020205020404" pitchFamily="49" charset="0"/>
                <a:ea typeface="JetBrains Mono"/>
                <a:cs typeface="Courier New" panose="02070309020205020404" pitchFamily="49" charset="0"/>
              </a:rPr>
            </a:br>
            <a:r>
              <a:rPr kumimoji="0" lang="zh-CN" altLang="zh-CN" sz="1200" b="0" i="0" u="none" strike="noStrike" cap="none" normalizeH="0" baseline="0" dirty="0">
                <a:ln>
                  <a:noFill/>
                </a:ln>
                <a:solidFill>
                  <a:srgbClr val="7A7E85"/>
                </a:solidFill>
                <a:effectLst/>
                <a:latin typeface="Courier New" panose="02070309020205020404" pitchFamily="49" charset="0"/>
                <a:ea typeface="JetBrains Mono"/>
                <a:cs typeface="Courier New" panose="02070309020205020404" pitchFamily="49" charset="0"/>
              </a:rPr>
              <a:t>        </a:t>
            </a:r>
            <a:r>
              <a:rPr kumimoji="0" lang="zh-CN" altLang="zh-CN" sz="1200" b="0" i="0" u="none" strike="noStrike" cap="none" normalizeH="0" baseline="0" dirty="0">
                <a:ln>
                  <a:noFill/>
                </a:ln>
                <a:solidFill>
                  <a:srgbClr val="94558D"/>
                </a:solidFill>
                <a:effectLst/>
                <a:latin typeface="Arial Unicode MS"/>
                <a:ea typeface="JetBrains Mono"/>
              </a:rPr>
              <a:t>self</a:t>
            </a:r>
            <a:r>
              <a:rPr kumimoji="0" lang="zh-CN" altLang="zh-CN" sz="1200" b="0" i="0" u="none" strike="noStrike" cap="none" normalizeH="0" baseline="0" dirty="0">
                <a:ln>
                  <a:noFill/>
                </a:ln>
                <a:solidFill>
                  <a:srgbClr val="BCBEC4"/>
                </a:solidFill>
                <a:effectLst/>
                <a:latin typeface="Arial Unicode MS"/>
                <a:ea typeface="JetBrains Mono"/>
              </a:rPr>
              <a:t>.lineno = lineno  </a:t>
            </a:r>
            <a:r>
              <a:rPr kumimoji="0" lang="zh-CN" altLang="zh-CN" sz="1200" b="0" i="0" u="none" strike="noStrike" cap="none" normalizeH="0" baseline="0" dirty="0">
                <a:ln>
                  <a:noFill/>
                </a:ln>
                <a:solidFill>
                  <a:srgbClr val="7A7E85"/>
                </a:solidFill>
                <a:effectLst/>
                <a:latin typeface="Arial Unicode MS"/>
                <a:ea typeface="JetBrains Mono"/>
              </a:rPr>
              <a:t># </a:t>
            </a:r>
            <a:r>
              <a:rPr kumimoji="0" lang="zh-CN" altLang="zh-CN" sz="1200" b="0" i="0" u="none" strike="noStrike" cap="none" normalizeH="0" baseline="0" dirty="0">
                <a:ln>
                  <a:noFill/>
                </a:ln>
                <a:solidFill>
                  <a:srgbClr val="7A7E85"/>
                </a:solidFill>
                <a:effectLst/>
                <a:latin typeface="Courier New" panose="02070309020205020404" pitchFamily="49" charset="0"/>
                <a:ea typeface="JetBrains Mono"/>
                <a:cs typeface="Courier New" panose="02070309020205020404" pitchFamily="49" charset="0"/>
              </a:rPr>
              <a:t>行号</a:t>
            </a:r>
            <a:br>
              <a:rPr kumimoji="0" lang="zh-CN" altLang="zh-CN" sz="1200" b="0" i="0" u="none" strike="noStrike" cap="none" normalizeH="0" baseline="0" dirty="0">
                <a:ln>
                  <a:noFill/>
                </a:ln>
                <a:solidFill>
                  <a:srgbClr val="7A7E85"/>
                </a:solidFill>
                <a:effectLst/>
                <a:latin typeface="Courier New" panose="02070309020205020404" pitchFamily="49" charset="0"/>
                <a:ea typeface="JetBrains Mono"/>
                <a:cs typeface="Courier New" panose="02070309020205020404" pitchFamily="49" charset="0"/>
              </a:rPr>
            </a:br>
            <a:br>
              <a:rPr kumimoji="0" lang="zh-CN" altLang="zh-CN" sz="1200" b="0" i="0" u="none" strike="noStrike" cap="none" normalizeH="0" baseline="0" dirty="0">
                <a:ln>
                  <a:noFill/>
                </a:ln>
                <a:solidFill>
                  <a:srgbClr val="7A7E85"/>
                </a:solidFill>
                <a:effectLst/>
                <a:latin typeface="Courier New" panose="02070309020205020404" pitchFamily="49" charset="0"/>
                <a:ea typeface="JetBrains Mono"/>
                <a:cs typeface="Courier New" panose="02070309020205020404" pitchFamily="49" charset="0"/>
              </a:rPr>
            </a:br>
            <a:r>
              <a:rPr kumimoji="0" lang="zh-CN" altLang="zh-CN" sz="1200" b="0" i="0" u="none" strike="noStrike" cap="none" normalizeH="0" baseline="0" dirty="0">
                <a:ln>
                  <a:noFill/>
                </a:ln>
                <a:solidFill>
                  <a:srgbClr val="7A7E85"/>
                </a:solidFill>
                <a:effectLst/>
                <a:latin typeface="Courier New" panose="02070309020205020404" pitchFamily="49" charset="0"/>
                <a:ea typeface="JetBrains Mono"/>
                <a:cs typeface="Courier New" panose="02070309020205020404" pitchFamily="49" charset="0"/>
              </a:rPr>
              <a:t>    </a:t>
            </a:r>
            <a:r>
              <a:rPr kumimoji="0" lang="zh-CN" altLang="zh-CN" sz="1200" b="0" i="0" u="none" strike="noStrike" cap="none" normalizeH="0" baseline="0" dirty="0">
                <a:ln>
                  <a:noFill/>
                </a:ln>
                <a:solidFill>
                  <a:srgbClr val="CF8E6D"/>
                </a:solidFill>
                <a:effectLst/>
                <a:latin typeface="Arial Unicode MS"/>
                <a:ea typeface="JetBrains Mono"/>
              </a:rPr>
              <a:t>def </a:t>
            </a:r>
            <a:r>
              <a:rPr kumimoji="0" lang="zh-CN" altLang="zh-CN" sz="1200" b="0" i="0" u="none" strike="noStrike" cap="none" normalizeH="0" baseline="0" dirty="0">
                <a:ln>
                  <a:noFill/>
                </a:ln>
                <a:solidFill>
                  <a:srgbClr val="56A8F5"/>
                </a:solidFill>
                <a:effectLst/>
                <a:latin typeface="Arial Unicode MS"/>
                <a:ea typeface="JetBrains Mono"/>
              </a:rPr>
              <a:t>get_children</a:t>
            </a:r>
            <a:r>
              <a:rPr kumimoji="0" lang="zh-CN" altLang="zh-CN" sz="1200" b="0" i="0" u="none" strike="noStrike" cap="none" normalizeH="0" baseline="0" dirty="0">
                <a:ln>
                  <a:noFill/>
                </a:ln>
                <a:solidFill>
                  <a:srgbClr val="BCBEC4"/>
                </a:solidFill>
                <a:effectLst/>
                <a:latin typeface="Arial Unicode MS"/>
                <a:ea typeface="JetBrains Mono"/>
              </a:rPr>
              <a:t>(</a:t>
            </a:r>
            <a:r>
              <a:rPr kumimoji="0" lang="zh-CN" altLang="zh-CN" sz="1200" b="0" i="0" u="none" strike="noStrike" cap="none" normalizeH="0" baseline="0" dirty="0">
                <a:ln>
                  <a:noFill/>
                </a:ln>
                <a:solidFill>
                  <a:srgbClr val="94558D"/>
                </a:solidFill>
                <a:effectLst/>
                <a:latin typeface="Arial Unicode MS"/>
                <a:ea typeface="JetBrains Mono"/>
              </a:rPr>
              <a:t>self</a:t>
            </a:r>
            <a:r>
              <a:rPr kumimoji="0" lang="zh-CN" altLang="zh-CN" sz="1200" b="0" i="0" u="none" strike="noStrike" cap="none" normalizeH="0" baseline="0" dirty="0">
                <a:ln>
                  <a:noFill/>
                </a:ln>
                <a:solidFill>
                  <a:srgbClr val="BCBEC4"/>
                </a:solidFill>
                <a:effectLst/>
                <a:latin typeface="Arial Unicode MS"/>
                <a:ea typeface="JetBrains Mono"/>
              </a:rPr>
              <a:t>):</a:t>
            </a:r>
            <a:br>
              <a:rPr kumimoji="0" lang="zh-CN" altLang="zh-CN" sz="1200" b="0" i="0" u="none" strike="noStrike" cap="none" normalizeH="0" baseline="0" dirty="0">
                <a:ln>
                  <a:noFill/>
                </a:ln>
                <a:solidFill>
                  <a:srgbClr val="BCBEC4"/>
                </a:solidFill>
                <a:effectLst/>
                <a:latin typeface="Arial Unicode MS"/>
                <a:ea typeface="JetBrains Mono"/>
              </a:rPr>
            </a:br>
            <a:r>
              <a:rPr kumimoji="0" lang="zh-CN" altLang="zh-CN" sz="1200" b="0" i="0" u="none" strike="noStrike" cap="none" normalizeH="0" baseline="0" dirty="0">
                <a:ln>
                  <a:noFill/>
                </a:ln>
                <a:solidFill>
                  <a:srgbClr val="BCBEC4"/>
                </a:solidFill>
                <a:effectLst/>
                <a:latin typeface="Arial Unicode MS"/>
                <a:ea typeface="JetBrains Mono"/>
              </a:rPr>
              <a:t>        </a:t>
            </a:r>
            <a:r>
              <a:rPr kumimoji="0" lang="zh-CN" altLang="zh-CN" sz="1200" b="0" i="0" u="none" strike="noStrike" cap="none" normalizeH="0" baseline="0" dirty="0">
                <a:ln>
                  <a:noFill/>
                </a:ln>
                <a:solidFill>
                  <a:srgbClr val="CF8E6D"/>
                </a:solidFill>
                <a:effectLst/>
                <a:latin typeface="Arial Unicode MS"/>
                <a:ea typeface="JetBrains Mono"/>
              </a:rPr>
              <a:t>return </a:t>
            </a:r>
            <a:r>
              <a:rPr kumimoji="0" lang="zh-CN" altLang="zh-CN" sz="1200" b="0" i="0" u="none" strike="noStrike" cap="none" normalizeH="0" baseline="0" dirty="0">
                <a:ln>
                  <a:noFill/>
                </a:ln>
                <a:solidFill>
                  <a:srgbClr val="BCBEC4"/>
                </a:solidFill>
                <a:effectLst/>
                <a:latin typeface="Arial Unicode MS"/>
                <a:ea typeface="JetBrains Mono"/>
              </a:rPr>
              <a:t>[]</a:t>
            </a:r>
            <a:br>
              <a:rPr kumimoji="0" lang="zh-CN" altLang="zh-CN" sz="1200" b="0" i="0" u="none" strike="noStrike" cap="none" normalizeH="0" baseline="0" dirty="0">
                <a:ln>
                  <a:noFill/>
                </a:ln>
                <a:solidFill>
                  <a:srgbClr val="BCBEC4"/>
                </a:solidFill>
                <a:effectLst/>
                <a:latin typeface="Arial Unicode MS"/>
                <a:ea typeface="JetBrains Mono"/>
              </a:rPr>
            </a:br>
            <a:br>
              <a:rPr kumimoji="0" lang="zh-CN" altLang="zh-CN" sz="1200" b="0" i="0" u="none" strike="noStrike" cap="none" normalizeH="0" baseline="0" dirty="0">
                <a:ln>
                  <a:noFill/>
                </a:ln>
                <a:solidFill>
                  <a:srgbClr val="BCBEC4"/>
                </a:solidFill>
                <a:effectLst/>
                <a:latin typeface="Arial Unicode MS"/>
                <a:ea typeface="JetBrains Mono"/>
              </a:rPr>
            </a:br>
            <a:r>
              <a:rPr kumimoji="0" lang="zh-CN" altLang="zh-CN" sz="1200" b="0" i="0" u="none" strike="noStrike" cap="none" normalizeH="0" baseline="0" dirty="0">
                <a:ln>
                  <a:noFill/>
                </a:ln>
                <a:solidFill>
                  <a:srgbClr val="BCBEC4"/>
                </a:solidFill>
                <a:effectLst/>
                <a:latin typeface="Arial Unicode MS"/>
                <a:ea typeface="JetBrains Mono"/>
              </a:rPr>
              <a:t>    </a:t>
            </a:r>
            <a:r>
              <a:rPr kumimoji="0" lang="zh-CN" altLang="zh-CN" sz="1200" b="0" i="0" u="none" strike="noStrike" cap="none" normalizeH="0" baseline="0" dirty="0">
                <a:ln>
                  <a:noFill/>
                </a:ln>
                <a:solidFill>
                  <a:srgbClr val="CF8E6D"/>
                </a:solidFill>
                <a:effectLst/>
                <a:latin typeface="Arial Unicode MS"/>
                <a:ea typeface="JetBrains Mono"/>
              </a:rPr>
              <a:t>def </a:t>
            </a:r>
            <a:r>
              <a:rPr kumimoji="0" lang="zh-CN" altLang="zh-CN" sz="1200" b="0" i="0" u="none" strike="noStrike" cap="none" normalizeH="0" baseline="0" dirty="0">
                <a:ln>
                  <a:noFill/>
                </a:ln>
                <a:solidFill>
                  <a:srgbClr val="56A8F5"/>
                </a:solidFill>
                <a:effectLst/>
                <a:latin typeface="Arial Unicode MS"/>
                <a:ea typeface="JetBrains Mono"/>
              </a:rPr>
              <a:t>get_label</a:t>
            </a:r>
            <a:r>
              <a:rPr kumimoji="0" lang="zh-CN" altLang="zh-CN" sz="1200" b="0" i="0" u="none" strike="noStrike" cap="none" normalizeH="0" baseline="0" dirty="0">
                <a:ln>
                  <a:noFill/>
                </a:ln>
                <a:solidFill>
                  <a:srgbClr val="BCBEC4"/>
                </a:solidFill>
                <a:effectLst/>
                <a:latin typeface="Arial Unicode MS"/>
                <a:ea typeface="JetBrains Mono"/>
              </a:rPr>
              <a:t>(</a:t>
            </a:r>
            <a:r>
              <a:rPr kumimoji="0" lang="zh-CN" altLang="zh-CN" sz="1200" b="0" i="0" u="none" strike="noStrike" cap="none" normalizeH="0" baseline="0" dirty="0">
                <a:ln>
                  <a:noFill/>
                </a:ln>
                <a:solidFill>
                  <a:srgbClr val="94558D"/>
                </a:solidFill>
                <a:effectLst/>
                <a:latin typeface="Arial Unicode MS"/>
                <a:ea typeface="JetBrains Mono"/>
              </a:rPr>
              <a:t>self</a:t>
            </a:r>
            <a:r>
              <a:rPr kumimoji="0" lang="zh-CN" altLang="zh-CN" sz="1200" b="0" i="0" u="none" strike="noStrike" cap="none" normalizeH="0" baseline="0" dirty="0">
                <a:ln>
                  <a:noFill/>
                </a:ln>
                <a:solidFill>
                  <a:srgbClr val="BCBEC4"/>
                </a:solidFill>
                <a:effectLst/>
                <a:latin typeface="Arial Unicode MS"/>
                <a:ea typeface="JetBrains Mono"/>
              </a:rPr>
              <a:t>):</a:t>
            </a:r>
            <a:br>
              <a:rPr kumimoji="0" lang="zh-CN" altLang="zh-CN" sz="1200" b="0" i="0" u="none" strike="noStrike" cap="none" normalizeH="0" baseline="0" dirty="0">
                <a:ln>
                  <a:noFill/>
                </a:ln>
                <a:solidFill>
                  <a:srgbClr val="BCBEC4"/>
                </a:solidFill>
                <a:effectLst/>
                <a:latin typeface="Arial Unicode MS"/>
                <a:ea typeface="JetBrains Mono"/>
              </a:rPr>
            </a:br>
            <a:r>
              <a:rPr kumimoji="0" lang="zh-CN" altLang="zh-CN" sz="1200" b="0" i="0" u="none" strike="noStrike" cap="none" normalizeH="0" baseline="0" dirty="0">
                <a:ln>
                  <a:noFill/>
                </a:ln>
                <a:solidFill>
                  <a:srgbClr val="BCBEC4"/>
                </a:solidFill>
                <a:effectLst/>
                <a:latin typeface="Arial Unicode MS"/>
                <a:ea typeface="JetBrains Mono"/>
              </a:rPr>
              <a:t>        </a:t>
            </a:r>
            <a:r>
              <a:rPr kumimoji="0" lang="zh-CN" altLang="zh-CN" sz="1200" b="0" i="0" u="none" strike="noStrike" cap="none" normalizeH="0" baseline="0" dirty="0">
                <a:ln>
                  <a:noFill/>
                </a:ln>
                <a:solidFill>
                  <a:srgbClr val="CF8E6D"/>
                </a:solidFill>
                <a:effectLst/>
                <a:latin typeface="Arial Unicode MS"/>
                <a:ea typeface="JetBrains Mono"/>
              </a:rPr>
              <a:t>return </a:t>
            </a:r>
            <a:r>
              <a:rPr kumimoji="0" lang="zh-CN" altLang="zh-CN" sz="1200" b="0" i="0" u="none" strike="noStrike" cap="none" normalizeH="0" baseline="0" dirty="0">
                <a:ln>
                  <a:noFill/>
                </a:ln>
                <a:solidFill>
                  <a:srgbClr val="94558D"/>
                </a:solidFill>
                <a:effectLst/>
                <a:latin typeface="Arial Unicode MS"/>
                <a:ea typeface="JetBrains Mono"/>
              </a:rPr>
              <a:t>self</a:t>
            </a:r>
            <a:r>
              <a:rPr kumimoji="0" lang="zh-CN" altLang="zh-CN" sz="1200" b="0" i="0" u="none" strike="noStrike" cap="none" normalizeH="0" baseline="0" dirty="0">
                <a:ln>
                  <a:noFill/>
                </a:ln>
                <a:solidFill>
                  <a:srgbClr val="BCBEC4"/>
                </a:solidFill>
                <a:effectLst/>
                <a:latin typeface="Arial Unicode MS"/>
                <a:ea typeface="JetBrains Mono"/>
              </a:rPr>
              <a:t>.__class__.</a:t>
            </a:r>
            <a:r>
              <a:rPr kumimoji="0" lang="zh-CN" altLang="zh-CN" sz="1200" b="0" i="0" u="none" strike="noStrike" cap="none" normalizeH="0" baseline="0" dirty="0">
                <a:ln>
                  <a:noFill/>
                </a:ln>
                <a:solidFill>
                  <a:srgbClr val="B200B2"/>
                </a:solidFill>
                <a:effectLst/>
                <a:latin typeface="Arial Unicode MS"/>
                <a:ea typeface="JetBrains Mono"/>
              </a:rPr>
              <a:t>__name__</a:t>
            </a:r>
            <a:endParaRPr kumimoji="0" lang="zh-CN" altLang="zh-CN" sz="1200" b="0" i="0" u="none" strike="noStrike" cap="none" normalizeH="0" baseline="0" dirty="0">
              <a:ln>
                <a:noFill/>
              </a:ln>
              <a:solidFill>
                <a:schemeClr val="tx1"/>
              </a:solidFill>
              <a:effectLst/>
              <a:latin typeface="Arial" panose="020B0604020202020204" pitchFamily="34" charset="0"/>
            </a:endParaRPr>
          </a:p>
        </p:txBody>
      </p:sp>
      <p:sp>
        <p:nvSpPr>
          <p:cNvPr id="6" name="矩形 5">
            <a:extLst>
              <a:ext uri="{FF2B5EF4-FFF2-40B4-BE49-F238E27FC236}">
                <a16:creationId xmlns:a16="http://schemas.microsoft.com/office/drawing/2014/main" id="{B322BD8D-019C-4569-9D9D-3CD384A7507A}"/>
              </a:ext>
            </a:extLst>
          </p:cNvPr>
          <p:cNvSpPr/>
          <p:nvPr/>
        </p:nvSpPr>
        <p:spPr>
          <a:xfrm>
            <a:off x="457200" y="2281178"/>
            <a:ext cx="4690864" cy="2862322"/>
          </a:xfrm>
          <a:prstGeom prst="rect">
            <a:avLst/>
          </a:prstGeom>
          <a:solidFill>
            <a:schemeClr val="bg2">
              <a:lumMod val="90000"/>
            </a:schemeClr>
          </a:solidFill>
        </p:spPr>
        <p:txBody>
          <a:bodyPr wrap="square">
            <a:spAutoFit/>
          </a:bodyPr>
          <a:lstStyle/>
          <a:p>
            <a:pPr marL="109728" indent="0">
              <a:buNone/>
            </a:pPr>
            <a:r>
              <a:rPr lang="en-US" altLang="zh-CN" dirty="0"/>
              <a:t>def </a:t>
            </a:r>
            <a:r>
              <a:rPr lang="en-US" altLang="zh-CN" dirty="0" err="1"/>
              <a:t>parse_factor</a:t>
            </a:r>
            <a:r>
              <a:rPr lang="en-US" altLang="zh-CN" dirty="0"/>
              <a:t>(self):</a:t>
            </a:r>
          </a:p>
          <a:p>
            <a:pPr marL="109728" indent="0">
              <a:buNone/>
            </a:pPr>
            <a:r>
              <a:rPr lang="en-US" altLang="zh-CN" dirty="0"/>
              <a:t>    if </a:t>
            </a:r>
            <a:r>
              <a:rPr lang="en-US" altLang="zh-CN" dirty="0" err="1"/>
              <a:t>self.current_token.type</a:t>
            </a:r>
            <a:r>
              <a:rPr lang="en-US" altLang="zh-CN" dirty="0"/>
              <a:t> == 'NUM':</a:t>
            </a:r>
          </a:p>
          <a:p>
            <a:pPr marL="109728" indent="0">
              <a:buNone/>
            </a:pPr>
            <a:r>
              <a:rPr lang="en-US" altLang="zh-CN" dirty="0"/>
              <a:t>        </a:t>
            </a:r>
            <a:r>
              <a:rPr lang="en-US" altLang="zh-CN" dirty="0" err="1"/>
              <a:t>val</a:t>
            </a:r>
            <a:r>
              <a:rPr lang="en-US" altLang="zh-CN" dirty="0"/>
              <a:t> = </a:t>
            </a:r>
            <a:r>
              <a:rPr lang="en-US" altLang="zh-CN" dirty="0" err="1"/>
              <a:t>self.current_token.value</a:t>
            </a:r>
            <a:endParaRPr lang="en-US" altLang="zh-CN" dirty="0"/>
          </a:p>
          <a:p>
            <a:pPr marL="109728" indent="0">
              <a:buNone/>
            </a:pPr>
            <a:r>
              <a:rPr lang="en-US" altLang="zh-CN" dirty="0"/>
              <a:t>        </a:t>
            </a:r>
            <a:r>
              <a:rPr lang="en-US" altLang="zh-CN" dirty="0" err="1"/>
              <a:t>self.match</a:t>
            </a:r>
            <a:r>
              <a:rPr lang="en-US" altLang="zh-CN" dirty="0"/>
              <a:t>('NUM')</a:t>
            </a:r>
          </a:p>
          <a:p>
            <a:pPr marL="109728" indent="0">
              <a:buNone/>
            </a:pPr>
            <a:r>
              <a:rPr lang="en-US" altLang="zh-CN" dirty="0"/>
              <a:t>        return Num(</a:t>
            </a:r>
            <a:r>
              <a:rPr lang="en-US" altLang="zh-CN" dirty="0" err="1"/>
              <a:t>val</a:t>
            </a:r>
            <a:r>
              <a:rPr lang="en-US" altLang="zh-CN" dirty="0"/>
              <a:t>)</a:t>
            </a:r>
          </a:p>
          <a:p>
            <a:pPr marL="109728" indent="0">
              <a:buNone/>
            </a:pPr>
            <a:r>
              <a:rPr lang="en-US" altLang="zh-CN" dirty="0"/>
              <a:t>    </a:t>
            </a:r>
            <a:r>
              <a:rPr lang="en-US" altLang="zh-CN" dirty="0" err="1"/>
              <a:t>elif</a:t>
            </a:r>
            <a:r>
              <a:rPr lang="en-US" altLang="zh-CN" dirty="0"/>
              <a:t> </a:t>
            </a:r>
            <a:r>
              <a:rPr lang="en-US" altLang="zh-CN" dirty="0" err="1"/>
              <a:t>self.current_token.type</a:t>
            </a:r>
            <a:r>
              <a:rPr lang="en-US" altLang="zh-CN" dirty="0"/>
              <a:t> == 'ID':</a:t>
            </a:r>
          </a:p>
          <a:p>
            <a:pPr marL="109728" indent="0">
              <a:buNone/>
            </a:pPr>
            <a:r>
              <a:rPr lang="en-US" altLang="zh-CN" dirty="0"/>
              <a:t>        name = </a:t>
            </a:r>
            <a:r>
              <a:rPr lang="en-US" altLang="zh-CN" dirty="0" err="1"/>
              <a:t>self.current_token.value</a:t>
            </a:r>
            <a:endParaRPr lang="en-US" altLang="zh-CN" dirty="0"/>
          </a:p>
          <a:p>
            <a:pPr marL="109728" indent="0">
              <a:buNone/>
            </a:pPr>
            <a:r>
              <a:rPr lang="en-US" altLang="zh-CN" dirty="0"/>
              <a:t>        </a:t>
            </a:r>
            <a:r>
              <a:rPr lang="en-US" altLang="zh-CN" dirty="0" err="1"/>
              <a:t>self.match</a:t>
            </a:r>
            <a:r>
              <a:rPr lang="en-US" altLang="zh-CN" dirty="0"/>
              <a:t>('ID')</a:t>
            </a:r>
          </a:p>
          <a:p>
            <a:pPr marL="109728" indent="0">
              <a:buNone/>
            </a:pPr>
            <a:r>
              <a:rPr lang="en-US" altLang="zh-CN" dirty="0"/>
              <a:t>        return Id(name)</a:t>
            </a:r>
          </a:p>
          <a:p>
            <a:pPr marL="109728" indent="0">
              <a:buNone/>
            </a:pPr>
            <a:r>
              <a:rPr lang="en-US" altLang="zh-CN" dirty="0"/>
              <a:t>    # ...</a:t>
            </a:r>
            <a:endParaRPr lang="zh-CN" altLang="en-US" dirty="0"/>
          </a:p>
        </p:txBody>
      </p:sp>
    </p:spTree>
    <p:extLst>
      <p:ext uri="{BB962C8B-B14F-4D97-AF65-F5344CB8AC3E}">
        <p14:creationId xmlns:p14="http://schemas.microsoft.com/office/powerpoint/2010/main" val="16610804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CFD77A8-3C65-4F60-ACC1-480BDE8AB59D}"/>
              </a:ext>
            </a:extLst>
          </p:cNvPr>
          <p:cNvSpPr/>
          <p:nvPr/>
        </p:nvSpPr>
        <p:spPr>
          <a:xfrm>
            <a:off x="3563888" y="3003798"/>
            <a:ext cx="5383981" cy="2062103"/>
          </a:xfrm>
          <a:prstGeom prst="rect">
            <a:avLst/>
          </a:prstGeom>
          <a:solidFill>
            <a:schemeClr val="bg2">
              <a:lumMod val="90000"/>
            </a:schemeClr>
          </a:solidFill>
        </p:spPr>
        <p:txBody>
          <a:bodyPr wrap="square">
            <a:spAutoFit/>
          </a:bodyPr>
          <a:lstStyle/>
          <a:p>
            <a:r>
              <a:rPr lang="en-US" altLang="zh-CN" sz="1600" dirty="0"/>
              <a:t>def </a:t>
            </a:r>
            <a:r>
              <a:rPr lang="en-US" altLang="zh-CN" sz="1600" dirty="0" err="1"/>
              <a:t>parse_expr</a:t>
            </a:r>
            <a:r>
              <a:rPr lang="en-US" altLang="zh-CN" sz="1600" dirty="0"/>
              <a:t>(self):</a:t>
            </a:r>
          </a:p>
          <a:p>
            <a:r>
              <a:rPr lang="en-US" altLang="zh-CN" sz="1600" dirty="0"/>
              <a:t>    node = </a:t>
            </a:r>
            <a:r>
              <a:rPr lang="en-US" altLang="zh-CN" sz="1600" dirty="0" err="1"/>
              <a:t>self.parse_term</a:t>
            </a:r>
            <a:r>
              <a:rPr lang="en-US" altLang="zh-CN" sz="1600" dirty="0"/>
              <a:t>()               # </a:t>
            </a:r>
            <a:r>
              <a:rPr lang="zh-CN" altLang="en-US" sz="1600" dirty="0"/>
              <a:t>左子节点</a:t>
            </a:r>
          </a:p>
          <a:p>
            <a:r>
              <a:rPr lang="zh-CN" altLang="en-US" sz="1600" dirty="0"/>
              <a:t>    </a:t>
            </a:r>
            <a:r>
              <a:rPr lang="en-US" altLang="zh-CN" sz="1600" dirty="0"/>
              <a:t>while </a:t>
            </a:r>
            <a:r>
              <a:rPr lang="en-US" altLang="zh-CN" sz="1600" dirty="0" err="1"/>
              <a:t>self.current_token.type</a:t>
            </a:r>
            <a:r>
              <a:rPr lang="en-US" altLang="zh-CN" sz="1600" dirty="0"/>
              <a:t> in ('+', '-'):</a:t>
            </a:r>
          </a:p>
          <a:p>
            <a:r>
              <a:rPr lang="en-US" altLang="zh-CN" sz="1600" dirty="0"/>
              <a:t>        op = </a:t>
            </a:r>
            <a:r>
              <a:rPr lang="en-US" altLang="zh-CN" sz="1600" dirty="0" err="1"/>
              <a:t>self.current_token.type</a:t>
            </a:r>
            <a:endParaRPr lang="en-US" altLang="zh-CN" sz="1600" dirty="0"/>
          </a:p>
          <a:p>
            <a:r>
              <a:rPr lang="en-US" altLang="zh-CN" sz="1600" dirty="0"/>
              <a:t>        </a:t>
            </a:r>
            <a:r>
              <a:rPr lang="en-US" altLang="zh-CN" sz="1600" dirty="0" err="1"/>
              <a:t>self.match</a:t>
            </a:r>
            <a:r>
              <a:rPr lang="en-US" altLang="zh-CN" sz="1600" dirty="0"/>
              <a:t>(op)</a:t>
            </a:r>
          </a:p>
          <a:p>
            <a:r>
              <a:rPr lang="en-US" altLang="zh-CN" sz="1600" dirty="0"/>
              <a:t>        right = </a:t>
            </a:r>
            <a:r>
              <a:rPr lang="en-US" altLang="zh-CN" sz="1600" dirty="0" err="1"/>
              <a:t>self.parse_term</a:t>
            </a:r>
            <a:r>
              <a:rPr lang="en-US" altLang="zh-CN" sz="1600" dirty="0"/>
              <a:t>()          # </a:t>
            </a:r>
            <a:r>
              <a:rPr lang="zh-CN" altLang="en-US" sz="1600" dirty="0"/>
              <a:t>右子节点</a:t>
            </a:r>
          </a:p>
          <a:p>
            <a:r>
              <a:rPr lang="zh-CN" altLang="en-US" sz="1600" dirty="0"/>
              <a:t>        </a:t>
            </a:r>
            <a:r>
              <a:rPr lang="en-US" altLang="zh-CN" sz="1600" dirty="0"/>
              <a:t>node = </a:t>
            </a:r>
            <a:r>
              <a:rPr lang="en-US" altLang="zh-CN" sz="1600" dirty="0" err="1"/>
              <a:t>BinOp</a:t>
            </a:r>
            <a:r>
              <a:rPr lang="en-US" altLang="zh-CN" sz="1600" dirty="0"/>
              <a:t>(op, node, right)   # </a:t>
            </a:r>
            <a:r>
              <a:rPr lang="zh-CN" altLang="en-US" sz="1600" dirty="0"/>
              <a:t>不断向左结合</a:t>
            </a:r>
          </a:p>
          <a:p>
            <a:r>
              <a:rPr lang="zh-CN" altLang="en-US" sz="1600" dirty="0"/>
              <a:t>    </a:t>
            </a:r>
            <a:r>
              <a:rPr lang="en-US" altLang="zh-CN" sz="1600" dirty="0"/>
              <a:t>return node</a:t>
            </a:r>
            <a:endParaRPr lang="zh-CN" altLang="en-US" sz="1600" dirty="0"/>
          </a:p>
        </p:txBody>
      </p:sp>
      <p:pic>
        <p:nvPicPr>
          <p:cNvPr id="5" name="图片 4">
            <a:extLst>
              <a:ext uri="{FF2B5EF4-FFF2-40B4-BE49-F238E27FC236}">
                <a16:creationId xmlns:a16="http://schemas.microsoft.com/office/drawing/2014/main" id="{0B3E8697-6F47-4887-BF25-E2AA5B430547}"/>
              </a:ext>
            </a:extLst>
          </p:cNvPr>
          <p:cNvPicPr>
            <a:picLocks noChangeAspect="1"/>
          </p:cNvPicPr>
          <p:nvPr/>
        </p:nvPicPr>
        <p:blipFill>
          <a:blip r:embed="rId2"/>
          <a:stretch>
            <a:fillRect/>
          </a:stretch>
        </p:blipFill>
        <p:spPr>
          <a:xfrm>
            <a:off x="0" y="34581"/>
            <a:ext cx="5583386" cy="3755461"/>
          </a:xfrm>
          <a:prstGeom prst="rect">
            <a:avLst/>
          </a:prstGeom>
        </p:spPr>
      </p:pic>
    </p:spTree>
    <p:extLst>
      <p:ext uri="{BB962C8B-B14F-4D97-AF65-F5344CB8AC3E}">
        <p14:creationId xmlns:p14="http://schemas.microsoft.com/office/powerpoint/2010/main" val="14261027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A390DC23-C40A-4C6B-9A2E-EA023F8EE691}"/>
              </a:ext>
            </a:extLst>
          </p:cNvPr>
          <p:cNvSpPr>
            <a:spLocks noGrp="1"/>
          </p:cNvSpPr>
          <p:nvPr>
            <p:ph idx="1"/>
          </p:nvPr>
        </p:nvSpPr>
        <p:spPr>
          <a:xfrm>
            <a:off x="241177" y="711441"/>
            <a:ext cx="5385866" cy="1860309"/>
          </a:xfrm>
        </p:spPr>
        <p:txBody>
          <a:bodyPr>
            <a:normAutofit/>
          </a:bodyPr>
          <a:lstStyle/>
          <a:p>
            <a:r>
              <a:rPr lang="zh-CN" altLang="en-US" sz="2000" dirty="0"/>
              <a:t>输入程序</a:t>
            </a:r>
            <a:endParaRPr lang="en-US" altLang="zh-CN" sz="2000" dirty="0"/>
          </a:p>
          <a:p>
            <a:r>
              <a:rPr lang="zh-CN" altLang="en-US" sz="2000" dirty="0"/>
              <a:t>根据选定的语法分析方法进行分析</a:t>
            </a:r>
            <a:endParaRPr lang="en-US" altLang="zh-CN" sz="2000" dirty="0"/>
          </a:p>
          <a:p>
            <a:r>
              <a:rPr lang="zh-CN" altLang="en-US" sz="2000" dirty="0"/>
              <a:t>输出抽象语法树</a:t>
            </a:r>
            <a:endParaRPr lang="en-US" altLang="zh-CN" sz="2000" dirty="0"/>
          </a:p>
          <a:p>
            <a:r>
              <a:rPr lang="zh-CN" altLang="en-US" sz="2000" dirty="0"/>
              <a:t>输出错误信息</a:t>
            </a:r>
          </a:p>
        </p:txBody>
      </p:sp>
      <p:sp>
        <p:nvSpPr>
          <p:cNvPr id="3" name="标题 2">
            <a:extLst>
              <a:ext uri="{FF2B5EF4-FFF2-40B4-BE49-F238E27FC236}">
                <a16:creationId xmlns:a16="http://schemas.microsoft.com/office/drawing/2014/main" id="{35A56EA3-C8E0-4C46-8314-7442396B503F}"/>
              </a:ext>
            </a:extLst>
          </p:cNvPr>
          <p:cNvSpPr>
            <a:spLocks noGrp="1"/>
          </p:cNvSpPr>
          <p:nvPr>
            <p:ph type="title"/>
          </p:nvPr>
        </p:nvSpPr>
        <p:spPr/>
        <p:txBody>
          <a:bodyPr>
            <a:normAutofit fontScale="90000"/>
          </a:bodyPr>
          <a:lstStyle/>
          <a:p>
            <a:r>
              <a:rPr lang="zh-CN" altLang="en-US" dirty="0"/>
              <a:t>输出效果</a:t>
            </a:r>
          </a:p>
        </p:txBody>
      </p:sp>
      <p:sp>
        <p:nvSpPr>
          <p:cNvPr id="11" name="Rectangle 3">
            <a:extLst>
              <a:ext uri="{FF2B5EF4-FFF2-40B4-BE49-F238E27FC236}">
                <a16:creationId xmlns:a16="http://schemas.microsoft.com/office/drawing/2014/main" id="{B420E07F-876A-4E59-A153-1A8603A594DA}"/>
              </a:ext>
            </a:extLst>
          </p:cNvPr>
          <p:cNvSpPr>
            <a:spLocks noChangeArrowheads="1"/>
          </p:cNvSpPr>
          <p:nvPr/>
        </p:nvSpPr>
        <p:spPr bwMode="auto">
          <a:xfrm>
            <a:off x="6414085" y="247634"/>
            <a:ext cx="2622411" cy="4770537"/>
          </a:xfrm>
          <a:prstGeom prst="rect">
            <a:avLst/>
          </a:prstGeom>
          <a:solidFill>
            <a:srgbClr val="1E1F2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BCBEC4"/>
                </a:solidFill>
                <a:effectLst/>
                <a:latin typeface="Arial Unicode MS"/>
                <a:ea typeface="JetBrains Mono"/>
              </a:rPr>
              <a:t>Program</a:t>
            </a:r>
            <a:br>
              <a:rPr kumimoji="0" lang="zh-CN" altLang="zh-CN" sz="1600" b="0" i="0" u="none" strike="noStrike" cap="none" normalizeH="0" baseline="0" dirty="0">
                <a:ln>
                  <a:noFill/>
                </a:ln>
                <a:solidFill>
                  <a:srgbClr val="BCBEC4"/>
                </a:solidFill>
                <a:effectLst/>
                <a:latin typeface="Arial Unicode MS"/>
                <a:ea typeface="JetBrains Mono"/>
              </a:rPr>
            </a:br>
            <a:r>
              <a:rPr kumimoji="0" lang="zh-CN" altLang="zh-CN" sz="1600" b="0" i="0" u="none" strike="noStrike" cap="none" normalizeH="0" baseline="0" dirty="0">
                <a:ln>
                  <a:noFill/>
                </a:ln>
                <a:solidFill>
                  <a:srgbClr val="BCBEC4"/>
                </a:solidFill>
                <a:effectLst/>
                <a:latin typeface="Arial Unicode MS"/>
                <a:ea typeface="JetBrains Mono"/>
              </a:rPr>
              <a:t>  FunctionDef(int main [1])</a:t>
            </a:r>
            <a:br>
              <a:rPr kumimoji="0" lang="zh-CN" altLang="zh-CN" sz="1600" b="0" i="0" u="none" strike="noStrike" cap="none" normalizeH="0" baseline="0" dirty="0">
                <a:ln>
                  <a:noFill/>
                </a:ln>
                <a:solidFill>
                  <a:srgbClr val="BCBEC4"/>
                </a:solidFill>
                <a:effectLst/>
                <a:latin typeface="Arial Unicode MS"/>
                <a:ea typeface="JetBrains Mono"/>
              </a:rPr>
            </a:br>
            <a:r>
              <a:rPr kumimoji="0" lang="zh-CN" altLang="zh-CN" sz="1600" b="0" i="0" u="none" strike="noStrike" cap="none" normalizeH="0" baseline="0" dirty="0">
                <a:ln>
                  <a:noFill/>
                </a:ln>
                <a:solidFill>
                  <a:srgbClr val="BCBEC4"/>
                </a:solidFill>
                <a:effectLst/>
                <a:latin typeface="Arial Unicode MS"/>
                <a:ea typeface="JetBrains Mono"/>
              </a:rPr>
              <a:t>    Compound</a:t>
            </a:r>
            <a:br>
              <a:rPr kumimoji="0" lang="zh-CN" altLang="zh-CN" sz="1600" b="0" i="0" u="none" strike="noStrike" cap="none" normalizeH="0" baseline="0" dirty="0">
                <a:ln>
                  <a:noFill/>
                </a:ln>
                <a:solidFill>
                  <a:srgbClr val="BCBEC4"/>
                </a:solidFill>
                <a:effectLst/>
                <a:latin typeface="Arial Unicode MS"/>
                <a:ea typeface="JetBrains Mono"/>
              </a:rPr>
            </a:br>
            <a:r>
              <a:rPr kumimoji="0" lang="zh-CN" altLang="zh-CN" sz="1600" b="0" i="0" u="none" strike="noStrike" cap="none" normalizeH="0" baseline="0" dirty="0">
                <a:ln>
                  <a:noFill/>
                </a:ln>
                <a:solidFill>
                  <a:srgbClr val="BCBEC4"/>
                </a:solidFill>
                <a:effectLst/>
                <a:latin typeface="Arial Unicode MS"/>
                <a:ea typeface="JetBrains Mono"/>
              </a:rPr>
              <a:t>      WhileStmt</a:t>
            </a:r>
            <a:br>
              <a:rPr kumimoji="0" lang="zh-CN" altLang="zh-CN" sz="1600" b="0" i="0" u="none" strike="noStrike" cap="none" normalizeH="0" baseline="0" dirty="0">
                <a:ln>
                  <a:noFill/>
                </a:ln>
                <a:solidFill>
                  <a:srgbClr val="BCBEC4"/>
                </a:solidFill>
                <a:effectLst/>
                <a:latin typeface="Arial Unicode MS"/>
                <a:ea typeface="JetBrains Mono"/>
              </a:rPr>
            </a:br>
            <a:r>
              <a:rPr kumimoji="0" lang="zh-CN" altLang="zh-CN" sz="1600" b="0" i="0" u="none" strike="noStrike" cap="none" normalizeH="0" baseline="0" dirty="0">
                <a:ln>
                  <a:noFill/>
                </a:ln>
                <a:solidFill>
                  <a:srgbClr val="BCBEC4"/>
                </a:solidFill>
                <a:effectLst/>
                <a:latin typeface="Arial Unicode MS"/>
                <a:ea typeface="JetBrains Mono"/>
              </a:rPr>
              <a:t>        &gt; [2]</a:t>
            </a:r>
            <a:br>
              <a:rPr kumimoji="0" lang="zh-CN" altLang="zh-CN" sz="1600" b="0" i="0" u="none" strike="noStrike" cap="none" normalizeH="0" baseline="0" dirty="0">
                <a:ln>
                  <a:noFill/>
                </a:ln>
                <a:solidFill>
                  <a:srgbClr val="BCBEC4"/>
                </a:solidFill>
                <a:effectLst/>
                <a:latin typeface="Arial Unicode MS"/>
                <a:ea typeface="JetBrains Mono"/>
              </a:rPr>
            </a:br>
            <a:r>
              <a:rPr kumimoji="0" lang="zh-CN" altLang="zh-CN" sz="1600" b="0" i="0" u="none" strike="noStrike" cap="none" normalizeH="0" baseline="0" dirty="0">
                <a:ln>
                  <a:noFill/>
                </a:ln>
                <a:solidFill>
                  <a:srgbClr val="BCBEC4"/>
                </a:solidFill>
                <a:effectLst/>
                <a:latin typeface="Arial Unicode MS"/>
                <a:ea typeface="JetBrains Mono"/>
              </a:rPr>
              <a:t>          a [2]</a:t>
            </a:r>
            <a:br>
              <a:rPr kumimoji="0" lang="zh-CN" altLang="zh-CN" sz="1600" b="0" i="0" u="none" strike="noStrike" cap="none" normalizeH="0" baseline="0" dirty="0">
                <a:ln>
                  <a:noFill/>
                </a:ln>
                <a:solidFill>
                  <a:srgbClr val="BCBEC4"/>
                </a:solidFill>
                <a:effectLst/>
                <a:latin typeface="Arial Unicode MS"/>
                <a:ea typeface="JetBrains Mono"/>
              </a:rPr>
            </a:br>
            <a:r>
              <a:rPr kumimoji="0" lang="zh-CN" altLang="zh-CN" sz="1600" b="0" i="0" u="none" strike="noStrike" cap="none" normalizeH="0" baseline="0" dirty="0">
                <a:ln>
                  <a:noFill/>
                </a:ln>
                <a:solidFill>
                  <a:srgbClr val="BCBEC4"/>
                </a:solidFill>
                <a:effectLst/>
                <a:latin typeface="Arial Unicode MS"/>
                <a:ea typeface="JetBrains Mono"/>
              </a:rPr>
              <a:t>          0 [2]</a:t>
            </a:r>
            <a:br>
              <a:rPr kumimoji="0" lang="zh-CN" altLang="zh-CN" sz="1600" b="0" i="0" u="none" strike="noStrike" cap="none" normalizeH="0" baseline="0" dirty="0">
                <a:ln>
                  <a:noFill/>
                </a:ln>
                <a:solidFill>
                  <a:srgbClr val="BCBEC4"/>
                </a:solidFill>
                <a:effectLst/>
                <a:latin typeface="Arial Unicode MS"/>
                <a:ea typeface="JetBrains Mono"/>
              </a:rPr>
            </a:br>
            <a:r>
              <a:rPr kumimoji="0" lang="zh-CN" altLang="zh-CN" sz="1600" b="0" i="0" u="none" strike="noStrike" cap="none" normalizeH="0" baseline="0" dirty="0">
                <a:ln>
                  <a:noFill/>
                </a:ln>
                <a:solidFill>
                  <a:srgbClr val="BCBEC4"/>
                </a:solidFill>
                <a:effectLst/>
                <a:latin typeface="Arial Unicode MS"/>
                <a:ea typeface="JetBrains Mono"/>
              </a:rPr>
              <a:t>        Compound</a:t>
            </a:r>
            <a:br>
              <a:rPr kumimoji="0" lang="zh-CN" altLang="zh-CN" sz="1600" b="0" i="0" u="none" strike="noStrike" cap="none" normalizeH="0" baseline="0" dirty="0">
                <a:ln>
                  <a:noFill/>
                </a:ln>
                <a:solidFill>
                  <a:srgbClr val="BCBEC4"/>
                </a:solidFill>
                <a:effectLst/>
                <a:latin typeface="Arial Unicode MS"/>
                <a:ea typeface="JetBrains Mono"/>
              </a:rPr>
            </a:br>
            <a:r>
              <a:rPr kumimoji="0" lang="zh-CN" altLang="zh-CN" sz="1600" b="0" i="0" u="none" strike="noStrike" cap="none" normalizeH="0" baseline="0" dirty="0">
                <a:ln>
                  <a:noFill/>
                </a:ln>
                <a:solidFill>
                  <a:srgbClr val="BCBEC4"/>
                </a:solidFill>
                <a:effectLst/>
                <a:latin typeface="Arial Unicode MS"/>
                <a:ea typeface="JetBrains Mono"/>
              </a:rPr>
              <a:t>          IfStmt</a:t>
            </a:r>
            <a:br>
              <a:rPr kumimoji="0" lang="zh-CN" altLang="zh-CN" sz="1600" b="0" i="0" u="none" strike="noStrike" cap="none" normalizeH="0" baseline="0" dirty="0">
                <a:ln>
                  <a:noFill/>
                </a:ln>
                <a:solidFill>
                  <a:srgbClr val="BCBEC4"/>
                </a:solidFill>
                <a:effectLst/>
                <a:latin typeface="Arial Unicode MS"/>
                <a:ea typeface="JetBrains Mono"/>
              </a:rPr>
            </a:br>
            <a:r>
              <a:rPr kumimoji="0" lang="zh-CN" altLang="zh-CN" sz="1600" b="0" i="0" u="none" strike="noStrike" cap="none" normalizeH="0" baseline="0" dirty="0">
                <a:ln>
                  <a:noFill/>
                </a:ln>
                <a:solidFill>
                  <a:srgbClr val="BCBEC4"/>
                </a:solidFill>
                <a:effectLst/>
                <a:latin typeface="Arial Unicode MS"/>
                <a:ea typeface="JetBrains Mono"/>
              </a:rPr>
              <a:t>            == [3]</a:t>
            </a:r>
            <a:br>
              <a:rPr kumimoji="0" lang="zh-CN" altLang="zh-CN" sz="1600" b="0" i="0" u="none" strike="noStrike" cap="none" normalizeH="0" baseline="0" dirty="0">
                <a:ln>
                  <a:noFill/>
                </a:ln>
                <a:solidFill>
                  <a:srgbClr val="BCBEC4"/>
                </a:solidFill>
                <a:effectLst/>
                <a:latin typeface="Arial Unicode MS"/>
                <a:ea typeface="JetBrains Mono"/>
              </a:rPr>
            </a:br>
            <a:r>
              <a:rPr kumimoji="0" lang="zh-CN" altLang="zh-CN" sz="1600" b="0" i="0" u="none" strike="noStrike" cap="none" normalizeH="0" baseline="0" dirty="0">
                <a:ln>
                  <a:noFill/>
                </a:ln>
                <a:solidFill>
                  <a:srgbClr val="BCBEC4"/>
                </a:solidFill>
                <a:effectLst/>
                <a:latin typeface="Arial Unicode MS"/>
                <a:ea typeface="JetBrains Mono"/>
              </a:rPr>
              <a:t>              a [3]</a:t>
            </a:r>
            <a:br>
              <a:rPr kumimoji="0" lang="zh-CN" altLang="zh-CN" sz="1600" b="0" i="0" u="none" strike="noStrike" cap="none" normalizeH="0" baseline="0" dirty="0">
                <a:ln>
                  <a:noFill/>
                </a:ln>
                <a:solidFill>
                  <a:srgbClr val="BCBEC4"/>
                </a:solidFill>
                <a:effectLst/>
                <a:latin typeface="Arial Unicode MS"/>
                <a:ea typeface="JetBrains Mono"/>
              </a:rPr>
            </a:br>
            <a:r>
              <a:rPr kumimoji="0" lang="zh-CN" altLang="zh-CN" sz="1600" b="0" i="0" u="none" strike="noStrike" cap="none" normalizeH="0" baseline="0" dirty="0">
                <a:ln>
                  <a:noFill/>
                </a:ln>
                <a:solidFill>
                  <a:srgbClr val="BCBEC4"/>
                </a:solidFill>
                <a:effectLst/>
                <a:latin typeface="Arial Unicode MS"/>
                <a:ea typeface="JetBrains Mono"/>
              </a:rPr>
              <a:t>              3 [3]</a:t>
            </a:r>
            <a:br>
              <a:rPr kumimoji="0" lang="zh-CN" altLang="zh-CN" sz="1600" b="0" i="0" u="none" strike="noStrike" cap="none" normalizeH="0" baseline="0" dirty="0">
                <a:ln>
                  <a:noFill/>
                </a:ln>
                <a:solidFill>
                  <a:srgbClr val="BCBEC4"/>
                </a:solidFill>
                <a:effectLst/>
                <a:latin typeface="Arial Unicode MS"/>
                <a:ea typeface="JetBrains Mono"/>
              </a:rPr>
            </a:br>
            <a:r>
              <a:rPr kumimoji="0" lang="zh-CN" altLang="zh-CN" sz="1600" b="0" i="0" u="none" strike="noStrike" cap="none" normalizeH="0" baseline="0" dirty="0">
                <a:ln>
                  <a:noFill/>
                </a:ln>
                <a:solidFill>
                  <a:srgbClr val="BCBEC4"/>
                </a:solidFill>
                <a:effectLst/>
                <a:latin typeface="Arial Unicode MS"/>
                <a:ea typeface="JetBrains Mono"/>
              </a:rPr>
              <a:t>            BreakStmt( [4])</a:t>
            </a:r>
            <a:br>
              <a:rPr kumimoji="0" lang="zh-CN" altLang="zh-CN" sz="1600" b="0" i="0" u="none" strike="noStrike" cap="none" normalizeH="0" baseline="0" dirty="0">
                <a:ln>
                  <a:noFill/>
                </a:ln>
                <a:solidFill>
                  <a:srgbClr val="BCBEC4"/>
                </a:solidFill>
                <a:effectLst/>
                <a:latin typeface="Arial Unicode MS"/>
                <a:ea typeface="JetBrains Mono"/>
              </a:rPr>
            </a:br>
            <a:r>
              <a:rPr kumimoji="0" lang="zh-CN" altLang="zh-CN" sz="1600" b="0" i="0" u="none" strike="noStrike" cap="none" normalizeH="0" baseline="0" dirty="0">
                <a:ln>
                  <a:noFill/>
                </a:ln>
                <a:solidFill>
                  <a:srgbClr val="BCBEC4"/>
                </a:solidFill>
                <a:effectLst/>
                <a:latin typeface="Arial Unicode MS"/>
                <a:ea typeface="JetBrains Mono"/>
              </a:rPr>
              <a:t>          ExprStmt</a:t>
            </a:r>
            <a:br>
              <a:rPr kumimoji="0" lang="zh-CN" altLang="zh-CN" sz="1600" b="0" i="0" u="none" strike="noStrike" cap="none" normalizeH="0" baseline="0" dirty="0">
                <a:ln>
                  <a:noFill/>
                </a:ln>
                <a:solidFill>
                  <a:srgbClr val="BCBEC4"/>
                </a:solidFill>
                <a:effectLst/>
                <a:latin typeface="Arial Unicode MS"/>
                <a:ea typeface="JetBrains Mono"/>
              </a:rPr>
            </a:br>
            <a:r>
              <a:rPr kumimoji="0" lang="zh-CN" altLang="zh-CN" sz="1600" b="0" i="0" u="none" strike="noStrike" cap="none" normalizeH="0" baseline="0" dirty="0">
                <a:ln>
                  <a:noFill/>
                </a:ln>
                <a:solidFill>
                  <a:srgbClr val="BCBEC4"/>
                </a:solidFill>
                <a:effectLst/>
                <a:latin typeface="Arial Unicode MS"/>
                <a:ea typeface="JetBrains Mono"/>
              </a:rPr>
              <a:t>            = [5]</a:t>
            </a:r>
            <a:br>
              <a:rPr kumimoji="0" lang="zh-CN" altLang="zh-CN" sz="1600" b="0" i="0" u="none" strike="noStrike" cap="none" normalizeH="0" baseline="0" dirty="0">
                <a:ln>
                  <a:noFill/>
                </a:ln>
                <a:solidFill>
                  <a:srgbClr val="BCBEC4"/>
                </a:solidFill>
                <a:effectLst/>
                <a:latin typeface="Arial Unicode MS"/>
                <a:ea typeface="JetBrains Mono"/>
              </a:rPr>
            </a:br>
            <a:r>
              <a:rPr kumimoji="0" lang="zh-CN" altLang="zh-CN" sz="1600" b="0" i="0" u="none" strike="noStrike" cap="none" normalizeH="0" baseline="0" dirty="0">
                <a:ln>
                  <a:noFill/>
                </a:ln>
                <a:solidFill>
                  <a:srgbClr val="BCBEC4"/>
                </a:solidFill>
                <a:effectLst/>
                <a:latin typeface="Arial Unicode MS"/>
                <a:ea typeface="JetBrains Mono"/>
              </a:rPr>
              <a:t>              a [5]</a:t>
            </a:r>
            <a:br>
              <a:rPr kumimoji="0" lang="zh-CN" altLang="zh-CN" sz="1600" b="0" i="0" u="none" strike="noStrike" cap="none" normalizeH="0" baseline="0" dirty="0">
                <a:ln>
                  <a:noFill/>
                </a:ln>
                <a:solidFill>
                  <a:srgbClr val="BCBEC4"/>
                </a:solidFill>
                <a:effectLst/>
                <a:latin typeface="Arial Unicode MS"/>
                <a:ea typeface="JetBrains Mono"/>
              </a:rPr>
            </a:br>
            <a:r>
              <a:rPr kumimoji="0" lang="zh-CN" altLang="zh-CN" sz="1600" b="0" i="0" u="none" strike="noStrike" cap="none" normalizeH="0" baseline="0" dirty="0">
                <a:ln>
                  <a:noFill/>
                </a:ln>
                <a:solidFill>
                  <a:srgbClr val="BCBEC4"/>
                </a:solidFill>
                <a:effectLst/>
                <a:latin typeface="Arial Unicode MS"/>
                <a:ea typeface="JetBrains Mono"/>
              </a:rPr>
              <a:t>              - [5]</a:t>
            </a:r>
            <a:br>
              <a:rPr kumimoji="0" lang="zh-CN" altLang="zh-CN" sz="1600" b="0" i="0" u="none" strike="noStrike" cap="none" normalizeH="0" baseline="0" dirty="0">
                <a:ln>
                  <a:noFill/>
                </a:ln>
                <a:solidFill>
                  <a:srgbClr val="BCBEC4"/>
                </a:solidFill>
                <a:effectLst/>
                <a:latin typeface="Arial Unicode MS"/>
                <a:ea typeface="JetBrains Mono"/>
              </a:rPr>
            </a:br>
            <a:r>
              <a:rPr kumimoji="0" lang="zh-CN" altLang="zh-CN" sz="1600" b="0" i="0" u="none" strike="noStrike" cap="none" normalizeH="0" baseline="0" dirty="0">
                <a:ln>
                  <a:noFill/>
                </a:ln>
                <a:solidFill>
                  <a:srgbClr val="BCBEC4"/>
                </a:solidFill>
                <a:effectLst/>
                <a:latin typeface="Arial Unicode MS"/>
                <a:ea typeface="JetBrains Mono"/>
              </a:rPr>
              <a:t>                a [5]</a:t>
            </a:r>
            <a:br>
              <a:rPr kumimoji="0" lang="zh-CN" altLang="zh-CN" sz="1600" b="0" i="0" u="none" strike="noStrike" cap="none" normalizeH="0" baseline="0" dirty="0">
                <a:ln>
                  <a:noFill/>
                </a:ln>
                <a:solidFill>
                  <a:srgbClr val="BCBEC4"/>
                </a:solidFill>
                <a:effectLst/>
                <a:latin typeface="Arial Unicode MS"/>
                <a:ea typeface="JetBrains Mono"/>
              </a:rPr>
            </a:br>
            <a:r>
              <a:rPr kumimoji="0" lang="zh-CN" altLang="zh-CN" sz="1600" b="0" i="0" u="none" strike="noStrike" cap="none" normalizeH="0" baseline="0" dirty="0">
                <a:ln>
                  <a:noFill/>
                </a:ln>
                <a:solidFill>
                  <a:srgbClr val="BCBEC4"/>
                </a:solidFill>
                <a:effectLst/>
                <a:latin typeface="Arial Unicode MS"/>
                <a:ea typeface="JetBrains Mono"/>
              </a:rPr>
              <a:t>                1 [5]</a:t>
            </a:r>
            <a:endParaRPr kumimoji="0" lang="zh-CN" altLang="zh-CN" sz="1600" b="0" i="0" u="none" strike="noStrike" cap="none" normalizeH="0" baseline="0" dirty="0">
              <a:ln>
                <a:noFill/>
              </a:ln>
              <a:solidFill>
                <a:schemeClr val="tx1"/>
              </a:solidFill>
              <a:effectLst/>
              <a:latin typeface="Arial" panose="020B0604020202020204" pitchFamily="34" charset="0"/>
            </a:endParaRPr>
          </a:p>
        </p:txBody>
      </p:sp>
      <p:sp>
        <p:nvSpPr>
          <p:cNvPr id="14" name="Rectangle 5">
            <a:extLst>
              <a:ext uri="{FF2B5EF4-FFF2-40B4-BE49-F238E27FC236}">
                <a16:creationId xmlns:a16="http://schemas.microsoft.com/office/drawing/2014/main" id="{000EAC30-F197-40DA-BCA1-7195C516335C}"/>
              </a:ext>
            </a:extLst>
          </p:cNvPr>
          <p:cNvSpPr>
            <a:spLocks noChangeArrowheads="1"/>
          </p:cNvSpPr>
          <p:nvPr/>
        </p:nvSpPr>
        <p:spPr bwMode="auto">
          <a:xfrm>
            <a:off x="3245987" y="187930"/>
            <a:ext cx="2193050" cy="4832092"/>
          </a:xfrm>
          <a:prstGeom prst="rect">
            <a:avLst/>
          </a:prstGeom>
          <a:solidFill>
            <a:srgbClr val="1E1F2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100" b="0" i="0" u="none" strike="noStrike" cap="none" normalizeH="0" baseline="0" dirty="0">
                <a:ln>
                  <a:noFill/>
                </a:ln>
                <a:solidFill>
                  <a:srgbClr val="BCBEC4"/>
                </a:solidFill>
                <a:effectLst/>
                <a:latin typeface="Arial Unicode MS"/>
                <a:ea typeface="JetBrains Mono"/>
              </a:rPr>
              <a:t>int             102   1</a:t>
            </a:r>
            <a:br>
              <a:rPr kumimoji="0" lang="zh-CN" altLang="zh-CN" sz="1100" b="0" i="0" u="none" strike="noStrike" cap="none" normalizeH="0" baseline="0" dirty="0">
                <a:ln>
                  <a:noFill/>
                </a:ln>
                <a:solidFill>
                  <a:srgbClr val="BCBEC4"/>
                </a:solidFill>
                <a:effectLst/>
                <a:latin typeface="Arial Unicode MS"/>
                <a:ea typeface="JetBrains Mono"/>
              </a:rPr>
            </a:br>
            <a:r>
              <a:rPr kumimoji="0" lang="zh-CN" altLang="zh-CN" sz="1100" b="0" i="0" u="none" strike="noStrike" cap="none" normalizeH="0" baseline="0" dirty="0">
                <a:ln>
                  <a:noFill/>
                </a:ln>
                <a:solidFill>
                  <a:srgbClr val="BCBEC4"/>
                </a:solidFill>
                <a:effectLst/>
                <a:latin typeface="Arial Unicode MS"/>
                <a:ea typeface="JetBrains Mono"/>
              </a:rPr>
              <a:t>main            700   1</a:t>
            </a:r>
            <a:br>
              <a:rPr kumimoji="0" lang="zh-CN" altLang="zh-CN" sz="1100" b="0" i="0" u="none" strike="noStrike" cap="none" normalizeH="0" baseline="0" dirty="0">
                <a:ln>
                  <a:noFill/>
                </a:ln>
                <a:solidFill>
                  <a:srgbClr val="BCBEC4"/>
                </a:solidFill>
                <a:effectLst/>
                <a:latin typeface="Arial Unicode MS"/>
                <a:ea typeface="JetBrains Mono"/>
              </a:rPr>
            </a:br>
            <a:r>
              <a:rPr kumimoji="0" lang="zh-CN" altLang="zh-CN" sz="1100" b="0" i="0" u="none" strike="noStrike" cap="none" normalizeH="0" baseline="0" dirty="0">
                <a:ln>
                  <a:noFill/>
                </a:ln>
                <a:solidFill>
                  <a:srgbClr val="BCBEC4"/>
                </a:solidFill>
                <a:effectLst/>
                <a:latin typeface="Arial Unicode MS"/>
                <a:ea typeface="JetBrains Mono"/>
              </a:rPr>
              <a:t>(               201   1</a:t>
            </a:r>
            <a:br>
              <a:rPr kumimoji="0" lang="zh-CN" altLang="zh-CN" sz="1100" b="0" i="0" u="none" strike="noStrike" cap="none" normalizeH="0" baseline="0" dirty="0">
                <a:ln>
                  <a:noFill/>
                </a:ln>
                <a:solidFill>
                  <a:srgbClr val="BCBEC4"/>
                </a:solidFill>
                <a:effectLst/>
                <a:latin typeface="Arial Unicode MS"/>
                <a:ea typeface="JetBrains Mono"/>
              </a:rPr>
            </a:br>
            <a:r>
              <a:rPr kumimoji="0" lang="zh-CN" altLang="zh-CN" sz="1100" b="0" i="0" u="none" strike="noStrike" cap="none" normalizeH="0" baseline="0" dirty="0">
                <a:ln>
                  <a:noFill/>
                </a:ln>
                <a:solidFill>
                  <a:srgbClr val="BCBEC4"/>
                </a:solidFill>
                <a:effectLst/>
                <a:latin typeface="Arial Unicode MS"/>
                <a:ea typeface="JetBrains Mono"/>
              </a:rPr>
              <a:t>)               202   1</a:t>
            </a:r>
            <a:br>
              <a:rPr kumimoji="0" lang="zh-CN" altLang="zh-CN" sz="1100" b="0" i="0" u="none" strike="noStrike" cap="none" normalizeH="0" baseline="0" dirty="0">
                <a:ln>
                  <a:noFill/>
                </a:ln>
                <a:solidFill>
                  <a:srgbClr val="BCBEC4"/>
                </a:solidFill>
                <a:effectLst/>
                <a:latin typeface="Arial Unicode MS"/>
                <a:ea typeface="JetBrains Mono"/>
              </a:rPr>
            </a:br>
            <a:r>
              <a:rPr kumimoji="0" lang="zh-CN" altLang="zh-CN" sz="1100" b="0" i="0" u="none" strike="noStrike" cap="none" normalizeH="0" baseline="0" dirty="0">
                <a:ln>
                  <a:noFill/>
                </a:ln>
                <a:solidFill>
                  <a:srgbClr val="BCBEC4"/>
                </a:solidFill>
                <a:effectLst/>
                <a:latin typeface="Arial Unicode MS"/>
                <a:ea typeface="JetBrains Mono"/>
              </a:rPr>
              <a:t>{               301   1</a:t>
            </a:r>
            <a:br>
              <a:rPr kumimoji="0" lang="zh-CN" altLang="zh-CN" sz="1100" b="0" i="0" u="none" strike="noStrike" cap="none" normalizeH="0" baseline="0" dirty="0">
                <a:ln>
                  <a:noFill/>
                </a:ln>
                <a:solidFill>
                  <a:srgbClr val="BCBEC4"/>
                </a:solidFill>
                <a:effectLst/>
                <a:latin typeface="Arial Unicode MS"/>
                <a:ea typeface="JetBrains Mono"/>
              </a:rPr>
            </a:br>
            <a:r>
              <a:rPr kumimoji="0" lang="zh-CN" altLang="zh-CN" sz="1100" b="0" i="0" u="none" strike="noStrike" cap="none" normalizeH="0" baseline="0" dirty="0">
                <a:ln>
                  <a:noFill/>
                </a:ln>
                <a:solidFill>
                  <a:srgbClr val="BCBEC4"/>
                </a:solidFill>
                <a:effectLst/>
                <a:latin typeface="Arial Unicode MS"/>
                <a:ea typeface="JetBrains Mono"/>
              </a:rPr>
              <a:t>while           110   2</a:t>
            </a:r>
            <a:br>
              <a:rPr kumimoji="0" lang="zh-CN" altLang="zh-CN" sz="1100" b="0" i="0" u="none" strike="noStrike" cap="none" normalizeH="0" baseline="0" dirty="0">
                <a:ln>
                  <a:noFill/>
                </a:ln>
                <a:solidFill>
                  <a:srgbClr val="BCBEC4"/>
                </a:solidFill>
                <a:effectLst/>
                <a:latin typeface="Arial Unicode MS"/>
                <a:ea typeface="JetBrains Mono"/>
              </a:rPr>
            </a:br>
            <a:r>
              <a:rPr kumimoji="0" lang="zh-CN" altLang="zh-CN" sz="1100" b="0" i="0" u="none" strike="noStrike" cap="none" normalizeH="0" baseline="0" dirty="0">
                <a:ln>
                  <a:noFill/>
                </a:ln>
                <a:solidFill>
                  <a:srgbClr val="BCBEC4"/>
                </a:solidFill>
                <a:effectLst/>
                <a:latin typeface="Arial Unicode MS"/>
                <a:ea typeface="JetBrains Mono"/>
              </a:rPr>
              <a:t>(               201   2</a:t>
            </a:r>
            <a:br>
              <a:rPr kumimoji="0" lang="zh-CN" altLang="zh-CN" sz="1100" b="0" i="0" u="none" strike="noStrike" cap="none" normalizeH="0" baseline="0" dirty="0">
                <a:ln>
                  <a:noFill/>
                </a:ln>
                <a:solidFill>
                  <a:srgbClr val="BCBEC4"/>
                </a:solidFill>
                <a:effectLst/>
                <a:latin typeface="Arial Unicode MS"/>
                <a:ea typeface="JetBrains Mono"/>
              </a:rPr>
            </a:br>
            <a:r>
              <a:rPr kumimoji="0" lang="zh-CN" altLang="zh-CN" sz="1100" b="0" i="0" u="none" strike="noStrike" cap="none" normalizeH="0" baseline="0" dirty="0">
                <a:ln>
                  <a:noFill/>
                </a:ln>
                <a:solidFill>
                  <a:srgbClr val="BCBEC4"/>
                </a:solidFill>
                <a:effectLst/>
                <a:latin typeface="Arial Unicode MS"/>
                <a:ea typeface="JetBrains Mono"/>
              </a:rPr>
              <a:t>a               700   2</a:t>
            </a:r>
            <a:br>
              <a:rPr kumimoji="0" lang="zh-CN" altLang="zh-CN" sz="1100" b="0" i="0" u="none" strike="noStrike" cap="none" normalizeH="0" baseline="0" dirty="0">
                <a:ln>
                  <a:noFill/>
                </a:ln>
                <a:solidFill>
                  <a:srgbClr val="BCBEC4"/>
                </a:solidFill>
                <a:effectLst/>
                <a:latin typeface="Arial Unicode MS"/>
                <a:ea typeface="JetBrains Mono"/>
              </a:rPr>
            </a:br>
            <a:r>
              <a:rPr kumimoji="0" lang="zh-CN" altLang="zh-CN" sz="1100" b="0" i="0" u="none" strike="noStrike" cap="none" normalizeH="0" baseline="0" dirty="0">
                <a:ln>
                  <a:noFill/>
                </a:ln>
                <a:solidFill>
                  <a:srgbClr val="BCBEC4"/>
                </a:solidFill>
                <a:effectLst/>
                <a:latin typeface="Arial Unicode MS"/>
                <a:ea typeface="JetBrains Mono"/>
              </a:rPr>
              <a:t>&gt;               213   2</a:t>
            </a:r>
            <a:br>
              <a:rPr kumimoji="0" lang="zh-CN" altLang="zh-CN" sz="1100" b="0" i="0" u="none" strike="noStrike" cap="none" normalizeH="0" baseline="0" dirty="0">
                <a:ln>
                  <a:noFill/>
                </a:ln>
                <a:solidFill>
                  <a:srgbClr val="BCBEC4"/>
                </a:solidFill>
                <a:effectLst/>
                <a:latin typeface="Arial Unicode MS"/>
                <a:ea typeface="JetBrains Mono"/>
              </a:rPr>
            </a:br>
            <a:r>
              <a:rPr kumimoji="0" lang="zh-CN" altLang="zh-CN" sz="1100" b="0" i="0" u="none" strike="noStrike" cap="none" normalizeH="0" baseline="0" dirty="0">
                <a:ln>
                  <a:noFill/>
                </a:ln>
                <a:solidFill>
                  <a:srgbClr val="BCBEC4"/>
                </a:solidFill>
                <a:effectLst/>
                <a:latin typeface="Arial Unicode MS"/>
                <a:ea typeface="JetBrains Mono"/>
              </a:rPr>
              <a:t>0               400   2</a:t>
            </a:r>
            <a:br>
              <a:rPr kumimoji="0" lang="zh-CN" altLang="zh-CN" sz="1100" b="0" i="0" u="none" strike="noStrike" cap="none" normalizeH="0" baseline="0" dirty="0">
                <a:ln>
                  <a:noFill/>
                </a:ln>
                <a:solidFill>
                  <a:srgbClr val="BCBEC4"/>
                </a:solidFill>
                <a:effectLst/>
                <a:latin typeface="Arial Unicode MS"/>
                <a:ea typeface="JetBrains Mono"/>
              </a:rPr>
            </a:br>
            <a:r>
              <a:rPr kumimoji="0" lang="zh-CN" altLang="zh-CN" sz="1100" b="0" i="0" u="none" strike="noStrike" cap="none" normalizeH="0" baseline="0" dirty="0">
                <a:ln>
                  <a:noFill/>
                </a:ln>
                <a:solidFill>
                  <a:srgbClr val="BCBEC4"/>
                </a:solidFill>
                <a:effectLst/>
                <a:latin typeface="Arial Unicode MS"/>
                <a:ea typeface="JetBrains Mono"/>
              </a:rPr>
              <a:t>)               202   2</a:t>
            </a:r>
            <a:br>
              <a:rPr kumimoji="0" lang="zh-CN" altLang="zh-CN" sz="1100" b="0" i="0" u="none" strike="noStrike" cap="none" normalizeH="0" baseline="0" dirty="0">
                <a:ln>
                  <a:noFill/>
                </a:ln>
                <a:solidFill>
                  <a:srgbClr val="BCBEC4"/>
                </a:solidFill>
                <a:effectLst/>
                <a:latin typeface="Arial Unicode MS"/>
                <a:ea typeface="JetBrains Mono"/>
              </a:rPr>
            </a:br>
            <a:r>
              <a:rPr kumimoji="0" lang="zh-CN" altLang="zh-CN" sz="1100" b="0" i="0" u="none" strike="noStrike" cap="none" normalizeH="0" baseline="0" dirty="0">
                <a:ln>
                  <a:noFill/>
                </a:ln>
                <a:solidFill>
                  <a:srgbClr val="BCBEC4"/>
                </a:solidFill>
                <a:effectLst/>
                <a:latin typeface="Arial Unicode MS"/>
                <a:ea typeface="JetBrains Mono"/>
              </a:rPr>
              <a:t>{               301   2</a:t>
            </a:r>
            <a:br>
              <a:rPr kumimoji="0" lang="zh-CN" altLang="zh-CN" sz="1100" b="0" i="0" u="none" strike="noStrike" cap="none" normalizeH="0" baseline="0" dirty="0">
                <a:ln>
                  <a:noFill/>
                </a:ln>
                <a:solidFill>
                  <a:srgbClr val="BCBEC4"/>
                </a:solidFill>
                <a:effectLst/>
                <a:latin typeface="Arial Unicode MS"/>
                <a:ea typeface="JetBrains Mono"/>
              </a:rPr>
            </a:br>
            <a:r>
              <a:rPr kumimoji="0" lang="zh-CN" altLang="zh-CN" sz="1100" b="0" i="0" u="none" strike="noStrike" cap="none" normalizeH="0" baseline="0" dirty="0">
                <a:ln>
                  <a:noFill/>
                </a:ln>
                <a:solidFill>
                  <a:srgbClr val="BCBEC4"/>
                </a:solidFill>
                <a:effectLst/>
                <a:latin typeface="Arial Unicode MS"/>
                <a:ea typeface="JetBrains Mono"/>
              </a:rPr>
              <a:t>if              111   3</a:t>
            </a:r>
            <a:br>
              <a:rPr kumimoji="0" lang="zh-CN" altLang="zh-CN" sz="1100" b="0" i="0" u="none" strike="noStrike" cap="none" normalizeH="0" baseline="0" dirty="0">
                <a:ln>
                  <a:noFill/>
                </a:ln>
                <a:solidFill>
                  <a:srgbClr val="BCBEC4"/>
                </a:solidFill>
                <a:effectLst/>
                <a:latin typeface="Arial Unicode MS"/>
                <a:ea typeface="JetBrains Mono"/>
              </a:rPr>
            </a:br>
            <a:r>
              <a:rPr kumimoji="0" lang="zh-CN" altLang="zh-CN" sz="1100" b="0" i="0" u="none" strike="noStrike" cap="none" normalizeH="0" baseline="0" dirty="0">
                <a:ln>
                  <a:noFill/>
                </a:ln>
                <a:solidFill>
                  <a:srgbClr val="BCBEC4"/>
                </a:solidFill>
                <a:effectLst/>
                <a:latin typeface="Arial Unicode MS"/>
                <a:ea typeface="JetBrains Mono"/>
              </a:rPr>
              <a:t>(               201   3</a:t>
            </a:r>
            <a:br>
              <a:rPr kumimoji="0" lang="zh-CN" altLang="zh-CN" sz="1100" b="0" i="0" u="none" strike="noStrike" cap="none" normalizeH="0" baseline="0" dirty="0">
                <a:ln>
                  <a:noFill/>
                </a:ln>
                <a:solidFill>
                  <a:srgbClr val="BCBEC4"/>
                </a:solidFill>
                <a:effectLst/>
                <a:latin typeface="Arial Unicode MS"/>
                <a:ea typeface="JetBrains Mono"/>
              </a:rPr>
            </a:br>
            <a:r>
              <a:rPr kumimoji="0" lang="zh-CN" altLang="zh-CN" sz="1100" b="0" i="0" u="none" strike="noStrike" cap="none" normalizeH="0" baseline="0" dirty="0">
                <a:ln>
                  <a:noFill/>
                </a:ln>
                <a:solidFill>
                  <a:srgbClr val="BCBEC4"/>
                </a:solidFill>
                <a:effectLst/>
                <a:latin typeface="Arial Unicode MS"/>
                <a:ea typeface="JetBrains Mono"/>
              </a:rPr>
              <a:t>a               700   3</a:t>
            </a:r>
            <a:br>
              <a:rPr kumimoji="0" lang="zh-CN" altLang="zh-CN" sz="1100" b="0" i="0" u="none" strike="noStrike" cap="none" normalizeH="0" baseline="0" dirty="0">
                <a:ln>
                  <a:noFill/>
                </a:ln>
                <a:solidFill>
                  <a:srgbClr val="BCBEC4"/>
                </a:solidFill>
                <a:effectLst/>
                <a:latin typeface="Arial Unicode MS"/>
                <a:ea typeface="JetBrains Mono"/>
              </a:rPr>
            </a:br>
            <a:r>
              <a:rPr kumimoji="0" lang="zh-CN" altLang="zh-CN" sz="1100" b="0" i="0" u="none" strike="noStrike" cap="none" normalizeH="0" baseline="0" dirty="0">
                <a:ln>
                  <a:noFill/>
                </a:ln>
                <a:solidFill>
                  <a:srgbClr val="BCBEC4"/>
                </a:solidFill>
                <a:effectLst/>
                <a:latin typeface="Arial Unicode MS"/>
                <a:ea typeface="JetBrains Mono"/>
              </a:rPr>
              <a:t>==              215   3</a:t>
            </a:r>
            <a:br>
              <a:rPr kumimoji="0" lang="zh-CN" altLang="zh-CN" sz="1100" b="0" i="0" u="none" strike="noStrike" cap="none" normalizeH="0" baseline="0" dirty="0">
                <a:ln>
                  <a:noFill/>
                </a:ln>
                <a:solidFill>
                  <a:srgbClr val="BCBEC4"/>
                </a:solidFill>
                <a:effectLst/>
                <a:latin typeface="Arial Unicode MS"/>
                <a:ea typeface="JetBrains Mono"/>
              </a:rPr>
            </a:br>
            <a:r>
              <a:rPr kumimoji="0" lang="zh-CN" altLang="zh-CN" sz="1100" b="0" i="0" u="none" strike="noStrike" cap="none" normalizeH="0" baseline="0" dirty="0">
                <a:ln>
                  <a:noFill/>
                </a:ln>
                <a:solidFill>
                  <a:srgbClr val="BCBEC4"/>
                </a:solidFill>
                <a:effectLst/>
                <a:latin typeface="Arial Unicode MS"/>
                <a:ea typeface="JetBrains Mono"/>
              </a:rPr>
              <a:t>3               400   3</a:t>
            </a:r>
            <a:br>
              <a:rPr kumimoji="0" lang="zh-CN" altLang="zh-CN" sz="1100" b="0" i="0" u="none" strike="noStrike" cap="none" normalizeH="0" baseline="0" dirty="0">
                <a:ln>
                  <a:noFill/>
                </a:ln>
                <a:solidFill>
                  <a:srgbClr val="BCBEC4"/>
                </a:solidFill>
                <a:effectLst/>
                <a:latin typeface="Arial Unicode MS"/>
                <a:ea typeface="JetBrains Mono"/>
              </a:rPr>
            </a:br>
            <a:r>
              <a:rPr kumimoji="0" lang="zh-CN" altLang="zh-CN" sz="1100" b="0" i="0" u="none" strike="noStrike" cap="none" normalizeH="0" baseline="0" dirty="0">
                <a:ln>
                  <a:noFill/>
                </a:ln>
                <a:solidFill>
                  <a:srgbClr val="BCBEC4"/>
                </a:solidFill>
                <a:effectLst/>
                <a:latin typeface="Arial Unicode MS"/>
                <a:ea typeface="JetBrains Mono"/>
              </a:rPr>
              <a:t>)               202   3</a:t>
            </a:r>
            <a:br>
              <a:rPr kumimoji="0" lang="zh-CN" altLang="zh-CN" sz="1100" b="0" i="0" u="none" strike="noStrike" cap="none" normalizeH="0" baseline="0" dirty="0">
                <a:ln>
                  <a:noFill/>
                </a:ln>
                <a:solidFill>
                  <a:srgbClr val="BCBEC4"/>
                </a:solidFill>
                <a:effectLst/>
                <a:latin typeface="Arial Unicode MS"/>
                <a:ea typeface="JetBrains Mono"/>
              </a:rPr>
            </a:br>
            <a:r>
              <a:rPr kumimoji="0" lang="zh-CN" altLang="zh-CN" sz="1100" b="0" i="0" u="none" strike="noStrike" cap="none" normalizeH="0" baseline="0" dirty="0">
                <a:ln>
                  <a:noFill/>
                </a:ln>
                <a:solidFill>
                  <a:srgbClr val="BCBEC4"/>
                </a:solidFill>
                <a:effectLst/>
                <a:latin typeface="Arial Unicode MS"/>
                <a:ea typeface="JetBrains Mono"/>
              </a:rPr>
              <a:t>break           104   4</a:t>
            </a:r>
            <a:br>
              <a:rPr kumimoji="0" lang="zh-CN" altLang="zh-CN" sz="1100" b="0" i="0" u="none" strike="noStrike" cap="none" normalizeH="0" baseline="0" dirty="0">
                <a:ln>
                  <a:noFill/>
                </a:ln>
                <a:solidFill>
                  <a:srgbClr val="BCBEC4"/>
                </a:solidFill>
                <a:effectLst/>
                <a:latin typeface="Arial Unicode MS"/>
                <a:ea typeface="JetBrains Mono"/>
              </a:rPr>
            </a:br>
            <a:r>
              <a:rPr kumimoji="0" lang="zh-CN" altLang="zh-CN" sz="1100" b="0" i="0" u="none" strike="noStrike" cap="none" normalizeH="0" baseline="0" dirty="0">
                <a:ln>
                  <a:noFill/>
                </a:ln>
                <a:solidFill>
                  <a:srgbClr val="BCBEC4"/>
                </a:solidFill>
                <a:effectLst/>
                <a:latin typeface="Arial Unicode MS"/>
                <a:ea typeface="JetBrains Mono"/>
              </a:rPr>
              <a:t>;               303   4</a:t>
            </a:r>
            <a:br>
              <a:rPr kumimoji="0" lang="zh-CN" altLang="zh-CN" sz="1100" b="0" i="0" u="none" strike="noStrike" cap="none" normalizeH="0" baseline="0" dirty="0">
                <a:ln>
                  <a:noFill/>
                </a:ln>
                <a:solidFill>
                  <a:srgbClr val="BCBEC4"/>
                </a:solidFill>
                <a:effectLst/>
                <a:latin typeface="Arial Unicode MS"/>
                <a:ea typeface="JetBrains Mono"/>
              </a:rPr>
            </a:br>
            <a:r>
              <a:rPr kumimoji="0" lang="zh-CN" altLang="zh-CN" sz="1100" b="0" i="0" u="none" strike="noStrike" cap="none" normalizeH="0" baseline="0" dirty="0">
                <a:ln>
                  <a:noFill/>
                </a:ln>
                <a:solidFill>
                  <a:srgbClr val="BCBEC4"/>
                </a:solidFill>
                <a:effectLst/>
                <a:latin typeface="Arial Unicode MS"/>
                <a:ea typeface="JetBrains Mono"/>
              </a:rPr>
              <a:t>a               700   5</a:t>
            </a:r>
            <a:br>
              <a:rPr kumimoji="0" lang="zh-CN" altLang="zh-CN" sz="1100" b="0" i="0" u="none" strike="noStrike" cap="none" normalizeH="0" baseline="0" dirty="0">
                <a:ln>
                  <a:noFill/>
                </a:ln>
                <a:solidFill>
                  <a:srgbClr val="BCBEC4"/>
                </a:solidFill>
                <a:effectLst/>
                <a:latin typeface="Arial Unicode MS"/>
                <a:ea typeface="JetBrains Mono"/>
              </a:rPr>
            </a:br>
            <a:r>
              <a:rPr kumimoji="0" lang="zh-CN" altLang="zh-CN" sz="1100" b="0" i="0" u="none" strike="noStrike" cap="none" normalizeH="0" baseline="0" dirty="0">
                <a:ln>
                  <a:noFill/>
                </a:ln>
                <a:solidFill>
                  <a:srgbClr val="BCBEC4"/>
                </a:solidFill>
                <a:effectLst/>
                <a:latin typeface="Arial Unicode MS"/>
                <a:ea typeface="JetBrains Mono"/>
              </a:rPr>
              <a:t>=               219   5</a:t>
            </a:r>
            <a:br>
              <a:rPr kumimoji="0" lang="zh-CN" altLang="zh-CN" sz="1100" b="0" i="0" u="none" strike="noStrike" cap="none" normalizeH="0" baseline="0" dirty="0">
                <a:ln>
                  <a:noFill/>
                </a:ln>
                <a:solidFill>
                  <a:srgbClr val="BCBEC4"/>
                </a:solidFill>
                <a:effectLst/>
                <a:latin typeface="Arial Unicode MS"/>
                <a:ea typeface="JetBrains Mono"/>
              </a:rPr>
            </a:br>
            <a:r>
              <a:rPr kumimoji="0" lang="zh-CN" altLang="zh-CN" sz="1100" b="0" i="0" u="none" strike="noStrike" cap="none" normalizeH="0" baseline="0" dirty="0">
                <a:ln>
                  <a:noFill/>
                </a:ln>
                <a:solidFill>
                  <a:srgbClr val="BCBEC4"/>
                </a:solidFill>
                <a:effectLst/>
                <a:latin typeface="Arial Unicode MS"/>
                <a:ea typeface="JetBrains Mono"/>
              </a:rPr>
              <a:t>a               700   5</a:t>
            </a:r>
            <a:br>
              <a:rPr kumimoji="0" lang="zh-CN" altLang="zh-CN" sz="1100" b="0" i="0" u="none" strike="noStrike" cap="none" normalizeH="0" baseline="0" dirty="0">
                <a:ln>
                  <a:noFill/>
                </a:ln>
                <a:solidFill>
                  <a:srgbClr val="BCBEC4"/>
                </a:solidFill>
                <a:effectLst/>
                <a:latin typeface="Arial Unicode MS"/>
                <a:ea typeface="JetBrains Mono"/>
              </a:rPr>
            </a:br>
            <a:r>
              <a:rPr kumimoji="0" lang="zh-CN" altLang="zh-CN" sz="1100" b="0" i="0" u="none" strike="noStrike" cap="none" normalizeH="0" baseline="0" dirty="0">
                <a:ln>
                  <a:noFill/>
                </a:ln>
                <a:solidFill>
                  <a:srgbClr val="BCBEC4"/>
                </a:solidFill>
                <a:effectLst/>
                <a:latin typeface="Arial Unicode MS"/>
                <a:ea typeface="JetBrains Mono"/>
              </a:rPr>
              <a:t>-               210   5</a:t>
            </a:r>
            <a:br>
              <a:rPr kumimoji="0" lang="zh-CN" altLang="zh-CN" sz="1100" b="0" i="0" u="none" strike="noStrike" cap="none" normalizeH="0" baseline="0" dirty="0">
                <a:ln>
                  <a:noFill/>
                </a:ln>
                <a:solidFill>
                  <a:srgbClr val="BCBEC4"/>
                </a:solidFill>
                <a:effectLst/>
                <a:latin typeface="Arial Unicode MS"/>
                <a:ea typeface="JetBrains Mono"/>
              </a:rPr>
            </a:br>
            <a:r>
              <a:rPr kumimoji="0" lang="zh-CN" altLang="zh-CN" sz="1100" b="0" i="0" u="none" strike="noStrike" cap="none" normalizeH="0" baseline="0" dirty="0">
                <a:ln>
                  <a:noFill/>
                </a:ln>
                <a:solidFill>
                  <a:srgbClr val="BCBEC4"/>
                </a:solidFill>
                <a:effectLst/>
                <a:latin typeface="Arial Unicode MS"/>
                <a:ea typeface="JetBrains Mono"/>
              </a:rPr>
              <a:t>1               400   5</a:t>
            </a:r>
            <a:br>
              <a:rPr kumimoji="0" lang="zh-CN" altLang="zh-CN" sz="1100" b="0" i="0" u="none" strike="noStrike" cap="none" normalizeH="0" baseline="0" dirty="0">
                <a:ln>
                  <a:noFill/>
                </a:ln>
                <a:solidFill>
                  <a:srgbClr val="BCBEC4"/>
                </a:solidFill>
                <a:effectLst/>
                <a:latin typeface="Arial Unicode MS"/>
                <a:ea typeface="JetBrains Mono"/>
              </a:rPr>
            </a:br>
            <a:r>
              <a:rPr kumimoji="0" lang="zh-CN" altLang="zh-CN" sz="1100" b="0" i="0" u="none" strike="noStrike" cap="none" normalizeH="0" baseline="0" dirty="0">
                <a:ln>
                  <a:noFill/>
                </a:ln>
                <a:solidFill>
                  <a:srgbClr val="BCBEC4"/>
                </a:solidFill>
                <a:effectLst/>
                <a:latin typeface="Arial Unicode MS"/>
                <a:ea typeface="JetBrains Mono"/>
              </a:rPr>
              <a:t>;               303   5</a:t>
            </a:r>
            <a:br>
              <a:rPr kumimoji="0" lang="zh-CN" altLang="zh-CN" sz="1100" b="0" i="0" u="none" strike="noStrike" cap="none" normalizeH="0" baseline="0" dirty="0">
                <a:ln>
                  <a:noFill/>
                </a:ln>
                <a:solidFill>
                  <a:srgbClr val="BCBEC4"/>
                </a:solidFill>
                <a:effectLst/>
                <a:latin typeface="Arial Unicode MS"/>
                <a:ea typeface="JetBrains Mono"/>
              </a:rPr>
            </a:br>
            <a:r>
              <a:rPr kumimoji="0" lang="zh-CN" altLang="zh-CN" sz="1100" b="0" i="0" u="none" strike="noStrike" cap="none" normalizeH="0" baseline="0" dirty="0">
                <a:ln>
                  <a:noFill/>
                </a:ln>
                <a:solidFill>
                  <a:srgbClr val="BCBEC4"/>
                </a:solidFill>
                <a:effectLst/>
                <a:latin typeface="Arial Unicode MS"/>
                <a:ea typeface="JetBrains Mono"/>
              </a:rPr>
              <a:t>}               302   6</a:t>
            </a:r>
            <a:br>
              <a:rPr kumimoji="0" lang="zh-CN" altLang="zh-CN" sz="1100" b="0" i="0" u="none" strike="noStrike" cap="none" normalizeH="0" baseline="0" dirty="0">
                <a:ln>
                  <a:noFill/>
                </a:ln>
                <a:solidFill>
                  <a:srgbClr val="BCBEC4"/>
                </a:solidFill>
                <a:effectLst/>
                <a:latin typeface="Arial Unicode MS"/>
                <a:ea typeface="JetBrains Mono"/>
              </a:rPr>
            </a:br>
            <a:r>
              <a:rPr kumimoji="0" lang="zh-CN" altLang="zh-CN" sz="1100" b="0" i="0" u="none" strike="noStrike" cap="none" normalizeH="0" baseline="0" dirty="0">
                <a:ln>
                  <a:noFill/>
                </a:ln>
                <a:solidFill>
                  <a:srgbClr val="BCBEC4"/>
                </a:solidFill>
                <a:effectLst/>
                <a:latin typeface="Arial Unicode MS"/>
                <a:ea typeface="JetBrains Mono"/>
              </a:rPr>
              <a:t>}               302   7</a:t>
            </a:r>
            <a:endParaRPr kumimoji="0" lang="zh-CN" altLang="zh-CN" sz="1100" b="0" i="0" u="none" strike="noStrike" cap="none" normalizeH="0" baseline="0" dirty="0">
              <a:ln>
                <a:noFill/>
              </a:ln>
              <a:solidFill>
                <a:schemeClr val="tx1"/>
              </a:solidFill>
              <a:effectLst/>
              <a:latin typeface="Arial" panose="020B0604020202020204" pitchFamily="34" charset="0"/>
            </a:endParaRPr>
          </a:p>
        </p:txBody>
      </p:sp>
      <p:sp>
        <p:nvSpPr>
          <p:cNvPr id="16" name="Rectangle 7">
            <a:extLst>
              <a:ext uri="{FF2B5EF4-FFF2-40B4-BE49-F238E27FC236}">
                <a16:creationId xmlns:a16="http://schemas.microsoft.com/office/drawing/2014/main" id="{D17B36F6-465B-46D9-B4C0-CA119FD557AD}"/>
              </a:ext>
            </a:extLst>
          </p:cNvPr>
          <p:cNvSpPr>
            <a:spLocks noChangeArrowheads="1"/>
          </p:cNvSpPr>
          <p:nvPr/>
        </p:nvSpPr>
        <p:spPr bwMode="auto">
          <a:xfrm>
            <a:off x="291227" y="2427734"/>
            <a:ext cx="1979712" cy="1815882"/>
          </a:xfrm>
          <a:prstGeom prst="rect">
            <a:avLst/>
          </a:prstGeom>
          <a:solidFill>
            <a:srgbClr val="1E1F2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a:ln>
                  <a:noFill/>
                </a:ln>
                <a:solidFill>
                  <a:srgbClr val="CF8E6D"/>
                </a:solidFill>
                <a:effectLst/>
                <a:latin typeface="Arial Unicode MS"/>
                <a:ea typeface="JetBrains Mono"/>
              </a:rPr>
              <a:t>int </a:t>
            </a:r>
            <a:r>
              <a:rPr kumimoji="0" lang="zh-CN" altLang="zh-CN" sz="1600" b="0" i="0" u="none" strike="noStrike" cap="none" normalizeH="0" baseline="0">
                <a:ln>
                  <a:noFill/>
                </a:ln>
                <a:solidFill>
                  <a:srgbClr val="BCBEC4"/>
                </a:solidFill>
                <a:effectLst/>
                <a:latin typeface="Arial Unicode MS"/>
                <a:ea typeface="JetBrains Mono"/>
              </a:rPr>
              <a:t>main() {</a:t>
            </a:r>
            <a:br>
              <a:rPr kumimoji="0" lang="zh-CN" altLang="zh-CN" sz="1600" b="0" i="0" u="none" strike="noStrike" cap="none" normalizeH="0" baseline="0">
                <a:ln>
                  <a:noFill/>
                </a:ln>
                <a:solidFill>
                  <a:srgbClr val="BCBEC4"/>
                </a:solidFill>
                <a:effectLst/>
                <a:latin typeface="Arial Unicode MS"/>
                <a:ea typeface="JetBrains Mono"/>
              </a:rPr>
            </a:br>
            <a:r>
              <a:rPr kumimoji="0" lang="zh-CN" altLang="zh-CN" sz="1600" b="0" i="0" u="none" strike="noStrike" cap="none" normalizeH="0" baseline="0">
                <a:ln>
                  <a:noFill/>
                </a:ln>
                <a:solidFill>
                  <a:srgbClr val="BCBEC4"/>
                </a:solidFill>
                <a:effectLst/>
                <a:latin typeface="Arial Unicode MS"/>
                <a:ea typeface="JetBrains Mono"/>
              </a:rPr>
              <a:t>    </a:t>
            </a:r>
            <a:r>
              <a:rPr kumimoji="0" lang="zh-CN" altLang="zh-CN" sz="1600" b="0" i="0" u="none" strike="noStrike" cap="none" normalizeH="0" baseline="0">
                <a:ln>
                  <a:noFill/>
                </a:ln>
                <a:solidFill>
                  <a:srgbClr val="CF8E6D"/>
                </a:solidFill>
                <a:effectLst/>
                <a:latin typeface="Arial Unicode MS"/>
                <a:ea typeface="JetBrains Mono"/>
              </a:rPr>
              <a:t>while </a:t>
            </a:r>
            <a:r>
              <a:rPr kumimoji="0" lang="zh-CN" altLang="zh-CN" sz="1600" b="0" i="0" u="none" strike="noStrike" cap="none" normalizeH="0" baseline="0">
                <a:ln>
                  <a:noFill/>
                </a:ln>
                <a:solidFill>
                  <a:srgbClr val="BCBEC4"/>
                </a:solidFill>
                <a:effectLst/>
                <a:latin typeface="Arial Unicode MS"/>
                <a:ea typeface="JetBrains Mono"/>
              </a:rPr>
              <a:t>(a &gt; </a:t>
            </a:r>
            <a:r>
              <a:rPr kumimoji="0" lang="zh-CN" altLang="zh-CN" sz="1600" b="0" i="0" u="none" strike="noStrike" cap="none" normalizeH="0" baseline="0">
                <a:ln>
                  <a:noFill/>
                </a:ln>
                <a:solidFill>
                  <a:srgbClr val="2AACB8"/>
                </a:solidFill>
                <a:effectLst/>
                <a:latin typeface="Arial Unicode MS"/>
                <a:ea typeface="JetBrains Mono"/>
              </a:rPr>
              <a:t>0</a:t>
            </a:r>
            <a:r>
              <a:rPr kumimoji="0" lang="zh-CN" altLang="zh-CN" sz="1600" b="0" i="0" u="none" strike="noStrike" cap="none" normalizeH="0" baseline="0">
                <a:ln>
                  <a:noFill/>
                </a:ln>
                <a:solidFill>
                  <a:srgbClr val="BCBEC4"/>
                </a:solidFill>
                <a:effectLst/>
                <a:latin typeface="Arial Unicode MS"/>
                <a:ea typeface="JetBrains Mono"/>
              </a:rPr>
              <a:t>) {</a:t>
            </a:r>
            <a:br>
              <a:rPr kumimoji="0" lang="zh-CN" altLang="zh-CN" sz="1600" b="0" i="0" u="none" strike="noStrike" cap="none" normalizeH="0" baseline="0">
                <a:ln>
                  <a:noFill/>
                </a:ln>
                <a:solidFill>
                  <a:srgbClr val="BCBEC4"/>
                </a:solidFill>
                <a:effectLst/>
                <a:latin typeface="Arial Unicode MS"/>
                <a:ea typeface="JetBrains Mono"/>
              </a:rPr>
            </a:br>
            <a:r>
              <a:rPr kumimoji="0" lang="zh-CN" altLang="zh-CN" sz="1600" b="0" i="0" u="none" strike="noStrike" cap="none" normalizeH="0" baseline="0">
                <a:ln>
                  <a:noFill/>
                </a:ln>
                <a:solidFill>
                  <a:srgbClr val="BCBEC4"/>
                </a:solidFill>
                <a:effectLst/>
                <a:latin typeface="Arial Unicode MS"/>
                <a:ea typeface="JetBrains Mono"/>
              </a:rPr>
              <a:t>        </a:t>
            </a:r>
            <a:r>
              <a:rPr kumimoji="0" lang="zh-CN" altLang="zh-CN" sz="1600" b="0" i="0" u="none" strike="noStrike" cap="none" normalizeH="0" baseline="0">
                <a:ln>
                  <a:noFill/>
                </a:ln>
                <a:solidFill>
                  <a:srgbClr val="CF8E6D"/>
                </a:solidFill>
                <a:effectLst/>
                <a:latin typeface="Arial Unicode MS"/>
                <a:ea typeface="JetBrains Mono"/>
              </a:rPr>
              <a:t>if </a:t>
            </a:r>
            <a:r>
              <a:rPr kumimoji="0" lang="zh-CN" altLang="zh-CN" sz="1600" b="0" i="0" u="none" strike="noStrike" cap="none" normalizeH="0" baseline="0">
                <a:ln>
                  <a:noFill/>
                </a:ln>
                <a:solidFill>
                  <a:srgbClr val="BCBEC4"/>
                </a:solidFill>
                <a:effectLst/>
                <a:latin typeface="Arial Unicode MS"/>
                <a:ea typeface="JetBrains Mono"/>
              </a:rPr>
              <a:t>(a == </a:t>
            </a:r>
            <a:r>
              <a:rPr kumimoji="0" lang="zh-CN" altLang="zh-CN" sz="1600" b="0" i="0" u="none" strike="noStrike" cap="none" normalizeH="0" baseline="0">
                <a:ln>
                  <a:noFill/>
                </a:ln>
                <a:solidFill>
                  <a:srgbClr val="2AACB8"/>
                </a:solidFill>
                <a:effectLst/>
                <a:latin typeface="Arial Unicode MS"/>
                <a:ea typeface="JetBrains Mono"/>
              </a:rPr>
              <a:t>3</a:t>
            </a:r>
            <a:r>
              <a:rPr kumimoji="0" lang="zh-CN" altLang="zh-CN" sz="1600" b="0" i="0" u="none" strike="noStrike" cap="none" normalizeH="0" baseline="0">
                <a:ln>
                  <a:noFill/>
                </a:ln>
                <a:solidFill>
                  <a:srgbClr val="BCBEC4"/>
                </a:solidFill>
                <a:effectLst/>
                <a:latin typeface="Arial Unicode MS"/>
                <a:ea typeface="JetBrains Mono"/>
              </a:rPr>
              <a:t>)</a:t>
            </a:r>
            <a:br>
              <a:rPr kumimoji="0" lang="zh-CN" altLang="zh-CN" sz="1600" b="0" i="0" u="none" strike="noStrike" cap="none" normalizeH="0" baseline="0">
                <a:ln>
                  <a:noFill/>
                </a:ln>
                <a:solidFill>
                  <a:srgbClr val="BCBEC4"/>
                </a:solidFill>
                <a:effectLst/>
                <a:latin typeface="Arial Unicode MS"/>
                <a:ea typeface="JetBrains Mono"/>
              </a:rPr>
            </a:br>
            <a:r>
              <a:rPr kumimoji="0" lang="zh-CN" altLang="zh-CN" sz="1600" b="0" i="0" u="none" strike="noStrike" cap="none" normalizeH="0" baseline="0">
                <a:ln>
                  <a:noFill/>
                </a:ln>
                <a:solidFill>
                  <a:srgbClr val="BCBEC4"/>
                </a:solidFill>
                <a:effectLst/>
                <a:latin typeface="Arial Unicode MS"/>
                <a:ea typeface="JetBrains Mono"/>
              </a:rPr>
              <a:t>            </a:t>
            </a:r>
            <a:r>
              <a:rPr kumimoji="0" lang="zh-CN" altLang="zh-CN" sz="1600" b="0" i="0" u="none" strike="noStrike" cap="none" normalizeH="0" baseline="0">
                <a:ln>
                  <a:noFill/>
                </a:ln>
                <a:solidFill>
                  <a:srgbClr val="CF8E6D"/>
                </a:solidFill>
                <a:effectLst/>
                <a:latin typeface="Arial Unicode MS"/>
                <a:ea typeface="JetBrains Mono"/>
              </a:rPr>
              <a:t>break</a:t>
            </a:r>
            <a:r>
              <a:rPr kumimoji="0" lang="zh-CN" altLang="zh-CN" sz="1600" b="0" i="0" u="none" strike="noStrike" cap="none" normalizeH="0" baseline="0">
                <a:ln>
                  <a:noFill/>
                </a:ln>
                <a:solidFill>
                  <a:srgbClr val="BCBEC4"/>
                </a:solidFill>
                <a:effectLst/>
                <a:latin typeface="Arial Unicode MS"/>
                <a:ea typeface="JetBrains Mono"/>
              </a:rPr>
              <a:t>;</a:t>
            </a:r>
            <a:br>
              <a:rPr kumimoji="0" lang="zh-CN" altLang="zh-CN" sz="1600" b="0" i="0" u="none" strike="noStrike" cap="none" normalizeH="0" baseline="0">
                <a:ln>
                  <a:noFill/>
                </a:ln>
                <a:solidFill>
                  <a:srgbClr val="BCBEC4"/>
                </a:solidFill>
                <a:effectLst/>
                <a:latin typeface="Arial Unicode MS"/>
                <a:ea typeface="JetBrains Mono"/>
              </a:rPr>
            </a:br>
            <a:r>
              <a:rPr kumimoji="0" lang="zh-CN" altLang="zh-CN" sz="1600" b="0" i="0" u="none" strike="noStrike" cap="none" normalizeH="0" baseline="0">
                <a:ln>
                  <a:noFill/>
                </a:ln>
                <a:solidFill>
                  <a:srgbClr val="BCBEC4"/>
                </a:solidFill>
                <a:effectLst/>
                <a:latin typeface="Arial Unicode MS"/>
                <a:ea typeface="JetBrains Mono"/>
              </a:rPr>
              <a:t>        a = a - </a:t>
            </a:r>
            <a:r>
              <a:rPr kumimoji="0" lang="zh-CN" altLang="zh-CN" sz="1600" b="0" i="0" u="none" strike="noStrike" cap="none" normalizeH="0" baseline="0">
                <a:ln>
                  <a:noFill/>
                </a:ln>
                <a:solidFill>
                  <a:srgbClr val="2AACB8"/>
                </a:solidFill>
                <a:effectLst/>
                <a:latin typeface="Arial Unicode MS"/>
                <a:ea typeface="JetBrains Mono"/>
              </a:rPr>
              <a:t>1</a:t>
            </a:r>
            <a:r>
              <a:rPr kumimoji="0" lang="zh-CN" altLang="zh-CN" sz="1600" b="0" i="0" u="none" strike="noStrike" cap="none" normalizeH="0" baseline="0">
                <a:ln>
                  <a:noFill/>
                </a:ln>
                <a:solidFill>
                  <a:srgbClr val="BCBEC4"/>
                </a:solidFill>
                <a:effectLst/>
                <a:latin typeface="Arial Unicode MS"/>
                <a:ea typeface="JetBrains Mono"/>
              </a:rPr>
              <a:t>;</a:t>
            </a:r>
            <a:br>
              <a:rPr kumimoji="0" lang="zh-CN" altLang="zh-CN" sz="1600" b="0" i="0" u="none" strike="noStrike" cap="none" normalizeH="0" baseline="0">
                <a:ln>
                  <a:noFill/>
                </a:ln>
                <a:solidFill>
                  <a:srgbClr val="BCBEC4"/>
                </a:solidFill>
                <a:effectLst/>
                <a:latin typeface="Arial Unicode MS"/>
                <a:ea typeface="JetBrains Mono"/>
              </a:rPr>
            </a:br>
            <a:r>
              <a:rPr kumimoji="0" lang="zh-CN" altLang="zh-CN" sz="1600" b="0" i="0" u="none" strike="noStrike" cap="none" normalizeH="0" baseline="0">
                <a:ln>
                  <a:noFill/>
                </a:ln>
                <a:solidFill>
                  <a:srgbClr val="BCBEC4"/>
                </a:solidFill>
                <a:effectLst/>
                <a:latin typeface="Arial Unicode MS"/>
                <a:ea typeface="JetBrains Mono"/>
              </a:rPr>
              <a:t>    }</a:t>
            </a:r>
            <a:br>
              <a:rPr kumimoji="0" lang="zh-CN" altLang="zh-CN" sz="1600" b="0" i="0" u="none" strike="noStrike" cap="none" normalizeH="0" baseline="0">
                <a:ln>
                  <a:noFill/>
                </a:ln>
                <a:solidFill>
                  <a:srgbClr val="BCBEC4"/>
                </a:solidFill>
                <a:effectLst/>
                <a:latin typeface="Arial Unicode MS"/>
                <a:ea typeface="JetBrains Mono"/>
              </a:rPr>
            </a:br>
            <a:r>
              <a:rPr kumimoji="0" lang="zh-CN" altLang="zh-CN" sz="1600" b="0" i="0" u="none" strike="noStrike" cap="none" normalizeH="0" baseline="0">
                <a:ln>
                  <a:noFill/>
                </a:ln>
                <a:solidFill>
                  <a:srgbClr val="BCBEC4"/>
                </a:solidFill>
                <a:effectLst/>
                <a:latin typeface="Arial Unicode MS"/>
                <a:ea typeface="JetBrains Mono"/>
              </a:rPr>
              <a:t>}</a:t>
            </a:r>
            <a:endParaRPr kumimoji="0" lang="zh-CN" altLang="zh-CN" sz="1600" b="0" i="0" u="none" strike="noStrike" cap="none" normalizeH="0" baseline="0">
              <a:ln>
                <a:noFill/>
              </a:ln>
              <a:solidFill>
                <a:schemeClr val="tx1"/>
              </a:solidFill>
              <a:effectLst/>
              <a:latin typeface="Arial" panose="020B0604020202020204" pitchFamily="34" charset="0"/>
            </a:endParaRPr>
          </a:p>
        </p:txBody>
      </p:sp>
      <p:sp>
        <p:nvSpPr>
          <p:cNvPr id="17" name="箭头: 右 16">
            <a:extLst>
              <a:ext uri="{FF2B5EF4-FFF2-40B4-BE49-F238E27FC236}">
                <a16:creationId xmlns:a16="http://schemas.microsoft.com/office/drawing/2014/main" id="{335FB48C-AC63-4FB6-817E-D89F4482BE27}"/>
              </a:ext>
            </a:extLst>
          </p:cNvPr>
          <p:cNvSpPr/>
          <p:nvPr/>
        </p:nvSpPr>
        <p:spPr>
          <a:xfrm>
            <a:off x="2320989" y="3147814"/>
            <a:ext cx="736992" cy="1440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箭头: 右 17">
            <a:extLst>
              <a:ext uri="{FF2B5EF4-FFF2-40B4-BE49-F238E27FC236}">
                <a16:creationId xmlns:a16="http://schemas.microsoft.com/office/drawing/2014/main" id="{DFEE9F70-4E2F-473B-B7AD-F3275555D234}"/>
              </a:ext>
            </a:extLst>
          </p:cNvPr>
          <p:cNvSpPr/>
          <p:nvPr/>
        </p:nvSpPr>
        <p:spPr>
          <a:xfrm>
            <a:off x="5508104" y="3075806"/>
            <a:ext cx="792088" cy="2160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9008759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552705"/>
            <a:ext cx="8229600" cy="1438839"/>
          </a:xfrm>
        </p:spPr>
        <p:txBody>
          <a:bodyPr>
            <a:normAutofit fontScale="85000" lnSpcReduction="20000"/>
          </a:bodyPr>
          <a:lstStyle/>
          <a:p>
            <a:r>
              <a:rPr lang="zh-CN" altLang="en-US" dirty="0"/>
              <a:t>正常来说，语法分析只输出错误信息，没有语法错误就没有输出，常见的编译器，都没有语法输出</a:t>
            </a:r>
            <a:endParaRPr lang="en-US" altLang="zh-CN" dirty="0"/>
          </a:p>
          <a:p>
            <a:r>
              <a:rPr lang="zh-CN" altLang="en-US" dirty="0"/>
              <a:t>但是现在是学习阶段，可以将语法树输出来，或者输出分析过程，方便调试程序和查找错误</a:t>
            </a:r>
            <a:endParaRPr lang="en-US" altLang="zh-CN" dirty="0"/>
          </a:p>
          <a:p>
            <a:r>
              <a:rPr lang="zh-CN" altLang="en-US" dirty="0"/>
              <a:t>下面是参考样式</a:t>
            </a:r>
          </a:p>
        </p:txBody>
      </p:sp>
      <p:sp>
        <p:nvSpPr>
          <p:cNvPr id="3" name="标题 2"/>
          <p:cNvSpPr>
            <a:spLocks noGrp="1"/>
          </p:cNvSpPr>
          <p:nvPr>
            <p:ph type="title"/>
          </p:nvPr>
        </p:nvSpPr>
        <p:spPr>
          <a:xfrm>
            <a:off x="0" y="0"/>
            <a:ext cx="8229600" cy="576064"/>
          </a:xfrm>
        </p:spPr>
        <p:txBody>
          <a:bodyPr>
            <a:normAutofit fontScale="90000"/>
          </a:bodyPr>
          <a:lstStyle/>
          <a:p>
            <a:r>
              <a:rPr lang="zh-CN" altLang="en-US" dirty="0"/>
              <a:t>语法分析的输出</a:t>
            </a: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995686"/>
            <a:ext cx="6948264" cy="31478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09436" y="2762769"/>
            <a:ext cx="5134564" cy="2384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8107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14116E30-BF48-46FF-8613-61A5E5570C6F}"/>
              </a:ext>
            </a:extLst>
          </p:cNvPr>
          <p:cNvSpPr>
            <a:spLocks noGrp="1"/>
          </p:cNvSpPr>
          <p:nvPr>
            <p:ph idx="1"/>
          </p:nvPr>
        </p:nvSpPr>
        <p:spPr>
          <a:xfrm>
            <a:off x="457200" y="1203598"/>
            <a:ext cx="8229600" cy="3394472"/>
          </a:xfrm>
        </p:spPr>
        <p:txBody>
          <a:bodyPr/>
          <a:lstStyle/>
          <a:p>
            <a:endParaRPr lang="zh-CN" altLang="en-US"/>
          </a:p>
        </p:txBody>
      </p:sp>
      <p:sp>
        <p:nvSpPr>
          <p:cNvPr id="3" name="标题 2">
            <a:extLst>
              <a:ext uri="{FF2B5EF4-FFF2-40B4-BE49-F238E27FC236}">
                <a16:creationId xmlns:a16="http://schemas.microsoft.com/office/drawing/2014/main" id="{6FF11721-F558-4471-A25B-6E93B34BDD1D}"/>
              </a:ext>
            </a:extLst>
          </p:cNvPr>
          <p:cNvSpPr>
            <a:spLocks noGrp="1"/>
          </p:cNvSpPr>
          <p:nvPr>
            <p:ph type="title"/>
          </p:nvPr>
        </p:nvSpPr>
        <p:spPr/>
        <p:txBody>
          <a:bodyPr>
            <a:normAutofit fontScale="90000"/>
          </a:bodyPr>
          <a:lstStyle/>
          <a:p>
            <a:endParaRPr lang="zh-CN" altLang="en-US"/>
          </a:p>
        </p:txBody>
      </p:sp>
      <p:pic>
        <p:nvPicPr>
          <p:cNvPr id="6146" name="Picture 2" descr="tree">
            <a:extLst>
              <a:ext uri="{FF2B5EF4-FFF2-40B4-BE49-F238E27FC236}">
                <a16:creationId xmlns:a16="http://schemas.microsoft.com/office/drawing/2014/main" id="{85F8D077-EA33-47C8-AD11-D36FB1CFD4E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50989" y="-81583"/>
            <a:ext cx="4093011" cy="5306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7" name="Picture 3" descr="33">
            <a:extLst>
              <a:ext uri="{FF2B5EF4-FFF2-40B4-BE49-F238E27FC236}">
                <a16:creationId xmlns:a16="http://schemas.microsoft.com/office/drawing/2014/main" id="{75C6475D-CABB-4171-B0E6-928317C241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504" y="416371"/>
            <a:ext cx="4648387" cy="4310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920175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C634E419-5C0B-4C72-83DD-C3F94961188C}"/>
              </a:ext>
            </a:extLst>
          </p:cNvPr>
          <p:cNvSpPr>
            <a:spLocks noGrp="1"/>
          </p:cNvSpPr>
          <p:nvPr>
            <p:ph type="title"/>
          </p:nvPr>
        </p:nvSpPr>
        <p:spPr/>
        <p:txBody>
          <a:bodyPr>
            <a:normAutofit fontScale="90000"/>
          </a:bodyPr>
          <a:lstStyle/>
          <a:p>
            <a:r>
              <a:rPr lang="zh-CN" altLang="en-US" dirty="0"/>
              <a:t>输出抽象语法分析树</a:t>
            </a:r>
          </a:p>
        </p:txBody>
      </p:sp>
      <p:pic>
        <p:nvPicPr>
          <p:cNvPr id="6" name="图片 5">
            <a:extLst>
              <a:ext uri="{FF2B5EF4-FFF2-40B4-BE49-F238E27FC236}">
                <a16:creationId xmlns:a16="http://schemas.microsoft.com/office/drawing/2014/main" id="{0164B4A7-3DB7-44B8-B3E5-16E92DFF279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150744"/>
            <a:ext cx="9144000" cy="842012"/>
          </a:xfrm>
          <a:prstGeom prst="rect">
            <a:avLst/>
          </a:prstGeom>
        </p:spPr>
      </p:pic>
    </p:spTree>
    <p:extLst>
      <p:ext uri="{BB962C8B-B14F-4D97-AF65-F5344CB8AC3E}">
        <p14:creationId xmlns:p14="http://schemas.microsoft.com/office/powerpoint/2010/main" val="12869256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25096" y="734440"/>
            <a:ext cx="8424936" cy="973214"/>
          </a:xfrm>
        </p:spPr>
        <p:txBody>
          <a:bodyPr>
            <a:normAutofit fontScale="92500" lnSpcReduction="10000"/>
          </a:bodyPr>
          <a:lstStyle/>
          <a:p>
            <a:r>
              <a:rPr lang="zh-CN" altLang="en-US" sz="2200" dirty="0">
                <a:latin typeface="宋体" panose="02010600030101010101" pitchFamily="2" charset="-122"/>
                <a:ea typeface="宋体" panose="02010600030101010101" pitchFamily="2" charset="-122"/>
              </a:rPr>
              <a:t>全称为</a:t>
            </a:r>
            <a:r>
              <a:rPr lang="en-US" altLang="zh-CN" sz="2200" dirty="0">
                <a:latin typeface="宋体" panose="02010600030101010101" pitchFamily="2" charset="-122"/>
                <a:ea typeface="宋体" panose="02010600030101010101" pitchFamily="2" charset="-122"/>
              </a:rPr>
              <a:t>Java Compiler Compiler</a:t>
            </a:r>
            <a:r>
              <a:rPr lang="zh-CN" altLang="en-US" sz="2200" dirty="0">
                <a:latin typeface="宋体" panose="02010600030101010101" pitchFamily="2" charset="-122"/>
                <a:ea typeface="宋体" panose="02010600030101010101" pitchFamily="2" charset="-122"/>
              </a:rPr>
              <a:t>，它是一个生成器，用于生成词法分析器（</a:t>
            </a:r>
            <a:r>
              <a:rPr lang="en-US" altLang="zh-CN" sz="2200" dirty="0">
                <a:latin typeface="宋体" panose="02010600030101010101" pitchFamily="2" charset="-122"/>
                <a:ea typeface="宋体" panose="02010600030101010101" pitchFamily="2" charset="-122"/>
              </a:rPr>
              <a:t>lexical </a:t>
            </a:r>
            <a:r>
              <a:rPr lang="en-US" altLang="zh-CN" sz="2200" dirty="0" err="1">
                <a:latin typeface="宋体" panose="02010600030101010101" pitchFamily="2" charset="-122"/>
                <a:ea typeface="宋体" panose="02010600030101010101" pitchFamily="2" charset="-122"/>
              </a:rPr>
              <a:t>analysers</a:t>
            </a:r>
            <a:r>
              <a:rPr lang="zh-CN" altLang="en-US" sz="2200" dirty="0">
                <a:latin typeface="宋体" panose="02010600030101010101" pitchFamily="2" charset="-122"/>
                <a:ea typeface="宋体" panose="02010600030101010101" pitchFamily="2" charset="-122"/>
              </a:rPr>
              <a:t>）和语法分析器（</a:t>
            </a:r>
            <a:r>
              <a:rPr lang="en-US" altLang="zh-CN" sz="2200" dirty="0">
                <a:latin typeface="宋体" panose="02010600030101010101" pitchFamily="2" charset="-122"/>
                <a:ea typeface="宋体" panose="02010600030101010101" pitchFamily="2" charset="-122"/>
              </a:rPr>
              <a:t>parsers</a:t>
            </a:r>
            <a:r>
              <a:rPr lang="zh-CN" altLang="en-US" sz="2200" dirty="0">
                <a:latin typeface="宋体" panose="02010600030101010101" pitchFamily="2" charset="-122"/>
                <a:ea typeface="宋体" panose="02010600030101010101" pitchFamily="2" charset="-122"/>
              </a:rPr>
              <a:t>）</a:t>
            </a:r>
            <a:endParaRPr lang="en-US" altLang="zh-CN" sz="2200" dirty="0">
              <a:latin typeface="宋体" panose="02010600030101010101" pitchFamily="2" charset="-122"/>
              <a:ea typeface="宋体" panose="02010600030101010101" pitchFamily="2" charset="-122"/>
            </a:endParaRPr>
          </a:p>
          <a:p>
            <a:r>
              <a:rPr lang="zh-CN" altLang="en-US" sz="2200" dirty="0">
                <a:latin typeface="宋体" panose="02010600030101010101" pitchFamily="2" charset="-122"/>
                <a:ea typeface="宋体" panose="02010600030101010101" pitchFamily="2" charset="-122"/>
              </a:rPr>
              <a:t>利用递归下降语法分析的原理</a:t>
            </a:r>
            <a:endParaRPr lang="en-US" altLang="zh-CN" sz="2200" dirty="0">
              <a:latin typeface="宋体" panose="02010600030101010101" pitchFamily="2" charset="-122"/>
              <a:ea typeface="宋体" panose="02010600030101010101" pitchFamily="2" charset="-122"/>
            </a:endParaRPr>
          </a:p>
        </p:txBody>
      </p:sp>
      <p:sp>
        <p:nvSpPr>
          <p:cNvPr id="3" name="标题 2"/>
          <p:cNvSpPr>
            <a:spLocks noGrp="1"/>
          </p:cNvSpPr>
          <p:nvPr>
            <p:ph type="title"/>
          </p:nvPr>
        </p:nvSpPr>
        <p:spPr>
          <a:xfrm>
            <a:off x="179512" y="35019"/>
            <a:ext cx="8229600" cy="857250"/>
          </a:xfrm>
        </p:spPr>
        <p:txBody>
          <a:bodyPr>
            <a:normAutofit fontScale="90000"/>
          </a:bodyPr>
          <a:lstStyle/>
          <a:p>
            <a:r>
              <a:rPr lang="zh-CN" altLang="en-US" sz="3600" dirty="0"/>
              <a:t>语法实验（</a:t>
            </a:r>
            <a:r>
              <a:rPr lang="zh-CN" altLang="en-US" dirty="0"/>
              <a:t>可选</a:t>
            </a:r>
            <a:r>
              <a:rPr lang="zh-CN" altLang="en-US" sz="3600" dirty="0"/>
              <a:t>）</a:t>
            </a:r>
            <a:r>
              <a:rPr lang="en-US" altLang="zh-CN" sz="3600" dirty="0"/>
              <a:t>——</a:t>
            </a:r>
            <a:r>
              <a:rPr lang="en-US" altLang="zh-CN" sz="3600" dirty="0" err="1"/>
              <a:t>JavaCC</a:t>
            </a:r>
            <a:r>
              <a:rPr lang="zh-CN" altLang="en-US" sz="3600" dirty="0"/>
              <a:t>自动生成器</a:t>
            </a:r>
          </a:p>
        </p:txBody>
      </p:sp>
      <p:sp>
        <p:nvSpPr>
          <p:cNvPr id="5" name="Rectangle 5"/>
          <p:cNvSpPr>
            <a:spLocks noChangeArrowheads="1"/>
          </p:cNvSpPr>
          <p:nvPr/>
        </p:nvSpPr>
        <p:spPr bwMode="auto">
          <a:xfrm>
            <a:off x="3726016" y="2188916"/>
            <a:ext cx="2205043" cy="494199"/>
          </a:xfrm>
          <a:prstGeom prst="rect">
            <a:avLst/>
          </a:prstGeom>
          <a:ln>
            <a:solidFill>
              <a:schemeClr val="tx1"/>
            </a:solidFill>
            <a:headEnd/>
            <a:tailEnd/>
          </a:ln>
        </p:spPr>
        <p:style>
          <a:lnRef idx="2">
            <a:schemeClr val="accent2">
              <a:shade val="50000"/>
            </a:schemeClr>
          </a:lnRef>
          <a:fillRef idx="1">
            <a:schemeClr val="accent2"/>
          </a:fillRef>
          <a:effectRef idx="0">
            <a:schemeClr val="accent2"/>
          </a:effectRef>
          <a:fontRef idx="minor">
            <a:schemeClr val="lt1"/>
          </a:fontRef>
        </p:style>
        <p:txBody>
          <a:bodyPr lIns="79200" tIns="7200" rIns="90000" bIns="10800"/>
          <a:lstStyle/>
          <a:p>
            <a:pPr algn="ctr">
              <a:defRPr/>
            </a:pPr>
            <a:r>
              <a:rPr lang="en-US" altLang="zh-CN" sz="2000" b="1" dirty="0" err="1">
                <a:solidFill>
                  <a:schemeClr val="bg1"/>
                </a:solidFill>
                <a:latin typeface="Times New Roman" pitchFamily="18" charset="0"/>
              </a:rPr>
              <a:t>JavaCC</a:t>
            </a:r>
            <a:r>
              <a:rPr lang="zh-CN" altLang="en-US" sz="2000" b="1" dirty="0">
                <a:solidFill>
                  <a:schemeClr val="bg1"/>
                </a:solidFill>
                <a:latin typeface="Times New Roman" pitchFamily="18" charset="0"/>
              </a:rPr>
              <a:t>编译器</a:t>
            </a:r>
          </a:p>
        </p:txBody>
      </p:sp>
      <p:sp>
        <p:nvSpPr>
          <p:cNvPr id="6" name="Line 6"/>
          <p:cNvSpPr>
            <a:spLocks noChangeShapeType="1"/>
          </p:cNvSpPr>
          <p:nvPr/>
        </p:nvSpPr>
        <p:spPr bwMode="auto">
          <a:xfrm flipV="1">
            <a:off x="5917824" y="2404940"/>
            <a:ext cx="939023" cy="0"/>
          </a:xfrm>
          <a:prstGeom prst="line">
            <a:avLst/>
          </a:prstGeom>
          <a:noFill/>
          <a:ln w="38100">
            <a:solidFill>
              <a:schemeClr val="tx1"/>
            </a:solidFill>
            <a:round/>
            <a:headEnd/>
            <a:tailEnd type="stealth" w="lg" len="med"/>
          </a:ln>
          <a:extLst>
            <a:ext uri="{909E8E84-426E-40DD-AFC4-6F175D3DCCD1}">
              <a14:hiddenFill xmlns:a14="http://schemas.microsoft.com/office/drawing/2010/main">
                <a:noFill/>
              </a14:hiddenFill>
            </a:ext>
          </a:extLst>
        </p:spPr>
        <p:txBody>
          <a:bodyPr lIns="79200" tIns="28800" rIns="90000" bIns="46800"/>
          <a:lstStyle/>
          <a:p>
            <a:endParaRPr lang="zh-CN" altLang="en-US" sz="1600"/>
          </a:p>
        </p:txBody>
      </p:sp>
      <p:sp>
        <p:nvSpPr>
          <p:cNvPr id="8" name="Rectangle 8"/>
          <p:cNvSpPr>
            <a:spLocks noChangeArrowheads="1"/>
          </p:cNvSpPr>
          <p:nvPr/>
        </p:nvSpPr>
        <p:spPr bwMode="auto">
          <a:xfrm>
            <a:off x="1115617" y="2023082"/>
            <a:ext cx="1735498" cy="692685"/>
          </a:xfrm>
          <a:prstGeom prst="rect">
            <a:avLst/>
          </a:prstGeom>
          <a:gradFill flip="none" rotWithShape="1">
            <a:gsLst>
              <a:gs pos="0">
                <a:srgbClr val="FBEAC7"/>
              </a:gs>
              <a:gs pos="17999">
                <a:srgbClr val="FEE7F2"/>
              </a:gs>
              <a:gs pos="36000">
                <a:srgbClr val="FAC77D"/>
              </a:gs>
              <a:gs pos="61000">
                <a:srgbClr val="FBA97D"/>
              </a:gs>
              <a:gs pos="82001">
                <a:srgbClr val="FBD49C"/>
              </a:gs>
              <a:gs pos="100000">
                <a:srgbClr val="FEE7F2"/>
              </a:gs>
            </a:gsLst>
            <a:lin ang="0" scaled="0"/>
            <a:tileRect/>
          </a:gradFill>
          <a:ln w="25400">
            <a:noFill/>
            <a:miter lim="800000"/>
            <a:headEnd/>
            <a:tailEnd/>
          </a:ln>
        </p:spPr>
        <p:txBody>
          <a:bodyPr lIns="79200" tIns="28800" rIns="90000" bIns="46800"/>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just">
              <a:spcBef>
                <a:spcPct val="0"/>
              </a:spcBef>
              <a:buFontTx/>
              <a:buNone/>
            </a:pPr>
            <a:r>
              <a:rPr lang="en-US" altLang="zh-CN" sz="2000" dirty="0" err="1">
                <a:solidFill>
                  <a:srgbClr val="000000"/>
                </a:solidFill>
                <a:latin typeface="Times New Roman" pitchFamily="18" charset="0"/>
              </a:rPr>
              <a:t>JavaCC</a:t>
            </a:r>
            <a:r>
              <a:rPr lang="zh-CN" altLang="en-US" sz="2000" dirty="0">
                <a:solidFill>
                  <a:srgbClr val="000000"/>
                </a:solidFill>
                <a:latin typeface="Times New Roman" pitchFamily="18" charset="0"/>
              </a:rPr>
              <a:t>源程序</a:t>
            </a:r>
            <a:endParaRPr lang="en-US" altLang="zh-CN" sz="2000" dirty="0">
              <a:solidFill>
                <a:srgbClr val="000000"/>
              </a:solidFill>
              <a:latin typeface="Times New Roman" pitchFamily="18" charset="0"/>
            </a:endParaRPr>
          </a:p>
          <a:p>
            <a:pPr algn="ctr">
              <a:spcBef>
                <a:spcPct val="0"/>
              </a:spcBef>
              <a:buFontTx/>
              <a:buNone/>
            </a:pPr>
            <a:r>
              <a:rPr lang="en-US" altLang="zh-CN" sz="2000" dirty="0" err="1">
                <a:solidFill>
                  <a:srgbClr val="000000"/>
                </a:solidFill>
                <a:latin typeface="Times New Roman" pitchFamily="18" charset="0"/>
              </a:rPr>
              <a:t>Parser.jj</a:t>
            </a:r>
            <a:endParaRPr lang="en-US" altLang="zh-CN" sz="2000" dirty="0">
              <a:solidFill>
                <a:srgbClr val="000000"/>
              </a:solidFill>
              <a:latin typeface="Times New Roman" pitchFamily="18" charset="0"/>
            </a:endParaRPr>
          </a:p>
        </p:txBody>
      </p:sp>
      <p:sp>
        <p:nvSpPr>
          <p:cNvPr id="10" name="Rectangle 10"/>
          <p:cNvSpPr>
            <a:spLocks noChangeArrowheads="1"/>
          </p:cNvSpPr>
          <p:nvPr/>
        </p:nvSpPr>
        <p:spPr bwMode="auto">
          <a:xfrm>
            <a:off x="5759219" y="3304100"/>
            <a:ext cx="2269165" cy="414885"/>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79200" tIns="7200" rIns="90000" bIns="10800"/>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a:spcBef>
                <a:spcPct val="0"/>
              </a:spcBef>
              <a:buFontTx/>
              <a:buNone/>
            </a:pPr>
            <a:r>
              <a:rPr lang="en-US" altLang="zh-CN" sz="2000" b="1" dirty="0">
                <a:solidFill>
                  <a:srgbClr val="000000"/>
                </a:solidFill>
                <a:latin typeface="Times New Roman" pitchFamily="18" charset="0"/>
              </a:rPr>
              <a:t>Java</a:t>
            </a:r>
            <a:r>
              <a:rPr lang="zh-CN" altLang="en-US" sz="2000" b="1" dirty="0">
                <a:solidFill>
                  <a:srgbClr val="000000"/>
                </a:solidFill>
                <a:latin typeface="Times New Roman" pitchFamily="18" charset="0"/>
              </a:rPr>
              <a:t>编译器</a:t>
            </a:r>
            <a:r>
              <a:rPr lang="en-US" altLang="zh-CN" sz="2000" b="1" dirty="0" err="1">
                <a:solidFill>
                  <a:srgbClr val="000000"/>
                </a:solidFill>
                <a:latin typeface="Times New Roman" pitchFamily="18" charset="0"/>
              </a:rPr>
              <a:t>javac</a:t>
            </a:r>
            <a:endParaRPr lang="zh-CN" altLang="en-US" sz="2000" b="1" dirty="0">
              <a:solidFill>
                <a:srgbClr val="000000"/>
              </a:solidFill>
              <a:latin typeface="Times New Roman" pitchFamily="18" charset="0"/>
            </a:endParaRPr>
          </a:p>
        </p:txBody>
      </p:sp>
      <p:sp>
        <p:nvSpPr>
          <p:cNvPr id="11" name="Line 11"/>
          <p:cNvSpPr>
            <a:spLocks noChangeShapeType="1"/>
          </p:cNvSpPr>
          <p:nvPr/>
        </p:nvSpPr>
        <p:spPr bwMode="auto">
          <a:xfrm>
            <a:off x="3563888" y="3718984"/>
            <a:ext cx="1600182" cy="508951"/>
          </a:xfrm>
          <a:prstGeom prst="line">
            <a:avLst/>
          </a:prstGeom>
          <a:noFill/>
          <a:ln w="38100">
            <a:solidFill>
              <a:schemeClr val="tx1"/>
            </a:solidFill>
            <a:round/>
            <a:headEnd/>
            <a:tailEnd type="stealth" w="lg" len="med"/>
          </a:ln>
          <a:extLst>
            <a:ext uri="{909E8E84-426E-40DD-AFC4-6F175D3DCCD1}">
              <a14:hiddenFill xmlns:a14="http://schemas.microsoft.com/office/drawing/2010/main">
                <a:noFill/>
              </a14:hiddenFill>
            </a:ext>
          </a:extLst>
        </p:spPr>
        <p:txBody>
          <a:bodyPr lIns="79200" tIns="28800" rIns="90000" bIns="46800"/>
          <a:lstStyle/>
          <a:p>
            <a:endParaRPr lang="zh-CN" altLang="en-US" sz="1600"/>
          </a:p>
        </p:txBody>
      </p:sp>
      <p:sp>
        <p:nvSpPr>
          <p:cNvPr id="12" name="Line 12"/>
          <p:cNvSpPr>
            <a:spLocks noChangeShapeType="1"/>
          </p:cNvSpPr>
          <p:nvPr/>
        </p:nvSpPr>
        <p:spPr bwMode="auto">
          <a:xfrm flipH="1">
            <a:off x="7524327" y="2715767"/>
            <a:ext cx="0" cy="562771"/>
          </a:xfrm>
          <a:prstGeom prst="line">
            <a:avLst/>
          </a:prstGeom>
          <a:noFill/>
          <a:ln w="38100">
            <a:solidFill>
              <a:schemeClr val="tx1"/>
            </a:solidFill>
            <a:round/>
            <a:headEnd/>
            <a:tailEnd type="stealth" w="lg" len="med"/>
          </a:ln>
          <a:extLst>
            <a:ext uri="{909E8E84-426E-40DD-AFC4-6F175D3DCCD1}">
              <a14:hiddenFill xmlns:a14="http://schemas.microsoft.com/office/drawing/2010/main">
                <a:noFill/>
              </a14:hiddenFill>
            </a:ext>
          </a:extLst>
        </p:spPr>
        <p:txBody>
          <a:bodyPr lIns="79200" tIns="28800" rIns="90000" bIns="46800"/>
          <a:lstStyle/>
          <a:p>
            <a:endParaRPr lang="zh-CN" altLang="en-US" sz="1600"/>
          </a:p>
        </p:txBody>
      </p:sp>
      <p:sp>
        <p:nvSpPr>
          <p:cNvPr id="13" name="Rectangle 14"/>
          <p:cNvSpPr>
            <a:spLocks noChangeArrowheads="1"/>
          </p:cNvSpPr>
          <p:nvPr/>
        </p:nvSpPr>
        <p:spPr bwMode="auto">
          <a:xfrm>
            <a:off x="3855194" y="4227935"/>
            <a:ext cx="2372991" cy="675274"/>
          </a:xfrm>
          <a:prstGeom prst="rect">
            <a:avLst/>
          </a:prstGeom>
          <a:noFill/>
          <a:ln w="25400">
            <a:solidFill>
              <a:schemeClr val="tx1"/>
            </a:solidFill>
            <a:miter lim="800000"/>
            <a:headEnd/>
            <a:tailEnd/>
          </a:ln>
        </p:spPr>
        <p:txBody>
          <a:bodyPr lIns="79200" tIns="28800" rIns="90000" bIns="46800"/>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a:spcBef>
                <a:spcPct val="0"/>
              </a:spcBef>
              <a:buFontTx/>
              <a:buNone/>
            </a:pPr>
            <a:r>
              <a:rPr lang="zh-CN" altLang="en-US" sz="1800" b="1" dirty="0">
                <a:solidFill>
                  <a:srgbClr val="000000"/>
                </a:solidFill>
                <a:latin typeface="Times New Roman" pitchFamily="18" charset="0"/>
              </a:rPr>
              <a:t>运行</a:t>
            </a:r>
            <a:r>
              <a:rPr lang="en-US" altLang="zh-CN" sz="1800" b="1" dirty="0">
                <a:solidFill>
                  <a:srgbClr val="000000"/>
                </a:solidFill>
                <a:latin typeface="Times New Roman" pitchFamily="18" charset="0"/>
              </a:rPr>
              <a:t>LL(K)</a:t>
            </a:r>
            <a:r>
              <a:rPr lang="zh-CN" altLang="en-US" sz="1800" b="1" dirty="0">
                <a:solidFill>
                  <a:srgbClr val="000000"/>
                </a:solidFill>
                <a:latin typeface="Times New Roman" pitchFamily="18" charset="0"/>
              </a:rPr>
              <a:t>语法分析</a:t>
            </a:r>
            <a:endParaRPr lang="en-US" altLang="zh-CN" sz="1800" b="1" dirty="0">
              <a:solidFill>
                <a:srgbClr val="000000"/>
              </a:solidFill>
              <a:latin typeface="Times New Roman" pitchFamily="18" charset="0"/>
            </a:endParaRPr>
          </a:p>
          <a:p>
            <a:pPr algn="ctr">
              <a:spcBef>
                <a:spcPct val="0"/>
              </a:spcBef>
              <a:buFontTx/>
              <a:buNone/>
            </a:pPr>
            <a:r>
              <a:rPr lang="zh-CN" altLang="en-US" sz="1800" b="1" dirty="0">
                <a:solidFill>
                  <a:srgbClr val="000000"/>
                </a:solidFill>
                <a:latin typeface="Times New Roman" pitchFamily="18" charset="0"/>
              </a:rPr>
              <a:t>程序</a:t>
            </a:r>
            <a:r>
              <a:rPr lang="en-US" altLang="zh-CN" sz="1800" b="1" dirty="0">
                <a:solidFill>
                  <a:srgbClr val="000000"/>
                </a:solidFill>
                <a:latin typeface="Times New Roman" pitchFamily="18" charset="0"/>
              </a:rPr>
              <a:t>(</a:t>
            </a:r>
            <a:r>
              <a:rPr lang="zh-CN" altLang="en-US" sz="1800" b="1" dirty="0">
                <a:solidFill>
                  <a:srgbClr val="000000"/>
                </a:solidFill>
                <a:latin typeface="Times New Roman" pitchFamily="18" charset="0"/>
              </a:rPr>
              <a:t>含词法分析</a:t>
            </a:r>
            <a:r>
              <a:rPr lang="en-US" altLang="zh-CN" sz="1800" b="1" dirty="0">
                <a:solidFill>
                  <a:srgbClr val="000000"/>
                </a:solidFill>
                <a:latin typeface="Times New Roman" pitchFamily="18" charset="0"/>
              </a:rPr>
              <a:t>)</a:t>
            </a:r>
          </a:p>
        </p:txBody>
      </p:sp>
      <p:sp>
        <p:nvSpPr>
          <p:cNvPr id="14" name="Line 16"/>
          <p:cNvSpPr>
            <a:spLocks noChangeShapeType="1"/>
          </p:cNvSpPr>
          <p:nvPr/>
        </p:nvSpPr>
        <p:spPr bwMode="auto">
          <a:xfrm flipV="1">
            <a:off x="2359978" y="4527968"/>
            <a:ext cx="1419934" cy="0"/>
          </a:xfrm>
          <a:prstGeom prst="line">
            <a:avLst/>
          </a:prstGeom>
          <a:noFill/>
          <a:ln w="38100">
            <a:solidFill>
              <a:schemeClr val="tx1"/>
            </a:solidFill>
            <a:round/>
            <a:headEnd/>
            <a:tailEnd type="stealth" w="lg" len="med"/>
          </a:ln>
          <a:extLst>
            <a:ext uri="{909E8E84-426E-40DD-AFC4-6F175D3DCCD1}">
              <a14:hiddenFill xmlns:a14="http://schemas.microsoft.com/office/drawing/2010/main">
                <a:noFill/>
              </a14:hiddenFill>
            </a:ext>
          </a:extLst>
        </p:spPr>
        <p:txBody>
          <a:bodyPr lIns="79200" tIns="28800" rIns="90000" bIns="46800"/>
          <a:lstStyle/>
          <a:p>
            <a:endParaRPr lang="zh-CN" altLang="en-US" sz="1600"/>
          </a:p>
        </p:txBody>
      </p:sp>
      <p:sp>
        <p:nvSpPr>
          <p:cNvPr id="15" name="Line 17"/>
          <p:cNvSpPr>
            <a:spLocks noChangeShapeType="1"/>
          </p:cNvSpPr>
          <p:nvPr/>
        </p:nvSpPr>
        <p:spPr bwMode="auto">
          <a:xfrm>
            <a:off x="6300192" y="4515966"/>
            <a:ext cx="1020718" cy="0"/>
          </a:xfrm>
          <a:prstGeom prst="line">
            <a:avLst/>
          </a:prstGeom>
          <a:noFill/>
          <a:ln w="38100">
            <a:solidFill>
              <a:schemeClr val="tx1"/>
            </a:solidFill>
            <a:round/>
            <a:headEnd/>
            <a:tailEnd type="stealth" w="lg" len="med"/>
          </a:ln>
          <a:extLst>
            <a:ext uri="{909E8E84-426E-40DD-AFC4-6F175D3DCCD1}">
              <a14:hiddenFill xmlns:a14="http://schemas.microsoft.com/office/drawing/2010/main">
                <a:noFill/>
              </a14:hiddenFill>
            </a:ext>
          </a:extLst>
        </p:spPr>
        <p:txBody>
          <a:bodyPr lIns="79200" tIns="28800" rIns="90000" bIns="46800"/>
          <a:lstStyle/>
          <a:p>
            <a:endParaRPr lang="zh-CN" altLang="en-US" sz="1600"/>
          </a:p>
        </p:txBody>
      </p:sp>
      <p:sp>
        <p:nvSpPr>
          <p:cNvPr id="16" name="Rectangle 18"/>
          <p:cNvSpPr>
            <a:spLocks noChangeArrowheads="1"/>
          </p:cNvSpPr>
          <p:nvPr/>
        </p:nvSpPr>
        <p:spPr bwMode="auto">
          <a:xfrm>
            <a:off x="1691680" y="4263153"/>
            <a:ext cx="1015419" cy="505625"/>
          </a:xfrm>
          <a:prstGeom prst="rect">
            <a:avLst/>
          </a:prstGeom>
          <a:solidFill>
            <a:srgbClr val="FFFFFF"/>
          </a:solidFill>
          <a:ln w="25400">
            <a:noFill/>
            <a:prstDash val="dash"/>
            <a:miter lim="800000"/>
            <a:headEnd/>
            <a:tailEnd/>
          </a:ln>
        </p:spPr>
        <p:txBody>
          <a:bodyPr lIns="79200" tIns="28800" rIns="90000" bIns="46800"/>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just">
              <a:spcBef>
                <a:spcPct val="0"/>
              </a:spcBef>
              <a:buFontTx/>
              <a:buNone/>
            </a:pPr>
            <a:r>
              <a:rPr lang="zh-CN" altLang="en-US" sz="2000" dirty="0">
                <a:solidFill>
                  <a:srgbClr val="000000"/>
                </a:solidFill>
                <a:latin typeface="Times New Roman" pitchFamily="18" charset="0"/>
              </a:rPr>
              <a:t>输入流</a:t>
            </a:r>
          </a:p>
        </p:txBody>
      </p:sp>
      <p:sp>
        <p:nvSpPr>
          <p:cNvPr id="18" name="椭圆 17"/>
          <p:cNvSpPr/>
          <p:nvPr/>
        </p:nvSpPr>
        <p:spPr bwMode="auto">
          <a:xfrm>
            <a:off x="3563888" y="1707654"/>
            <a:ext cx="582612" cy="541166"/>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2800" b="1" dirty="0">
                <a:solidFill>
                  <a:srgbClr val="FF0000"/>
                </a:solidFill>
              </a:rPr>
              <a:t>2</a:t>
            </a:r>
            <a:endParaRPr lang="zh-CN" altLang="en-US" sz="2800" b="1" dirty="0">
              <a:solidFill>
                <a:srgbClr val="FF0000"/>
              </a:solidFill>
            </a:endParaRPr>
          </a:p>
        </p:txBody>
      </p:sp>
      <p:sp>
        <p:nvSpPr>
          <p:cNvPr id="20" name="椭圆 19"/>
          <p:cNvSpPr/>
          <p:nvPr/>
        </p:nvSpPr>
        <p:spPr bwMode="auto">
          <a:xfrm>
            <a:off x="7956376" y="2912814"/>
            <a:ext cx="582612" cy="562771"/>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2800" b="1" dirty="0">
                <a:solidFill>
                  <a:srgbClr val="FF0000"/>
                </a:solidFill>
              </a:rPr>
              <a:t>3</a:t>
            </a:r>
            <a:endParaRPr lang="zh-CN" altLang="en-US" sz="2800" b="1" dirty="0">
              <a:solidFill>
                <a:srgbClr val="FF0000"/>
              </a:solidFill>
            </a:endParaRPr>
          </a:p>
        </p:txBody>
      </p:sp>
      <p:sp>
        <p:nvSpPr>
          <p:cNvPr id="21" name="TextBox 20"/>
          <p:cNvSpPr txBox="1"/>
          <p:nvPr/>
        </p:nvSpPr>
        <p:spPr>
          <a:xfrm>
            <a:off x="6876256" y="1936452"/>
            <a:ext cx="1872208" cy="861774"/>
          </a:xfrm>
          <a:prstGeom prst="rect">
            <a:avLst/>
          </a:prstGeom>
          <a:noFill/>
          <a:ln>
            <a:noFill/>
          </a:ln>
        </p:spPr>
        <p:txBody>
          <a:bodyPr wrap="square" rtlCol="0">
            <a:spAutoFit/>
          </a:bodyPr>
          <a:lstStyle/>
          <a:p>
            <a:r>
              <a:rPr lang="en-US" altLang="zh-CN" sz="1600" dirty="0"/>
              <a:t>LL(K)</a:t>
            </a:r>
            <a:r>
              <a:rPr lang="zh-CN" altLang="en-US" sz="1600" dirty="0"/>
              <a:t>语法分析源程序</a:t>
            </a:r>
            <a:r>
              <a:rPr lang="en-US" altLang="zh-CN" sz="1600" dirty="0"/>
              <a:t>(</a:t>
            </a:r>
            <a:r>
              <a:rPr lang="zh-CN" altLang="en-US" sz="1600" dirty="0"/>
              <a:t>含词法分析</a:t>
            </a:r>
            <a:r>
              <a:rPr lang="en-US" altLang="zh-CN" sz="1600" dirty="0"/>
              <a:t>)</a:t>
            </a:r>
          </a:p>
          <a:p>
            <a:r>
              <a:rPr lang="en-US" altLang="zh-CN" sz="1600" dirty="0"/>
              <a:t>Parser.java</a:t>
            </a:r>
            <a:endParaRPr lang="zh-CN" altLang="en-US" sz="1600" dirty="0"/>
          </a:p>
        </p:txBody>
      </p:sp>
      <p:sp>
        <p:nvSpPr>
          <p:cNvPr id="22" name="Line 16"/>
          <p:cNvSpPr>
            <a:spLocks noChangeShapeType="1"/>
          </p:cNvSpPr>
          <p:nvPr/>
        </p:nvSpPr>
        <p:spPr bwMode="auto">
          <a:xfrm flipV="1">
            <a:off x="2851115" y="2436015"/>
            <a:ext cx="874901" cy="0"/>
          </a:xfrm>
          <a:prstGeom prst="line">
            <a:avLst/>
          </a:prstGeom>
          <a:noFill/>
          <a:ln w="38100">
            <a:solidFill>
              <a:schemeClr val="tx1"/>
            </a:solidFill>
            <a:round/>
            <a:headEnd/>
            <a:tailEnd type="stealth" w="lg" len="med"/>
          </a:ln>
          <a:extLst>
            <a:ext uri="{909E8E84-426E-40DD-AFC4-6F175D3DCCD1}">
              <a14:hiddenFill xmlns:a14="http://schemas.microsoft.com/office/drawing/2010/main">
                <a:noFill/>
              </a14:hiddenFill>
            </a:ext>
          </a:extLst>
        </p:spPr>
        <p:txBody>
          <a:bodyPr lIns="79200" tIns="28800" rIns="90000" bIns="46800"/>
          <a:lstStyle/>
          <a:p>
            <a:endParaRPr lang="zh-CN" altLang="en-US" sz="1600"/>
          </a:p>
        </p:txBody>
      </p:sp>
      <p:sp>
        <p:nvSpPr>
          <p:cNvPr id="23" name="Rectangle 14"/>
          <p:cNvSpPr>
            <a:spLocks noChangeArrowheads="1"/>
          </p:cNvSpPr>
          <p:nvPr/>
        </p:nvSpPr>
        <p:spPr bwMode="auto">
          <a:xfrm>
            <a:off x="2627783" y="2930495"/>
            <a:ext cx="1991253" cy="968712"/>
          </a:xfrm>
          <a:prstGeom prst="rect">
            <a:avLst/>
          </a:prstGeom>
          <a:noFill/>
          <a:ln w="25400">
            <a:noFill/>
            <a:miter lim="800000"/>
            <a:headEnd/>
            <a:tailEnd/>
          </a:ln>
        </p:spPr>
        <p:txBody>
          <a:bodyPr lIns="79200" tIns="28800" rIns="90000" bIns="46800"/>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ctr">
              <a:spcBef>
                <a:spcPct val="0"/>
              </a:spcBef>
              <a:buFontTx/>
              <a:buNone/>
            </a:pPr>
            <a:r>
              <a:rPr lang="en-US" altLang="zh-CN" sz="1600" dirty="0">
                <a:solidFill>
                  <a:srgbClr val="000000"/>
                </a:solidFill>
                <a:latin typeface="+mn-lt"/>
              </a:rPr>
              <a:t>LL(K)</a:t>
            </a:r>
            <a:r>
              <a:rPr lang="zh-CN" altLang="en-US" sz="1600" dirty="0">
                <a:solidFill>
                  <a:srgbClr val="000000"/>
                </a:solidFill>
                <a:latin typeface="+mn-lt"/>
              </a:rPr>
              <a:t>语法分析</a:t>
            </a:r>
            <a:endParaRPr lang="en-US" altLang="zh-CN" sz="1600" dirty="0">
              <a:solidFill>
                <a:srgbClr val="000000"/>
              </a:solidFill>
              <a:latin typeface="+mn-lt"/>
            </a:endParaRPr>
          </a:p>
          <a:p>
            <a:pPr algn="ctr">
              <a:spcBef>
                <a:spcPct val="0"/>
              </a:spcBef>
              <a:buFontTx/>
              <a:buNone/>
            </a:pPr>
            <a:r>
              <a:rPr lang="zh-CN" altLang="en-US" sz="1600" dirty="0">
                <a:solidFill>
                  <a:srgbClr val="000000"/>
                </a:solidFill>
                <a:latin typeface="+mn-lt"/>
              </a:rPr>
              <a:t>程序</a:t>
            </a:r>
            <a:r>
              <a:rPr lang="en-US" altLang="zh-CN" sz="1600" dirty="0">
                <a:solidFill>
                  <a:srgbClr val="000000"/>
                </a:solidFill>
                <a:latin typeface="+mn-lt"/>
              </a:rPr>
              <a:t>(</a:t>
            </a:r>
            <a:r>
              <a:rPr lang="zh-CN" altLang="en-US" sz="1600" dirty="0">
                <a:solidFill>
                  <a:srgbClr val="000000"/>
                </a:solidFill>
                <a:latin typeface="+mn-lt"/>
              </a:rPr>
              <a:t>含词法分析</a:t>
            </a:r>
            <a:r>
              <a:rPr lang="en-US" altLang="zh-CN" sz="1600" dirty="0">
                <a:solidFill>
                  <a:srgbClr val="000000"/>
                </a:solidFill>
                <a:latin typeface="+mn-lt"/>
              </a:rPr>
              <a:t>)</a:t>
            </a:r>
          </a:p>
          <a:p>
            <a:pPr algn="ctr">
              <a:spcBef>
                <a:spcPct val="0"/>
              </a:spcBef>
              <a:buFontTx/>
              <a:buNone/>
            </a:pPr>
            <a:r>
              <a:rPr lang="en-US" altLang="zh-CN" sz="1600" dirty="0" err="1">
                <a:solidFill>
                  <a:srgbClr val="000000"/>
                </a:solidFill>
                <a:latin typeface="+mn-lt"/>
              </a:rPr>
              <a:t>Parser.class</a:t>
            </a:r>
            <a:endParaRPr lang="en-US" altLang="zh-CN" sz="1600" dirty="0">
              <a:solidFill>
                <a:srgbClr val="000000"/>
              </a:solidFill>
              <a:latin typeface="+mn-lt"/>
            </a:endParaRPr>
          </a:p>
        </p:txBody>
      </p:sp>
      <p:sp>
        <p:nvSpPr>
          <p:cNvPr id="24" name="Line 12"/>
          <p:cNvSpPr>
            <a:spLocks noChangeShapeType="1"/>
          </p:cNvSpPr>
          <p:nvPr/>
        </p:nvSpPr>
        <p:spPr bwMode="auto">
          <a:xfrm flipH="1" flipV="1">
            <a:off x="4499992" y="3511542"/>
            <a:ext cx="1263175" cy="19128"/>
          </a:xfrm>
          <a:prstGeom prst="line">
            <a:avLst/>
          </a:prstGeom>
          <a:noFill/>
          <a:ln w="38100">
            <a:solidFill>
              <a:schemeClr val="tx1"/>
            </a:solidFill>
            <a:round/>
            <a:headEnd/>
            <a:tailEnd type="stealth" w="lg" len="med"/>
          </a:ln>
          <a:extLst>
            <a:ext uri="{909E8E84-426E-40DD-AFC4-6F175D3DCCD1}">
              <a14:hiddenFill xmlns:a14="http://schemas.microsoft.com/office/drawing/2010/main">
                <a:noFill/>
              </a14:hiddenFill>
            </a:ext>
          </a:extLst>
        </p:spPr>
        <p:txBody>
          <a:bodyPr lIns="79200" tIns="28800" rIns="90000" bIns="46800"/>
          <a:lstStyle/>
          <a:p>
            <a:endParaRPr lang="zh-CN" altLang="en-US" sz="1600"/>
          </a:p>
        </p:txBody>
      </p:sp>
      <p:sp>
        <p:nvSpPr>
          <p:cNvPr id="25" name="矩形 24"/>
          <p:cNvSpPr/>
          <p:nvPr/>
        </p:nvSpPr>
        <p:spPr>
          <a:xfrm>
            <a:off x="4241045" y="4825484"/>
            <a:ext cx="1638975" cy="338554"/>
          </a:xfrm>
          <a:prstGeom prst="rect">
            <a:avLst/>
          </a:prstGeom>
        </p:spPr>
        <p:txBody>
          <a:bodyPr wrap="none">
            <a:spAutoFit/>
          </a:bodyPr>
          <a:lstStyle/>
          <a:p>
            <a:pPr algn="ctr">
              <a:spcBef>
                <a:spcPct val="0"/>
              </a:spcBef>
              <a:buFontTx/>
              <a:buNone/>
            </a:pPr>
            <a:r>
              <a:rPr lang="en-US" altLang="zh-CN" sz="1600" b="1" dirty="0">
                <a:solidFill>
                  <a:srgbClr val="000000"/>
                </a:solidFill>
                <a:latin typeface="Times New Roman" pitchFamily="18" charset="0"/>
              </a:rPr>
              <a:t>java </a:t>
            </a:r>
            <a:r>
              <a:rPr lang="en-US" altLang="zh-CN" sz="1600" b="1" dirty="0" err="1">
                <a:solidFill>
                  <a:srgbClr val="000000"/>
                </a:solidFill>
                <a:latin typeface="Times New Roman" pitchFamily="18" charset="0"/>
              </a:rPr>
              <a:t>Parser.class</a:t>
            </a:r>
            <a:endParaRPr lang="en-US" altLang="zh-CN" sz="1600" b="1" dirty="0">
              <a:solidFill>
                <a:srgbClr val="000000"/>
              </a:solidFill>
              <a:latin typeface="Times New Roman" pitchFamily="18" charset="0"/>
            </a:endParaRPr>
          </a:p>
        </p:txBody>
      </p:sp>
      <p:sp>
        <p:nvSpPr>
          <p:cNvPr id="26" name="Rectangle 18"/>
          <p:cNvSpPr>
            <a:spLocks noChangeArrowheads="1"/>
          </p:cNvSpPr>
          <p:nvPr/>
        </p:nvSpPr>
        <p:spPr bwMode="auto">
          <a:xfrm>
            <a:off x="7320910" y="4155926"/>
            <a:ext cx="1462960" cy="505625"/>
          </a:xfrm>
          <a:prstGeom prst="rect">
            <a:avLst/>
          </a:prstGeom>
          <a:solidFill>
            <a:srgbClr val="FFFFFF"/>
          </a:solidFill>
          <a:ln w="25400">
            <a:noFill/>
            <a:prstDash val="dash"/>
            <a:miter lim="800000"/>
            <a:headEnd/>
            <a:tailEnd/>
          </a:ln>
        </p:spPr>
        <p:txBody>
          <a:bodyPr lIns="79200" tIns="28800" rIns="90000" bIns="46800"/>
          <a:lstStyle>
            <a:lvl1pPr>
              <a:spcBef>
                <a:spcPct val="20000"/>
              </a:spcBef>
              <a:buChar char="•"/>
              <a:defRPr sz="3200">
                <a:solidFill>
                  <a:schemeClr val="tx1"/>
                </a:solidFill>
                <a:latin typeface="Arial" charset="0"/>
                <a:ea typeface="宋体" pitchFamily="2" charset="-122"/>
              </a:defRPr>
            </a:lvl1pPr>
            <a:lvl2pPr marL="742950" indent="-285750">
              <a:spcBef>
                <a:spcPct val="20000"/>
              </a:spcBef>
              <a:buChar char="–"/>
              <a:defRPr sz="2800">
                <a:solidFill>
                  <a:schemeClr val="tx1"/>
                </a:solidFill>
                <a:latin typeface="Arial" charset="0"/>
                <a:ea typeface="宋体" pitchFamily="2" charset="-122"/>
              </a:defRPr>
            </a:lvl2pPr>
            <a:lvl3pPr marL="1143000" indent="-228600">
              <a:spcBef>
                <a:spcPct val="20000"/>
              </a:spcBef>
              <a:buChar char="•"/>
              <a:defRPr sz="2400">
                <a:solidFill>
                  <a:schemeClr val="tx1"/>
                </a:solidFill>
                <a:latin typeface="Arial" charset="0"/>
                <a:ea typeface="宋体" pitchFamily="2" charset="-122"/>
              </a:defRPr>
            </a:lvl3pPr>
            <a:lvl4pPr marL="1600200" indent="-228600">
              <a:spcBef>
                <a:spcPct val="20000"/>
              </a:spcBef>
              <a:buChar char="–"/>
              <a:defRPr sz="2000">
                <a:solidFill>
                  <a:schemeClr val="tx1"/>
                </a:solidFill>
                <a:latin typeface="Arial" charset="0"/>
                <a:ea typeface="宋体" pitchFamily="2" charset="-122"/>
              </a:defRPr>
            </a:lvl4pPr>
            <a:lvl5pPr marL="2057400" indent="-228600">
              <a:spcBef>
                <a:spcPct val="20000"/>
              </a:spcBef>
              <a:buChar char="»"/>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charset="0"/>
                <a:ea typeface="宋体" pitchFamily="2" charset="-122"/>
              </a:defRPr>
            </a:lvl9pPr>
          </a:lstStyle>
          <a:p>
            <a:pPr algn="just">
              <a:spcBef>
                <a:spcPct val="0"/>
              </a:spcBef>
              <a:buFontTx/>
              <a:buNone/>
            </a:pPr>
            <a:r>
              <a:rPr lang="zh-CN" altLang="en-US" sz="2000" dirty="0">
                <a:solidFill>
                  <a:srgbClr val="000000"/>
                </a:solidFill>
                <a:latin typeface="Times New Roman" pitchFamily="18" charset="0"/>
              </a:rPr>
              <a:t>分析结果</a:t>
            </a:r>
            <a:endParaRPr lang="en-US" altLang="zh-CN" sz="2000" dirty="0">
              <a:solidFill>
                <a:srgbClr val="000000"/>
              </a:solidFill>
              <a:latin typeface="Times New Roman" pitchFamily="18" charset="0"/>
            </a:endParaRPr>
          </a:p>
          <a:p>
            <a:pPr algn="just">
              <a:spcBef>
                <a:spcPct val="0"/>
              </a:spcBef>
              <a:buFontTx/>
              <a:buNone/>
            </a:pPr>
            <a:r>
              <a:rPr lang="zh-CN" altLang="en-US" sz="2000" dirty="0">
                <a:solidFill>
                  <a:srgbClr val="000000"/>
                </a:solidFill>
                <a:latin typeface="Times New Roman" pitchFamily="18" charset="0"/>
              </a:rPr>
              <a:t>语法树</a:t>
            </a:r>
          </a:p>
        </p:txBody>
      </p:sp>
      <p:sp>
        <p:nvSpPr>
          <p:cNvPr id="27" name="椭圆 26"/>
          <p:cNvSpPr/>
          <p:nvPr/>
        </p:nvSpPr>
        <p:spPr bwMode="auto">
          <a:xfrm>
            <a:off x="533004" y="1707654"/>
            <a:ext cx="582612" cy="562771"/>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2800" b="1" dirty="0">
                <a:solidFill>
                  <a:srgbClr val="FF0000"/>
                </a:solidFill>
              </a:rPr>
              <a:t>1</a:t>
            </a:r>
            <a:endParaRPr lang="zh-CN" altLang="en-US" sz="2800" b="1" dirty="0">
              <a:solidFill>
                <a:srgbClr val="FF0000"/>
              </a:solidFill>
            </a:endParaRPr>
          </a:p>
        </p:txBody>
      </p:sp>
      <p:sp>
        <p:nvSpPr>
          <p:cNvPr id="28" name="椭圆 27"/>
          <p:cNvSpPr/>
          <p:nvPr/>
        </p:nvSpPr>
        <p:spPr bwMode="auto">
          <a:xfrm>
            <a:off x="6118725" y="3809179"/>
            <a:ext cx="582612" cy="562771"/>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2800" b="1" dirty="0">
                <a:solidFill>
                  <a:srgbClr val="FF0000"/>
                </a:solidFill>
              </a:rPr>
              <a:t>4</a:t>
            </a:r>
            <a:endParaRPr lang="zh-CN" altLang="en-US" sz="2800" b="1" dirty="0">
              <a:solidFill>
                <a:srgbClr val="FF0000"/>
              </a:solidFill>
            </a:endParaRPr>
          </a:p>
        </p:txBody>
      </p:sp>
    </p:spTree>
    <p:extLst>
      <p:ext uri="{BB962C8B-B14F-4D97-AF65-F5344CB8AC3E}">
        <p14:creationId xmlns:p14="http://schemas.microsoft.com/office/powerpoint/2010/main" val="1007882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5"/>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16"/>
                                        </p:tgtEl>
                                        <p:attrNameLst>
                                          <p:attrName>style.visibility</p:attrName>
                                        </p:attrNameLst>
                                      </p:cBhvr>
                                      <p:to>
                                        <p:strVal val="visible"/>
                                      </p:to>
                                    </p:set>
                                    <p:animEffect transition="in" filter="wipe(left)">
                                      <p:cBhvr>
                                        <p:cTn id="61" dur="500"/>
                                        <p:tgtEl>
                                          <p:spTgt spid="16"/>
                                        </p:tgtEl>
                                      </p:cBhvr>
                                    </p:animEffect>
                                  </p:childTnLst>
                                </p:cTn>
                              </p:par>
                              <p:par>
                                <p:cTn id="62" presetID="22" presetClass="entr" presetSubtype="8" fill="hold" grpId="0" nodeType="with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wipe(left)">
                                      <p:cBhvr>
                                        <p:cTn id="64" dur="500"/>
                                        <p:tgtEl>
                                          <p:spTgt spid="14"/>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15"/>
                                        </p:tgtEl>
                                        <p:attrNameLst>
                                          <p:attrName>style.visibility</p:attrName>
                                        </p:attrNameLst>
                                      </p:cBhvr>
                                      <p:to>
                                        <p:strVal val="visible"/>
                                      </p:to>
                                    </p:set>
                                    <p:animEffect transition="in" filter="wipe(left)">
                                      <p:cBhvr>
                                        <p:cTn id="69" dur="500"/>
                                        <p:tgtEl>
                                          <p:spTgt spid="15"/>
                                        </p:tgtEl>
                                      </p:cBhvr>
                                    </p:animEffect>
                                  </p:childTnLst>
                                </p:cTn>
                              </p:par>
                              <p:par>
                                <p:cTn id="70" presetID="22" presetClass="entr" presetSubtype="8" fill="hold" grpId="0" nodeType="withEffect">
                                  <p:stCondLst>
                                    <p:cond delay="0"/>
                                  </p:stCondLst>
                                  <p:childTnLst>
                                    <p:set>
                                      <p:cBhvr>
                                        <p:cTn id="71" dur="1" fill="hold">
                                          <p:stCondLst>
                                            <p:cond delay="0"/>
                                          </p:stCondLst>
                                        </p:cTn>
                                        <p:tgtEl>
                                          <p:spTgt spid="26"/>
                                        </p:tgtEl>
                                        <p:attrNameLst>
                                          <p:attrName>style.visibility</p:attrName>
                                        </p:attrNameLst>
                                      </p:cBhvr>
                                      <p:to>
                                        <p:strVal val="visible"/>
                                      </p:to>
                                    </p:set>
                                    <p:animEffect transition="in" filter="wipe(left)">
                                      <p:cBhvr>
                                        <p:cTn id="7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10" grpId="0" animBg="1"/>
      <p:bldP spid="11" grpId="0" animBg="1"/>
      <p:bldP spid="12" grpId="0" animBg="1"/>
      <p:bldP spid="13" grpId="0" animBg="1"/>
      <p:bldP spid="14" grpId="0" animBg="1"/>
      <p:bldP spid="15" grpId="0" animBg="1"/>
      <p:bldP spid="16" grpId="0" animBg="1"/>
      <p:bldP spid="18" grpId="0" animBg="1"/>
      <p:bldP spid="20" grpId="0" animBg="1"/>
      <p:bldP spid="21" grpId="0"/>
      <p:bldP spid="22" grpId="0" animBg="1"/>
      <p:bldP spid="23" grpId="0"/>
      <p:bldP spid="24" grpId="0" animBg="1"/>
      <p:bldP spid="25" grpId="0"/>
      <p:bldP spid="26" grpId="0" animBg="1"/>
      <p:bldP spid="27" grpId="0" animBg="1"/>
      <p:bldP spid="2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67544" y="699542"/>
            <a:ext cx="8229600" cy="4176464"/>
          </a:xfrm>
        </p:spPr>
        <p:txBody>
          <a:bodyPr>
            <a:normAutofit/>
          </a:bodyPr>
          <a:lstStyle/>
          <a:p>
            <a:r>
              <a:rPr lang="zh-CN" altLang="en-US" sz="2000" dirty="0"/>
              <a:t>入门教程：</a:t>
            </a:r>
            <a:r>
              <a:rPr lang="en-US" altLang="zh-CN" sz="2000" dirty="0">
                <a:hlinkClick r:id="rId2"/>
              </a:rPr>
              <a:t>https://www.cnblogs.com/suhaha/p/11733487.html</a:t>
            </a:r>
            <a:endParaRPr lang="en-US" altLang="zh-CN" sz="2000" dirty="0"/>
          </a:p>
          <a:p>
            <a:r>
              <a:rPr lang="en-US" altLang="zh-CN" sz="2000" dirty="0">
                <a:hlinkClick r:id="rId3"/>
              </a:rPr>
              <a:t>https://blog.csdn.net/lusic01/article/details/80735850</a:t>
            </a:r>
            <a:endParaRPr lang="en-US" altLang="zh-CN" sz="2000" dirty="0"/>
          </a:p>
          <a:p>
            <a:r>
              <a:rPr lang="zh-CN" altLang="en-US" sz="2000" dirty="0"/>
              <a:t>使用详见</a:t>
            </a:r>
            <a:r>
              <a:rPr lang="en-US" altLang="zh-CN" sz="2000" dirty="0"/>
              <a:t>javacc-tutorial.pdf</a:t>
            </a:r>
            <a:endParaRPr lang="zh-CN" altLang="en-US" sz="2000" dirty="0"/>
          </a:p>
          <a:p>
            <a:r>
              <a:rPr lang="zh-CN" altLang="en-US" sz="2000" dirty="0"/>
              <a:t>使用</a:t>
            </a:r>
            <a:r>
              <a:rPr lang="en-US" altLang="zh-CN" sz="2000" dirty="0" err="1"/>
              <a:t>JavaCC</a:t>
            </a:r>
            <a:r>
              <a:rPr lang="zh-CN" altLang="en-US" sz="2000" dirty="0"/>
              <a:t>构建</a:t>
            </a:r>
            <a:r>
              <a:rPr lang="en-US" altLang="zh-CN" sz="2000" dirty="0"/>
              <a:t>sample</a:t>
            </a:r>
            <a:r>
              <a:rPr lang="zh-CN" altLang="en-US" sz="2000" dirty="0"/>
              <a:t>语言的语法分析程序</a:t>
            </a:r>
            <a:endParaRPr lang="en-US" altLang="zh-CN" sz="2000" dirty="0"/>
          </a:p>
          <a:p>
            <a:pPr lvl="1"/>
            <a:r>
              <a:rPr lang="zh-CN" altLang="en-US" sz="2000" dirty="0"/>
              <a:t>写</a:t>
            </a:r>
            <a:r>
              <a:rPr lang="en-US" altLang="zh-CN" sz="2000" dirty="0" err="1"/>
              <a:t>sample.jj</a:t>
            </a:r>
            <a:endParaRPr lang="en-US" altLang="zh-CN" sz="2000" dirty="0"/>
          </a:p>
          <a:p>
            <a:pPr lvl="1"/>
            <a:r>
              <a:rPr lang="zh-CN" altLang="en-US" sz="2000" dirty="0"/>
              <a:t>用</a:t>
            </a:r>
            <a:r>
              <a:rPr lang="en-US" altLang="zh-CN" sz="2000" dirty="0" err="1"/>
              <a:t>JavaCC</a:t>
            </a:r>
            <a:r>
              <a:rPr lang="en-US" altLang="zh-CN" sz="2000" dirty="0"/>
              <a:t> </a:t>
            </a:r>
            <a:r>
              <a:rPr lang="zh-CN" altLang="en-US" sz="2000" dirty="0"/>
              <a:t>编译</a:t>
            </a:r>
            <a:r>
              <a:rPr lang="en-US" altLang="zh-CN" sz="2000" dirty="0" err="1"/>
              <a:t>sample.jj</a:t>
            </a:r>
            <a:r>
              <a:rPr lang="zh-CN" altLang="en-US" sz="2000" dirty="0"/>
              <a:t>，产生</a:t>
            </a:r>
            <a:r>
              <a:rPr lang="en-US" altLang="zh-CN" sz="2000" dirty="0"/>
              <a:t>sample</a:t>
            </a:r>
            <a:r>
              <a:rPr lang="zh-CN" altLang="en-US" sz="2000" dirty="0"/>
              <a:t>语言的语法分析程序</a:t>
            </a:r>
            <a:r>
              <a:rPr lang="en-US" altLang="zh-CN" sz="2000" dirty="0"/>
              <a:t>sample.java</a:t>
            </a:r>
          </a:p>
          <a:p>
            <a:pPr lvl="1"/>
            <a:r>
              <a:rPr lang="zh-CN" altLang="en-US" sz="2000" dirty="0"/>
              <a:t>用</a:t>
            </a:r>
            <a:r>
              <a:rPr lang="en-US" altLang="zh-CN" sz="2000" dirty="0"/>
              <a:t>java</a:t>
            </a:r>
            <a:r>
              <a:rPr lang="zh-CN" altLang="en-US" sz="2000" dirty="0"/>
              <a:t>编译器编译</a:t>
            </a:r>
            <a:r>
              <a:rPr lang="en-US" altLang="zh-CN" sz="2000" dirty="0"/>
              <a:t>sample.java</a:t>
            </a:r>
          </a:p>
          <a:p>
            <a:pPr lvl="1"/>
            <a:r>
              <a:rPr lang="zh-CN" altLang="en-US" sz="2000" dirty="0"/>
              <a:t>运行</a:t>
            </a:r>
            <a:r>
              <a:rPr lang="en-US" altLang="zh-CN" sz="2000" dirty="0" err="1"/>
              <a:t>sample.class</a:t>
            </a:r>
            <a:endParaRPr lang="en-US" altLang="zh-CN" sz="2000" dirty="0"/>
          </a:p>
          <a:p>
            <a:pPr lvl="1"/>
            <a:r>
              <a:rPr lang="zh-CN" altLang="en-US" sz="2000" dirty="0"/>
              <a:t>可选：利用</a:t>
            </a:r>
            <a:r>
              <a:rPr lang="en-US" altLang="zh-CN" sz="2000" dirty="0" err="1"/>
              <a:t>jtree</a:t>
            </a:r>
            <a:r>
              <a:rPr lang="zh-CN" altLang="en-US" sz="2000" dirty="0"/>
              <a:t>生成语法树</a:t>
            </a:r>
          </a:p>
        </p:txBody>
      </p:sp>
      <p:sp>
        <p:nvSpPr>
          <p:cNvPr id="3" name="标题 2"/>
          <p:cNvSpPr>
            <a:spLocks noGrp="1"/>
          </p:cNvSpPr>
          <p:nvPr>
            <p:ph type="title"/>
          </p:nvPr>
        </p:nvSpPr>
        <p:spPr>
          <a:xfrm>
            <a:off x="179512" y="0"/>
            <a:ext cx="8229600" cy="699542"/>
          </a:xfrm>
        </p:spPr>
        <p:txBody>
          <a:bodyPr>
            <a:normAutofit/>
          </a:bodyPr>
          <a:lstStyle/>
          <a:p>
            <a:r>
              <a:rPr lang="en-US" altLang="zh-CN" sz="3600" dirty="0" err="1"/>
              <a:t>javaCC</a:t>
            </a:r>
            <a:endParaRPr lang="zh-CN" altLang="en-US" sz="3600" dirty="0"/>
          </a:p>
        </p:txBody>
      </p:sp>
    </p:spTree>
    <p:extLst>
      <p:ext uri="{BB962C8B-B14F-4D97-AF65-F5344CB8AC3E}">
        <p14:creationId xmlns:p14="http://schemas.microsoft.com/office/powerpoint/2010/main" val="17513758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C607D91-4901-4927-B104-D233A72C0F6D}"/>
              </a:ext>
            </a:extLst>
          </p:cNvPr>
          <p:cNvSpPr>
            <a:spLocks noGrp="1"/>
          </p:cNvSpPr>
          <p:nvPr>
            <p:ph type="title"/>
          </p:nvPr>
        </p:nvSpPr>
        <p:spPr>
          <a:xfrm>
            <a:off x="179512" y="252159"/>
            <a:ext cx="3600400" cy="576064"/>
          </a:xfrm>
        </p:spPr>
        <p:txBody>
          <a:bodyPr>
            <a:normAutofit fontScale="90000"/>
          </a:bodyPr>
          <a:lstStyle/>
          <a:p>
            <a:r>
              <a:rPr lang="zh-CN" altLang="en-US" dirty="0"/>
              <a:t>函数分析输出</a:t>
            </a:r>
          </a:p>
        </p:txBody>
      </p:sp>
      <p:pic>
        <p:nvPicPr>
          <p:cNvPr id="4" name="图片 3">
            <a:extLst>
              <a:ext uri="{FF2B5EF4-FFF2-40B4-BE49-F238E27FC236}">
                <a16:creationId xmlns:a16="http://schemas.microsoft.com/office/drawing/2014/main" id="{88B29088-5CC3-450C-BDF1-3E5294081F66}"/>
              </a:ext>
            </a:extLst>
          </p:cNvPr>
          <p:cNvPicPr/>
          <p:nvPr/>
        </p:nvPicPr>
        <p:blipFill>
          <a:blip r:embed="rId2"/>
          <a:stretch>
            <a:fillRect/>
          </a:stretch>
        </p:blipFill>
        <p:spPr>
          <a:xfrm>
            <a:off x="395536" y="1131590"/>
            <a:ext cx="7848872" cy="3394472"/>
          </a:xfrm>
          <a:prstGeom prst="rect">
            <a:avLst/>
          </a:prstGeom>
        </p:spPr>
      </p:pic>
    </p:spTree>
    <p:extLst>
      <p:ext uri="{BB962C8B-B14F-4D97-AF65-F5344CB8AC3E}">
        <p14:creationId xmlns:p14="http://schemas.microsoft.com/office/powerpoint/2010/main" val="21774457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6DF0CEB6-A73E-43F3-A608-0BE7FD45BA21}"/>
              </a:ext>
            </a:extLst>
          </p:cNvPr>
          <p:cNvSpPr>
            <a:spLocks noGrp="1"/>
          </p:cNvSpPr>
          <p:nvPr>
            <p:ph type="title"/>
          </p:nvPr>
        </p:nvSpPr>
        <p:spPr/>
        <p:txBody>
          <a:bodyPr>
            <a:normAutofit fontScale="90000"/>
          </a:bodyPr>
          <a:lstStyle/>
          <a:p>
            <a:r>
              <a:rPr lang="zh-CN" altLang="en-US" dirty="0"/>
              <a:t>数组分析输出</a:t>
            </a:r>
          </a:p>
        </p:txBody>
      </p:sp>
      <p:pic>
        <p:nvPicPr>
          <p:cNvPr id="5" name="图片 4">
            <a:extLst>
              <a:ext uri="{FF2B5EF4-FFF2-40B4-BE49-F238E27FC236}">
                <a16:creationId xmlns:a16="http://schemas.microsoft.com/office/drawing/2014/main" id="{2F9EC0D5-016E-4A02-B0AA-4BCEC84F5763}"/>
              </a:ext>
            </a:extLst>
          </p:cNvPr>
          <p:cNvPicPr/>
          <p:nvPr/>
        </p:nvPicPr>
        <p:blipFill>
          <a:blip r:embed="rId2"/>
          <a:stretch>
            <a:fillRect/>
          </a:stretch>
        </p:blipFill>
        <p:spPr>
          <a:xfrm>
            <a:off x="323528" y="771550"/>
            <a:ext cx="8229600" cy="4248472"/>
          </a:xfrm>
          <a:prstGeom prst="rect">
            <a:avLst/>
          </a:prstGeom>
        </p:spPr>
      </p:pic>
    </p:spTree>
    <p:extLst>
      <p:ext uri="{BB962C8B-B14F-4D97-AF65-F5344CB8AC3E}">
        <p14:creationId xmlns:p14="http://schemas.microsoft.com/office/powerpoint/2010/main" val="13823227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79512" y="699542"/>
            <a:ext cx="3457575" cy="4128591"/>
          </a:xfrm>
          <a:solidFill>
            <a:schemeClr val="bg1"/>
          </a:solidFill>
        </p:spPr>
        <p:txBody>
          <a:bodyPr>
            <a:noAutofit/>
          </a:bodyPr>
          <a:lstStyle/>
          <a:p>
            <a:r>
              <a:rPr lang="zh-CN" altLang="en-US" sz="1800" dirty="0"/>
              <a:t>发布了</a:t>
            </a:r>
            <a:r>
              <a:rPr lang="en-US" altLang="zh-CN" sz="1800" dirty="0"/>
              <a:t>10</a:t>
            </a:r>
            <a:r>
              <a:rPr lang="zh-CN" altLang="en-US" sz="1800" dirty="0"/>
              <a:t>组测试代码</a:t>
            </a:r>
            <a:endParaRPr lang="en-US" altLang="zh-CN" sz="1800" dirty="0"/>
          </a:p>
          <a:p>
            <a:r>
              <a:rPr lang="zh-CN" altLang="en-US" sz="1800" dirty="0"/>
              <a:t>源文件是</a:t>
            </a:r>
            <a:r>
              <a:rPr lang="en-US" altLang="zh-CN" sz="1800" dirty="0"/>
              <a:t>.txt</a:t>
            </a:r>
            <a:r>
              <a:rPr lang="zh-CN" altLang="en-US" sz="1800" dirty="0"/>
              <a:t>文件，其他文件在后续阶段可以使用</a:t>
            </a:r>
            <a:endParaRPr lang="en-US" altLang="zh-CN" sz="1800" dirty="0"/>
          </a:p>
          <a:p>
            <a:r>
              <a:rPr lang="zh-CN" altLang="en-US" sz="1800" dirty="0"/>
              <a:t>完成不同程序结构的程序的分析可以使用不同的测试程序，所以每个同学完成了哪些语法结构的检查，直接看通过了多少个测试文件</a:t>
            </a:r>
            <a:endParaRPr lang="en-US" altLang="zh-CN" sz="1800" dirty="0"/>
          </a:p>
          <a:p>
            <a:r>
              <a:rPr lang="zh-CN" altLang="en-US" sz="1800" dirty="0"/>
              <a:t>语法分析阶段的检查只检查语法结构是否正确，现在这些测试文件都是正确的，要发现编译的错误，同学们可以自己修改程序中的语法成分，来完善你的代码。</a:t>
            </a:r>
          </a:p>
        </p:txBody>
      </p:sp>
      <p:sp>
        <p:nvSpPr>
          <p:cNvPr id="3" name="标题 2"/>
          <p:cNvSpPr>
            <a:spLocks noGrp="1"/>
          </p:cNvSpPr>
          <p:nvPr>
            <p:ph type="title"/>
          </p:nvPr>
        </p:nvSpPr>
        <p:spPr>
          <a:xfrm>
            <a:off x="107504" y="0"/>
            <a:ext cx="8229600" cy="576064"/>
          </a:xfrm>
        </p:spPr>
        <p:txBody>
          <a:bodyPr>
            <a:normAutofit fontScale="90000"/>
          </a:bodyPr>
          <a:lstStyle/>
          <a:p>
            <a:r>
              <a:rPr lang="zh-CN" altLang="en-US" dirty="0"/>
              <a:t>测试用例的使用</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00069" y="51471"/>
            <a:ext cx="4668708" cy="37162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34423" y="1744787"/>
            <a:ext cx="2736304" cy="33987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0744052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模板1">
  <a:themeElements>
    <a:clrScheme name="聚合">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聚合">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聚合">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模板">
  <a:themeElements>
    <a:clrScheme name="聚合">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聚合">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聚合">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模板1</Template>
  <TotalTime>2461</TotalTime>
  <Words>3731</Words>
  <Application>Microsoft Office PowerPoint</Application>
  <PresentationFormat>全屏显示(16:9)</PresentationFormat>
  <Paragraphs>388</Paragraphs>
  <Slides>33</Slides>
  <Notes>11</Notes>
  <HiddenSlides>0</HiddenSlides>
  <MMClips>0</MMClips>
  <ScaleCrop>false</ScaleCrop>
  <HeadingPairs>
    <vt:vector size="8" baseType="variant">
      <vt:variant>
        <vt:lpstr>已用的字体</vt:lpstr>
      </vt:variant>
      <vt:variant>
        <vt:i4>16</vt:i4>
      </vt:variant>
      <vt:variant>
        <vt:lpstr>主题</vt:lpstr>
      </vt:variant>
      <vt:variant>
        <vt:i4>2</vt:i4>
      </vt:variant>
      <vt:variant>
        <vt:lpstr>嵌入 OLE 服务器</vt:lpstr>
      </vt:variant>
      <vt:variant>
        <vt:i4>1</vt:i4>
      </vt:variant>
      <vt:variant>
        <vt:lpstr>幻灯片标题</vt:lpstr>
      </vt:variant>
      <vt:variant>
        <vt:i4>33</vt:i4>
      </vt:variant>
    </vt:vector>
  </HeadingPairs>
  <TitlesOfParts>
    <vt:vector size="52" baseType="lpstr">
      <vt:lpstr>Arial Unicode MS</vt:lpstr>
      <vt:lpstr>JetBrains Mono</vt:lpstr>
      <vt:lpstr>黑体</vt:lpstr>
      <vt:lpstr>华文行楷</vt:lpstr>
      <vt:lpstr>隶书</vt:lpstr>
      <vt:lpstr>宋体</vt:lpstr>
      <vt:lpstr>Arial</vt:lpstr>
      <vt:lpstr>Calibri</vt:lpstr>
      <vt:lpstr>Courier New</vt:lpstr>
      <vt:lpstr>Lucida Sans Unicode</vt:lpstr>
      <vt:lpstr>Symbol</vt:lpstr>
      <vt:lpstr>Times New Roman</vt:lpstr>
      <vt:lpstr>Verdana</vt:lpstr>
      <vt:lpstr>Wingdings</vt:lpstr>
      <vt:lpstr>Wingdings 2</vt:lpstr>
      <vt:lpstr>Wingdings 3</vt:lpstr>
      <vt:lpstr>模板1</vt:lpstr>
      <vt:lpstr>模板</vt:lpstr>
      <vt:lpstr>Visio</vt:lpstr>
      <vt:lpstr>实验三：算术表达式的分析 （2学时+课外）</vt:lpstr>
      <vt:lpstr>实验三：算术表达式的分析 （2学时+课外）</vt:lpstr>
      <vt:lpstr>语法分析实验实例（算术表达式）</vt:lpstr>
      <vt:lpstr>语法分析实验实例（算术表达式）</vt:lpstr>
      <vt:lpstr>语法分析实验实例（算术表达式）</vt:lpstr>
      <vt:lpstr>PowerPoint 演示文稿</vt:lpstr>
      <vt:lpstr>实验四：布尔表达式的分析 （2学时+课外）</vt:lpstr>
      <vt:lpstr>实验四：布尔表达式的分析 （2学时+课外）</vt:lpstr>
      <vt:lpstr>表达式之间的关系</vt:lpstr>
      <vt:lpstr>PowerPoint 演示文稿</vt:lpstr>
      <vt:lpstr>实验五：语句的分析（2学时+课外）</vt:lpstr>
      <vt:lpstr>实验五：语句的分析（2学时+课外）</vt:lpstr>
      <vt:lpstr>PowerPoint 演示文稿</vt:lpstr>
      <vt:lpstr>语句分析</vt:lpstr>
      <vt:lpstr>PowerPoint 演示文稿</vt:lpstr>
      <vt:lpstr>PowerPoint 演示文稿</vt:lpstr>
      <vt:lpstr>递归下降的语法分析程序的设计 </vt:lpstr>
      <vt:lpstr>PowerPoint 演示文稿</vt:lpstr>
      <vt:lpstr>总控程序的框架 </vt:lpstr>
      <vt:lpstr>MAIN函数处理</vt:lpstr>
      <vt:lpstr>复合语句处理：分类</vt:lpstr>
      <vt:lpstr>语句分类函数FirstWordClasify(token)</vt:lpstr>
      <vt:lpstr> 构建 AST</vt:lpstr>
      <vt:lpstr>PowerPoint 演示文稿</vt:lpstr>
      <vt:lpstr>输出效果</vt:lpstr>
      <vt:lpstr>语法分析的输出</vt:lpstr>
      <vt:lpstr>PowerPoint 演示文稿</vt:lpstr>
      <vt:lpstr>输出抽象语法分析树</vt:lpstr>
      <vt:lpstr>语法实验（可选）——JavaCC自动生成器</vt:lpstr>
      <vt:lpstr>javaCC</vt:lpstr>
      <vt:lpstr>函数分析输出</vt:lpstr>
      <vt:lpstr>数组分析输出</vt:lpstr>
      <vt:lpstr>测试用例的使用</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实验内容</dc:title>
  <dc:creator>hxy</dc:creator>
  <cp:lastModifiedBy>Administrator</cp:lastModifiedBy>
  <cp:revision>77</cp:revision>
  <dcterms:created xsi:type="dcterms:W3CDTF">2020-02-23T14:19:43Z</dcterms:created>
  <dcterms:modified xsi:type="dcterms:W3CDTF">2026-03-30T16:14:14Z</dcterms:modified>
</cp:coreProperties>
</file>