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9.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0.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1.xml" ContentType="application/vnd.openxmlformats-officedocument.presentationml.notesSlide+xml"/>
  <Override PartName="/ppt/tags/tag94.xml" ContentType="application/vnd.openxmlformats-officedocument.presentationml.tags+xml"/>
  <Override PartName="/ppt/notesSlides/notesSlide12.xml" ContentType="application/vnd.openxmlformats-officedocument.presentationml.notesSlide+xml"/>
  <Override PartName="/ppt/tags/tag95.xml" ContentType="application/vnd.openxmlformats-officedocument.presentationml.tags+xml"/>
  <Override PartName="/ppt/notesSlides/notesSlide13.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19.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4"/>
  </p:notesMasterIdLst>
  <p:sldIdLst>
    <p:sldId id="256" r:id="rId2"/>
    <p:sldId id="307" r:id="rId3"/>
    <p:sldId id="560" r:id="rId4"/>
    <p:sldId id="259" r:id="rId5"/>
    <p:sldId id="561" r:id="rId6"/>
    <p:sldId id="310" r:id="rId7"/>
    <p:sldId id="312" r:id="rId8"/>
    <p:sldId id="564" r:id="rId9"/>
    <p:sldId id="565" r:id="rId10"/>
    <p:sldId id="588" r:id="rId11"/>
    <p:sldId id="567" r:id="rId12"/>
    <p:sldId id="568" r:id="rId13"/>
    <p:sldId id="589" r:id="rId14"/>
    <p:sldId id="320" r:id="rId15"/>
    <p:sldId id="591" r:id="rId16"/>
    <p:sldId id="592" r:id="rId17"/>
    <p:sldId id="590" r:id="rId18"/>
    <p:sldId id="573" r:id="rId19"/>
    <p:sldId id="572" r:id="rId20"/>
    <p:sldId id="477" r:id="rId21"/>
    <p:sldId id="325" r:id="rId22"/>
    <p:sldId id="326" r:id="rId23"/>
    <p:sldId id="576" r:id="rId24"/>
    <p:sldId id="322" r:id="rId25"/>
    <p:sldId id="323" r:id="rId26"/>
    <p:sldId id="574" r:id="rId27"/>
    <p:sldId id="575" r:id="rId28"/>
    <p:sldId id="327" r:id="rId29"/>
    <p:sldId id="329" r:id="rId30"/>
    <p:sldId id="330" r:id="rId31"/>
    <p:sldId id="483" r:id="rId32"/>
    <p:sldId id="585" r:id="rId33"/>
    <p:sldId id="586" r:id="rId34"/>
    <p:sldId id="331" r:id="rId35"/>
    <p:sldId id="332" r:id="rId36"/>
    <p:sldId id="439" r:id="rId37"/>
    <p:sldId id="333" r:id="rId38"/>
    <p:sldId id="334" r:id="rId39"/>
    <p:sldId id="434" r:id="rId40"/>
    <p:sldId id="435" r:id="rId41"/>
    <p:sldId id="443" r:id="rId42"/>
    <p:sldId id="335" r:id="rId43"/>
    <p:sldId id="336" r:id="rId44"/>
    <p:sldId id="436" r:id="rId45"/>
    <p:sldId id="441" r:id="rId46"/>
    <p:sldId id="337" r:id="rId47"/>
    <p:sldId id="339" r:id="rId48"/>
    <p:sldId id="338" r:id="rId49"/>
    <p:sldId id="437" r:id="rId50"/>
    <p:sldId id="440" r:id="rId51"/>
    <p:sldId id="340" r:id="rId52"/>
    <p:sldId id="444" r:id="rId53"/>
    <p:sldId id="342" r:id="rId54"/>
    <p:sldId id="343" r:id="rId55"/>
    <p:sldId id="344" r:id="rId56"/>
    <p:sldId id="345" r:id="rId57"/>
    <p:sldId id="346" r:id="rId58"/>
    <p:sldId id="347" r:id="rId59"/>
    <p:sldId id="348" r:id="rId60"/>
    <p:sldId id="349" r:id="rId61"/>
    <p:sldId id="424" r:id="rId62"/>
    <p:sldId id="432" r:id="rId63"/>
    <p:sldId id="350" r:id="rId64"/>
    <p:sldId id="351" r:id="rId65"/>
    <p:sldId id="352" r:id="rId66"/>
    <p:sldId id="354" r:id="rId67"/>
    <p:sldId id="353" r:id="rId68"/>
    <p:sldId id="447" r:id="rId69"/>
    <p:sldId id="446" r:id="rId70"/>
    <p:sldId id="451" r:id="rId71"/>
    <p:sldId id="433" r:id="rId72"/>
    <p:sldId id="356" r:id="rId73"/>
    <p:sldId id="357" r:id="rId74"/>
    <p:sldId id="455" r:id="rId75"/>
    <p:sldId id="358" r:id="rId76"/>
    <p:sldId id="359" r:id="rId77"/>
    <p:sldId id="360" r:id="rId78"/>
    <p:sldId id="453" r:id="rId79"/>
    <p:sldId id="361" r:id="rId80"/>
    <p:sldId id="362" r:id="rId81"/>
    <p:sldId id="364" r:id="rId82"/>
    <p:sldId id="363" r:id="rId83"/>
    <p:sldId id="456" r:id="rId84"/>
    <p:sldId id="365" r:id="rId85"/>
    <p:sldId id="366" r:id="rId86"/>
    <p:sldId id="457" r:id="rId87"/>
    <p:sldId id="367" r:id="rId88"/>
    <p:sldId id="368" r:id="rId89"/>
    <p:sldId id="369" r:id="rId90"/>
    <p:sldId id="450" r:id="rId91"/>
    <p:sldId id="449" r:id="rId92"/>
    <p:sldId id="371" r:id="rId93"/>
    <p:sldId id="372" r:id="rId94"/>
    <p:sldId id="373" r:id="rId95"/>
    <p:sldId id="374" r:id="rId96"/>
    <p:sldId id="458" r:id="rId97"/>
    <p:sldId id="375" r:id="rId98"/>
    <p:sldId id="376" r:id="rId99"/>
    <p:sldId id="377" r:id="rId100"/>
    <p:sldId id="378" r:id="rId101"/>
    <p:sldId id="379" r:id="rId102"/>
    <p:sldId id="380" r:id="rId103"/>
    <p:sldId id="381" r:id="rId104"/>
    <p:sldId id="459" r:id="rId105"/>
    <p:sldId id="461" r:id="rId106"/>
    <p:sldId id="460" r:id="rId107"/>
    <p:sldId id="445" r:id="rId108"/>
    <p:sldId id="383" r:id="rId109"/>
    <p:sldId id="463" r:id="rId110"/>
    <p:sldId id="384" r:id="rId111"/>
    <p:sldId id="385" r:id="rId112"/>
    <p:sldId id="386" r:id="rId113"/>
    <p:sldId id="387" r:id="rId114"/>
    <p:sldId id="479" r:id="rId115"/>
    <p:sldId id="388" r:id="rId116"/>
    <p:sldId id="389" r:id="rId117"/>
    <p:sldId id="390" r:id="rId118"/>
    <p:sldId id="391" r:id="rId119"/>
    <p:sldId id="392" r:id="rId120"/>
    <p:sldId id="464" r:id="rId121"/>
    <p:sldId id="467" r:id="rId122"/>
    <p:sldId id="468" r:id="rId123"/>
    <p:sldId id="482" r:id="rId124"/>
    <p:sldId id="466" r:id="rId125"/>
    <p:sldId id="465" r:id="rId126"/>
    <p:sldId id="393" r:id="rId127"/>
    <p:sldId id="395" r:id="rId128"/>
    <p:sldId id="394" r:id="rId129"/>
    <p:sldId id="396" r:id="rId130"/>
    <p:sldId id="397" r:id="rId131"/>
    <p:sldId id="398" r:id="rId132"/>
    <p:sldId id="399" r:id="rId133"/>
    <p:sldId id="400" r:id="rId134"/>
    <p:sldId id="401" r:id="rId135"/>
    <p:sldId id="402" r:id="rId136"/>
    <p:sldId id="469" r:id="rId137"/>
    <p:sldId id="403" r:id="rId138"/>
    <p:sldId id="404" r:id="rId139"/>
    <p:sldId id="405" r:id="rId140"/>
    <p:sldId id="406" r:id="rId141"/>
    <p:sldId id="407" r:id="rId142"/>
    <p:sldId id="411" r:id="rId143"/>
    <p:sldId id="412" r:id="rId144"/>
    <p:sldId id="413" r:id="rId145"/>
    <p:sldId id="414" r:id="rId146"/>
    <p:sldId id="415" r:id="rId147"/>
    <p:sldId id="418" r:id="rId148"/>
    <p:sldId id="419" r:id="rId149"/>
    <p:sldId id="420" r:id="rId150"/>
    <p:sldId id="421" r:id="rId151"/>
    <p:sldId id="422" r:id="rId152"/>
    <p:sldId id="423" r:id="rId15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38" autoAdjust="0"/>
    <p:restoredTop sz="90974" autoAdjust="0"/>
  </p:normalViewPr>
  <p:slideViewPr>
    <p:cSldViewPr>
      <p:cViewPr varScale="1">
        <p:scale>
          <a:sx n="146" d="100"/>
          <a:sy n="146" d="100"/>
        </p:scale>
        <p:origin x="110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emf"/><Relationship Id="rId1" Type="http://schemas.openxmlformats.org/officeDocument/2006/relationships/image" Target="../media/image41.jpeg"/><Relationship Id="rId6" Type="http://schemas.openxmlformats.org/officeDocument/2006/relationships/image" Target="../media/image46.emf"/><Relationship Id="rId5" Type="http://schemas.openxmlformats.org/officeDocument/2006/relationships/image" Target="../media/image45.jpeg"/><Relationship Id="rId4" Type="http://schemas.openxmlformats.org/officeDocument/2006/relationships/image" Target="../media/image4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B6CE-4A83-4EA5-8A28-5A2599315B17}" type="datetimeFigureOut">
              <a:rPr lang="zh-CN" altLang="en-US" smtClean="0"/>
              <a:t>2026/3/11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9E8391-A7AA-438B-8953-8185EA502C58}" type="slidenum">
              <a:rPr lang="zh-CN" altLang="en-US" smtClean="0"/>
              <a:t>‹#›</a:t>
            </a:fld>
            <a:endParaRPr lang="zh-CN" altLang="en-US"/>
          </a:p>
        </p:txBody>
      </p:sp>
    </p:spTree>
    <p:extLst>
      <p:ext uri="{BB962C8B-B14F-4D97-AF65-F5344CB8AC3E}">
        <p14:creationId xmlns:p14="http://schemas.microsoft.com/office/powerpoint/2010/main" val="353989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5303CCF-8E40-4B7D-B123-3B276C94CC84}" type="slidenum">
              <a:rPr lang="en-US" altLang="zh-CN"/>
              <a:pPr>
                <a:spcBef>
                  <a:spcPct val="0"/>
                </a:spcBef>
              </a:pPr>
              <a:t>2</a:t>
            </a:fld>
            <a:endParaRPr lang="en-US" altLang="zh-CN" dirty="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endParaRPr lang="zh-CN" altLang="en-US" sz="1400"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a:t>
            </a:fld>
            <a:endParaRPr lang="en-US" altLang="zh-CN" dirty="0"/>
          </a:p>
        </p:txBody>
      </p:sp>
      <p:sp>
        <p:nvSpPr>
          <p:cNvPr id="8195" name="Rectangle 2"/>
          <p:cNvSpPr>
            <a:spLocks noGrp="1" noRot="1" noChangeAspect="1" noTextEdit="1"/>
          </p:cNvSpPr>
          <p:nvPr>
            <p:ph type="sldImg"/>
          </p:nvPr>
        </p:nvSpPr>
        <p:spPr/>
      </p:sp>
      <p:sp>
        <p:nvSpPr>
          <p:cNvPr id="819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0343757-73C3-43BA-9C8F-F3B6C5DCF9AC}" type="slidenum">
              <a:rPr lang="en-US" altLang="zh-CN"/>
              <a:pPr>
                <a:spcBef>
                  <a:spcPct val="0"/>
                </a:spcBef>
              </a:pPr>
              <a:t>6</a:t>
            </a:fld>
            <a:endParaRPr lang="en-US" altLang="zh-CN" dirty="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73C5488-49C1-4C96-B791-07051A9B0D46}" type="slidenum">
              <a:rPr lang="en-US" altLang="zh-CN"/>
              <a:pPr>
                <a:spcBef>
                  <a:spcPct val="0"/>
                </a:spcBef>
              </a:pPr>
              <a:t>7</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en-US" altLang="zh-CN"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14</a:t>
            </a:fld>
            <a:endParaRPr lang="zh-CN" altLang="en-US"/>
          </a:p>
        </p:txBody>
      </p:sp>
    </p:spTree>
    <p:extLst>
      <p:ext uri="{BB962C8B-B14F-4D97-AF65-F5344CB8AC3E}">
        <p14:creationId xmlns:p14="http://schemas.microsoft.com/office/powerpoint/2010/main" val="720548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15</a:t>
            </a:fld>
            <a:endParaRPr lang="zh-CN" altLang="en-US"/>
          </a:p>
        </p:txBody>
      </p:sp>
    </p:spTree>
    <p:extLst>
      <p:ext uri="{BB962C8B-B14F-4D97-AF65-F5344CB8AC3E}">
        <p14:creationId xmlns:p14="http://schemas.microsoft.com/office/powerpoint/2010/main" val="407440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17</a:t>
            </a:fld>
            <a:endParaRPr lang="zh-CN" altLang="en-US"/>
          </a:p>
        </p:txBody>
      </p:sp>
    </p:spTree>
    <p:extLst>
      <p:ext uri="{BB962C8B-B14F-4D97-AF65-F5344CB8AC3E}">
        <p14:creationId xmlns:p14="http://schemas.microsoft.com/office/powerpoint/2010/main" val="359519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E91337B-9CC1-465B-B01F-7342725DFB66}" type="slidenum">
              <a:rPr lang="en-US" altLang="zh-CN"/>
              <a:pPr>
                <a:spcBef>
                  <a:spcPct val="0"/>
                </a:spcBef>
              </a:pPr>
              <a:t>22</a:t>
            </a:fld>
            <a:endParaRPr lang="en-US" altLang="zh-CN"/>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D18270C-7CBB-4036-8DCA-B2752867E494}" type="slidenum">
              <a:rPr lang="en-US" altLang="zh-CN"/>
              <a:pPr>
                <a:spcBef>
                  <a:spcPct val="0"/>
                </a:spcBef>
              </a:pPr>
              <a:t>24</a:t>
            </a:fld>
            <a:endParaRPr lang="en-US" altLang="zh-CN"/>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3BA2E00-91DE-43BE-B0AF-A0E0176F22DF}" type="slidenum">
              <a:rPr lang="en-US" altLang="zh-CN"/>
              <a:pPr>
                <a:spcBef>
                  <a:spcPct val="0"/>
                </a:spcBef>
              </a:pPr>
              <a:t>25</a:t>
            </a:fld>
            <a:endParaRPr lang="en-US" altLang="zh-CN"/>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799E8391-A7AA-438B-8953-8185EA502C58}" type="slidenum">
              <a:rPr lang="zh-CN" altLang="en-US" smtClean="0"/>
              <a:t>27</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5C8778D-535F-4E1C-8CDD-54C8A03B7121}" type="slidenum">
              <a:rPr lang="en-US" altLang="zh-CN"/>
              <a:pPr>
                <a:spcBef>
                  <a:spcPct val="0"/>
                </a:spcBef>
              </a:pPr>
              <a:t>30</a:t>
            </a:fld>
            <a:endParaRPr lang="en-US" altLang="zh-CN"/>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这是手工编程识别源程序中的单词的主程序框架。关键在对每一类单词的识别，在每一轮的扫描中，对读入的的第一个字符进行分类，不同类别的单词的第一个字符不同。</a:t>
            </a:r>
          </a:p>
        </p:txBody>
      </p:sp>
      <p:sp>
        <p:nvSpPr>
          <p:cNvPr id="4" name="灯片编号占位符 3"/>
          <p:cNvSpPr>
            <a:spLocks noGrp="1"/>
          </p:cNvSpPr>
          <p:nvPr>
            <p:ph type="sldNum" sz="quarter" idx="5"/>
          </p:nvPr>
        </p:nvSpPr>
        <p:spPr/>
        <p:txBody>
          <a:bodyPr/>
          <a:lstStyle/>
          <a:p>
            <a:fld id="{799E8391-A7AA-438B-8953-8185EA502C58}" type="slidenum">
              <a:rPr lang="zh-CN" altLang="en-US" smtClean="0"/>
              <a:t>31</a:t>
            </a:fld>
            <a:endParaRPr lang="zh-CN" altLang="en-US"/>
          </a:p>
        </p:txBody>
      </p:sp>
    </p:spTree>
    <p:extLst>
      <p:ext uri="{BB962C8B-B14F-4D97-AF65-F5344CB8AC3E}">
        <p14:creationId xmlns:p14="http://schemas.microsoft.com/office/powerpoint/2010/main" val="16086047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32</a:t>
            </a:fld>
            <a:endParaRPr lang="en-US" altLang="zh-CN" dirty="0"/>
          </a:p>
        </p:txBody>
      </p:sp>
      <p:sp>
        <p:nvSpPr>
          <p:cNvPr id="35843" name="Rectangle 2"/>
          <p:cNvSpPr>
            <a:spLocks noGrp="1" noRot="1" noChangeAspect="1" noTextEdit="1"/>
          </p:cNvSpPr>
          <p:nvPr>
            <p:ph type="sldImg"/>
          </p:nvPr>
        </p:nvSpPr>
        <p:spPr/>
      </p:sp>
      <p:sp>
        <p:nvSpPr>
          <p:cNvPr id="3584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E07A655-D628-4E5C-A55B-829E5DDCAFB4}" type="slidenum">
              <a:rPr lang="en-US" altLang="zh-CN"/>
              <a:pPr>
                <a:spcBef>
                  <a:spcPct val="0"/>
                </a:spcBef>
              </a:pPr>
              <a:t>34</a:t>
            </a:fld>
            <a:endParaRPr lang="en-US" altLang="zh-CN"/>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611E01D-FEA5-4B02-A853-57C54C95847F}" type="slidenum">
              <a:rPr lang="en-US" altLang="zh-CN"/>
              <a:pPr>
                <a:spcBef>
                  <a:spcPct val="0"/>
                </a:spcBef>
              </a:pPr>
              <a:t>35</a:t>
            </a:fld>
            <a:endParaRPr lang="en-US" altLang="zh-CN"/>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E4AE2A1-446B-44F3-8572-992800D018E0}" type="slidenum">
              <a:rPr lang="en-US" altLang="zh-CN"/>
              <a:pPr>
                <a:spcBef>
                  <a:spcPct val="0"/>
                </a:spcBef>
              </a:pPr>
              <a:t>37</a:t>
            </a:fld>
            <a:endParaRPr lang="en-US" altLang="zh-CN"/>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8425C98-0952-4093-AAA1-89A912D85827}" type="slidenum">
              <a:rPr lang="en-US" altLang="zh-CN"/>
              <a:pPr>
                <a:spcBef>
                  <a:spcPct val="0"/>
                </a:spcBef>
              </a:pPr>
              <a:t>48</a:t>
            </a:fld>
            <a:endParaRPr lang="en-US" altLang="zh-CN"/>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3D4CA1B-D262-4AA6-BDD7-0C8A8D031BED}" type="slidenum">
              <a:rPr lang="en-US" altLang="zh-CN"/>
              <a:pPr>
                <a:spcBef>
                  <a:spcPct val="0"/>
                </a:spcBef>
              </a:pPr>
              <a:t>51</a:t>
            </a:fld>
            <a:endParaRPr lang="en-US" altLang="zh-CN"/>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1884616-9E26-4CA6-A386-A4EF37785241}" type="slidenum">
              <a:rPr lang="en-US" altLang="zh-CN"/>
              <a:pPr>
                <a:spcBef>
                  <a:spcPct val="0"/>
                </a:spcBef>
              </a:pPr>
              <a:t>53</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A953824-BDE6-44E4-8252-630A128662A8}" type="slidenum">
              <a:rPr lang="en-US" altLang="zh-CN"/>
              <a:pPr>
                <a:spcBef>
                  <a:spcPct val="0"/>
                </a:spcBef>
              </a:pPr>
              <a:t>54</a:t>
            </a:fld>
            <a:endParaRPr lang="en-US" altLang="zh-CN"/>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3F7D751-169F-4638-8552-D232ACCF8BC3}" type="slidenum">
              <a:rPr lang="en-US" altLang="zh-CN"/>
              <a:pPr>
                <a:spcBef>
                  <a:spcPct val="0"/>
                </a:spcBef>
              </a:pPr>
              <a:t>55</a:t>
            </a:fld>
            <a:endParaRPr lang="en-US" altLang="zh-CN"/>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E3D249D-BFBE-43A0-8E30-3EBB1638547F}" type="slidenum">
              <a:rPr lang="en-US" altLang="zh-CN"/>
              <a:pPr>
                <a:spcBef>
                  <a:spcPct val="0"/>
                </a:spcBef>
              </a:pPr>
              <a:t>56</a:t>
            </a:fld>
            <a:endParaRPr lang="en-US" altLang="zh-CN"/>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10224F2-F633-4509-8452-556DA588D3A8}" type="slidenum">
              <a:rPr lang="en-US" altLang="zh-CN"/>
              <a:pPr>
                <a:spcBef>
                  <a:spcPct val="0"/>
                </a:spcBef>
              </a:pPr>
              <a:t>57</a:t>
            </a:fld>
            <a:endParaRPr lang="en-US" altLang="zh-CN"/>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E5EC829-DD78-4E54-BA73-017CDB3D86C7}" type="slidenum">
              <a:rPr lang="en-US" altLang="zh-CN"/>
              <a:pPr>
                <a:spcBef>
                  <a:spcPct val="0"/>
                </a:spcBef>
              </a:pPr>
              <a:t>58</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87F4935-767A-4D7B-B9A6-480FAE1DD293}" type="slidenum">
              <a:rPr lang="en-US" altLang="zh-CN"/>
              <a:pPr>
                <a:spcBef>
                  <a:spcPct val="0"/>
                </a:spcBef>
              </a:pPr>
              <a:t>59</a:t>
            </a:fld>
            <a:endParaRPr lang="en-US" altLang="zh-CN"/>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8BD60B8-5714-4FA1-A885-D6441F1A6EE8}" type="slidenum">
              <a:rPr lang="en-US" altLang="zh-CN"/>
              <a:pPr>
                <a:spcBef>
                  <a:spcPct val="0"/>
                </a:spcBef>
              </a:pPr>
              <a:t>60</a:t>
            </a:fld>
            <a:endParaRPr lang="en-US" altLang="zh-CN"/>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8BD60B8-5714-4FA1-A885-D6441F1A6EE8}" type="slidenum">
              <a:rPr lang="en-US" altLang="zh-CN"/>
              <a:pPr>
                <a:spcBef>
                  <a:spcPct val="0"/>
                </a:spcBef>
              </a:pPr>
              <a:t>61</a:t>
            </a:fld>
            <a:endParaRPr lang="en-US" altLang="zh-CN"/>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7EEF75F-B42B-4DB8-BC34-2AEB499E6368}" type="slidenum">
              <a:rPr lang="en-US" altLang="zh-CN"/>
              <a:pPr>
                <a:spcBef>
                  <a:spcPct val="0"/>
                </a:spcBef>
              </a:pPr>
              <a:t>63</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B04BD534-47B0-4448-8A89-17EB4F353DFF}" type="slidenum">
              <a:rPr lang="en-US" altLang="zh-CN"/>
              <a:pPr>
                <a:spcBef>
                  <a:spcPct val="0"/>
                </a:spcBef>
              </a:pPr>
              <a:t>64</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1A5672D-7ED4-4B02-A6B2-9F1082E820B2}" type="slidenum">
              <a:rPr lang="en-US" altLang="zh-CN"/>
              <a:pPr>
                <a:spcBef>
                  <a:spcPct val="0"/>
                </a:spcBef>
              </a:pPr>
              <a:t>65</a:t>
            </a:fld>
            <a:endParaRPr lang="en-US" altLang="zh-CN"/>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17567C2-38C3-4787-B217-0061F8516D6C}" type="slidenum">
              <a:rPr lang="en-US" altLang="zh-CN"/>
              <a:pPr>
                <a:spcBef>
                  <a:spcPct val="0"/>
                </a:spcBef>
              </a:pPr>
              <a:t>66</a:t>
            </a:fld>
            <a:endParaRPr lang="en-US" altLang="zh-CN"/>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D8DBEE4-75DE-4A56-905B-8291CA8B51E2}" type="slidenum">
              <a:rPr lang="en-US" altLang="zh-CN"/>
              <a:pPr>
                <a:spcBef>
                  <a:spcPct val="0"/>
                </a:spcBef>
              </a:pPr>
              <a:t>67</a:t>
            </a:fld>
            <a:endParaRPr lang="en-US" altLang="zh-CN"/>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C84F068-6AFB-4430-B257-00367C9A011F}" type="slidenum">
              <a:rPr lang="en-US" altLang="zh-CN"/>
              <a:pPr>
                <a:spcBef>
                  <a:spcPct val="0"/>
                </a:spcBef>
              </a:pPr>
              <a:t>69</a:t>
            </a:fld>
            <a:endParaRPr lang="en-US" altLang="zh-CN"/>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3BA2E00-91DE-43BE-B0AF-A0E0176F22DF}" type="slidenum">
              <a:rPr lang="en-US" altLang="zh-CN"/>
              <a:pPr>
                <a:spcBef>
                  <a:spcPct val="0"/>
                </a:spcBef>
              </a:pPr>
              <a:t>71</a:t>
            </a:fld>
            <a:endParaRPr lang="en-US" altLang="zh-CN"/>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642DBE0-5B90-4E5F-9FA6-A9587C7F62C7}" type="slidenum">
              <a:rPr lang="en-US" altLang="zh-CN"/>
              <a:pPr>
                <a:spcBef>
                  <a:spcPct val="0"/>
                </a:spcBef>
              </a:pPr>
              <a:t>72</a:t>
            </a:fld>
            <a:endParaRPr lang="en-US" altLang="zh-CN"/>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4F63E94-9499-451D-BAEB-100C962B2017}" type="slidenum">
              <a:rPr lang="en-US" altLang="zh-CN"/>
              <a:pPr>
                <a:spcBef>
                  <a:spcPct val="0"/>
                </a:spcBef>
              </a:pPr>
              <a:t>73</a:t>
            </a:fld>
            <a:endParaRPr lang="en-US" altLang="zh-CN"/>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51AD0F0-74F3-4779-949A-2FC254E74553}" type="slidenum">
              <a:rPr lang="en-US" altLang="zh-CN"/>
              <a:pPr>
                <a:spcBef>
                  <a:spcPct val="0"/>
                </a:spcBef>
              </a:pPr>
              <a:t>75</a:t>
            </a:fld>
            <a:endParaRPr lang="en-US" altLang="zh-CN"/>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C0A7CD3-B8CA-40F0-88A1-48F06E269828}" type="slidenum">
              <a:rPr lang="en-US" altLang="zh-CN"/>
              <a:pPr>
                <a:spcBef>
                  <a:spcPct val="0"/>
                </a:spcBef>
              </a:pPr>
              <a:t>76</a:t>
            </a:fld>
            <a:endParaRPr lang="en-US" altLang="zh-CN"/>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170CC6C-0CD4-465E-AF3A-C4D37C3022BD}" type="slidenum">
              <a:rPr lang="en-US" altLang="zh-CN"/>
              <a:pPr>
                <a:spcBef>
                  <a:spcPct val="0"/>
                </a:spcBef>
              </a:pPr>
              <a:t>77</a:t>
            </a:fld>
            <a:endParaRPr lang="en-US" altLang="zh-CN"/>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DE4FBBE-D4FA-4997-86CC-4AA8ABAD2AB4}" type="slidenum">
              <a:rPr lang="en-US" altLang="zh-CN"/>
              <a:pPr>
                <a:spcBef>
                  <a:spcPct val="0"/>
                </a:spcBef>
              </a:pPr>
              <a:t>79</a:t>
            </a:fld>
            <a:endParaRPr lang="en-US" altLang="zh-CN"/>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09ADFDD-EBCA-4C1E-BFFC-C4447F794568}" type="slidenum">
              <a:rPr lang="en-US" altLang="zh-CN"/>
              <a:pPr>
                <a:spcBef>
                  <a:spcPct val="0"/>
                </a:spcBef>
              </a:pPr>
              <a:t>80</a:t>
            </a:fld>
            <a:endParaRPr lang="en-US" altLang="zh-CN"/>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2BF45C1-B359-4072-9865-BDA7BADF5BC6}" type="slidenum">
              <a:rPr lang="en-US" altLang="zh-CN"/>
              <a:pPr>
                <a:spcBef>
                  <a:spcPct val="0"/>
                </a:spcBef>
              </a:pPr>
              <a:t>81</a:t>
            </a:fld>
            <a:endParaRPr lang="en-US" altLang="zh-CN" dirty="0"/>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19A3262-22FD-469D-93DD-FD1536CAD7AC}" type="slidenum">
              <a:rPr lang="en-US" altLang="zh-CN"/>
              <a:pPr>
                <a:spcBef>
                  <a:spcPct val="0"/>
                </a:spcBef>
              </a:pPr>
              <a:t>82</a:t>
            </a:fld>
            <a:endParaRPr lang="en-US" altLang="zh-CN" dirty="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5180F91-3F98-4083-8DB0-06864D1FB61D}" type="slidenum">
              <a:rPr lang="en-US" altLang="zh-CN"/>
              <a:pPr>
                <a:spcBef>
                  <a:spcPct val="0"/>
                </a:spcBef>
              </a:pPr>
              <a:t>84</a:t>
            </a:fld>
            <a:endParaRPr lang="en-US" altLang="zh-CN" dirty="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B9E053EF-35E6-4844-8F49-BEC0D0CA4ADA}" type="slidenum">
              <a:rPr lang="en-US" altLang="zh-CN"/>
              <a:pPr>
                <a:spcBef>
                  <a:spcPct val="0"/>
                </a:spcBef>
              </a:pPr>
              <a:t>85</a:t>
            </a:fld>
            <a:endParaRPr lang="en-US" altLang="zh-CN" dirty="0"/>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9C6DFC1-C66A-409B-85B6-4BDEF8B5E98D}" type="slidenum">
              <a:rPr lang="en-US" altLang="zh-CN"/>
              <a:pPr>
                <a:spcBef>
                  <a:spcPct val="0"/>
                </a:spcBef>
              </a:pPr>
              <a:t>86</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000"/>
              <a:t>为什么要做这样的变换：因为</a:t>
            </a:r>
            <a:r>
              <a:rPr lang="en-US" altLang="zh-CN" sz="1000"/>
              <a:t>NFA</a:t>
            </a:r>
            <a:r>
              <a:rPr lang="zh-CN" altLang="en-US" sz="1000"/>
              <a:t>中每条弧用</a:t>
            </a:r>
            <a:r>
              <a:rPr lang="zh-CN" altLang="en-US" sz="1000">
                <a:sym typeface="Symbol" pitchFamily="18" charset="2"/>
              </a:rPr>
              <a:t>* 上的一个字来表示，而</a:t>
            </a:r>
            <a:r>
              <a:rPr lang="en-US" altLang="zh-CN" sz="1000">
                <a:sym typeface="Symbol" pitchFamily="18" charset="2"/>
              </a:rPr>
              <a:t>DFA</a:t>
            </a:r>
            <a:r>
              <a:rPr lang="zh-CN" altLang="en-US" sz="1000">
                <a:sym typeface="Symbol" pitchFamily="18" charset="2"/>
              </a:rPr>
              <a:t>每条</a:t>
            </a:r>
            <a:r>
              <a:rPr lang="zh-CN" altLang="en-US" sz="1000"/>
              <a:t>弧用</a:t>
            </a:r>
            <a:r>
              <a:rPr lang="zh-CN" altLang="en-US" sz="1000">
                <a:sym typeface="Symbol" pitchFamily="18" charset="2"/>
              </a:rPr>
              <a:t> 上的一个符号来表示；</a:t>
            </a:r>
            <a:r>
              <a:rPr lang="en-US" altLang="zh-CN" sz="1000">
                <a:sym typeface="Symbol" pitchFamily="18" charset="2"/>
              </a:rPr>
              <a:t>DFA</a:t>
            </a:r>
            <a:r>
              <a:rPr lang="zh-CN" altLang="en-US" sz="1000">
                <a:sym typeface="Symbol" pitchFamily="18" charset="2"/>
              </a:rPr>
              <a:t>有</a:t>
            </a:r>
            <a:r>
              <a:rPr lang="en-US" altLang="zh-CN" sz="1000">
                <a:sym typeface="Symbol" pitchFamily="18" charset="2"/>
              </a:rPr>
              <a:t>1</a:t>
            </a:r>
            <a:r>
              <a:rPr lang="zh-CN" altLang="en-US" sz="1000">
                <a:sym typeface="Symbol" pitchFamily="18" charset="2"/>
              </a:rPr>
              <a:t>个开始状态，而</a:t>
            </a:r>
            <a:r>
              <a:rPr lang="en-US" altLang="zh-CN" sz="1000">
                <a:sym typeface="Symbol" pitchFamily="18" charset="2"/>
              </a:rPr>
              <a:t>NFA</a:t>
            </a:r>
            <a:r>
              <a:rPr lang="zh-CN" altLang="en-US" sz="1000">
                <a:sym typeface="Symbol" pitchFamily="18" charset="2"/>
              </a:rPr>
              <a:t>可以有多个初始状态。</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03D2EAE-FE56-4676-81F7-F124FAB41AC1}" type="slidenum">
              <a:rPr lang="en-US" altLang="zh-CN"/>
              <a:pPr>
                <a:spcBef>
                  <a:spcPct val="0"/>
                </a:spcBef>
              </a:pPr>
              <a:t>87</a:t>
            </a:fld>
            <a:endParaRPr lang="en-US" altLang="zh-CN" dirty="0"/>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53C4991-7593-4A78-9C88-A14AE2652DE7}" type="slidenum">
              <a:rPr lang="en-US" altLang="zh-CN"/>
              <a:pPr>
                <a:spcBef>
                  <a:spcPct val="0"/>
                </a:spcBef>
              </a:pPr>
              <a:t>88</a:t>
            </a:fld>
            <a:endParaRPr lang="en-US" altLang="zh-CN" dirty="0"/>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67B711C-96D3-4C5D-8FFF-4F81F6FCA156}" type="slidenum">
              <a:rPr lang="en-US" altLang="zh-CN"/>
              <a:pPr>
                <a:spcBef>
                  <a:spcPct val="0"/>
                </a:spcBef>
              </a:pPr>
              <a:t>89</a:t>
            </a:fld>
            <a:endParaRPr lang="en-US" altLang="zh-CN"/>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9C6DFC1-C66A-409B-85B6-4BDEF8B5E98D}" type="slidenum">
              <a:rPr lang="en-US" altLang="zh-CN"/>
              <a:pPr>
                <a:spcBef>
                  <a:spcPct val="0"/>
                </a:spcBef>
              </a:pPr>
              <a:t>91</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000" dirty="0">
              <a:sym typeface="Symbol" pitchFamily="18" charset="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1600810-60E6-4315-B5DB-C76BEAD2973B}" type="slidenum">
              <a:rPr lang="en-US" altLang="zh-CN"/>
              <a:pPr>
                <a:spcBef>
                  <a:spcPct val="0"/>
                </a:spcBef>
              </a:pPr>
              <a:t>93</a:t>
            </a:fld>
            <a:endParaRPr lang="en-US" altLang="zh-CN"/>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E5A4078-16CB-482E-B296-2A352518C490}" type="slidenum">
              <a:rPr lang="en-US" altLang="zh-CN"/>
              <a:pPr>
                <a:spcBef>
                  <a:spcPct val="0"/>
                </a:spcBef>
              </a:pPr>
              <a:t>94</a:t>
            </a:fld>
            <a:endParaRPr lang="en-US" altLang="zh-CN"/>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4E52E8B-79BC-47D5-B7FC-31ADADC0FAC1}" type="slidenum">
              <a:rPr lang="en-US" altLang="zh-CN"/>
              <a:pPr>
                <a:spcBef>
                  <a:spcPct val="0"/>
                </a:spcBef>
              </a:pPr>
              <a:t>95</a:t>
            </a:fld>
            <a:endParaRPr lang="en-US" altLang="zh-CN"/>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894C483-E5CE-413A-8B32-12C3F3734980}" type="slidenum">
              <a:rPr lang="en-US" altLang="zh-CN"/>
              <a:pPr>
                <a:spcBef>
                  <a:spcPct val="0"/>
                </a:spcBef>
              </a:pPr>
              <a:t>97</a:t>
            </a:fld>
            <a:endParaRPr lang="en-US" altLang="zh-CN"/>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A13EB86-3F94-4DE2-95A4-0F759B607ECB}" type="slidenum">
              <a:rPr lang="en-US" altLang="zh-CN"/>
              <a:pPr>
                <a:spcBef>
                  <a:spcPct val="0"/>
                </a:spcBef>
              </a:pPr>
              <a:t>98</a:t>
            </a:fld>
            <a:endParaRPr lang="en-US" altLang="zh-CN"/>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5E9B9D9-D720-4EE9-9F61-7A12F8642BD5}" type="slidenum">
              <a:rPr lang="en-US" altLang="zh-CN"/>
              <a:pPr>
                <a:spcBef>
                  <a:spcPct val="0"/>
                </a:spcBef>
              </a:pPr>
              <a:t>99</a:t>
            </a:fld>
            <a:endParaRPr lang="en-US" altLang="zh-CN"/>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7F29E8F-D4C3-4037-ACC0-34F030D90E56}" type="slidenum">
              <a:rPr lang="en-US" altLang="zh-CN"/>
              <a:pPr>
                <a:spcBef>
                  <a:spcPct val="0"/>
                </a:spcBef>
              </a:pPr>
              <a:t>100</a:t>
            </a:fld>
            <a:endParaRPr lang="en-US" altLang="zh-CN"/>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5612E77-FAE9-48CD-A81C-EF1C3AA3CFBF}" type="slidenum">
              <a:rPr lang="en-US" altLang="zh-CN"/>
              <a:pPr>
                <a:spcBef>
                  <a:spcPct val="0"/>
                </a:spcBef>
              </a:pPr>
              <a:t>101</a:t>
            </a:fld>
            <a:endParaRPr lang="en-US" altLang="zh-CN"/>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B5E3BCF-4950-40A3-B316-20A5D5BDD9BC}" type="slidenum">
              <a:rPr lang="en-US" altLang="zh-CN"/>
              <a:pPr>
                <a:spcBef>
                  <a:spcPct val="0"/>
                </a:spcBef>
              </a:pPr>
              <a:t>102</a:t>
            </a:fld>
            <a:endParaRPr lang="en-US" altLang="zh-CN"/>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EE341BF-EDFF-40CF-AB3A-3ACB418A0925}" type="slidenum">
              <a:rPr lang="en-US" altLang="zh-CN"/>
              <a:pPr>
                <a:spcBef>
                  <a:spcPct val="0"/>
                </a:spcBef>
              </a:pPr>
              <a:t>103</a:t>
            </a:fld>
            <a:endParaRPr lang="en-US" altLang="zh-CN"/>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7EEF75F-B42B-4DB8-BC34-2AEB499E6368}" type="slidenum">
              <a:rPr lang="en-US" altLang="zh-CN"/>
              <a:pPr>
                <a:spcBef>
                  <a:spcPct val="0"/>
                </a:spcBef>
              </a:pPr>
              <a:t>107</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8DD8156-2D35-4ED5-92CC-BA14435B6344}" type="slidenum">
              <a:rPr lang="en-US" altLang="zh-CN"/>
              <a:pPr>
                <a:spcBef>
                  <a:spcPct val="0"/>
                </a:spcBef>
              </a:pPr>
              <a:t>108</a:t>
            </a:fld>
            <a:endParaRPr lang="en-US" altLang="zh-CN"/>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DF5D323-DFE6-417F-9E2F-D3E591CD633F}" type="slidenum">
              <a:rPr lang="en-US" altLang="zh-CN"/>
              <a:pPr>
                <a:spcBef>
                  <a:spcPct val="0"/>
                </a:spcBef>
              </a:pPr>
              <a:t>110</a:t>
            </a:fld>
            <a:endParaRPr lang="en-US" altLang="zh-CN"/>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71AFCF0-85F9-47D7-A7CA-558C79484780}" type="slidenum">
              <a:rPr lang="en-US" altLang="zh-CN"/>
              <a:pPr>
                <a:spcBef>
                  <a:spcPct val="0"/>
                </a:spcBef>
              </a:pPr>
              <a:t>111</a:t>
            </a:fld>
            <a:endParaRPr lang="en-US" altLang="zh-CN"/>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ECAFDD9-CF0E-42AE-8350-3035C540B47C}" type="slidenum">
              <a:rPr lang="en-US" altLang="zh-CN"/>
              <a:pPr>
                <a:spcBef>
                  <a:spcPct val="0"/>
                </a:spcBef>
              </a:pPr>
              <a:t>112</a:t>
            </a:fld>
            <a:endParaRPr lang="en-US" altLang="zh-CN"/>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290E211-8F7F-4DE2-868C-FBBA9BD4AC98}" type="slidenum">
              <a:rPr lang="en-US" altLang="zh-CN"/>
              <a:pPr>
                <a:spcBef>
                  <a:spcPct val="0"/>
                </a:spcBef>
              </a:pPr>
              <a:t>113</a:t>
            </a:fld>
            <a:endParaRPr lang="en-US" altLang="zh-CN"/>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D037D50-B57D-4218-88F0-75009E47098D}" type="slidenum">
              <a:rPr lang="en-US" altLang="zh-CN"/>
              <a:pPr>
                <a:spcBef>
                  <a:spcPct val="0"/>
                </a:spcBef>
              </a:pPr>
              <a:t>115</a:t>
            </a:fld>
            <a:endParaRPr lang="en-US" altLang="zh-CN"/>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C30F0F2-B857-45D9-AC9A-98E3E4BD5A8C}" type="slidenum">
              <a:rPr lang="en-US" altLang="zh-CN"/>
              <a:pPr>
                <a:spcBef>
                  <a:spcPct val="0"/>
                </a:spcBef>
              </a:pPr>
              <a:t>116</a:t>
            </a:fld>
            <a:endParaRPr lang="en-US" altLang="zh-CN"/>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A036D35-6F6E-4643-8C79-9BB50A5132D3}" type="slidenum">
              <a:rPr lang="en-US" altLang="zh-CN"/>
              <a:pPr>
                <a:spcBef>
                  <a:spcPct val="0"/>
                </a:spcBef>
              </a:pPr>
              <a:t>117</a:t>
            </a:fld>
            <a:endParaRPr lang="en-US" altLang="zh-CN"/>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226BF61-D968-41B6-BCD9-A883FAEE386E}" type="slidenum">
              <a:rPr lang="en-US" altLang="zh-CN"/>
              <a:pPr>
                <a:spcBef>
                  <a:spcPct val="0"/>
                </a:spcBef>
              </a:pPr>
              <a:t>118</a:t>
            </a:fld>
            <a:endParaRPr lang="en-US" altLang="zh-CN"/>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90A802A-4E00-4FF4-B21D-CD37B3493CB0}" type="slidenum">
              <a:rPr lang="en-US" altLang="zh-CN"/>
              <a:pPr>
                <a:spcBef>
                  <a:spcPct val="0"/>
                </a:spcBef>
              </a:pPr>
              <a:t>119</a:t>
            </a:fld>
            <a:endParaRPr lang="en-US" altLang="zh-CN"/>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7EEF75F-B42B-4DB8-BC34-2AEB499E6368}" type="slidenum">
              <a:rPr lang="en-US" altLang="zh-CN"/>
              <a:pPr>
                <a:spcBef>
                  <a:spcPct val="0"/>
                </a:spcBef>
              </a:pPr>
              <a:t>122</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250A40B-2665-4675-ACA6-7C95E0991213}" type="slidenum">
              <a:rPr lang="en-US" altLang="zh-CN"/>
              <a:pPr>
                <a:spcBef>
                  <a:spcPct val="0"/>
                </a:spcBef>
              </a:pPr>
              <a:t>126</a:t>
            </a:fld>
            <a:endParaRPr lang="en-US" altLang="zh-CN"/>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48E2211-262E-4054-AE50-AD4F09071510}" type="slidenum">
              <a:rPr lang="en-US" altLang="zh-CN"/>
              <a:pPr>
                <a:spcBef>
                  <a:spcPct val="0"/>
                </a:spcBef>
              </a:pPr>
              <a:t>130</a:t>
            </a:fld>
            <a:endParaRPr lang="en-US" altLang="zh-CN"/>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80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B24DF45-278C-4A36-B16C-2D5A8B8F9E2C}" type="slidenum">
              <a:rPr lang="en-US" altLang="zh-CN"/>
              <a:pPr>
                <a:spcBef>
                  <a:spcPct val="0"/>
                </a:spcBef>
              </a:pPr>
              <a:t>148</a:t>
            </a:fld>
            <a:endParaRPr lang="en-US" altLang="zh-CN"/>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4748CD5-5AA1-41E7-BFA2-B2A75BD12990}" type="slidenum">
              <a:rPr lang="en-US" altLang="zh-CN"/>
              <a:pPr>
                <a:spcBef>
                  <a:spcPct val="0"/>
                </a:spcBef>
              </a:pPr>
              <a:t>149</a:t>
            </a:fld>
            <a:endParaRPr lang="en-US" altLang="zh-CN"/>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434D893-D905-4E66-A835-391757D1C0F4}" type="slidenum">
              <a:rPr lang="en-US" altLang="zh-CN"/>
              <a:pPr>
                <a:spcBef>
                  <a:spcPct val="0"/>
                </a:spcBef>
              </a:pPr>
              <a:t>152</a:t>
            </a:fld>
            <a:endParaRPr lang="en-US" altLang="zh-CN"/>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dirty="0"/>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2026/3/11</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defRPr sz="2400">
                <a:latin typeface="宋体" panose="02010600030101010101" pitchFamily="2" charset="-122"/>
                <a:ea typeface="宋体" panose="02010600030101010101" pitchFamily="2" charset="-122"/>
              </a:defRPr>
            </a:lvl1pPr>
            <a:lvl2pPr>
              <a:defRPr sz="2200">
                <a:latin typeface="宋体" panose="02010600030101010101" pitchFamily="2" charset="-122"/>
                <a:ea typeface="宋体" panose="02010600030101010101" pitchFamily="2" charset="-122"/>
              </a:defRPr>
            </a:lvl2pPr>
            <a:lvl3pPr>
              <a:defRPr sz="2000">
                <a:latin typeface="宋体" panose="02010600030101010101" pitchFamily="2" charset="-122"/>
                <a:ea typeface="宋体" panose="02010600030101010101" pitchFamily="2" charset="-122"/>
              </a:defRPr>
            </a:lvl3pPr>
            <a:lvl4pPr>
              <a:defRPr sz="2000">
                <a:latin typeface="宋体" panose="02010600030101010101" pitchFamily="2" charset="-122"/>
                <a:ea typeface="宋体" panose="02010600030101010101" pitchFamily="2" charset="-122"/>
              </a:defRPr>
            </a:lvl4pPr>
            <a:lvl5pPr>
              <a:defRPr sz="2000">
                <a:latin typeface="宋体" panose="02010600030101010101" pitchFamily="2" charset="-122"/>
                <a:ea typeface="宋体" panose="02010600030101010101" pitchFamily="2" charset="-122"/>
              </a:defRPr>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a:lstStyle/>
          <a:p>
            <a:fld id="{222983CD-40B6-4A0F-A754-6514ADAC0847}" type="datetimeFigureOut">
              <a:rPr lang="zh-CN" altLang="en-US" smtClean="0"/>
              <a:t>2026/3/11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a:xfrm>
            <a:off x="107504" y="123478"/>
            <a:ext cx="8229600" cy="576064"/>
          </a:xfrm>
        </p:spPr>
        <p:txBody>
          <a:bodyPr rtlCol="0">
            <a:normAutofit/>
          </a:bodyPr>
          <a:lstStyle>
            <a:lvl1pPr>
              <a:defRPr sz="3600">
                <a:latin typeface="隶书" panose="02010509060101010101" pitchFamily="49" charset="-122"/>
                <a:ea typeface="隶书" panose="02010509060101010101" pitchFamily="49" charset="-122"/>
              </a:defRPr>
            </a:lvl1pPr>
            <a:extLst/>
          </a:lstStyle>
          <a:p>
            <a:r>
              <a:rPr kumimoji="0" lang="zh-CN" altLang="en-US"/>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normAutofit/>
          </a:bodyPr>
          <a:lstStyle>
            <a:lvl1pPr>
              <a:defRPr sz="3600"/>
            </a:lvl1pPr>
            <a:extLst/>
          </a:lstStyle>
          <a:p>
            <a:r>
              <a:rPr kumimoji="0" lang="zh-CN" altLang="en-US"/>
              <a:t>单击此处编辑母版标题样式</a:t>
            </a:r>
            <a:endParaRPr kumimoji="0" lang="en-US" dirty="0"/>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a:lstStyle/>
          <a:p>
            <a:fld id="{222983CD-40B6-4A0F-A754-6514ADAC0847}" type="datetimeFigureOut">
              <a:rPr lang="zh-CN" altLang="en-US" smtClean="0"/>
              <a:t>2026/3/11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EF545F59-0E3A-4561-9032-B655D729BF38}" type="slidenum">
              <a:rPr lang="en-US" altLang="zh-CN"/>
              <a:pPr>
                <a:defRPr/>
              </a:pPr>
              <a:t>‹#›</a:t>
            </a:fld>
            <a:endParaRPr lang="en-US" altLang="zh-CN"/>
          </a:p>
        </p:txBody>
      </p:sp>
    </p:spTree>
    <p:extLst>
      <p:ext uri="{BB962C8B-B14F-4D97-AF65-F5344CB8AC3E}">
        <p14:creationId xmlns:p14="http://schemas.microsoft.com/office/powerpoint/2010/main" val="1316154499"/>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938BAC2-AB67-48FF-9D18-450EFFC6777D}" type="slidenum">
              <a:rPr lang="en-US" altLang="zh-CN"/>
              <a:pPr>
                <a:defRPr/>
              </a:pPr>
              <a:t>‹#›</a:t>
            </a:fld>
            <a:endParaRPr lang="en-US" altLang="zh-CN"/>
          </a:p>
        </p:txBody>
      </p:sp>
    </p:spTree>
    <p:extLst>
      <p:ext uri="{BB962C8B-B14F-4D97-AF65-F5344CB8AC3E}">
        <p14:creationId xmlns:p14="http://schemas.microsoft.com/office/powerpoint/2010/main" val="907739981"/>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12ABB89-65D8-4CE5-91A4-5DF8EAB170B8}" type="slidenum">
              <a:rPr lang="en-US" altLang="zh-CN"/>
              <a:pPr>
                <a:defRPr/>
              </a:pPr>
              <a:t>‹#›</a:t>
            </a:fld>
            <a:endParaRPr lang="en-US" altLang="zh-CN"/>
          </a:p>
        </p:txBody>
      </p:sp>
    </p:spTree>
    <p:extLst>
      <p:ext uri="{BB962C8B-B14F-4D97-AF65-F5344CB8AC3E}">
        <p14:creationId xmlns:p14="http://schemas.microsoft.com/office/powerpoint/2010/main" val="3128388399"/>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379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9">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2026/3/11</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5" r:id="rId3"/>
    <p:sldLayoutId id="2147483726" r:id="rId4"/>
    <p:sldLayoutId id="2147483727" r:id="rId5"/>
    <p:sldLayoutId id="2147483728" r:id="rId6"/>
    <p:sldLayoutId id="2147483729" r:id="rId7"/>
  </p:sldLayoutIdLst>
  <p:txStyles>
    <p:title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tags" Target="../tags/tag12.xml"/><Relationship Id="rId18" Type="http://schemas.openxmlformats.org/officeDocument/2006/relationships/image" Target="../media/image4.jpeg"/><Relationship Id="rId3" Type="http://schemas.openxmlformats.org/officeDocument/2006/relationships/tags" Target="../tags/tag2.xml"/><Relationship Id="rId7" Type="http://schemas.openxmlformats.org/officeDocument/2006/relationships/tags" Target="../tags/tag6.xml"/><Relationship Id="rId12" Type="http://schemas.openxmlformats.org/officeDocument/2006/relationships/tags" Target="../tags/tag11.xml"/><Relationship Id="rId17" Type="http://schemas.openxmlformats.org/officeDocument/2006/relationships/image" Target="../media/image3.emf"/><Relationship Id="rId2" Type="http://schemas.openxmlformats.org/officeDocument/2006/relationships/tags" Target="../tags/tag1.xml"/><Relationship Id="rId16" Type="http://schemas.openxmlformats.org/officeDocument/2006/relationships/oleObject" Target="../embeddings/oleObject1.bin"/><Relationship Id="rId1" Type="http://schemas.openxmlformats.org/officeDocument/2006/relationships/vmlDrawing" Target="../drawings/vmlDrawing1.vml"/><Relationship Id="rId6" Type="http://schemas.openxmlformats.org/officeDocument/2006/relationships/tags" Target="../tags/tag5.xml"/><Relationship Id="rId11" Type="http://schemas.openxmlformats.org/officeDocument/2006/relationships/tags" Target="../tags/tag10.xml"/><Relationship Id="rId5" Type="http://schemas.openxmlformats.org/officeDocument/2006/relationships/tags" Target="../tags/tag4.xml"/><Relationship Id="rId15" Type="http://schemas.openxmlformats.org/officeDocument/2006/relationships/notesSlide" Target="../notesSlides/notesSlide2.xml"/><Relationship Id="rId10" Type="http://schemas.openxmlformats.org/officeDocument/2006/relationships/tags" Target="../tags/tag9.xml"/><Relationship Id="rId19" Type="http://schemas.openxmlformats.org/officeDocument/2006/relationships/image" Target="../media/image5.png"/><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tags" Target="../tags/tag34.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 Type="http://schemas.openxmlformats.org/officeDocument/2006/relationships/tags" Target="../tags/tag18.xml"/><Relationship Id="rId16" Type="http://schemas.openxmlformats.org/officeDocument/2006/relationships/tags" Target="../tags/tag32.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tags" Target="../tags/tag31.xml"/><Relationship Id="rId10" Type="http://schemas.openxmlformats.org/officeDocument/2006/relationships/tags" Target="../tags/tag26.xml"/><Relationship Id="rId19" Type="http://schemas.openxmlformats.org/officeDocument/2006/relationships/slideLayout" Target="../slideLayouts/slideLayout2.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s>
</file>

<file path=ppt/slides/_rels/slide1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notesSlide" Target="../notesSlides/notesSlide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26" Type="http://schemas.openxmlformats.org/officeDocument/2006/relationships/tags" Target="../tags/tag73.xml"/><Relationship Id="rId3" Type="http://schemas.openxmlformats.org/officeDocument/2006/relationships/tags" Target="../tags/tag50.xml"/><Relationship Id="rId21" Type="http://schemas.openxmlformats.org/officeDocument/2006/relationships/tags" Target="../tags/tag68.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tags" Target="../tags/tag72.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29" Type="http://schemas.openxmlformats.org/officeDocument/2006/relationships/tags" Target="../tags/tag76.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tags" Target="../tags/tag71.xml"/><Relationship Id="rId32" Type="http://schemas.openxmlformats.org/officeDocument/2006/relationships/notesSlide" Target="../notesSlides/notesSlide10.xml"/><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70.xml"/><Relationship Id="rId28" Type="http://schemas.openxmlformats.org/officeDocument/2006/relationships/tags" Target="../tags/tag75.xml"/><Relationship Id="rId10" Type="http://schemas.openxmlformats.org/officeDocument/2006/relationships/tags" Target="../tags/tag57.xml"/><Relationship Id="rId19" Type="http://schemas.openxmlformats.org/officeDocument/2006/relationships/tags" Target="../tags/tag66.xml"/><Relationship Id="rId31" Type="http://schemas.openxmlformats.org/officeDocument/2006/relationships/slideLayout" Target="../slideLayouts/slideLayout4.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 Id="rId27" Type="http://schemas.openxmlformats.org/officeDocument/2006/relationships/tags" Target="../tags/tag74.xml"/><Relationship Id="rId30" Type="http://schemas.openxmlformats.org/officeDocument/2006/relationships/tags" Target="../tags/tag77.xml"/></Relationships>
</file>

<file path=ppt/slides/_rels/slide13.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tags" Target="../tags/tag90.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image" Target="../media/image8.png"/><Relationship Id="rId2" Type="http://schemas.openxmlformats.org/officeDocument/2006/relationships/tags" Target="../tags/tag79.xml"/><Relationship Id="rId16" Type="http://schemas.openxmlformats.org/officeDocument/2006/relationships/slideLayout" Target="../slideLayouts/slideLayout4.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5" Type="http://schemas.openxmlformats.org/officeDocument/2006/relationships/tags" Target="../tags/tag82.xml"/><Relationship Id="rId15" Type="http://schemas.openxmlformats.org/officeDocument/2006/relationships/tags" Target="../tags/tag92.xml"/><Relationship Id="rId10" Type="http://schemas.openxmlformats.org/officeDocument/2006/relationships/tags" Target="../tags/tag87.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s>
</file>

<file path=ppt/slides/_rels/slide1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slideLayout" Target="../slideLayouts/slideLayout2.xml"/><Relationship Id="rId7" Type="http://schemas.openxmlformats.org/officeDocument/2006/relationships/oleObject" Target="../embeddings/oleObject3.bin"/><Relationship Id="rId2" Type="http://schemas.openxmlformats.org/officeDocument/2006/relationships/tags" Target="../tags/tag93.xml"/><Relationship Id="rId1" Type="http://schemas.openxmlformats.org/officeDocument/2006/relationships/vmlDrawing" Target="../drawings/vmlDrawing2.vml"/><Relationship Id="rId6" Type="http://schemas.openxmlformats.org/officeDocument/2006/relationships/image" Target="../media/image9.emf"/><Relationship Id="rId5" Type="http://schemas.openxmlformats.org/officeDocument/2006/relationships/oleObject" Target="../embeddings/oleObject2.bin"/><Relationship Id="rId10" Type="http://schemas.openxmlformats.org/officeDocument/2006/relationships/image" Target="../media/image11.emf"/><Relationship Id="rId4" Type="http://schemas.openxmlformats.org/officeDocument/2006/relationships/notesSlide" Target="../notesSlides/notesSlide11.xml"/><Relationship Id="rId9"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slideLayout" Target="../slideLayouts/slideLayout2.xml"/><Relationship Id="rId7" Type="http://schemas.openxmlformats.org/officeDocument/2006/relationships/oleObject" Target="../embeddings/oleObject3.bin"/><Relationship Id="rId2" Type="http://schemas.openxmlformats.org/officeDocument/2006/relationships/tags" Target="../tags/tag94.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oleObject" Target="../embeddings/oleObject2.bin"/><Relationship Id="rId10" Type="http://schemas.openxmlformats.org/officeDocument/2006/relationships/image" Target="../media/image11.emf"/><Relationship Id="rId4" Type="http://schemas.openxmlformats.org/officeDocument/2006/relationships/notesSlide" Target="../notesSlides/notesSlide12.xml"/><Relationship Id="rId9"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slideLayout" Target="../slideLayouts/slideLayout2.xml"/><Relationship Id="rId7" Type="http://schemas.openxmlformats.org/officeDocument/2006/relationships/oleObject" Target="../embeddings/oleObject3.bin"/><Relationship Id="rId2" Type="http://schemas.openxmlformats.org/officeDocument/2006/relationships/tags" Target="../tags/tag95.xml"/><Relationship Id="rId1" Type="http://schemas.openxmlformats.org/officeDocument/2006/relationships/vmlDrawing" Target="../drawings/vmlDrawing4.vml"/><Relationship Id="rId6" Type="http://schemas.openxmlformats.org/officeDocument/2006/relationships/image" Target="../media/image9.emf"/><Relationship Id="rId11" Type="http://schemas.openxmlformats.org/officeDocument/2006/relationships/image" Target="../media/image14.png"/><Relationship Id="rId5" Type="http://schemas.openxmlformats.org/officeDocument/2006/relationships/oleObject" Target="../embeddings/oleObject2.bin"/><Relationship Id="rId10" Type="http://schemas.openxmlformats.org/officeDocument/2006/relationships/image" Target="../media/image11.emf"/><Relationship Id="rId4" Type="http://schemas.openxmlformats.org/officeDocument/2006/relationships/notesSlide" Target="../notesSlides/notesSlide13.xml"/><Relationship Id="rId9"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6.emf"/><Relationship Id="rId2" Type="http://schemas.openxmlformats.org/officeDocument/2006/relationships/tags" Target="../tags/tag96.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15.e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9.png"/><Relationship Id="rId2" Type="http://schemas.openxmlformats.org/officeDocument/2006/relationships/slideLayout" Target="../slideLayouts/slideLayout4.xml"/><Relationship Id="rId1" Type="http://schemas.openxmlformats.org/officeDocument/2006/relationships/tags" Target="../tags/tag9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m.sohu.com/n/464524773/?mv=3&amp;partner=sjcl" TargetMode="Externa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2.wmf"/><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13" Type="http://schemas.openxmlformats.org/officeDocument/2006/relationships/tags" Target="../tags/tag109.xml"/><Relationship Id="rId18" Type="http://schemas.openxmlformats.org/officeDocument/2006/relationships/tags" Target="../tags/tag114.xml"/><Relationship Id="rId26" Type="http://schemas.openxmlformats.org/officeDocument/2006/relationships/tags" Target="../tags/tag122.xml"/><Relationship Id="rId39" Type="http://schemas.openxmlformats.org/officeDocument/2006/relationships/tags" Target="../tags/tag135.xml"/><Relationship Id="rId21" Type="http://schemas.openxmlformats.org/officeDocument/2006/relationships/tags" Target="../tags/tag117.xml"/><Relationship Id="rId34" Type="http://schemas.openxmlformats.org/officeDocument/2006/relationships/tags" Target="../tags/tag130.xml"/><Relationship Id="rId42" Type="http://schemas.openxmlformats.org/officeDocument/2006/relationships/tags" Target="../tags/tag138.xml"/><Relationship Id="rId47" Type="http://schemas.openxmlformats.org/officeDocument/2006/relationships/tags" Target="../tags/tag143.xml"/><Relationship Id="rId50" Type="http://schemas.openxmlformats.org/officeDocument/2006/relationships/tags" Target="../tags/tag146.xml"/><Relationship Id="rId55" Type="http://schemas.openxmlformats.org/officeDocument/2006/relationships/oleObject" Target="../embeddings/oleObject10.bin"/><Relationship Id="rId7" Type="http://schemas.openxmlformats.org/officeDocument/2006/relationships/tags" Target="../tags/tag103.xml"/><Relationship Id="rId2" Type="http://schemas.openxmlformats.org/officeDocument/2006/relationships/tags" Target="../tags/tag98.xml"/><Relationship Id="rId16" Type="http://schemas.openxmlformats.org/officeDocument/2006/relationships/tags" Target="../tags/tag112.xml"/><Relationship Id="rId29" Type="http://schemas.openxmlformats.org/officeDocument/2006/relationships/tags" Target="../tags/tag125.xml"/><Relationship Id="rId11" Type="http://schemas.openxmlformats.org/officeDocument/2006/relationships/tags" Target="../tags/tag107.xml"/><Relationship Id="rId24" Type="http://schemas.openxmlformats.org/officeDocument/2006/relationships/tags" Target="../tags/tag120.xml"/><Relationship Id="rId32" Type="http://schemas.openxmlformats.org/officeDocument/2006/relationships/tags" Target="../tags/tag128.xml"/><Relationship Id="rId37" Type="http://schemas.openxmlformats.org/officeDocument/2006/relationships/tags" Target="../tags/tag133.xml"/><Relationship Id="rId40" Type="http://schemas.openxmlformats.org/officeDocument/2006/relationships/tags" Target="../tags/tag136.xml"/><Relationship Id="rId45" Type="http://schemas.openxmlformats.org/officeDocument/2006/relationships/tags" Target="../tags/tag141.xml"/><Relationship Id="rId53" Type="http://schemas.openxmlformats.org/officeDocument/2006/relationships/slideLayout" Target="../slideLayouts/slideLayout4.xml"/><Relationship Id="rId5" Type="http://schemas.openxmlformats.org/officeDocument/2006/relationships/tags" Target="../tags/tag101.xml"/><Relationship Id="rId10" Type="http://schemas.openxmlformats.org/officeDocument/2006/relationships/tags" Target="../tags/tag106.xml"/><Relationship Id="rId19" Type="http://schemas.openxmlformats.org/officeDocument/2006/relationships/tags" Target="../tags/tag115.xml"/><Relationship Id="rId31" Type="http://schemas.openxmlformats.org/officeDocument/2006/relationships/tags" Target="../tags/tag127.xml"/><Relationship Id="rId44" Type="http://schemas.openxmlformats.org/officeDocument/2006/relationships/tags" Target="../tags/tag140.xml"/><Relationship Id="rId52" Type="http://schemas.openxmlformats.org/officeDocument/2006/relationships/tags" Target="../tags/tag148.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tags" Target="../tags/tag110.xml"/><Relationship Id="rId22" Type="http://schemas.openxmlformats.org/officeDocument/2006/relationships/tags" Target="../tags/tag118.xml"/><Relationship Id="rId27" Type="http://schemas.openxmlformats.org/officeDocument/2006/relationships/tags" Target="../tags/tag123.xml"/><Relationship Id="rId30" Type="http://schemas.openxmlformats.org/officeDocument/2006/relationships/tags" Target="../tags/tag126.xml"/><Relationship Id="rId35" Type="http://schemas.openxmlformats.org/officeDocument/2006/relationships/tags" Target="../tags/tag131.xml"/><Relationship Id="rId43" Type="http://schemas.openxmlformats.org/officeDocument/2006/relationships/tags" Target="../tags/tag139.xml"/><Relationship Id="rId48" Type="http://schemas.openxmlformats.org/officeDocument/2006/relationships/tags" Target="../tags/tag144.xml"/><Relationship Id="rId56" Type="http://schemas.openxmlformats.org/officeDocument/2006/relationships/image" Target="../media/image23.emf"/><Relationship Id="rId8" Type="http://schemas.openxmlformats.org/officeDocument/2006/relationships/tags" Target="../tags/tag104.xml"/><Relationship Id="rId51" Type="http://schemas.openxmlformats.org/officeDocument/2006/relationships/tags" Target="../tags/tag147.xml"/><Relationship Id="rId3" Type="http://schemas.openxmlformats.org/officeDocument/2006/relationships/tags" Target="../tags/tag99.xml"/><Relationship Id="rId12" Type="http://schemas.openxmlformats.org/officeDocument/2006/relationships/tags" Target="../tags/tag108.xml"/><Relationship Id="rId17" Type="http://schemas.openxmlformats.org/officeDocument/2006/relationships/tags" Target="../tags/tag113.xml"/><Relationship Id="rId25" Type="http://schemas.openxmlformats.org/officeDocument/2006/relationships/tags" Target="../tags/tag121.xml"/><Relationship Id="rId33" Type="http://schemas.openxmlformats.org/officeDocument/2006/relationships/tags" Target="../tags/tag129.xml"/><Relationship Id="rId38" Type="http://schemas.openxmlformats.org/officeDocument/2006/relationships/tags" Target="../tags/tag134.xml"/><Relationship Id="rId46" Type="http://schemas.openxmlformats.org/officeDocument/2006/relationships/tags" Target="../tags/tag142.xml"/><Relationship Id="rId20" Type="http://schemas.openxmlformats.org/officeDocument/2006/relationships/tags" Target="../tags/tag116.xml"/><Relationship Id="rId41" Type="http://schemas.openxmlformats.org/officeDocument/2006/relationships/tags" Target="../tags/tag137.xml"/><Relationship Id="rId54" Type="http://schemas.openxmlformats.org/officeDocument/2006/relationships/notesSlide" Target="../notesSlides/notesSlide16.xml"/><Relationship Id="rId1" Type="http://schemas.openxmlformats.org/officeDocument/2006/relationships/vmlDrawing" Target="../drawings/vmlDrawing9.vml"/><Relationship Id="rId6" Type="http://schemas.openxmlformats.org/officeDocument/2006/relationships/tags" Target="../tags/tag102.xml"/><Relationship Id="rId15" Type="http://schemas.openxmlformats.org/officeDocument/2006/relationships/tags" Target="../tags/tag111.xml"/><Relationship Id="rId23" Type="http://schemas.openxmlformats.org/officeDocument/2006/relationships/tags" Target="../tags/tag119.xml"/><Relationship Id="rId28" Type="http://schemas.openxmlformats.org/officeDocument/2006/relationships/tags" Target="../tags/tag124.xml"/><Relationship Id="rId36" Type="http://schemas.openxmlformats.org/officeDocument/2006/relationships/tags" Target="../tags/tag132.xml"/><Relationship Id="rId49" Type="http://schemas.openxmlformats.org/officeDocument/2006/relationships/tags" Target="../tags/tag14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tags" Target="../tags/tag161.xml"/><Relationship Id="rId18" Type="http://schemas.openxmlformats.org/officeDocument/2006/relationships/tags" Target="../tags/tag166.xml"/><Relationship Id="rId3" Type="http://schemas.openxmlformats.org/officeDocument/2006/relationships/tags" Target="../tags/tag151.xml"/><Relationship Id="rId7" Type="http://schemas.openxmlformats.org/officeDocument/2006/relationships/tags" Target="../tags/tag155.xml"/><Relationship Id="rId12" Type="http://schemas.openxmlformats.org/officeDocument/2006/relationships/tags" Target="../tags/tag160.xml"/><Relationship Id="rId17" Type="http://schemas.openxmlformats.org/officeDocument/2006/relationships/tags" Target="../tags/tag165.xml"/><Relationship Id="rId2" Type="http://schemas.openxmlformats.org/officeDocument/2006/relationships/tags" Target="../tags/tag150.xml"/><Relationship Id="rId16" Type="http://schemas.openxmlformats.org/officeDocument/2006/relationships/tags" Target="../tags/tag164.xml"/><Relationship Id="rId20" Type="http://schemas.openxmlformats.org/officeDocument/2006/relationships/notesSlide" Target="../notesSlides/notesSlide19.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tags" Target="../tags/tag159.xml"/><Relationship Id="rId5" Type="http://schemas.openxmlformats.org/officeDocument/2006/relationships/tags" Target="../tags/tag153.xml"/><Relationship Id="rId15" Type="http://schemas.openxmlformats.org/officeDocument/2006/relationships/tags" Target="../tags/tag163.xml"/><Relationship Id="rId10" Type="http://schemas.openxmlformats.org/officeDocument/2006/relationships/tags" Target="../tags/tag158.xml"/><Relationship Id="rId19" Type="http://schemas.openxmlformats.org/officeDocument/2006/relationships/slideLayout" Target="../slideLayouts/slideLayout2.xml"/><Relationship Id="rId4" Type="http://schemas.openxmlformats.org/officeDocument/2006/relationships/tags" Target="../tags/tag152.xml"/><Relationship Id="rId9" Type="http://schemas.openxmlformats.org/officeDocument/2006/relationships/tags" Target="../tags/tag157.xml"/><Relationship Id="rId14" Type="http://schemas.openxmlformats.org/officeDocument/2006/relationships/tags" Target="../tags/tag162.xml"/></Relationships>
</file>

<file path=ppt/slides/_rels/slide27.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tags" Target="../tags/tag179.xml"/><Relationship Id="rId18" Type="http://schemas.openxmlformats.org/officeDocument/2006/relationships/tags" Target="../tags/tag184.xml"/><Relationship Id="rId3" Type="http://schemas.openxmlformats.org/officeDocument/2006/relationships/tags" Target="../tags/tag169.xml"/><Relationship Id="rId7" Type="http://schemas.openxmlformats.org/officeDocument/2006/relationships/tags" Target="../tags/tag173.xml"/><Relationship Id="rId12" Type="http://schemas.openxmlformats.org/officeDocument/2006/relationships/tags" Target="../tags/tag178.xml"/><Relationship Id="rId17" Type="http://schemas.openxmlformats.org/officeDocument/2006/relationships/tags" Target="../tags/tag183.xml"/><Relationship Id="rId2" Type="http://schemas.openxmlformats.org/officeDocument/2006/relationships/tags" Target="../tags/tag168.xml"/><Relationship Id="rId16" Type="http://schemas.openxmlformats.org/officeDocument/2006/relationships/tags" Target="../tags/tag182.xml"/><Relationship Id="rId20" Type="http://schemas.openxmlformats.org/officeDocument/2006/relationships/notesSlide" Target="../notesSlides/notesSlide20.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5" Type="http://schemas.openxmlformats.org/officeDocument/2006/relationships/tags" Target="../tags/tag171.xml"/><Relationship Id="rId15" Type="http://schemas.openxmlformats.org/officeDocument/2006/relationships/tags" Target="../tags/tag181.xml"/><Relationship Id="rId10" Type="http://schemas.openxmlformats.org/officeDocument/2006/relationships/tags" Target="../tags/tag176.xml"/><Relationship Id="rId19" Type="http://schemas.openxmlformats.org/officeDocument/2006/relationships/slideLayout" Target="../slideLayouts/slideLayout2.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tags" Target="../tags/tag180.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5.emf"/></Relationships>
</file>

<file path=ppt/slides/_rels/slide29.xml.rels><?xml version="1.0" encoding="UTF-8" standalone="yes"?>
<Relationships xmlns="http://schemas.openxmlformats.org/package/2006/relationships"><Relationship Id="rId3" Type="http://schemas.openxmlformats.org/officeDocument/2006/relationships/slide" Target="slide51.xml"/><Relationship Id="rId7" Type="http://schemas.openxmlformats.org/officeDocument/2006/relationships/image" Target="../media/image25.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3.bin"/><Relationship Id="rId5" Type="http://schemas.openxmlformats.org/officeDocument/2006/relationships/image" Target="../media/image26.emf"/><Relationship Id="rId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7.emf"/><Relationship Id="rId4" Type="http://schemas.openxmlformats.org/officeDocument/2006/relationships/oleObject" Target="../embeddings/oleObject14.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28.wmf"/><Relationship Id="rId4" Type="http://schemas.openxmlformats.org/officeDocument/2006/relationships/package" Target="../embeddings/Microsoft_Visio___.vsdx"/></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9.emf"/><Relationship Id="rId4" Type="http://schemas.openxmlformats.org/officeDocument/2006/relationships/oleObject" Target="../embeddings/oleObject15.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5.vml"/><Relationship Id="rId4" Type="http://schemas.openxmlformats.org/officeDocument/2006/relationships/image" Target="../media/image30.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1.emf"/><Relationship Id="rId4" Type="http://schemas.openxmlformats.org/officeDocument/2006/relationships/oleObject" Target="../embeddings/oleObject17.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32.emf"/><Relationship Id="rId4" Type="http://schemas.openxmlformats.org/officeDocument/2006/relationships/oleObject" Target="../embeddings/oleObject18.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vmlDrawing" Target="../drawings/vmlDrawing18.vml"/><Relationship Id="rId5" Type="http://schemas.openxmlformats.org/officeDocument/2006/relationships/image" Target="../media/image32.emf"/><Relationship Id="rId4" Type="http://schemas.openxmlformats.org/officeDocument/2006/relationships/oleObject" Target="../embeddings/oleObject19.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2.emf"/></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2.emf"/><Relationship Id="rId4" Type="http://schemas.openxmlformats.org/officeDocument/2006/relationships/oleObject" Target="../embeddings/oleObject21.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33.png"/><Relationship Id="rId4" Type="http://schemas.openxmlformats.org/officeDocument/2006/relationships/oleObject" Target="../embeddings/oleObject22.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34.emf"/><Relationship Id="rId4" Type="http://schemas.openxmlformats.org/officeDocument/2006/relationships/oleObject" Target="../embeddings/oleObject23.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56.xml"/><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25.bin"/><Relationship Id="rId5" Type="http://schemas.openxmlformats.org/officeDocument/2006/relationships/image" Target="../media/image35.emf"/><Relationship Id="rId4" Type="http://schemas.openxmlformats.org/officeDocument/2006/relationships/oleObject" Target="../embeddings/oleObject24.bin"/></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35.emf"/></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35.emf"/><Relationship Id="rId4" Type="http://schemas.openxmlformats.org/officeDocument/2006/relationships/oleObject" Target="../embeddings/oleObject27.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37.emf"/><Relationship Id="rId4" Type="http://schemas.openxmlformats.org/officeDocument/2006/relationships/oleObject" Target="../embeddings/oleObject28.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37.emf"/><Relationship Id="rId4" Type="http://schemas.openxmlformats.org/officeDocument/2006/relationships/oleObject" Target="../embeddings/oleObject29.bin"/></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oleObject" Target="../embeddings/oleObject30.bin"/><Relationship Id="rId7" Type="http://schemas.openxmlformats.org/officeDocument/2006/relationships/image" Target="../media/image44.e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31.bin"/><Relationship Id="rId11" Type="http://schemas.openxmlformats.org/officeDocument/2006/relationships/image" Target="../media/image45.jpeg"/><Relationship Id="rId5" Type="http://schemas.openxmlformats.org/officeDocument/2006/relationships/image" Target="../media/image41.jpeg"/><Relationship Id="rId10" Type="http://schemas.openxmlformats.org/officeDocument/2006/relationships/image" Target="../media/image46.emf"/><Relationship Id="rId4" Type="http://schemas.openxmlformats.org/officeDocument/2006/relationships/image" Target="../media/image42.emf"/><Relationship Id="rId9" Type="http://schemas.openxmlformats.org/officeDocument/2006/relationships/oleObject" Target="../embeddings/oleObject32.bin"/></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48.emf"/><Relationship Id="rId4" Type="http://schemas.openxmlformats.org/officeDocument/2006/relationships/package" Target="../embeddings/Microsoft_Visio___1.vsd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67544" y="2067694"/>
            <a:ext cx="5904656" cy="742950"/>
          </a:xfrm>
        </p:spPr>
        <p:txBody>
          <a:bodyPr>
            <a:noAutofit/>
          </a:bodyPr>
          <a:lstStyle/>
          <a:p>
            <a:r>
              <a:rPr lang="zh-CN" altLang="en-US" dirty="0"/>
              <a:t>第二章</a:t>
            </a:r>
            <a:r>
              <a:rPr lang="en-US" altLang="zh-CN" dirty="0"/>
              <a:t> </a:t>
            </a:r>
            <a:r>
              <a:rPr lang="zh-CN" altLang="en-US" dirty="0"/>
              <a:t>词法分析</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64638" cy="1621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E6B5BA4D-E331-4A8E-8467-43F0C8A09083}"/>
              </a:ext>
            </a:extLst>
          </p:cNvPr>
          <p:cNvSpPr txBox="1"/>
          <p:nvPr/>
        </p:nvSpPr>
        <p:spPr>
          <a:xfrm>
            <a:off x="6804248" y="4659982"/>
            <a:ext cx="2088232" cy="369332"/>
          </a:xfrm>
          <a:prstGeom prst="rect">
            <a:avLst/>
          </a:prstGeom>
          <a:noFill/>
        </p:spPr>
        <p:txBody>
          <a:bodyPr wrap="square" rtlCol="0">
            <a:spAutoFit/>
          </a:bodyPr>
          <a:lstStyle/>
          <a:p>
            <a:pPr algn="ctr"/>
            <a:r>
              <a:rPr lang="zh-CN" altLang="en-US" dirty="0">
                <a:solidFill>
                  <a:schemeClr val="bg1"/>
                </a:solidFill>
              </a:rPr>
              <a:t>编译原理课程组</a:t>
            </a:r>
          </a:p>
        </p:txBody>
      </p:sp>
    </p:spTree>
    <p:extLst>
      <p:ext uri="{BB962C8B-B14F-4D97-AF65-F5344CB8AC3E}">
        <p14:creationId xmlns:p14="http://schemas.microsoft.com/office/powerpoint/2010/main" val="310739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539552" y="987574"/>
            <a:ext cx="3672407" cy="3470697"/>
          </a:xfrm>
        </p:spPr>
        <p:txBody>
          <a:bodyPr>
            <a:normAutofit/>
          </a:bodyPr>
          <a:lstStyle/>
          <a:p>
            <a:pPr eaLnBrk="1" hangingPunct="1">
              <a:spcBef>
                <a:spcPct val="30000"/>
              </a:spcBef>
            </a:pPr>
            <a:r>
              <a:rPr kumimoji="1" lang="zh-CN" altLang="en-US" sz="2000" b="1" dirty="0">
                <a:solidFill>
                  <a:srgbClr val="FF0000"/>
                </a:solidFill>
              </a:rPr>
              <a:t>主要内容</a:t>
            </a:r>
            <a:r>
              <a:rPr lang="zh-CN" altLang="en-US" sz="2000" dirty="0"/>
              <a:t>：</a:t>
            </a:r>
            <a:endParaRPr lang="en-US" altLang="zh-CN" sz="2000" dirty="0"/>
          </a:p>
          <a:p>
            <a:pPr lvl="1" eaLnBrk="1" hangingPunct="1">
              <a:spcBef>
                <a:spcPct val="30000"/>
              </a:spcBef>
            </a:pPr>
            <a:r>
              <a:rPr kumimoji="1" lang="zh-CN" altLang="en-US" sz="1800" b="1" dirty="0"/>
              <a:t>词法分析的任务</a:t>
            </a:r>
            <a:endParaRPr kumimoji="1" lang="en-US" altLang="zh-CN" sz="1800" b="1" dirty="0"/>
          </a:p>
          <a:p>
            <a:pPr lvl="1" eaLnBrk="1" hangingPunct="1">
              <a:spcBef>
                <a:spcPct val="30000"/>
              </a:spcBef>
            </a:pPr>
            <a:r>
              <a:rPr kumimoji="1" lang="zh-CN" altLang="en-US" sz="1800" b="1" dirty="0"/>
              <a:t>高级语言中的单词及其分类</a:t>
            </a:r>
            <a:endParaRPr kumimoji="1" lang="en-US" altLang="zh-CN" sz="1800" b="1" dirty="0"/>
          </a:p>
          <a:p>
            <a:pPr lvl="1" eaLnBrk="1" hangingPunct="1">
              <a:spcBef>
                <a:spcPct val="30000"/>
              </a:spcBef>
            </a:pPr>
            <a:r>
              <a:rPr kumimoji="1" lang="zh-CN" altLang="en-US" sz="1800" b="1" dirty="0"/>
              <a:t>单词的识别</a:t>
            </a:r>
            <a:endParaRPr kumimoji="1" lang="en-US" altLang="zh-CN" sz="1800" b="1" dirty="0"/>
          </a:p>
          <a:p>
            <a:pPr lvl="1" eaLnBrk="1" hangingPunct="1">
              <a:spcBef>
                <a:spcPct val="30000"/>
              </a:spcBef>
            </a:pPr>
            <a:r>
              <a:rPr kumimoji="1" lang="zh-CN" altLang="en-US" sz="1800" b="1" dirty="0"/>
              <a:t>手工实现词法分析程序</a:t>
            </a:r>
            <a:endParaRPr kumimoji="1" lang="en-US" altLang="zh-CN" sz="1800" b="1" dirty="0"/>
          </a:p>
          <a:p>
            <a:pPr lvl="1" eaLnBrk="1" hangingPunct="1">
              <a:spcBef>
                <a:spcPct val="30000"/>
              </a:spcBef>
            </a:pPr>
            <a:r>
              <a:rPr kumimoji="1" lang="zh-CN" altLang="en-US" sz="1800" b="1" dirty="0"/>
              <a:t>正则表达式</a:t>
            </a:r>
            <a:r>
              <a:rPr kumimoji="1" lang="zh-CN" altLang="zh-CN" sz="1800" b="1" dirty="0"/>
              <a:t>与</a:t>
            </a:r>
            <a:r>
              <a:rPr kumimoji="1" lang="zh-CN" altLang="en-US" sz="1800" b="1" dirty="0"/>
              <a:t>有穷自动机</a:t>
            </a:r>
            <a:endParaRPr kumimoji="1" lang="en-US" altLang="zh-CN" sz="1800" b="1" dirty="0"/>
          </a:p>
          <a:p>
            <a:pPr lvl="1" eaLnBrk="1" hangingPunct="1">
              <a:spcBef>
                <a:spcPct val="30000"/>
              </a:spcBef>
            </a:pPr>
            <a:r>
              <a:rPr kumimoji="1" lang="zh-CN" altLang="en-US" sz="1800" b="1" dirty="0"/>
              <a:t>词法分析程序的自动生成</a:t>
            </a:r>
            <a:endParaRPr kumimoji="1" lang="en-US" altLang="zh-CN" sz="1800" b="1" dirty="0"/>
          </a:p>
          <a:p>
            <a:pPr lvl="1" eaLnBrk="1" hangingPunct="1">
              <a:spcBef>
                <a:spcPct val="30000"/>
              </a:spcBef>
            </a:pPr>
            <a:r>
              <a:rPr kumimoji="1" lang="zh-CN" altLang="en-US" sz="1800" b="1" dirty="0"/>
              <a:t>词法分析的错误处理</a:t>
            </a:r>
          </a:p>
        </p:txBody>
      </p:sp>
      <p:sp>
        <p:nvSpPr>
          <p:cNvPr id="3075" name="Rectangle 3"/>
          <p:cNvSpPr>
            <a:spLocks noGrp="1" noChangeArrowheads="1"/>
          </p:cNvSpPr>
          <p:nvPr>
            <p:ph type="title"/>
          </p:nvPr>
        </p:nvSpPr>
        <p:spPr>
          <a:xfrm>
            <a:off x="457200" y="151210"/>
            <a:ext cx="8229600" cy="589359"/>
          </a:xfrm>
          <a:noFill/>
        </p:spPr>
        <p:txBody>
          <a:bodyPr>
            <a:normAutofit fontScale="90000"/>
          </a:bodyPr>
          <a:lstStyle/>
          <a:p>
            <a:pPr eaLnBrk="1" hangingPunct="1"/>
            <a:r>
              <a:rPr kumimoji="1" lang="zh-CN" altLang="en-US" sz="5400" b="1">
                <a:solidFill>
                  <a:srgbClr val="663399"/>
                </a:solidFill>
                <a:latin typeface="Times New Roman" pitchFamily="18" charset="0"/>
                <a:ea typeface="隶书" pitchFamily="49" charset="-122"/>
              </a:rPr>
              <a:t>本章要求</a:t>
            </a:r>
          </a:p>
        </p:txBody>
      </p:sp>
      <p:sp>
        <p:nvSpPr>
          <p:cNvPr id="4" name="Rectangle 2"/>
          <p:cNvSpPr txBox="1">
            <a:spLocks noChangeArrowheads="1"/>
          </p:cNvSpPr>
          <p:nvPr/>
        </p:nvSpPr>
        <p:spPr>
          <a:xfrm>
            <a:off x="4355976" y="1059582"/>
            <a:ext cx="4536503" cy="2193131"/>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ct val="30000"/>
              </a:spcBef>
            </a:pPr>
            <a:r>
              <a:rPr kumimoji="1" lang="zh-CN" altLang="en-US" sz="2000" b="1" dirty="0">
                <a:solidFill>
                  <a:srgbClr val="FF0000"/>
                </a:solidFill>
              </a:rPr>
              <a:t>重点掌握：</a:t>
            </a:r>
            <a:endParaRPr kumimoji="1" lang="en-US" altLang="zh-CN" sz="2000" b="1" dirty="0">
              <a:solidFill>
                <a:srgbClr val="FF0000"/>
              </a:solidFill>
            </a:endParaRPr>
          </a:p>
          <a:p>
            <a:pPr lvl="1">
              <a:spcBef>
                <a:spcPct val="30000"/>
              </a:spcBef>
            </a:pPr>
            <a:r>
              <a:rPr kumimoji="1" lang="zh-CN" altLang="en-US" sz="1800" b="1" dirty="0"/>
              <a:t>词法分析器的功能和接口</a:t>
            </a:r>
            <a:endParaRPr kumimoji="1" lang="en-US" altLang="zh-CN" sz="1800" b="1" dirty="0"/>
          </a:p>
          <a:p>
            <a:pPr lvl="1">
              <a:spcBef>
                <a:spcPct val="30000"/>
              </a:spcBef>
            </a:pPr>
            <a:r>
              <a:rPr kumimoji="1" lang="zh-CN" altLang="en-US" sz="1800" b="1" dirty="0"/>
              <a:t>两种识别单词的方法</a:t>
            </a:r>
            <a:endParaRPr kumimoji="1" lang="en-US" altLang="zh-CN" sz="1800" b="1" dirty="0"/>
          </a:p>
          <a:p>
            <a:pPr lvl="2">
              <a:spcBef>
                <a:spcPct val="30000"/>
              </a:spcBef>
            </a:pPr>
            <a:r>
              <a:rPr kumimoji="1" lang="zh-CN" altLang="en-US" sz="1800" b="1" dirty="0"/>
              <a:t>手工编程用状态转换图识别单词</a:t>
            </a:r>
            <a:endParaRPr kumimoji="1" lang="en-US" altLang="zh-CN" sz="1800" b="1" dirty="0"/>
          </a:p>
          <a:p>
            <a:pPr lvl="2">
              <a:spcBef>
                <a:spcPct val="30000"/>
              </a:spcBef>
            </a:pPr>
            <a:r>
              <a:rPr kumimoji="1" lang="zh-CN" altLang="en-US" sz="1800" b="1" dirty="0"/>
              <a:t>自动生成程序识别单词（重点是原理，</a:t>
            </a:r>
            <a:r>
              <a:rPr kumimoji="1" lang="en-US" altLang="zh-CN" sz="1800" b="1" dirty="0"/>
              <a:t>RE</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800" b="1" dirty="0"/>
              <a:t>NFA</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800" b="1" dirty="0"/>
              <a:t>DFA</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1800" b="1" dirty="0"/>
              <a:t>最小化</a:t>
            </a:r>
            <a:r>
              <a:rPr kumimoji="1" lang="en-US" altLang="zh-CN" sz="1800" b="1" dirty="0"/>
              <a:t>DFA</a:t>
            </a:r>
            <a:r>
              <a:rPr kumimoji="1" lang="zh-CN" altLang="en-US" sz="1800" b="1" dirty="0"/>
              <a:t>）</a:t>
            </a:r>
            <a:endParaRPr kumimoji="1" lang="zh-CN" altLang="en-US" sz="1800" b="1" dirty="0">
              <a:hlinkClick r:id="rId3" action="ppaction://hlinksldjump"/>
            </a:endParaRPr>
          </a:p>
        </p:txBody>
      </p:sp>
    </p:spTree>
    <p:extLst>
      <p:ext uri="{BB962C8B-B14F-4D97-AF65-F5344CB8AC3E}">
        <p14:creationId xmlns:p14="http://schemas.microsoft.com/office/powerpoint/2010/main" val="667259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5"/>
          <p:cNvGraphicFramePr>
            <a:graphicFrameLocks noChangeAspect="1"/>
          </p:cNvGraphicFramePr>
          <p:nvPr>
            <p:extLst>
              <p:ext uri="{D42A27DB-BD31-4B8C-83A1-F6EECF244321}">
                <p14:modId xmlns:p14="http://schemas.microsoft.com/office/powerpoint/2010/main" val="673408942"/>
              </p:ext>
            </p:extLst>
          </p:nvPr>
        </p:nvGraphicFramePr>
        <p:xfrm>
          <a:off x="763167" y="1329690"/>
          <a:ext cx="4958978" cy="2610212"/>
        </p:xfrm>
        <a:graphic>
          <a:graphicData uri="http://schemas.openxmlformats.org/presentationml/2006/ole">
            <mc:AlternateContent xmlns:mc="http://schemas.openxmlformats.org/markup-compatibility/2006">
              <mc:Choice xmlns:v="urn:schemas-microsoft-com:vml" Requires="v">
                <p:oleObj spid="_x0000_s13326" name="Visio" r:id="rId16" imgW="6299200" imgH="3276600" progId="Visio.Drawing.11">
                  <p:embed/>
                </p:oleObj>
              </mc:Choice>
              <mc:Fallback>
                <p:oleObj name="Visio" r:id="rId16" imgW="6299200" imgH="3276600" progId="Visio.Drawing.11">
                  <p:embed/>
                  <p:pic>
                    <p:nvPicPr>
                      <p:cNvPr id="8" name="对象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3167" y="1329690"/>
                        <a:ext cx="4958978" cy="2610212"/>
                      </a:xfrm>
                      <a:prstGeom prst="rect">
                        <a:avLst/>
                      </a:prstGeom>
                      <a:noFill/>
                      <a:ln>
                        <a:noFill/>
                      </a:ln>
                    </p:spPr>
                  </p:pic>
                </p:oleObj>
              </mc:Fallback>
            </mc:AlternateContent>
          </a:graphicData>
        </a:graphic>
      </p:graphicFrame>
      <p:sp>
        <p:nvSpPr>
          <p:cNvPr id="3" name="框架 1"/>
          <p:cNvSpPr/>
          <p:nvPr>
            <p:custDataLst>
              <p:tags r:id="rId3"/>
            </p:custDataLst>
          </p:nvPr>
        </p:nvSpPr>
        <p:spPr>
          <a:xfrm>
            <a:off x="1273554" y="2063058"/>
            <a:ext cx="346117" cy="1228772"/>
          </a:xfrm>
          <a:prstGeom prst="frame">
            <a:avLst/>
          </a:prstGeom>
          <a:solidFill>
            <a:srgbClr val="C00000"/>
          </a:solidFill>
          <a:ln>
            <a:solidFill>
              <a:schemeClr val="accent3">
                <a:shade val="50000"/>
                <a:lumMod val="60000"/>
                <a:lumOff val="4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sz="1350">
              <a:solidFill>
                <a:schemeClr val="dk1"/>
              </a:solidFill>
              <a:latin typeface="幼圆" panose="02010509060101010101" charset="-122"/>
              <a:ea typeface="幼圆" panose="02010509060101010101" charset="-122"/>
            </a:endParaRPr>
          </a:p>
        </p:txBody>
      </p:sp>
      <p:pic>
        <p:nvPicPr>
          <p:cNvPr id="100" name="图片 99"/>
          <p:cNvPicPr/>
          <p:nvPr/>
        </p:nvPicPr>
        <p:blipFill>
          <a:blip r:embed="rId18"/>
          <a:stretch>
            <a:fillRect/>
          </a:stretch>
        </p:blipFill>
        <p:spPr>
          <a:xfrm>
            <a:off x="6696214" y="2931790"/>
            <a:ext cx="2052249" cy="1152128"/>
          </a:xfrm>
          <a:prstGeom prst="rect">
            <a:avLst/>
          </a:prstGeom>
          <a:noFill/>
          <a:ln w="9525">
            <a:noFill/>
          </a:ln>
        </p:spPr>
      </p:pic>
      <p:pic>
        <p:nvPicPr>
          <p:cNvPr id="4" name="图片 3"/>
          <p:cNvPicPr>
            <a:picLocks noChangeAspect="1"/>
          </p:cNvPicPr>
          <p:nvPr/>
        </p:nvPicPr>
        <p:blipFill>
          <a:blip r:embed="rId19"/>
          <a:stretch>
            <a:fillRect/>
          </a:stretch>
        </p:blipFill>
        <p:spPr>
          <a:xfrm>
            <a:off x="6732240" y="1364456"/>
            <a:ext cx="1884998" cy="1207294"/>
          </a:xfrm>
          <a:prstGeom prst="rect">
            <a:avLst/>
          </a:prstGeom>
          <a:effectLst>
            <a:outerShdw blurRad="50800" dist="38100" dir="2700000" algn="tl" rotWithShape="0">
              <a:prstClr val="black">
                <a:alpha val="40000"/>
              </a:prstClr>
            </a:outerShdw>
          </a:effectLst>
        </p:spPr>
      </p:pic>
      <p:sp>
        <p:nvSpPr>
          <p:cNvPr id="14" name="文本框 13"/>
          <p:cNvSpPr txBox="1"/>
          <p:nvPr>
            <p:custDataLst>
              <p:tags r:id="rId4"/>
            </p:custDataLst>
          </p:nvPr>
        </p:nvSpPr>
        <p:spPr>
          <a:xfrm>
            <a:off x="1877378" y="722948"/>
            <a:ext cx="3137535" cy="320516"/>
          </a:xfrm>
          <a:prstGeom prst="rect">
            <a:avLst/>
          </a:prstGeom>
          <a:noFill/>
        </p:spPr>
        <p:txBody>
          <a:bodyPr wrap="square" rtlCol="0">
            <a:noAutofit/>
          </a:bodyPr>
          <a:lstStyle/>
          <a:p>
            <a:r>
              <a:rPr lang="zh-CN" altLang="en-US" b="1" dirty="0">
                <a:solidFill>
                  <a:schemeClr val="tx1">
                    <a:lumMod val="85000"/>
                    <a:lumOff val="15000"/>
                  </a:schemeClr>
                </a:solidFill>
                <a:latin typeface="微软雅黑" panose="020B0503020204020204" charset="-122"/>
                <a:ea typeface="微软雅黑" panose="020B0503020204020204" charset="-122"/>
              </a:rPr>
              <a:t>编译程序概述（回顾）</a:t>
            </a:r>
          </a:p>
        </p:txBody>
      </p:sp>
      <p:grpSp>
        <p:nvGrpSpPr>
          <p:cNvPr id="45" name="组合 44"/>
          <p:cNvGrpSpPr/>
          <p:nvPr/>
        </p:nvGrpSpPr>
        <p:grpSpPr>
          <a:xfrm>
            <a:off x="1356837" y="1043464"/>
            <a:ext cx="3040856" cy="58579"/>
            <a:chOff x="2151257" y="846847"/>
            <a:chExt cx="8654604" cy="77273"/>
          </a:xfrm>
          <a:solidFill>
            <a:schemeClr val="accent1">
              <a:lumMod val="40000"/>
              <a:lumOff val="60000"/>
            </a:schemeClr>
          </a:solidFill>
        </p:grpSpPr>
        <p:sp>
          <p:nvSpPr>
            <p:cNvPr id="46" name="矩形 45"/>
            <p:cNvSpPr/>
            <p:nvPr>
              <p:custDataLst>
                <p:tags r:id="rId7"/>
              </p:custDataLst>
            </p:nvPr>
          </p:nvSpPr>
          <p:spPr>
            <a:xfrm>
              <a:off x="2151257"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47" name="矩形 46"/>
            <p:cNvSpPr/>
            <p:nvPr>
              <p:custDataLst>
                <p:tags r:id="rId8"/>
              </p:custDataLst>
            </p:nvPr>
          </p:nvSpPr>
          <p:spPr>
            <a:xfrm>
              <a:off x="3387629"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48" name="矩形 47"/>
            <p:cNvSpPr/>
            <p:nvPr>
              <p:custDataLst>
                <p:tags r:id="rId9"/>
              </p:custDataLst>
            </p:nvPr>
          </p:nvSpPr>
          <p:spPr>
            <a:xfrm>
              <a:off x="4624001"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49" name="矩形 48"/>
            <p:cNvSpPr/>
            <p:nvPr>
              <p:custDataLst>
                <p:tags r:id="rId10"/>
              </p:custDataLst>
            </p:nvPr>
          </p:nvSpPr>
          <p:spPr>
            <a:xfrm>
              <a:off x="5860373"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50" name="矩形 49"/>
            <p:cNvSpPr/>
            <p:nvPr>
              <p:custDataLst>
                <p:tags r:id="rId11"/>
              </p:custDataLst>
            </p:nvPr>
          </p:nvSpPr>
          <p:spPr>
            <a:xfrm>
              <a:off x="7096745"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51" name="矩形 50"/>
            <p:cNvSpPr/>
            <p:nvPr>
              <p:custDataLst>
                <p:tags r:id="rId12"/>
              </p:custDataLst>
            </p:nvPr>
          </p:nvSpPr>
          <p:spPr>
            <a:xfrm>
              <a:off x="8333117"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52" name="矩形 51"/>
            <p:cNvSpPr/>
            <p:nvPr>
              <p:custDataLst>
                <p:tags r:id="rId13"/>
              </p:custDataLst>
            </p:nvPr>
          </p:nvSpPr>
          <p:spPr>
            <a:xfrm>
              <a:off x="9569489"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54" name="矩形: 圆角 53"/>
          <p:cNvSpPr/>
          <p:nvPr>
            <p:custDataLst>
              <p:tags r:id="rId5"/>
            </p:custDataLst>
          </p:nvPr>
        </p:nvSpPr>
        <p:spPr>
          <a:xfrm>
            <a:off x="1356814" y="770450"/>
            <a:ext cx="521483" cy="313536"/>
          </a:xfrm>
          <a:prstGeom prst="roundRect">
            <a:avLst>
              <a:gd name="adj" fmla="val 8973"/>
            </a:avLst>
          </a:prstGeom>
          <a:solidFill>
            <a:schemeClr val="accent1">
              <a:lumMod val="40000"/>
              <a:lumOff val="60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任意多边形 34"/>
          <p:cNvSpPr/>
          <p:nvPr>
            <p:custDataLst>
              <p:tags r:id="rId6"/>
            </p:custDataLst>
          </p:nvPr>
        </p:nvSpPr>
        <p:spPr>
          <a:xfrm>
            <a:off x="1282732" y="722549"/>
            <a:ext cx="711596" cy="400335"/>
          </a:xfrm>
          <a:custGeom>
            <a:avLst/>
            <a:gdLst>
              <a:gd name="connsiteX0" fmla="*/ 0 w 1262130"/>
              <a:gd name="connsiteY0" fmla="*/ 0 h 785611"/>
              <a:gd name="connsiteX1" fmla="*/ 949818 w 1262130"/>
              <a:gd name="connsiteY1" fmla="*/ 0 h 785611"/>
              <a:gd name="connsiteX2" fmla="*/ 1262130 w 1262130"/>
              <a:gd name="connsiteY2" fmla="*/ 785611 h 785611"/>
              <a:gd name="connsiteX3" fmla="*/ 0 w 1262130"/>
              <a:gd name="connsiteY3" fmla="*/ 785611 h 785611"/>
            </a:gdLst>
            <a:ahLst/>
            <a:cxnLst>
              <a:cxn ang="0">
                <a:pos x="connsiteX0" y="connsiteY0"/>
              </a:cxn>
              <a:cxn ang="0">
                <a:pos x="connsiteX1" y="connsiteY1"/>
              </a:cxn>
              <a:cxn ang="0">
                <a:pos x="connsiteX2" y="connsiteY2"/>
              </a:cxn>
              <a:cxn ang="0">
                <a:pos x="connsiteX3" y="connsiteY3"/>
              </a:cxn>
            </a:cxnLst>
            <a:rect l="l" t="t" r="r" b="b"/>
            <a:pathLst>
              <a:path w="1262130" h="785611">
                <a:moveTo>
                  <a:pt x="0" y="0"/>
                </a:moveTo>
                <a:lnTo>
                  <a:pt x="949818" y="0"/>
                </a:lnTo>
                <a:lnTo>
                  <a:pt x="1262130" y="785611"/>
                </a:lnTo>
                <a:lnTo>
                  <a:pt x="0" y="785611"/>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lumMod val="50000"/>
                    <a:lumOff val="50000"/>
                  </a:schemeClr>
                </a:solidFill>
                <a:latin typeface="微软雅黑" panose="020B0503020204020204" charset="-122"/>
                <a:ea typeface="微软雅黑" panose="020B0503020204020204" charset="-122"/>
              </a:rPr>
              <a:t>03</a:t>
            </a:r>
          </a:p>
        </p:txBody>
      </p:sp>
    </p:spTree>
    <p:custDataLst>
      <p:tags r:id="rId2"/>
    </p:custDataLst>
  </p:cSld>
  <p:clrMapOvr>
    <a:masterClrMapping/>
  </p:clrMapOvr>
  <p:transition advTm="3533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blinds(horizontal)">
                                      <p:cBhvr>
                                        <p:cTn id="10" dur="500"/>
                                        <p:tgtEl>
                                          <p:spTgt spid="10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709738" y="0"/>
            <a:ext cx="5829300" cy="779860"/>
          </a:xfrm>
        </p:spPr>
        <p:txBody>
          <a:bodyPr vert="horz" wrap="square" lIns="68580" tIns="34290" rIns="68580" bIns="34290" rtlCol="0" anchor="ctr" anchorCtr="0">
            <a:normAutofit/>
            <a:scene3d>
              <a:camera prst="orthographicFront"/>
              <a:lightRig rig="soft" dir="t"/>
            </a:scene3d>
            <a:sp3d prstMaterial="softEdge">
              <a:bevelT w="25400" h="25400"/>
            </a:sp3d>
          </a:bodyPr>
          <a:lstStyle/>
          <a:p>
            <a:pPr eaLnBrk="1" hangingPunct="1"/>
            <a:r>
              <a:rPr lang="en-US" altLang="zh-CN" sz="4050" dirty="0">
                <a:solidFill>
                  <a:srgbClr val="CC0099"/>
                </a:solidFill>
                <a:latin typeface="Times New Roman" panose="02020603050405020304" pitchFamily="18" charset="0"/>
              </a:rPr>
              <a:t>2.1 </a:t>
            </a:r>
            <a:r>
              <a:rPr lang="zh-CN" altLang="en-US" sz="4050" dirty="0">
                <a:solidFill>
                  <a:srgbClr val="CC0099"/>
                </a:solidFill>
                <a:latin typeface="Times New Roman" panose="02020603050405020304" pitchFamily="18" charset="0"/>
              </a:rPr>
              <a:t>词法分析器概述</a:t>
            </a:r>
          </a:p>
        </p:txBody>
      </p:sp>
      <p:sp>
        <p:nvSpPr>
          <p:cNvPr id="5123" name="Rectangle 3"/>
          <p:cNvSpPr>
            <a:spLocks noGrp="1"/>
          </p:cNvSpPr>
          <p:nvPr>
            <p:ph idx="1"/>
          </p:nvPr>
        </p:nvSpPr>
        <p:spPr>
          <a:xfrm>
            <a:off x="1428751" y="1028700"/>
            <a:ext cx="6318647" cy="3714750"/>
          </a:xfrm>
        </p:spPr>
        <p:txBody>
          <a:bodyPr vert="horz" wrap="square" lIns="68580" tIns="34290" rIns="68580" bIns="34290" anchor="t" anchorCtr="0">
            <a:normAutofit/>
          </a:bodyPr>
          <a:lstStyle/>
          <a:p>
            <a:pPr eaLnBrk="1" hangingPunct="1"/>
            <a:r>
              <a:rPr lang="zh-CN" altLang="en-US" sz="2100" dirty="0">
                <a:solidFill>
                  <a:srgbClr val="0000CC"/>
                </a:solidFill>
              </a:rPr>
              <a:t>功能：</a:t>
            </a:r>
          </a:p>
          <a:p>
            <a:pPr lvl="1" eaLnBrk="1" hangingPunct="1"/>
            <a:endParaRPr lang="zh-CN" altLang="en-US" sz="1800" dirty="0"/>
          </a:p>
          <a:p>
            <a:pPr lvl="1" eaLnBrk="1" hangingPunct="1"/>
            <a:endParaRPr lang="zh-CN" altLang="en-US" sz="1800" dirty="0"/>
          </a:p>
          <a:p>
            <a:pPr lvl="1" eaLnBrk="1" hangingPunct="1"/>
            <a:r>
              <a:rPr lang="zh-CN" altLang="en-US" sz="1800" dirty="0"/>
              <a:t>逐个读入源程序字符并按照构词规则切分成一系列单词</a:t>
            </a:r>
            <a:endParaRPr lang="zh-CN" altLang="en-US" sz="1500" dirty="0"/>
          </a:p>
          <a:p>
            <a:pPr eaLnBrk="1" hangingPunct="1"/>
            <a:r>
              <a:rPr lang="zh-CN" altLang="en-US" sz="2100" dirty="0">
                <a:solidFill>
                  <a:srgbClr val="0000CC"/>
                </a:solidFill>
              </a:rPr>
              <a:t>主要任务：</a:t>
            </a:r>
            <a:endParaRPr lang="zh-CN" altLang="en-US" sz="2100" dirty="0"/>
          </a:p>
          <a:p>
            <a:pPr lvl="1"/>
            <a:r>
              <a:rPr lang="zh-CN" altLang="zh-CN" sz="1800" dirty="0"/>
              <a:t>扫描源程序，从源文件中读入字符流到输入缓冲区中。</a:t>
            </a:r>
          </a:p>
          <a:p>
            <a:pPr lvl="1"/>
            <a:r>
              <a:rPr lang="zh-CN" altLang="zh-CN" sz="1800" dirty="0"/>
              <a:t>按构词规则识别单词，输出单词本身及其种别码。</a:t>
            </a:r>
          </a:p>
          <a:p>
            <a:pPr lvl="1"/>
            <a:r>
              <a:rPr lang="zh-CN" altLang="zh-CN" sz="1800" dirty="0"/>
              <a:t>滤掉源程序中的无用成分</a:t>
            </a:r>
            <a:endParaRPr lang="en-US" altLang="zh-CN" sz="1800" dirty="0"/>
          </a:p>
          <a:p>
            <a:pPr lvl="1"/>
            <a:r>
              <a:rPr lang="zh-CN" altLang="zh-CN" sz="1800" dirty="0"/>
              <a:t>调用出错处理程序，识别并定位错误。</a:t>
            </a:r>
          </a:p>
          <a:p>
            <a:pPr eaLnBrk="1" hangingPunct="1"/>
            <a:r>
              <a:rPr lang="zh-CN" altLang="en-US" sz="2100" dirty="0">
                <a:solidFill>
                  <a:srgbClr val="0000CC"/>
                </a:solidFill>
              </a:rPr>
              <a:t>关键：</a:t>
            </a:r>
            <a:r>
              <a:rPr lang="zh-CN" altLang="en-US" sz="1800" dirty="0"/>
              <a:t>找出单词的分隔符</a:t>
            </a:r>
          </a:p>
        </p:txBody>
      </p:sp>
      <p:grpSp>
        <p:nvGrpSpPr>
          <p:cNvPr id="7172" name="Group 12"/>
          <p:cNvGrpSpPr/>
          <p:nvPr/>
        </p:nvGrpSpPr>
        <p:grpSpPr>
          <a:xfrm>
            <a:off x="1645444" y="1314450"/>
            <a:ext cx="5973366" cy="685800"/>
            <a:chOff x="576" y="1104"/>
            <a:chExt cx="5017" cy="576"/>
          </a:xfrm>
        </p:grpSpPr>
        <p:sp>
          <p:nvSpPr>
            <p:cNvPr id="7173" name="AutoShape 4"/>
            <p:cNvSpPr/>
            <p:nvPr/>
          </p:nvSpPr>
          <p:spPr>
            <a:xfrm>
              <a:off x="576" y="1152"/>
              <a:ext cx="745" cy="480"/>
            </a:xfrm>
            <a:prstGeom prst="roundRect">
              <a:avLst>
                <a:gd name="adj" fmla="val 16667"/>
              </a:avLst>
            </a:prstGeom>
            <a:solidFill>
              <a:schemeClr val="bg1">
                <a:alpha val="50195"/>
              </a:schemeClr>
            </a:solidFill>
            <a:ln w="9525" cap="flat" cmpd="sng">
              <a:solidFill>
                <a:srgbClr val="FFFF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r>
                <a:rPr lang="zh-CN" altLang="en-US" sz="1800" dirty="0">
                  <a:latin typeface="Times New Roman" panose="02020603050405020304" pitchFamily="18" charset="0"/>
                </a:rPr>
                <a:t>源程序</a:t>
              </a:r>
            </a:p>
          </p:txBody>
        </p:sp>
        <p:sp>
          <p:nvSpPr>
            <p:cNvPr id="7174" name="AutoShape 5"/>
            <p:cNvSpPr/>
            <p:nvPr/>
          </p:nvSpPr>
          <p:spPr>
            <a:xfrm>
              <a:off x="2135" y="1152"/>
              <a:ext cx="1330" cy="480"/>
            </a:xfrm>
            <a:prstGeom prst="roundRect">
              <a:avLst>
                <a:gd name="adj" fmla="val 16667"/>
              </a:avLst>
            </a:prstGeom>
            <a:solidFill>
              <a:srgbClr val="66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r>
                <a:rPr lang="zh-CN" altLang="en-US" sz="1800" dirty="0">
                  <a:latin typeface="Times New Roman" panose="02020603050405020304" pitchFamily="18" charset="0"/>
                </a:rPr>
                <a:t>词法分析程序</a:t>
              </a:r>
            </a:p>
          </p:txBody>
        </p:sp>
        <p:sp>
          <p:nvSpPr>
            <p:cNvPr id="7175" name="AutoShape 6"/>
            <p:cNvSpPr/>
            <p:nvPr/>
          </p:nvSpPr>
          <p:spPr>
            <a:xfrm>
              <a:off x="1374" y="1350"/>
              <a:ext cx="745" cy="145"/>
            </a:xfrm>
            <a:prstGeom prst="rightArrow">
              <a:avLst>
                <a:gd name="adj1" fmla="val 50000"/>
                <a:gd name="adj2" fmla="val 128448"/>
              </a:avLst>
            </a:prstGeom>
            <a:solidFill>
              <a:srgbClr val="66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2100" dirty="0"/>
            </a:p>
          </p:txBody>
        </p:sp>
        <p:sp>
          <p:nvSpPr>
            <p:cNvPr id="7176" name="AutoShape 7"/>
            <p:cNvSpPr/>
            <p:nvPr/>
          </p:nvSpPr>
          <p:spPr>
            <a:xfrm>
              <a:off x="3518" y="1344"/>
              <a:ext cx="798" cy="144"/>
            </a:xfrm>
            <a:prstGeom prst="rightArrow">
              <a:avLst>
                <a:gd name="adj1" fmla="val 50000"/>
                <a:gd name="adj2" fmla="val 138541"/>
              </a:avLst>
            </a:prstGeom>
            <a:solidFill>
              <a:srgbClr val="66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2100" dirty="0"/>
            </a:p>
          </p:txBody>
        </p:sp>
        <p:sp>
          <p:nvSpPr>
            <p:cNvPr id="7177" name="Text Box 8"/>
            <p:cNvSpPr txBox="1"/>
            <p:nvPr/>
          </p:nvSpPr>
          <p:spPr>
            <a:xfrm>
              <a:off x="3437" y="1104"/>
              <a:ext cx="885" cy="3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latin typeface="Times New Roman" panose="02020603050405020304" pitchFamily="18" charset="0"/>
                </a:rPr>
                <a:t>Token</a:t>
              </a:r>
              <a:r>
                <a:rPr lang="zh-CN" altLang="en-US" sz="1800" dirty="0">
                  <a:latin typeface="Times New Roman" panose="02020603050405020304" pitchFamily="18" charset="0"/>
                </a:rPr>
                <a:t>串</a:t>
              </a:r>
            </a:p>
          </p:txBody>
        </p:sp>
        <p:sp>
          <p:nvSpPr>
            <p:cNvPr id="7178" name="AutoShape 9"/>
            <p:cNvSpPr/>
            <p:nvPr/>
          </p:nvSpPr>
          <p:spPr>
            <a:xfrm>
              <a:off x="4316" y="1200"/>
              <a:ext cx="1277" cy="480"/>
            </a:xfrm>
            <a:prstGeom prst="roundRect">
              <a:avLst>
                <a:gd name="adj" fmla="val 16667"/>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r>
                <a:rPr lang="zh-CN" altLang="en-US" sz="1800" dirty="0">
                  <a:latin typeface="Times New Roman" panose="02020603050405020304" pitchFamily="18" charset="0"/>
                </a:rPr>
                <a:t>语法分析程序</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23">
                                            <p:txEl>
                                              <p:pRg st="3" end="3"/>
                                            </p:txEl>
                                          </p:spTgt>
                                        </p:tgtEl>
                                        <p:attrNameLst>
                                          <p:attrName>style.visibility</p:attrName>
                                        </p:attrNameLst>
                                      </p:cBhvr>
                                      <p:to>
                                        <p:strVal val="visible"/>
                                      </p:to>
                                    </p:set>
                                    <p:anim calcmode="lin" valueType="num">
                                      <p:cBhvr additive="base">
                                        <p:cTn id="11" dur="10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51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anim calcmode="lin" valueType="num">
                                      <p:cBhvr additive="base">
                                        <p:cTn id="17" dur="10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512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123">
                                            <p:txEl>
                                              <p:pRg st="5" end="5"/>
                                            </p:txEl>
                                          </p:spTgt>
                                        </p:tgtEl>
                                        <p:attrNameLst>
                                          <p:attrName>style.visibility</p:attrName>
                                        </p:attrNameLst>
                                      </p:cBhvr>
                                      <p:to>
                                        <p:strVal val="visible"/>
                                      </p:to>
                                    </p:set>
                                    <p:anim calcmode="lin" valueType="num">
                                      <p:cBhvr additive="base">
                                        <p:cTn id="21" dur="10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512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anim calcmode="lin" valueType="num">
                                      <p:cBhvr additive="base">
                                        <p:cTn id="25" dur="1000" fill="hold"/>
                                        <p:tgtEl>
                                          <p:spTgt spid="5123">
                                            <p:txEl>
                                              <p:pRg st="6" end="6"/>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512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123">
                                            <p:txEl>
                                              <p:pRg st="7" end="7"/>
                                            </p:txEl>
                                          </p:spTgt>
                                        </p:tgtEl>
                                        <p:attrNameLst>
                                          <p:attrName>style.visibility</p:attrName>
                                        </p:attrNameLst>
                                      </p:cBhvr>
                                      <p:to>
                                        <p:strVal val="visible"/>
                                      </p:to>
                                    </p:set>
                                    <p:anim calcmode="lin" valueType="num">
                                      <p:cBhvr additive="base">
                                        <p:cTn id="29" dur="1000" fill="hold"/>
                                        <p:tgtEl>
                                          <p:spTgt spid="5123">
                                            <p:txEl>
                                              <p:pRg st="7" end="7"/>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512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123">
                                            <p:txEl>
                                              <p:pRg st="8" end="8"/>
                                            </p:txEl>
                                          </p:spTgt>
                                        </p:tgtEl>
                                        <p:attrNameLst>
                                          <p:attrName>style.visibility</p:attrName>
                                        </p:attrNameLst>
                                      </p:cBhvr>
                                      <p:to>
                                        <p:strVal val="visible"/>
                                      </p:to>
                                    </p:set>
                                    <p:anim calcmode="lin" valueType="num">
                                      <p:cBhvr additive="base">
                                        <p:cTn id="33" dur="1000" fill="hold"/>
                                        <p:tgtEl>
                                          <p:spTgt spid="5123">
                                            <p:txEl>
                                              <p:pRg st="8" end="8"/>
                                            </p:txEl>
                                          </p:spTgt>
                                        </p:tgtEl>
                                        <p:attrNameLst>
                                          <p:attrName>ppt_x</p:attrName>
                                        </p:attrNameLst>
                                      </p:cBhvr>
                                      <p:tavLst>
                                        <p:tav tm="0">
                                          <p:val>
                                            <p:strVal val="#ppt_x"/>
                                          </p:val>
                                        </p:tav>
                                        <p:tav tm="100000">
                                          <p:val>
                                            <p:strVal val="#ppt_x"/>
                                          </p:val>
                                        </p:tav>
                                      </p:tavLst>
                                    </p:anim>
                                    <p:anim calcmode="lin" valueType="num">
                                      <p:cBhvr additive="base">
                                        <p:cTn id="34" dur="1000" fill="hold"/>
                                        <p:tgtEl>
                                          <p:spTgt spid="512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123">
                                            <p:txEl>
                                              <p:pRg st="9" end="9"/>
                                            </p:txEl>
                                          </p:spTgt>
                                        </p:tgtEl>
                                        <p:attrNameLst>
                                          <p:attrName>style.visibility</p:attrName>
                                        </p:attrNameLst>
                                      </p:cBhvr>
                                      <p:to>
                                        <p:strVal val="visible"/>
                                      </p:to>
                                    </p:set>
                                    <p:anim calcmode="lin" valueType="num">
                                      <p:cBhvr additive="base">
                                        <p:cTn id="39" dur="1000" fill="hold"/>
                                        <p:tgtEl>
                                          <p:spTgt spid="5123">
                                            <p:txEl>
                                              <p:pRg st="9" end="9"/>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512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356837" y="1081564"/>
            <a:ext cx="3371374" cy="57150"/>
            <a:chOff x="2151257" y="846847"/>
            <a:chExt cx="8654604" cy="77273"/>
          </a:xfrm>
          <a:solidFill>
            <a:schemeClr val="accent1">
              <a:lumMod val="40000"/>
              <a:lumOff val="60000"/>
            </a:schemeClr>
          </a:solidFill>
        </p:grpSpPr>
        <p:sp>
          <p:nvSpPr>
            <p:cNvPr id="46" name="矩形 45"/>
            <p:cNvSpPr/>
            <p:nvPr/>
          </p:nvSpPr>
          <p:spPr>
            <a:xfrm>
              <a:off x="2151257"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47" name="矩形 46"/>
            <p:cNvSpPr/>
            <p:nvPr/>
          </p:nvSpPr>
          <p:spPr>
            <a:xfrm>
              <a:off x="3387629"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48" name="矩形 47"/>
            <p:cNvSpPr/>
            <p:nvPr/>
          </p:nvSpPr>
          <p:spPr>
            <a:xfrm>
              <a:off x="4624001"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49" name="矩形 48"/>
            <p:cNvSpPr/>
            <p:nvPr/>
          </p:nvSpPr>
          <p:spPr>
            <a:xfrm>
              <a:off x="5860373"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50" name="矩形 49"/>
            <p:cNvSpPr/>
            <p:nvPr/>
          </p:nvSpPr>
          <p:spPr>
            <a:xfrm>
              <a:off x="7096745"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51" name="矩形 50"/>
            <p:cNvSpPr/>
            <p:nvPr/>
          </p:nvSpPr>
          <p:spPr>
            <a:xfrm>
              <a:off x="8333117"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52" name="矩形 51"/>
            <p:cNvSpPr/>
            <p:nvPr/>
          </p:nvSpPr>
          <p:spPr>
            <a:xfrm>
              <a:off x="9569489"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53" name="文本框 52"/>
          <p:cNvSpPr txBox="1"/>
          <p:nvPr/>
        </p:nvSpPr>
        <p:spPr>
          <a:xfrm>
            <a:off x="1911668" y="761524"/>
            <a:ext cx="3605689" cy="369332"/>
          </a:xfrm>
          <a:prstGeom prst="rect">
            <a:avLst/>
          </a:prstGeom>
          <a:noFill/>
        </p:spPr>
        <p:txBody>
          <a:bodyPr wrap="square" rtlCol="0">
            <a:spAutoFit/>
          </a:bodyPr>
          <a:lstStyle/>
          <a:p>
            <a:r>
              <a:rPr lang="zh-CN" altLang="en-US" b="1" dirty="0">
                <a:solidFill>
                  <a:schemeClr val="tx1">
                    <a:lumMod val="85000"/>
                    <a:lumOff val="15000"/>
                  </a:schemeClr>
                </a:solidFill>
                <a:latin typeface="微软雅黑" panose="020B0503020204020204" charset="-122"/>
                <a:ea typeface="微软雅黑" panose="020B0503020204020204" charset="-122"/>
              </a:rPr>
              <a:t>词法分析</a:t>
            </a:r>
            <a:r>
              <a:rPr lang="en-US" altLang="zh-CN" b="1" dirty="0">
                <a:solidFill>
                  <a:schemeClr val="tx1">
                    <a:lumMod val="85000"/>
                    <a:lumOff val="15000"/>
                  </a:schemeClr>
                </a:solidFill>
                <a:latin typeface="微软雅黑" panose="020B0503020204020204" charset="-122"/>
                <a:ea typeface="微软雅黑" panose="020B0503020204020204" charset="-122"/>
              </a:rPr>
              <a:t>L</a:t>
            </a:r>
            <a:r>
              <a:rPr lang="zh-CN" altLang="en-US" b="1" dirty="0">
                <a:solidFill>
                  <a:schemeClr val="tx1">
                    <a:lumMod val="85000"/>
                    <a:lumOff val="15000"/>
                  </a:schemeClr>
                </a:solidFill>
                <a:latin typeface="微软雅黑" panose="020B0503020204020204" charset="-122"/>
                <a:ea typeface="微软雅黑" panose="020B0503020204020204" charset="-122"/>
              </a:rPr>
              <a:t>exical </a:t>
            </a:r>
            <a:r>
              <a:rPr lang="en-US" altLang="zh-CN" b="1" dirty="0">
                <a:solidFill>
                  <a:schemeClr val="tx1">
                    <a:lumMod val="85000"/>
                    <a:lumOff val="15000"/>
                  </a:schemeClr>
                </a:solidFill>
                <a:latin typeface="微软雅黑" panose="020B0503020204020204" charset="-122"/>
                <a:ea typeface="微软雅黑" panose="020B0503020204020204" charset="-122"/>
              </a:rPr>
              <a:t>A</a:t>
            </a:r>
            <a:r>
              <a:rPr lang="zh-CN" altLang="en-US" b="1" dirty="0">
                <a:solidFill>
                  <a:schemeClr val="tx1">
                    <a:lumMod val="85000"/>
                    <a:lumOff val="15000"/>
                  </a:schemeClr>
                </a:solidFill>
                <a:latin typeface="微软雅黑" panose="020B0503020204020204" charset="-122"/>
                <a:ea typeface="微软雅黑" panose="020B0503020204020204" charset="-122"/>
              </a:rPr>
              <a:t>nalysis</a:t>
            </a:r>
          </a:p>
        </p:txBody>
      </p:sp>
      <p:sp>
        <p:nvSpPr>
          <p:cNvPr id="54" name="矩形: 圆角 53"/>
          <p:cNvSpPr/>
          <p:nvPr/>
        </p:nvSpPr>
        <p:spPr>
          <a:xfrm>
            <a:off x="1356814" y="807122"/>
            <a:ext cx="521483" cy="313536"/>
          </a:xfrm>
          <a:prstGeom prst="roundRect">
            <a:avLst>
              <a:gd name="adj" fmla="val 8973"/>
            </a:avLst>
          </a:prstGeom>
          <a:solidFill>
            <a:schemeClr val="accent1">
              <a:lumMod val="40000"/>
              <a:lumOff val="60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任意多边形 34"/>
          <p:cNvSpPr/>
          <p:nvPr/>
        </p:nvSpPr>
        <p:spPr>
          <a:xfrm>
            <a:off x="1282732" y="759221"/>
            <a:ext cx="711596" cy="400335"/>
          </a:xfrm>
          <a:custGeom>
            <a:avLst/>
            <a:gdLst>
              <a:gd name="connsiteX0" fmla="*/ 0 w 1262130"/>
              <a:gd name="connsiteY0" fmla="*/ 0 h 785611"/>
              <a:gd name="connsiteX1" fmla="*/ 949818 w 1262130"/>
              <a:gd name="connsiteY1" fmla="*/ 0 h 785611"/>
              <a:gd name="connsiteX2" fmla="*/ 1262130 w 1262130"/>
              <a:gd name="connsiteY2" fmla="*/ 785611 h 785611"/>
              <a:gd name="connsiteX3" fmla="*/ 0 w 1262130"/>
              <a:gd name="connsiteY3" fmla="*/ 785611 h 785611"/>
            </a:gdLst>
            <a:ahLst/>
            <a:cxnLst>
              <a:cxn ang="0">
                <a:pos x="connsiteX0" y="connsiteY0"/>
              </a:cxn>
              <a:cxn ang="0">
                <a:pos x="connsiteX1" y="connsiteY1"/>
              </a:cxn>
              <a:cxn ang="0">
                <a:pos x="connsiteX2" y="connsiteY2"/>
              </a:cxn>
              <a:cxn ang="0">
                <a:pos x="connsiteX3" y="connsiteY3"/>
              </a:cxn>
            </a:cxnLst>
            <a:rect l="l" t="t" r="r" b="b"/>
            <a:pathLst>
              <a:path w="1262130" h="785611">
                <a:moveTo>
                  <a:pt x="0" y="0"/>
                </a:moveTo>
                <a:lnTo>
                  <a:pt x="949818" y="0"/>
                </a:lnTo>
                <a:lnTo>
                  <a:pt x="1262130" y="785611"/>
                </a:lnTo>
                <a:lnTo>
                  <a:pt x="0" y="785611"/>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lumMod val="50000"/>
                    <a:lumOff val="50000"/>
                  </a:schemeClr>
                </a:solidFill>
                <a:latin typeface="微软雅黑" panose="020B0503020204020204" charset="-122"/>
                <a:ea typeface="微软雅黑" panose="020B0503020204020204" charset="-122"/>
              </a:rPr>
              <a:t>04</a:t>
            </a:r>
          </a:p>
        </p:txBody>
      </p:sp>
      <p:sp>
        <p:nvSpPr>
          <p:cNvPr id="7" name="文本框 6"/>
          <p:cNvSpPr txBox="1"/>
          <p:nvPr/>
        </p:nvSpPr>
        <p:spPr>
          <a:xfrm>
            <a:off x="5864337" y="1851670"/>
            <a:ext cx="2965559" cy="1794722"/>
          </a:xfrm>
          <a:prstGeom prst="rect">
            <a:avLst/>
          </a:prstGeom>
          <a:noFill/>
        </p:spPr>
        <p:txBody>
          <a:bodyPr wrap="square">
            <a:spAutoFit/>
          </a:bodyPr>
          <a:lstStyle/>
          <a:p>
            <a:pPr>
              <a:lnSpc>
                <a:spcPct val="150000"/>
              </a:lnSpc>
            </a:pPr>
            <a:r>
              <a:rPr lang="zh-CN" altLang="en-US" sz="1500" dirty="0"/>
              <a:t>词法分析的任务：</a:t>
            </a:r>
            <a:endParaRPr lang="en-US" altLang="zh-CN" sz="1500" dirty="0"/>
          </a:p>
          <a:p>
            <a:pPr marL="257175" indent="-257175">
              <a:lnSpc>
                <a:spcPct val="150000"/>
              </a:lnSpc>
              <a:buFont typeface="Arial" panose="020B0604020202020204" pitchFamily="34" charset="0"/>
              <a:buChar char="•"/>
            </a:pPr>
            <a:r>
              <a:rPr lang="zh-CN" altLang="en-US" sz="1500" b="1" dirty="0">
                <a:solidFill>
                  <a:srgbClr val="FF0000"/>
                </a:solidFill>
              </a:rPr>
              <a:t>识别</a:t>
            </a:r>
            <a:r>
              <a:rPr lang="zh-CN" altLang="en-US" sz="1500" dirty="0"/>
              <a:t>出源程序中的每个单词</a:t>
            </a:r>
            <a:endParaRPr lang="en-US" altLang="zh-CN" sz="1500" dirty="0"/>
          </a:p>
          <a:p>
            <a:pPr marL="257175" indent="-257175">
              <a:lnSpc>
                <a:spcPct val="150000"/>
              </a:lnSpc>
              <a:buFont typeface="Arial" panose="020B0604020202020204" pitchFamily="34" charset="0"/>
              <a:buChar char="•"/>
            </a:pPr>
            <a:r>
              <a:rPr lang="zh-CN" altLang="en-US" sz="1500" dirty="0"/>
              <a:t>查找种别码表，得到种别码</a:t>
            </a:r>
            <a:endParaRPr lang="en-US" altLang="zh-CN" sz="1500" dirty="0"/>
          </a:p>
          <a:p>
            <a:pPr marL="257175" indent="-257175">
              <a:lnSpc>
                <a:spcPct val="150000"/>
              </a:lnSpc>
              <a:buFont typeface="Arial" panose="020B0604020202020204" pitchFamily="34" charset="0"/>
              <a:buChar char="•"/>
            </a:pPr>
            <a:r>
              <a:rPr lang="zh-CN" altLang="en-US" sz="1500" dirty="0"/>
              <a:t>输出</a:t>
            </a:r>
            <a:r>
              <a:rPr lang="zh-CN" altLang="zh-CN" sz="1500" dirty="0"/>
              <a:t>二元形式： </a:t>
            </a:r>
          </a:p>
          <a:p>
            <a:pPr marL="82391">
              <a:lnSpc>
                <a:spcPct val="150000"/>
              </a:lnSpc>
            </a:pPr>
            <a:r>
              <a:rPr lang="en-US" altLang="zh-CN" sz="1500" dirty="0"/>
              <a:t>   </a:t>
            </a:r>
            <a:r>
              <a:rPr lang="zh-CN" altLang="zh-CN" sz="1500" dirty="0">
                <a:solidFill>
                  <a:srgbClr val="FF0000"/>
                </a:solidFill>
              </a:rPr>
              <a:t>（种别码，单词</a:t>
            </a:r>
            <a:r>
              <a:rPr lang="zh-CN" altLang="en-US" sz="1500" dirty="0">
                <a:solidFill>
                  <a:srgbClr val="FF0000"/>
                </a:solidFill>
              </a:rPr>
              <a:t>自身</a:t>
            </a:r>
            <a:r>
              <a:rPr lang="zh-CN" altLang="zh-CN" sz="1500" dirty="0">
                <a:solidFill>
                  <a:srgbClr val="FF0000"/>
                </a:solidFill>
              </a:rPr>
              <a:t>的值）</a:t>
            </a:r>
          </a:p>
        </p:txBody>
      </p:sp>
      <p:grpSp>
        <p:nvGrpSpPr>
          <p:cNvPr id="11" name="组合 10"/>
          <p:cNvGrpSpPr/>
          <p:nvPr/>
        </p:nvGrpSpPr>
        <p:grpSpPr>
          <a:xfrm>
            <a:off x="1748486" y="1368593"/>
            <a:ext cx="3069699" cy="540956"/>
            <a:chOff x="7004577" y="1124744"/>
            <a:chExt cx="5149002" cy="961698"/>
          </a:xfrm>
        </p:grpSpPr>
        <p:sp>
          <p:nvSpPr>
            <p:cNvPr id="12" name="AutoShape 4"/>
            <p:cNvSpPr>
              <a:spLocks noChangeArrowheads="1"/>
            </p:cNvSpPr>
            <p:nvPr/>
          </p:nvSpPr>
          <p:spPr bwMode="auto">
            <a:xfrm>
              <a:off x="7004577" y="1124744"/>
              <a:ext cx="1108519" cy="571501"/>
            </a:xfrm>
            <a:prstGeom prst="roundRect">
              <a:avLst>
                <a:gd name="adj" fmla="val 16667"/>
              </a:avLst>
            </a:prstGeom>
            <a:solidFill>
              <a:schemeClr val="bg1">
                <a:alpha val="50195"/>
              </a:schemeClr>
            </a:solidFill>
            <a:ln w="9525">
              <a:solidFill>
                <a:srgbClr val="FFFFFF"/>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350" dirty="0">
                  <a:latin typeface="微软雅黑" panose="020B0503020204020204" charset="-122"/>
                  <a:ea typeface="微软雅黑" panose="020B0503020204020204" charset="-122"/>
                </a:rPr>
                <a:t>源程序</a:t>
              </a:r>
            </a:p>
          </p:txBody>
        </p:sp>
        <p:sp>
          <p:nvSpPr>
            <p:cNvPr id="14" name="AutoShape 6"/>
            <p:cNvSpPr>
              <a:spLocks noChangeArrowheads="1"/>
            </p:cNvSpPr>
            <p:nvPr/>
          </p:nvSpPr>
          <p:spPr bwMode="auto">
            <a:xfrm>
              <a:off x="8036411" y="1328341"/>
              <a:ext cx="629768"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575">
                <a:latin typeface="微软雅黑" panose="020B0503020204020204" charset="-122"/>
                <a:ea typeface="微软雅黑" panose="020B0503020204020204" charset="-122"/>
              </a:endParaRPr>
            </a:p>
          </p:txBody>
        </p:sp>
        <p:sp>
          <p:nvSpPr>
            <p:cNvPr id="15" name="Text Box 8"/>
            <p:cNvSpPr txBox="1">
              <a:spLocks noChangeArrowheads="1"/>
            </p:cNvSpPr>
            <p:nvPr/>
          </p:nvSpPr>
          <p:spPr bwMode="auto">
            <a:xfrm>
              <a:off x="10626151" y="1183633"/>
              <a:ext cx="1527428" cy="90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350" dirty="0">
                  <a:latin typeface="微软雅黑" panose="020B0503020204020204" charset="-122"/>
                  <a:ea typeface="微软雅黑" panose="020B0503020204020204" charset="-122"/>
                </a:rPr>
                <a:t>单词记号</a:t>
              </a:r>
            </a:p>
          </p:txBody>
        </p:sp>
        <p:sp>
          <p:nvSpPr>
            <p:cNvPr id="16" name="AutoShape 6"/>
            <p:cNvSpPr>
              <a:spLocks noChangeArrowheads="1"/>
            </p:cNvSpPr>
            <p:nvPr/>
          </p:nvSpPr>
          <p:spPr bwMode="auto">
            <a:xfrm>
              <a:off x="10067844" y="1328341"/>
              <a:ext cx="581376"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575">
                <a:latin typeface="微软雅黑" panose="020B0503020204020204" charset="-122"/>
                <a:ea typeface="微软雅黑" panose="020B0503020204020204" charset="-122"/>
              </a:endParaRPr>
            </a:p>
          </p:txBody>
        </p:sp>
      </p:grpSp>
      <p:pic>
        <p:nvPicPr>
          <p:cNvPr id="8" name="图片 7"/>
          <p:cNvPicPr>
            <a:picLocks noChangeAspect="1"/>
          </p:cNvPicPr>
          <p:nvPr>
            <p:custDataLst>
              <p:tags r:id="rId2"/>
            </p:custDataLst>
          </p:nvPr>
        </p:nvPicPr>
        <p:blipFill>
          <a:blip r:embed="rId5"/>
          <a:stretch>
            <a:fillRect/>
          </a:stretch>
        </p:blipFill>
        <p:spPr>
          <a:xfrm>
            <a:off x="1282385" y="1904434"/>
            <a:ext cx="4218775" cy="2539524"/>
          </a:xfrm>
          <a:prstGeom prst="rect">
            <a:avLst/>
          </a:prstGeom>
        </p:spPr>
      </p:pic>
      <p:sp>
        <p:nvSpPr>
          <p:cNvPr id="2" name="AutoShape 5"/>
          <p:cNvSpPr>
            <a:spLocks noChangeArrowheads="1"/>
          </p:cNvSpPr>
          <p:nvPr/>
        </p:nvSpPr>
        <p:spPr bwMode="auto">
          <a:xfrm>
            <a:off x="2758527" y="1363952"/>
            <a:ext cx="740718" cy="321470"/>
          </a:xfrm>
          <a:prstGeom prst="roundRect">
            <a:avLst>
              <a:gd name="adj" fmla="val 16667"/>
            </a:avLst>
          </a:prstGeom>
          <a:solidFill>
            <a:schemeClr val="accent6">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350" dirty="0">
                <a:latin typeface="微软雅黑" panose="020B0503020204020204" charset="-122"/>
                <a:ea typeface="微软雅黑" panose="020B0503020204020204" charset="-122"/>
              </a:rPr>
              <a:t>词法分析</a:t>
            </a:r>
          </a:p>
        </p:txBody>
      </p:sp>
    </p:spTree>
    <p:custDataLst>
      <p:tags r:id="rId1"/>
    </p:custDataLst>
  </p:cSld>
  <p:clrMapOvr>
    <a:masterClrMapping/>
  </p:clrMapOvr>
  <p:transition advTm="58073"/>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467544" y="915566"/>
            <a:ext cx="8229600" cy="4104456"/>
          </a:xfrm>
          <a:solidFill>
            <a:schemeClr val="bg1"/>
          </a:solidFill>
        </p:spPr>
        <p:txBody>
          <a:bodyPr>
            <a:noAutofit/>
          </a:bodyPr>
          <a:lstStyle/>
          <a:p>
            <a:pPr eaLnBrk="1" hangingPunct="1"/>
            <a:r>
              <a:rPr lang="zh-CN" altLang="en-US" sz="2200" b="1" dirty="0">
                <a:solidFill>
                  <a:srgbClr val="0000CC"/>
                </a:solidFill>
              </a:rPr>
              <a:t>单词</a:t>
            </a:r>
            <a:r>
              <a:rPr lang="zh-CN" altLang="en-US" sz="2200" dirty="0">
                <a:solidFill>
                  <a:srgbClr val="0000CC"/>
                </a:solidFill>
              </a:rPr>
              <a:t>：</a:t>
            </a:r>
            <a:r>
              <a:rPr lang="zh-CN" altLang="en-US" sz="2200" dirty="0"/>
              <a:t>是语言中具有独立意义的最小单位，常用单词分类：</a:t>
            </a:r>
          </a:p>
          <a:p>
            <a:pPr marL="913956" indent="-360363"/>
            <a:r>
              <a:rPr lang="zh-CN" altLang="en-US" sz="2200" dirty="0"/>
              <a:t>关键字：具有固定意义的标识符</a:t>
            </a:r>
          </a:p>
          <a:p>
            <a:pPr marL="913956" indent="-360363"/>
            <a:r>
              <a:rPr lang="zh-CN" altLang="en-US" sz="2200" dirty="0"/>
              <a:t>运算符</a:t>
            </a:r>
          </a:p>
          <a:p>
            <a:pPr marL="913956" indent="-360363"/>
            <a:r>
              <a:rPr lang="zh-CN" altLang="en-US" sz="2200" dirty="0"/>
              <a:t>界符</a:t>
            </a:r>
          </a:p>
          <a:p>
            <a:pPr marL="913956" indent="-360363"/>
            <a:r>
              <a:rPr lang="zh-CN" altLang="en-US" sz="2200" dirty="0"/>
              <a:t>标识符：表示各种名字</a:t>
            </a:r>
          </a:p>
          <a:p>
            <a:pPr marL="913956" indent="-360363"/>
            <a:r>
              <a:rPr lang="zh-CN" altLang="en-US" sz="2200" dirty="0"/>
              <a:t>常数</a:t>
            </a:r>
            <a:endParaRPr lang="en-US" altLang="zh-CN" sz="2200" dirty="0"/>
          </a:p>
          <a:p>
            <a:pPr marL="913956" indent="-360363"/>
            <a:endParaRPr lang="zh-CN" altLang="en-US" sz="2200" dirty="0"/>
          </a:p>
          <a:p>
            <a:r>
              <a:rPr lang="zh-CN" altLang="en-US" sz="2200" dirty="0"/>
              <a:t>对于一个程序设计语言，关键字、运算符和界符都是确定的，可以给以固定的编号</a:t>
            </a:r>
            <a:r>
              <a:rPr lang="en-US" altLang="zh-CN" sz="2200" dirty="0"/>
              <a:t>(</a:t>
            </a:r>
            <a:r>
              <a:rPr lang="zh-CN" altLang="en-US" sz="2200" dirty="0">
                <a:solidFill>
                  <a:srgbClr val="FF0000"/>
                </a:solidFill>
              </a:rPr>
              <a:t>种别码</a:t>
            </a:r>
            <a:r>
              <a:rPr lang="zh-CN" altLang="en-US" sz="2200" dirty="0"/>
              <a:t>，是对能识别的单词的分类编码</a:t>
            </a:r>
            <a:r>
              <a:rPr lang="en-US" altLang="zh-CN" sz="2200" dirty="0"/>
              <a:t>)</a:t>
            </a:r>
            <a:r>
              <a:rPr lang="zh-CN" altLang="en-US" sz="2200" dirty="0"/>
              <a:t>。</a:t>
            </a:r>
          </a:p>
          <a:p>
            <a:pPr eaLnBrk="1" hangingPunct="1"/>
            <a:r>
              <a:rPr lang="zh-CN" altLang="en-US" sz="2200" dirty="0"/>
              <a:t>标识符是根据构词规则定义的，常数是符合定义的各种类型的常数</a:t>
            </a:r>
          </a:p>
        </p:txBody>
      </p:sp>
      <p:sp>
        <p:nvSpPr>
          <p:cNvPr id="2" name="Rectangle 2"/>
          <p:cNvSpPr>
            <a:spLocks noGrp="1" noChangeArrowheads="1"/>
          </p:cNvSpPr>
          <p:nvPr>
            <p:ph type="title"/>
          </p:nvPr>
        </p:nvSpPr>
        <p:spPr/>
        <p:txBody>
          <a:bodyPr>
            <a:normAutofit fontScale="90000"/>
          </a:bodyPr>
          <a:lstStyle/>
          <a:p>
            <a:pPr eaLnBrk="1" hangingPunct="1"/>
            <a:r>
              <a:rPr kumimoji="1" lang="en-US" altLang="zh-CN" sz="5400" b="1" dirty="0">
                <a:solidFill>
                  <a:srgbClr val="CC0099"/>
                </a:solidFill>
                <a:latin typeface="Times New Roman" pitchFamily="18" charset="0"/>
                <a:ea typeface="隶书" pitchFamily="49" charset="-122"/>
              </a:rPr>
              <a:t>2.2  </a:t>
            </a:r>
            <a:r>
              <a:rPr kumimoji="1" lang="zh-CN" altLang="zh-CN" sz="5400" b="1" dirty="0">
                <a:solidFill>
                  <a:srgbClr val="CC0099"/>
                </a:solidFill>
                <a:latin typeface="Times New Roman" pitchFamily="18" charset="0"/>
                <a:ea typeface="隶书" pitchFamily="49" charset="-122"/>
              </a:rPr>
              <a:t>高级语言中的单词</a:t>
            </a:r>
            <a:endParaRPr kumimoji="1" lang="zh-CN" altLang="en-US" sz="5400" b="1" dirty="0">
              <a:solidFill>
                <a:srgbClr val="CC0099"/>
              </a:solidFill>
              <a:latin typeface="Times New Roman" pitchFamily="18" charset="0"/>
              <a:ea typeface="隶书" pitchFamily="49" charset="-122"/>
            </a:endParaRPr>
          </a:p>
        </p:txBody>
      </p:sp>
      <p:sp>
        <p:nvSpPr>
          <p:cNvPr id="4" name="Rectangle 3"/>
          <p:cNvSpPr txBox="1">
            <a:spLocks noChangeArrowheads="1"/>
          </p:cNvSpPr>
          <p:nvPr/>
        </p:nvSpPr>
        <p:spPr>
          <a:xfrm>
            <a:off x="5724128" y="1491630"/>
            <a:ext cx="3384376" cy="1944216"/>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buFont typeface="Wingdings 3" panose="05040102010807070707" pitchFamily="18" charset="2"/>
              <a:buChar char=""/>
            </a:pPr>
            <a:r>
              <a:rPr lang="zh-CN" altLang="en-US" sz="2000" dirty="0"/>
              <a:t>关键字一般一字一种</a:t>
            </a:r>
          </a:p>
          <a:p>
            <a:pPr>
              <a:spcBef>
                <a:spcPts val="0"/>
              </a:spcBef>
              <a:buFont typeface="Wingdings 3" panose="05040102010807070707" pitchFamily="18" charset="2"/>
              <a:buChar char=""/>
            </a:pPr>
            <a:r>
              <a:rPr lang="zh-CN" altLang="en-US" sz="2000" dirty="0"/>
              <a:t>运算符一般一符一种</a:t>
            </a:r>
          </a:p>
          <a:p>
            <a:pPr>
              <a:spcBef>
                <a:spcPts val="0"/>
              </a:spcBef>
              <a:buFont typeface="Wingdings 3" panose="05040102010807070707" pitchFamily="18" charset="2"/>
              <a:buChar char=""/>
            </a:pPr>
            <a:r>
              <a:rPr lang="zh-CN" altLang="en-US" sz="2000" dirty="0"/>
              <a:t>界符一般一符一种</a:t>
            </a:r>
          </a:p>
          <a:p>
            <a:pPr>
              <a:spcBef>
                <a:spcPts val="0"/>
              </a:spcBef>
              <a:buFont typeface="Wingdings 3" panose="05040102010807070707" pitchFamily="18" charset="2"/>
              <a:buChar char=""/>
            </a:pPr>
            <a:r>
              <a:rPr lang="zh-CN" altLang="en-US" sz="2000" dirty="0"/>
              <a:t>标识符统一为一种</a:t>
            </a:r>
          </a:p>
          <a:p>
            <a:pPr>
              <a:spcBef>
                <a:spcPts val="0"/>
              </a:spcBef>
              <a:buFont typeface="Wingdings 3" panose="05040102010807070707" pitchFamily="18" charset="2"/>
              <a:buChar char=""/>
            </a:pPr>
            <a:r>
              <a:rPr lang="zh-CN" altLang="en-US" sz="2000" dirty="0"/>
              <a:t>常数按类型分别编码：整数、实数、布尔、字符</a:t>
            </a:r>
          </a:p>
          <a:p>
            <a:pPr>
              <a:spcBef>
                <a:spcPts val="0"/>
              </a:spcBef>
            </a:pPr>
            <a:endParaRPr lang="en-US" altLang="zh-CN" sz="2000" dirty="0"/>
          </a:p>
        </p:txBody>
      </p:sp>
    </p:spTree>
    <p:extLst>
      <p:ext uri="{BB962C8B-B14F-4D97-AF65-F5344CB8AC3E}">
        <p14:creationId xmlns:p14="http://schemas.microsoft.com/office/powerpoint/2010/main" val="356326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 y="320278"/>
            <a:ext cx="1447800" cy="1794272"/>
          </a:xfrm>
        </p:spPr>
        <p:txBody>
          <a:bodyPr>
            <a:normAutofit fontScale="90000"/>
          </a:bodyPr>
          <a:lstStyle/>
          <a:p>
            <a:pPr algn="l" eaLnBrk="1" hangingPunct="1"/>
            <a:r>
              <a:rPr lang="en-US" altLang="zh-CN" sz="2800" b="1" dirty="0">
                <a:solidFill>
                  <a:srgbClr val="0000CC"/>
                </a:solidFill>
              </a:rPr>
              <a:t>sample</a:t>
            </a:r>
            <a:r>
              <a:rPr lang="zh-CN" altLang="en-US" sz="2800" b="1">
                <a:solidFill>
                  <a:srgbClr val="0000CC"/>
                </a:solidFill>
              </a:rPr>
              <a:t>语言单词的种别码定义举例</a:t>
            </a:r>
          </a:p>
        </p:txBody>
      </p:sp>
      <p:graphicFrame>
        <p:nvGraphicFramePr>
          <p:cNvPr id="2" name="表格 1"/>
          <p:cNvGraphicFramePr>
            <a:graphicFrameLocks noGrp="1"/>
          </p:cNvGraphicFramePr>
          <p:nvPr>
            <p:extLst/>
          </p:nvPr>
        </p:nvGraphicFramePr>
        <p:xfrm>
          <a:off x="1725613" y="22622"/>
          <a:ext cx="6769101" cy="4994910"/>
        </p:xfrm>
        <a:graphic>
          <a:graphicData uri="http://schemas.openxmlformats.org/drawingml/2006/table">
            <a:tbl>
              <a:tblPr firstRow="1" firstCol="1" bandRow="1">
                <a:tableStyleId>{5C22544A-7EE6-4342-B048-85BDC9FD1C3A}</a:tableStyleId>
              </a:tblPr>
              <a:tblGrid>
                <a:gridCol w="1320688">
                  <a:extLst>
                    <a:ext uri="{9D8B030D-6E8A-4147-A177-3AD203B41FA5}">
                      <a16:colId xmlns:a16="http://schemas.microsoft.com/office/drawing/2014/main" val="20000"/>
                    </a:ext>
                  </a:extLst>
                </a:gridCol>
                <a:gridCol w="1215920">
                  <a:extLst>
                    <a:ext uri="{9D8B030D-6E8A-4147-A177-3AD203B41FA5}">
                      <a16:colId xmlns:a16="http://schemas.microsoft.com/office/drawing/2014/main" val="20001"/>
                    </a:ext>
                  </a:extLst>
                </a:gridCol>
                <a:gridCol w="1241388">
                  <a:extLst>
                    <a:ext uri="{9D8B030D-6E8A-4147-A177-3AD203B41FA5}">
                      <a16:colId xmlns:a16="http://schemas.microsoft.com/office/drawing/2014/main" val="20002"/>
                    </a:ext>
                  </a:extLst>
                </a:gridCol>
                <a:gridCol w="997035">
                  <a:extLst>
                    <a:ext uri="{9D8B030D-6E8A-4147-A177-3AD203B41FA5}">
                      <a16:colId xmlns:a16="http://schemas.microsoft.com/office/drawing/2014/main" val="20003"/>
                    </a:ext>
                  </a:extLst>
                </a:gridCol>
                <a:gridCol w="997035">
                  <a:extLst>
                    <a:ext uri="{9D8B030D-6E8A-4147-A177-3AD203B41FA5}">
                      <a16:colId xmlns:a16="http://schemas.microsoft.com/office/drawing/2014/main" val="20004"/>
                    </a:ext>
                  </a:extLst>
                </a:gridCol>
                <a:gridCol w="997035">
                  <a:extLst>
                    <a:ext uri="{9D8B030D-6E8A-4147-A177-3AD203B41FA5}">
                      <a16:colId xmlns:a16="http://schemas.microsoft.com/office/drawing/2014/main" val="20005"/>
                    </a:ext>
                  </a:extLst>
                </a:gridCol>
              </a:tblGrid>
              <a:tr h="217170">
                <a:tc>
                  <a:txBody>
                    <a:bodyPr/>
                    <a:lstStyle/>
                    <a:p>
                      <a:pPr algn="ctr">
                        <a:spcAft>
                          <a:spcPts val="0"/>
                        </a:spcAft>
                      </a:pPr>
                      <a:r>
                        <a:rPr lang="zh-CN" sz="1400" kern="100" dirty="0">
                          <a:solidFill>
                            <a:schemeClr val="tx1"/>
                          </a:solidFill>
                          <a:effectLst/>
                          <a:latin typeface="+mn-ea"/>
                          <a:ea typeface="+mn-ea"/>
                        </a:rPr>
                        <a:t>类别</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400" kern="100">
                          <a:solidFill>
                            <a:schemeClr val="tx1"/>
                          </a:solidFill>
                          <a:effectLst/>
                          <a:latin typeface="+mn-ea"/>
                          <a:ea typeface="+mn-ea"/>
                        </a:rPr>
                        <a:t>单词</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kern="100" dirty="0">
                          <a:solidFill>
                            <a:schemeClr val="tx1"/>
                          </a:solidFill>
                          <a:effectLst/>
                          <a:latin typeface="+mn-ea"/>
                          <a:ea typeface="+mn-ea"/>
                        </a:rPr>
                        <a:t>种别</a:t>
                      </a:r>
                      <a:r>
                        <a:rPr lang="zh-CN" sz="1400" kern="100" dirty="0">
                          <a:solidFill>
                            <a:schemeClr val="tx1"/>
                          </a:solidFill>
                          <a:effectLst/>
                          <a:latin typeface="+mn-ea"/>
                          <a:ea typeface="+mn-ea"/>
                        </a:rPr>
                        <a:t>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400" kern="100">
                          <a:solidFill>
                            <a:schemeClr val="tx1"/>
                          </a:solidFill>
                          <a:effectLst/>
                          <a:latin typeface="+mn-ea"/>
                          <a:ea typeface="+mn-ea"/>
                        </a:rPr>
                        <a:t>类别</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400" kern="100">
                          <a:solidFill>
                            <a:schemeClr val="tx1"/>
                          </a:solidFill>
                          <a:effectLst/>
                          <a:latin typeface="+mn-ea"/>
                          <a:ea typeface="+mn-ea"/>
                        </a:rPr>
                        <a:t>单词</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kern="100" dirty="0">
                          <a:solidFill>
                            <a:schemeClr val="tx1"/>
                          </a:solidFill>
                          <a:effectLst/>
                          <a:latin typeface="+mn-ea"/>
                          <a:ea typeface="+mn-ea"/>
                        </a:rPr>
                        <a:t>种别</a:t>
                      </a:r>
                      <a:r>
                        <a:rPr lang="zh-CN" sz="1400" kern="100" dirty="0">
                          <a:solidFill>
                            <a:schemeClr val="tx1"/>
                          </a:solidFill>
                          <a:effectLst/>
                          <a:latin typeface="+mn-ea"/>
                          <a:ea typeface="+mn-ea"/>
                        </a:rPr>
                        <a:t>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17170">
                <a:tc rowSpan="13">
                  <a:txBody>
                    <a:bodyPr/>
                    <a:lstStyle/>
                    <a:p>
                      <a:pPr algn="ctr">
                        <a:spcAft>
                          <a:spcPts val="0"/>
                        </a:spcAft>
                      </a:pPr>
                      <a:r>
                        <a:rPr lang="zh-CN" sz="1400" kern="100" dirty="0">
                          <a:solidFill>
                            <a:schemeClr val="tx1"/>
                          </a:solidFill>
                          <a:effectLst/>
                          <a:latin typeface="+mn-ea"/>
                          <a:ea typeface="+mn-ea"/>
                        </a:rPr>
                        <a:t>关键字</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1400" kern="100" dirty="0">
                          <a:solidFill>
                            <a:schemeClr val="tx1"/>
                          </a:solidFill>
                          <a:effectLst/>
                          <a:latin typeface="+mn-ea"/>
                          <a:ea typeface="+mn-ea"/>
                        </a:rPr>
                        <a:t>char</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dirty="0">
                          <a:solidFill>
                            <a:schemeClr val="tx1"/>
                          </a:solidFill>
                          <a:effectLst/>
                          <a:latin typeface="+mn-ea"/>
                          <a:ea typeface="+mn-ea"/>
                        </a:rPr>
                        <a:t>101</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19">
                  <a:txBody>
                    <a:bodyPr/>
                    <a:lstStyle/>
                    <a:p>
                      <a:pPr algn="ctr">
                        <a:spcAft>
                          <a:spcPts val="0"/>
                        </a:spcAft>
                      </a:pPr>
                      <a:r>
                        <a:rPr lang="zh-CN" sz="1400" b="1" kern="100" dirty="0">
                          <a:solidFill>
                            <a:schemeClr val="tx1"/>
                          </a:solidFill>
                          <a:effectLst/>
                          <a:latin typeface="+mn-ea"/>
                          <a:ea typeface="+mn-ea"/>
                        </a:rPr>
                        <a:t>运算符</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dirty="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dirty="0">
                          <a:solidFill>
                            <a:schemeClr val="tx1"/>
                          </a:solidFill>
                          <a:effectLst/>
                          <a:latin typeface="+mn-ea"/>
                          <a:ea typeface="+mn-ea"/>
                        </a:rPr>
                        <a:t>201</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17170">
                <a:tc vMerge="1">
                  <a:txBody>
                    <a:bodyPr/>
                    <a:lstStyle/>
                    <a:p>
                      <a:endParaRPr lang="zh-CN" altLang="en-US"/>
                    </a:p>
                  </a:txBody>
                  <a:tcPr/>
                </a:tc>
                <a:tc>
                  <a:txBody>
                    <a:bodyPr/>
                    <a:lstStyle/>
                    <a:p>
                      <a:pPr algn="l">
                        <a:spcAft>
                          <a:spcPts val="0"/>
                        </a:spcAft>
                      </a:pPr>
                      <a:r>
                        <a:rPr lang="en-US" sz="1400" kern="100" dirty="0" err="1">
                          <a:solidFill>
                            <a:schemeClr val="tx1"/>
                          </a:solidFill>
                          <a:effectLst/>
                          <a:latin typeface="+mn-ea"/>
                          <a:ea typeface="+mn-ea"/>
                        </a:rPr>
                        <a:t>int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102</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202</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float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103</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203</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break</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104</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204</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const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105</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205</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return</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106</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206</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void</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107</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207</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continue</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108</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208</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do</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109</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209</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while</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110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if</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111</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&lt;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211</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else</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112</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&lt;=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212</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for</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113</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&gt;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213</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17170">
                <a:tc rowSpan="4">
                  <a:txBody>
                    <a:bodyPr/>
                    <a:lstStyle/>
                    <a:p>
                      <a:pPr algn="ctr">
                        <a:spcAft>
                          <a:spcPts val="0"/>
                        </a:spcAft>
                      </a:pPr>
                      <a:r>
                        <a:rPr lang="zh-CN" sz="1400" kern="100">
                          <a:solidFill>
                            <a:schemeClr val="tx1"/>
                          </a:solidFill>
                          <a:effectLst/>
                          <a:latin typeface="+mn-ea"/>
                          <a:ea typeface="+mn-ea"/>
                        </a:rPr>
                        <a:t>界符</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301</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&gt;=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214</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302</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215</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303</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216</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217170">
                <a:tc vMerge="1">
                  <a:txBody>
                    <a:bodyPr/>
                    <a:lstStyle/>
                    <a:p>
                      <a:endParaRPr lang="zh-CN" altLang="en-US"/>
                    </a:p>
                  </a:txBody>
                  <a:tcPr/>
                </a:tc>
                <a:tc>
                  <a:txBody>
                    <a:bodyPr/>
                    <a:lstStyle/>
                    <a:p>
                      <a:pPr algn="l">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304</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&amp;&amp;</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217</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217170">
                <a:tc rowSpan="5">
                  <a:txBody>
                    <a:bodyPr/>
                    <a:lstStyle/>
                    <a:p>
                      <a:pPr algn="ctr">
                        <a:spcAft>
                          <a:spcPts val="0"/>
                        </a:spcAft>
                      </a:pPr>
                      <a:r>
                        <a:rPr lang="zh-CN" sz="1400" kern="100">
                          <a:solidFill>
                            <a:schemeClr val="tx1"/>
                          </a:solidFill>
                          <a:effectLst/>
                          <a:latin typeface="+mn-ea"/>
                          <a:ea typeface="+mn-ea"/>
                        </a:rPr>
                        <a:t>单词类别</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zh-CN" sz="1400" kern="100" dirty="0">
                          <a:solidFill>
                            <a:schemeClr val="tx1"/>
                          </a:solidFill>
                          <a:effectLst/>
                          <a:latin typeface="+mn-ea"/>
                          <a:ea typeface="+mn-ea"/>
                        </a:rPr>
                        <a:t>整数</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400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218</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217170">
                <a:tc vMerge="1">
                  <a:txBody>
                    <a:bodyPr/>
                    <a:lstStyle/>
                    <a:p>
                      <a:endParaRPr lang="zh-CN" altLang="en-US"/>
                    </a:p>
                  </a:txBody>
                  <a:tcPr/>
                </a:tc>
                <a:tc>
                  <a:txBody>
                    <a:bodyPr/>
                    <a:lstStyle/>
                    <a:p>
                      <a:pPr algn="l">
                        <a:spcAft>
                          <a:spcPts val="0"/>
                        </a:spcAft>
                      </a:pPr>
                      <a:r>
                        <a:rPr lang="zh-CN" sz="1400" kern="100" dirty="0">
                          <a:solidFill>
                            <a:schemeClr val="tx1"/>
                          </a:solidFill>
                          <a:effectLst/>
                          <a:latin typeface="+mn-ea"/>
                          <a:ea typeface="+mn-ea"/>
                        </a:rPr>
                        <a:t>字符</a:t>
                      </a:r>
                      <a:r>
                        <a:rPr lang="zh-CN" altLang="en-US" sz="1400" kern="100" dirty="0">
                          <a:solidFill>
                            <a:schemeClr val="tx1"/>
                          </a:solidFill>
                          <a:effectLst/>
                          <a:latin typeface="+mn-ea"/>
                          <a:ea typeface="+mn-ea"/>
                        </a:rPr>
                        <a:t>常数</a:t>
                      </a:r>
                      <a:endParaRPr lang="zh-CN" sz="14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500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1400" kern="100">
                          <a:solidFill>
                            <a:schemeClr val="tx1"/>
                          </a:solidFill>
                          <a:effectLst/>
                          <a:latin typeface="+mn-ea"/>
                          <a:ea typeface="+mn-ea"/>
                        </a:rPr>
                        <a:t>=</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219</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217170">
                <a:tc vMerge="1">
                  <a:txBody>
                    <a:bodyPr/>
                    <a:lstStyle/>
                    <a:p>
                      <a:endParaRPr lang="zh-CN" altLang="en-US"/>
                    </a:p>
                  </a:txBody>
                  <a:tcPr/>
                </a:tc>
                <a:tc>
                  <a:txBody>
                    <a:bodyPr/>
                    <a:lstStyle/>
                    <a:p>
                      <a:pPr algn="l">
                        <a:spcAft>
                          <a:spcPts val="0"/>
                        </a:spcAft>
                      </a:pPr>
                      <a:r>
                        <a:rPr lang="zh-CN" sz="1400" kern="100" dirty="0">
                          <a:solidFill>
                            <a:schemeClr val="tx1"/>
                          </a:solidFill>
                          <a:effectLst/>
                          <a:latin typeface="+mn-ea"/>
                          <a:ea typeface="+mn-ea"/>
                        </a:rPr>
                        <a:t>字符串</a:t>
                      </a:r>
                      <a:r>
                        <a:rPr lang="zh-CN" altLang="en-US" sz="1400" kern="100" dirty="0">
                          <a:solidFill>
                            <a:schemeClr val="tx1"/>
                          </a:solidFill>
                          <a:effectLst/>
                          <a:latin typeface="+mn-ea"/>
                          <a:ea typeface="+mn-ea"/>
                        </a:rPr>
                        <a:t>常数</a:t>
                      </a:r>
                      <a:endParaRPr lang="zh-CN" sz="14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600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endParaRPr lang="zh-CN" sz="14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endParaRPr lang="zh-CN" sz="14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r h="217170">
                <a:tc vMerge="1">
                  <a:txBody>
                    <a:bodyPr/>
                    <a:lstStyle/>
                    <a:p>
                      <a:endParaRPr lang="zh-CN" altLang="en-US"/>
                    </a:p>
                  </a:txBody>
                  <a:tcPr/>
                </a:tc>
                <a:tc>
                  <a:txBody>
                    <a:bodyPr/>
                    <a:lstStyle/>
                    <a:p>
                      <a:pPr algn="l">
                        <a:spcAft>
                          <a:spcPts val="0"/>
                        </a:spcAft>
                      </a:pPr>
                      <a:r>
                        <a:rPr lang="zh-CN" sz="1400" kern="100" dirty="0">
                          <a:solidFill>
                            <a:schemeClr val="tx1"/>
                          </a:solidFill>
                          <a:effectLst/>
                          <a:latin typeface="+mn-ea"/>
                          <a:ea typeface="+mn-ea"/>
                        </a:rPr>
                        <a:t>标识符</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700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dirty="0">
                          <a:solidFill>
                            <a:schemeClr val="tx1"/>
                          </a:solidFill>
                          <a:effectLst/>
                          <a:latin typeface="+mn-ea"/>
                          <a:ea typeface="+mn-ea"/>
                        </a:rPr>
                        <a:t> </a:t>
                      </a:r>
                      <a:endParaRPr lang="zh-CN" sz="14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1"/>
                  </a:ext>
                </a:extLst>
              </a:tr>
              <a:tr h="217170">
                <a:tc vMerge="1">
                  <a:txBody>
                    <a:bodyPr/>
                    <a:lstStyle/>
                    <a:p>
                      <a:endParaRPr lang="zh-CN" altLang="en-US"/>
                    </a:p>
                  </a:txBody>
                  <a:tcPr/>
                </a:tc>
                <a:tc>
                  <a:txBody>
                    <a:bodyPr/>
                    <a:lstStyle/>
                    <a:p>
                      <a:pPr algn="l">
                        <a:spcAft>
                          <a:spcPts val="0"/>
                        </a:spcAft>
                      </a:pPr>
                      <a:r>
                        <a:rPr lang="zh-CN" altLang="en-US" sz="1400" kern="100" dirty="0">
                          <a:solidFill>
                            <a:schemeClr val="tx1"/>
                          </a:solidFill>
                          <a:effectLst/>
                          <a:latin typeface="+mn-ea"/>
                          <a:ea typeface="+mn-ea"/>
                        </a:rPr>
                        <a:t>浮点</a:t>
                      </a:r>
                      <a:r>
                        <a:rPr lang="zh-CN" sz="1400" kern="100" dirty="0">
                          <a:solidFill>
                            <a:schemeClr val="tx1"/>
                          </a:solidFill>
                          <a:effectLst/>
                          <a:latin typeface="+mn-ea"/>
                          <a:ea typeface="+mn-ea"/>
                        </a:rPr>
                        <a:t>数</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800</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400" kern="100">
                          <a:solidFill>
                            <a:schemeClr val="tx1"/>
                          </a:solidFill>
                          <a:effectLst/>
                          <a:latin typeface="+mn-ea"/>
                          <a:ea typeface="+mn-ea"/>
                        </a:rPr>
                        <a:t> </a:t>
                      </a:r>
                      <a:endParaRPr lang="zh-CN" sz="14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1400" kern="100" dirty="0">
                          <a:solidFill>
                            <a:schemeClr val="tx1"/>
                          </a:solidFill>
                          <a:effectLst/>
                          <a:latin typeface="+mn-ea"/>
                          <a:ea typeface="+mn-ea"/>
                        </a:rPr>
                        <a:t> </a:t>
                      </a:r>
                      <a:endParaRPr lang="zh-CN" sz="14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2687647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1043608" y="1563638"/>
            <a:ext cx="3446644" cy="347010"/>
            <a:chOff x="6888088" y="1124744"/>
            <a:chExt cx="5336739" cy="616905"/>
          </a:xfrm>
        </p:grpSpPr>
        <p:sp>
          <p:nvSpPr>
            <p:cNvPr id="16" name="AutoShape 4"/>
            <p:cNvSpPr>
              <a:spLocks noChangeArrowheads="1"/>
            </p:cNvSpPr>
            <p:nvPr/>
          </p:nvSpPr>
          <p:spPr bwMode="auto">
            <a:xfrm>
              <a:off x="6888088" y="1124744"/>
              <a:ext cx="1108519" cy="571501"/>
            </a:xfrm>
            <a:prstGeom prst="roundRect">
              <a:avLst>
                <a:gd name="adj" fmla="val 16667"/>
              </a:avLst>
            </a:prstGeom>
            <a:solidFill>
              <a:schemeClr val="bg1">
                <a:alpha val="50195"/>
              </a:schemeClr>
            </a:solidFill>
            <a:ln w="9525">
              <a:solidFill>
                <a:srgbClr val="FFFFFF"/>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500" dirty="0">
                  <a:latin typeface="微软雅黑" panose="020B0503020204020204" charset="-122"/>
                  <a:ea typeface="微软雅黑" panose="020B0503020204020204" charset="-122"/>
                </a:rPr>
                <a:t>源程序</a:t>
              </a:r>
            </a:p>
          </p:txBody>
        </p:sp>
        <p:sp>
          <p:nvSpPr>
            <p:cNvPr id="17" name="AutoShape 5"/>
            <p:cNvSpPr>
              <a:spLocks noChangeArrowheads="1"/>
            </p:cNvSpPr>
            <p:nvPr/>
          </p:nvSpPr>
          <p:spPr bwMode="auto">
            <a:xfrm>
              <a:off x="8711208" y="1124744"/>
              <a:ext cx="1316832" cy="571501"/>
            </a:xfrm>
            <a:prstGeom prst="roundRect">
              <a:avLst>
                <a:gd name="adj" fmla="val 16667"/>
              </a:avLst>
            </a:prstGeom>
            <a:solidFill>
              <a:schemeClr val="accent6">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500" dirty="0">
                  <a:latin typeface="微软雅黑" panose="020B0503020204020204" charset="-122"/>
                  <a:ea typeface="微软雅黑" panose="020B0503020204020204" charset="-122"/>
                </a:rPr>
                <a:t>词法分析</a:t>
              </a:r>
            </a:p>
          </p:txBody>
        </p:sp>
        <p:sp>
          <p:nvSpPr>
            <p:cNvPr id="18" name="AutoShape 6"/>
            <p:cNvSpPr>
              <a:spLocks noChangeArrowheads="1"/>
            </p:cNvSpPr>
            <p:nvPr/>
          </p:nvSpPr>
          <p:spPr bwMode="auto">
            <a:xfrm>
              <a:off x="7948988" y="1328341"/>
              <a:ext cx="717190"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微软雅黑" panose="020B0503020204020204" charset="-122"/>
                <a:ea typeface="微软雅黑" panose="020B0503020204020204" charset="-122"/>
              </a:endParaRPr>
            </a:p>
          </p:txBody>
        </p:sp>
        <p:sp>
          <p:nvSpPr>
            <p:cNvPr id="20" name="Text Box 8"/>
            <p:cNvSpPr txBox="1">
              <a:spLocks noChangeArrowheads="1"/>
            </p:cNvSpPr>
            <p:nvPr/>
          </p:nvSpPr>
          <p:spPr bwMode="auto">
            <a:xfrm>
              <a:off x="10755832" y="1167135"/>
              <a:ext cx="1468995" cy="57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500" dirty="0">
                  <a:latin typeface="微软雅黑" panose="020B0503020204020204" charset="-122"/>
                  <a:ea typeface="微软雅黑" panose="020B0503020204020204" charset="-122"/>
                </a:rPr>
                <a:t>单词记号</a:t>
              </a:r>
            </a:p>
          </p:txBody>
        </p:sp>
        <p:sp>
          <p:nvSpPr>
            <p:cNvPr id="22" name="AutoShape 6"/>
            <p:cNvSpPr>
              <a:spLocks noChangeArrowheads="1"/>
            </p:cNvSpPr>
            <p:nvPr/>
          </p:nvSpPr>
          <p:spPr bwMode="auto">
            <a:xfrm>
              <a:off x="10067843" y="1328341"/>
              <a:ext cx="717190"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微软雅黑" panose="020B0503020204020204" charset="-122"/>
                <a:ea typeface="微软雅黑" panose="020B0503020204020204" charset="-122"/>
              </a:endParaRPr>
            </a:p>
          </p:txBody>
        </p:sp>
      </p:grpSp>
      <p:sp>
        <p:nvSpPr>
          <p:cNvPr id="2" name="文本框 1"/>
          <p:cNvSpPr txBox="1"/>
          <p:nvPr/>
        </p:nvSpPr>
        <p:spPr>
          <a:xfrm>
            <a:off x="755576" y="897999"/>
            <a:ext cx="4504611" cy="300082"/>
          </a:xfrm>
          <a:prstGeom prst="rect">
            <a:avLst/>
          </a:prstGeom>
          <a:noFill/>
        </p:spPr>
        <p:txBody>
          <a:bodyPr wrap="square" rtlCol="0" anchor="t">
            <a:spAutoFit/>
          </a:bodyPr>
          <a:lstStyle/>
          <a:p>
            <a:r>
              <a:rPr lang="zh-CN" altLang="en-US" sz="1350" dirty="0">
                <a:sym typeface="+mn-ea"/>
              </a:rPr>
              <a:t>有哪些方法可以实现源程序中各种单词的切分？</a:t>
            </a:r>
          </a:p>
        </p:txBody>
      </p:sp>
      <p:pic>
        <p:nvPicPr>
          <p:cNvPr id="7" name="图片 6"/>
          <p:cNvPicPr>
            <a:picLocks noChangeAspect="1"/>
          </p:cNvPicPr>
          <p:nvPr/>
        </p:nvPicPr>
        <p:blipFill>
          <a:blip r:embed="rId5"/>
          <a:stretch>
            <a:fillRect/>
          </a:stretch>
        </p:blipFill>
        <p:spPr>
          <a:xfrm>
            <a:off x="5285893" y="843558"/>
            <a:ext cx="2376264" cy="3792571"/>
          </a:xfrm>
          <a:prstGeom prst="rect">
            <a:avLst/>
          </a:prstGeom>
          <a:ln>
            <a:solidFill>
              <a:srgbClr val="FFC000"/>
            </a:solidFill>
          </a:ln>
        </p:spPr>
      </p:pic>
      <p:sp>
        <p:nvSpPr>
          <p:cNvPr id="8" name="矩形 7"/>
          <p:cNvSpPr/>
          <p:nvPr>
            <p:custDataLst>
              <p:tags r:id="rId2"/>
            </p:custDataLst>
          </p:nvPr>
        </p:nvSpPr>
        <p:spPr>
          <a:xfrm>
            <a:off x="1112112" y="2366727"/>
            <a:ext cx="2739807" cy="646331"/>
          </a:xfrm>
          <a:prstGeom prst="rect">
            <a:avLst/>
          </a:prstGeom>
          <a:ln w="3175"/>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altLang="zh-CN" dirty="0">
                <a:solidFill>
                  <a:schemeClr val="tx1"/>
                </a:solidFill>
              </a:rPr>
              <a:t>if (radius &gt;=  2.0)</a:t>
            </a:r>
          </a:p>
          <a:p>
            <a:pPr>
              <a:defRPr/>
            </a:pPr>
            <a:r>
              <a:rPr lang="en-US" altLang="zh-CN" dirty="0">
                <a:solidFill>
                  <a:schemeClr val="tx1"/>
                </a:solidFill>
              </a:rPr>
              <a:t>    Circ = 2*pi*radius</a:t>
            </a:r>
          </a:p>
        </p:txBody>
      </p:sp>
      <p:sp>
        <p:nvSpPr>
          <p:cNvPr id="24" name="Rectangle 2">
            <a:extLst>
              <a:ext uri="{FF2B5EF4-FFF2-40B4-BE49-F238E27FC236}">
                <a16:creationId xmlns:a16="http://schemas.microsoft.com/office/drawing/2014/main" id="{CC65C52F-A882-4E41-8247-4BA60B3A831D}"/>
              </a:ext>
            </a:extLst>
          </p:cNvPr>
          <p:cNvSpPr txBox="1">
            <a:spLocks noChangeArrowheads="1"/>
          </p:cNvSpPr>
          <p:nvPr/>
        </p:nvSpPr>
        <p:spPr>
          <a:xfrm>
            <a:off x="107504" y="123478"/>
            <a:ext cx="8229600" cy="576064"/>
          </a:xfrm>
          <a:prstGeom prst="rect">
            <a:avLst/>
          </a:prstGeom>
        </p:spPr>
        <p:txBody>
          <a:bodyPr>
            <a:normAutofit fontScale="675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zh-CN" altLang="en-US" sz="5400" dirty="0">
                <a:solidFill>
                  <a:srgbClr val="CC0099"/>
                </a:solidFill>
                <a:latin typeface="Times New Roman" pitchFamily="18" charset="0"/>
              </a:rPr>
              <a:t>  讨论</a:t>
            </a:r>
          </a:p>
        </p:txBody>
      </p:sp>
      <p:sp>
        <p:nvSpPr>
          <p:cNvPr id="3" name="箭头: 右 2">
            <a:extLst>
              <a:ext uri="{FF2B5EF4-FFF2-40B4-BE49-F238E27FC236}">
                <a16:creationId xmlns:a16="http://schemas.microsoft.com/office/drawing/2014/main" id="{7CB100B1-0DB0-4B32-8584-425A4226433C}"/>
              </a:ext>
            </a:extLst>
          </p:cNvPr>
          <p:cNvSpPr/>
          <p:nvPr/>
        </p:nvSpPr>
        <p:spPr>
          <a:xfrm>
            <a:off x="4030417" y="2643758"/>
            <a:ext cx="90162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advTm="15447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84043" y="887385"/>
            <a:ext cx="3924113" cy="338554"/>
          </a:xfrm>
          <a:prstGeom prst="rect">
            <a:avLst/>
          </a:prstGeom>
          <a:noFill/>
        </p:spPr>
        <p:txBody>
          <a:bodyPr wrap="square">
            <a:spAutoFit/>
          </a:bodyPr>
          <a:lstStyle/>
          <a:p>
            <a:r>
              <a:rPr lang="zh-CN" altLang="en-US" sz="1600" dirty="0">
                <a:solidFill>
                  <a:srgbClr val="000000"/>
                </a:solidFill>
                <a:latin typeface="Arial" panose="020B0604020202020204" pitchFamily="34" charset="0"/>
              </a:rPr>
              <a:t>词法分析器的构造方法一般有两种：</a:t>
            </a:r>
            <a:endParaRPr lang="en-US" altLang="zh-CN" sz="1600" dirty="0">
              <a:solidFill>
                <a:srgbClr val="000000"/>
              </a:solidFill>
              <a:latin typeface="Arial" panose="020B0604020202020204" pitchFamily="34" charset="0"/>
            </a:endParaRPr>
          </a:p>
        </p:txBody>
      </p:sp>
      <p:sp>
        <p:nvSpPr>
          <p:cNvPr id="6" name="文本框 5"/>
          <p:cNvSpPr txBox="1"/>
          <p:nvPr/>
        </p:nvSpPr>
        <p:spPr>
          <a:xfrm>
            <a:off x="1403713" y="1274870"/>
            <a:ext cx="1504951" cy="323165"/>
          </a:xfrm>
          <a:prstGeom prst="rect">
            <a:avLst/>
          </a:prstGeom>
          <a:noFill/>
        </p:spPr>
        <p:txBody>
          <a:bodyPr wrap="square" rtlCol="0">
            <a:spAutoFit/>
          </a:bodyPr>
          <a:lstStyle/>
          <a:p>
            <a:pPr marL="385763" indent="-385763">
              <a:buFont typeface="Wingdings" panose="05000000000000000000" pitchFamily="2" charset="2"/>
              <a:buChar char="n"/>
            </a:pPr>
            <a:r>
              <a:rPr lang="zh-CN" altLang="en-US" sz="1500" dirty="0">
                <a:solidFill>
                  <a:srgbClr val="0000FF"/>
                </a:solidFill>
              </a:rPr>
              <a:t>手工构造</a:t>
            </a:r>
          </a:p>
        </p:txBody>
      </p:sp>
      <p:sp>
        <p:nvSpPr>
          <p:cNvPr id="11" name="文本框 10"/>
          <p:cNvSpPr txBox="1"/>
          <p:nvPr/>
        </p:nvSpPr>
        <p:spPr>
          <a:xfrm>
            <a:off x="1437198" y="2755527"/>
            <a:ext cx="1437367" cy="323165"/>
          </a:xfrm>
          <a:prstGeom prst="rect">
            <a:avLst/>
          </a:prstGeom>
          <a:noFill/>
        </p:spPr>
        <p:txBody>
          <a:bodyPr wrap="square" rtlCol="0">
            <a:spAutoFit/>
          </a:bodyPr>
          <a:lstStyle/>
          <a:p>
            <a:pPr marL="342900" indent="-342900">
              <a:buFont typeface="Wingdings" panose="05000000000000000000" pitchFamily="2" charset="2"/>
              <a:buChar char="n"/>
            </a:pPr>
            <a:r>
              <a:rPr lang="zh-CN" altLang="en-US" sz="1500" dirty="0">
                <a:solidFill>
                  <a:srgbClr val="0000FF"/>
                </a:solidFill>
              </a:rPr>
              <a:t>自动生成</a:t>
            </a:r>
          </a:p>
        </p:txBody>
      </p:sp>
      <p:sp>
        <p:nvSpPr>
          <p:cNvPr id="19" name="文本框 18"/>
          <p:cNvSpPr txBox="1"/>
          <p:nvPr/>
        </p:nvSpPr>
        <p:spPr>
          <a:xfrm>
            <a:off x="3194528" y="1262672"/>
            <a:ext cx="2542110" cy="338554"/>
          </a:xfrm>
          <a:prstGeom prst="rect">
            <a:avLst/>
          </a:prstGeom>
          <a:noFill/>
        </p:spPr>
        <p:txBody>
          <a:bodyPr wrap="square">
            <a:spAutoFit/>
          </a:bodyPr>
          <a:lstStyle/>
          <a:p>
            <a:r>
              <a:rPr lang="zh-CN" altLang="en-US" sz="1600" dirty="0">
                <a:solidFill>
                  <a:srgbClr val="000000"/>
                </a:solidFill>
                <a:latin typeface="Arial" panose="020B0604020202020204" pitchFamily="34" charset="0"/>
              </a:rPr>
              <a:t>手工编写单词识别程序</a:t>
            </a:r>
            <a:endParaRPr lang="en-US" altLang="zh-CN" sz="1600" dirty="0">
              <a:solidFill>
                <a:srgbClr val="000000"/>
              </a:solidFill>
              <a:latin typeface="Arial" panose="020B0604020202020204" pitchFamily="34" charset="0"/>
            </a:endParaRPr>
          </a:p>
        </p:txBody>
      </p:sp>
      <p:sp>
        <p:nvSpPr>
          <p:cNvPr id="21" name="文本框 20"/>
          <p:cNvSpPr txBox="1"/>
          <p:nvPr/>
        </p:nvSpPr>
        <p:spPr>
          <a:xfrm>
            <a:off x="3279699" y="2740138"/>
            <a:ext cx="2245576" cy="338554"/>
          </a:xfrm>
          <a:prstGeom prst="rect">
            <a:avLst/>
          </a:prstGeom>
          <a:noFill/>
        </p:spPr>
        <p:txBody>
          <a:bodyPr wrap="square">
            <a:spAutoFit/>
          </a:bodyPr>
          <a:lstStyle/>
          <a:p>
            <a:r>
              <a:rPr lang="zh-CN" altLang="en-US" sz="1600" dirty="0">
                <a:solidFill>
                  <a:srgbClr val="000000"/>
                </a:solidFill>
                <a:latin typeface="Arial" panose="020B0604020202020204" pitchFamily="34" charset="0"/>
              </a:rPr>
              <a:t>模式匹配扫描</a:t>
            </a:r>
          </a:p>
        </p:txBody>
      </p:sp>
      <p:sp>
        <p:nvSpPr>
          <p:cNvPr id="8" name="右箭头 7"/>
          <p:cNvSpPr/>
          <p:nvPr/>
        </p:nvSpPr>
        <p:spPr>
          <a:xfrm>
            <a:off x="2841081" y="1402003"/>
            <a:ext cx="269003" cy="54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右箭头 24"/>
          <p:cNvSpPr/>
          <p:nvPr/>
        </p:nvSpPr>
        <p:spPr>
          <a:xfrm>
            <a:off x="2874565" y="2864632"/>
            <a:ext cx="312254" cy="54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p:cNvSpPr txBox="1"/>
          <p:nvPr/>
        </p:nvSpPr>
        <p:spPr>
          <a:xfrm>
            <a:off x="1475656" y="1632073"/>
            <a:ext cx="4748826" cy="1077218"/>
          </a:xfrm>
          <a:prstGeom prst="rect">
            <a:avLst/>
          </a:prstGeom>
          <a:noFill/>
        </p:spPr>
        <p:txBody>
          <a:bodyPr wrap="square">
            <a:spAutoFit/>
          </a:bodyPr>
          <a:lstStyle/>
          <a:p>
            <a:pPr marL="257175" indent="-257175">
              <a:buFont typeface="Wingdings" panose="05000000000000000000" pitchFamily="2" charset="2"/>
              <a:buChar char="p"/>
            </a:pPr>
            <a:r>
              <a:rPr lang="zh-CN" altLang="en-US" sz="1600" dirty="0"/>
              <a:t>相对较复杂、容易出错</a:t>
            </a:r>
          </a:p>
          <a:p>
            <a:pPr marL="257175" indent="-257175">
              <a:buFont typeface="Wingdings" panose="05000000000000000000" pitchFamily="2" charset="2"/>
              <a:buChar char="p"/>
            </a:pPr>
            <a:r>
              <a:rPr lang="zh-CN" altLang="en-US" sz="1600" dirty="0">
                <a:solidFill>
                  <a:srgbClr val="4D4D4D"/>
                </a:solidFill>
                <a:latin typeface="-apple-system"/>
              </a:rPr>
              <a:t>比较精确的控制，</a:t>
            </a:r>
            <a:r>
              <a:rPr lang="zh-CN" altLang="en-US" sz="1600" dirty="0"/>
              <a:t>效率较高</a:t>
            </a:r>
            <a:endParaRPr lang="en-US" altLang="zh-CN" sz="1600" dirty="0"/>
          </a:p>
          <a:p>
            <a:pPr marL="257175" indent="-257175">
              <a:buFont typeface="Wingdings" panose="05000000000000000000" pitchFamily="2" charset="2"/>
              <a:buChar char="p"/>
            </a:pPr>
            <a:r>
              <a:rPr lang="zh-CN" altLang="en-US" sz="1600" dirty="0"/>
              <a:t>生成的词法分析程序的代码量少</a:t>
            </a:r>
            <a:endParaRPr lang="en-US" altLang="zh-CN" sz="1600" dirty="0"/>
          </a:p>
          <a:p>
            <a:pPr marL="257175" indent="-257175">
              <a:buFont typeface="Wingdings" panose="05000000000000000000" pitchFamily="2" charset="2"/>
              <a:buChar char="p"/>
            </a:pPr>
            <a:r>
              <a:rPr lang="zh-CN" altLang="en-US" sz="1600" dirty="0"/>
              <a:t>是目前非常流行的实现方法：</a:t>
            </a:r>
            <a:r>
              <a:rPr lang="en-US" altLang="zh-CN" sz="1600" dirty="0">
                <a:solidFill>
                  <a:srgbClr val="FF0000"/>
                </a:solidFill>
              </a:rPr>
              <a:t>GCC,LLVM...</a:t>
            </a:r>
          </a:p>
        </p:txBody>
      </p:sp>
      <p:sp>
        <p:nvSpPr>
          <p:cNvPr id="5" name="文本框 4"/>
          <p:cNvSpPr txBox="1"/>
          <p:nvPr/>
        </p:nvSpPr>
        <p:spPr>
          <a:xfrm>
            <a:off x="1475656" y="3109539"/>
            <a:ext cx="4081029" cy="1077218"/>
          </a:xfrm>
          <a:prstGeom prst="rect">
            <a:avLst/>
          </a:prstGeom>
          <a:noFill/>
        </p:spPr>
        <p:txBody>
          <a:bodyPr wrap="square">
            <a:spAutoFit/>
          </a:bodyPr>
          <a:lstStyle/>
          <a:p>
            <a:pPr marL="257175" indent="-257175">
              <a:buFont typeface="Wingdings" panose="05000000000000000000" pitchFamily="2" charset="2"/>
              <a:buChar char="p"/>
            </a:pPr>
            <a:r>
              <a:rPr lang="zh-CN" altLang="en-US" sz="1600" dirty="0"/>
              <a:t>可快速原型、程序员写代码量较少</a:t>
            </a:r>
            <a:endParaRPr lang="en-US" altLang="zh-CN" sz="1600" dirty="0"/>
          </a:p>
          <a:p>
            <a:pPr marL="257175" indent="-257175">
              <a:buFont typeface="Wingdings" panose="05000000000000000000" pitchFamily="2" charset="2"/>
              <a:buChar char="p"/>
            </a:pPr>
            <a:r>
              <a:rPr lang="zh-CN" altLang="en-US" sz="1600" dirty="0"/>
              <a:t>很难控制细节，难于调优</a:t>
            </a:r>
          </a:p>
          <a:p>
            <a:pPr marL="257175" indent="-257175">
              <a:buFont typeface="Wingdings" panose="05000000000000000000" pitchFamily="2" charset="2"/>
              <a:buChar char="p"/>
            </a:pPr>
            <a:r>
              <a:rPr lang="zh-CN" altLang="en-US" sz="1600" dirty="0"/>
              <a:t>常见的词法分析自动生成工具：</a:t>
            </a:r>
            <a:r>
              <a:rPr lang="en-US" altLang="zh-CN" sz="1600" dirty="0">
                <a:solidFill>
                  <a:srgbClr val="FF0000"/>
                </a:solidFill>
              </a:rPr>
              <a:t>Lex/Flex/</a:t>
            </a:r>
            <a:r>
              <a:rPr lang="en-US" altLang="zh-CN" sz="1600" dirty="0" err="1">
                <a:solidFill>
                  <a:srgbClr val="FF0000"/>
                </a:solidFill>
              </a:rPr>
              <a:t>Jlex</a:t>
            </a:r>
            <a:r>
              <a:rPr lang="en-US" altLang="zh-CN" sz="1600" dirty="0">
                <a:solidFill>
                  <a:srgbClr val="FF0000"/>
                </a:solidFill>
              </a:rPr>
              <a:t>…</a:t>
            </a:r>
          </a:p>
        </p:txBody>
      </p:sp>
      <p:sp>
        <p:nvSpPr>
          <p:cNvPr id="22" name="标题 1">
            <a:extLst>
              <a:ext uri="{FF2B5EF4-FFF2-40B4-BE49-F238E27FC236}">
                <a16:creationId xmlns:a16="http://schemas.microsoft.com/office/drawing/2014/main" id="{5F6CBCA4-4F25-4C24-A39B-FDE2F1617351}"/>
              </a:ext>
            </a:extLst>
          </p:cNvPr>
          <p:cNvSpPr txBox="1">
            <a:spLocks/>
          </p:cNvSpPr>
          <p:nvPr/>
        </p:nvSpPr>
        <p:spPr>
          <a:xfrm>
            <a:off x="107504" y="123478"/>
            <a:ext cx="8229600" cy="576064"/>
          </a:xfrm>
          <a:prstGeom prst="rect">
            <a:avLst/>
          </a:prstGeom>
        </p:spPr>
        <p:txBody>
          <a:bodyPr>
            <a:normAutofit fontScale="675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en-US" altLang="zh-CN" sz="5400" dirty="0">
                <a:solidFill>
                  <a:srgbClr val="CC0099"/>
                </a:solidFill>
                <a:latin typeface="Times New Roman" pitchFamily="18" charset="0"/>
              </a:rPr>
              <a:t>2.3 </a:t>
            </a:r>
            <a:r>
              <a:rPr kumimoji="1" lang="zh-CN" altLang="zh-CN" sz="5400" dirty="0">
                <a:solidFill>
                  <a:srgbClr val="CC0099"/>
                </a:solidFill>
                <a:latin typeface="Times New Roman" pitchFamily="18" charset="0"/>
              </a:rPr>
              <a:t>单词的识别</a:t>
            </a:r>
            <a:endParaRPr kumimoji="1" lang="zh-CN" altLang="en-US" sz="5400" dirty="0">
              <a:solidFill>
                <a:srgbClr val="CC0099"/>
              </a:solidFill>
              <a:latin typeface="Times New Roman" pitchFamily="18" charset="0"/>
            </a:endParaRPr>
          </a:p>
        </p:txBody>
      </p:sp>
    </p:spTree>
  </p:cSld>
  <p:clrMapOvr>
    <a:masterClrMapping/>
  </p:clrMapOvr>
  <p:transition advTm="61246"/>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E0860-7BF7-4F3F-8ABC-3ECA8CF49D8D}"/>
              </a:ext>
            </a:extLst>
          </p:cNvPr>
          <p:cNvSpPr txBox="1">
            <a:spLocks/>
          </p:cNvSpPr>
          <p:nvPr/>
        </p:nvSpPr>
        <p:spPr>
          <a:xfrm>
            <a:off x="147336" y="97022"/>
            <a:ext cx="8229600" cy="576064"/>
          </a:xfrm>
          <a:prstGeom prst="rect">
            <a:avLst/>
          </a:prstGeom>
        </p:spPr>
        <p:txBody>
          <a:bodyPr>
            <a:normAutofit fontScale="675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en-US" altLang="zh-CN" sz="5400" dirty="0">
                <a:solidFill>
                  <a:srgbClr val="CC0099"/>
                </a:solidFill>
                <a:latin typeface="Times New Roman" pitchFamily="18" charset="0"/>
              </a:rPr>
              <a:t>2.3 </a:t>
            </a:r>
            <a:r>
              <a:rPr kumimoji="1" lang="zh-CN" altLang="zh-CN" sz="5400" dirty="0">
                <a:solidFill>
                  <a:srgbClr val="CC0099"/>
                </a:solidFill>
                <a:latin typeface="Times New Roman" pitchFamily="18" charset="0"/>
              </a:rPr>
              <a:t>单词的识别</a:t>
            </a:r>
            <a:endParaRPr kumimoji="1" lang="zh-CN" altLang="en-US" sz="5400" dirty="0">
              <a:solidFill>
                <a:srgbClr val="CC0099"/>
              </a:solidFill>
              <a:latin typeface="Times New Roman" pitchFamily="18" charset="0"/>
            </a:endParaRPr>
          </a:p>
        </p:txBody>
      </p:sp>
      <p:sp>
        <p:nvSpPr>
          <p:cNvPr id="4" name="内容占位符 3">
            <a:extLst>
              <a:ext uri="{FF2B5EF4-FFF2-40B4-BE49-F238E27FC236}">
                <a16:creationId xmlns:a16="http://schemas.microsoft.com/office/drawing/2014/main" id="{8396125E-9ED8-4330-A96B-7820438091C7}"/>
              </a:ext>
            </a:extLst>
          </p:cNvPr>
          <p:cNvSpPr>
            <a:spLocks noGrp="1"/>
          </p:cNvSpPr>
          <p:nvPr>
            <p:ph idx="1"/>
          </p:nvPr>
        </p:nvSpPr>
        <p:spPr>
          <a:xfrm>
            <a:off x="179512" y="908383"/>
            <a:ext cx="4550026" cy="1233254"/>
          </a:xfrm>
        </p:spPr>
        <p:txBody>
          <a:bodyPr>
            <a:normAutofit/>
          </a:bodyPr>
          <a:lstStyle/>
          <a:p>
            <a:pPr>
              <a:spcBef>
                <a:spcPct val="0"/>
              </a:spcBef>
              <a:buNone/>
              <a:defRPr/>
            </a:pPr>
            <a:r>
              <a:rPr lang="zh-CN" altLang="en-US" sz="1800" dirty="0">
                <a:latin typeface="微软雅黑" panose="020B0503020204020204" charset="-122"/>
                <a:ea typeface="微软雅黑" panose="020B0503020204020204" charset="-122"/>
              </a:rPr>
              <a:t>总体思路：</a:t>
            </a:r>
            <a:endParaRPr lang="en-US" altLang="zh-CN" sz="1800" dirty="0">
              <a:latin typeface="微软雅黑" panose="020B0503020204020204" charset="-122"/>
              <a:ea typeface="微软雅黑" panose="020B0503020204020204" charset="-122"/>
            </a:endParaRPr>
          </a:p>
          <a:p>
            <a:pPr marL="257175" indent="-257175">
              <a:spcBef>
                <a:spcPct val="0"/>
              </a:spcBef>
              <a:defRPr/>
            </a:pPr>
            <a:r>
              <a:rPr lang="zh-CN" altLang="en-US" sz="1800" dirty="0">
                <a:latin typeface="微软雅黑" panose="020B0503020204020204" charset="-122"/>
                <a:ea typeface="微软雅黑" panose="020B0503020204020204" charset="-122"/>
              </a:rPr>
              <a:t>从头到尾读取每一个符号，进行拼接</a:t>
            </a:r>
            <a:endParaRPr lang="en-US" altLang="zh-CN" sz="1800" dirty="0">
              <a:latin typeface="微软雅黑" panose="020B0503020204020204" charset="-122"/>
              <a:ea typeface="微软雅黑" panose="020B0503020204020204" charset="-122"/>
            </a:endParaRPr>
          </a:p>
          <a:p>
            <a:pPr marL="257175" indent="-257175">
              <a:spcBef>
                <a:spcPct val="0"/>
              </a:spcBef>
              <a:defRPr/>
            </a:pPr>
            <a:r>
              <a:rPr lang="zh-CN" altLang="en-US" sz="1800" dirty="0">
                <a:latin typeface="微软雅黑" panose="020B0503020204020204" charset="-122"/>
                <a:ea typeface="微软雅黑" panose="020B0503020204020204" charset="-122"/>
              </a:rPr>
              <a:t>当构成一个单词后，查种别码表并输出</a:t>
            </a:r>
            <a:endParaRPr lang="en-US" altLang="zh-CN" sz="1800" dirty="0">
              <a:latin typeface="微软雅黑" panose="020B0503020204020204" charset="-122"/>
              <a:ea typeface="微软雅黑" panose="020B0503020204020204" charset="-122"/>
            </a:endParaRPr>
          </a:p>
          <a:p>
            <a:pPr marL="257175" indent="-257175">
              <a:spcBef>
                <a:spcPct val="0"/>
              </a:spcBef>
              <a:defRPr/>
            </a:pPr>
            <a:r>
              <a:rPr lang="zh-CN" altLang="en-US" sz="1800" dirty="0">
                <a:latin typeface="微软雅黑" panose="020B0503020204020204" charset="-122"/>
                <a:ea typeface="微软雅黑" panose="020B0503020204020204" charset="-122"/>
              </a:rPr>
              <a:t>继续这一过程，直到整个源程序读完</a:t>
            </a:r>
          </a:p>
          <a:p>
            <a:endParaRPr lang="zh-CN" altLang="en-US" dirty="0"/>
          </a:p>
        </p:txBody>
      </p:sp>
      <p:sp>
        <p:nvSpPr>
          <p:cNvPr id="5" name="矩形 4">
            <a:extLst>
              <a:ext uri="{FF2B5EF4-FFF2-40B4-BE49-F238E27FC236}">
                <a16:creationId xmlns:a16="http://schemas.microsoft.com/office/drawing/2014/main" id="{ECEBBE0B-26C9-4C59-AF85-6E8A3253CA1B}"/>
              </a:ext>
            </a:extLst>
          </p:cNvPr>
          <p:cNvSpPr/>
          <p:nvPr/>
        </p:nvSpPr>
        <p:spPr>
          <a:xfrm>
            <a:off x="454739" y="2484060"/>
            <a:ext cx="3024336" cy="707886"/>
          </a:xfrm>
          <a:prstGeom prst="rect">
            <a:avLst/>
          </a:prstGeom>
          <a:ln w="3175"/>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altLang="zh-CN" sz="2000" dirty="0">
                <a:solidFill>
                  <a:schemeClr val="tx1"/>
                </a:solidFill>
              </a:rPr>
              <a:t>if (radius &gt;=  2.0)</a:t>
            </a:r>
          </a:p>
          <a:p>
            <a:pPr>
              <a:defRPr/>
            </a:pPr>
            <a:r>
              <a:rPr lang="en-US" altLang="zh-CN" sz="2000" dirty="0">
                <a:solidFill>
                  <a:schemeClr val="tx1"/>
                </a:solidFill>
              </a:rPr>
              <a:t>    Circ = 2*pi*radius</a:t>
            </a:r>
          </a:p>
        </p:txBody>
      </p:sp>
      <p:grpSp>
        <p:nvGrpSpPr>
          <p:cNvPr id="65" name="组合 64">
            <a:extLst>
              <a:ext uri="{FF2B5EF4-FFF2-40B4-BE49-F238E27FC236}">
                <a16:creationId xmlns:a16="http://schemas.microsoft.com/office/drawing/2014/main" id="{33F777DC-582C-4BF0-8FA1-2C9003BFC8B4}"/>
              </a:ext>
            </a:extLst>
          </p:cNvPr>
          <p:cNvGrpSpPr/>
          <p:nvPr/>
        </p:nvGrpSpPr>
        <p:grpSpPr>
          <a:xfrm>
            <a:off x="3720381" y="1131590"/>
            <a:ext cx="5367813" cy="3028182"/>
            <a:chOff x="3667646" y="1654579"/>
            <a:chExt cx="5367813" cy="3028182"/>
          </a:xfrm>
        </p:grpSpPr>
        <p:sp>
          <p:nvSpPr>
            <p:cNvPr id="6" name="AutoShape 4">
              <a:extLst>
                <a:ext uri="{FF2B5EF4-FFF2-40B4-BE49-F238E27FC236}">
                  <a16:creationId xmlns:a16="http://schemas.microsoft.com/office/drawing/2014/main" id="{DCCB8E19-839B-4575-80B1-5CCD1E3F6E48}"/>
                </a:ext>
              </a:extLst>
            </p:cNvPr>
            <p:cNvSpPr>
              <a:spLocks noChangeArrowheads="1"/>
            </p:cNvSpPr>
            <p:nvPr/>
          </p:nvSpPr>
          <p:spPr bwMode="auto">
            <a:xfrm>
              <a:off x="4355976" y="2302453"/>
              <a:ext cx="528593" cy="269297"/>
            </a:xfrm>
            <a:prstGeom prst="roundRect">
              <a:avLst>
                <a:gd name="adj" fmla="val 16667"/>
              </a:avLst>
            </a:prstGeom>
            <a:solidFill>
              <a:schemeClr val="bg1">
                <a:alpha val="50195"/>
              </a:schemeClr>
            </a:solidFill>
            <a:ln w="9525">
              <a:solidFill>
                <a:srgbClr val="FFFFFF"/>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源程序</a:t>
              </a:r>
            </a:p>
          </p:txBody>
        </p:sp>
        <p:grpSp>
          <p:nvGrpSpPr>
            <p:cNvPr id="7" name="组合 6">
              <a:extLst>
                <a:ext uri="{FF2B5EF4-FFF2-40B4-BE49-F238E27FC236}">
                  <a16:creationId xmlns:a16="http://schemas.microsoft.com/office/drawing/2014/main" id="{C48A1B52-10A0-44DA-B84E-ECDFD2BE25CA}"/>
                </a:ext>
              </a:extLst>
            </p:cNvPr>
            <p:cNvGrpSpPr/>
            <p:nvPr/>
          </p:nvGrpSpPr>
          <p:grpSpPr>
            <a:xfrm>
              <a:off x="5519112" y="1654579"/>
              <a:ext cx="2600801" cy="285459"/>
              <a:chOff x="6888088" y="1124744"/>
              <a:chExt cx="5454180" cy="605800"/>
            </a:xfrm>
          </p:grpSpPr>
          <p:sp>
            <p:nvSpPr>
              <p:cNvPr id="8" name="AutoShape 4">
                <a:extLst>
                  <a:ext uri="{FF2B5EF4-FFF2-40B4-BE49-F238E27FC236}">
                    <a16:creationId xmlns:a16="http://schemas.microsoft.com/office/drawing/2014/main" id="{B4DEFABF-ED2F-4884-AF81-18BD7D2BBEED}"/>
                  </a:ext>
                </a:extLst>
              </p:cNvPr>
              <p:cNvSpPr>
                <a:spLocks noChangeArrowheads="1"/>
              </p:cNvSpPr>
              <p:nvPr/>
            </p:nvSpPr>
            <p:spPr bwMode="auto">
              <a:xfrm>
                <a:off x="6888088" y="1124744"/>
                <a:ext cx="1108519" cy="571501"/>
              </a:xfrm>
              <a:prstGeom prst="roundRect">
                <a:avLst>
                  <a:gd name="adj" fmla="val 16667"/>
                </a:avLst>
              </a:prstGeom>
              <a:solidFill>
                <a:schemeClr val="bg1">
                  <a:alpha val="50195"/>
                </a:schemeClr>
              </a:solidFill>
              <a:ln w="9525">
                <a:solidFill>
                  <a:srgbClr val="FFFFFF"/>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源程序</a:t>
                </a:r>
              </a:p>
            </p:txBody>
          </p:sp>
          <p:sp>
            <p:nvSpPr>
              <p:cNvPr id="9" name="AutoShape 5">
                <a:extLst>
                  <a:ext uri="{FF2B5EF4-FFF2-40B4-BE49-F238E27FC236}">
                    <a16:creationId xmlns:a16="http://schemas.microsoft.com/office/drawing/2014/main" id="{988F6889-52A4-4D58-AE78-1ADC41E390BA}"/>
                  </a:ext>
                </a:extLst>
              </p:cNvPr>
              <p:cNvSpPr>
                <a:spLocks noChangeArrowheads="1"/>
              </p:cNvSpPr>
              <p:nvPr/>
            </p:nvSpPr>
            <p:spPr bwMode="auto">
              <a:xfrm>
                <a:off x="8711208" y="1124744"/>
                <a:ext cx="1316832" cy="571501"/>
              </a:xfrm>
              <a:prstGeom prst="roundRect">
                <a:avLst>
                  <a:gd name="adj" fmla="val 16667"/>
                </a:avLst>
              </a:prstGeom>
              <a:solidFill>
                <a:srgbClr val="FFC000"/>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词法分析</a:t>
                </a:r>
              </a:p>
            </p:txBody>
          </p:sp>
          <p:sp>
            <p:nvSpPr>
              <p:cNvPr id="10" name="AutoShape 6">
                <a:extLst>
                  <a:ext uri="{FF2B5EF4-FFF2-40B4-BE49-F238E27FC236}">
                    <a16:creationId xmlns:a16="http://schemas.microsoft.com/office/drawing/2014/main" id="{D90E90A7-D720-4C05-BA29-848B28969DBE}"/>
                  </a:ext>
                </a:extLst>
              </p:cNvPr>
              <p:cNvSpPr>
                <a:spLocks noChangeArrowheads="1"/>
              </p:cNvSpPr>
              <p:nvPr/>
            </p:nvSpPr>
            <p:spPr bwMode="auto">
              <a:xfrm>
                <a:off x="7948988" y="1328341"/>
                <a:ext cx="717190"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sp>
            <p:nvSpPr>
              <p:cNvPr id="11" name="Text Box 8">
                <a:extLst>
                  <a:ext uri="{FF2B5EF4-FFF2-40B4-BE49-F238E27FC236}">
                    <a16:creationId xmlns:a16="http://schemas.microsoft.com/office/drawing/2014/main" id="{9E042BF5-5DD2-4DA3-81FC-53D184B2F10A}"/>
                  </a:ext>
                </a:extLst>
              </p:cNvPr>
              <p:cNvSpPr txBox="1">
                <a:spLocks noChangeArrowheads="1"/>
              </p:cNvSpPr>
              <p:nvPr/>
            </p:nvSpPr>
            <p:spPr bwMode="auto">
              <a:xfrm>
                <a:off x="10756251" y="1167192"/>
                <a:ext cx="1586017" cy="563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125" dirty="0">
                    <a:latin typeface="微软雅黑" panose="020B0503020204020204" charset="-122"/>
                    <a:ea typeface="微软雅黑" panose="020B0503020204020204" charset="-122"/>
                  </a:rPr>
                  <a:t>单词记号</a:t>
                </a:r>
              </a:p>
            </p:txBody>
          </p:sp>
          <p:sp>
            <p:nvSpPr>
              <p:cNvPr id="12" name="AutoShape 6">
                <a:extLst>
                  <a:ext uri="{FF2B5EF4-FFF2-40B4-BE49-F238E27FC236}">
                    <a16:creationId xmlns:a16="http://schemas.microsoft.com/office/drawing/2014/main" id="{E89C93C0-6D59-416B-AB7B-9705F3419930}"/>
                  </a:ext>
                </a:extLst>
              </p:cNvPr>
              <p:cNvSpPr>
                <a:spLocks noChangeArrowheads="1"/>
              </p:cNvSpPr>
              <p:nvPr/>
            </p:nvSpPr>
            <p:spPr bwMode="auto">
              <a:xfrm>
                <a:off x="10067843" y="1328341"/>
                <a:ext cx="717190"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grpSp>
        <p:sp>
          <p:nvSpPr>
            <p:cNvPr id="13" name="AutoShape 6">
              <a:extLst>
                <a:ext uri="{FF2B5EF4-FFF2-40B4-BE49-F238E27FC236}">
                  <a16:creationId xmlns:a16="http://schemas.microsoft.com/office/drawing/2014/main" id="{35560AF7-D74C-42D8-A817-F0FFA7169D5E}"/>
                </a:ext>
              </a:extLst>
            </p:cNvPr>
            <p:cNvSpPr>
              <a:spLocks noChangeArrowheads="1"/>
            </p:cNvSpPr>
            <p:nvPr/>
          </p:nvSpPr>
          <p:spPr bwMode="auto">
            <a:xfrm>
              <a:off x="4910819" y="2424164"/>
              <a:ext cx="341989" cy="77423"/>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sp>
          <p:nvSpPr>
            <p:cNvPr id="14" name="Text Box 8">
              <a:extLst>
                <a:ext uri="{FF2B5EF4-FFF2-40B4-BE49-F238E27FC236}">
                  <a16:creationId xmlns:a16="http://schemas.microsoft.com/office/drawing/2014/main" id="{BED28312-A96C-4F13-912B-AB96649461AE}"/>
                </a:ext>
              </a:extLst>
            </p:cNvPr>
            <p:cNvSpPr txBox="1">
              <a:spLocks noChangeArrowheads="1"/>
            </p:cNvSpPr>
            <p:nvPr/>
          </p:nvSpPr>
          <p:spPr bwMode="auto">
            <a:xfrm>
              <a:off x="8559209" y="2280080"/>
              <a:ext cx="47625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125" dirty="0">
                  <a:latin typeface="微软雅黑" panose="020B0503020204020204" charset="-122"/>
                  <a:ea typeface="微软雅黑" panose="020B0503020204020204" charset="-122"/>
                </a:rPr>
                <a:t>单词记号</a:t>
              </a:r>
            </a:p>
          </p:txBody>
        </p:sp>
        <p:sp>
          <p:nvSpPr>
            <p:cNvPr id="15" name="AutoShape 6">
              <a:extLst>
                <a:ext uri="{FF2B5EF4-FFF2-40B4-BE49-F238E27FC236}">
                  <a16:creationId xmlns:a16="http://schemas.microsoft.com/office/drawing/2014/main" id="{99CB7A26-FB92-4CED-B311-57F8C1AB2663}"/>
                </a:ext>
              </a:extLst>
            </p:cNvPr>
            <p:cNvSpPr>
              <a:spLocks noChangeArrowheads="1"/>
            </p:cNvSpPr>
            <p:nvPr/>
          </p:nvSpPr>
          <p:spPr bwMode="auto">
            <a:xfrm>
              <a:off x="8329130" y="2433833"/>
              <a:ext cx="310899" cy="77423"/>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grpSp>
          <p:nvGrpSpPr>
            <p:cNvPr id="16" name="组合 15">
              <a:extLst>
                <a:ext uri="{FF2B5EF4-FFF2-40B4-BE49-F238E27FC236}">
                  <a16:creationId xmlns:a16="http://schemas.microsoft.com/office/drawing/2014/main" id="{4301B796-EDF3-43F9-B32C-A8187E718169}"/>
                </a:ext>
              </a:extLst>
            </p:cNvPr>
            <p:cNvGrpSpPr/>
            <p:nvPr/>
          </p:nvGrpSpPr>
          <p:grpSpPr>
            <a:xfrm>
              <a:off x="5276084" y="2250789"/>
              <a:ext cx="3039102" cy="441101"/>
              <a:chOff x="4151784" y="4056883"/>
              <a:chExt cx="6373346" cy="936104"/>
            </a:xfrm>
          </p:grpSpPr>
          <p:sp>
            <p:nvSpPr>
              <p:cNvPr id="17" name="AutoShape 5">
                <a:extLst>
                  <a:ext uri="{FF2B5EF4-FFF2-40B4-BE49-F238E27FC236}">
                    <a16:creationId xmlns:a16="http://schemas.microsoft.com/office/drawing/2014/main" id="{4D80E06C-3978-4181-B696-8FEA3332F64E}"/>
                  </a:ext>
                </a:extLst>
              </p:cNvPr>
              <p:cNvSpPr>
                <a:spLocks noChangeArrowheads="1"/>
              </p:cNvSpPr>
              <p:nvPr/>
            </p:nvSpPr>
            <p:spPr bwMode="auto">
              <a:xfrm>
                <a:off x="6247433" y="4056883"/>
                <a:ext cx="1676871" cy="936104"/>
              </a:xfrm>
              <a:prstGeom prst="roundRect">
                <a:avLst>
                  <a:gd name="adj" fmla="val 16667"/>
                </a:avLst>
              </a:prstGeom>
              <a:solidFill>
                <a:srgbClr val="FFFFE7"/>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识别单词并</a:t>
                </a:r>
                <a:endParaRPr kumimoji="1" lang="en-US" altLang="zh-CN" sz="1125" dirty="0">
                  <a:latin typeface="微软雅黑" panose="020B0503020204020204" charset="-122"/>
                  <a:ea typeface="微软雅黑" panose="020B0503020204020204" charset="-122"/>
                </a:endParaRPr>
              </a:p>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获取种别码</a:t>
                </a:r>
                <a:endParaRPr kumimoji="1" lang="en-US" altLang="zh-CN" sz="1125" dirty="0">
                  <a:latin typeface="微软雅黑" panose="020B0503020204020204" charset="-122"/>
                  <a:ea typeface="微软雅黑" panose="020B0503020204020204" charset="-122"/>
                </a:endParaRPr>
              </a:p>
            </p:txBody>
          </p:sp>
          <p:sp>
            <p:nvSpPr>
              <p:cNvPr id="18" name="AutoShape 6">
                <a:extLst>
                  <a:ext uri="{FF2B5EF4-FFF2-40B4-BE49-F238E27FC236}">
                    <a16:creationId xmlns:a16="http://schemas.microsoft.com/office/drawing/2014/main" id="{95C4194A-E129-4FFD-A893-15EBD708C630}"/>
                  </a:ext>
                </a:extLst>
              </p:cNvPr>
              <p:cNvSpPr>
                <a:spLocks noChangeArrowheads="1"/>
              </p:cNvSpPr>
              <p:nvPr/>
            </p:nvSpPr>
            <p:spPr bwMode="auto">
              <a:xfrm>
                <a:off x="7945530" y="4429802"/>
                <a:ext cx="735767"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sp>
            <p:nvSpPr>
              <p:cNvPr id="19" name="AutoShape 5">
                <a:extLst>
                  <a:ext uri="{FF2B5EF4-FFF2-40B4-BE49-F238E27FC236}">
                    <a16:creationId xmlns:a16="http://schemas.microsoft.com/office/drawing/2014/main" id="{62BC543A-8A47-4CD7-AC36-5EDD60987EC2}"/>
                  </a:ext>
                </a:extLst>
              </p:cNvPr>
              <p:cNvSpPr>
                <a:spLocks noChangeArrowheads="1"/>
              </p:cNvSpPr>
              <p:nvPr/>
            </p:nvSpPr>
            <p:spPr bwMode="auto">
              <a:xfrm>
                <a:off x="4151784" y="4226205"/>
                <a:ext cx="1383278" cy="571501"/>
              </a:xfrm>
              <a:prstGeom prst="roundRect">
                <a:avLst>
                  <a:gd name="adj" fmla="val 16667"/>
                </a:avLst>
              </a:prstGeom>
              <a:solidFill>
                <a:srgbClr val="FDF0E9"/>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扫描程序</a:t>
                </a:r>
              </a:p>
            </p:txBody>
          </p:sp>
          <p:sp>
            <p:nvSpPr>
              <p:cNvPr id="20" name="AutoShape 6">
                <a:extLst>
                  <a:ext uri="{FF2B5EF4-FFF2-40B4-BE49-F238E27FC236}">
                    <a16:creationId xmlns:a16="http://schemas.microsoft.com/office/drawing/2014/main" id="{07ADBC84-E7ED-46D1-8F0B-A7DC84E0C399}"/>
                  </a:ext>
                </a:extLst>
              </p:cNvPr>
              <p:cNvSpPr>
                <a:spLocks noChangeArrowheads="1"/>
              </p:cNvSpPr>
              <p:nvPr/>
            </p:nvSpPr>
            <p:spPr bwMode="auto">
              <a:xfrm>
                <a:off x="5530243" y="4399033"/>
                <a:ext cx="717190" cy="195076"/>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sp>
            <p:nvSpPr>
              <p:cNvPr id="21" name="AutoShape 5">
                <a:extLst>
                  <a:ext uri="{FF2B5EF4-FFF2-40B4-BE49-F238E27FC236}">
                    <a16:creationId xmlns:a16="http://schemas.microsoft.com/office/drawing/2014/main" id="{80558DB2-E36A-4A2C-8676-DAD9AC9F7C4E}"/>
                  </a:ext>
                </a:extLst>
              </p:cNvPr>
              <p:cNvSpPr>
                <a:spLocks noChangeArrowheads="1"/>
              </p:cNvSpPr>
              <p:nvPr/>
            </p:nvSpPr>
            <p:spPr bwMode="auto">
              <a:xfrm>
                <a:off x="8657261" y="4263670"/>
                <a:ext cx="1867869" cy="571501"/>
              </a:xfrm>
              <a:prstGeom prst="roundRect">
                <a:avLst>
                  <a:gd name="adj" fmla="val 16667"/>
                </a:avLst>
              </a:prstGeom>
              <a:solidFill>
                <a:schemeClr val="accent4">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cs typeface="微软雅黑" panose="020B0503020204020204" charset="-122"/>
                  </a:rPr>
                  <a:t>输出</a:t>
                </a:r>
                <a:r>
                  <a:rPr kumimoji="1" lang="en-US" altLang="zh-CN" sz="1125" dirty="0">
                    <a:latin typeface="微软雅黑" panose="020B0503020204020204" charset="-122"/>
                    <a:ea typeface="微软雅黑" panose="020B0503020204020204" charset="-122"/>
                    <a:cs typeface="微软雅黑" panose="020B0503020204020204" charset="-122"/>
                  </a:rPr>
                  <a:t>token</a:t>
                </a:r>
                <a:r>
                  <a:rPr kumimoji="1" lang="zh-CN" altLang="en-US" sz="1125" dirty="0">
                    <a:latin typeface="微软雅黑" panose="020B0503020204020204" charset="-122"/>
                    <a:ea typeface="微软雅黑" panose="020B0503020204020204" charset="-122"/>
                    <a:cs typeface="微软雅黑" panose="020B0503020204020204" charset="-122"/>
                  </a:rPr>
                  <a:t>表</a:t>
                </a:r>
                <a:endParaRPr kumimoji="1" lang="en-US" altLang="zh-CN" sz="1125" dirty="0">
                  <a:latin typeface="微软雅黑" panose="020B0503020204020204" charset="-122"/>
                  <a:ea typeface="微软雅黑" panose="020B0503020204020204" charset="-122"/>
                  <a:cs typeface="微软雅黑" panose="020B0503020204020204" charset="-122"/>
                </a:endParaRPr>
              </a:p>
            </p:txBody>
          </p:sp>
        </p:grpSp>
        <p:grpSp>
          <p:nvGrpSpPr>
            <p:cNvPr id="22" name="组合 21">
              <a:extLst>
                <a:ext uri="{FF2B5EF4-FFF2-40B4-BE49-F238E27FC236}">
                  <a16:creationId xmlns:a16="http://schemas.microsoft.com/office/drawing/2014/main" id="{556C499D-9FD3-4D0D-95A3-3978D4CC0075}"/>
                </a:ext>
              </a:extLst>
            </p:cNvPr>
            <p:cNvGrpSpPr/>
            <p:nvPr/>
          </p:nvGrpSpPr>
          <p:grpSpPr>
            <a:xfrm>
              <a:off x="5202368" y="3102509"/>
              <a:ext cx="2980373" cy="269297"/>
              <a:chOff x="4151784" y="4226205"/>
              <a:chExt cx="6250184" cy="571501"/>
            </a:xfrm>
          </p:grpSpPr>
          <p:sp>
            <p:nvSpPr>
              <p:cNvPr id="23" name="AutoShape 5">
                <a:extLst>
                  <a:ext uri="{FF2B5EF4-FFF2-40B4-BE49-F238E27FC236}">
                    <a16:creationId xmlns:a16="http://schemas.microsoft.com/office/drawing/2014/main" id="{3D0DFF58-25B2-4678-8C58-582FE3CA5CD1}"/>
                  </a:ext>
                </a:extLst>
              </p:cNvPr>
              <p:cNvSpPr>
                <a:spLocks noChangeArrowheads="1"/>
              </p:cNvSpPr>
              <p:nvPr/>
            </p:nvSpPr>
            <p:spPr bwMode="auto">
              <a:xfrm>
                <a:off x="6247433" y="4226205"/>
                <a:ext cx="1676871" cy="571501"/>
              </a:xfrm>
              <a:prstGeom prst="roundRect">
                <a:avLst>
                  <a:gd name="adj" fmla="val 16667"/>
                </a:avLst>
              </a:prstGeom>
              <a:solidFill>
                <a:srgbClr val="B9E3B3"/>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rPr>
                  <a:t>查找种别码</a:t>
                </a:r>
              </a:p>
            </p:txBody>
          </p:sp>
          <p:sp>
            <p:nvSpPr>
              <p:cNvPr id="24" name="AutoShape 6">
                <a:extLst>
                  <a:ext uri="{FF2B5EF4-FFF2-40B4-BE49-F238E27FC236}">
                    <a16:creationId xmlns:a16="http://schemas.microsoft.com/office/drawing/2014/main" id="{FCF42738-B305-43AB-9A5B-5ACD20CBE523}"/>
                  </a:ext>
                </a:extLst>
              </p:cNvPr>
              <p:cNvSpPr>
                <a:spLocks noChangeArrowheads="1"/>
              </p:cNvSpPr>
              <p:nvPr/>
            </p:nvSpPr>
            <p:spPr bwMode="auto">
              <a:xfrm>
                <a:off x="7945530" y="4429802"/>
                <a:ext cx="735767" cy="164307"/>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sp>
            <p:nvSpPr>
              <p:cNvPr id="25" name="AutoShape 6">
                <a:extLst>
                  <a:ext uri="{FF2B5EF4-FFF2-40B4-BE49-F238E27FC236}">
                    <a16:creationId xmlns:a16="http://schemas.microsoft.com/office/drawing/2014/main" id="{1C0BE2EA-3F5E-40A4-BE5C-280B52B45723}"/>
                  </a:ext>
                </a:extLst>
              </p:cNvPr>
              <p:cNvSpPr>
                <a:spLocks noChangeArrowheads="1"/>
              </p:cNvSpPr>
              <p:nvPr/>
            </p:nvSpPr>
            <p:spPr bwMode="auto">
              <a:xfrm>
                <a:off x="5530243" y="4399033"/>
                <a:ext cx="717190" cy="195076"/>
              </a:xfrm>
              <a:prstGeom prst="rightArrow">
                <a:avLst>
                  <a:gd name="adj1" fmla="val 50000"/>
                  <a:gd name="adj2" fmla="val 128448"/>
                </a:avLst>
              </a:prstGeom>
              <a:solidFill>
                <a:schemeClr val="tx2">
                  <a:lumMod val="50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latin typeface="微软雅黑" panose="020B0503020204020204" charset="-122"/>
                  <a:ea typeface="微软雅黑" panose="020B0503020204020204" charset="-122"/>
                </a:endParaRPr>
              </a:p>
            </p:txBody>
          </p:sp>
          <p:sp>
            <p:nvSpPr>
              <p:cNvPr id="26" name="AutoShape 5">
                <a:extLst>
                  <a:ext uri="{FF2B5EF4-FFF2-40B4-BE49-F238E27FC236}">
                    <a16:creationId xmlns:a16="http://schemas.microsoft.com/office/drawing/2014/main" id="{F34E4F74-B21C-463B-90ED-B257F66A08FC}"/>
                  </a:ext>
                </a:extLst>
              </p:cNvPr>
              <p:cNvSpPr>
                <a:spLocks noChangeArrowheads="1"/>
              </p:cNvSpPr>
              <p:nvPr/>
            </p:nvSpPr>
            <p:spPr bwMode="auto">
              <a:xfrm>
                <a:off x="8657150" y="4226205"/>
                <a:ext cx="1744818" cy="571043"/>
              </a:xfrm>
              <a:prstGeom prst="roundRect">
                <a:avLst>
                  <a:gd name="adj" fmla="val 16667"/>
                </a:avLst>
              </a:prstGeom>
              <a:solidFill>
                <a:schemeClr val="tx2">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cs typeface="微软雅黑" panose="020B0503020204020204" charset="-122"/>
                  </a:rPr>
                  <a:t>插入</a:t>
                </a:r>
                <a:r>
                  <a:rPr kumimoji="1" lang="en-US" altLang="zh-CN" sz="1125" dirty="0">
                    <a:latin typeface="微软雅黑" panose="020B0503020204020204" charset="-122"/>
                    <a:ea typeface="微软雅黑" panose="020B0503020204020204" charset="-122"/>
                    <a:cs typeface="微软雅黑" panose="020B0503020204020204" charset="-122"/>
                  </a:rPr>
                  <a:t>token</a:t>
                </a:r>
                <a:r>
                  <a:rPr kumimoji="1" lang="zh-CN" altLang="en-US" sz="1125" dirty="0">
                    <a:latin typeface="微软雅黑" panose="020B0503020204020204" charset="-122"/>
                    <a:ea typeface="微软雅黑" panose="020B0503020204020204" charset="-122"/>
                    <a:cs typeface="微软雅黑" panose="020B0503020204020204" charset="-122"/>
                  </a:rPr>
                  <a:t>表</a:t>
                </a:r>
                <a:endParaRPr kumimoji="1" lang="en-US" altLang="zh-CN" sz="1125" dirty="0">
                  <a:latin typeface="微软雅黑" panose="020B0503020204020204" charset="-122"/>
                  <a:ea typeface="微软雅黑" panose="020B0503020204020204" charset="-122"/>
                  <a:cs typeface="微软雅黑" panose="020B0503020204020204" charset="-122"/>
                </a:endParaRPr>
              </a:p>
            </p:txBody>
          </p:sp>
          <p:sp>
            <p:nvSpPr>
              <p:cNvPr id="27" name="AutoShape 5">
                <a:extLst>
                  <a:ext uri="{FF2B5EF4-FFF2-40B4-BE49-F238E27FC236}">
                    <a16:creationId xmlns:a16="http://schemas.microsoft.com/office/drawing/2014/main" id="{A6FFBDF3-55AF-423D-B41C-08595B1D91BD}"/>
                  </a:ext>
                </a:extLst>
              </p:cNvPr>
              <p:cNvSpPr>
                <a:spLocks noChangeArrowheads="1"/>
              </p:cNvSpPr>
              <p:nvPr/>
            </p:nvSpPr>
            <p:spPr bwMode="auto">
              <a:xfrm>
                <a:off x="4151784" y="4226205"/>
                <a:ext cx="1383278" cy="571501"/>
              </a:xfrm>
              <a:prstGeom prst="roundRect">
                <a:avLst>
                  <a:gd name="adj" fmla="val 16667"/>
                </a:avLst>
              </a:prstGeom>
              <a:solidFill>
                <a:srgbClr val="FFD653"/>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微软雅黑" panose="020B0503020204020204" charset="-122"/>
                    <a:ea typeface="微软雅黑" panose="020B0503020204020204" charset="-122"/>
                    <a:sym typeface="+mn-ea"/>
                  </a:rPr>
                  <a:t>识别</a:t>
                </a:r>
                <a:r>
                  <a:rPr kumimoji="1" lang="zh-CN" altLang="en-US" sz="1125" dirty="0">
                    <a:latin typeface="微软雅黑" panose="020B0503020204020204" charset="-122"/>
                    <a:ea typeface="微软雅黑" panose="020B0503020204020204" charset="-122"/>
                  </a:rPr>
                  <a:t>单词</a:t>
                </a:r>
                <a:endParaRPr kumimoji="1" lang="en-US" altLang="zh-CN" sz="1125" dirty="0">
                  <a:latin typeface="微软雅黑" panose="020B0503020204020204" charset="-122"/>
                  <a:ea typeface="微软雅黑" panose="020B0503020204020204" charset="-122"/>
                </a:endParaRPr>
              </a:p>
            </p:txBody>
          </p:sp>
        </p:grpSp>
        <p:grpSp>
          <p:nvGrpSpPr>
            <p:cNvPr id="28" name="组合 27">
              <a:extLst>
                <a:ext uri="{FF2B5EF4-FFF2-40B4-BE49-F238E27FC236}">
                  <a16:creationId xmlns:a16="http://schemas.microsoft.com/office/drawing/2014/main" id="{B28B8F9A-8904-43DC-8CE3-F8E3832662A3}"/>
                </a:ext>
              </a:extLst>
            </p:cNvPr>
            <p:cNvGrpSpPr/>
            <p:nvPr/>
          </p:nvGrpSpPr>
          <p:grpSpPr>
            <a:xfrm>
              <a:off x="4875948" y="2617049"/>
              <a:ext cx="1373243" cy="630314"/>
              <a:chOff x="3486999" y="4564844"/>
              <a:chExt cx="2441320" cy="1120557"/>
            </a:xfrm>
          </p:grpSpPr>
          <p:cxnSp>
            <p:nvCxnSpPr>
              <p:cNvPr id="29" name="直接连接符 28">
                <a:extLst>
                  <a:ext uri="{FF2B5EF4-FFF2-40B4-BE49-F238E27FC236}">
                    <a16:creationId xmlns:a16="http://schemas.microsoft.com/office/drawing/2014/main" id="{1596FF94-7053-4939-9923-A53937EDCA86}"/>
                  </a:ext>
                </a:extLst>
              </p:cNvPr>
              <p:cNvCxnSpPr/>
              <p:nvPr/>
            </p:nvCxnSpPr>
            <p:spPr>
              <a:xfrm flipH="1">
                <a:off x="3486999" y="4564844"/>
                <a:ext cx="2441320" cy="58319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E14CA38D-871E-4F8F-BA94-8573D7E04E35}"/>
                  </a:ext>
                </a:extLst>
              </p:cNvPr>
              <p:cNvCxnSpPr/>
              <p:nvPr/>
            </p:nvCxnSpPr>
            <p:spPr>
              <a:xfrm>
                <a:off x="3487000" y="5148040"/>
                <a:ext cx="15424" cy="53736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83DD171-CD36-4467-92C2-DFB58EA7651F}"/>
                  </a:ext>
                </a:extLst>
              </p:cNvPr>
              <p:cNvCxnSpPr/>
              <p:nvPr/>
            </p:nvCxnSpPr>
            <p:spPr>
              <a:xfrm>
                <a:off x="3502424" y="5685400"/>
                <a:ext cx="533735" cy="1"/>
              </a:xfrm>
              <a:prstGeom prst="line">
                <a:avLst/>
              </a:prstGeom>
              <a:ln w="381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2F0F2E38-B98A-467D-A8BE-6DD9A6E75ED1}"/>
                </a:ext>
              </a:extLst>
            </p:cNvPr>
            <p:cNvGrpSpPr/>
            <p:nvPr/>
          </p:nvGrpSpPr>
          <p:grpSpPr>
            <a:xfrm>
              <a:off x="7099281" y="2623289"/>
              <a:ext cx="1309130" cy="624239"/>
              <a:chOff x="2020714" y="4518396"/>
              <a:chExt cx="2327343" cy="1109760"/>
            </a:xfrm>
          </p:grpSpPr>
          <p:cxnSp>
            <p:nvCxnSpPr>
              <p:cNvPr id="33" name="直接连接符 32">
                <a:extLst>
                  <a:ext uri="{FF2B5EF4-FFF2-40B4-BE49-F238E27FC236}">
                    <a16:creationId xmlns:a16="http://schemas.microsoft.com/office/drawing/2014/main" id="{08F26E06-3FCF-41C9-A6CC-C0A5D665FC8E}"/>
                  </a:ext>
                </a:extLst>
              </p:cNvPr>
              <p:cNvCxnSpPr/>
              <p:nvPr/>
            </p:nvCxnSpPr>
            <p:spPr>
              <a:xfrm>
                <a:off x="2020714" y="4518396"/>
                <a:ext cx="2327342" cy="533971"/>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47C3E8B3-D9B3-4EAC-80C2-9C45ED683D57}"/>
                  </a:ext>
                </a:extLst>
              </p:cNvPr>
              <p:cNvCxnSpPr/>
              <p:nvPr/>
            </p:nvCxnSpPr>
            <p:spPr>
              <a:xfrm>
                <a:off x="4348057" y="5052367"/>
                <a:ext cx="0" cy="537361"/>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AA03B95-C69C-4BB7-8C92-5C49705A8212}"/>
                  </a:ext>
                </a:extLst>
              </p:cNvPr>
              <p:cNvCxnSpPr/>
              <p:nvPr/>
            </p:nvCxnSpPr>
            <p:spPr>
              <a:xfrm flipH="1">
                <a:off x="3939966" y="5564656"/>
                <a:ext cx="386927" cy="63500"/>
              </a:xfrm>
              <a:prstGeom prst="line">
                <a:avLst/>
              </a:prstGeom>
              <a:ln w="381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B9E412B1-5B91-481D-937C-77611D45725A}"/>
                </a:ext>
              </a:extLst>
            </p:cNvPr>
            <p:cNvGrpSpPr/>
            <p:nvPr/>
          </p:nvGrpSpPr>
          <p:grpSpPr>
            <a:xfrm>
              <a:off x="6058023" y="2141638"/>
              <a:ext cx="1205725" cy="301934"/>
              <a:chOff x="5857678" y="3789040"/>
              <a:chExt cx="2398562" cy="640762"/>
            </a:xfrm>
          </p:grpSpPr>
          <p:cxnSp>
            <p:nvCxnSpPr>
              <p:cNvPr id="37" name="直接连接符 36">
                <a:extLst>
                  <a:ext uri="{FF2B5EF4-FFF2-40B4-BE49-F238E27FC236}">
                    <a16:creationId xmlns:a16="http://schemas.microsoft.com/office/drawing/2014/main" id="{7ACEF556-4095-4B9F-8EAD-9CC357209DD1}"/>
                  </a:ext>
                </a:extLst>
              </p:cNvPr>
              <p:cNvCxnSpPr/>
              <p:nvPr/>
            </p:nvCxnSpPr>
            <p:spPr>
              <a:xfrm flipV="1">
                <a:off x="8256240" y="3789040"/>
                <a:ext cx="0" cy="64076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77BE90E-D904-489A-B50F-F0CB73AB199D}"/>
                  </a:ext>
                </a:extLst>
              </p:cNvPr>
              <p:cNvCxnSpPr/>
              <p:nvPr/>
            </p:nvCxnSpPr>
            <p:spPr>
              <a:xfrm flipH="1">
                <a:off x="5857678" y="3789040"/>
                <a:ext cx="23985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C9CA290D-6560-49B6-B733-E23CA1BD4567}"/>
                  </a:ext>
                </a:extLst>
              </p:cNvPr>
              <p:cNvCxnSpPr/>
              <p:nvPr/>
            </p:nvCxnSpPr>
            <p:spPr>
              <a:xfrm>
                <a:off x="5857678" y="3789040"/>
                <a:ext cx="0" cy="6254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2334528B-3593-472D-AD4B-30885C210965}"/>
                </a:ext>
              </a:extLst>
            </p:cNvPr>
            <p:cNvGrpSpPr/>
            <p:nvPr/>
          </p:nvGrpSpPr>
          <p:grpSpPr>
            <a:xfrm>
              <a:off x="3667646" y="3369262"/>
              <a:ext cx="3827146" cy="828199"/>
              <a:chOff x="3277" y="4836"/>
              <a:chExt cx="8036" cy="1739"/>
            </a:xfrm>
          </p:grpSpPr>
          <p:cxnSp>
            <p:nvCxnSpPr>
              <p:cNvPr id="41" name="直接箭头连接符 40">
                <a:extLst>
                  <a:ext uri="{FF2B5EF4-FFF2-40B4-BE49-F238E27FC236}">
                    <a16:creationId xmlns:a16="http://schemas.microsoft.com/office/drawing/2014/main" id="{3184D47A-3338-4AFD-825F-F6B1F2F50DBB}"/>
                  </a:ext>
                </a:extLst>
              </p:cNvPr>
              <p:cNvCxnSpPr/>
              <p:nvPr>
                <p:custDataLst>
                  <p:tags r:id="rId9"/>
                </p:custDataLst>
              </p:nvPr>
            </p:nvCxnSpPr>
            <p:spPr>
              <a:xfrm>
                <a:off x="7880" y="4836"/>
                <a:ext cx="2382" cy="802"/>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42" name="直接箭头连接符 41">
                <a:extLst>
                  <a:ext uri="{FF2B5EF4-FFF2-40B4-BE49-F238E27FC236}">
                    <a16:creationId xmlns:a16="http://schemas.microsoft.com/office/drawing/2014/main" id="{3BC7B8E9-3389-44B2-B231-EBC4FCCA4CC5}"/>
                  </a:ext>
                </a:extLst>
              </p:cNvPr>
              <p:cNvCxnSpPr/>
              <p:nvPr>
                <p:custDataLst>
                  <p:tags r:id="rId10"/>
                </p:custDataLst>
              </p:nvPr>
            </p:nvCxnSpPr>
            <p:spPr>
              <a:xfrm flipH="1">
                <a:off x="4042" y="4890"/>
                <a:ext cx="2489" cy="814"/>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grpSp>
            <p:nvGrpSpPr>
              <p:cNvPr id="43" name="组合 42">
                <a:extLst>
                  <a:ext uri="{FF2B5EF4-FFF2-40B4-BE49-F238E27FC236}">
                    <a16:creationId xmlns:a16="http://schemas.microsoft.com/office/drawing/2014/main" id="{2919622F-1A28-416B-99D2-20C92B23D667}"/>
                  </a:ext>
                </a:extLst>
              </p:cNvPr>
              <p:cNvGrpSpPr/>
              <p:nvPr/>
            </p:nvGrpSpPr>
            <p:grpSpPr>
              <a:xfrm>
                <a:off x="3277" y="4958"/>
                <a:ext cx="8036" cy="1617"/>
                <a:chOff x="3277" y="4958"/>
                <a:chExt cx="8036" cy="1617"/>
              </a:xfrm>
            </p:grpSpPr>
            <p:grpSp>
              <p:nvGrpSpPr>
                <p:cNvPr id="44" name="组合 43">
                  <a:extLst>
                    <a:ext uri="{FF2B5EF4-FFF2-40B4-BE49-F238E27FC236}">
                      <a16:creationId xmlns:a16="http://schemas.microsoft.com/office/drawing/2014/main" id="{53E3C56F-E523-4104-B7F3-B919D4750642}"/>
                    </a:ext>
                  </a:extLst>
                </p:cNvPr>
                <p:cNvGrpSpPr/>
                <p:nvPr/>
              </p:nvGrpSpPr>
              <p:grpSpPr>
                <a:xfrm>
                  <a:off x="4961" y="4958"/>
                  <a:ext cx="1786" cy="1589"/>
                  <a:chOff x="2460" y="3898"/>
                  <a:chExt cx="1786" cy="1589"/>
                </a:xfrm>
              </p:grpSpPr>
              <p:cxnSp>
                <p:nvCxnSpPr>
                  <p:cNvPr id="53" name="直接箭头连接符 52">
                    <a:extLst>
                      <a:ext uri="{FF2B5EF4-FFF2-40B4-BE49-F238E27FC236}">
                        <a16:creationId xmlns:a16="http://schemas.microsoft.com/office/drawing/2014/main" id="{14DFAB10-736D-48F8-B0D5-45C6DF343DF5}"/>
                      </a:ext>
                    </a:extLst>
                  </p:cNvPr>
                  <p:cNvCxnSpPr/>
                  <p:nvPr>
                    <p:custDataLst>
                      <p:tags r:id="rId17"/>
                    </p:custDataLst>
                  </p:nvPr>
                </p:nvCxnSpPr>
                <p:spPr>
                  <a:xfrm flipH="1">
                    <a:off x="3147" y="3898"/>
                    <a:ext cx="1099" cy="708"/>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54" name="圆角矩形 39">
                    <a:extLst>
                      <a:ext uri="{FF2B5EF4-FFF2-40B4-BE49-F238E27FC236}">
                        <a16:creationId xmlns:a16="http://schemas.microsoft.com/office/drawing/2014/main" id="{7A85E536-C14D-4767-8247-97DB4FC9BA80}"/>
                      </a:ext>
                    </a:extLst>
                  </p:cNvPr>
                  <p:cNvSpPr/>
                  <p:nvPr>
                    <p:custDataLst>
                      <p:tags r:id="rId18"/>
                    </p:custDataLst>
                  </p:nvPr>
                </p:nvSpPr>
                <p:spPr>
                  <a:xfrm>
                    <a:off x="2460" y="4652"/>
                    <a:ext cx="1336" cy="835"/>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识别</a:t>
                    </a:r>
                    <a:endParaRPr lang="en-US" altLang="zh-CN" sz="1050" dirty="0">
                      <a:solidFill>
                        <a:schemeClr val="tx1"/>
                      </a:solidFill>
                      <a:latin typeface="微软雅黑" panose="020B0503020204020204" charset="-122"/>
                      <a:ea typeface="微软雅黑" panose="020B0503020204020204" charset="-122"/>
                      <a:sym typeface="+mn-ea"/>
                    </a:endParaRPr>
                  </a:p>
                  <a:p>
                    <a:pPr algn="ctr"/>
                    <a:r>
                      <a:rPr lang="zh-CN" altLang="en-US" sz="1050" dirty="0">
                        <a:solidFill>
                          <a:schemeClr val="tx1"/>
                        </a:solidFill>
                        <a:latin typeface="微软雅黑" panose="020B0503020204020204" charset="-122"/>
                        <a:ea typeface="微软雅黑" panose="020B0503020204020204" charset="-122"/>
                        <a:sym typeface="+mn-ea"/>
                      </a:rPr>
                      <a:t>关键字</a:t>
                    </a:r>
                  </a:p>
                </p:txBody>
              </p:sp>
            </p:grpSp>
            <p:grpSp>
              <p:nvGrpSpPr>
                <p:cNvPr id="45" name="组合 44">
                  <a:extLst>
                    <a:ext uri="{FF2B5EF4-FFF2-40B4-BE49-F238E27FC236}">
                      <a16:creationId xmlns:a16="http://schemas.microsoft.com/office/drawing/2014/main" id="{321E5ACA-7A44-4B69-9797-B9C38CD705D8}"/>
                    </a:ext>
                  </a:extLst>
                </p:cNvPr>
                <p:cNvGrpSpPr/>
                <p:nvPr/>
              </p:nvGrpSpPr>
              <p:grpSpPr>
                <a:xfrm>
                  <a:off x="6508" y="4958"/>
                  <a:ext cx="1352" cy="1589"/>
                  <a:chOff x="4168" y="3898"/>
                  <a:chExt cx="1352" cy="1589"/>
                </a:xfrm>
              </p:grpSpPr>
              <p:cxnSp>
                <p:nvCxnSpPr>
                  <p:cNvPr id="51" name="直接箭头连接符 50">
                    <a:extLst>
                      <a:ext uri="{FF2B5EF4-FFF2-40B4-BE49-F238E27FC236}">
                        <a16:creationId xmlns:a16="http://schemas.microsoft.com/office/drawing/2014/main" id="{4CD20AEB-B621-402F-A186-E2D3BD3FD614}"/>
                      </a:ext>
                    </a:extLst>
                  </p:cNvPr>
                  <p:cNvCxnSpPr/>
                  <p:nvPr>
                    <p:custDataLst>
                      <p:tags r:id="rId15"/>
                    </p:custDataLst>
                  </p:nvPr>
                </p:nvCxnSpPr>
                <p:spPr>
                  <a:xfrm flipH="1">
                    <a:off x="4688" y="3898"/>
                    <a:ext cx="172" cy="754"/>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52" name="圆角矩形 61">
                    <a:extLst>
                      <a:ext uri="{FF2B5EF4-FFF2-40B4-BE49-F238E27FC236}">
                        <a16:creationId xmlns:a16="http://schemas.microsoft.com/office/drawing/2014/main" id="{EB03A716-D474-446C-A652-46EEB8FA627B}"/>
                      </a:ext>
                    </a:extLst>
                  </p:cNvPr>
                  <p:cNvSpPr/>
                  <p:nvPr>
                    <p:custDataLst>
                      <p:tags r:id="rId16"/>
                    </p:custDataLst>
                  </p:nvPr>
                </p:nvSpPr>
                <p:spPr>
                  <a:xfrm>
                    <a:off x="4168" y="4660"/>
                    <a:ext cx="1352" cy="827"/>
                  </a:xfrm>
                  <a:prstGeom prst="roundRect">
                    <a:avLst/>
                  </a:prstGeom>
                  <a:solidFill>
                    <a:srgbClr val="F7E57C"/>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a:solidFill>
                          <a:schemeClr val="tx1"/>
                        </a:solidFill>
                        <a:latin typeface="微软雅黑" panose="020B0503020204020204" charset="-122"/>
                        <a:ea typeface="微软雅黑" panose="020B0503020204020204" charset="-122"/>
                        <a:sym typeface="+mn-ea"/>
                      </a:rPr>
                      <a:t>识别数值常量</a:t>
                    </a:r>
                  </a:p>
                </p:txBody>
              </p:sp>
            </p:grpSp>
            <p:grpSp>
              <p:nvGrpSpPr>
                <p:cNvPr id="46" name="组合 45">
                  <a:extLst>
                    <a:ext uri="{FF2B5EF4-FFF2-40B4-BE49-F238E27FC236}">
                      <a16:creationId xmlns:a16="http://schemas.microsoft.com/office/drawing/2014/main" id="{3FC8A8EC-C967-4E98-8257-FA10CD83E2E7}"/>
                    </a:ext>
                  </a:extLst>
                </p:cNvPr>
                <p:cNvGrpSpPr/>
                <p:nvPr/>
              </p:nvGrpSpPr>
              <p:grpSpPr>
                <a:xfrm>
                  <a:off x="7541" y="4958"/>
                  <a:ext cx="2017" cy="1557"/>
                  <a:chOff x="5201" y="3898"/>
                  <a:chExt cx="2017" cy="1557"/>
                </a:xfrm>
              </p:grpSpPr>
              <p:cxnSp>
                <p:nvCxnSpPr>
                  <p:cNvPr id="49" name="直接箭头连接符 48">
                    <a:extLst>
                      <a:ext uri="{FF2B5EF4-FFF2-40B4-BE49-F238E27FC236}">
                        <a16:creationId xmlns:a16="http://schemas.microsoft.com/office/drawing/2014/main" id="{BBFA28D3-FBD5-4211-850A-A76B1E818DEE}"/>
                      </a:ext>
                    </a:extLst>
                  </p:cNvPr>
                  <p:cNvCxnSpPr/>
                  <p:nvPr>
                    <p:custDataLst>
                      <p:tags r:id="rId13"/>
                    </p:custDataLst>
                  </p:nvPr>
                </p:nvCxnSpPr>
                <p:spPr>
                  <a:xfrm>
                    <a:off x="5201" y="3898"/>
                    <a:ext cx="1174" cy="762"/>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50" name="圆角矩形 74">
                    <a:extLst>
                      <a:ext uri="{FF2B5EF4-FFF2-40B4-BE49-F238E27FC236}">
                        <a16:creationId xmlns:a16="http://schemas.microsoft.com/office/drawing/2014/main" id="{3A3A5A71-AED4-420E-BA2D-8D50D9EF891C}"/>
                      </a:ext>
                    </a:extLst>
                  </p:cNvPr>
                  <p:cNvSpPr/>
                  <p:nvPr>
                    <p:custDataLst>
                      <p:tags r:id="rId14"/>
                    </p:custDataLst>
                  </p:nvPr>
                </p:nvSpPr>
                <p:spPr>
                  <a:xfrm>
                    <a:off x="5877" y="4660"/>
                    <a:ext cx="1341" cy="795"/>
                  </a:xfrm>
                  <a:prstGeom prst="roundRect">
                    <a:avLst/>
                  </a:prstGeom>
                  <a:solidFill>
                    <a:srgbClr val="F7E57C"/>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a:solidFill>
                          <a:schemeClr val="tx1"/>
                        </a:solidFill>
                        <a:latin typeface="微软雅黑" panose="020B0503020204020204" charset="-122"/>
                        <a:ea typeface="微软雅黑" panose="020B0503020204020204" charset="-122"/>
                        <a:sym typeface="+mn-ea"/>
                      </a:rPr>
                      <a:t>识别</a:t>
                    </a:r>
                  </a:p>
                  <a:p>
                    <a:pPr algn="ctr"/>
                    <a:r>
                      <a:rPr lang="zh-CN" altLang="en-US" sz="1050">
                        <a:solidFill>
                          <a:schemeClr val="tx1"/>
                        </a:solidFill>
                        <a:latin typeface="微软雅黑" panose="020B0503020204020204" charset="-122"/>
                        <a:ea typeface="微软雅黑" panose="020B0503020204020204" charset="-122"/>
                        <a:sym typeface="+mn-ea"/>
                      </a:rPr>
                      <a:t>界符</a:t>
                    </a:r>
                  </a:p>
                </p:txBody>
              </p:sp>
            </p:grpSp>
            <p:sp>
              <p:nvSpPr>
                <p:cNvPr id="47" name="圆角矩形 85">
                  <a:extLst>
                    <a:ext uri="{FF2B5EF4-FFF2-40B4-BE49-F238E27FC236}">
                      <a16:creationId xmlns:a16="http://schemas.microsoft.com/office/drawing/2014/main" id="{9B120FF7-3672-4297-BDBC-1DCAFB543FB0}"/>
                    </a:ext>
                  </a:extLst>
                </p:cNvPr>
                <p:cNvSpPr/>
                <p:nvPr>
                  <p:custDataLst>
                    <p:tags r:id="rId11"/>
                  </p:custDataLst>
                </p:nvPr>
              </p:nvSpPr>
              <p:spPr>
                <a:xfrm>
                  <a:off x="9915" y="5720"/>
                  <a:ext cx="1398" cy="778"/>
                </a:xfrm>
                <a:prstGeom prst="roundRect">
                  <a:avLst/>
                </a:prstGeom>
                <a:solidFill>
                  <a:srgbClr val="F7E57C"/>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识别</a:t>
                  </a:r>
                </a:p>
                <a:p>
                  <a:pPr algn="ctr"/>
                  <a:r>
                    <a:rPr lang="zh-CN" altLang="en-US" sz="1050" dirty="0">
                      <a:solidFill>
                        <a:schemeClr val="tx1"/>
                      </a:solidFill>
                      <a:latin typeface="微软雅黑" panose="020B0503020204020204" charset="-122"/>
                      <a:ea typeface="微软雅黑" panose="020B0503020204020204" charset="-122"/>
                      <a:sym typeface="+mn-ea"/>
                    </a:rPr>
                    <a:t>运算符</a:t>
                  </a:r>
                </a:p>
              </p:txBody>
            </p:sp>
            <p:sp>
              <p:nvSpPr>
                <p:cNvPr id="48" name="圆角矩形 39">
                  <a:extLst>
                    <a:ext uri="{FF2B5EF4-FFF2-40B4-BE49-F238E27FC236}">
                      <a16:creationId xmlns:a16="http://schemas.microsoft.com/office/drawing/2014/main" id="{DB9245E1-60BB-49D4-9542-81F03FDA53D0}"/>
                    </a:ext>
                  </a:extLst>
                </p:cNvPr>
                <p:cNvSpPr/>
                <p:nvPr>
                  <p:custDataLst>
                    <p:tags r:id="rId12"/>
                  </p:custDataLst>
                </p:nvPr>
              </p:nvSpPr>
              <p:spPr>
                <a:xfrm>
                  <a:off x="3277" y="5740"/>
                  <a:ext cx="1352" cy="835"/>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识别</a:t>
                  </a:r>
                  <a:endParaRPr lang="en-US" altLang="zh-CN" sz="1050" dirty="0">
                    <a:solidFill>
                      <a:schemeClr val="tx1"/>
                    </a:solidFill>
                    <a:latin typeface="微软雅黑" panose="020B0503020204020204" charset="-122"/>
                    <a:ea typeface="微软雅黑" panose="020B0503020204020204" charset="-122"/>
                    <a:sym typeface="+mn-ea"/>
                  </a:endParaRPr>
                </a:p>
                <a:p>
                  <a:pPr algn="ctr"/>
                  <a:r>
                    <a:rPr lang="zh-CN" altLang="en-US" sz="1050" dirty="0">
                      <a:solidFill>
                        <a:schemeClr val="tx1"/>
                      </a:solidFill>
                      <a:latin typeface="微软雅黑" panose="020B0503020204020204" charset="-122"/>
                      <a:ea typeface="微软雅黑" panose="020B0503020204020204" charset="-122"/>
                      <a:sym typeface="+mn-ea"/>
                    </a:rPr>
                    <a:t>标识符</a:t>
                  </a:r>
                </a:p>
              </p:txBody>
            </p:sp>
          </p:grpSp>
        </p:grpSp>
        <p:grpSp>
          <p:nvGrpSpPr>
            <p:cNvPr id="55" name="组合 54">
              <a:extLst>
                <a:ext uri="{FF2B5EF4-FFF2-40B4-BE49-F238E27FC236}">
                  <a16:creationId xmlns:a16="http://schemas.microsoft.com/office/drawing/2014/main" id="{5192EE51-E14B-458A-AB8E-8D5CA6EE025A}"/>
                </a:ext>
              </a:extLst>
            </p:cNvPr>
            <p:cNvGrpSpPr/>
            <p:nvPr/>
          </p:nvGrpSpPr>
          <p:grpSpPr>
            <a:xfrm>
              <a:off x="3969588" y="3373073"/>
              <a:ext cx="3780473" cy="1309688"/>
              <a:chOff x="3911" y="4844"/>
              <a:chExt cx="7938" cy="2750"/>
            </a:xfrm>
          </p:grpSpPr>
          <p:cxnSp>
            <p:nvCxnSpPr>
              <p:cNvPr id="56" name="直接箭头连接符 55">
                <a:extLst>
                  <a:ext uri="{FF2B5EF4-FFF2-40B4-BE49-F238E27FC236}">
                    <a16:creationId xmlns:a16="http://schemas.microsoft.com/office/drawing/2014/main" id="{C27A114B-ACDB-46A2-BA1E-E9F8BFB4F4EB}"/>
                  </a:ext>
                </a:extLst>
              </p:cNvPr>
              <p:cNvCxnSpPr/>
              <p:nvPr>
                <p:custDataLst>
                  <p:tags r:id="rId1"/>
                </p:custDataLst>
              </p:nvPr>
            </p:nvCxnSpPr>
            <p:spPr>
              <a:xfrm>
                <a:off x="7236" y="6647"/>
                <a:ext cx="4" cy="919"/>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57" name="直接箭头连接符 56">
                <a:extLst>
                  <a:ext uri="{FF2B5EF4-FFF2-40B4-BE49-F238E27FC236}">
                    <a16:creationId xmlns:a16="http://schemas.microsoft.com/office/drawing/2014/main" id="{F1819387-C1D5-462E-BCA1-CC7D59863F3F}"/>
                  </a:ext>
                </a:extLst>
              </p:cNvPr>
              <p:cNvCxnSpPr/>
              <p:nvPr>
                <p:custDataLst>
                  <p:tags r:id="rId2"/>
                </p:custDataLst>
              </p:nvPr>
            </p:nvCxnSpPr>
            <p:spPr>
              <a:xfrm>
                <a:off x="10665" y="6662"/>
                <a:ext cx="4" cy="919"/>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58" name="直接箭头连接符 57">
                <a:extLst>
                  <a:ext uri="{FF2B5EF4-FFF2-40B4-BE49-F238E27FC236}">
                    <a16:creationId xmlns:a16="http://schemas.microsoft.com/office/drawing/2014/main" id="{64BC95EF-442C-4B58-9064-8FC3B09C928E}"/>
                  </a:ext>
                </a:extLst>
              </p:cNvPr>
              <p:cNvCxnSpPr/>
              <p:nvPr>
                <p:custDataLst>
                  <p:tags r:id="rId3"/>
                </p:custDataLst>
              </p:nvPr>
            </p:nvCxnSpPr>
            <p:spPr>
              <a:xfrm>
                <a:off x="8986" y="6644"/>
                <a:ext cx="4" cy="919"/>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grpSp>
            <p:nvGrpSpPr>
              <p:cNvPr id="59" name="组合 58">
                <a:extLst>
                  <a:ext uri="{FF2B5EF4-FFF2-40B4-BE49-F238E27FC236}">
                    <a16:creationId xmlns:a16="http://schemas.microsoft.com/office/drawing/2014/main" id="{40F9265F-CC50-45E3-BF21-9357C0331498}"/>
                  </a:ext>
                </a:extLst>
              </p:cNvPr>
              <p:cNvGrpSpPr/>
              <p:nvPr/>
            </p:nvGrpSpPr>
            <p:grpSpPr>
              <a:xfrm>
                <a:off x="3911" y="4844"/>
                <a:ext cx="7939" cy="2722"/>
                <a:chOff x="1287" y="3696"/>
                <a:chExt cx="8223" cy="2842"/>
              </a:xfrm>
            </p:grpSpPr>
            <p:cxnSp>
              <p:nvCxnSpPr>
                <p:cNvPr id="61" name="直接箭头连接符 60">
                  <a:extLst>
                    <a:ext uri="{FF2B5EF4-FFF2-40B4-BE49-F238E27FC236}">
                      <a16:creationId xmlns:a16="http://schemas.microsoft.com/office/drawing/2014/main" id="{62A6CE0F-B4B1-4435-9DE2-F5894FB184A1}"/>
                    </a:ext>
                  </a:extLst>
                </p:cNvPr>
                <p:cNvCxnSpPr/>
                <p:nvPr>
                  <p:custDataLst>
                    <p:tags r:id="rId5"/>
                  </p:custDataLst>
                </p:nvPr>
              </p:nvCxnSpPr>
              <p:spPr>
                <a:xfrm>
                  <a:off x="3034" y="5628"/>
                  <a:ext cx="0" cy="907"/>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62" name="直接连接符 61">
                  <a:extLst>
                    <a:ext uri="{FF2B5EF4-FFF2-40B4-BE49-F238E27FC236}">
                      <a16:creationId xmlns:a16="http://schemas.microsoft.com/office/drawing/2014/main" id="{05E69E90-6485-43BF-BDDC-2AAFA7CA753C}"/>
                    </a:ext>
                  </a:extLst>
                </p:cNvPr>
                <p:cNvCxnSpPr/>
                <p:nvPr>
                  <p:custDataLst>
                    <p:tags r:id="rId6"/>
                  </p:custDataLst>
                </p:nvPr>
              </p:nvCxnSpPr>
              <p:spPr>
                <a:xfrm flipV="1">
                  <a:off x="1287" y="6535"/>
                  <a:ext cx="8210" cy="3"/>
                </a:xfrm>
                <a:prstGeom prst="line">
                  <a:avLst/>
                </a:prstGeom>
                <a:ln w="28575">
                  <a:solidFill>
                    <a:srgbClr val="FFC000"/>
                  </a:solidFill>
                  <a:prstDash val="dash"/>
                </a:ln>
              </p:spPr>
              <p:style>
                <a:lnRef idx="2">
                  <a:schemeClr val="accent1"/>
                </a:lnRef>
                <a:fillRef idx="0">
                  <a:srgbClr val="FFFFFF"/>
                </a:fillRef>
                <a:effectRef idx="0">
                  <a:srgbClr val="FFFFFF"/>
                </a:effectRef>
                <a:fontRef idx="minor">
                  <a:schemeClr val="tx1"/>
                </a:fontRef>
              </p:style>
            </p:cxnSp>
            <p:cxnSp>
              <p:nvCxnSpPr>
                <p:cNvPr id="63" name="直接连接符 62">
                  <a:extLst>
                    <a:ext uri="{FF2B5EF4-FFF2-40B4-BE49-F238E27FC236}">
                      <a16:creationId xmlns:a16="http://schemas.microsoft.com/office/drawing/2014/main" id="{CF205CE7-F610-46BC-BE9A-2D312C662599}"/>
                    </a:ext>
                  </a:extLst>
                </p:cNvPr>
                <p:cNvCxnSpPr/>
                <p:nvPr>
                  <p:custDataLst>
                    <p:tags r:id="rId7"/>
                  </p:custDataLst>
                </p:nvPr>
              </p:nvCxnSpPr>
              <p:spPr>
                <a:xfrm flipV="1">
                  <a:off x="9472" y="5193"/>
                  <a:ext cx="26" cy="1344"/>
                </a:xfrm>
                <a:prstGeom prst="line">
                  <a:avLst/>
                </a:prstGeom>
                <a:ln w="28575">
                  <a:solidFill>
                    <a:srgbClr val="FFC000"/>
                  </a:solidFill>
                  <a:prstDash val="dash"/>
                </a:ln>
              </p:spPr>
              <p:style>
                <a:lnRef idx="2">
                  <a:schemeClr val="accent1"/>
                </a:lnRef>
                <a:fillRef idx="0">
                  <a:srgbClr val="FFFFFF"/>
                </a:fillRef>
                <a:effectRef idx="0">
                  <a:srgbClr val="FFFFFF"/>
                </a:effectRef>
                <a:fontRef idx="minor">
                  <a:schemeClr val="tx1"/>
                </a:fontRef>
              </p:style>
            </p:cxnSp>
            <p:cxnSp>
              <p:nvCxnSpPr>
                <p:cNvPr id="64" name="直接箭头连接符 63">
                  <a:extLst>
                    <a:ext uri="{FF2B5EF4-FFF2-40B4-BE49-F238E27FC236}">
                      <a16:creationId xmlns:a16="http://schemas.microsoft.com/office/drawing/2014/main" id="{39C72A11-B5DE-4C7A-A671-5A31E70265F6}"/>
                    </a:ext>
                  </a:extLst>
                </p:cNvPr>
                <p:cNvCxnSpPr/>
                <p:nvPr>
                  <p:custDataLst>
                    <p:tags r:id="rId8"/>
                  </p:custDataLst>
                </p:nvPr>
              </p:nvCxnSpPr>
              <p:spPr>
                <a:xfrm flipH="1" flipV="1">
                  <a:off x="7865" y="3696"/>
                  <a:ext cx="1645" cy="1477"/>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grpSp>
          <p:cxnSp>
            <p:nvCxnSpPr>
              <p:cNvPr id="60" name="直接箭头连接符 59">
                <a:extLst>
                  <a:ext uri="{FF2B5EF4-FFF2-40B4-BE49-F238E27FC236}">
                    <a16:creationId xmlns:a16="http://schemas.microsoft.com/office/drawing/2014/main" id="{5B606D34-EDCA-4054-A33F-61823C3681BA}"/>
                  </a:ext>
                </a:extLst>
              </p:cNvPr>
              <p:cNvCxnSpPr/>
              <p:nvPr>
                <p:custDataLst>
                  <p:tags r:id="rId4"/>
                </p:custDataLst>
              </p:nvPr>
            </p:nvCxnSpPr>
            <p:spPr>
              <a:xfrm>
                <a:off x="3970" y="6688"/>
                <a:ext cx="0" cy="907"/>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grpSp>
      </p:grpSp>
      <p:sp>
        <p:nvSpPr>
          <p:cNvPr id="66" name="矩形 65">
            <a:extLst>
              <a:ext uri="{FF2B5EF4-FFF2-40B4-BE49-F238E27FC236}">
                <a16:creationId xmlns:a16="http://schemas.microsoft.com/office/drawing/2014/main" id="{9D2D8DC3-B2D8-4816-966B-02BBF83F774B}"/>
              </a:ext>
            </a:extLst>
          </p:cNvPr>
          <p:cNvSpPr/>
          <p:nvPr/>
        </p:nvSpPr>
        <p:spPr>
          <a:xfrm>
            <a:off x="7785800" y="434951"/>
            <a:ext cx="947339" cy="294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rgbClr val="C00000"/>
                </a:solidFill>
              </a:rPr>
              <a:t>分而治之</a:t>
            </a:r>
          </a:p>
        </p:txBody>
      </p:sp>
    </p:spTree>
    <p:extLst>
      <p:ext uri="{BB962C8B-B14F-4D97-AF65-F5344CB8AC3E}">
        <p14:creationId xmlns:p14="http://schemas.microsoft.com/office/powerpoint/2010/main" val="1467807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10652" y="1026319"/>
            <a:ext cx="1965008" cy="58579"/>
            <a:chOff x="2151257" y="846847"/>
            <a:chExt cx="8654604" cy="77273"/>
          </a:xfrm>
          <a:solidFill>
            <a:schemeClr val="accent1">
              <a:lumMod val="40000"/>
              <a:lumOff val="60000"/>
            </a:schemeClr>
          </a:solidFill>
        </p:grpSpPr>
        <p:sp>
          <p:nvSpPr>
            <p:cNvPr id="5" name="矩形 4"/>
            <p:cNvSpPr/>
            <p:nvPr/>
          </p:nvSpPr>
          <p:spPr>
            <a:xfrm>
              <a:off x="2151257"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 name="矩形 5"/>
            <p:cNvSpPr/>
            <p:nvPr/>
          </p:nvSpPr>
          <p:spPr>
            <a:xfrm>
              <a:off x="3387629"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7" name="矩形 6"/>
            <p:cNvSpPr/>
            <p:nvPr/>
          </p:nvSpPr>
          <p:spPr>
            <a:xfrm>
              <a:off x="4624001"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8" name="矩形 7"/>
            <p:cNvSpPr/>
            <p:nvPr/>
          </p:nvSpPr>
          <p:spPr>
            <a:xfrm>
              <a:off x="5860373"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9" name="矩形 8"/>
            <p:cNvSpPr/>
            <p:nvPr/>
          </p:nvSpPr>
          <p:spPr>
            <a:xfrm>
              <a:off x="7096745"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0" name="矩形 9"/>
            <p:cNvSpPr/>
            <p:nvPr/>
          </p:nvSpPr>
          <p:spPr>
            <a:xfrm>
              <a:off x="8333117"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1" name="矩形 10"/>
            <p:cNvSpPr/>
            <p:nvPr/>
          </p:nvSpPr>
          <p:spPr>
            <a:xfrm>
              <a:off x="9569489" y="846847"/>
              <a:ext cx="1236372" cy="772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12" name="文本框 11"/>
          <p:cNvSpPr txBox="1"/>
          <p:nvPr/>
        </p:nvSpPr>
        <p:spPr>
          <a:xfrm>
            <a:off x="1965471" y="707605"/>
            <a:ext cx="2201485" cy="369332"/>
          </a:xfrm>
          <a:prstGeom prst="rect">
            <a:avLst/>
          </a:prstGeom>
          <a:noFill/>
        </p:spPr>
        <p:txBody>
          <a:bodyPr wrap="square" rtlCol="0">
            <a:spAutoFit/>
          </a:bodyPr>
          <a:lstStyle/>
          <a:p>
            <a:r>
              <a:rPr lang="zh-CN" altLang="zh-CN" b="1" dirty="0">
                <a:solidFill>
                  <a:schemeClr val="tx1">
                    <a:lumMod val="85000"/>
                    <a:lumOff val="15000"/>
                  </a:schemeClr>
                </a:solidFill>
                <a:latin typeface="微软雅黑" panose="020B0503020204020204" charset="-122"/>
                <a:ea typeface="微软雅黑" panose="020B0503020204020204" charset="-122"/>
              </a:rPr>
              <a:t>状态转换图</a:t>
            </a:r>
          </a:p>
        </p:txBody>
      </p:sp>
      <p:sp>
        <p:nvSpPr>
          <p:cNvPr id="13" name="矩形: 圆角 12"/>
          <p:cNvSpPr/>
          <p:nvPr/>
        </p:nvSpPr>
        <p:spPr>
          <a:xfrm>
            <a:off x="1410631" y="753305"/>
            <a:ext cx="521483" cy="313536"/>
          </a:xfrm>
          <a:prstGeom prst="roundRect">
            <a:avLst>
              <a:gd name="adj" fmla="val 8973"/>
            </a:avLst>
          </a:prstGeom>
          <a:solidFill>
            <a:schemeClr val="accent1">
              <a:lumMod val="40000"/>
              <a:lumOff val="60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任意多边形 34"/>
          <p:cNvSpPr/>
          <p:nvPr/>
        </p:nvSpPr>
        <p:spPr>
          <a:xfrm>
            <a:off x="1336548" y="705404"/>
            <a:ext cx="711596" cy="400335"/>
          </a:xfrm>
          <a:custGeom>
            <a:avLst/>
            <a:gdLst>
              <a:gd name="connsiteX0" fmla="*/ 0 w 1262130"/>
              <a:gd name="connsiteY0" fmla="*/ 0 h 785611"/>
              <a:gd name="connsiteX1" fmla="*/ 949818 w 1262130"/>
              <a:gd name="connsiteY1" fmla="*/ 0 h 785611"/>
              <a:gd name="connsiteX2" fmla="*/ 1262130 w 1262130"/>
              <a:gd name="connsiteY2" fmla="*/ 785611 h 785611"/>
              <a:gd name="connsiteX3" fmla="*/ 0 w 1262130"/>
              <a:gd name="connsiteY3" fmla="*/ 785611 h 785611"/>
            </a:gdLst>
            <a:ahLst/>
            <a:cxnLst>
              <a:cxn ang="0">
                <a:pos x="connsiteX0" y="connsiteY0"/>
              </a:cxn>
              <a:cxn ang="0">
                <a:pos x="connsiteX1" y="connsiteY1"/>
              </a:cxn>
              <a:cxn ang="0">
                <a:pos x="connsiteX2" y="connsiteY2"/>
              </a:cxn>
              <a:cxn ang="0">
                <a:pos x="connsiteX3" y="connsiteY3"/>
              </a:cxn>
            </a:cxnLst>
            <a:rect l="l" t="t" r="r" b="b"/>
            <a:pathLst>
              <a:path w="1262130" h="785611">
                <a:moveTo>
                  <a:pt x="0" y="0"/>
                </a:moveTo>
                <a:lnTo>
                  <a:pt x="949818" y="0"/>
                </a:lnTo>
                <a:lnTo>
                  <a:pt x="1262130" y="785611"/>
                </a:lnTo>
                <a:lnTo>
                  <a:pt x="0" y="785611"/>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lumMod val="50000"/>
                    <a:lumOff val="50000"/>
                  </a:schemeClr>
                </a:solidFill>
                <a:latin typeface="微软雅黑" panose="020B0503020204020204" charset="-122"/>
                <a:ea typeface="微软雅黑" panose="020B0503020204020204" charset="-122"/>
              </a:rPr>
              <a:t>08</a:t>
            </a:r>
          </a:p>
        </p:txBody>
      </p:sp>
      <p:sp>
        <p:nvSpPr>
          <p:cNvPr id="2" name="文本框 1"/>
          <p:cNvSpPr txBox="1"/>
          <p:nvPr/>
        </p:nvSpPr>
        <p:spPr>
          <a:xfrm>
            <a:off x="1493659" y="1171854"/>
            <a:ext cx="5718284" cy="1656805"/>
          </a:xfrm>
          <a:prstGeom prst="rect">
            <a:avLst/>
          </a:prstGeom>
          <a:noFill/>
        </p:spPr>
        <p:txBody>
          <a:bodyPr wrap="square" rtlCol="0" anchor="t">
            <a:noAutofit/>
          </a:bodyPr>
          <a:lstStyle/>
          <a:p>
            <a:pPr>
              <a:lnSpc>
                <a:spcPct val="120000"/>
              </a:lnSpc>
            </a:pPr>
            <a:r>
              <a:rPr lang="zh-CN" altLang="en-US" sz="1500" dirty="0">
                <a:sym typeface="+mn-ea"/>
              </a:rPr>
              <a:t>状态转换图</a:t>
            </a:r>
            <a:r>
              <a:rPr lang="en-US" altLang="zh-CN" sz="1500" dirty="0">
                <a:sym typeface="+mn-ea"/>
              </a:rPr>
              <a:t>(State Transform Diagram</a:t>
            </a:r>
            <a:r>
              <a:rPr lang="zh-CN" altLang="en-US" sz="1500" dirty="0">
                <a:sym typeface="+mn-ea"/>
              </a:rPr>
              <a:t>，</a:t>
            </a:r>
            <a:r>
              <a:rPr lang="en-US" altLang="zh-CN" sz="1500" dirty="0">
                <a:sym typeface="+mn-ea"/>
              </a:rPr>
              <a:t>STD)</a:t>
            </a:r>
            <a:r>
              <a:rPr lang="zh-CN" altLang="en-US" sz="1500" dirty="0">
                <a:sym typeface="+mn-ea"/>
              </a:rPr>
              <a:t>是一种</a:t>
            </a:r>
            <a:r>
              <a:rPr lang="zh-CN" altLang="en-US" sz="1500" dirty="0"/>
              <a:t>描述系统对内部或者外部事件响应的</a:t>
            </a:r>
            <a:r>
              <a:rPr lang="zh-CN" altLang="en-US" sz="1500" b="1" dirty="0">
                <a:solidFill>
                  <a:srgbClr val="FF0000"/>
                </a:solidFill>
                <a:sym typeface="+mn-ea"/>
              </a:rPr>
              <a:t>行为模型</a:t>
            </a:r>
            <a:endParaRPr lang="en-US" altLang="zh-CN" sz="1500" dirty="0">
              <a:sym typeface="+mn-ea"/>
            </a:endParaRPr>
          </a:p>
          <a:p>
            <a:pPr>
              <a:lnSpc>
                <a:spcPct val="120000"/>
              </a:lnSpc>
            </a:pPr>
            <a:r>
              <a:rPr lang="zh-CN" altLang="en-US" sz="1500" dirty="0">
                <a:sym typeface="+mn-ea"/>
              </a:rPr>
              <a:t>通过描述系统的</a:t>
            </a:r>
            <a:r>
              <a:rPr lang="zh-CN" altLang="en-US" sz="1500" b="1" dirty="0">
                <a:solidFill>
                  <a:srgbClr val="FF0000"/>
                </a:solidFill>
                <a:sym typeface="+mn-ea"/>
              </a:rPr>
              <a:t>状态</a:t>
            </a:r>
            <a:r>
              <a:rPr lang="zh-CN" altLang="en-US" sz="1500" dirty="0">
                <a:sym typeface="+mn-ea"/>
              </a:rPr>
              <a:t>和引起系统状态转换的</a:t>
            </a:r>
            <a:r>
              <a:rPr lang="zh-CN" altLang="en-US" sz="1500" b="1" dirty="0">
                <a:solidFill>
                  <a:srgbClr val="FF0000"/>
                </a:solidFill>
                <a:sym typeface="+mn-ea"/>
              </a:rPr>
              <a:t>事件</a:t>
            </a:r>
            <a:r>
              <a:rPr lang="zh-CN" altLang="en-US" sz="1500" dirty="0">
                <a:sym typeface="+mn-ea"/>
              </a:rPr>
              <a:t>来表示系统的行为，指出作为特定事件的结果将执行哪些动作</a:t>
            </a:r>
            <a:endParaRPr lang="en-US" altLang="zh-CN" sz="1500" dirty="0">
              <a:sym typeface="+mn-ea"/>
            </a:endParaRPr>
          </a:p>
        </p:txBody>
      </p:sp>
      <p:sp>
        <p:nvSpPr>
          <p:cNvPr id="3" name="文本框 2"/>
          <p:cNvSpPr txBox="1"/>
          <p:nvPr/>
        </p:nvSpPr>
        <p:spPr>
          <a:xfrm>
            <a:off x="1493658" y="2387144"/>
            <a:ext cx="5573554" cy="1742785"/>
          </a:xfrm>
          <a:prstGeom prst="rect">
            <a:avLst/>
          </a:prstGeom>
          <a:noFill/>
        </p:spPr>
        <p:txBody>
          <a:bodyPr wrap="square" rtlCol="0" anchor="t">
            <a:spAutoFit/>
          </a:bodyPr>
          <a:lstStyle/>
          <a:p>
            <a:pPr>
              <a:lnSpc>
                <a:spcPct val="120000"/>
              </a:lnSpc>
            </a:pPr>
            <a:r>
              <a:rPr lang="zh-CN" altLang="en-US" sz="1500" dirty="0">
                <a:sym typeface="+mn-ea"/>
              </a:rPr>
              <a:t>表示为一个有向图：</a:t>
            </a:r>
            <a:endParaRPr lang="en-US" altLang="zh-CN" sz="1500" dirty="0">
              <a:sym typeface="+mn-ea"/>
            </a:endParaRPr>
          </a:p>
          <a:p>
            <a:pPr marL="714375" lvl="1" indent="-257175">
              <a:lnSpc>
                <a:spcPct val="120000"/>
              </a:lnSpc>
              <a:buFont typeface="Wingdings" panose="05000000000000000000" charset="0"/>
              <a:buChar char="l"/>
            </a:pPr>
            <a:r>
              <a:rPr lang="zh-CN" altLang="en-US" sz="1500" dirty="0">
                <a:sym typeface="+mn-ea"/>
              </a:rPr>
              <a:t>结点代表状态，用圆圈表示</a:t>
            </a:r>
          </a:p>
          <a:p>
            <a:pPr marL="714375" lvl="1" indent="-257175">
              <a:lnSpc>
                <a:spcPct val="120000"/>
              </a:lnSpc>
              <a:buFont typeface="Wingdings" panose="05000000000000000000" charset="0"/>
              <a:buChar char="l"/>
            </a:pPr>
            <a:r>
              <a:rPr lang="zh-CN" altLang="en-US" sz="1500" dirty="0">
                <a:sym typeface="+mn-ea"/>
              </a:rPr>
              <a:t>唯一的初态</a:t>
            </a:r>
            <a:r>
              <a:rPr lang="en-US" altLang="zh-CN" sz="1500" dirty="0">
                <a:sym typeface="+mn-ea"/>
              </a:rPr>
              <a:t> </a:t>
            </a:r>
          </a:p>
          <a:p>
            <a:pPr marL="714375" lvl="1" indent="-257175">
              <a:lnSpc>
                <a:spcPct val="120000"/>
              </a:lnSpc>
              <a:buFont typeface="Wingdings" panose="05000000000000000000" charset="0"/>
              <a:buChar char="l"/>
            </a:pPr>
            <a:r>
              <a:rPr lang="zh-CN" altLang="en-US" sz="1500" dirty="0">
                <a:sym typeface="+mn-ea"/>
              </a:rPr>
              <a:t>终态</a:t>
            </a:r>
            <a:endParaRPr lang="en-US" altLang="zh-CN" sz="1500" dirty="0">
              <a:sym typeface="+mn-ea"/>
            </a:endParaRPr>
          </a:p>
          <a:p>
            <a:pPr marL="714375" lvl="1" indent="-257175">
              <a:lnSpc>
                <a:spcPct val="120000"/>
              </a:lnSpc>
              <a:buFont typeface="Wingdings" panose="05000000000000000000" charset="0"/>
              <a:buChar char="l"/>
            </a:pPr>
            <a:r>
              <a:rPr lang="zh-CN" altLang="en-US" sz="1500" dirty="0">
                <a:sym typeface="+mn-ea"/>
              </a:rPr>
              <a:t>状态之间用箭弧连接</a:t>
            </a:r>
          </a:p>
          <a:p>
            <a:pPr marL="714375" lvl="1" indent="-257175">
              <a:lnSpc>
                <a:spcPct val="120000"/>
              </a:lnSpc>
              <a:buFont typeface="Wingdings" panose="05000000000000000000" charset="0"/>
              <a:buChar char="l"/>
            </a:pPr>
            <a:r>
              <a:rPr lang="zh-CN" altLang="en-US" sz="1500" dirty="0">
                <a:sym typeface="+mn-ea"/>
              </a:rPr>
              <a:t>箭弧上的标记代表在当前状态下引起状态转换的事件</a:t>
            </a:r>
          </a:p>
        </p:txBody>
      </p:sp>
      <p:grpSp>
        <p:nvGrpSpPr>
          <p:cNvPr id="15" name="组合 14">
            <a:extLst>
              <a:ext uri="{FF2B5EF4-FFF2-40B4-BE49-F238E27FC236}">
                <a16:creationId xmlns:a16="http://schemas.microsoft.com/office/drawing/2014/main" id="{832C52B2-9757-4A09-96E5-5266C8F8C1A9}"/>
              </a:ext>
            </a:extLst>
          </p:cNvPr>
          <p:cNvGrpSpPr/>
          <p:nvPr/>
        </p:nvGrpSpPr>
        <p:grpSpPr>
          <a:xfrm>
            <a:off x="5148064" y="2571750"/>
            <a:ext cx="3009911" cy="786854"/>
            <a:chOff x="2671" y="3989"/>
            <a:chExt cx="8255" cy="2055"/>
          </a:xfrm>
        </p:grpSpPr>
        <p:sp>
          <p:nvSpPr>
            <p:cNvPr id="16" name="Text Box 33">
              <a:extLst>
                <a:ext uri="{FF2B5EF4-FFF2-40B4-BE49-F238E27FC236}">
                  <a16:creationId xmlns:a16="http://schemas.microsoft.com/office/drawing/2014/main" id="{DCA10306-01AB-4EBC-8213-3AE814C52E5B}"/>
                </a:ext>
              </a:extLst>
            </p:cNvPr>
            <p:cNvSpPr txBox="1"/>
            <p:nvPr>
              <p:custDataLst>
                <p:tags r:id="rId2"/>
              </p:custDataLst>
            </p:nvPr>
          </p:nvSpPr>
          <p:spPr>
            <a:xfrm>
              <a:off x="10453" y="4644"/>
              <a:ext cx="473" cy="9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solidFill>
                    <a:schemeClr val="dk1"/>
                  </a:solidFill>
                  <a:latin typeface="幼圆" panose="02010509060101010101" charset="-122"/>
                  <a:ea typeface="幼圆" panose="02010509060101010101" charset="-122"/>
                </a:rPr>
                <a:t>*</a:t>
              </a:r>
            </a:p>
          </p:txBody>
        </p:sp>
        <p:sp>
          <p:nvSpPr>
            <p:cNvPr id="17" name="椭圆 16">
              <a:extLst>
                <a:ext uri="{FF2B5EF4-FFF2-40B4-BE49-F238E27FC236}">
                  <a16:creationId xmlns:a16="http://schemas.microsoft.com/office/drawing/2014/main" id="{656256CC-6A9F-4B10-80A4-0C1544E2ADD0}"/>
                </a:ext>
              </a:extLst>
            </p:cNvPr>
            <p:cNvSpPr/>
            <p:nvPr>
              <p:custDataLst>
                <p:tags r:id="rId3"/>
              </p:custDataLst>
            </p:nvPr>
          </p:nvSpPr>
          <p:spPr>
            <a:xfrm>
              <a:off x="3328" y="4934"/>
              <a:ext cx="1093" cy="1093"/>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dirty="0">
                  <a:solidFill>
                    <a:schemeClr val="dk1"/>
                  </a:solidFill>
                  <a:latin typeface="幼圆" panose="02010509060101010101" charset="-122"/>
                  <a:ea typeface="幼圆" panose="02010509060101010101" charset="-122"/>
                </a:rPr>
                <a:t>0</a:t>
              </a:r>
            </a:p>
          </p:txBody>
        </p:sp>
        <p:sp>
          <p:nvSpPr>
            <p:cNvPr id="18" name="椭圆 17">
              <a:extLst>
                <a:ext uri="{FF2B5EF4-FFF2-40B4-BE49-F238E27FC236}">
                  <a16:creationId xmlns:a16="http://schemas.microsoft.com/office/drawing/2014/main" id="{CE9F1520-CE46-47B8-A8E8-98194794EF67}"/>
                </a:ext>
              </a:extLst>
            </p:cNvPr>
            <p:cNvSpPr/>
            <p:nvPr>
              <p:custDataLst>
                <p:tags r:id="rId4"/>
              </p:custDataLst>
            </p:nvPr>
          </p:nvSpPr>
          <p:spPr>
            <a:xfrm>
              <a:off x="6633" y="4949"/>
              <a:ext cx="1095" cy="1095"/>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dirty="0">
                  <a:solidFill>
                    <a:schemeClr val="dk1"/>
                  </a:solidFill>
                  <a:latin typeface="幼圆" panose="02010509060101010101" charset="-122"/>
                  <a:ea typeface="幼圆" panose="02010509060101010101" charset="-122"/>
                </a:rPr>
                <a:t>1</a:t>
              </a:r>
            </a:p>
          </p:txBody>
        </p:sp>
        <p:sp>
          <p:nvSpPr>
            <p:cNvPr id="19" name="椭圆 18">
              <a:extLst>
                <a:ext uri="{FF2B5EF4-FFF2-40B4-BE49-F238E27FC236}">
                  <a16:creationId xmlns:a16="http://schemas.microsoft.com/office/drawing/2014/main" id="{731FF4F4-BD66-4DA8-AC47-8048BC1E668C}"/>
                </a:ext>
              </a:extLst>
            </p:cNvPr>
            <p:cNvSpPr/>
            <p:nvPr>
              <p:custDataLst>
                <p:tags r:id="rId5"/>
              </p:custDataLst>
            </p:nvPr>
          </p:nvSpPr>
          <p:spPr>
            <a:xfrm>
              <a:off x="9553" y="4934"/>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20" name="椭圆 19">
              <a:extLst>
                <a:ext uri="{FF2B5EF4-FFF2-40B4-BE49-F238E27FC236}">
                  <a16:creationId xmlns:a16="http://schemas.microsoft.com/office/drawing/2014/main" id="{3189325F-58CA-492D-9178-34D6B1EF5E70}"/>
                </a:ext>
              </a:extLst>
            </p:cNvPr>
            <p:cNvSpPr/>
            <p:nvPr>
              <p:custDataLst>
                <p:tags r:id="rId6"/>
              </p:custDataLst>
            </p:nvPr>
          </p:nvSpPr>
          <p:spPr>
            <a:xfrm>
              <a:off x="9691" y="5079"/>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dirty="0">
                  <a:solidFill>
                    <a:schemeClr val="dk1"/>
                  </a:solidFill>
                  <a:latin typeface="幼圆" panose="02010509060101010101" charset="-122"/>
                  <a:ea typeface="幼圆" panose="02010509060101010101" charset="-122"/>
                </a:rPr>
                <a:t>2</a:t>
              </a:r>
            </a:p>
          </p:txBody>
        </p:sp>
        <p:sp>
          <p:nvSpPr>
            <p:cNvPr id="21" name="箭头: 右 9">
              <a:extLst>
                <a:ext uri="{FF2B5EF4-FFF2-40B4-BE49-F238E27FC236}">
                  <a16:creationId xmlns:a16="http://schemas.microsoft.com/office/drawing/2014/main" id="{91F0E41A-5810-4ED6-832A-6D8728677AF3}"/>
                </a:ext>
              </a:extLst>
            </p:cNvPr>
            <p:cNvSpPr/>
            <p:nvPr>
              <p:custDataLst>
                <p:tags r:id="rId7"/>
              </p:custDataLst>
            </p:nvPr>
          </p:nvSpPr>
          <p:spPr>
            <a:xfrm>
              <a:off x="2671" y="5314"/>
              <a:ext cx="658" cy="275"/>
            </a:xfrm>
            <a:prstGeom prst="rightArrow">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cxnSp>
          <p:nvCxnSpPr>
            <p:cNvPr id="22" name="直接箭头连接符 21">
              <a:extLst>
                <a:ext uri="{FF2B5EF4-FFF2-40B4-BE49-F238E27FC236}">
                  <a16:creationId xmlns:a16="http://schemas.microsoft.com/office/drawing/2014/main" id="{A108AFEC-14E7-4CD3-9488-9F4FBB6F1EE8}"/>
                </a:ext>
              </a:extLst>
            </p:cNvPr>
            <p:cNvCxnSpPr>
              <a:stCxn id="17" idx="6"/>
              <a:endCxn id="18" idx="2"/>
            </p:cNvCxnSpPr>
            <p:nvPr>
              <p:custDataLst>
                <p:tags r:id="rId8"/>
              </p:custDataLst>
            </p:nvPr>
          </p:nvCxnSpPr>
          <p:spPr>
            <a:xfrm>
              <a:off x="4421" y="5479"/>
              <a:ext cx="2213"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4F88D4C5-9092-49FD-A8B8-C46631E065E3}"/>
                </a:ext>
              </a:extLst>
            </p:cNvPr>
            <p:cNvCxnSpPr>
              <a:stCxn id="18" idx="6"/>
            </p:cNvCxnSpPr>
            <p:nvPr>
              <p:custDataLst>
                <p:tags r:id="rId9"/>
              </p:custDataLst>
            </p:nvPr>
          </p:nvCxnSpPr>
          <p:spPr>
            <a:xfrm flipV="1">
              <a:off x="7728" y="5479"/>
              <a:ext cx="1825"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曲线 12">
              <a:extLst>
                <a:ext uri="{FF2B5EF4-FFF2-40B4-BE49-F238E27FC236}">
                  <a16:creationId xmlns:a16="http://schemas.microsoft.com/office/drawing/2014/main" id="{C76FC508-08F4-4E15-A306-588FF522A96F}"/>
                </a:ext>
              </a:extLst>
            </p:cNvPr>
            <p:cNvCxnSpPr>
              <a:stCxn id="18" idx="1"/>
              <a:endCxn id="18" idx="7"/>
            </p:cNvCxnSpPr>
            <p:nvPr>
              <p:custDataLst>
                <p:tags r:id="rId10"/>
              </p:custDataLst>
            </p:nvPr>
          </p:nvCxnSpPr>
          <p:spPr>
            <a:xfrm rot="5400000" flipH="1" flipV="1">
              <a:off x="7181" y="4724"/>
              <a:ext cx="20" cy="775"/>
            </a:xfrm>
            <a:prstGeom prst="curvedConnector3">
              <a:avLst>
                <a:gd name="adj1" fmla="val 2601354"/>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13">
              <a:extLst>
                <a:ext uri="{FF2B5EF4-FFF2-40B4-BE49-F238E27FC236}">
                  <a16:creationId xmlns:a16="http://schemas.microsoft.com/office/drawing/2014/main" id="{8510E58C-34CD-42A5-832D-1B522AF0A10B}"/>
                </a:ext>
              </a:extLst>
            </p:cNvPr>
            <p:cNvSpPr txBox="1"/>
            <p:nvPr>
              <p:custDataLst>
                <p:tags r:id="rId11"/>
              </p:custDataLst>
            </p:nvPr>
          </p:nvSpPr>
          <p:spPr>
            <a:xfrm>
              <a:off x="5054" y="4694"/>
              <a:ext cx="1298" cy="84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500" dirty="0">
                  <a:solidFill>
                    <a:schemeClr val="dk1"/>
                  </a:solidFill>
                  <a:latin typeface="幼圆" panose="02010509060101010101" charset="-122"/>
                  <a:ea typeface="幼圆" panose="02010509060101010101" charset="-122"/>
                </a:rPr>
                <a:t>0-9</a:t>
              </a:r>
            </a:p>
          </p:txBody>
        </p:sp>
        <p:sp>
          <p:nvSpPr>
            <p:cNvPr id="26" name="文本框 14">
              <a:extLst>
                <a:ext uri="{FF2B5EF4-FFF2-40B4-BE49-F238E27FC236}">
                  <a16:creationId xmlns:a16="http://schemas.microsoft.com/office/drawing/2014/main" id="{037477F5-F851-456D-90B2-E348F61B044F}"/>
                </a:ext>
              </a:extLst>
            </p:cNvPr>
            <p:cNvSpPr txBox="1"/>
            <p:nvPr>
              <p:custDataLst>
                <p:tags r:id="rId12"/>
              </p:custDataLst>
            </p:nvPr>
          </p:nvSpPr>
          <p:spPr>
            <a:xfrm>
              <a:off x="8146" y="4994"/>
              <a:ext cx="1245" cy="6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solidFill>
                    <a:schemeClr val="dk1"/>
                  </a:solidFill>
                  <a:latin typeface="幼圆" panose="02010509060101010101" charset="-122"/>
                  <a:ea typeface="幼圆" panose="02010509060101010101" charset="-122"/>
                </a:rPr>
                <a:t>其他</a:t>
              </a:r>
            </a:p>
          </p:txBody>
        </p:sp>
        <p:sp>
          <p:nvSpPr>
            <p:cNvPr id="27" name="文本框 13">
              <a:extLst>
                <a:ext uri="{FF2B5EF4-FFF2-40B4-BE49-F238E27FC236}">
                  <a16:creationId xmlns:a16="http://schemas.microsoft.com/office/drawing/2014/main" id="{CD05CF56-BDB4-4ED4-BF96-DDAFA860D143}"/>
                </a:ext>
              </a:extLst>
            </p:cNvPr>
            <p:cNvSpPr txBox="1"/>
            <p:nvPr>
              <p:custDataLst>
                <p:tags r:id="rId13"/>
              </p:custDataLst>
            </p:nvPr>
          </p:nvSpPr>
          <p:spPr>
            <a:xfrm>
              <a:off x="6691" y="3989"/>
              <a:ext cx="1219" cy="7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350" dirty="0">
                  <a:solidFill>
                    <a:schemeClr val="dk1"/>
                  </a:solidFill>
                  <a:latin typeface="幼圆" panose="02010509060101010101" charset="-122"/>
                  <a:ea typeface="幼圆" panose="02010509060101010101" charset="-122"/>
                </a:rPr>
                <a:t>0-9</a:t>
              </a:r>
            </a:p>
          </p:txBody>
        </p:sp>
      </p:grpSp>
    </p:spTree>
    <p:custDataLst>
      <p:tags r:id="rId1"/>
    </p:custDataLst>
  </p:cSld>
  <p:clrMapOvr>
    <a:masterClrMapping/>
  </p:clrMapOvr>
  <p:transition advTm="11949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9574" y="689481"/>
            <a:ext cx="4172426" cy="741550"/>
          </a:xfrm>
          <a:prstGeom prst="rect">
            <a:avLst/>
          </a:prstGeom>
          <a:noFill/>
        </p:spPr>
        <p:txBody>
          <a:bodyPr wrap="square" rtlCol="0" anchor="t">
            <a:spAutoFit/>
          </a:bodyPr>
          <a:lstStyle/>
          <a:p>
            <a:pPr>
              <a:lnSpc>
                <a:spcPct val="150000"/>
              </a:lnSpc>
            </a:pPr>
            <a:r>
              <a:rPr lang="zh-CN" altLang="en-US" sz="1500" dirty="0">
                <a:solidFill>
                  <a:srgbClr val="000000"/>
                </a:solidFill>
                <a:latin typeface="微软雅黑" panose="020B0503020204020204" charset="-122"/>
                <a:ea typeface="微软雅黑" panose="020B0503020204020204" charset="-122"/>
                <a:sym typeface="+mn-ea"/>
              </a:rPr>
              <a:t>状态转换图是</a:t>
            </a:r>
            <a:r>
              <a:rPr lang="zh-CN" altLang="en-US" sz="1500" b="1" dirty="0">
                <a:solidFill>
                  <a:srgbClr val="FF0000"/>
                </a:solidFill>
                <a:latin typeface="微软雅黑" panose="020B0503020204020204" charset="-122"/>
                <a:ea typeface="微软雅黑" panose="020B0503020204020204" charset="-122"/>
                <a:sym typeface="+mn-ea"/>
              </a:rPr>
              <a:t>描述单词构成规则</a:t>
            </a:r>
            <a:r>
              <a:rPr lang="zh-CN" altLang="en-US" sz="1500" dirty="0">
                <a:solidFill>
                  <a:srgbClr val="000000"/>
                </a:solidFill>
                <a:latin typeface="微软雅黑" panose="020B0503020204020204" charset="-122"/>
                <a:ea typeface="微软雅黑" panose="020B0503020204020204" charset="-122"/>
                <a:sym typeface="+mn-ea"/>
              </a:rPr>
              <a:t>的一种工具</a:t>
            </a:r>
            <a:r>
              <a:rPr lang="en-US" altLang="zh-CN" sz="1500" dirty="0">
                <a:solidFill>
                  <a:srgbClr val="000000"/>
                </a:solidFill>
                <a:latin typeface="微软雅黑" panose="020B0503020204020204" charset="-122"/>
                <a:ea typeface="微软雅黑" panose="020B0503020204020204" charset="-122"/>
                <a:sym typeface="+mn-ea"/>
              </a:rPr>
              <a:t>,</a:t>
            </a:r>
            <a:r>
              <a:rPr kumimoji="1" lang="zh-CN" altLang="en-US" sz="1500" dirty="0">
                <a:solidFill>
                  <a:srgbClr val="0000FF"/>
                </a:solidFill>
              </a:rPr>
              <a:t>可用于识别</a:t>
            </a:r>
            <a:r>
              <a:rPr kumimoji="1" lang="zh-CN" altLang="en-US" sz="1500" dirty="0">
                <a:solidFill>
                  <a:srgbClr val="0000FF"/>
                </a:solidFill>
                <a:highlight>
                  <a:srgbClr val="FFFF00"/>
                </a:highlight>
              </a:rPr>
              <a:t>一定规则</a:t>
            </a:r>
            <a:r>
              <a:rPr kumimoji="1" lang="zh-CN" altLang="en-US" sz="1500" dirty="0">
                <a:solidFill>
                  <a:srgbClr val="0000FF"/>
                </a:solidFill>
              </a:rPr>
              <a:t>的字符串</a:t>
            </a:r>
            <a:endParaRPr lang="zh-CN" altLang="en-US" sz="1500" dirty="0">
              <a:solidFill>
                <a:srgbClr val="000000"/>
              </a:solidFill>
              <a:latin typeface="微软雅黑" panose="020B0503020204020204" charset="-122"/>
              <a:ea typeface="微软雅黑" panose="020B0503020204020204" charset="-122"/>
              <a:sym typeface="+mn-ea"/>
            </a:endParaRPr>
          </a:p>
        </p:txBody>
      </p:sp>
      <p:sp>
        <p:nvSpPr>
          <p:cNvPr id="3" name="文本框 2"/>
          <p:cNvSpPr txBox="1"/>
          <p:nvPr>
            <p:custDataLst>
              <p:tags r:id="rId2"/>
            </p:custDataLst>
          </p:nvPr>
        </p:nvSpPr>
        <p:spPr>
          <a:xfrm>
            <a:off x="5489331" y="1445739"/>
            <a:ext cx="2350288" cy="827791"/>
          </a:xfrm>
          <a:prstGeom prst="rect">
            <a:avLst/>
          </a:prstGeom>
          <a:solidFill>
            <a:schemeClr val="accent4">
              <a:lumMod val="20000"/>
              <a:lumOff val="80000"/>
            </a:schemeClr>
          </a:solidFill>
          <a:effectLst>
            <a:outerShdw blurRad="50800" dist="38100" dir="2700000" algn="tl" rotWithShape="0">
              <a:prstClr val="black">
                <a:alpha val="40000"/>
              </a:prstClr>
            </a:outerShdw>
          </a:effectLst>
        </p:spPr>
        <p:txBody>
          <a:bodyPr wrap="square" rtlCol="0" anchor="t">
            <a:noAutofit/>
          </a:bodyPr>
          <a:lstStyle/>
          <a:p>
            <a:pPr>
              <a:lnSpc>
                <a:spcPct val="120000"/>
              </a:lnSpc>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十进制构词规则：由若干个0-9的数字构成，可以有一位或多位，例如103</a:t>
            </a:r>
          </a:p>
        </p:txBody>
      </p:sp>
      <p:grpSp>
        <p:nvGrpSpPr>
          <p:cNvPr id="13" name="组合 12"/>
          <p:cNvGrpSpPr/>
          <p:nvPr/>
        </p:nvGrpSpPr>
        <p:grpSpPr>
          <a:xfrm>
            <a:off x="644760" y="1818077"/>
            <a:ext cx="3009911" cy="786854"/>
            <a:chOff x="2671" y="3989"/>
            <a:chExt cx="8255" cy="2055"/>
          </a:xfrm>
        </p:grpSpPr>
        <p:sp>
          <p:nvSpPr>
            <p:cNvPr id="17" name="Text Box 33"/>
            <p:cNvSpPr txBox="1"/>
            <p:nvPr>
              <p:custDataLst>
                <p:tags r:id="rId19"/>
              </p:custDataLst>
            </p:nvPr>
          </p:nvSpPr>
          <p:spPr>
            <a:xfrm>
              <a:off x="10453" y="4644"/>
              <a:ext cx="473" cy="9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solidFill>
                    <a:schemeClr val="dk1"/>
                  </a:solidFill>
                  <a:latin typeface="幼圆" panose="02010509060101010101" charset="-122"/>
                  <a:ea typeface="幼圆" panose="02010509060101010101" charset="-122"/>
                </a:rPr>
                <a:t>*</a:t>
              </a:r>
            </a:p>
          </p:txBody>
        </p:sp>
        <p:sp>
          <p:nvSpPr>
            <p:cNvPr id="18" name="椭圆 17"/>
            <p:cNvSpPr/>
            <p:nvPr>
              <p:custDataLst>
                <p:tags r:id="rId20"/>
              </p:custDataLst>
            </p:nvPr>
          </p:nvSpPr>
          <p:spPr>
            <a:xfrm>
              <a:off x="3328" y="4934"/>
              <a:ext cx="1093" cy="1093"/>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dirty="0">
                  <a:solidFill>
                    <a:schemeClr val="dk1"/>
                  </a:solidFill>
                  <a:latin typeface="幼圆" panose="02010509060101010101" charset="-122"/>
                  <a:ea typeface="幼圆" panose="02010509060101010101" charset="-122"/>
                </a:rPr>
                <a:t>0</a:t>
              </a:r>
            </a:p>
          </p:txBody>
        </p:sp>
        <p:sp>
          <p:nvSpPr>
            <p:cNvPr id="19" name="椭圆 18"/>
            <p:cNvSpPr/>
            <p:nvPr>
              <p:custDataLst>
                <p:tags r:id="rId21"/>
              </p:custDataLst>
            </p:nvPr>
          </p:nvSpPr>
          <p:spPr>
            <a:xfrm>
              <a:off x="6633" y="4949"/>
              <a:ext cx="1095" cy="1095"/>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dirty="0">
                  <a:solidFill>
                    <a:schemeClr val="dk1"/>
                  </a:solidFill>
                  <a:latin typeface="幼圆" panose="02010509060101010101" charset="-122"/>
                  <a:ea typeface="幼圆" panose="02010509060101010101" charset="-122"/>
                </a:rPr>
                <a:t>1</a:t>
              </a:r>
            </a:p>
          </p:txBody>
        </p:sp>
        <p:sp>
          <p:nvSpPr>
            <p:cNvPr id="23" name="椭圆 22"/>
            <p:cNvSpPr/>
            <p:nvPr>
              <p:custDataLst>
                <p:tags r:id="rId22"/>
              </p:custDataLst>
            </p:nvPr>
          </p:nvSpPr>
          <p:spPr>
            <a:xfrm>
              <a:off x="9553" y="4934"/>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24" name="椭圆 23"/>
            <p:cNvSpPr/>
            <p:nvPr>
              <p:custDataLst>
                <p:tags r:id="rId23"/>
              </p:custDataLst>
            </p:nvPr>
          </p:nvSpPr>
          <p:spPr>
            <a:xfrm>
              <a:off x="9691" y="5079"/>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dirty="0">
                  <a:solidFill>
                    <a:schemeClr val="dk1"/>
                  </a:solidFill>
                  <a:latin typeface="幼圆" panose="02010509060101010101" charset="-122"/>
                  <a:ea typeface="幼圆" panose="02010509060101010101" charset="-122"/>
                </a:rPr>
                <a:t>2</a:t>
              </a:r>
            </a:p>
          </p:txBody>
        </p:sp>
        <p:sp>
          <p:nvSpPr>
            <p:cNvPr id="33" name="箭头: 右 9"/>
            <p:cNvSpPr/>
            <p:nvPr>
              <p:custDataLst>
                <p:tags r:id="rId24"/>
              </p:custDataLst>
            </p:nvPr>
          </p:nvSpPr>
          <p:spPr>
            <a:xfrm>
              <a:off x="2671" y="5314"/>
              <a:ext cx="658" cy="275"/>
            </a:xfrm>
            <a:prstGeom prst="rightArrow">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cxnSp>
          <p:nvCxnSpPr>
            <p:cNvPr id="34" name="直接箭头连接符 33"/>
            <p:cNvCxnSpPr>
              <a:stCxn id="18" idx="6"/>
              <a:endCxn id="19" idx="2"/>
            </p:cNvCxnSpPr>
            <p:nvPr>
              <p:custDataLst>
                <p:tags r:id="rId25"/>
              </p:custDataLst>
            </p:nvPr>
          </p:nvCxnSpPr>
          <p:spPr>
            <a:xfrm>
              <a:off x="4421" y="5479"/>
              <a:ext cx="2213"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9" idx="6"/>
            </p:cNvCxnSpPr>
            <p:nvPr>
              <p:custDataLst>
                <p:tags r:id="rId26"/>
              </p:custDataLst>
            </p:nvPr>
          </p:nvCxnSpPr>
          <p:spPr>
            <a:xfrm flipV="1">
              <a:off x="7728" y="5479"/>
              <a:ext cx="1825"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曲线 12"/>
            <p:cNvCxnSpPr>
              <a:stCxn id="19" idx="1"/>
              <a:endCxn id="19" idx="7"/>
            </p:cNvCxnSpPr>
            <p:nvPr>
              <p:custDataLst>
                <p:tags r:id="rId27"/>
              </p:custDataLst>
            </p:nvPr>
          </p:nvCxnSpPr>
          <p:spPr>
            <a:xfrm rot="5400000" flipH="1" flipV="1">
              <a:off x="7181" y="4724"/>
              <a:ext cx="20" cy="775"/>
            </a:xfrm>
            <a:prstGeom prst="curvedConnector3">
              <a:avLst>
                <a:gd name="adj1" fmla="val 2601354"/>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13"/>
            <p:cNvSpPr txBox="1"/>
            <p:nvPr>
              <p:custDataLst>
                <p:tags r:id="rId28"/>
              </p:custDataLst>
            </p:nvPr>
          </p:nvSpPr>
          <p:spPr>
            <a:xfrm>
              <a:off x="5054" y="4694"/>
              <a:ext cx="1298" cy="84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500" dirty="0">
                  <a:solidFill>
                    <a:schemeClr val="dk1"/>
                  </a:solidFill>
                  <a:latin typeface="幼圆" panose="02010509060101010101" charset="-122"/>
                  <a:ea typeface="幼圆" panose="02010509060101010101" charset="-122"/>
                </a:rPr>
                <a:t>0-9</a:t>
              </a:r>
            </a:p>
          </p:txBody>
        </p:sp>
        <p:sp>
          <p:nvSpPr>
            <p:cNvPr id="38" name="文本框 14"/>
            <p:cNvSpPr txBox="1"/>
            <p:nvPr>
              <p:custDataLst>
                <p:tags r:id="rId29"/>
              </p:custDataLst>
            </p:nvPr>
          </p:nvSpPr>
          <p:spPr>
            <a:xfrm>
              <a:off x="8146" y="4994"/>
              <a:ext cx="1245" cy="6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solidFill>
                    <a:schemeClr val="dk1"/>
                  </a:solidFill>
                  <a:latin typeface="幼圆" panose="02010509060101010101" charset="-122"/>
                  <a:ea typeface="幼圆" panose="02010509060101010101" charset="-122"/>
                </a:rPr>
                <a:t>其他</a:t>
              </a:r>
            </a:p>
          </p:txBody>
        </p:sp>
        <p:sp>
          <p:nvSpPr>
            <p:cNvPr id="43" name="文本框 13"/>
            <p:cNvSpPr txBox="1"/>
            <p:nvPr>
              <p:custDataLst>
                <p:tags r:id="rId30"/>
              </p:custDataLst>
            </p:nvPr>
          </p:nvSpPr>
          <p:spPr>
            <a:xfrm>
              <a:off x="6691" y="3989"/>
              <a:ext cx="1219" cy="7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350" dirty="0">
                  <a:solidFill>
                    <a:schemeClr val="dk1"/>
                  </a:solidFill>
                  <a:latin typeface="幼圆" panose="02010509060101010101" charset="-122"/>
                  <a:ea typeface="幼圆" panose="02010509060101010101" charset="-122"/>
                </a:rPr>
                <a:t>0-9</a:t>
              </a:r>
            </a:p>
          </p:txBody>
        </p:sp>
      </p:grpSp>
      <p:sp>
        <p:nvSpPr>
          <p:cNvPr id="48" name="文本框 47"/>
          <p:cNvSpPr txBox="1"/>
          <p:nvPr/>
        </p:nvSpPr>
        <p:spPr>
          <a:xfrm>
            <a:off x="435958" y="1451762"/>
            <a:ext cx="2212548" cy="300082"/>
          </a:xfrm>
          <a:prstGeom prst="rect">
            <a:avLst/>
          </a:prstGeom>
          <a:noFill/>
        </p:spPr>
        <p:txBody>
          <a:bodyPr wrap="square">
            <a:spAutoFit/>
          </a:bodyPr>
          <a:lstStyle/>
          <a:p>
            <a:r>
              <a:rPr lang="zh-CN" altLang="en-US" sz="1350" dirty="0">
                <a:solidFill>
                  <a:srgbClr val="000000"/>
                </a:solidFill>
                <a:latin typeface="微软雅黑" panose="020B0503020204020204" charset="-122"/>
                <a:ea typeface="微软雅黑" panose="020B0503020204020204" charset="-122"/>
                <a:sym typeface="+mn-ea"/>
              </a:rPr>
              <a:t>示例：整数（不分正负号）</a:t>
            </a:r>
          </a:p>
        </p:txBody>
      </p:sp>
      <p:sp>
        <p:nvSpPr>
          <p:cNvPr id="50" name="文本框 49"/>
          <p:cNvSpPr txBox="1"/>
          <p:nvPr/>
        </p:nvSpPr>
        <p:spPr>
          <a:xfrm>
            <a:off x="5489331" y="2604931"/>
            <a:ext cx="2641194" cy="1697228"/>
          </a:xfrm>
          <a:prstGeom prst="rect">
            <a:avLst/>
          </a:prstGeom>
          <a:ln w="28575" cmpd="sng">
            <a:solidFill>
              <a:schemeClr val="accent1">
                <a:shade val="50000"/>
              </a:schemeClr>
            </a:solidFill>
            <a:prstDash val="solid"/>
          </a:ln>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20000"/>
              </a:lnSpc>
            </a:pPr>
            <a:r>
              <a:rPr lang="zh-CN" altLang="en-US" sz="1500" b="1" dirty="0"/>
              <a:t>识别过程是</a:t>
            </a:r>
            <a:r>
              <a:rPr lang="zh-CN" altLang="en-US" sz="1500" dirty="0"/>
              <a:t>：从</a:t>
            </a:r>
            <a:r>
              <a:rPr lang="zh-CN" altLang="en-US" sz="1500" dirty="0">
                <a:solidFill>
                  <a:srgbClr val="FF0000"/>
                </a:solidFill>
              </a:rPr>
              <a:t>初始状态</a:t>
            </a:r>
            <a:r>
              <a:rPr lang="zh-CN" altLang="en-US" sz="1500" dirty="0"/>
              <a:t>开始，根据读入的符号沿箭头指向转到下一状态，继续读入，并进行转换，如果能进入</a:t>
            </a:r>
            <a:r>
              <a:rPr lang="zh-CN" altLang="en-US" sz="1500" dirty="0">
                <a:solidFill>
                  <a:srgbClr val="FF0000"/>
                </a:solidFill>
              </a:rPr>
              <a:t>终结状态</a:t>
            </a:r>
            <a:r>
              <a:rPr lang="zh-CN" altLang="en-US" sz="1500" dirty="0"/>
              <a:t>，就表示识别出一个单词。</a:t>
            </a:r>
          </a:p>
        </p:txBody>
      </p:sp>
      <p:sp>
        <p:nvSpPr>
          <p:cNvPr id="42" name="文本框 41"/>
          <p:cNvSpPr txBox="1"/>
          <p:nvPr/>
        </p:nvSpPr>
        <p:spPr>
          <a:xfrm>
            <a:off x="5364088" y="689481"/>
            <a:ext cx="2748590" cy="357790"/>
          </a:xfrm>
          <a:prstGeom prst="rect">
            <a:avLst/>
          </a:prstGeom>
          <a:noFill/>
        </p:spPr>
        <p:txBody>
          <a:bodyPr wrap="square" rtlCol="0">
            <a:spAutoFit/>
          </a:bodyPr>
          <a:lstStyle/>
          <a:p>
            <a:pPr>
              <a:lnSpc>
                <a:spcPct val="120000"/>
              </a:lnSpc>
            </a:pPr>
            <a:r>
              <a:rPr kumimoji="1" lang="zh-CN" altLang="en-US" sz="1500" dirty="0">
                <a:sym typeface="+mn-ea"/>
              </a:rPr>
              <a:t>比如要从</a:t>
            </a:r>
            <a:r>
              <a:rPr kumimoji="1" lang="en-US" altLang="zh-CN" sz="1500" dirty="0">
                <a:sym typeface="+mn-ea"/>
              </a:rPr>
              <a:t>103+x</a:t>
            </a:r>
            <a:r>
              <a:rPr kumimoji="1" lang="zh-CN" altLang="en-US" sz="1500" dirty="0">
                <a:sym typeface="+mn-ea"/>
              </a:rPr>
              <a:t>中识别出</a:t>
            </a:r>
            <a:r>
              <a:rPr kumimoji="1" lang="en-US" altLang="zh-CN" sz="1500" dirty="0">
                <a:sym typeface="+mn-ea"/>
              </a:rPr>
              <a:t>103</a:t>
            </a:r>
            <a:endParaRPr kumimoji="1" lang="en-US" altLang="zh-CN" sz="1500" dirty="0"/>
          </a:p>
        </p:txBody>
      </p:sp>
      <p:sp>
        <p:nvSpPr>
          <p:cNvPr id="51" name="标题 2">
            <a:extLst>
              <a:ext uri="{FF2B5EF4-FFF2-40B4-BE49-F238E27FC236}">
                <a16:creationId xmlns:a16="http://schemas.microsoft.com/office/drawing/2014/main" id="{36EDE9EE-757F-452D-B07E-6F75A3B3B715}"/>
              </a:ext>
            </a:extLst>
          </p:cNvPr>
          <p:cNvSpPr txBox="1">
            <a:spLocks/>
          </p:cNvSpPr>
          <p:nvPr/>
        </p:nvSpPr>
        <p:spPr>
          <a:xfrm>
            <a:off x="107504" y="123478"/>
            <a:ext cx="8229600" cy="576064"/>
          </a:xfrm>
          <a:prstGeom prst="rect">
            <a:avLst/>
          </a:prstGeom>
        </p:spPr>
        <p:txBody>
          <a:bodyPr>
            <a:normAutofit fontScale="90000" lnSpcReduction="1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lang="zh-CN" altLang="en-US">
                <a:ea typeface="楷体_GB2312" pitchFamily="49" charset="-122"/>
              </a:rPr>
              <a:t>状态转换图</a:t>
            </a:r>
            <a:endParaRPr lang="zh-CN" altLang="en-US" dirty="0"/>
          </a:p>
        </p:txBody>
      </p:sp>
      <p:grpSp>
        <p:nvGrpSpPr>
          <p:cNvPr id="56" name="组合 55">
            <a:extLst>
              <a:ext uri="{FF2B5EF4-FFF2-40B4-BE49-F238E27FC236}">
                <a16:creationId xmlns:a16="http://schemas.microsoft.com/office/drawing/2014/main" id="{97632A0B-DD1C-4946-9EA1-0C5DF4EAABA9}"/>
              </a:ext>
            </a:extLst>
          </p:cNvPr>
          <p:cNvGrpSpPr/>
          <p:nvPr/>
        </p:nvGrpSpPr>
        <p:grpSpPr>
          <a:xfrm>
            <a:off x="576998" y="3301391"/>
            <a:ext cx="3067042" cy="1152628"/>
            <a:chOff x="2671" y="3973"/>
            <a:chExt cx="8255" cy="3489"/>
          </a:xfrm>
        </p:grpSpPr>
        <p:sp>
          <p:nvSpPr>
            <p:cNvPr id="57" name="Text Box 33">
              <a:extLst>
                <a:ext uri="{FF2B5EF4-FFF2-40B4-BE49-F238E27FC236}">
                  <a16:creationId xmlns:a16="http://schemas.microsoft.com/office/drawing/2014/main" id="{16755673-29E6-4501-A9B6-90756A16B517}"/>
                </a:ext>
              </a:extLst>
            </p:cNvPr>
            <p:cNvSpPr txBox="1"/>
            <p:nvPr>
              <p:custDataLst>
                <p:tags r:id="rId3"/>
              </p:custDataLst>
            </p:nvPr>
          </p:nvSpPr>
          <p:spPr>
            <a:xfrm>
              <a:off x="10453" y="4644"/>
              <a:ext cx="473" cy="111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solidFill>
                    <a:schemeClr val="dk1"/>
                  </a:solidFill>
                  <a:latin typeface="幼圆" panose="02010509060101010101" charset="-122"/>
                  <a:ea typeface="幼圆" panose="02010509060101010101" charset="-122"/>
                </a:rPr>
                <a:t>*</a:t>
              </a:r>
            </a:p>
          </p:txBody>
        </p:sp>
        <p:sp>
          <p:nvSpPr>
            <p:cNvPr id="58" name="椭圆 57">
              <a:extLst>
                <a:ext uri="{FF2B5EF4-FFF2-40B4-BE49-F238E27FC236}">
                  <a16:creationId xmlns:a16="http://schemas.microsoft.com/office/drawing/2014/main" id="{CE56B62F-D3B4-49B0-AB80-1552AD3FBCB3}"/>
                </a:ext>
              </a:extLst>
            </p:cNvPr>
            <p:cNvSpPr/>
            <p:nvPr>
              <p:custDataLst>
                <p:tags r:id="rId4"/>
              </p:custDataLst>
            </p:nvPr>
          </p:nvSpPr>
          <p:spPr>
            <a:xfrm>
              <a:off x="3328" y="4934"/>
              <a:ext cx="1093" cy="1093"/>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0</a:t>
              </a:r>
            </a:p>
          </p:txBody>
        </p:sp>
        <p:sp>
          <p:nvSpPr>
            <p:cNvPr id="59" name="椭圆 58">
              <a:extLst>
                <a:ext uri="{FF2B5EF4-FFF2-40B4-BE49-F238E27FC236}">
                  <a16:creationId xmlns:a16="http://schemas.microsoft.com/office/drawing/2014/main" id="{EF08DA41-8A22-417A-B5CC-391D16FD6A72}"/>
                </a:ext>
              </a:extLst>
            </p:cNvPr>
            <p:cNvSpPr/>
            <p:nvPr>
              <p:custDataLst>
                <p:tags r:id="rId5"/>
              </p:custDataLst>
            </p:nvPr>
          </p:nvSpPr>
          <p:spPr>
            <a:xfrm>
              <a:off x="6633" y="4949"/>
              <a:ext cx="1095" cy="1095"/>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1</a:t>
              </a:r>
            </a:p>
          </p:txBody>
        </p:sp>
        <p:sp>
          <p:nvSpPr>
            <p:cNvPr id="60" name="椭圆 59">
              <a:extLst>
                <a:ext uri="{FF2B5EF4-FFF2-40B4-BE49-F238E27FC236}">
                  <a16:creationId xmlns:a16="http://schemas.microsoft.com/office/drawing/2014/main" id="{73B98B13-D176-4D70-BC06-68B25146FD64}"/>
                </a:ext>
              </a:extLst>
            </p:cNvPr>
            <p:cNvSpPr/>
            <p:nvPr>
              <p:custDataLst>
                <p:tags r:id="rId6"/>
              </p:custDataLst>
            </p:nvPr>
          </p:nvSpPr>
          <p:spPr>
            <a:xfrm>
              <a:off x="9553" y="4934"/>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61" name="椭圆 60">
              <a:extLst>
                <a:ext uri="{FF2B5EF4-FFF2-40B4-BE49-F238E27FC236}">
                  <a16:creationId xmlns:a16="http://schemas.microsoft.com/office/drawing/2014/main" id="{B38D8D95-8EC1-49D0-A40F-89297B9B1BD2}"/>
                </a:ext>
              </a:extLst>
            </p:cNvPr>
            <p:cNvSpPr/>
            <p:nvPr>
              <p:custDataLst>
                <p:tags r:id="rId7"/>
              </p:custDataLst>
            </p:nvPr>
          </p:nvSpPr>
          <p:spPr>
            <a:xfrm>
              <a:off x="9691" y="5079"/>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2</a:t>
              </a:r>
            </a:p>
          </p:txBody>
        </p:sp>
        <p:sp>
          <p:nvSpPr>
            <p:cNvPr id="62" name="箭头: 右 9">
              <a:extLst>
                <a:ext uri="{FF2B5EF4-FFF2-40B4-BE49-F238E27FC236}">
                  <a16:creationId xmlns:a16="http://schemas.microsoft.com/office/drawing/2014/main" id="{9C915CCA-3FF9-4E2A-BEE4-5F48EDD3CC82}"/>
                </a:ext>
              </a:extLst>
            </p:cNvPr>
            <p:cNvSpPr/>
            <p:nvPr>
              <p:custDataLst>
                <p:tags r:id="rId8"/>
              </p:custDataLst>
            </p:nvPr>
          </p:nvSpPr>
          <p:spPr>
            <a:xfrm>
              <a:off x="2671" y="5314"/>
              <a:ext cx="658" cy="275"/>
            </a:xfrm>
            <a:prstGeom prst="rightArrow">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cxnSp>
          <p:nvCxnSpPr>
            <p:cNvPr id="65" name="直接箭头连接符 64">
              <a:extLst>
                <a:ext uri="{FF2B5EF4-FFF2-40B4-BE49-F238E27FC236}">
                  <a16:creationId xmlns:a16="http://schemas.microsoft.com/office/drawing/2014/main" id="{923290A4-1662-405D-96C3-B8C7769236FA}"/>
                </a:ext>
              </a:extLst>
            </p:cNvPr>
            <p:cNvCxnSpPr>
              <a:stCxn id="58" idx="6"/>
              <a:endCxn id="59" idx="2"/>
            </p:cNvCxnSpPr>
            <p:nvPr>
              <p:custDataLst>
                <p:tags r:id="rId9"/>
              </p:custDataLst>
            </p:nvPr>
          </p:nvCxnSpPr>
          <p:spPr>
            <a:xfrm>
              <a:off x="4421" y="5479"/>
              <a:ext cx="2213"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754C8F64-CDD8-4F4C-8986-C2F05A34CD5F}"/>
                </a:ext>
              </a:extLst>
            </p:cNvPr>
            <p:cNvCxnSpPr>
              <a:stCxn id="59" idx="6"/>
            </p:cNvCxnSpPr>
            <p:nvPr>
              <p:custDataLst>
                <p:tags r:id="rId10"/>
              </p:custDataLst>
            </p:nvPr>
          </p:nvCxnSpPr>
          <p:spPr>
            <a:xfrm flipV="1">
              <a:off x="7728" y="5479"/>
              <a:ext cx="1825"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连接符: 曲线 12">
              <a:extLst>
                <a:ext uri="{FF2B5EF4-FFF2-40B4-BE49-F238E27FC236}">
                  <a16:creationId xmlns:a16="http://schemas.microsoft.com/office/drawing/2014/main" id="{6E909A4F-2800-4C8C-9092-B095CCF82ECD}"/>
                </a:ext>
              </a:extLst>
            </p:cNvPr>
            <p:cNvCxnSpPr>
              <a:stCxn id="59" idx="1"/>
              <a:endCxn id="59" idx="7"/>
            </p:cNvCxnSpPr>
            <p:nvPr>
              <p:custDataLst>
                <p:tags r:id="rId11"/>
              </p:custDataLst>
            </p:nvPr>
          </p:nvCxnSpPr>
          <p:spPr>
            <a:xfrm rot="5400000" flipH="1" flipV="1">
              <a:off x="7181" y="4724"/>
              <a:ext cx="20" cy="775"/>
            </a:xfrm>
            <a:prstGeom prst="curvedConnector3">
              <a:avLst>
                <a:gd name="adj1" fmla="val 2601354"/>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13">
              <a:extLst>
                <a:ext uri="{FF2B5EF4-FFF2-40B4-BE49-F238E27FC236}">
                  <a16:creationId xmlns:a16="http://schemas.microsoft.com/office/drawing/2014/main" id="{9436612A-E225-48A5-B8FD-C485B7070FED}"/>
                </a:ext>
              </a:extLst>
            </p:cNvPr>
            <p:cNvSpPr txBox="1"/>
            <p:nvPr>
              <p:custDataLst>
                <p:tags r:id="rId12"/>
              </p:custDataLst>
            </p:nvPr>
          </p:nvSpPr>
          <p:spPr>
            <a:xfrm>
              <a:off x="4783" y="4635"/>
              <a:ext cx="1274" cy="9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500" dirty="0">
                  <a:solidFill>
                    <a:schemeClr val="dk1"/>
                  </a:solidFill>
                  <a:latin typeface="幼圆" panose="02010509060101010101" charset="-122"/>
                  <a:ea typeface="幼圆" panose="02010509060101010101" charset="-122"/>
                </a:rPr>
                <a:t>1-9</a:t>
              </a:r>
            </a:p>
          </p:txBody>
        </p:sp>
        <p:sp>
          <p:nvSpPr>
            <p:cNvPr id="69" name="文本框 14">
              <a:extLst>
                <a:ext uri="{FF2B5EF4-FFF2-40B4-BE49-F238E27FC236}">
                  <a16:creationId xmlns:a16="http://schemas.microsoft.com/office/drawing/2014/main" id="{74B043D9-14D5-411F-880A-1D46CC822AA9}"/>
                </a:ext>
              </a:extLst>
            </p:cNvPr>
            <p:cNvSpPr txBox="1"/>
            <p:nvPr>
              <p:custDataLst>
                <p:tags r:id="rId13"/>
              </p:custDataLst>
            </p:nvPr>
          </p:nvSpPr>
          <p:spPr>
            <a:xfrm>
              <a:off x="8146" y="4831"/>
              <a:ext cx="1222" cy="7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solidFill>
                    <a:schemeClr val="dk1"/>
                  </a:solidFill>
                  <a:latin typeface="幼圆" panose="02010509060101010101" charset="-122"/>
                  <a:ea typeface="幼圆" panose="02010509060101010101" charset="-122"/>
                </a:rPr>
                <a:t>其他</a:t>
              </a:r>
            </a:p>
          </p:txBody>
        </p:sp>
        <p:sp>
          <p:nvSpPr>
            <p:cNvPr id="70" name="文本框 69">
              <a:extLst>
                <a:ext uri="{FF2B5EF4-FFF2-40B4-BE49-F238E27FC236}">
                  <a16:creationId xmlns:a16="http://schemas.microsoft.com/office/drawing/2014/main" id="{E2B7F10A-C0DD-4143-8777-57EDF9B1C830}"/>
                </a:ext>
              </a:extLst>
            </p:cNvPr>
            <p:cNvSpPr txBox="1"/>
            <p:nvPr>
              <p:custDataLst>
                <p:tags r:id="rId14"/>
              </p:custDataLst>
            </p:nvPr>
          </p:nvSpPr>
          <p:spPr>
            <a:xfrm>
              <a:off x="6902" y="6272"/>
              <a:ext cx="678" cy="7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050" dirty="0">
                  <a:solidFill>
                    <a:schemeClr val="dk1"/>
                  </a:solidFill>
                  <a:latin typeface="幼圆" panose="02010509060101010101" charset="-122"/>
                  <a:ea typeface="幼圆" panose="02010509060101010101" charset="-122"/>
                </a:rPr>
                <a:t>0</a:t>
              </a:r>
            </a:p>
          </p:txBody>
        </p:sp>
        <p:cxnSp>
          <p:nvCxnSpPr>
            <p:cNvPr id="71" name="连接符: 曲线 57">
              <a:extLst>
                <a:ext uri="{FF2B5EF4-FFF2-40B4-BE49-F238E27FC236}">
                  <a16:creationId xmlns:a16="http://schemas.microsoft.com/office/drawing/2014/main" id="{8E487F66-0EBE-41BF-BDE3-EFC2700401A9}"/>
                </a:ext>
              </a:extLst>
            </p:cNvPr>
            <p:cNvCxnSpPr>
              <a:stCxn id="58" idx="5"/>
            </p:cNvCxnSpPr>
            <p:nvPr>
              <p:custDataLst>
                <p:tags r:id="rId15"/>
              </p:custDataLst>
            </p:nvPr>
          </p:nvCxnSpPr>
          <p:spPr>
            <a:xfrm rot="16200000" flipH="1">
              <a:off x="6316" y="3809"/>
              <a:ext cx="1172" cy="5285"/>
            </a:xfrm>
            <a:prstGeom prst="curvedConnector2">
              <a:avLst/>
            </a:prstGeom>
            <a:ln w="28575" cap="flat" cmpd="sng">
              <a:solidFill>
                <a:srgbClr val="000000"/>
              </a:solidFill>
              <a:prstDash val="solid"/>
              <a:headEnd type="none" w="med" len="med"/>
              <a:tailEnd type="triangle" w="med" len="med"/>
            </a:ln>
          </p:spPr>
        </p:cxnSp>
        <p:sp>
          <p:nvSpPr>
            <p:cNvPr id="72" name="椭圆 71">
              <a:extLst>
                <a:ext uri="{FF2B5EF4-FFF2-40B4-BE49-F238E27FC236}">
                  <a16:creationId xmlns:a16="http://schemas.microsoft.com/office/drawing/2014/main" id="{05E9871F-F1A1-46D0-8C22-BBAB73380D9B}"/>
                </a:ext>
              </a:extLst>
            </p:cNvPr>
            <p:cNvSpPr/>
            <p:nvPr>
              <p:custDataLst>
                <p:tags r:id="rId16"/>
              </p:custDataLst>
            </p:nvPr>
          </p:nvSpPr>
          <p:spPr>
            <a:xfrm>
              <a:off x="9546" y="6369"/>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73" name="椭圆 72">
              <a:extLst>
                <a:ext uri="{FF2B5EF4-FFF2-40B4-BE49-F238E27FC236}">
                  <a16:creationId xmlns:a16="http://schemas.microsoft.com/office/drawing/2014/main" id="{14466162-04DC-4E4E-9134-3A3566A477EB}"/>
                </a:ext>
              </a:extLst>
            </p:cNvPr>
            <p:cNvSpPr/>
            <p:nvPr>
              <p:custDataLst>
                <p:tags r:id="rId17"/>
              </p:custDataLst>
            </p:nvPr>
          </p:nvSpPr>
          <p:spPr>
            <a:xfrm>
              <a:off x="9683" y="6514"/>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3</a:t>
              </a:r>
            </a:p>
          </p:txBody>
        </p:sp>
        <p:sp>
          <p:nvSpPr>
            <p:cNvPr id="74" name="文本框 13">
              <a:extLst>
                <a:ext uri="{FF2B5EF4-FFF2-40B4-BE49-F238E27FC236}">
                  <a16:creationId xmlns:a16="http://schemas.microsoft.com/office/drawing/2014/main" id="{A85DF74B-62E7-43DE-983E-1EB7893D18EB}"/>
                </a:ext>
              </a:extLst>
            </p:cNvPr>
            <p:cNvSpPr txBox="1"/>
            <p:nvPr>
              <p:custDataLst>
                <p:tags r:id="rId18"/>
              </p:custDataLst>
            </p:nvPr>
          </p:nvSpPr>
          <p:spPr>
            <a:xfrm>
              <a:off x="6633" y="3973"/>
              <a:ext cx="1196" cy="9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350" dirty="0">
                  <a:solidFill>
                    <a:schemeClr val="dk1"/>
                  </a:solidFill>
                  <a:latin typeface="幼圆" panose="02010509060101010101" charset="-122"/>
                  <a:ea typeface="幼圆" panose="02010509060101010101" charset="-122"/>
                </a:rPr>
                <a:t>0-9</a:t>
              </a:r>
            </a:p>
          </p:txBody>
        </p:sp>
      </p:grpSp>
      <p:sp>
        <p:nvSpPr>
          <p:cNvPr id="2" name="文本框 1">
            <a:extLst>
              <a:ext uri="{FF2B5EF4-FFF2-40B4-BE49-F238E27FC236}">
                <a16:creationId xmlns:a16="http://schemas.microsoft.com/office/drawing/2014/main" id="{FEAFE070-7BC8-4CDA-99C9-05657E882B16}"/>
              </a:ext>
            </a:extLst>
          </p:cNvPr>
          <p:cNvSpPr txBox="1"/>
          <p:nvPr/>
        </p:nvSpPr>
        <p:spPr>
          <a:xfrm>
            <a:off x="548142" y="2863269"/>
            <a:ext cx="4023858" cy="369332"/>
          </a:xfrm>
          <a:prstGeom prst="rect">
            <a:avLst/>
          </a:prstGeom>
          <a:noFill/>
        </p:spPr>
        <p:txBody>
          <a:bodyPr wrap="none" rtlCol="0">
            <a:spAutoFit/>
          </a:bodyPr>
          <a:lstStyle/>
          <a:p>
            <a:r>
              <a:rPr lang="zh-CN" altLang="en-US" dirty="0"/>
              <a:t>如何让其识别出的整数不以</a:t>
            </a:r>
            <a:r>
              <a:rPr lang="en-US" altLang="zh-CN" dirty="0"/>
              <a:t>0</a:t>
            </a:r>
            <a:r>
              <a:rPr lang="zh-CN" altLang="en-US" dirty="0"/>
              <a:t>开头呢？</a:t>
            </a:r>
          </a:p>
        </p:txBody>
      </p:sp>
    </p:spTree>
    <p:custDataLst>
      <p:tags r:id="rId1"/>
    </p:custDataLst>
  </p:cSld>
  <p:clrMapOvr>
    <a:masterClrMapping/>
  </p:clrMapOvr>
  <p:transition advTm="16360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animBg="1"/>
      <p:bldP spid="50" grpId="0" animBg="1"/>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AA06E1F-E18F-46CB-9DF4-466D27B1E9DE}"/>
              </a:ext>
            </a:extLst>
          </p:cNvPr>
          <p:cNvSpPr txBox="1">
            <a:spLocks noChangeArrowheads="1"/>
          </p:cNvSpPr>
          <p:nvPr/>
        </p:nvSpPr>
        <p:spPr>
          <a:xfrm>
            <a:off x="107504" y="123478"/>
            <a:ext cx="8229600" cy="576064"/>
          </a:xfrm>
          <a:prstGeom prst="rect">
            <a:avLst/>
          </a:prstGeom>
        </p:spPr>
        <p:txBody>
          <a:bodyPr>
            <a:normAutofit fontScale="675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zh-CN" altLang="en-US" sz="5400" dirty="0">
                <a:solidFill>
                  <a:srgbClr val="CC0099"/>
                </a:solidFill>
                <a:latin typeface="Times New Roman" pitchFamily="18" charset="0"/>
              </a:rPr>
              <a:t>  讨论</a:t>
            </a:r>
          </a:p>
        </p:txBody>
      </p:sp>
      <p:sp>
        <p:nvSpPr>
          <p:cNvPr id="3" name="矩形 2">
            <a:extLst>
              <a:ext uri="{FF2B5EF4-FFF2-40B4-BE49-F238E27FC236}">
                <a16:creationId xmlns:a16="http://schemas.microsoft.com/office/drawing/2014/main" id="{74BC56F6-33F0-410E-BB04-43C091F89793}"/>
              </a:ext>
            </a:extLst>
          </p:cNvPr>
          <p:cNvSpPr/>
          <p:nvPr/>
        </p:nvSpPr>
        <p:spPr>
          <a:xfrm>
            <a:off x="539552" y="771550"/>
            <a:ext cx="7272808" cy="369332"/>
          </a:xfrm>
          <a:prstGeom prst="rect">
            <a:avLst/>
          </a:prstGeom>
        </p:spPr>
        <p:txBody>
          <a:bodyPr wrap="square">
            <a:spAutoFit/>
          </a:bodyPr>
          <a:lstStyle/>
          <a:p>
            <a:r>
              <a:rPr lang="zh-CN" altLang="en-US" b="1" dirty="0">
                <a:latin typeface="幼圆" panose="02010509060101010101" charset="-122"/>
                <a:ea typeface="幼圆" panose="02010509060101010101" charset="-122"/>
                <a:cs typeface="幼圆" panose="02010509060101010101" charset="-122"/>
                <a:sym typeface="+mn-ea"/>
              </a:rPr>
              <a:t>以</a:t>
            </a:r>
            <a:r>
              <a:rPr lang="en-US" altLang="zh-CN" b="1" dirty="0">
                <a:latin typeface="幼圆" panose="02010509060101010101" charset="-122"/>
                <a:ea typeface="幼圆" panose="02010509060101010101" charset="-122"/>
                <a:cs typeface="幼圆" panose="02010509060101010101" charset="-122"/>
                <a:sym typeface="+mn-ea"/>
              </a:rPr>
              <a:t>C</a:t>
            </a:r>
            <a:r>
              <a:rPr lang="zh-CN" altLang="en-US" b="1" dirty="0">
                <a:latin typeface="幼圆" panose="02010509060101010101" charset="-122"/>
                <a:ea typeface="幼圆" panose="02010509060101010101" charset="-122"/>
                <a:cs typeface="幼圆" panose="02010509060101010101" charset="-122"/>
                <a:sym typeface="+mn-ea"/>
              </a:rPr>
              <a:t>语言为例，</a:t>
            </a:r>
            <a:r>
              <a:rPr lang="zh-CN" altLang="en-US" b="1" dirty="0">
                <a:solidFill>
                  <a:schemeClr val="dk1"/>
                </a:solidFill>
                <a:latin typeface="幼圆" panose="02010509060101010101" charset="-122"/>
                <a:ea typeface="幼圆" panose="02010509060101010101" charset="-122"/>
                <a:cs typeface="幼圆" panose="02010509060101010101" charset="-122"/>
              </a:rPr>
              <a:t>八</a:t>
            </a:r>
            <a:r>
              <a:rPr lang="zh-CN" altLang="en-US" b="1" dirty="0">
                <a:solidFill>
                  <a:schemeClr val="dk1"/>
                </a:solidFill>
                <a:latin typeface="幼圆" panose="02010509060101010101" charset="-122"/>
                <a:ea typeface="幼圆" panose="02010509060101010101" charset="-122"/>
                <a:cs typeface="幼圆" panose="02010509060101010101" charset="-122"/>
                <a:sym typeface="+mn-ea"/>
              </a:rPr>
              <a:t>进制整数</a:t>
            </a:r>
            <a:r>
              <a:rPr lang="zh-CN" altLang="en-US" b="1" dirty="0">
                <a:solidFill>
                  <a:schemeClr val="dk1"/>
                </a:solidFill>
                <a:latin typeface="幼圆" panose="02010509060101010101" charset="-122"/>
                <a:ea typeface="幼圆" panose="02010509060101010101" charset="-122"/>
                <a:cs typeface="幼圆" panose="02010509060101010101" charset="-122"/>
              </a:rPr>
              <a:t>、十六进制整数的状态转换图是怎样的呢？</a:t>
            </a:r>
            <a:endParaRPr lang="zh-CN" altLang="en-US" dirty="0"/>
          </a:p>
        </p:txBody>
      </p:sp>
      <p:sp>
        <p:nvSpPr>
          <p:cNvPr id="4" name="文本框 3">
            <a:extLst>
              <a:ext uri="{FF2B5EF4-FFF2-40B4-BE49-F238E27FC236}">
                <a16:creationId xmlns:a16="http://schemas.microsoft.com/office/drawing/2014/main" id="{84B61DB1-B1CA-4441-9F46-5184971F0C93}"/>
              </a:ext>
            </a:extLst>
          </p:cNvPr>
          <p:cNvSpPr txBox="1"/>
          <p:nvPr/>
        </p:nvSpPr>
        <p:spPr>
          <a:xfrm>
            <a:off x="1202194" y="1247266"/>
            <a:ext cx="1915954" cy="1468755"/>
          </a:xfrm>
          <a:prstGeom prst="rect">
            <a:avLst/>
          </a:prstGeom>
          <a:solidFill>
            <a:schemeClr val="accent4">
              <a:lumMod val="20000"/>
              <a:lumOff val="80000"/>
            </a:schemeClr>
          </a:solidFill>
          <a:effectLst>
            <a:outerShdw blurRad="50800" dist="38100" dir="2700000" algn="tl" rotWithShape="0">
              <a:prstClr val="black">
                <a:alpha val="40000"/>
              </a:prstClr>
            </a:outerShdw>
          </a:effectLst>
        </p:spPr>
        <p:txBody>
          <a:bodyPr wrap="square" rtlCol="0" anchor="t">
            <a:noAutofit/>
          </a:bodyPr>
          <a:lstStyle/>
          <a:p>
            <a:pPr>
              <a:lnSpc>
                <a:spcPct val="150000"/>
              </a:lnSpc>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八进制构词规则：以</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开头的，后面跟</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1</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个或多个</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0-7</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的符号串，例如</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0124</a:t>
            </a:r>
          </a:p>
        </p:txBody>
      </p:sp>
      <p:sp>
        <p:nvSpPr>
          <p:cNvPr id="5" name="文本框 4">
            <a:extLst>
              <a:ext uri="{FF2B5EF4-FFF2-40B4-BE49-F238E27FC236}">
                <a16:creationId xmlns:a16="http://schemas.microsoft.com/office/drawing/2014/main" id="{95B12C80-679B-4B1E-ABB5-2950D5BCE9D0}"/>
              </a:ext>
            </a:extLst>
          </p:cNvPr>
          <p:cNvSpPr txBox="1"/>
          <p:nvPr/>
        </p:nvSpPr>
        <p:spPr>
          <a:xfrm>
            <a:off x="4177877" y="1261786"/>
            <a:ext cx="2695575" cy="1472565"/>
          </a:xfrm>
          <a:prstGeom prst="rect">
            <a:avLst/>
          </a:prstGeom>
          <a:solidFill>
            <a:schemeClr val="bg2">
              <a:lumMod val="75000"/>
            </a:schemeClr>
          </a:solidFill>
          <a:effectLst>
            <a:outerShdw blurRad="50800" dist="38100" dir="2700000" algn="tl" rotWithShape="0">
              <a:prstClr val="black">
                <a:alpha val="40000"/>
              </a:prstClr>
            </a:outerShdw>
          </a:effectLst>
        </p:spPr>
        <p:txBody>
          <a:bodyPr wrap="square" rtlCol="0" anchor="t">
            <a:noAutofit/>
          </a:bodyPr>
          <a:lstStyle/>
          <a:p>
            <a:pPr eaLnBrk="1" hangingPunct="1">
              <a:lnSpc>
                <a:spcPct val="150000"/>
              </a:lnSpc>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十六进制构词规则：以</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0x/0X</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开头的，后面跟</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1</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个或多个</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0-9</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a-f</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A-F</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的符号串，例如</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0x45f</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sym typeface="+mn-ea"/>
              </a:rPr>
              <a:t>0X35Dd</a:t>
            </a:r>
          </a:p>
        </p:txBody>
      </p:sp>
      <p:grpSp>
        <p:nvGrpSpPr>
          <p:cNvPr id="6" name="组合 5">
            <a:extLst>
              <a:ext uri="{FF2B5EF4-FFF2-40B4-BE49-F238E27FC236}">
                <a16:creationId xmlns:a16="http://schemas.microsoft.com/office/drawing/2014/main" id="{80EFF766-28CC-44EA-81CC-97BAF2753C4E}"/>
              </a:ext>
            </a:extLst>
          </p:cNvPr>
          <p:cNvGrpSpPr/>
          <p:nvPr/>
        </p:nvGrpSpPr>
        <p:grpSpPr>
          <a:xfrm>
            <a:off x="1331640" y="2822405"/>
            <a:ext cx="5390198" cy="940594"/>
            <a:chOff x="1621155" y="1392555"/>
            <a:chExt cx="5390198" cy="940594"/>
          </a:xfrm>
        </p:grpSpPr>
        <p:sp>
          <p:nvSpPr>
            <p:cNvPr id="7" name="椭圆 6">
              <a:extLst>
                <a:ext uri="{FF2B5EF4-FFF2-40B4-BE49-F238E27FC236}">
                  <a16:creationId xmlns:a16="http://schemas.microsoft.com/office/drawing/2014/main" id="{C5EDA074-0076-4445-AEF1-DC0DC68319C6}"/>
                </a:ext>
              </a:extLst>
            </p:cNvPr>
            <p:cNvSpPr/>
            <p:nvPr>
              <p:custDataLst>
                <p:tags r:id="rId1"/>
              </p:custDataLst>
            </p:nvPr>
          </p:nvSpPr>
          <p:spPr>
            <a:xfrm>
              <a:off x="2077403" y="1804512"/>
              <a:ext cx="520541" cy="520541"/>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0</a:t>
              </a:r>
            </a:p>
          </p:txBody>
        </p:sp>
        <p:sp>
          <p:nvSpPr>
            <p:cNvPr id="8" name="椭圆 7">
              <a:extLst>
                <a:ext uri="{FF2B5EF4-FFF2-40B4-BE49-F238E27FC236}">
                  <a16:creationId xmlns:a16="http://schemas.microsoft.com/office/drawing/2014/main" id="{5C285107-6FF4-4E23-BD6A-1F70844BD52E}"/>
                </a:ext>
              </a:extLst>
            </p:cNvPr>
            <p:cNvSpPr/>
            <p:nvPr>
              <p:custDataLst>
                <p:tags r:id="rId2"/>
              </p:custDataLst>
            </p:nvPr>
          </p:nvSpPr>
          <p:spPr>
            <a:xfrm>
              <a:off x="3651409" y="1811655"/>
              <a:ext cx="521494" cy="521494"/>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1</a:t>
              </a:r>
            </a:p>
          </p:txBody>
        </p:sp>
        <p:sp>
          <p:nvSpPr>
            <p:cNvPr id="9" name="箭头: 右 23">
              <a:extLst>
                <a:ext uri="{FF2B5EF4-FFF2-40B4-BE49-F238E27FC236}">
                  <a16:creationId xmlns:a16="http://schemas.microsoft.com/office/drawing/2014/main" id="{BA6DDC6F-FA69-4D77-BD94-C272C5682346}"/>
                </a:ext>
              </a:extLst>
            </p:cNvPr>
            <p:cNvSpPr/>
            <p:nvPr>
              <p:custDataLst>
                <p:tags r:id="rId3"/>
              </p:custDataLst>
            </p:nvPr>
          </p:nvSpPr>
          <p:spPr>
            <a:xfrm>
              <a:off x="1764030" y="1985487"/>
              <a:ext cx="313373" cy="130969"/>
            </a:xfrm>
            <a:prstGeom prst="rightArrow">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cxnSp>
          <p:nvCxnSpPr>
            <p:cNvPr id="10" name="连接符: 曲线 26">
              <a:extLst>
                <a:ext uri="{FF2B5EF4-FFF2-40B4-BE49-F238E27FC236}">
                  <a16:creationId xmlns:a16="http://schemas.microsoft.com/office/drawing/2014/main" id="{4530116D-4325-41ED-89C6-6F40B585FA99}"/>
                </a:ext>
              </a:extLst>
            </p:cNvPr>
            <p:cNvCxnSpPr>
              <a:stCxn id="8" idx="1"/>
              <a:endCxn id="8" idx="7"/>
            </p:cNvCxnSpPr>
            <p:nvPr>
              <p:custDataLst>
                <p:tags r:id="rId4"/>
              </p:custDataLst>
            </p:nvPr>
          </p:nvCxnSpPr>
          <p:spPr>
            <a:xfrm rot="5400000" flipH="1" flipV="1">
              <a:off x="5339715" y="1667352"/>
              <a:ext cx="9525" cy="369094"/>
            </a:xfrm>
            <a:prstGeom prst="curvedConnector3">
              <a:avLst>
                <a:gd name="adj1" fmla="val 2601354"/>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446C5115-12A6-4900-B0FC-DDDB6209FC2F}"/>
                </a:ext>
              </a:extLst>
            </p:cNvPr>
            <p:cNvSpPr txBox="1"/>
            <p:nvPr>
              <p:custDataLst>
                <p:tags r:id="rId5"/>
              </p:custDataLst>
            </p:nvPr>
          </p:nvSpPr>
          <p:spPr>
            <a:xfrm>
              <a:off x="5163503" y="1392555"/>
              <a:ext cx="521494" cy="25391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050" dirty="0">
                  <a:solidFill>
                    <a:schemeClr val="dk1"/>
                  </a:solidFill>
                  <a:latin typeface="幼圆" panose="02010509060101010101" charset="-122"/>
                  <a:ea typeface="幼圆" panose="02010509060101010101" charset="-122"/>
                </a:rPr>
                <a:t>0-7</a:t>
              </a:r>
            </a:p>
          </p:txBody>
        </p:sp>
        <p:sp>
          <p:nvSpPr>
            <p:cNvPr id="12" name="Text Box 33">
              <a:extLst>
                <a:ext uri="{FF2B5EF4-FFF2-40B4-BE49-F238E27FC236}">
                  <a16:creationId xmlns:a16="http://schemas.microsoft.com/office/drawing/2014/main" id="{DEC12BBC-B27E-4C8B-AB64-547C2A068D6B}"/>
                </a:ext>
              </a:extLst>
            </p:cNvPr>
            <p:cNvSpPr txBox="1"/>
            <p:nvPr>
              <p:custDataLst>
                <p:tags r:id="rId6"/>
              </p:custDataLst>
            </p:nvPr>
          </p:nvSpPr>
          <p:spPr>
            <a:xfrm>
              <a:off x="6839427" y="1638776"/>
              <a:ext cx="171926" cy="36933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solidFill>
                    <a:schemeClr val="dk1"/>
                  </a:solidFill>
                  <a:latin typeface="幼圆" panose="02010509060101010101" charset="-122"/>
                  <a:ea typeface="幼圆" panose="02010509060101010101" charset="-122"/>
                </a:rPr>
                <a:t>*</a:t>
              </a:r>
            </a:p>
          </p:txBody>
        </p:sp>
        <p:sp>
          <p:nvSpPr>
            <p:cNvPr id="13" name="椭圆 12">
              <a:extLst>
                <a:ext uri="{FF2B5EF4-FFF2-40B4-BE49-F238E27FC236}">
                  <a16:creationId xmlns:a16="http://schemas.microsoft.com/office/drawing/2014/main" id="{5E2108EE-FA5D-413B-8803-1A0741B210C7}"/>
                </a:ext>
              </a:extLst>
            </p:cNvPr>
            <p:cNvSpPr/>
            <p:nvPr>
              <p:custDataLst>
                <p:tags r:id="rId7"/>
              </p:custDataLst>
            </p:nvPr>
          </p:nvSpPr>
          <p:spPr>
            <a:xfrm>
              <a:off x="6468428" y="1804036"/>
              <a:ext cx="521494" cy="520541"/>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14" name="椭圆 13">
              <a:extLst>
                <a:ext uri="{FF2B5EF4-FFF2-40B4-BE49-F238E27FC236}">
                  <a16:creationId xmlns:a16="http://schemas.microsoft.com/office/drawing/2014/main" id="{8962EDB0-EA42-409F-A366-7865683C4C4C}"/>
                </a:ext>
              </a:extLst>
            </p:cNvPr>
            <p:cNvSpPr/>
            <p:nvPr>
              <p:custDataLst>
                <p:tags r:id="rId8"/>
              </p:custDataLst>
            </p:nvPr>
          </p:nvSpPr>
          <p:spPr>
            <a:xfrm>
              <a:off x="6533674" y="1873092"/>
              <a:ext cx="390525" cy="382429"/>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3</a:t>
              </a:r>
            </a:p>
          </p:txBody>
        </p:sp>
        <p:cxnSp>
          <p:nvCxnSpPr>
            <p:cNvPr id="15" name="直接箭头连接符 14">
              <a:extLst>
                <a:ext uri="{FF2B5EF4-FFF2-40B4-BE49-F238E27FC236}">
                  <a16:creationId xmlns:a16="http://schemas.microsoft.com/office/drawing/2014/main" id="{EE1DCCCE-7054-4A09-996A-AF7BD14F6BFA}"/>
                </a:ext>
              </a:extLst>
            </p:cNvPr>
            <p:cNvCxnSpPr>
              <a:endCxn id="13" idx="2"/>
            </p:cNvCxnSpPr>
            <p:nvPr>
              <p:custDataLst>
                <p:tags r:id="rId9"/>
              </p:custDataLst>
            </p:nvPr>
          </p:nvCxnSpPr>
          <p:spPr>
            <a:xfrm flipV="1">
              <a:off x="5599272" y="2063591"/>
              <a:ext cx="869156" cy="8573"/>
            </a:xfrm>
            <a:prstGeom prst="straightConnector1">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29">
              <a:extLst>
                <a:ext uri="{FF2B5EF4-FFF2-40B4-BE49-F238E27FC236}">
                  <a16:creationId xmlns:a16="http://schemas.microsoft.com/office/drawing/2014/main" id="{68EFE4CD-6BC4-41B9-9537-1C150AA09138}"/>
                </a:ext>
              </a:extLst>
            </p:cNvPr>
            <p:cNvSpPr txBox="1"/>
            <p:nvPr>
              <p:custDataLst>
                <p:tags r:id="rId10"/>
              </p:custDataLst>
            </p:nvPr>
          </p:nvSpPr>
          <p:spPr>
            <a:xfrm>
              <a:off x="5797868" y="1832610"/>
              <a:ext cx="477678" cy="25391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solidFill>
                    <a:schemeClr val="dk1"/>
                  </a:solidFill>
                  <a:latin typeface="幼圆" panose="02010509060101010101" charset="-122"/>
                  <a:ea typeface="幼圆" panose="02010509060101010101" charset="-122"/>
                </a:rPr>
                <a:t>其他</a:t>
              </a:r>
            </a:p>
          </p:txBody>
        </p:sp>
        <p:cxnSp>
          <p:nvCxnSpPr>
            <p:cNvPr id="17" name="直接箭头连接符 53">
              <a:extLst>
                <a:ext uri="{FF2B5EF4-FFF2-40B4-BE49-F238E27FC236}">
                  <a16:creationId xmlns:a16="http://schemas.microsoft.com/office/drawing/2014/main" id="{3AA3D00A-A1B4-4B79-9A33-06ECDAF30F33}"/>
                </a:ext>
              </a:extLst>
            </p:cNvPr>
            <p:cNvCxnSpPr>
              <a:stCxn id="7" idx="6"/>
              <a:endCxn id="8" idx="2"/>
            </p:cNvCxnSpPr>
            <p:nvPr>
              <p:custDataLst>
                <p:tags r:id="rId11"/>
              </p:custDataLst>
            </p:nvPr>
          </p:nvCxnSpPr>
          <p:spPr>
            <a:xfrm>
              <a:off x="2597468" y="2064067"/>
              <a:ext cx="1053941" cy="8573"/>
            </a:xfrm>
            <a:prstGeom prst="straightConnector1">
              <a:avLst/>
            </a:prstGeom>
            <a:ln w="28575" cap="flat" cmpd="sng">
              <a:solidFill>
                <a:schemeClr val="dk1"/>
              </a:solidFill>
              <a:prstDash val="solid"/>
              <a:headEnd type="none" w="med" len="med"/>
              <a:tailEnd type="triangle" w="med" len="med"/>
            </a:ln>
          </p:spPr>
        </p:cxnSp>
        <p:sp>
          <p:nvSpPr>
            <p:cNvPr id="18" name="文本框 54">
              <a:extLst>
                <a:ext uri="{FF2B5EF4-FFF2-40B4-BE49-F238E27FC236}">
                  <a16:creationId xmlns:a16="http://schemas.microsoft.com/office/drawing/2014/main" id="{C434407B-96E8-4D26-9841-DAF28DC1C540}"/>
                </a:ext>
              </a:extLst>
            </p:cNvPr>
            <p:cNvSpPr txBox="1"/>
            <p:nvPr>
              <p:custDataLst>
                <p:tags r:id="rId12"/>
              </p:custDataLst>
            </p:nvPr>
          </p:nvSpPr>
          <p:spPr>
            <a:xfrm>
              <a:off x="2973705" y="1849755"/>
              <a:ext cx="218599" cy="25391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050" dirty="0">
                  <a:solidFill>
                    <a:schemeClr val="dk1"/>
                  </a:solidFill>
                  <a:latin typeface="幼圆" panose="02010509060101010101" charset="-122"/>
                  <a:ea typeface="幼圆" panose="02010509060101010101" charset="-122"/>
                </a:rPr>
                <a:t>0</a:t>
              </a:r>
            </a:p>
          </p:txBody>
        </p:sp>
        <p:sp>
          <p:nvSpPr>
            <p:cNvPr id="19" name="椭圆 18">
              <a:extLst>
                <a:ext uri="{FF2B5EF4-FFF2-40B4-BE49-F238E27FC236}">
                  <a16:creationId xmlns:a16="http://schemas.microsoft.com/office/drawing/2014/main" id="{94653D69-D254-447D-8B66-6944FD4E55B3}"/>
                </a:ext>
              </a:extLst>
            </p:cNvPr>
            <p:cNvSpPr/>
            <p:nvPr>
              <p:custDataLst>
                <p:tags r:id="rId13"/>
              </p:custDataLst>
            </p:nvPr>
          </p:nvSpPr>
          <p:spPr>
            <a:xfrm>
              <a:off x="5101114" y="1784033"/>
              <a:ext cx="521494" cy="521494"/>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2</a:t>
              </a:r>
            </a:p>
          </p:txBody>
        </p:sp>
        <p:cxnSp>
          <p:nvCxnSpPr>
            <p:cNvPr id="20" name="直接箭头连接符 63">
              <a:extLst>
                <a:ext uri="{FF2B5EF4-FFF2-40B4-BE49-F238E27FC236}">
                  <a16:creationId xmlns:a16="http://schemas.microsoft.com/office/drawing/2014/main" id="{408E090E-923B-46F7-B089-C06F756CF51C}"/>
                </a:ext>
              </a:extLst>
            </p:cNvPr>
            <p:cNvCxnSpPr/>
            <p:nvPr>
              <p:custDataLst>
                <p:tags r:id="rId14"/>
              </p:custDataLst>
            </p:nvPr>
          </p:nvCxnSpPr>
          <p:spPr>
            <a:xfrm flipV="1">
              <a:off x="4201001" y="2032636"/>
              <a:ext cx="920115" cy="27146"/>
            </a:xfrm>
            <a:prstGeom prst="straightConnector1">
              <a:avLst/>
            </a:prstGeom>
            <a:ln w="28575" cap="flat" cmpd="sng">
              <a:solidFill>
                <a:schemeClr val="dk1"/>
              </a:solidFill>
              <a:prstDash val="solid"/>
              <a:headEnd type="none" w="med" len="med"/>
              <a:tailEnd type="triangle" w="med" len="med"/>
            </a:ln>
          </p:spPr>
        </p:cxnSp>
        <p:sp>
          <p:nvSpPr>
            <p:cNvPr id="21" name="文本框 65">
              <a:extLst>
                <a:ext uri="{FF2B5EF4-FFF2-40B4-BE49-F238E27FC236}">
                  <a16:creationId xmlns:a16="http://schemas.microsoft.com/office/drawing/2014/main" id="{506FEE74-FA0F-4EA9-98FC-C105FE0FB9A3}"/>
                </a:ext>
              </a:extLst>
            </p:cNvPr>
            <p:cNvSpPr txBox="1"/>
            <p:nvPr>
              <p:custDataLst>
                <p:tags r:id="rId15"/>
              </p:custDataLst>
            </p:nvPr>
          </p:nvSpPr>
          <p:spPr>
            <a:xfrm>
              <a:off x="4363403" y="1762601"/>
              <a:ext cx="471011" cy="25391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050" dirty="0">
                  <a:solidFill>
                    <a:schemeClr val="dk1"/>
                  </a:solidFill>
                  <a:latin typeface="幼圆" panose="02010509060101010101" charset="-122"/>
                  <a:ea typeface="幼圆" panose="02010509060101010101" charset="-122"/>
                </a:rPr>
                <a:t>0-7</a:t>
              </a:r>
            </a:p>
          </p:txBody>
        </p:sp>
        <p:sp>
          <p:nvSpPr>
            <p:cNvPr id="22" name="文本框 21">
              <a:extLst>
                <a:ext uri="{FF2B5EF4-FFF2-40B4-BE49-F238E27FC236}">
                  <a16:creationId xmlns:a16="http://schemas.microsoft.com/office/drawing/2014/main" id="{2AC794C6-80F6-47EC-980C-C971FA1A4E47}"/>
                </a:ext>
              </a:extLst>
            </p:cNvPr>
            <p:cNvSpPr txBox="1"/>
            <p:nvPr/>
          </p:nvSpPr>
          <p:spPr>
            <a:xfrm>
              <a:off x="1621155" y="1435894"/>
              <a:ext cx="3429000" cy="323165"/>
            </a:xfrm>
            <a:prstGeom prst="rect">
              <a:avLst/>
            </a:prstGeom>
            <a:noFill/>
          </p:spPr>
          <p:txBody>
            <a:bodyPr wrap="square" rtlCol="0" anchor="t">
              <a:spAutoFit/>
            </a:bodyPr>
            <a:lstStyle/>
            <a:p>
              <a:r>
                <a:rPr lang="zh-CN" altLang="en-US" sz="1500" b="1" dirty="0">
                  <a:solidFill>
                    <a:schemeClr val="dk1"/>
                  </a:solidFill>
                  <a:latin typeface="幼圆" panose="02010509060101010101" charset="-122"/>
                  <a:ea typeface="幼圆" panose="02010509060101010101" charset="-122"/>
                  <a:cs typeface="幼圆" panose="02010509060101010101" charset="-122"/>
                  <a:sym typeface="+mn-ea"/>
                </a:rPr>
                <a:t>八进制</a:t>
              </a:r>
            </a:p>
          </p:txBody>
        </p:sp>
      </p:grpSp>
      <p:pic>
        <p:nvPicPr>
          <p:cNvPr id="40" name="图片 39">
            <a:extLst>
              <a:ext uri="{FF2B5EF4-FFF2-40B4-BE49-F238E27FC236}">
                <a16:creationId xmlns:a16="http://schemas.microsoft.com/office/drawing/2014/main" id="{F8D32E0D-D9DC-4639-922B-24349C8065D5}"/>
              </a:ext>
            </a:extLst>
          </p:cNvPr>
          <p:cNvPicPr>
            <a:picLocks noChangeAspect="1"/>
          </p:cNvPicPr>
          <p:nvPr/>
        </p:nvPicPr>
        <p:blipFill>
          <a:blip r:embed="rId17"/>
          <a:stretch>
            <a:fillRect/>
          </a:stretch>
        </p:blipFill>
        <p:spPr>
          <a:xfrm>
            <a:off x="3203848" y="3687750"/>
            <a:ext cx="5663675" cy="1335140"/>
          </a:xfrm>
          <a:prstGeom prst="rect">
            <a:avLst/>
          </a:prstGeom>
          <a:ln cmpd="sng">
            <a:solidFill>
              <a:schemeClr val="dk1"/>
            </a:solidFill>
          </a:ln>
        </p:spPr>
      </p:pic>
    </p:spTree>
    <p:extLst>
      <p:ext uri="{BB962C8B-B14F-4D97-AF65-F5344CB8AC3E}">
        <p14:creationId xmlns:p14="http://schemas.microsoft.com/office/powerpoint/2010/main" val="348926680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5"/>
          <p:cNvSpPr>
            <a:spLocks noGrp="1"/>
          </p:cNvSpPr>
          <p:nvPr>
            <p:ph type="title"/>
          </p:nvPr>
        </p:nvSpPr>
        <p:spPr>
          <a:xfrm>
            <a:off x="107504" y="-20537"/>
            <a:ext cx="8229600" cy="504056"/>
          </a:xfrm>
        </p:spPr>
        <p:txBody>
          <a:bodyPr>
            <a:noAutofit/>
          </a:bodyPr>
          <a:lstStyle/>
          <a:p>
            <a:pPr algn="l"/>
            <a:r>
              <a:rPr lang="zh-CN" altLang="en-US" dirty="0"/>
              <a:t>状态转换图的合并</a:t>
            </a:r>
            <a:endParaRPr lang="zh-CN" altLang="en-US" b="1" dirty="0"/>
          </a:p>
        </p:txBody>
      </p:sp>
      <p:sp>
        <p:nvSpPr>
          <p:cNvPr id="16387" name="Rectangle 2"/>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16388" name="Rectangle 8"/>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sp>
        <p:nvSpPr>
          <p:cNvPr id="16389" name="Rectangle 10"/>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graphicFrame>
        <p:nvGraphicFramePr>
          <p:cNvPr id="16396" name="对象 6"/>
          <p:cNvGraphicFramePr>
            <a:graphicFrameLocks noChangeAspect="1"/>
          </p:cNvGraphicFramePr>
          <p:nvPr>
            <p:extLst>
              <p:ext uri="{D42A27DB-BD31-4B8C-83A1-F6EECF244321}">
                <p14:modId xmlns:p14="http://schemas.microsoft.com/office/powerpoint/2010/main" val="1484710846"/>
              </p:ext>
            </p:extLst>
          </p:nvPr>
        </p:nvGraphicFramePr>
        <p:xfrm>
          <a:off x="2034780" y="1937817"/>
          <a:ext cx="4176464" cy="1414001"/>
        </p:xfrm>
        <a:graphic>
          <a:graphicData uri="http://schemas.openxmlformats.org/presentationml/2006/ole">
            <mc:AlternateContent xmlns:mc="http://schemas.openxmlformats.org/markup-compatibility/2006">
              <mc:Choice xmlns:v="urn:schemas-microsoft-com:vml" Requires="v">
                <p:oleObj spid="_x0000_s35890" name="Visio" r:id="rId5" imgW="1847574" imgH="676080" progId="Visio.Drawing.11">
                  <p:embed/>
                </p:oleObj>
              </mc:Choice>
              <mc:Fallback>
                <p:oleObj name="Visio" r:id="rId5" imgW="1847574" imgH="676080" progId="Visio.Drawing.11">
                  <p:embed/>
                  <p:pic>
                    <p:nvPicPr>
                      <p:cNvPr id="16396" name="对象 6"/>
                      <p:cNvPicPr>
                        <a:picLocks noChangeAspect="1" noChangeArrowheads="1"/>
                      </p:cNvPicPr>
                      <p:nvPr/>
                    </p:nvPicPr>
                    <p:blipFill>
                      <a:blip r:embed="rId6"/>
                      <a:srcRect/>
                      <a:stretch>
                        <a:fillRect/>
                      </a:stretch>
                    </p:blipFill>
                    <p:spPr bwMode="auto">
                      <a:xfrm>
                        <a:off x="2034780" y="1937817"/>
                        <a:ext cx="4176464" cy="1414001"/>
                      </a:xfrm>
                      <a:prstGeom prst="rect">
                        <a:avLst/>
                      </a:prstGeom>
                      <a:noFill/>
                      <a:ln>
                        <a:noFill/>
                      </a:ln>
                    </p:spPr>
                  </p:pic>
                </p:oleObj>
              </mc:Fallback>
            </mc:AlternateContent>
          </a:graphicData>
        </a:graphic>
      </p:graphicFrame>
      <p:sp>
        <p:nvSpPr>
          <p:cNvPr id="16397" name="矩形 8"/>
          <p:cNvSpPr>
            <a:spLocks noChangeArrowheads="1"/>
          </p:cNvSpPr>
          <p:nvPr/>
        </p:nvSpPr>
        <p:spPr bwMode="auto">
          <a:xfrm>
            <a:off x="101753" y="257175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八进制</a:t>
            </a:r>
            <a:r>
              <a:rPr lang="zh-CN" altLang="en-US" sz="2400" dirty="0"/>
              <a:t>：</a:t>
            </a:r>
          </a:p>
        </p:txBody>
      </p:sp>
      <p:graphicFrame>
        <p:nvGraphicFramePr>
          <p:cNvPr id="16394" name="对象 4"/>
          <p:cNvGraphicFramePr>
            <a:graphicFrameLocks noChangeAspect="1"/>
          </p:cNvGraphicFramePr>
          <p:nvPr>
            <p:extLst>
              <p:ext uri="{D42A27DB-BD31-4B8C-83A1-F6EECF244321}">
                <p14:modId xmlns:p14="http://schemas.microsoft.com/office/powerpoint/2010/main" val="2492157969"/>
              </p:ext>
            </p:extLst>
          </p:nvPr>
        </p:nvGraphicFramePr>
        <p:xfrm>
          <a:off x="2509728" y="2863253"/>
          <a:ext cx="5878696" cy="1816216"/>
        </p:xfrm>
        <a:graphic>
          <a:graphicData uri="http://schemas.openxmlformats.org/presentationml/2006/ole">
            <mc:AlternateContent xmlns:mc="http://schemas.openxmlformats.org/markup-compatibility/2006">
              <mc:Choice xmlns:v="urn:schemas-microsoft-com:vml" Requires="v">
                <p:oleObj spid="_x0000_s35891" name="Visio" r:id="rId7" imgW="2894575" imgH="906336" progId="Visio.Drawing.11">
                  <p:embed/>
                </p:oleObj>
              </mc:Choice>
              <mc:Fallback>
                <p:oleObj name="Visio" r:id="rId7" imgW="2894575" imgH="906336" progId="Visio.Drawing.11">
                  <p:embed/>
                  <p:pic>
                    <p:nvPicPr>
                      <p:cNvPr id="16394" name="对象 4"/>
                      <p:cNvPicPr>
                        <a:picLocks noChangeAspect="1" noChangeArrowheads="1"/>
                      </p:cNvPicPr>
                      <p:nvPr/>
                    </p:nvPicPr>
                    <p:blipFill>
                      <a:blip r:embed="rId8"/>
                      <a:srcRect/>
                      <a:stretch>
                        <a:fillRect/>
                      </a:stretch>
                    </p:blipFill>
                    <p:spPr bwMode="auto">
                      <a:xfrm>
                        <a:off x="2509728" y="2863253"/>
                        <a:ext cx="5878696" cy="1816216"/>
                      </a:xfrm>
                      <a:prstGeom prst="rect">
                        <a:avLst/>
                      </a:prstGeom>
                      <a:noFill/>
                      <a:ln>
                        <a:noFill/>
                      </a:ln>
                    </p:spPr>
                  </p:pic>
                </p:oleObj>
              </mc:Fallback>
            </mc:AlternateContent>
          </a:graphicData>
        </a:graphic>
      </p:graphicFrame>
      <p:sp>
        <p:nvSpPr>
          <p:cNvPr id="16395" name="矩形 9"/>
          <p:cNvSpPr>
            <a:spLocks noChangeArrowheads="1"/>
          </p:cNvSpPr>
          <p:nvPr/>
        </p:nvSpPr>
        <p:spPr bwMode="auto">
          <a:xfrm>
            <a:off x="85232" y="3976606"/>
            <a:ext cx="1750464" cy="4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十六进制</a:t>
            </a:r>
            <a:r>
              <a:rPr lang="zh-CN" altLang="en-US" sz="2400" dirty="0"/>
              <a:t>：</a:t>
            </a:r>
          </a:p>
        </p:txBody>
      </p:sp>
      <p:sp>
        <p:nvSpPr>
          <p:cNvPr id="3"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399" name="矩形 7"/>
          <p:cNvSpPr>
            <a:spLocks noChangeArrowheads="1"/>
          </p:cNvSpPr>
          <p:nvPr/>
        </p:nvSpPr>
        <p:spPr bwMode="auto">
          <a:xfrm>
            <a:off x="101754" y="121101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十进制</a:t>
            </a:r>
            <a:r>
              <a:rPr lang="zh-CN" altLang="en-US" sz="2400" dirty="0"/>
              <a:t>：</a:t>
            </a:r>
          </a:p>
        </p:txBody>
      </p:sp>
      <p:graphicFrame>
        <p:nvGraphicFramePr>
          <p:cNvPr id="4" name="对象 3"/>
          <p:cNvGraphicFramePr>
            <a:graphicFrameLocks noChangeAspect="1"/>
          </p:cNvGraphicFramePr>
          <p:nvPr>
            <p:extLst>
              <p:ext uri="{D42A27DB-BD31-4B8C-83A1-F6EECF244321}">
                <p14:modId xmlns:p14="http://schemas.microsoft.com/office/powerpoint/2010/main" val="1608959951"/>
              </p:ext>
            </p:extLst>
          </p:nvPr>
        </p:nvGraphicFramePr>
        <p:xfrm>
          <a:off x="1818756" y="367654"/>
          <a:ext cx="4498332" cy="1734384"/>
        </p:xfrm>
        <a:graphic>
          <a:graphicData uri="http://schemas.openxmlformats.org/presentationml/2006/ole">
            <mc:AlternateContent xmlns:mc="http://schemas.openxmlformats.org/markup-compatibility/2006">
              <mc:Choice xmlns:v="urn:schemas-microsoft-com:vml" Requires="v">
                <p:oleObj spid="_x0000_s35892" name="Visio" r:id="rId9" imgW="1934536" imgH="745632" progId="Visio.Drawing.11">
                  <p:embed/>
                </p:oleObj>
              </mc:Choice>
              <mc:Fallback>
                <p:oleObj name="Visio" r:id="rId9" imgW="1934536" imgH="745632" progId="Visio.Drawing.11">
                  <p:embed/>
                  <p:pic>
                    <p:nvPicPr>
                      <p:cNvPr id="4" name="对象 3"/>
                      <p:cNvPicPr>
                        <a:picLocks noChangeAspect="1" noChangeArrowheads="1"/>
                      </p:cNvPicPr>
                      <p:nvPr/>
                    </p:nvPicPr>
                    <p:blipFill>
                      <a:blip r:embed="rId10"/>
                      <a:srcRect/>
                      <a:stretch>
                        <a:fillRect/>
                      </a:stretch>
                    </p:blipFill>
                    <p:spPr bwMode="auto">
                      <a:xfrm>
                        <a:off x="1818756" y="367654"/>
                        <a:ext cx="4498332" cy="1734384"/>
                      </a:xfrm>
                      <a:prstGeom prst="rect">
                        <a:avLst/>
                      </a:prstGeom>
                      <a:noFill/>
                    </p:spPr>
                  </p:pic>
                </p:oleObj>
              </mc:Fallback>
            </mc:AlternateContent>
          </a:graphicData>
        </a:graphic>
      </p:graphicFrame>
      <p:sp>
        <p:nvSpPr>
          <p:cNvPr id="6" name="TextBox 5"/>
          <p:cNvSpPr txBox="1"/>
          <p:nvPr/>
        </p:nvSpPr>
        <p:spPr>
          <a:xfrm>
            <a:off x="2050285" y="2549011"/>
            <a:ext cx="792088"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=&gt;</a:t>
            </a:r>
            <a:endParaRPr lang="zh-CN" altLang="en-US" sz="3200" b="1" dirty="0">
              <a:latin typeface="Times New Roman" panose="02020603050405020304" pitchFamily="18" charset="0"/>
              <a:cs typeface="Times New Roman" panose="02020603050405020304" pitchFamily="18" charset="0"/>
            </a:endParaRPr>
          </a:p>
        </p:txBody>
      </p:sp>
      <p:sp>
        <p:nvSpPr>
          <p:cNvPr id="7" name="椭圆 6"/>
          <p:cNvSpPr/>
          <p:nvPr/>
        </p:nvSpPr>
        <p:spPr>
          <a:xfrm>
            <a:off x="2621669" y="2599902"/>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0</a:t>
            </a:r>
            <a:endParaRPr lang="zh-CN" altLang="en-US" sz="2000" dirty="0">
              <a:solidFill>
                <a:schemeClr val="tx1"/>
              </a:solidFill>
            </a:endParaRPr>
          </a:p>
        </p:txBody>
      </p:sp>
      <p:cxnSp>
        <p:nvCxnSpPr>
          <p:cNvPr id="9" name="直接箭头连接符 8"/>
          <p:cNvCxnSpPr>
            <a:stCxn id="7" idx="6"/>
          </p:cNvCxnSpPr>
          <p:nvPr/>
        </p:nvCxnSpPr>
        <p:spPr>
          <a:xfrm>
            <a:off x="3125725" y="2861512"/>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97733" y="2455886"/>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42" name="TextBox 41"/>
          <p:cNvSpPr txBox="1"/>
          <p:nvPr/>
        </p:nvSpPr>
        <p:spPr>
          <a:xfrm>
            <a:off x="2026541" y="3964149"/>
            <a:ext cx="792088"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=&gt;</a:t>
            </a:r>
            <a:endParaRPr lang="zh-CN" altLang="en-US" sz="3200" b="1" dirty="0">
              <a:latin typeface="Times New Roman" panose="02020603050405020304" pitchFamily="18" charset="0"/>
              <a:cs typeface="Times New Roman" panose="02020603050405020304" pitchFamily="18" charset="0"/>
            </a:endParaRPr>
          </a:p>
        </p:txBody>
      </p:sp>
      <p:sp>
        <p:nvSpPr>
          <p:cNvPr id="43" name="椭圆 42"/>
          <p:cNvSpPr/>
          <p:nvPr/>
        </p:nvSpPr>
        <p:spPr>
          <a:xfrm>
            <a:off x="2602605" y="3964149"/>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0</a:t>
            </a:r>
            <a:endParaRPr lang="zh-CN" altLang="en-US" sz="2000" dirty="0">
              <a:solidFill>
                <a:schemeClr val="tx1"/>
              </a:solidFill>
            </a:endParaRPr>
          </a:p>
        </p:txBody>
      </p:sp>
      <p:cxnSp>
        <p:nvCxnSpPr>
          <p:cNvPr id="44" name="直接箭头连接符 43"/>
          <p:cNvCxnSpPr>
            <a:stCxn id="43" idx="6"/>
          </p:cNvCxnSpPr>
          <p:nvPr/>
        </p:nvCxnSpPr>
        <p:spPr>
          <a:xfrm>
            <a:off x="3106661" y="4225759"/>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178669" y="3820133"/>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46" name="椭圆 45"/>
          <p:cNvSpPr/>
          <p:nvPr/>
        </p:nvSpPr>
        <p:spPr>
          <a:xfrm>
            <a:off x="3754733" y="3964149"/>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3</a:t>
            </a:r>
            <a:endParaRPr lang="zh-CN" altLang="en-US" sz="2000" dirty="0">
              <a:solidFill>
                <a:schemeClr val="tx1"/>
              </a:solidFill>
            </a:endParaRPr>
          </a:p>
        </p:txBody>
      </p:sp>
      <p:cxnSp>
        <p:nvCxnSpPr>
          <p:cNvPr id="47" name="直接箭头连接符 46"/>
          <p:cNvCxnSpPr/>
          <p:nvPr/>
        </p:nvCxnSpPr>
        <p:spPr>
          <a:xfrm>
            <a:off x="4258789" y="4225759"/>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294793" y="3820133"/>
            <a:ext cx="720080"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x/X</a:t>
            </a:r>
            <a:endParaRPr lang="zh-CN" altLang="en-US" sz="2400" dirty="0">
              <a:latin typeface="Times New Roman" panose="02020603050405020304" pitchFamily="18" charset="0"/>
              <a:cs typeface="Times New Roman" panose="02020603050405020304" pitchFamily="18" charset="0"/>
            </a:endParaRPr>
          </a:p>
        </p:txBody>
      </p:sp>
      <p:cxnSp>
        <p:nvCxnSpPr>
          <p:cNvPr id="49" name="直接箭头连接符 48"/>
          <p:cNvCxnSpPr/>
          <p:nvPr/>
        </p:nvCxnSpPr>
        <p:spPr>
          <a:xfrm>
            <a:off x="3009329" y="1534590"/>
            <a:ext cx="880864" cy="17479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314129" y="1303758"/>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51" name="椭圆 50"/>
          <p:cNvSpPr/>
          <p:nvPr/>
        </p:nvSpPr>
        <p:spPr>
          <a:xfrm>
            <a:off x="3890193" y="1447774"/>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altLang="en-US" sz="20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52" name="直接箭头连接符 51"/>
          <p:cNvCxnSpPr/>
          <p:nvPr/>
        </p:nvCxnSpPr>
        <p:spPr>
          <a:xfrm flipV="1">
            <a:off x="4394249" y="1447774"/>
            <a:ext cx="1107740" cy="26161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rot="20771788">
            <a:off x="4684718" y="1573040"/>
            <a:ext cx="826376"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cs typeface="Times New Roman" panose="02020603050405020304" pitchFamily="18" charset="0"/>
              </a:rPr>
              <a:t>其他</a:t>
            </a:r>
          </a:p>
        </p:txBody>
      </p:sp>
      <p:cxnSp>
        <p:nvCxnSpPr>
          <p:cNvPr id="16412" name="肘形连接符 16411"/>
          <p:cNvCxnSpPr/>
          <p:nvPr/>
        </p:nvCxnSpPr>
        <p:spPr>
          <a:xfrm rot="16200000" flipH="1">
            <a:off x="2693676" y="1781392"/>
            <a:ext cx="1152128" cy="1008111"/>
          </a:xfrm>
          <a:prstGeom prst="bentConnector3">
            <a:avLst>
              <a:gd name="adj1" fmla="val 99935"/>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肘形连接符 82"/>
          <p:cNvCxnSpPr>
            <a:cxnSpLocks/>
          </p:cNvCxnSpPr>
          <p:nvPr/>
        </p:nvCxnSpPr>
        <p:spPr>
          <a:xfrm rot="16200000" flipH="1">
            <a:off x="3909173" y="3270341"/>
            <a:ext cx="1119119" cy="853272"/>
          </a:xfrm>
          <a:prstGeom prst="bentConnector3">
            <a:avLst>
              <a:gd name="adj1" fmla="val 97624"/>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3EE031A8-1008-4A05-B5FC-429C48B4BA2B}"/>
              </a:ext>
            </a:extLst>
          </p:cNvPr>
          <p:cNvSpPr/>
          <p:nvPr>
            <p:custDataLst>
              <p:tags r:id="rId2"/>
            </p:custDataLst>
          </p:nvPr>
        </p:nvSpPr>
        <p:spPr>
          <a:xfrm>
            <a:off x="207462" y="649239"/>
            <a:ext cx="1988274" cy="277654"/>
          </a:xfrm>
          <a:prstGeom prst="rect">
            <a:avLst/>
          </a:prstGeom>
          <a:solidFill>
            <a:schemeClr val="bg1">
              <a:lumMod val="95000"/>
            </a:schemeClr>
          </a:solidFill>
          <a:ln w="3175"/>
        </p:spPr>
        <p:style>
          <a:lnRef idx="2">
            <a:schemeClr val="accent1"/>
          </a:lnRef>
          <a:fillRef idx="1">
            <a:schemeClr val="lt1"/>
          </a:fillRef>
          <a:effectRef idx="0">
            <a:schemeClr val="accent1"/>
          </a:effectRef>
          <a:fontRef idx="minor">
            <a:schemeClr val="dk1"/>
          </a:fontRef>
        </p:style>
        <p:txBody>
          <a:bodyPr wrap="square">
            <a:noAutofit/>
          </a:bodyPr>
          <a:lstStyle/>
          <a:p>
            <a:pPr>
              <a:defRPr/>
            </a:pPr>
            <a:r>
              <a:rPr lang="en-US" altLang="zh-CN" sz="1500" dirty="0">
                <a:solidFill>
                  <a:schemeClr val="tx1"/>
                </a:solidFill>
              </a:rPr>
              <a:t>_num</a:t>
            </a:r>
            <a:r>
              <a:rPr lang="en-US" altLang="zh-CN" sz="1500" dirty="0">
                <a:solidFill>
                  <a:srgbClr val="00B050"/>
                </a:solidFill>
              </a:rPr>
              <a:t> </a:t>
            </a:r>
            <a:r>
              <a:rPr lang="en-US" altLang="zh-CN" sz="1500" dirty="0">
                <a:sym typeface="+mn-ea"/>
              </a:rPr>
              <a:t>=</a:t>
            </a:r>
            <a:r>
              <a:rPr lang="en-US" altLang="zh-CN" sz="1500" dirty="0">
                <a:solidFill>
                  <a:srgbClr val="C00000"/>
                </a:solidFill>
                <a:sym typeface="+mn-ea"/>
              </a:rPr>
              <a:t>120</a:t>
            </a:r>
            <a:r>
              <a:rPr lang="en-US" altLang="zh-CN" sz="1500" dirty="0">
                <a:sym typeface="+mn-ea"/>
              </a:rPr>
              <a:t>-</a:t>
            </a:r>
            <a:r>
              <a:rPr lang="en-US" altLang="zh-CN" sz="1500" dirty="0">
                <a:solidFill>
                  <a:srgbClr val="00B050"/>
                </a:solidFill>
                <a:sym typeface="+mn-ea"/>
              </a:rPr>
              <a:t>0x1A</a:t>
            </a:r>
            <a:r>
              <a:rPr lang="en-US" altLang="zh-CN" sz="1500" dirty="0">
                <a:sym typeface="+mn-ea"/>
              </a:rPr>
              <a:t>;</a:t>
            </a:r>
            <a:endParaRPr lang="en-US" altLang="zh-CN" sz="1500" dirty="0">
              <a:solidFill>
                <a:srgbClr val="00B050"/>
              </a:solidFill>
            </a:endParaRPr>
          </a:p>
        </p:txBody>
      </p:sp>
      <p:sp>
        <p:nvSpPr>
          <p:cNvPr id="2" name="文本框 1">
            <a:extLst>
              <a:ext uri="{FF2B5EF4-FFF2-40B4-BE49-F238E27FC236}">
                <a16:creationId xmlns:a16="http://schemas.microsoft.com/office/drawing/2014/main" id="{421CC194-4EE8-4F22-B3BC-3E3B7F523848}"/>
              </a:ext>
            </a:extLst>
          </p:cNvPr>
          <p:cNvSpPr txBox="1"/>
          <p:nvPr/>
        </p:nvSpPr>
        <p:spPr>
          <a:xfrm>
            <a:off x="6394052" y="231491"/>
            <a:ext cx="2734005" cy="2031325"/>
          </a:xfrm>
          <a:prstGeom prst="rect">
            <a:avLst/>
          </a:prstGeom>
          <a:noFill/>
        </p:spPr>
        <p:txBody>
          <a:bodyPr wrap="square" rtlCol="0">
            <a:spAutoFit/>
          </a:bodyPr>
          <a:lstStyle/>
          <a:p>
            <a:r>
              <a:rPr lang="zh-CN" altLang="en-US" dirty="0"/>
              <a:t>（</a:t>
            </a:r>
            <a:r>
              <a:rPr lang="en-US" altLang="zh-CN" dirty="0"/>
              <a:t>1</a:t>
            </a:r>
            <a:r>
              <a:rPr lang="zh-CN" altLang="en-US" dirty="0"/>
              <a:t>）将多个状态转换图的开始状态合并为一个</a:t>
            </a:r>
            <a:endParaRPr lang="en-US" altLang="zh-CN" dirty="0"/>
          </a:p>
          <a:p>
            <a:r>
              <a:rPr lang="zh-CN" altLang="en-US" dirty="0"/>
              <a:t>（</a:t>
            </a:r>
            <a:r>
              <a:rPr lang="en-US" altLang="zh-CN" dirty="0"/>
              <a:t>2</a:t>
            </a:r>
            <a:r>
              <a:rPr lang="zh-CN" altLang="en-US" dirty="0"/>
              <a:t>）从开始状态出发画多条边，分别标记原来出发的边上标记的符号，将相同标记的边合并。</a:t>
            </a:r>
            <a:endParaRPr lang="en-US" altLang="zh-CN" dirty="0"/>
          </a:p>
          <a:p>
            <a:r>
              <a:rPr lang="zh-CN" altLang="en-US" dirty="0"/>
              <a:t>（</a:t>
            </a:r>
            <a:r>
              <a:rPr lang="en-US" altLang="zh-CN" dirty="0"/>
              <a:t>3</a:t>
            </a:r>
            <a:r>
              <a:rPr lang="zh-CN" altLang="en-US" dirty="0"/>
              <a:t>）各状态重新编号</a:t>
            </a:r>
          </a:p>
        </p:txBody>
      </p:sp>
    </p:spTree>
    <p:extLst>
      <p:ext uri="{BB962C8B-B14F-4D97-AF65-F5344CB8AC3E}">
        <p14:creationId xmlns:p14="http://schemas.microsoft.com/office/powerpoint/2010/main" val="243757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39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4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4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412"/>
                                        </p:tgtEl>
                                        <p:attrNameLst>
                                          <p:attrName>style.visibility</p:attrName>
                                        </p:attrNameLst>
                                      </p:cBhvr>
                                      <p:to>
                                        <p:strVal val="visible"/>
                                      </p:to>
                                    </p:set>
                                    <p:animEffect transition="in" filter="wipe(left)">
                                      <p:cBhvr>
                                        <p:cTn id="71" dur="1000"/>
                                        <p:tgtEl>
                                          <p:spTgt spid="1641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nodeType="clickEffect">
                                  <p:stCondLst>
                                    <p:cond delay="0"/>
                                  </p:stCondLst>
                                  <p:childTnLst>
                                    <p:set>
                                      <p:cBhvr>
                                        <p:cTn id="75" dur="1" fill="hold">
                                          <p:stCondLst>
                                            <p:cond delay="0"/>
                                          </p:stCondLst>
                                        </p:cTn>
                                        <p:tgtEl>
                                          <p:spTgt spid="44"/>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45"/>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46"/>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nodeType="clickEffect">
                                  <p:stCondLst>
                                    <p:cond delay="0"/>
                                  </p:stCondLst>
                                  <p:childTnLst>
                                    <p:set>
                                      <p:cBhvr>
                                        <p:cTn id="83" dur="1" fill="hold">
                                          <p:stCondLst>
                                            <p:cond delay="0"/>
                                          </p:stCondLst>
                                        </p:cTn>
                                        <p:tgtEl>
                                          <p:spTgt spid="49"/>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50"/>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51"/>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52"/>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53"/>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83"/>
                                        </p:tgtEl>
                                        <p:attrNameLst>
                                          <p:attrName>style.visibility</p:attrName>
                                        </p:attrNameLst>
                                      </p:cBhvr>
                                      <p:to>
                                        <p:strVal val="visible"/>
                                      </p:to>
                                    </p:set>
                                    <p:animEffect transition="in" filter="wipe(left)">
                                      <p:cBhvr>
                                        <p:cTn id="96"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animBg="1"/>
      <p:bldP spid="7" grpId="1" animBg="1"/>
      <p:bldP spid="15" grpId="0"/>
      <p:bldP spid="42" grpId="0"/>
      <p:bldP spid="42" grpId="1"/>
      <p:bldP spid="43" grpId="0" animBg="1"/>
      <p:bldP spid="43" grpId="1" animBg="1"/>
      <p:bldP spid="45" grpId="0"/>
      <p:bldP spid="45" grpId="1"/>
      <p:bldP spid="46" grpId="0" animBg="1"/>
      <p:bldP spid="46" grpId="1" animBg="1"/>
      <p:bldP spid="48" grpId="0"/>
      <p:bldP spid="50" grpId="0"/>
      <p:bldP spid="50" grpId="1"/>
      <p:bldP spid="51" grpId="0" animBg="1"/>
      <p:bldP spid="51" grpId="1" animBg="1"/>
      <p:bldP spid="53" grpId="0"/>
      <p:bldP spid="53" grpId="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5"/>
          <p:cNvSpPr>
            <a:spLocks noGrp="1"/>
          </p:cNvSpPr>
          <p:nvPr>
            <p:ph type="title"/>
          </p:nvPr>
        </p:nvSpPr>
        <p:spPr>
          <a:xfrm>
            <a:off x="107504" y="-20537"/>
            <a:ext cx="8229600" cy="504056"/>
          </a:xfrm>
        </p:spPr>
        <p:txBody>
          <a:bodyPr>
            <a:noAutofit/>
          </a:bodyPr>
          <a:lstStyle/>
          <a:p>
            <a:pPr algn="l"/>
            <a:r>
              <a:rPr lang="zh-CN" altLang="en-US" dirty="0"/>
              <a:t>状态转换图的合并</a:t>
            </a:r>
            <a:endParaRPr lang="zh-CN" altLang="en-US" b="1" dirty="0"/>
          </a:p>
        </p:txBody>
      </p:sp>
      <p:sp>
        <p:nvSpPr>
          <p:cNvPr id="16387" name="Rectangle 2"/>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16388" name="Rectangle 8"/>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sp>
        <p:nvSpPr>
          <p:cNvPr id="16389" name="Rectangle 10"/>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graphicFrame>
        <p:nvGraphicFramePr>
          <p:cNvPr id="16396" name="对象 6"/>
          <p:cNvGraphicFramePr>
            <a:graphicFrameLocks noChangeAspect="1"/>
          </p:cNvGraphicFramePr>
          <p:nvPr>
            <p:extLst/>
          </p:nvPr>
        </p:nvGraphicFramePr>
        <p:xfrm>
          <a:off x="2034780" y="1937817"/>
          <a:ext cx="4176464" cy="1414001"/>
        </p:xfrm>
        <a:graphic>
          <a:graphicData uri="http://schemas.openxmlformats.org/presentationml/2006/ole">
            <mc:AlternateContent xmlns:mc="http://schemas.openxmlformats.org/markup-compatibility/2006">
              <mc:Choice xmlns:v="urn:schemas-microsoft-com:vml" Requires="v">
                <p:oleObj spid="_x0000_s46097" name="Visio" r:id="rId5" imgW="1847574" imgH="676080" progId="Visio.Drawing.11">
                  <p:embed/>
                </p:oleObj>
              </mc:Choice>
              <mc:Fallback>
                <p:oleObj name="Visio" r:id="rId5" imgW="1847574" imgH="676080" progId="Visio.Drawing.11">
                  <p:embed/>
                  <p:pic>
                    <p:nvPicPr>
                      <p:cNvPr id="16396" name="对象 6"/>
                      <p:cNvPicPr>
                        <a:picLocks noChangeAspect="1" noChangeArrowheads="1"/>
                      </p:cNvPicPr>
                      <p:nvPr/>
                    </p:nvPicPr>
                    <p:blipFill>
                      <a:blip r:embed="rId6"/>
                      <a:srcRect/>
                      <a:stretch>
                        <a:fillRect/>
                      </a:stretch>
                    </p:blipFill>
                    <p:spPr bwMode="auto">
                      <a:xfrm>
                        <a:off x="2034780" y="1937817"/>
                        <a:ext cx="4176464" cy="1414001"/>
                      </a:xfrm>
                      <a:prstGeom prst="rect">
                        <a:avLst/>
                      </a:prstGeom>
                      <a:noFill/>
                      <a:ln>
                        <a:noFill/>
                      </a:ln>
                    </p:spPr>
                  </p:pic>
                </p:oleObj>
              </mc:Fallback>
            </mc:AlternateContent>
          </a:graphicData>
        </a:graphic>
      </p:graphicFrame>
      <p:sp>
        <p:nvSpPr>
          <p:cNvPr id="16397" name="矩形 8"/>
          <p:cNvSpPr>
            <a:spLocks noChangeArrowheads="1"/>
          </p:cNvSpPr>
          <p:nvPr/>
        </p:nvSpPr>
        <p:spPr bwMode="auto">
          <a:xfrm>
            <a:off x="101753" y="257175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八进制</a:t>
            </a:r>
            <a:r>
              <a:rPr lang="zh-CN" altLang="en-US" sz="2400" dirty="0"/>
              <a:t>：</a:t>
            </a:r>
          </a:p>
        </p:txBody>
      </p:sp>
      <p:graphicFrame>
        <p:nvGraphicFramePr>
          <p:cNvPr id="16394" name="对象 4"/>
          <p:cNvGraphicFramePr>
            <a:graphicFrameLocks noChangeAspect="1"/>
          </p:cNvGraphicFramePr>
          <p:nvPr>
            <p:extLst/>
          </p:nvPr>
        </p:nvGraphicFramePr>
        <p:xfrm>
          <a:off x="2509728" y="2863253"/>
          <a:ext cx="5878696" cy="1816216"/>
        </p:xfrm>
        <a:graphic>
          <a:graphicData uri="http://schemas.openxmlformats.org/presentationml/2006/ole">
            <mc:AlternateContent xmlns:mc="http://schemas.openxmlformats.org/markup-compatibility/2006">
              <mc:Choice xmlns:v="urn:schemas-microsoft-com:vml" Requires="v">
                <p:oleObj spid="_x0000_s46098" name="Visio" r:id="rId7" imgW="2894575" imgH="906336" progId="Visio.Drawing.11">
                  <p:embed/>
                </p:oleObj>
              </mc:Choice>
              <mc:Fallback>
                <p:oleObj name="Visio" r:id="rId7" imgW="2894575" imgH="906336" progId="Visio.Drawing.11">
                  <p:embed/>
                  <p:pic>
                    <p:nvPicPr>
                      <p:cNvPr id="16394" name="对象 4"/>
                      <p:cNvPicPr>
                        <a:picLocks noChangeAspect="1" noChangeArrowheads="1"/>
                      </p:cNvPicPr>
                      <p:nvPr/>
                    </p:nvPicPr>
                    <p:blipFill>
                      <a:blip r:embed="rId8"/>
                      <a:srcRect/>
                      <a:stretch>
                        <a:fillRect/>
                      </a:stretch>
                    </p:blipFill>
                    <p:spPr bwMode="auto">
                      <a:xfrm>
                        <a:off x="2509728" y="2863253"/>
                        <a:ext cx="5878696" cy="1816216"/>
                      </a:xfrm>
                      <a:prstGeom prst="rect">
                        <a:avLst/>
                      </a:prstGeom>
                      <a:noFill/>
                      <a:ln>
                        <a:noFill/>
                      </a:ln>
                    </p:spPr>
                  </p:pic>
                </p:oleObj>
              </mc:Fallback>
            </mc:AlternateContent>
          </a:graphicData>
        </a:graphic>
      </p:graphicFrame>
      <p:sp>
        <p:nvSpPr>
          <p:cNvPr id="16395" name="矩形 9"/>
          <p:cNvSpPr>
            <a:spLocks noChangeArrowheads="1"/>
          </p:cNvSpPr>
          <p:nvPr/>
        </p:nvSpPr>
        <p:spPr bwMode="auto">
          <a:xfrm>
            <a:off x="85232" y="3976606"/>
            <a:ext cx="1750464" cy="4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十六进制</a:t>
            </a:r>
            <a:r>
              <a:rPr lang="zh-CN" altLang="en-US" sz="2400" dirty="0"/>
              <a:t>：</a:t>
            </a:r>
          </a:p>
        </p:txBody>
      </p:sp>
      <p:sp>
        <p:nvSpPr>
          <p:cNvPr id="3"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399" name="矩形 7"/>
          <p:cNvSpPr>
            <a:spLocks noChangeArrowheads="1"/>
          </p:cNvSpPr>
          <p:nvPr/>
        </p:nvSpPr>
        <p:spPr bwMode="auto">
          <a:xfrm>
            <a:off x="101754" y="121101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十进制</a:t>
            </a:r>
            <a:r>
              <a:rPr lang="zh-CN" altLang="en-US" sz="2400" dirty="0"/>
              <a:t>：</a:t>
            </a:r>
          </a:p>
        </p:txBody>
      </p:sp>
      <p:graphicFrame>
        <p:nvGraphicFramePr>
          <p:cNvPr id="4" name="对象 3"/>
          <p:cNvGraphicFramePr>
            <a:graphicFrameLocks noChangeAspect="1"/>
          </p:cNvGraphicFramePr>
          <p:nvPr>
            <p:extLst/>
          </p:nvPr>
        </p:nvGraphicFramePr>
        <p:xfrm>
          <a:off x="1818756" y="367654"/>
          <a:ext cx="4498332" cy="1734384"/>
        </p:xfrm>
        <a:graphic>
          <a:graphicData uri="http://schemas.openxmlformats.org/presentationml/2006/ole">
            <mc:AlternateContent xmlns:mc="http://schemas.openxmlformats.org/markup-compatibility/2006">
              <mc:Choice xmlns:v="urn:schemas-microsoft-com:vml" Requires="v">
                <p:oleObj spid="_x0000_s46099" name="Visio" r:id="rId9" imgW="1934536" imgH="745632" progId="Visio.Drawing.11">
                  <p:embed/>
                </p:oleObj>
              </mc:Choice>
              <mc:Fallback>
                <p:oleObj name="Visio" r:id="rId9" imgW="1934536" imgH="745632" progId="Visio.Drawing.11">
                  <p:embed/>
                  <p:pic>
                    <p:nvPicPr>
                      <p:cNvPr id="4" name="对象 3"/>
                      <p:cNvPicPr>
                        <a:picLocks noChangeAspect="1" noChangeArrowheads="1"/>
                      </p:cNvPicPr>
                      <p:nvPr/>
                    </p:nvPicPr>
                    <p:blipFill>
                      <a:blip r:embed="rId10"/>
                      <a:srcRect/>
                      <a:stretch>
                        <a:fillRect/>
                      </a:stretch>
                    </p:blipFill>
                    <p:spPr bwMode="auto">
                      <a:xfrm>
                        <a:off x="1818756" y="367654"/>
                        <a:ext cx="4498332" cy="1734384"/>
                      </a:xfrm>
                      <a:prstGeom prst="rect">
                        <a:avLst/>
                      </a:prstGeom>
                      <a:noFill/>
                    </p:spPr>
                  </p:pic>
                </p:oleObj>
              </mc:Fallback>
            </mc:AlternateContent>
          </a:graphicData>
        </a:graphic>
      </p:graphicFrame>
      <p:sp>
        <p:nvSpPr>
          <p:cNvPr id="6" name="TextBox 5"/>
          <p:cNvSpPr txBox="1"/>
          <p:nvPr/>
        </p:nvSpPr>
        <p:spPr>
          <a:xfrm>
            <a:off x="2050285" y="2549011"/>
            <a:ext cx="792088"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=&gt;</a:t>
            </a:r>
            <a:endParaRPr lang="zh-CN" altLang="en-US" sz="3200" b="1" dirty="0">
              <a:latin typeface="Times New Roman" panose="02020603050405020304" pitchFamily="18" charset="0"/>
              <a:cs typeface="Times New Roman" panose="02020603050405020304" pitchFamily="18" charset="0"/>
            </a:endParaRPr>
          </a:p>
        </p:txBody>
      </p:sp>
      <p:sp>
        <p:nvSpPr>
          <p:cNvPr id="7" name="椭圆 6"/>
          <p:cNvSpPr/>
          <p:nvPr/>
        </p:nvSpPr>
        <p:spPr>
          <a:xfrm>
            <a:off x="2621669" y="2599902"/>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0</a:t>
            </a:r>
            <a:endParaRPr lang="zh-CN" altLang="en-US" sz="2000" dirty="0">
              <a:solidFill>
                <a:schemeClr val="tx1"/>
              </a:solidFill>
            </a:endParaRPr>
          </a:p>
        </p:txBody>
      </p:sp>
      <p:cxnSp>
        <p:nvCxnSpPr>
          <p:cNvPr id="9" name="直接箭头连接符 8"/>
          <p:cNvCxnSpPr>
            <a:stCxn id="7" idx="6"/>
          </p:cNvCxnSpPr>
          <p:nvPr/>
        </p:nvCxnSpPr>
        <p:spPr>
          <a:xfrm>
            <a:off x="3125725" y="2861512"/>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97733" y="2455886"/>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42" name="TextBox 41"/>
          <p:cNvSpPr txBox="1"/>
          <p:nvPr/>
        </p:nvSpPr>
        <p:spPr>
          <a:xfrm>
            <a:off x="2026541" y="3964149"/>
            <a:ext cx="792088"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=&gt;</a:t>
            </a:r>
            <a:endParaRPr lang="zh-CN" altLang="en-US" sz="3200" b="1" dirty="0">
              <a:latin typeface="Times New Roman" panose="02020603050405020304" pitchFamily="18" charset="0"/>
              <a:cs typeface="Times New Roman" panose="02020603050405020304" pitchFamily="18" charset="0"/>
            </a:endParaRPr>
          </a:p>
        </p:txBody>
      </p:sp>
      <p:sp>
        <p:nvSpPr>
          <p:cNvPr id="43" name="椭圆 42"/>
          <p:cNvSpPr/>
          <p:nvPr/>
        </p:nvSpPr>
        <p:spPr>
          <a:xfrm>
            <a:off x="2602605" y="3964149"/>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0</a:t>
            </a:r>
            <a:endParaRPr lang="zh-CN" altLang="en-US" sz="2000" dirty="0">
              <a:solidFill>
                <a:schemeClr val="tx1"/>
              </a:solidFill>
            </a:endParaRPr>
          </a:p>
        </p:txBody>
      </p:sp>
      <p:cxnSp>
        <p:nvCxnSpPr>
          <p:cNvPr id="44" name="直接箭头连接符 43"/>
          <p:cNvCxnSpPr>
            <a:stCxn id="43" idx="6"/>
          </p:cNvCxnSpPr>
          <p:nvPr/>
        </p:nvCxnSpPr>
        <p:spPr>
          <a:xfrm>
            <a:off x="3106661" y="4225759"/>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178669" y="3820133"/>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46" name="椭圆 45"/>
          <p:cNvSpPr/>
          <p:nvPr/>
        </p:nvSpPr>
        <p:spPr>
          <a:xfrm>
            <a:off x="3754733" y="3964149"/>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3</a:t>
            </a:r>
            <a:endParaRPr lang="zh-CN" altLang="en-US" sz="2000" dirty="0">
              <a:solidFill>
                <a:schemeClr val="tx1"/>
              </a:solidFill>
            </a:endParaRPr>
          </a:p>
        </p:txBody>
      </p:sp>
      <p:cxnSp>
        <p:nvCxnSpPr>
          <p:cNvPr id="47" name="直接箭头连接符 46"/>
          <p:cNvCxnSpPr/>
          <p:nvPr/>
        </p:nvCxnSpPr>
        <p:spPr>
          <a:xfrm>
            <a:off x="4258789" y="4225759"/>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294793" y="3820133"/>
            <a:ext cx="720080"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x/X</a:t>
            </a:r>
            <a:endParaRPr lang="zh-CN" altLang="en-US" sz="2400" dirty="0">
              <a:latin typeface="Times New Roman" panose="02020603050405020304" pitchFamily="18" charset="0"/>
              <a:cs typeface="Times New Roman" panose="02020603050405020304" pitchFamily="18" charset="0"/>
            </a:endParaRPr>
          </a:p>
        </p:txBody>
      </p:sp>
      <p:cxnSp>
        <p:nvCxnSpPr>
          <p:cNvPr id="49" name="直接箭头连接符 48"/>
          <p:cNvCxnSpPr/>
          <p:nvPr/>
        </p:nvCxnSpPr>
        <p:spPr>
          <a:xfrm>
            <a:off x="3009329" y="1534590"/>
            <a:ext cx="880864" cy="17479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314129" y="1303758"/>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51" name="椭圆 50"/>
          <p:cNvSpPr/>
          <p:nvPr/>
        </p:nvSpPr>
        <p:spPr>
          <a:xfrm>
            <a:off x="3890193" y="1447774"/>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altLang="en-US" sz="20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52" name="直接箭头连接符 51"/>
          <p:cNvCxnSpPr/>
          <p:nvPr/>
        </p:nvCxnSpPr>
        <p:spPr>
          <a:xfrm flipV="1">
            <a:off x="4394249" y="1447774"/>
            <a:ext cx="1107740" cy="26161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rot="20771788">
            <a:off x="4684718" y="1573040"/>
            <a:ext cx="826376"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cs typeface="Times New Roman" panose="02020603050405020304" pitchFamily="18" charset="0"/>
              </a:rPr>
              <a:t>其他</a:t>
            </a:r>
          </a:p>
        </p:txBody>
      </p:sp>
      <p:cxnSp>
        <p:nvCxnSpPr>
          <p:cNvPr id="16412" name="肘形连接符 16411"/>
          <p:cNvCxnSpPr/>
          <p:nvPr/>
        </p:nvCxnSpPr>
        <p:spPr>
          <a:xfrm rot="16200000" flipH="1">
            <a:off x="2693676" y="1781392"/>
            <a:ext cx="1152128" cy="1008111"/>
          </a:xfrm>
          <a:prstGeom prst="bentConnector3">
            <a:avLst>
              <a:gd name="adj1" fmla="val 99935"/>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肘形连接符 82"/>
          <p:cNvCxnSpPr>
            <a:cxnSpLocks/>
          </p:cNvCxnSpPr>
          <p:nvPr/>
        </p:nvCxnSpPr>
        <p:spPr>
          <a:xfrm rot="16200000" flipH="1">
            <a:off x="3909173" y="3270341"/>
            <a:ext cx="1119119" cy="853272"/>
          </a:xfrm>
          <a:prstGeom prst="bentConnector3">
            <a:avLst>
              <a:gd name="adj1" fmla="val 97624"/>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3EE031A8-1008-4A05-B5FC-429C48B4BA2B}"/>
              </a:ext>
            </a:extLst>
          </p:cNvPr>
          <p:cNvSpPr/>
          <p:nvPr>
            <p:custDataLst>
              <p:tags r:id="rId2"/>
            </p:custDataLst>
          </p:nvPr>
        </p:nvSpPr>
        <p:spPr>
          <a:xfrm>
            <a:off x="207462" y="649239"/>
            <a:ext cx="1988274" cy="277654"/>
          </a:xfrm>
          <a:prstGeom prst="rect">
            <a:avLst/>
          </a:prstGeom>
          <a:solidFill>
            <a:schemeClr val="bg1">
              <a:lumMod val="95000"/>
            </a:schemeClr>
          </a:solidFill>
          <a:ln w="3175"/>
        </p:spPr>
        <p:style>
          <a:lnRef idx="2">
            <a:schemeClr val="accent1"/>
          </a:lnRef>
          <a:fillRef idx="1">
            <a:schemeClr val="lt1"/>
          </a:fillRef>
          <a:effectRef idx="0">
            <a:schemeClr val="accent1"/>
          </a:effectRef>
          <a:fontRef idx="minor">
            <a:schemeClr val="dk1"/>
          </a:fontRef>
        </p:style>
        <p:txBody>
          <a:bodyPr wrap="square">
            <a:noAutofit/>
          </a:bodyPr>
          <a:lstStyle/>
          <a:p>
            <a:pPr>
              <a:defRPr/>
            </a:pPr>
            <a:r>
              <a:rPr lang="en-US" altLang="zh-CN" sz="1500" dirty="0">
                <a:solidFill>
                  <a:schemeClr val="tx1"/>
                </a:solidFill>
              </a:rPr>
              <a:t>_num</a:t>
            </a:r>
            <a:r>
              <a:rPr lang="en-US" altLang="zh-CN" sz="1500" dirty="0">
                <a:solidFill>
                  <a:srgbClr val="00B050"/>
                </a:solidFill>
              </a:rPr>
              <a:t> </a:t>
            </a:r>
            <a:r>
              <a:rPr lang="en-US" altLang="zh-CN" sz="1500" dirty="0">
                <a:sym typeface="+mn-ea"/>
              </a:rPr>
              <a:t>=</a:t>
            </a:r>
            <a:r>
              <a:rPr lang="en-US" altLang="zh-CN" sz="1500" dirty="0">
                <a:solidFill>
                  <a:srgbClr val="C00000"/>
                </a:solidFill>
                <a:sym typeface="+mn-ea"/>
              </a:rPr>
              <a:t>120</a:t>
            </a:r>
            <a:r>
              <a:rPr lang="en-US" altLang="zh-CN" sz="1500" dirty="0">
                <a:sym typeface="+mn-ea"/>
              </a:rPr>
              <a:t>-</a:t>
            </a:r>
            <a:r>
              <a:rPr lang="en-US" altLang="zh-CN" sz="1500" dirty="0">
                <a:solidFill>
                  <a:srgbClr val="00B050"/>
                </a:solidFill>
                <a:sym typeface="+mn-ea"/>
              </a:rPr>
              <a:t>0x1A</a:t>
            </a:r>
            <a:r>
              <a:rPr lang="en-US" altLang="zh-CN" sz="1500" dirty="0">
                <a:sym typeface="+mn-ea"/>
              </a:rPr>
              <a:t>;</a:t>
            </a:r>
            <a:endParaRPr lang="en-US" altLang="zh-CN" sz="1500" dirty="0">
              <a:solidFill>
                <a:srgbClr val="00B050"/>
              </a:solidFill>
            </a:endParaRPr>
          </a:p>
        </p:txBody>
      </p:sp>
      <p:sp>
        <p:nvSpPr>
          <p:cNvPr id="2" name="文本框 1">
            <a:extLst>
              <a:ext uri="{FF2B5EF4-FFF2-40B4-BE49-F238E27FC236}">
                <a16:creationId xmlns:a16="http://schemas.microsoft.com/office/drawing/2014/main" id="{421CC194-4EE8-4F22-B3BC-3E3B7F523848}"/>
              </a:ext>
            </a:extLst>
          </p:cNvPr>
          <p:cNvSpPr txBox="1"/>
          <p:nvPr/>
        </p:nvSpPr>
        <p:spPr>
          <a:xfrm>
            <a:off x="6394052" y="231491"/>
            <a:ext cx="2734005" cy="2031325"/>
          </a:xfrm>
          <a:prstGeom prst="rect">
            <a:avLst/>
          </a:prstGeom>
          <a:noFill/>
        </p:spPr>
        <p:txBody>
          <a:bodyPr wrap="square" rtlCol="0">
            <a:spAutoFit/>
          </a:bodyPr>
          <a:lstStyle/>
          <a:p>
            <a:r>
              <a:rPr lang="zh-CN" altLang="en-US" dirty="0"/>
              <a:t>（</a:t>
            </a:r>
            <a:r>
              <a:rPr lang="en-US" altLang="zh-CN" dirty="0"/>
              <a:t>1</a:t>
            </a:r>
            <a:r>
              <a:rPr lang="zh-CN" altLang="en-US" dirty="0"/>
              <a:t>）将多个状态转换图的开始状态合并为一个</a:t>
            </a:r>
            <a:endParaRPr lang="en-US" altLang="zh-CN" dirty="0"/>
          </a:p>
          <a:p>
            <a:r>
              <a:rPr lang="zh-CN" altLang="en-US" dirty="0"/>
              <a:t>（</a:t>
            </a:r>
            <a:r>
              <a:rPr lang="en-US" altLang="zh-CN" dirty="0"/>
              <a:t>2</a:t>
            </a:r>
            <a:r>
              <a:rPr lang="zh-CN" altLang="en-US" dirty="0"/>
              <a:t>）从开始状态出发画多条边，分别标记原来出发的边上标记的符号，将相同标记的边合并。</a:t>
            </a:r>
            <a:endParaRPr lang="en-US" altLang="zh-CN" dirty="0"/>
          </a:p>
          <a:p>
            <a:r>
              <a:rPr lang="zh-CN" altLang="en-US" dirty="0"/>
              <a:t>（</a:t>
            </a:r>
            <a:r>
              <a:rPr lang="en-US" altLang="zh-CN" dirty="0"/>
              <a:t>3</a:t>
            </a:r>
            <a:r>
              <a:rPr lang="zh-CN" altLang="en-US" dirty="0"/>
              <a:t>）各状态重新编号</a:t>
            </a:r>
          </a:p>
        </p:txBody>
      </p:sp>
    </p:spTree>
    <p:extLst>
      <p:ext uri="{BB962C8B-B14F-4D97-AF65-F5344CB8AC3E}">
        <p14:creationId xmlns:p14="http://schemas.microsoft.com/office/powerpoint/2010/main" val="265078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39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4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4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412"/>
                                        </p:tgtEl>
                                        <p:attrNameLst>
                                          <p:attrName>style.visibility</p:attrName>
                                        </p:attrNameLst>
                                      </p:cBhvr>
                                      <p:to>
                                        <p:strVal val="visible"/>
                                      </p:to>
                                    </p:set>
                                    <p:animEffect transition="in" filter="wipe(left)">
                                      <p:cBhvr>
                                        <p:cTn id="71" dur="1000"/>
                                        <p:tgtEl>
                                          <p:spTgt spid="1641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nodeType="clickEffect">
                                  <p:stCondLst>
                                    <p:cond delay="0"/>
                                  </p:stCondLst>
                                  <p:childTnLst>
                                    <p:set>
                                      <p:cBhvr>
                                        <p:cTn id="75" dur="1" fill="hold">
                                          <p:stCondLst>
                                            <p:cond delay="0"/>
                                          </p:stCondLst>
                                        </p:cTn>
                                        <p:tgtEl>
                                          <p:spTgt spid="44"/>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45"/>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46"/>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nodeType="clickEffect">
                                  <p:stCondLst>
                                    <p:cond delay="0"/>
                                  </p:stCondLst>
                                  <p:childTnLst>
                                    <p:set>
                                      <p:cBhvr>
                                        <p:cTn id="83" dur="1" fill="hold">
                                          <p:stCondLst>
                                            <p:cond delay="0"/>
                                          </p:stCondLst>
                                        </p:cTn>
                                        <p:tgtEl>
                                          <p:spTgt spid="49"/>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50"/>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51"/>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52"/>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53"/>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83"/>
                                        </p:tgtEl>
                                        <p:attrNameLst>
                                          <p:attrName>style.visibility</p:attrName>
                                        </p:attrNameLst>
                                      </p:cBhvr>
                                      <p:to>
                                        <p:strVal val="visible"/>
                                      </p:to>
                                    </p:set>
                                    <p:animEffect transition="in" filter="wipe(left)">
                                      <p:cBhvr>
                                        <p:cTn id="96"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animBg="1"/>
      <p:bldP spid="7" grpId="1" animBg="1"/>
      <p:bldP spid="15" grpId="0"/>
      <p:bldP spid="42" grpId="0"/>
      <p:bldP spid="42" grpId="1"/>
      <p:bldP spid="43" grpId="0" animBg="1"/>
      <p:bldP spid="43" grpId="1" animBg="1"/>
      <p:bldP spid="45" grpId="0"/>
      <p:bldP spid="45" grpId="1"/>
      <p:bldP spid="46" grpId="0" animBg="1"/>
      <p:bldP spid="46" grpId="1" animBg="1"/>
      <p:bldP spid="48" grpId="0"/>
      <p:bldP spid="50" grpId="0"/>
      <p:bldP spid="50" grpId="1"/>
      <p:bldP spid="51" grpId="0" animBg="1"/>
      <p:bldP spid="51" grpId="1" animBg="1"/>
      <p:bldP spid="53" grpId="0"/>
      <p:bldP spid="53" grpId="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3DE27AE-89CE-43F5-8B9E-40AE25DE0692}"/>
              </a:ext>
            </a:extLst>
          </p:cNvPr>
          <p:cNvPicPr>
            <a:picLocks noChangeAspect="1"/>
          </p:cNvPicPr>
          <p:nvPr/>
        </p:nvPicPr>
        <p:blipFill>
          <a:blip r:embed="rId2"/>
          <a:stretch>
            <a:fillRect/>
          </a:stretch>
        </p:blipFill>
        <p:spPr>
          <a:xfrm>
            <a:off x="4716016" y="771550"/>
            <a:ext cx="4030980" cy="3253740"/>
          </a:xfrm>
          <a:prstGeom prst="rect">
            <a:avLst/>
          </a:prstGeom>
        </p:spPr>
      </p:pic>
      <p:pic>
        <p:nvPicPr>
          <p:cNvPr id="9" name="图片 8">
            <a:extLst>
              <a:ext uri="{FF2B5EF4-FFF2-40B4-BE49-F238E27FC236}">
                <a16:creationId xmlns:a16="http://schemas.microsoft.com/office/drawing/2014/main" id="{CD9CF6D2-1FAA-4582-B5EE-FBB23EEB3C13}"/>
              </a:ext>
            </a:extLst>
          </p:cNvPr>
          <p:cNvPicPr>
            <a:picLocks noChangeAspect="1"/>
          </p:cNvPicPr>
          <p:nvPr/>
        </p:nvPicPr>
        <p:blipFill>
          <a:blip r:embed="rId3"/>
          <a:stretch>
            <a:fillRect/>
          </a:stretch>
        </p:blipFill>
        <p:spPr>
          <a:xfrm>
            <a:off x="535581" y="785454"/>
            <a:ext cx="4046220" cy="3672840"/>
          </a:xfrm>
          <a:prstGeom prst="rect">
            <a:avLst/>
          </a:prstGeom>
        </p:spPr>
      </p:pic>
    </p:spTree>
    <p:extLst>
      <p:ext uri="{BB962C8B-B14F-4D97-AF65-F5344CB8AC3E}">
        <p14:creationId xmlns:p14="http://schemas.microsoft.com/office/powerpoint/2010/main" val="3320325105"/>
      </p:ext>
    </p:extLst>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5"/>
          <p:cNvSpPr>
            <a:spLocks noGrp="1"/>
          </p:cNvSpPr>
          <p:nvPr>
            <p:ph type="title"/>
          </p:nvPr>
        </p:nvSpPr>
        <p:spPr>
          <a:xfrm>
            <a:off x="107504" y="-20537"/>
            <a:ext cx="8229600" cy="504056"/>
          </a:xfrm>
        </p:spPr>
        <p:txBody>
          <a:bodyPr>
            <a:noAutofit/>
          </a:bodyPr>
          <a:lstStyle/>
          <a:p>
            <a:pPr algn="l"/>
            <a:r>
              <a:rPr lang="zh-CN" altLang="en-US" dirty="0"/>
              <a:t>错误处理</a:t>
            </a:r>
            <a:endParaRPr lang="zh-CN" altLang="en-US" b="1" dirty="0"/>
          </a:p>
        </p:txBody>
      </p:sp>
      <p:sp>
        <p:nvSpPr>
          <p:cNvPr id="16387" name="Rectangle 2"/>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16388" name="Rectangle 8"/>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sp>
        <p:nvSpPr>
          <p:cNvPr id="16389" name="Rectangle 10"/>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graphicFrame>
        <p:nvGraphicFramePr>
          <p:cNvPr id="16396" name="对象 6"/>
          <p:cNvGraphicFramePr>
            <a:graphicFrameLocks noChangeAspect="1"/>
          </p:cNvGraphicFramePr>
          <p:nvPr>
            <p:extLst/>
          </p:nvPr>
        </p:nvGraphicFramePr>
        <p:xfrm>
          <a:off x="2034780" y="1937817"/>
          <a:ext cx="4176464" cy="1414001"/>
        </p:xfrm>
        <a:graphic>
          <a:graphicData uri="http://schemas.openxmlformats.org/presentationml/2006/ole">
            <mc:AlternateContent xmlns:mc="http://schemas.openxmlformats.org/markup-compatibility/2006">
              <mc:Choice xmlns:v="urn:schemas-microsoft-com:vml" Requires="v">
                <p:oleObj spid="_x0000_s37920" name="Visio" r:id="rId5" imgW="1847574" imgH="676080" progId="Visio.Drawing.11">
                  <p:embed/>
                </p:oleObj>
              </mc:Choice>
              <mc:Fallback>
                <p:oleObj name="Visio" r:id="rId5" imgW="1847574" imgH="676080" progId="Visio.Drawing.11">
                  <p:embed/>
                  <p:pic>
                    <p:nvPicPr>
                      <p:cNvPr id="16396" name="对象 6"/>
                      <p:cNvPicPr>
                        <a:picLocks noChangeAspect="1" noChangeArrowheads="1"/>
                      </p:cNvPicPr>
                      <p:nvPr/>
                    </p:nvPicPr>
                    <p:blipFill>
                      <a:blip r:embed="rId6"/>
                      <a:srcRect/>
                      <a:stretch>
                        <a:fillRect/>
                      </a:stretch>
                    </p:blipFill>
                    <p:spPr bwMode="auto">
                      <a:xfrm>
                        <a:off x="2034780" y="1937817"/>
                        <a:ext cx="4176464" cy="1414001"/>
                      </a:xfrm>
                      <a:prstGeom prst="rect">
                        <a:avLst/>
                      </a:prstGeom>
                      <a:noFill/>
                      <a:ln>
                        <a:noFill/>
                      </a:ln>
                    </p:spPr>
                  </p:pic>
                </p:oleObj>
              </mc:Fallback>
            </mc:AlternateContent>
          </a:graphicData>
        </a:graphic>
      </p:graphicFrame>
      <p:sp>
        <p:nvSpPr>
          <p:cNvPr id="16397" name="矩形 8"/>
          <p:cNvSpPr>
            <a:spLocks noChangeArrowheads="1"/>
          </p:cNvSpPr>
          <p:nvPr/>
        </p:nvSpPr>
        <p:spPr bwMode="auto">
          <a:xfrm>
            <a:off x="101753" y="257175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八进制</a:t>
            </a:r>
            <a:r>
              <a:rPr lang="zh-CN" altLang="en-US" sz="2400" dirty="0"/>
              <a:t>：</a:t>
            </a:r>
          </a:p>
        </p:txBody>
      </p:sp>
      <p:graphicFrame>
        <p:nvGraphicFramePr>
          <p:cNvPr id="16394" name="对象 4"/>
          <p:cNvGraphicFramePr>
            <a:graphicFrameLocks noChangeAspect="1"/>
          </p:cNvGraphicFramePr>
          <p:nvPr>
            <p:extLst/>
          </p:nvPr>
        </p:nvGraphicFramePr>
        <p:xfrm>
          <a:off x="2509728" y="2863253"/>
          <a:ext cx="5878696" cy="1816216"/>
        </p:xfrm>
        <a:graphic>
          <a:graphicData uri="http://schemas.openxmlformats.org/presentationml/2006/ole">
            <mc:AlternateContent xmlns:mc="http://schemas.openxmlformats.org/markup-compatibility/2006">
              <mc:Choice xmlns:v="urn:schemas-microsoft-com:vml" Requires="v">
                <p:oleObj spid="_x0000_s37921" name="Visio" r:id="rId7" imgW="2894575" imgH="906336" progId="Visio.Drawing.11">
                  <p:embed/>
                </p:oleObj>
              </mc:Choice>
              <mc:Fallback>
                <p:oleObj name="Visio" r:id="rId7" imgW="2894575" imgH="906336" progId="Visio.Drawing.11">
                  <p:embed/>
                  <p:pic>
                    <p:nvPicPr>
                      <p:cNvPr id="16394" name="对象 4"/>
                      <p:cNvPicPr>
                        <a:picLocks noChangeAspect="1" noChangeArrowheads="1"/>
                      </p:cNvPicPr>
                      <p:nvPr/>
                    </p:nvPicPr>
                    <p:blipFill>
                      <a:blip r:embed="rId8"/>
                      <a:srcRect/>
                      <a:stretch>
                        <a:fillRect/>
                      </a:stretch>
                    </p:blipFill>
                    <p:spPr bwMode="auto">
                      <a:xfrm>
                        <a:off x="2509728" y="2863253"/>
                        <a:ext cx="5878696" cy="1816216"/>
                      </a:xfrm>
                      <a:prstGeom prst="rect">
                        <a:avLst/>
                      </a:prstGeom>
                      <a:noFill/>
                      <a:ln>
                        <a:noFill/>
                      </a:ln>
                    </p:spPr>
                  </p:pic>
                </p:oleObj>
              </mc:Fallback>
            </mc:AlternateContent>
          </a:graphicData>
        </a:graphic>
      </p:graphicFrame>
      <p:sp>
        <p:nvSpPr>
          <p:cNvPr id="16395" name="矩形 9"/>
          <p:cNvSpPr>
            <a:spLocks noChangeArrowheads="1"/>
          </p:cNvSpPr>
          <p:nvPr/>
        </p:nvSpPr>
        <p:spPr bwMode="auto">
          <a:xfrm>
            <a:off x="85232" y="3976606"/>
            <a:ext cx="1750464" cy="4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十六进制</a:t>
            </a:r>
            <a:r>
              <a:rPr lang="zh-CN" altLang="en-US" sz="2400" dirty="0"/>
              <a:t>：</a:t>
            </a:r>
          </a:p>
        </p:txBody>
      </p:sp>
      <p:sp>
        <p:nvSpPr>
          <p:cNvPr id="3"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399" name="矩形 7"/>
          <p:cNvSpPr>
            <a:spLocks noChangeArrowheads="1"/>
          </p:cNvSpPr>
          <p:nvPr/>
        </p:nvSpPr>
        <p:spPr bwMode="auto">
          <a:xfrm>
            <a:off x="101754" y="121101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400" dirty="0"/>
              <a:t>十进制</a:t>
            </a:r>
            <a:r>
              <a:rPr lang="zh-CN" altLang="en-US" sz="2400" dirty="0"/>
              <a:t>：</a:t>
            </a:r>
          </a:p>
        </p:txBody>
      </p:sp>
      <p:graphicFrame>
        <p:nvGraphicFramePr>
          <p:cNvPr id="4" name="对象 3"/>
          <p:cNvGraphicFramePr>
            <a:graphicFrameLocks noChangeAspect="1"/>
          </p:cNvGraphicFramePr>
          <p:nvPr>
            <p:extLst/>
          </p:nvPr>
        </p:nvGraphicFramePr>
        <p:xfrm>
          <a:off x="1818756" y="367654"/>
          <a:ext cx="4498332" cy="1734384"/>
        </p:xfrm>
        <a:graphic>
          <a:graphicData uri="http://schemas.openxmlformats.org/presentationml/2006/ole">
            <mc:AlternateContent xmlns:mc="http://schemas.openxmlformats.org/markup-compatibility/2006">
              <mc:Choice xmlns:v="urn:schemas-microsoft-com:vml" Requires="v">
                <p:oleObj spid="_x0000_s37922" name="Visio" r:id="rId9" imgW="1934536" imgH="745632" progId="Visio.Drawing.11">
                  <p:embed/>
                </p:oleObj>
              </mc:Choice>
              <mc:Fallback>
                <p:oleObj name="Visio" r:id="rId9" imgW="1934536" imgH="745632" progId="Visio.Drawing.11">
                  <p:embed/>
                  <p:pic>
                    <p:nvPicPr>
                      <p:cNvPr id="4" name="对象 3"/>
                      <p:cNvPicPr>
                        <a:picLocks noChangeAspect="1" noChangeArrowheads="1"/>
                      </p:cNvPicPr>
                      <p:nvPr/>
                    </p:nvPicPr>
                    <p:blipFill>
                      <a:blip r:embed="rId10"/>
                      <a:srcRect/>
                      <a:stretch>
                        <a:fillRect/>
                      </a:stretch>
                    </p:blipFill>
                    <p:spPr bwMode="auto">
                      <a:xfrm>
                        <a:off x="1818756" y="367654"/>
                        <a:ext cx="4498332" cy="1734384"/>
                      </a:xfrm>
                      <a:prstGeom prst="rect">
                        <a:avLst/>
                      </a:prstGeom>
                      <a:noFill/>
                    </p:spPr>
                  </p:pic>
                </p:oleObj>
              </mc:Fallback>
            </mc:AlternateContent>
          </a:graphicData>
        </a:graphic>
      </p:graphicFrame>
      <p:sp>
        <p:nvSpPr>
          <p:cNvPr id="6" name="TextBox 5"/>
          <p:cNvSpPr txBox="1"/>
          <p:nvPr/>
        </p:nvSpPr>
        <p:spPr>
          <a:xfrm>
            <a:off x="2050285" y="2549011"/>
            <a:ext cx="792088"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=&gt;</a:t>
            </a:r>
            <a:endParaRPr lang="zh-CN" altLang="en-US" sz="3200" b="1" dirty="0">
              <a:latin typeface="Times New Roman" panose="02020603050405020304" pitchFamily="18" charset="0"/>
              <a:cs typeface="Times New Roman" panose="02020603050405020304" pitchFamily="18" charset="0"/>
            </a:endParaRPr>
          </a:p>
        </p:txBody>
      </p:sp>
      <p:sp>
        <p:nvSpPr>
          <p:cNvPr id="7" name="椭圆 6"/>
          <p:cNvSpPr/>
          <p:nvPr/>
        </p:nvSpPr>
        <p:spPr>
          <a:xfrm>
            <a:off x="2621669" y="2599902"/>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0</a:t>
            </a:r>
            <a:endParaRPr lang="zh-CN" altLang="en-US" sz="2000" dirty="0">
              <a:solidFill>
                <a:schemeClr val="tx1"/>
              </a:solidFill>
            </a:endParaRPr>
          </a:p>
        </p:txBody>
      </p:sp>
      <p:cxnSp>
        <p:nvCxnSpPr>
          <p:cNvPr id="9" name="直接箭头连接符 8"/>
          <p:cNvCxnSpPr>
            <a:stCxn id="7" idx="6"/>
          </p:cNvCxnSpPr>
          <p:nvPr/>
        </p:nvCxnSpPr>
        <p:spPr>
          <a:xfrm>
            <a:off x="3125725" y="2861512"/>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97733" y="2455886"/>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42" name="TextBox 41"/>
          <p:cNvSpPr txBox="1"/>
          <p:nvPr/>
        </p:nvSpPr>
        <p:spPr>
          <a:xfrm>
            <a:off x="2026541" y="3964149"/>
            <a:ext cx="792088"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=&gt;</a:t>
            </a:r>
            <a:endParaRPr lang="zh-CN" altLang="en-US" sz="3200" b="1" dirty="0">
              <a:latin typeface="Times New Roman" panose="02020603050405020304" pitchFamily="18" charset="0"/>
              <a:cs typeface="Times New Roman" panose="02020603050405020304" pitchFamily="18" charset="0"/>
            </a:endParaRPr>
          </a:p>
        </p:txBody>
      </p:sp>
      <p:sp>
        <p:nvSpPr>
          <p:cNvPr id="43" name="椭圆 42"/>
          <p:cNvSpPr/>
          <p:nvPr/>
        </p:nvSpPr>
        <p:spPr>
          <a:xfrm>
            <a:off x="2602605" y="3964149"/>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0</a:t>
            </a:r>
            <a:endParaRPr lang="zh-CN" altLang="en-US" sz="2000" dirty="0">
              <a:solidFill>
                <a:schemeClr val="tx1"/>
              </a:solidFill>
            </a:endParaRPr>
          </a:p>
        </p:txBody>
      </p:sp>
      <p:cxnSp>
        <p:nvCxnSpPr>
          <p:cNvPr id="44" name="直接箭头连接符 43"/>
          <p:cNvCxnSpPr>
            <a:stCxn id="43" idx="6"/>
          </p:cNvCxnSpPr>
          <p:nvPr/>
        </p:nvCxnSpPr>
        <p:spPr>
          <a:xfrm>
            <a:off x="3106661" y="4225759"/>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178669" y="3820133"/>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46" name="椭圆 45"/>
          <p:cNvSpPr/>
          <p:nvPr/>
        </p:nvSpPr>
        <p:spPr>
          <a:xfrm>
            <a:off x="3754733" y="3964149"/>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3</a:t>
            </a:r>
            <a:endParaRPr lang="zh-CN" altLang="en-US" sz="2000" dirty="0">
              <a:solidFill>
                <a:schemeClr val="tx1"/>
              </a:solidFill>
            </a:endParaRPr>
          </a:p>
        </p:txBody>
      </p:sp>
      <p:cxnSp>
        <p:nvCxnSpPr>
          <p:cNvPr id="47" name="直接箭头连接符 46"/>
          <p:cNvCxnSpPr/>
          <p:nvPr/>
        </p:nvCxnSpPr>
        <p:spPr>
          <a:xfrm>
            <a:off x="4258789" y="4225759"/>
            <a:ext cx="64807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294793" y="3820133"/>
            <a:ext cx="720080"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x/X</a:t>
            </a:r>
            <a:endParaRPr lang="zh-CN" altLang="en-US" sz="2400" dirty="0">
              <a:latin typeface="Times New Roman" panose="02020603050405020304" pitchFamily="18" charset="0"/>
              <a:cs typeface="Times New Roman" panose="02020603050405020304" pitchFamily="18" charset="0"/>
            </a:endParaRPr>
          </a:p>
        </p:txBody>
      </p:sp>
      <p:cxnSp>
        <p:nvCxnSpPr>
          <p:cNvPr id="49" name="直接箭头连接符 48"/>
          <p:cNvCxnSpPr/>
          <p:nvPr/>
        </p:nvCxnSpPr>
        <p:spPr>
          <a:xfrm>
            <a:off x="3009329" y="1534590"/>
            <a:ext cx="880864" cy="17479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314129" y="1303758"/>
            <a:ext cx="25202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
        <p:nvSpPr>
          <p:cNvPr id="51" name="椭圆 50"/>
          <p:cNvSpPr/>
          <p:nvPr/>
        </p:nvSpPr>
        <p:spPr>
          <a:xfrm>
            <a:off x="3890193" y="1447774"/>
            <a:ext cx="504056" cy="5232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altLang="en-US" sz="20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52" name="直接箭头连接符 51"/>
          <p:cNvCxnSpPr/>
          <p:nvPr/>
        </p:nvCxnSpPr>
        <p:spPr>
          <a:xfrm flipV="1">
            <a:off x="4394249" y="1447774"/>
            <a:ext cx="1107740" cy="26161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rot="20771788">
            <a:off x="4684718" y="1573040"/>
            <a:ext cx="826376"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cs typeface="Times New Roman" panose="02020603050405020304" pitchFamily="18" charset="0"/>
              </a:rPr>
              <a:t>其他</a:t>
            </a:r>
          </a:p>
        </p:txBody>
      </p:sp>
      <p:cxnSp>
        <p:nvCxnSpPr>
          <p:cNvPr id="16412" name="肘形连接符 16411"/>
          <p:cNvCxnSpPr/>
          <p:nvPr/>
        </p:nvCxnSpPr>
        <p:spPr>
          <a:xfrm rot="16200000" flipH="1">
            <a:off x="2693676" y="1781392"/>
            <a:ext cx="1152128" cy="1008111"/>
          </a:xfrm>
          <a:prstGeom prst="bentConnector3">
            <a:avLst>
              <a:gd name="adj1" fmla="val 99935"/>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肘形连接符 82"/>
          <p:cNvCxnSpPr>
            <a:cxnSpLocks/>
          </p:cNvCxnSpPr>
          <p:nvPr/>
        </p:nvCxnSpPr>
        <p:spPr>
          <a:xfrm rot="16200000" flipH="1">
            <a:off x="3909173" y="3270341"/>
            <a:ext cx="1119119" cy="853272"/>
          </a:xfrm>
          <a:prstGeom prst="bentConnector3">
            <a:avLst>
              <a:gd name="adj1" fmla="val 97624"/>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3EE031A8-1008-4A05-B5FC-429C48B4BA2B}"/>
              </a:ext>
            </a:extLst>
          </p:cNvPr>
          <p:cNvSpPr/>
          <p:nvPr>
            <p:custDataLst>
              <p:tags r:id="rId2"/>
            </p:custDataLst>
          </p:nvPr>
        </p:nvSpPr>
        <p:spPr>
          <a:xfrm>
            <a:off x="207462" y="649239"/>
            <a:ext cx="1988274" cy="277654"/>
          </a:xfrm>
          <a:prstGeom prst="rect">
            <a:avLst/>
          </a:prstGeom>
          <a:solidFill>
            <a:schemeClr val="bg1">
              <a:lumMod val="95000"/>
            </a:schemeClr>
          </a:solidFill>
          <a:ln w="3175"/>
        </p:spPr>
        <p:style>
          <a:lnRef idx="2">
            <a:schemeClr val="accent1"/>
          </a:lnRef>
          <a:fillRef idx="1">
            <a:schemeClr val="lt1"/>
          </a:fillRef>
          <a:effectRef idx="0">
            <a:schemeClr val="accent1"/>
          </a:effectRef>
          <a:fontRef idx="minor">
            <a:schemeClr val="dk1"/>
          </a:fontRef>
        </p:style>
        <p:txBody>
          <a:bodyPr wrap="square">
            <a:noAutofit/>
          </a:bodyPr>
          <a:lstStyle/>
          <a:p>
            <a:pPr>
              <a:defRPr/>
            </a:pPr>
            <a:r>
              <a:rPr lang="en-US" altLang="zh-CN" sz="1500" dirty="0">
                <a:solidFill>
                  <a:schemeClr val="tx1"/>
                </a:solidFill>
              </a:rPr>
              <a:t>_num</a:t>
            </a:r>
            <a:r>
              <a:rPr lang="en-US" altLang="zh-CN" sz="1500" dirty="0">
                <a:solidFill>
                  <a:srgbClr val="00B050"/>
                </a:solidFill>
              </a:rPr>
              <a:t> </a:t>
            </a:r>
            <a:r>
              <a:rPr lang="en-US" altLang="zh-CN" sz="1500" dirty="0">
                <a:sym typeface="+mn-ea"/>
              </a:rPr>
              <a:t>=</a:t>
            </a:r>
            <a:r>
              <a:rPr lang="en-US" altLang="zh-CN" sz="1500" dirty="0">
                <a:solidFill>
                  <a:srgbClr val="C00000"/>
                </a:solidFill>
                <a:sym typeface="+mn-ea"/>
              </a:rPr>
              <a:t>120</a:t>
            </a:r>
            <a:r>
              <a:rPr lang="en-US" altLang="zh-CN" sz="1500" dirty="0">
                <a:sym typeface="+mn-ea"/>
              </a:rPr>
              <a:t>-</a:t>
            </a:r>
            <a:r>
              <a:rPr lang="en-US" altLang="zh-CN" sz="1500" dirty="0">
                <a:solidFill>
                  <a:srgbClr val="00B050"/>
                </a:solidFill>
                <a:sym typeface="+mn-ea"/>
              </a:rPr>
              <a:t>0x1A</a:t>
            </a:r>
            <a:r>
              <a:rPr lang="en-US" altLang="zh-CN" sz="1500" dirty="0">
                <a:sym typeface="+mn-ea"/>
              </a:rPr>
              <a:t>;</a:t>
            </a:r>
            <a:endParaRPr lang="en-US" altLang="zh-CN" sz="1500" dirty="0">
              <a:solidFill>
                <a:srgbClr val="00B050"/>
              </a:solidFill>
            </a:endParaRPr>
          </a:p>
        </p:txBody>
      </p:sp>
      <p:pic>
        <p:nvPicPr>
          <p:cNvPr id="5" name="图片 4">
            <a:extLst>
              <a:ext uri="{FF2B5EF4-FFF2-40B4-BE49-F238E27FC236}">
                <a16:creationId xmlns:a16="http://schemas.microsoft.com/office/drawing/2014/main" id="{DAF38BC3-D272-4363-8F86-82961413A818}"/>
              </a:ext>
            </a:extLst>
          </p:cNvPr>
          <p:cNvPicPr>
            <a:picLocks noChangeAspect="1"/>
          </p:cNvPicPr>
          <p:nvPr/>
        </p:nvPicPr>
        <p:blipFill>
          <a:blip r:embed="rId11"/>
          <a:stretch>
            <a:fillRect/>
          </a:stretch>
        </p:blipFill>
        <p:spPr>
          <a:xfrm>
            <a:off x="4788024" y="4337790"/>
            <a:ext cx="1152128" cy="752517"/>
          </a:xfrm>
          <a:prstGeom prst="rect">
            <a:avLst/>
          </a:prstGeom>
        </p:spPr>
      </p:pic>
      <p:sp>
        <p:nvSpPr>
          <p:cNvPr id="77" name="文本框 76">
            <a:extLst>
              <a:ext uri="{FF2B5EF4-FFF2-40B4-BE49-F238E27FC236}">
                <a16:creationId xmlns:a16="http://schemas.microsoft.com/office/drawing/2014/main" id="{BC4F0BFB-6F06-4E71-9068-5A33B4ADF96F}"/>
              </a:ext>
            </a:extLst>
          </p:cNvPr>
          <p:cNvSpPr txBox="1"/>
          <p:nvPr/>
        </p:nvSpPr>
        <p:spPr>
          <a:xfrm>
            <a:off x="6192488" y="1585725"/>
            <a:ext cx="2788444" cy="646331"/>
          </a:xfrm>
          <a:prstGeom prst="rect">
            <a:avLst/>
          </a:prstGeom>
          <a:solidFill>
            <a:srgbClr val="F5F7ED"/>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1200" dirty="0"/>
              <a:t>统计表明，现代软件系统中， </a:t>
            </a:r>
            <a:r>
              <a:rPr lang="en-US" altLang="zh-CN" sz="1200" dirty="0">
                <a:solidFill>
                  <a:srgbClr val="FF0000"/>
                </a:solidFill>
              </a:rPr>
              <a:t>75%</a:t>
            </a:r>
            <a:r>
              <a:rPr lang="zh-CN" altLang="en-US" sz="1200" dirty="0"/>
              <a:t>的程序代码都是用于处理错误与错误信息</a:t>
            </a:r>
          </a:p>
          <a:p>
            <a:r>
              <a:rPr lang="zh-CN" altLang="en-US" sz="1200" dirty="0"/>
              <a:t>应尽可能发现更多的错误</a:t>
            </a:r>
          </a:p>
        </p:txBody>
      </p:sp>
    </p:spTree>
    <p:extLst>
      <p:ext uri="{BB962C8B-B14F-4D97-AF65-F5344CB8AC3E}">
        <p14:creationId xmlns:p14="http://schemas.microsoft.com/office/powerpoint/2010/main" val="264798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39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7"/>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4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412"/>
                                        </p:tgtEl>
                                        <p:attrNameLst>
                                          <p:attrName>style.visibility</p:attrName>
                                        </p:attrNameLst>
                                      </p:cBhvr>
                                      <p:to>
                                        <p:strVal val="visible"/>
                                      </p:to>
                                    </p:set>
                                    <p:animEffect transition="in" filter="wipe(left)">
                                      <p:cBhvr>
                                        <p:cTn id="67" dur="1000"/>
                                        <p:tgtEl>
                                          <p:spTgt spid="16412"/>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nodeType="clickEffect">
                                  <p:stCondLst>
                                    <p:cond delay="0"/>
                                  </p:stCondLst>
                                  <p:childTnLst>
                                    <p:set>
                                      <p:cBhvr>
                                        <p:cTn id="71" dur="1" fill="hold">
                                          <p:stCondLst>
                                            <p:cond delay="0"/>
                                          </p:stCondLst>
                                        </p:cTn>
                                        <p:tgtEl>
                                          <p:spTgt spid="44"/>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45"/>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46"/>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49"/>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50"/>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51"/>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52"/>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53"/>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83"/>
                                        </p:tgtEl>
                                        <p:attrNameLst>
                                          <p:attrName>style.visibility</p:attrName>
                                        </p:attrNameLst>
                                      </p:cBhvr>
                                      <p:to>
                                        <p:strVal val="visible"/>
                                      </p:to>
                                    </p:set>
                                    <p:animEffect transition="in" filter="wipe(left)">
                                      <p:cBhvr>
                                        <p:cTn id="92" dur="1000"/>
                                        <p:tgtEl>
                                          <p:spTgt spid="83"/>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77"/>
                                        </p:tgtEl>
                                        <p:attrNameLst>
                                          <p:attrName>style.visibility</p:attrName>
                                        </p:attrNameLst>
                                      </p:cBhvr>
                                      <p:to>
                                        <p:strVal val="visible"/>
                                      </p:to>
                                    </p:set>
                                    <p:animEffect transition="in" filter="blinds(horizontal)">
                                      <p:cBhvr>
                                        <p:cTn id="101"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animBg="1"/>
      <p:bldP spid="7" grpId="1" animBg="1"/>
      <p:bldP spid="15" grpId="0"/>
      <p:bldP spid="42" grpId="0"/>
      <p:bldP spid="42" grpId="1"/>
      <p:bldP spid="43" grpId="0" animBg="1"/>
      <p:bldP spid="43" grpId="1" animBg="1"/>
      <p:bldP spid="45" grpId="0"/>
      <p:bldP spid="45" grpId="1"/>
      <p:bldP spid="46" grpId="0" animBg="1"/>
      <p:bldP spid="46" grpId="1" animBg="1"/>
      <p:bldP spid="48" grpId="0"/>
      <p:bldP spid="50" grpId="0"/>
      <p:bldP spid="50" grpId="1"/>
      <p:bldP spid="51" grpId="0" animBg="1"/>
      <p:bldP spid="51" grpId="1" animBg="1"/>
      <p:bldP spid="53" grpId="0"/>
      <p:bldP spid="53" grpId="1"/>
      <p:bldP spid="77"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55576" y="339502"/>
            <a:ext cx="6902524" cy="3757677"/>
          </a:xfrm>
        </p:spPr>
        <p:txBody>
          <a:bodyPr/>
          <a:lstStyle/>
          <a:p>
            <a:r>
              <a:rPr lang="zh-CN" altLang="en-US" sz="1800" b="1" dirty="0">
                <a:solidFill>
                  <a:schemeClr val="dk1"/>
                </a:solidFill>
                <a:latin typeface="微软雅黑" panose="020B0503020204020204" charset="-122"/>
                <a:ea typeface="微软雅黑" panose="020B0503020204020204" charset="-122"/>
                <a:cs typeface="微软雅黑" panose="020B0503020204020204" charset="-122"/>
                <a:sym typeface="+mn-ea"/>
              </a:rPr>
              <a:t>其他类型单词的构词规则（</a:t>
            </a:r>
            <a:r>
              <a:rPr lang="zh-CN" altLang="en-US" sz="1800" dirty="0">
                <a:latin typeface="微软雅黑" panose="020B0503020204020204" charset="-122"/>
                <a:ea typeface="微软雅黑" panose="020B0503020204020204" charset="-122"/>
                <a:sym typeface="+mn-ea"/>
              </a:rPr>
              <a:t>浮点数</a:t>
            </a:r>
            <a:r>
              <a:rPr lang="zh-CN" altLang="en-US" sz="1800" b="1"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en-US" altLang="zh-CN" sz="1800" b="1" dirty="0">
              <a:solidFill>
                <a:schemeClr val="dk1"/>
              </a:solidFill>
              <a:latin typeface="微软雅黑" panose="020B0503020204020204" charset="-122"/>
              <a:ea typeface="微软雅黑" panose="020B0503020204020204" charset="-122"/>
              <a:cs typeface="微软雅黑" panose="020B0503020204020204" charset="-122"/>
              <a:sym typeface="+mn-ea"/>
            </a:endParaRPr>
          </a:p>
          <a:p>
            <a:endParaRPr lang="zh-CN" altLang="en-US" sz="1500" b="1" dirty="0">
              <a:solidFill>
                <a:schemeClr val="dk1"/>
              </a:solidFill>
              <a:latin typeface="微软雅黑" panose="020B0503020204020204" charset="-122"/>
              <a:ea typeface="微软雅黑" panose="020B0503020204020204" charset="-122"/>
              <a:cs typeface="微软雅黑" panose="020B0503020204020204" charset="-122"/>
            </a:endParaRPr>
          </a:p>
          <a:p>
            <a:pPr marL="0" lvl="1" indent="0">
              <a:buNone/>
            </a:pPr>
            <a:r>
              <a:rPr lang="en-US" altLang="zh-CN" dirty="0">
                <a:latin typeface="微软雅黑" panose="020B0503020204020204" charset="-122"/>
                <a:ea typeface="微软雅黑" panose="020B0503020204020204" charset="-122"/>
                <a:cs typeface="微软雅黑" panose="020B0503020204020204" charset="-122"/>
              </a:rPr>
              <a:t>                     </a:t>
            </a:r>
            <a:endParaRPr lang="zh-CN" altLang="en-US" dirty="0">
              <a:latin typeface="微软雅黑" panose="020B0503020204020204" charset="-122"/>
              <a:ea typeface="微软雅黑" panose="020B0503020204020204" charset="-122"/>
              <a:cs typeface="微软雅黑" panose="020B0503020204020204" charset="-122"/>
            </a:endParaRPr>
          </a:p>
          <a:p>
            <a:pPr lvl="1"/>
            <a:endParaRPr lang="zh-CN" altLang="en-US" dirty="0">
              <a:latin typeface="微软雅黑" panose="020B0503020204020204" charset="-122"/>
              <a:ea typeface="微软雅黑" panose="020B0503020204020204" charset="-122"/>
              <a:cs typeface="微软雅黑" panose="020B0503020204020204" charset="-122"/>
            </a:endParaRPr>
          </a:p>
          <a:p>
            <a:pPr lvl="1"/>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2"/>
            </p:custDataLst>
          </p:nvPr>
        </p:nvSpPr>
        <p:spPr>
          <a:xfrm>
            <a:off x="971600" y="773070"/>
            <a:ext cx="7344816" cy="2302736"/>
          </a:xfrm>
          <a:prstGeom prst="rect">
            <a:avLst/>
          </a:prstGeom>
          <a:solidFill>
            <a:schemeClr val="bg2">
              <a:lumMod val="75000"/>
            </a:schemeClr>
          </a:solidFill>
          <a:effectLst>
            <a:outerShdw blurRad="50800" dist="38100" dir="2700000" algn="tl" rotWithShape="0">
              <a:prstClr val="black">
                <a:alpha val="40000"/>
              </a:prstClr>
            </a:outerShdw>
          </a:effectLst>
        </p:spPr>
        <p:txBody>
          <a:bodyPr wrap="square" rtlCol="0" anchor="t">
            <a:noAutofit/>
          </a:bodyPr>
          <a:lstStyle/>
          <a:p>
            <a:pPr eaLnBrk="1" hangingPunct="1">
              <a:lnSpc>
                <a:spcPct val="150000"/>
              </a:lnSpc>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（1）小数点前面是整数部分：①单个的0</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②如果有多位数字，则是一个以1</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9开头、后跟0</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9的任意多个数字；</a:t>
            </a:r>
          </a:p>
          <a:p>
            <a:pPr eaLnBrk="1" hangingPunct="1">
              <a:lnSpc>
                <a:spcPct val="150000"/>
              </a:lnSpc>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（2）小数部分，从小数点开始，是可选的，小数点后跟1到多个0</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9的任意数字；</a:t>
            </a:r>
          </a:p>
          <a:p>
            <a:pPr eaLnBrk="1" hangingPunct="1">
              <a:lnSpc>
                <a:spcPct val="150000"/>
              </a:lnSpc>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（3）指数部分，从e/E开始，也是可选的，是e/E后面跟上可选的+/-，后跟1到多个0</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9的任意数字。</a:t>
            </a:r>
          </a:p>
          <a:p>
            <a:pPr eaLnBrk="1" hangingPunct="1">
              <a:lnSpc>
                <a:spcPct val="150000"/>
              </a:lnSpc>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例如：</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0.239</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sym typeface="+mn-ea"/>
              </a:rPr>
              <a:t>4.53e-12</a:t>
            </a:r>
          </a:p>
        </p:txBody>
      </p:sp>
      <p:graphicFrame>
        <p:nvGraphicFramePr>
          <p:cNvPr id="30724" name="Object 22"/>
          <p:cNvGraphicFramePr>
            <a:graphicFrameLocks noGrp="1" noChangeAspect="1"/>
          </p:cNvGraphicFramePr>
          <p:nvPr>
            <p:ph sz="quarter" idx="2"/>
            <p:extLst>
              <p:ext uri="{D42A27DB-BD31-4B8C-83A1-F6EECF244321}">
                <p14:modId xmlns:p14="http://schemas.microsoft.com/office/powerpoint/2010/main" val="2128383630"/>
              </p:ext>
            </p:extLst>
          </p:nvPr>
        </p:nvGraphicFramePr>
        <p:xfrm>
          <a:off x="827584" y="3147814"/>
          <a:ext cx="5581612" cy="1503377"/>
        </p:xfrm>
        <a:graphic>
          <a:graphicData uri="http://schemas.openxmlformats.org/presentationml/2006/ole">
            <mc:AlternateContent xmlns:mc="http://schemas.openxmlformats.org/markup-compatibility/2006">
              <mc:Choice xmlns:v="urn:schemas-microsoft-com:vml" Requires="v">
                <p:oleObj spid="_x0000_s14360" r:id="rId4" imgW="4514850" imgH="1216660" progId="Visio.Drawing.11">
                  <p:embed/>
                </p:oleObj>
              </mc:Choice>
              <mc:Fallback>
                <p:oleObj r:id="rId4" imgW="4514850" imgH="1216660" progId="Visio.Drawing.11">
                  <p:embed/>
                  <p:pic>
                    <p:nvPicPr>
                      <p:cNvPr id="30724" name="Object 22"/>
                      <p:cNvPicPr/>
                      <p:nvPr/>
                    </p:nvPicPr>
                    <p:blipFill>
                      <a:blip r:embed="rId5"/>
                      <a:srcRect/>
                      <a:stretch>
                        <a:fillRect/>
                      </a:stretch>
                    </p:blipFill>
                    <p:spPr>
                      <a:xfrm>
                        <a:off x="827584" y="3147814"/>
                        <a:ext cx="5581612" cy="1503377"/>
                      </a:xfrm>
                      <a:prstGeom prst="rect">
                        <a:avLst/>
                      </a:prstGeom>
                      <a:noFill/>
                      <a:ln w="38100">
                        <a:miter/>
                      </a:ln>
                    </p:spPr>
                  </p:pic>
                </p:oleObj>
              </mc:Fallback>
            </mc:AlternateContent>
          </a:graphicData>
        </a:graphic>
      </p:graphicFrame>
      <p:graphicFrame>
        <p:nvGraphicFramePr>
          <p:cNvPr id="21" name="对象 20">
            <a:extLst>
              <a:ext uri="{FF2B5EF4-FFF2-40B4-BE49-F238E27FC236}">
                <a16:creationId xmlns:a16="http://schemas.microsoft.com/office/drawing/2014/main" id="{C8B0DDF1-F19B-4F0C-B046-F7F2D8290432}"/>
              </a:ext>
            </a:extLst>
          </p:cNvPr>
          <p:cNvGraphicFramePr>
            <a:graphicFrameLocks noChangeAspect="1"/>
          </p:cNvGraphicFramePr>
          <p:nvPr>
            <p:extLst>
              <p:ext uri="{D42A27DB-BD31-4B8C-83A1-F6EECF244321}">
                <p14:modId xmlns:p14="http://schemas.microsoft.com/office/powerpoint/2010/main" val="4265379877"/>
              </p:ext>
            </p:extLst>
          </p:nvPr>
        </p:nvGraphicFramePr>
        <p:xfrm>
          <a:off x="1741080" y="3187352"/>
          <a:ext cx="7344816" cy="1904677"/>
        </p:xfrm>
        <a:graphic>
          <a:graphicData uri="http://schemas.openxmlformats.org/presentationml/2006/ole">
            <mc:AlternateContent xmlns:mc="http://schemas.openxmlformats.org/markup-compatibility/2006">
              <mc:Choice xmlns:v="urn:schemas-microsoft-com:vml" Requires="v">
                <p:oleObj spid="_x0000_s14361" name="Visio" r:id="rId6" imgW="4636844" imgH="1201824" progId="Visio.Drawing.11">
                  <p:embed/>
                </p:oleObj>
              </mc:Choice>
              <mc:Fallback>
                <p:oleObj name="Visio" r:id="rId6" imgW="4636844" imgH="1201824" progId="Visio.Drawing.11">
                  <p:embed/>
                  <p:pic>
                    <p:nvPicPr>
                      <p:cNvPr id="3" name="对象 2"/>
                      <p:cNvPicPr>
                        <a:picLocks noChangeAspect="1" noChangeArrowheads="1"/>
                      </p:cNvPicPr>
                      <p:nvPr/>
                    </p:nvPicPr>
                    <p:blipFill>
                      <a:blip r:embed="rId7"/>
                      <a:srcRect/>
                      <a:stretch>
                        <a:fillRect/>
                      </a:stretch>
                    </p:blipFill>
                    <p:spPr bwMode="auto">
                      <a:xfrm>
                        <a:off x="1741080" y="3187352"/>
                        <a:ext cx="7344816" cy="1904677"/>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ppt_x"/>
                                          </p:val>
                                        </p:tav>
                                        <p:tav tm="100000">
                                          <p:val>
                                            <p:strVal val="#ppt_x"/>
                                          </p:val>
                                        </p:tav>
                                      </p:tavLst>
                                    </p:anim>
                                    <p:anim calcmode="lin" valueType="num">
                                      <p:cBhvr additive="base">
                                        <p:cTn id="8"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30724"/>
                                        </p:tgtEl>
                                        <p:attrNameLst>
                                          <p:attrName>ppt_x</p:attrName>
                                        </p:attrNameLst>
                                      </p:cBhvr>
                                      <p:tavLst>
                                        <p:tav tm="0">
                                          <p:val>
                                            <p:strVal val="ppt_x"/>
                                          </p:val>
                                        </p:tav>
                                        <p:tav tm="100000">
                                          <p:val>
                                            <p:strVal val="ppt_x"/>
                                          </p:val>
                                        </p:tav>
                                      </p:tavLst>
                                    </p:anim>
                                    <p:anim calcmode="lin" valueType="num">
                                      <p:cBhvr additive="base">
                                        <p:cTn id="13" dur="500"/>
                                        <p:tgtEl>
                                          <p:spTgt spid="30724"/>
                                        </p:tgtEl>
                                        <p:attrNameLst>
                                          <p:attrName>ppt_y</p:attrName>
                                        </p:attrNameLst>
                                      </p:cBhvr>
                                      <p:tavLst>
                                        <p:tav tm="0">
                                          <p:val>
                                            <p:strVal val="ppt_y"/>
                                          </p:val>
                                        </p:tav>
                                        <p:tav tm="100000">
                                          <p:val>
                                            <p:strVal val="1+ppt_h/2"/>
                                          </p:val>
                                        </p:tav>
                                      </p:tavLst>
                                    </p:anim>
                                    <p:set>
                                      <p:cBhvr>
                                        <p:cTn id="14" dur="1" fill="hold">
                                          <p:stCondLst>
                                            <p:cond delay="499"/>
                                          </p:stCondLst>
                                        </p:cTn>
                                        <p:tgtEl>
                                          <p:spTgt spid="3072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1"/>
          <p:cNvSpPr txBox="1"/>
          <p:nvPr/>
        </p:nvSpPr>
        <p:spPr>
          <a:xfrm>
            <a:off x="4572000" y="3003798"/>
            <a:ext cx="3888432" cy="1584175"/>
          </a:xfrm>
          <a:prstGeom prst="rect">
            <a:avLst/>
          </a:prstGeom>
          <a:solidFill>
            <a:srgbClr val="F9F9F9"/>
          </a:solidFill>
        </p:spPr>
        <p:style>
          <a:lnRef idx="1">
            <a:schemeClr val="accent4"/>
          </a:lnRef>
          <a:fillRef idx="2">
            <a:schemeClr val="accent4"/>
          </a:fillRef>
          <a:effectRef idx="1">
            <a:schemeClr val="accent4"/>
          </a:effectRef>
          <a:fontRef idx="minor">
            <a:schemeClr val="dk1"/>
          </a:fontRef>
        </p:style>
        <p:txBody>
          <a:bodyPr vert="horz" wrap="square" lIns="67628" tIns="35243" rIns="67628" bIns="35243"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400" u="none" strike="noStrike" kern="1200" cap="none" spc="150" normalizeH="0" baseline="0">
                <a:solidFill>
                  <a:schemeClr val="dk1"/>
                </a:solidFill>
                <a:uFillTx/>
                <a:latin typeface="宋体" panose="02010600030101010101" pitchFamily="2" charset="-122"/>
                <a:ea typeface="宋体" panose="02010600030101010101" pitchFamily="2"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200" u="none" strike="noStrike" kern="1200" cap="none" spc="150" normalizeH="0" baseline="0">
                <a:solidFill>
                  <a:schemeClr val="dk1"/>
                </a:solidFill>
                <a:uFillTx/>
                <a:latin typeface="宋体" panose="02010600030101010101" pitchFamily="2" charset="-122"/>
                <a:ea typeface="宋体" panose="02010600030101010101" pitchFamily="2"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2000" u="none" strike="noStrike" kern="1200" cap="none" spc="150" normalizeH="0" baseline="0">
                <a:solidFill>
                  <a:schemeClr val="dk1"/>
                </a:solidFill>
                <a:uFillTx/>
                <a:latin typeface="宋体" panose="02010600030101010101" pitchFamily="2" charset="-122"/>
                <a:ea typeface="宋体" panose="02010600030101010101" pitchFamily="2"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2000" u="none" strike="noStrike" kern="1200" cap="none" spc="150" normalizeH="0" baseline="0">
                <a:solidFill>
                  <a:schemeClr val="dk1"/>
                </a:solidFill>
                <a:uFillTx/>
                <a:latin typeface="宋体" panose="02010600030101010101" pitchFamily="2" charset="-122"/>
                <a:ea typeface="宋体" panose="02010600030101010101" pitchFamily="2"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2000" u="none" strike="noStrike" kern="1200" cap="none" spc="150" normalizeH="0" baseline="0">
                <a:solidFill>
                  <a:schemeClr val="dk1"/>
                </a:solidFill>
                <a:uFillTx/>
                <a:latin typeface="宋体" panose="02010600030101010101" pitchFamily="2" charset="-122"/>
                <a:ea typeface="宋体" panose="02010600030101010101" pitchFamily="2"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9pPr>
          </a:lstStyle>
          <a:p>
            <a:r>
              <a:rPr lang="zh-CN" altLang="en-US" sz="1500" dirty="0">
                <a:solidFill>
                  <a:srgbClr val="0000FF"/>
                </a:solidFill>
                <a:latin typeface="微软雅黑" panose="020B0503020204020204" charset="-122"/>
                <a:ea typeface="微软雅黑" panose="020B0503020204020204" charset="-122"/>
                <a:cs typeface="微软雅黑" panose="020B0503020204020204" charset="-122"/>
              </a:rPr>
              <a:t>其他阅读材料：</a:t>
            </a:r>
            <a:endParaRPr lang="en-US" altLang="zh-CN" sz="1500" dirty="0">
              <a:solidFill>
                <a:srgbClr val="0000FF"/>
              </a:solidFill>
              <a:latin typeface="微软雅黑" panose="020B0503020204020204" charset="-122"/>
              <a:ea typeface="微软雅黑" panose="020B0503020204020204" charset="-122"/>
              <a:cs typeface="微软雅黑" panose="020B0503020204020204" charset="-122"/>
            </a:endParaRPr>
          </a:p>
          <a:p>
            <a:pPr marL="257175" lvl="1" indent="0">
              <a:buNone/>
            </a:pPr>
            <a:r>
              <a:rPr lang="zh-CN" altLang="en-US" sz="1350" dirty="0">
                <a:latin typeface="微软雅黑" panose="020B0503020204020204" charset="-122"/>
                <a:ea typeface="微软雅黑" panose="020B0503020204020204" charset="-122"/>
                <a:cs typeface="微软雅黑" panose="020B0503020204020204" charset="-122"/>
              </a:rPr>
              <a:t>软件</a:t>
            </a:r>
            <a:r>
              <a:rPr lang="en-US" altLang="zh-CN" sz="1350" dirty="0">
                <a:latin typeface="微软雅黑" panose="020B0503020204020204" charset="-122"/>
                <a:ea typeface="微软雅黑" panose="020B0503020204020204" charset="-122"/>
                <a:cs typeface="微软雅黑" panose="020B0503020204020204" charset="-122"/>
              </a:rPr>
              <a:t>Bug</a:t>
            </a:r>
            <a:r>
              <a:rPr lang="zh-CN" altLang="en-US" sz="1350" dirty="0">
                <a:latin typeface="微软雅黑" panose="020B0503020204020204" charset="-122"/>
                <a:ea typeface="微软雅黑" panose="020B0503020204020204" charset="-122"/>
                <a:cs typeface="微软雅黑" panose="020B0503020204020204" charset="-122"/>
              </a:rPr>
              <a:t>带来的</a:t>
            </a:r>
            <a:r>
              <a:rPr lang="en-US" altLang="zh-CN" sz="1350" dirty="0">
                <a:latin typeface="微软雅黑" panose="020B0503020204020204" charset="-122"/>
                <a:ea typeface="微软雅黑" panose="020B0503020204020204" charset="-122"/>
                <a:cs typeface="微软雅黑" panose="020B0503020204020204" charset="-122"/>
              </a:rPr>
              <a:t>18</a:t>
            </a:r>
            <a:r>
              <a:rPr lang="zh-CN" altLang="en-US" sz="1350" dirty="0">
                <a:latin typeface="微软雅黑" panose="020B0503020204020204" charset="-122"/>
                <a:ea typeface="微软雅黑" panose="020B0503020204020204" charset="-122"/>
                <a:cs typeface="微软雅黑" panose="020B0503020204020204" charset="-122"/>
              </a:rPr>
              <a:t>个重大事故：</a:t>
            </a:r>
            <a:r>
              <a:rPr lang="en-US" altLang="zh-CN" sz="900" dirty="0">
                <a:latin typeface="微软雅黑" panose="020B0503020204020204" charset="-122"/>
                <a:ea typeface="微软雅黑" panose="020B0503020204020204" charset="-122"/>
                <a:cs typeface="微软雅黑" panose="020B0503020204020204" charset="-122"/>
              </a:rPr>
              <a:t> </a:t>
            </a:r>
            <a:r>
              <a:rPr lang="en-US" altLang="zh-CN" sz="1050" dirty="0">
                <a:latin typeface="微软雅黑" panose="020B0503020204020204" charset="-122"/>
                <a:ea typeface="微软雅黑" panose="020B0503020204020204" charset="-122"/>
                <a:cs typeface="微软雅黑" panose="020B0503020204020204" charset="-122"/>
                <a:hlinkClick r:id="rId4"/>
              </a:rPr>
              <a:t>https://m.sohu.com/n/464524773/?mv=3&amp;partner=sjcl</a:t>
            </a:r>
            <a:endParaRPr lang="en-US" altLang="zh-CN" sz="1050" dirty="0">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5"/>
          <a:stretch>
            <a:fillRect/>
          </a:stretch>
        </p:blipFill>
        <p:spPr>
          <a:xfrm>
            <a:off x="4499992" y="193528"/>
            <a:ext cx="4104456" cy="2303085"/>
          </a:xfrm>
          <a:prstGeom prst="rect">
            <a:avLst/>
          </a:prstGeom>
        </p:spPr>
      </p:pic>
      <p:pic>
        <p:nvPicPr>
          <p:cNvPr id="8" name="图片 7"/>
          <p:cNvPicPr>
            <a:picLocks noChangeAspect="1"/>
          </p:cNvPicPr>
          <p:nvPr/>
        </p:nvPicPr>
        <p:blipFill>
          <a:blip r:embed="rId6"/>
          <a:srcRect b="60327"/>
          <a:stretch>
            <a:fillRect/>
          </a:stretch>
        </p:blipFill>
        <p:spPr>
          <a:xfrm>
            <a:off x="323528" y="195486"/>
            <a:ext cx="3987387" cy="1848327"/>
          </a:xfrm>
          <a:prstGeom prst="rect">
            <a:avLst/>
          </a:prstGeom>
          <a:effectLst>
            <a:outerShdw blurRad="50800" dist="38100" dir="2700000" algn="tl" rotWithShape="0">
              <a:prstClr val="black">
                <a:alpha val="40000"/>
              </a:prstClr>
            </a:outerShdw>
          </a:effectLst>
        </p:spPr>
      </p:pic>
      <p:pic>
        <p:nvPicPr>
          <p:cNvPr id="5" name="图片 4"/>
          <p:cNvPicPr>
            <a:picLocks noChangeAspect="1"/>
          </p:cNvPicPr>
          <p:nvPr>
            <p:custDataLst>
              <p:tags r:id="rId1"/>
            </p:custDataLst>
          </p:nvPr>
        </p:nvPicPr>
        <p:blipFill>
          <a:blip r:embed="rId7"/>
          <a:stretch>
            <a:fillRect/>
          </a:stretch>
        </p:blipFill>
        <p:spPr>
          <a:xfrm>
            <a:off x="323527" y="2176040"/>
            <a:ext cx="3987387" cy="2640345"/>
          </a:xfrm>
          <a:prstGeom prst="rect">
            <a:avLst/>
          </a:prstGeom>
          <a:effectLst>
            <a:outerShdw blurRad="50800" dist="38100" dir="2700000" algn="tl" rotWithShape="0">
              <a:prstClr val="black">
                <a:alpha val="40000"/>
              </a:prstClr>
            </a:outerShdw>
          </a:effectLst>
        </p:spPr>
      </p:pic>
    </p:spTree>
  </p:cSld>
  <p:clrMapOvr>
    <a:masterClrMapping/>
  </p:clrMapOvr>
  <p:transition advTm="54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4371949"/>
            <a:ext cx="8229600" cy="133519"/>
          </a:xfrm>
        </p:spPr>
        <p:txBody>
          <a:bodyPr>
            <a:normAutofit fontScale="25000" lnSpcReduction="20000"/>
          </a:bodyPr>
          <a:lstStyle/>
          <a:p>
            <a:endParaRPr lang="zh-CN" altLang="en-US" dirty="0"/>
          </a:p>
        </p:txBody>
      </p:sp>
      <p:sp>
        <p:nvSpPr>
          <p:cNvPr id="3" name="标题 2"/>
          <p:cNvSpPr>
            <a:spLocks noGrp="1"/>
          </p:cNvSpPr>
          <p:nvPr>
            <p:ph type="title"/>
          </p:nvPr>
        </p:nvSpPr>
        <p:spPr/>
        <p:txBody>
          <a:bodyPr>
            <a:normAutofit fontScale="90000"/>
          </a:bodyPr>
          <a:lstStyle/>
          <a:p>
            <a:r>
              <a:rPr lang="zh-CN" altLang="en-US" dirty="0"/>
              <a:t>数值型数据的状态转换图的进一步细化</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nvPr>
        </p:nvGraphicFramePr>
        <p:xfrm>
          <a:off x="-180528" y="1491630"/>
          <a:ext cx="9752223" cy="2592288"/>
        </p:xfrm>
        <a:graphic>
          <a:graphicData uri="http://schemas.openxmlformats.org/presentationml/2006/ole">
            <mc:AlternateContent xmlns:mc="http://schemas.openxmlformats.org/markup-compatibility/2006">
              <mc:Choice xmlns:v="urn:schemas-microsoft-com:vml" Requires="v">
                <p:oleObj spid="_x0000_s38923" name="Visio" r:id="rId3" imgW="5215802" imgH="1383912" progId="Visio.Drawing.11">
                  <p:embed/>
                </p:oleObj>
              </mc:Choice>
              <mc:Fallback>
                <p:oleObj name="Visio" r:id="rId3" imgW="5215802" imgH="1383912" progId="Visio.Drawing.11">
                  <p:embed/>
                  <p:pic>
                    <p:nvPicPr>
                      <p:cNvPr id="5" name="对象 4"/>
                      <p:cNvPicPr>
                        <a:picLocks noChangeAspect="1" noChangeArrowheads="1"/>
                      </p:cNvPicPr>
                      <p:nvPr/>
                    </p:nvPicPr>
                    <p:blipFill>
                      <a:blip r:embed="rId4"/>
                      <a:srcRect/>
                      <a:stretch>
                        <a:fillRect/>
                      </a:stretch>
                    </p:blipFill>
                    <p:spPr bwMode="auto">
                      <a:xfrm>
                        <a:off x="-180528" y="1491630"/>
                        <a:ext cx="9752223" cy="2592288"/>
                      </a:xfrm>
                      <a:prstGeom prst="rect">
                        <a:avLst/>
                      </a:prstGeom>
                      <a:noFill/>
                    </p:spPr>
                  </p:pic>
                </p:oleObj>
              </mc:Fallback>
            </mc:AlternateContent>
          </a:graphicData>
        </a:graphic>
      </p:graphicFrame>
    </p:spTree>
    <p:extLst>
      <p:ext uri="{BB962C8B-B14F-4D97-AF65-F5344CB8AC3E}">
        <p14:creationId xmlns:p14="http://schemas.microsoft.com/office/powerpoint/2010/main" val="4033848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21508" name="矩形 7"/>
          <p:cNvSpPr>
            <a:spLocks noChangeArrowheads="1"/>
          </p:cNvSpPr>
          <p:nvPr/>
        </p:nvSpPr>
        <p:spPr bwMode="auto">
          <a:xfrm>
            <a:off x="3059832" y="4691920"/>
            <a:ext cx="58079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zh-CN" altLang="zh-CN" sz="2000"/>
              <a:t>合并后的</a:t>
            </a:r>
            <a:r>
              <a:rPr lang="en-US" altLang="zh-CN" sz="2000"/>
              <a:t>Sample</a:t>
            </a:r>
            <a:r>
              <a:rPr lang="zh-CN" altLang="zh-CN" sz="2000"/>
              <a:t>语言数值型常数的识别</a:t>
            </a:r>
            <a:endParaRPr lang="zh-CN" altLang="en-US" sz="2000"/>
          </a:p>
        </p:txBody>
      </p:sp>
      <p:sp>
        <p:nvSpPr>
          <p:cNvPr id="5" name="标题 1"/>
          <p:cNvSpPr txBox="1">
            <a:spLocks/>
          </p:cNvSpPr>
          <p:nvPr/>
        </p:nvSpPr>
        <p:spPr>
          <a:xfrm>
            <a:off x="457200" y="51470"/>
            <a:ext cx="8229600" cy="72008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defRPr/>
            </a:pPr>
            <a:r>
              <a:rPr lang="zh-CN" altLang="en-US" kern="0" dirty="0"/>
              <a:t>整数和浮点数的合并</a:t>
            </a:r>
          </a:p>
        </p:txBody>
      </p:sp>
      <p:sp>
        <p:nvSpPr>
          <p:cNvPr id="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nvPr>
        </p:nvGraphicFramePr>
        <p:xfrm>
          <a:off x="179512" y="483518"/>
          <a:ext cx="9064598" cy="4270124"/>
        </p:xfrm>
        <a:graphic>
          <a:graphicData uri="http://schemas.openxmlformats.org/presentationml/2006/ole">
            <mc:AlternateContent xmlns:mc="http://schemas.openxmlformats.org/markup-compatibility/2006">
              <mc:Choice xmlns:v="urn:schemas-microsoft-com:vml" Requires="v">
                <p:oleObj spid="_x0000_s39947" name="Visio" r:id="rId3" imgW="5154950" imgH="2433672" progId="Visio.Drawing.11">
                  <p:embed/>
                </p:oleObj>
              </mc:Choice>
              <mc:Fallback>
                <p:oleObj name="Visio" r:id="rId3" imgW="5154950" imgH="2433672" progId="Visio.Drawing.11">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483518"/>
                        <a:ext cx="9064598" cy="4270124"/>
                      </a:xfrm>
                      <a:prstGeom prst="rect">
                        <a:avLst/>
                      </a:prstGeom>
                      <a:noFill/>
                    </p:spPr>
                  </p:pic>
                </p:oleObj>
              </mc:Fallback>
            </mc:AlternateContent>
          </a:graphicData>
        </a:graphic>
      </p:graphicFrame>
    </p:spTree>
    <p:extLst>
      <p:ext uri="{BB962C8B-B14F-4D97-AF65-F5344CB8AC3E}">
        <p14:creationId xmlns:p14="http://schemas.microsoft.com/office/powerpoint/2010/main" val="1197643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4"/>
          <p:cNvGraphicFramePr>
            <a:graphicFrameLocks noChangeAspect="1"/>
          </p:cNvGraphicFramePr>
          <p:nvPr>
            <p:extLst/>
          </p:nvPr>
        </p:nvGraphicFramePr>
        <p:xfrm>
          <a:off x="3707904" y="-6025"/>
          <a:ext cx="4248472" cy="5149525"/>
        </p:xfrm>
        <a:graphic>
          <a:graphicData uri="http://schemas.openxmlformats.org/presentationml/2006/ole">
            <mc:AlternateContent xmlns:mc="http://schemas.openxmlformats.org/markup-compatibility/2006">
              <mc:Choice xmlns:v="urn:schemas-microsoft-com:vml" Requires="v">
                <p:oleObj spid="_x0000_s40971" name="BMP 图像" r:id="rId4" imgW="2339280" imgH="2735640" progId="Paint.Picture">
                  <p:embed/>
                </p:oleObj>
              </mc:Choice>
              <mc:Fallback>
                <p:oleObj name="BMP 图像" r:id="rId4" imgW="2339280" imgH="2735640" progId="Paint.Picture">
                  <p:embed/>
                  <p:pic>
                    <p:nvPicPr>
                      <p:cNvPr id="22530" name="Object 4"/>
                      <p:cNvPicPr>
                        <a:picLocks noChangeAspect="1" noChangeArrowheads="1"/>
                      </p:cNvPicPr>
                      <p:nvPr/>
                    </p:nvPicPr>
                    <p:blipFill>
                      <a:blip r:embed="rId5"/>
                      <a:srcRect/>
                      <a:stretch>
                        <a:fillRect/>
                      </a:stretch>
                    </p:blipFill>
                    <p:spPr bwMode="auto">
                      <a:xfrm>
                        <a:off x="3707904" y="-6025"/>
                        <a:ext cx="4248472" cy="5149525"/>
                      </a:xfrm>
                      <a:prstGeom prst="rect">
                        <a:avLst/>
                      </a:prstGeom>
                      <a:noFill/>
                      <a:ln>
                        <a:noFill/>
                      </a:ln>
                      <a:effectLst/>
                    </p:spPr>
                  </p:pic>
                </p:oleObj>
              </mc:Fallback>
            </mc:AlternateContent>
          </a:graphicData>
        </a:graphic>
      </p:graphicFrame>
      <p:sp>
        <p:nvSpPr>
          <p:cNvPr id="12293" name="Rectangle 5"/>
          <p:cNvSpPr>
            <a:spLocks noChangeArrowheads="1"/>
          </p:cNvSpPr>
          <p:nvPr/>
        </p:nvSpPr>
        <p:spPr bwMode="auto">
          <a:xfrm>
            <a:off x="0" y="2864574"/>
            <a:ext cx="296832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en-US" sz="2200" dirty="0">
                <a:solidFill>
                  <a:srgbClr val="0000CC"/>
                </a:solidFill>
                <a:latin typeface="楷体_GB2312" pitchFamily="49" charset="-122"/>
                <a:ea typeface="楷体_GB2312" pitchFamily="49" charset="-122"/>
              </a:rPr>
              <a:t>状态转换图的实现：使用一个</a:t>
            </a:r>
            <a:r>
              <a:rPr lang="en-US" altLang="zh-CN" sz="2200" dirty="0">
                <a:solidFill>
                  <a:srgbClr val="0000CC"/>
                </a:solidFill>
                <a:latin typeface="楷体_GB2312" pitchFamily="49" charset="-122"/>
                <a:ea typeface="楷体_GB2312" pitchFamily="49" charset="-122"/>
              </a:rPr>
              <a:t>switch case </a:t>
            </a:r>
            <a:r>
              <a:rPr lang="zh-CN" altLang="en-US" sz="2200" dirty="0">
                <a:solidFill>
                  <a:srgbClr val="0000CC"/>
                </a:solidFill>
                <a:latin typeface="楷体_GB2312" pitchFamily="49" charset="-122"/>
                <a:ea typeface="楷体_GB2312" pitchFamily="49" charset="-122"/>
              </a:rPr>
              <a:t>语句：每条分支对应一个</a:t>
            </a:r>
            <a:r>
              <a:rPr lang="en-US" altLang="zh-CN" sz="2200" dirty="0">
                <a:solidFill>
                  <a:srgbClr val="0000CC"/>
                </a:solidFill>
                <a:latin typeface="楷体_GB2312" pitchFamily="49" charset="-122"/>
                <a:ea typeface="楷体_GB2312" pitchFamily="49" charset="-122"/>
              </a:rPr>
              <a:t>case</a:t>
            </a:r>
            <a:r>
              <a:rPr lang="zh-CN" altLang="en-US" sz="2200" dirty="0">
                <a:solidFill>
                  <a:srgbClr val="0000CC"/>
                </a:solidFill>
                <a:latin typeface="楷体_GB2312" pitchFamily="49" charset="-122"/>
                <a:ea typeface="楷体_GB2312" pitchFamily="49" charset="-122"/>
              </a:rPr>
              <a:t>语句段</a:t>
            </a:r>
          </a:p>
        </p:txBody>
      </p:sp>
      <p:sp>
        <p:nvSpPr>
          <p:cNvPr id="22532" name="Text Box 7"/>
          <p:cNvSpPr txBox="1">
            <a:spLocks noChangeArrowheads="1"/>
          </p:cNvSpPr>
          <p:nvPr/>
        </p:nvSpPr>
        <p:spPr bwMode="auto">
          <a:xfrm>
            <a:off x="2827" y="14287"/>
            <a:ext cx="3048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zh-CN" altLang="en-US" sz="2200" dirty="0"/>
              <a:t>某高级语言的全部单词的状态转换图</a:t>
            </a:r>
          </a:p>
        </p:txBody>
      </p:sp>
    </p:spTree>
    <p:extLst>
      <p:ext uri="{BB962C8B-B14F-4D97-AF65-F5344CB8AC3E}">
        <p14:creationId xmlns:p14="http://schemas.microsoft.com/office/powerpoint/2010/main" val="2957697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 calcmode="lin" valueType="num">
                                      <p:cBhvr additive="base">
                                        <p:cTn id="7" dur="500" fill="hold"/>
                                        <p:tgtEl>
                                          <p:spTgt spid="12293"/>
                                        </p:tgtEl>
                                        <p:attrNameLst>
                                          <p:attrName>ppt_x</p:attrName>
                                        </p:attrNameLst>
                                      </p:cBhvr>
                                      <p:tavLst>
                                        <p:tav tm="0">
                                          <p:val>
                                            <p:strVal val="1+#ppt_w/2"/>
                                          </p:val>
                                        </p:tav>
                                        <p:tav tm="100000">
                                          <p:val>
                                            <p:strVal val="#ppt_x"/>
                                          </p:val>
                                        </p:tav>
                                      </p:tavLst>
                                    </p:anim>
                                    <p:anim calcmode="lin" valueType="num">
                                      <p:cBhvr additive="base">
                                        <p:cTn id="8" dur="500" fill="hold"/>
                                        <p:tgtEl>
                                          <p:spTgt spid="122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4"/>
          <p:cNvSpPr>
            <a:spLocks noChangeArrowheads="1"/>
          </p:cNvSpPr>
          <p:nvPr>
            <p:custDataLst>
              <p:tags r:id="rId2"/>
            </p:custDataLst>
          </p:nvPr>
        </p:nvSpPr>
        <p:spPr bwMode="auto">
          <a:xfrm>
            <a:off x="1767514" y="1056312"/>
            <a:ext cx="528593" cy="269297"/>
          </a:xfrm>
          <a:prstGeom prst="roundRect">
            <a:avLst>
              <a:gd name="adj" fmla="val 16667"/>
            </a:avLst>
          </a:prstGeom>
          <a:solidFill>
            <a:schemeClr val="bg1">
              <a:alpha val="50195"/>
            </a:schemeClr>
          </a:solidFill>
          <a:ln w="9525">
            <a:solidFill>
              <a:srgbClr val="FFFFFF"/>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源程序</a:t>
            </a:r>
          </a:p>
        </p:txBody>
      </p:sp>
      <p:sp>
        <p:nvSpPr>
          <p:cNvPr id="25" name="AutoShape 6"/>
          <p:cNvSpPr>
            <a:spLocks noChangeArrowheads="1"/>
          </p:cNvSpPr>
          <p:nvPr>
            <p:custDataLst>
              <p:tags r:id="rId3"/>
            </p:custDataLst>
          </p:nvPr>
        </p:nvSpPr>
        <p:spPr bwMode="auto">
          <a:xfrm>
            <a:off x="2347122" y="1178023"/>
            <a:ext cx="341989" cy="77423"/>
          </a:xfrm>
          <a:prstGeom prst="rightArrow">
            <a:avLst>
              <a:gd name="adj1" fmla="val 50000"/>
              <a:gd name="adj2" fmla="val 128448"/>
            </a:avLst>
          </a:prstGeom>
          <a:solidFill>
            <a:srgbClr val="66FF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p>
        </p:txBody>
      </p:sp>
      <p:sp>
        <p:nvSpPr>
          <p:cNvPr id="30" name="Text Box 8"/>
          <p:cNvSpPr txBox="1">
            <a:spLocks noChangeArrowheads="1"/>
          </p:cNvSpPr>
          <p:nvPr>
            <p:custDataLst>
              <p:tags r:id="rId4"/>
            </p:custDataLst>
          </p:nvPr>
        </p:nvSpPr>
        <p:spPr bwMode="auto">
          <a:xfrm>
            <a:off x="6059805" y="1099662"/>
            <a:ext cx="774383" cy="265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125" dirty="0">
                <a:latin typeface="Times New Roman" panose="02020603050405020304" pitchFamily="18" charset="0"/>
              </a:rPr>
              <a:t>单词记号</a:t>
            </a:r>
            <a:endParaRPr kumimoji="1" lang="zh-CN" altLang="en-US" sz="1125" dirty="0">
              <a:latin typeface="Times New Roman" panose="02020603050405020304" pitchFamily="18" charset="0"/>
            </a:endParaRPr>
          </a:p>
        </p:txBody>
      </p:sp>
      <p:sp>
        <p:nvSpPr>
          <p:cNvPr id="31" name="AutoShape 6"/>
          <p:cNvSpPr>
            <a:spLocks noChangeArrowheads="1"/>
          </p:cNvSpPr>
          <p:nvPr>
            <p:custDataLst>
              <p:tags r:id="rId5"/>
            </p:custDataLst>
          </p:nvPr>
        </p:nvSpPr>
        <p:spPr bwMode="auto">
          <a:xfrm>
            <a:off x="5765432" y="1187692"/>
            <a:ext cx="310899" cy="77423"/>
          </a:xfrm>
          <a:prstGeom prst="rightArrow">
            <a:avLst>
              <a:gd name="adj1" fmla="val 50000"/>
              <a:gd name="adj2" fmla="val 128448"/>
            </a:avLst>
          </a:prstGeom>
          <a:solidFill>
            <a:srgbClr val="66FF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p>
        </p:txBody>
      </p:sp>
      <p:grpSp>
        <p:nvGrpSpPr>
          <p:cNvPr id="35" name="组合 34"/>
          <p:cNvGrpSpPr/>
          <p:nvPr/>
        </p:nvGrpSpPr>
        <p:grpSpPr>
          <a:xfrm>
            <a:off x="2712386" y="1004648"/>
            <a:ext cx="3039102" cy="441101"/>
            <a:chOff x="4151784" y="4056883"/>
            <a:chExt cx="6373346" cy="936104"/>
          </a:xfrm>
        </p:grpSpPr>
        <p:sp>
          <p:nvSpPr>
            <p:cNvPr id="24" name="AutoShape 5"/>
            <p:cNvSpPr>
              <a:spLocks noChangeArrowheads="1"/>
            </p:cNvSpPr>
            <p:nvPr>
              <p:custDataLst>
                <p:tags r:id="rId48"/>
              </p:custDataLst>
            </p:nvPr>
          </p:nvSpPr>
          <p:spPr bwMode="auto">
            <a:xfrm>
              <a:off x="6247433" y="4056883"/>
              <a:ext cx="1676871" cy="936104"/>
            </a:xfrm>
            <a:prstGeom prst="roundRect">
              <a:avLst>
                <a:gd name="adj" fmla="val 16667"/>
              </a:avLst>
            </a:prstGeom>
            <a:solidFill>
              <a:srgbClr val="FFFFE7"/>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识别单词并</a:t>
              </a:r>
              <a:endParaRPr kumimoji="1" lang="en-US" altLang="zh-CN" sz="1125" dirty="0">
                <a:latin typeface="Times New Roman" panose="02020603050405020304" pitchFamily="18" charset="0"/>
              </a:endParaRPr>
            </a:p>
            <a:p>
              <a:pPr algn="ctr" eaLnBrk="1" hangingPunct="1">
                <a:spcBef>
                  <a:spcPct val="0"/>
                </a:spcBef>
                <a:buFontTx/>
                <a:buNone/>
              </a:pPr>
              <a:r>
                <a:rPr kumimoji="1" lang="zh-CN" altLang="en-US" sz="1125" dirty="0">
                  <a:latin typeface="Times New Roman" panose="02020603050405020304" pitchFamily="18" charset="0"/>
                </a:rPr>
                <a:t>获取种别码</a:t>
              </a:r>
              <a:endParaRPr kumimoji="1" lang="en-US" altLang="zh-CN" sz="1125" dirty="0">
                <a:latin typeface="Times New Roman" panose="02020603050405020304" pitchFamily="18" charset="0"/>
              </a:endParaRPr>
            </a:p>
          </p:txBody>
        </p:sp>
        <p:sp>
          <p:nvSpPr>
            <p:cNvPr id="27" name="AutoShape 6"/>
            <p:cNvSpPr>
              <a:spLocks noChangeArrowheads="1"/>
            </p:cNvSpPr>
            <p:nvPr>
              <p:custDataLst>
                <p:tags r:id="rId49"/>
              </p:custDataLst>
            </p:nvPr>
          </p:nvSpPr>
          <p:spPr bwMode="auto">
            <a:xfrm>
              <a:off x="7945530" y="4429802"/>
              <a:ext cx="735767" cy="164307"/>
            </a:xfrm>
            <a:prstGeom prst="rightArrow">
              <a:avLst>
                <a:gd name="adj1" fmla="val 50000"/>
                <a:gd name="adj2" fmla="val 128448"/>
              </a:avLst>
            </a:prstGeom>
            <a:solidFill>
              <a:srgbClr val="66FF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p>
          </p:txBody>
        </p:sp>
        <p:sp>
          <p:nvSpPr>
            <p:cNvPr id="28" name="AutoShape 5"/>
            <p:cNvSpPr>
              <a:spLocks noChangeArrowheads="1"/>
            </p:cNvSpPr>
            <p:nvPr>
              <p:custDataLst>
                <p:tags r:id="rId50"/>
              </p:custDataLst>
            </p:nvPr>
          </p:nvSpPr>
          <p:spPr bwMode="auto">
            <a:xfrm>
              <a:off x="4151784" y="4226205"/>
              <a:ext cx="1383278" cy="571501"/>
            </a:xfrm>
            <a:prstGeom prst="roundRect">
              <a:avLst>
                <a:gd name="adj" fmla="val 16667"/>
              </a:avLst>
            </a:prstGeom>
            <a:solidFill>
              <a:srgbClr val="FDF0E9"/>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扫描程序</a:t>
              </a:r>
              <a:endParaRPr kumimoji="1" lang="en-US" altLang="zh-CN" sz="1125" dirty="0">
                <a:latin typeface="Times New Roman" panose="02020603050405020304" pitchFamily="18" charset="0"/>
              </a:endParaRPr>
            </a:p>
          </p:txBody>
        </p:sp>
        <p:sp>
          <p:nvSpPr>
            <p:cNvPr id="29" name="AutoShape 6"/>
            <p:cNvSpPr>
              <a:spLocks noChangeArrowheads="1"/>
            </p:cNvSpPr>
            <p:nvPr>
              <p:custDataLst>
                <p:tags r:id="rId51"/>
              </p:custDataLst>
            </p:nvPr>
          </p:nvSpPr>
          <p:spPr bwMode="auto">
            <a:xfrm>
              <a:off x="5530243" y="4399033"/>
              <a:ext cx="717190" cy="195076"/>
            </a:xfrm>
            <a:prstGeom prst="rightArrow">
              <a:avLst>
                <a:gd name="adj1" fmla="val 50000"/>
                <a:gd name="adj2" fmla="val 128448"/>
              </a:avLst>
            </a:prstGeom>
            <a:solidFill>
              <a:srgbClr val="66FF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p>
          </p:txBody>
        </p:sp>
        <p:sp>
          <p:nvSpPr>
            <p:cNvPr id="32" name="AutoShape 5"/>
            <p:cNvSpPr>
              <a:spLocks noChangeArrowheads="1"/>
            </p:cNvSpPr>
            <p:nvPr>
              <p:custDataLst>
                <p:tags r:id="rId52"/>
              </p:custDataLst>
            </p:nvPr>
          </p:nvSpPr>
          <p:spPr bwMode="auto">
            <a:xfrm>
              <a:off x="8657261" y="4263670"/>
              <a:ext cx="1867869" cy="571501"/>
            </a:xfrm>
            <a:prstGeom prst="roundRect">
              <a:avLst>
                <a:gd name="adj" fmla="val 16667"/>
              </a:avLst>
            </a:prstGeom>
            <a:solidFill>
              <a:schemeClr val="accent4">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输出</a:t>
              </a:r>
              <a:r>
                <a:rPr kumimoji="1" lang="en-US" altLang="zh-CN" sz="1125" dirty="0">
                  <a:latin typeface="Times New Roman" panose="02020603050405020304" pitchFamily="18" charset="0"/>
                </a:rPr>
                <a:t>单词记号</a:t>
              </a:r>
            </a:p>
          </p:txBody>
        </p:sp>
      </p:grpSp>
      <p:grpSp>
        <p:nvGrpSpPr>
          <p:cNvPr id="67" name="组合 66"/>
          <p:cNvGrpSpPr/>
          <p:nvPr/>
        </p:nvGrpSpPr>
        <p:grpSpPr>
          <a:xfrm>
            <a:off x="2338388" y="1371600"/>
            <a:ext cx="1373029" cy="397669"/>
            <a:chOff x="3486999" y="4564844"/>
            <a:chExt cx="2441320" cy="1120557"/>
          </a:xfrm>
        </p:grpSpPr>
        <p:cxnSp>
          <p:nvCxnSpPr>
            <p:cNvPr id="57" name="直接连接符 56"/>
            <p:cNvCxnSpPr/>
            <p:nvPr>
              <p:custDataLst>
                <p:tags r:id="rId45"/>
              </p:custDataLst>
            </p:nvPr>
          </p:nvCxnSpPr>
          <p:spPr>
            <a:xfrm flipH="1">
              <a:off x="3486999" y="4564844"/>
              <a:ext cx="2441320" cy="58319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custDataLst>
                <p:tags r:id="rId46"/>
              </p:custDataLst>
            </p:nvPr>
          </p:nvCxnSpPr>
          <p:spPr>
            <a:xfrm>
              <a:off x="3487000" y="5148040"/>
              <a:ext cx="15424" cy="53736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custDataLst>
                <p:tags r:id="rId47"/>
              </p:custDataLst>
            </p:nvPr>
          </p:nvCxnSpPr>
          <p:spPr>
            <a:xfrm>
              <a:off x="3502424" y="5685400"/>
              <a:ext cx="533735" cy="1"/>
            </a:xfrm>
            <a:prstGeom prst="line">
              <a:avLst/>
            </a:prstGeom>
            <a:ln w="381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3494325" y="895497"/>
            <a:ext cx="1205725" cy="301934"/>
            <a:chOff x="5857678" y="3789040"/>
            <a:chExt cx="2398562" cy="640762"/>
          </a:xfrm>
        </p:grpSpPr>
        <p:cxnSp>
          <p:nvCxnSpPr>
            <p:cNvPr id="77" name="直接连接符 76"/>
            <p:cNvCxnSpPr/>
            <p:nvPr>
              <p:custDataLst>
                <p:tags r:id="rId42"/>
              </p:custDataLst>
            </p:nvPr>
          </p:nvCxnSpPr>
          <p:spPr>
            <a:xfrm flipV="1">
              <a:off x="8256240" y="3789040"/>
              <a:ext cx="0" cy="64076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custDataLst>
                <p:tags r:id="rId43"/>
              </p:custDataLst>
            </p:nvPr>
          </p:nvCxnSpPr>
          <p:spPr>
            <a:xfrm flipH="1">
              <a:off x="5857678" y="3789040"/>
              <a:ext cx="23985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custDataLst>
                <p:tags r:id="rId44"/>
              </p:custDataLst>
            </p:nvPr>
          </p:nvCxnSpPr>
          <p:spPr>
            <a:xfrm>
              <a:off x="5857678" y="3789040"/>
              <a:ext cx="0" cy="6254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80" name="AutoShape 5"/>
          <p:cNvSpPr>
            <a:spLocks noChangeArrowheads="1"/>
          </p:cNvSpPr>
          <p:nvPr>
            <p:custDataLst>
              <p:tags r:id="rId6"/>
            </p:custDataLst>
          </p:nvPr>
        </p:nvSpPr>
        <p:spPr bwMode="auto">
          <a:xfrm>
            <a:off x="4860544" y="1099693"/>
            <a:ext cx="890685" cy="269297"/>
          </a:xfrm>
          <a:prstGeom prst="roundRect">
            <a:avLst>
              <a:gd name="adj" fmla="val 16667"/>
            </a:avLst>
          </a:prstGeom>
          <a:solidFill>
            <a:schemeClr val="accent4">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输出</a:t>
            </a:r>
            <a:r>
              <a:rPr kumimoji="1" lang="en-US" altLang="zh-CN" sz="1125" dirty="0">
                <a:latin typeface="Times New Roman" panose="02020603050405020304" pitchFamily="18" charset="0"/>
              </a:rPr>
              <a:t>token</a:t>
            </a:r>
            <a:r>
              <a:rPr kumimoji="1" lang="zh-CN" altLang="en-US" sz="1125" dirty="0">
                <a:latin typeface="Times New Roman" panose="02020603050405020304" pitchFamily="18" charset="0"/>
              </a:rPr>
              <a:t>表</a:t>
            </a:r>
            <a:endParaRPr kumimoji="1" lang="en-US" altLang="zh-CN" sz="1125" dirty="0">
              <a:latin typeface="Times New Roman" panose="02020603050405020304" pitchFamily="18" charset="0"/>
            </a:endParaRPr>
          </a:p>
        </p:txBody>
      </p:sp>
      <p:grpSp>
        <p:nvGrpSpPr>
          <p:cNvPr id="4" name="组合 3"/>
          <p:cNvGrpSpPr/>
          <p:nvPr/>
        </p:nvGrpSpPr>
        <p:grpSpPr>
          <a:xfrm>
            <a:off x="4521994" y="1325404"/>
            <a:ext cx="1352550" cy="443389"/>
            <a:chOff x="2020714" y="4518396"/>
            <a:chExt cx="2404385" cy="1106563"/>
          </a:xfrm>
        </p:grpSpPr>
        <p:cxnSp>
          <p:nvCxnSpPr>
            <p:cNvPr id="5" name="直接连接符 4"/>
            <p:cNvCxnSpPr/>
            <p:nvPr>
              <p:custDataLst>
                <p:tags r:id="rId39"/>
              </p:custDataLst>
            </p:nvPr>
          </p:nvCxnSpPr>
          <p:spPr>
            <a:xfrm>
              <a:off x="2020714" y="4518396"/>
              <a:ext cx="2327342" cy="533971"/>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40"/>
              </p:custDataLst>
            </p:nvPr>
          </p:nvCxnSpPr>
          <p:spPr>
            <a:xfrm>
              <a:off x="4348057" y="5052367"/>
              <a:ext cx="0" cy="537361"/>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1"/>
              </p:custDataLst>
            </p:nvPr>
          </p:nvCxnSpPr>
          <p:spPr>
            <a:xfrm flipH="1">
              <a:off x="3930905" y="5612070"/>
              <a:ext cx="494194" cy="12889"/>
            </a:xfrm>
            <a:prstGeom prst="line">
              <a:avLst/>
            </a:prstGeom>
            <a:ln w="381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aphicFrame>
        <p:nvGraphicFramePr>
          <p:cNvPr id="15" name="对象 14"/>
          <p:cNvGraphicFramePr/>
          <p:nvPr>
            <p:extLst>
              <p:ext uri="{D42A27DB-BD31-4B8C-83A1-F6EECF244321}">
                <p14:modId xmlns:p14="http://schemas.microsoft.com/office/powerpoint/2010/main" val="2951882942"/>
              </p:ext>
            </p:extLst>
          </p:nvPr>
        </p:nvGraphicFramePr>
        <p:xfrm>
          <a:off x="5085859" y="3545648"/>
          <a:ext cx="1903571" cy="1400175"/>
        </p:xfrm>
        <a:graphic>
          <a:graphicData uri="http://schemas.openxmlformats.org/presentationml/2006/ole">
            <mc:AlternateContent xmlns:mc="http://schemas.openxmlformats.org/markup-compatibility/2006">
              <mc:Choice xmlns:v="urn:schemas-microsoft-com:vml" Requires="v">
                <p:oleObj spid="_x0000_s15375" r:id="rId55" imgW="5316855" imgH="3883660" progId="Visio.Drawing.11">
                  <p:embed/>
                </p:oleObj>
              </mc:Choice>
              <mc:Fallback>
                <p:oleObj r:id="rId55" imgW="5316855" imgH="3883660" progId="Visio.Drawing.11">
                  <p:embed/>
                  <p:pic>
                    <p:nvPicPr>
                      <p:cNvPr id="15" name="对象 14"/>
                      <p:cNvPicPr/>
                      <p:nvPr/>
                    </p:nvPicPr>
                    <p:blipFill>
                      <a:blip r:embed="rId56"/>
                      <a:stretch>
                        <a:fillRect/>
                      </a:stretch>
                    </p:blipFill>
                    <p:spPr>
                      <a:xfrm>
                        <a:off x="5085859" y="3545648"/>
                        <a:ext cx="1903571" cy="1400175"/>
                      </a:xfrm>
                      <a:prstGeom prst="rect">
                        <a:avLst/>
                      </a:prstGeom>
                      <a:solidFill>
                        <a:schemeClr val="bg2">
                          <a:lumMod val="90000"/>
                        </a:schemeClr>
                      </a:solidFill>
                    </p:spPr>
                  </p:pic>
                </p:oleObj>
              </mc:Fallback>
            </mc:AlternateContent>
          </a:graphicData>
        </a:graphic>
      </p:graphicFrame>
      <p:cxnSp>
        <p:nvCxnSpPr>
          <p:cNvPr id="19" name="曲线连接符 18"/>
          <p:cNvCxnSpPr>
            <a:stCxn id="42" idx="2"/>
          </p:cNvCxnSpPr>
          <p:nvPr/>
        </p:nvCxnSpPr>
        <p:spPr>
          <a:xfrm rot="5400000" flipV="1">
            <a:off x="3460487" y="2085499"/>
            <a:ext cx="990600" cy="2270284"/>
          </a:xfrm>
          <a:prstGeom prst="curvedConnector2">
            <a:avLst/>
          </a:prstGeom>
          <a:ln w="34925">
            <a:prstDash val="dashDot"/>
            <a:tailEnd type="arrow" w="med" len="med"/>
          </a:ln>
        </p:spPr>
        <p:style>
          <a:lnRef idx="3">
            <a:schemeClr val="accent1"/>
          </a:lnRef>
          <a:fillRef idx="0">
            <a:srgbClr val="FFFFFF"/>
          </a:fillRef>
          <a:effectRef idx="0">
            <a:srgbClr val="FFFFFF"/>
          </a:effectRef>
          <a:fontRef idx="minor">
            <a:schemeClr val="tx1"/>
          </a:fontRef>
        </p:style>
      </p:cxnSp>
      <p:grpSp>
        <p:nvGrpSpPr>
          <p:cNvPr id="12" name="组合 11"/>
          <p:cNvGrpSpPr/>
          <p:nvPr/>
        </p:nvGrpSpPr>
        <p:grpSpPr>
          <a:xfrm>
            <a:off x="2669014" y="1631763"/>
            <a:ext cx="2957036" cy="269297"/>
            <a:chOff x="4151784" y="4226205"/>
            <a:chExt cx="6201245" cy="571501"/>
          </a:xfrm>
        </p:grpSpPr>
        <p:sp>
          <p:nvSpPr>
            <p:cNvPr id="18" name="AutoShape 5"/>
            <p:cNvSpPr>
              <a:spLocks noChangeArrowheads="1"/>
            </p:cNvSpPr>
            <p:nvPr>
              <p:custDataLst>
                <p:tags r:id="rId34"/>
              </p:custDataLst>
            </p:nvPr>
          </p:nvSpPr>
          <p:spPr bwMode="auto">
            <a:xfrm>
              <a:off x="6247433" y="4226205"/>
              <a:ext cx="1676871" cy="571501"/>
            </a:xfrm>
            <a:prstGeom prst="roundRect">
              <a:avLst>
                <a:gd name="adj" fmla="val 16667"/>
              </a:avLst>
            </a:prstGeom>
            <a:solidFill>
              <a:srgbClr val="B9E3B3"/>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查找种别码</a:t>
              </a:r>
              <a:endParaRPr kumimoji="1" lang="en-US" altLang="zh-CN" sz="1125" dirty="0">
                <a:latin typeface="Times New Roman" panose="02020603050405020304" pitchFamily="18" charset="0"/>
              </a:endParaRPr>
            </a:p>
          </p:txBody>
        </p:sp>
        <p:sp>
          <p:nvSpPr>
            <p:cNvPr id="20" name="AutoShape 6"/>
            <p:cNvSpPr>
              <a:spLocks noChangeArrowheads="1"/>
            </p:cNvSpPr>
            <p:nvPr>
              <p:custDataLst>
                <p:tags r:id="rId35"/>
              </p:custDataLst>
            </p:nvPr>
          </p:nvSpPr>
          <p:spPr bwMode="auto">
            <a:xfrm>
              <a:off x="7945530" y="4429802"/>
              <a:ext cx="735767" cy="164307"/>
            </a:xfrm>
            <a:prstGeom prst="rightArrow">
              <a:avLst>
                <a:gd name="adj1" fmla="val 50000"/>
                <a:gd name="adj2" fmla="val 128448"/>
              </a:avLst>
            </a:prstGeom>
            <a:solidFill>
              <a:srgbClr val="66FF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p>
          </p:txBody>
        </p:sp>
        <p:sp>
          <p:nvSpPr>
            <p:cNvPr id="21" name="AutoShape 5"/>
            <p:cNvSpPr>
              <a:spLocks noChangeArrowheads="1"/>
            </p:cNvSpPr>
            <p:nvPr>
              <p:custDataLst>
                <p:tags r:id="rId36"/>
              </p:custDataLst>
            </p:nvPr>
          </p:nvSpPr>
          <p:spPr bwMode="auto">
            <a:xfrm>
              <a:off x="4151784" y="4226205"/>
              <a:ext cx="1383278" cy="571501"/>
            </a:xfrm>
            <a:prstGeom prst="roundRect">
              <a:avLst>
                <a:gd name="adj" fmla="val 16667"/>
              </a:avLst>
            </a:prstGeom>
            <a:solidFill>
              <a:srgbClr val="FFD653"/>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sym typeface="+mn-ea"/>
                </a:rPr>
                <a:t>识别</a:t>
              </a:r>
              <a:r>
                <a:rPr kumimoji="1" lang="zh-CN" altLang="en-US" sz="1125" dirty="0">
                  <a:latin typeface="Times New Roman" panose="02020603050405020304" pitchFamily="18" charset="0"/>
                </a:rPr>
                <a:t>单词</a:t>
              </a:r>
              <a:endParaRPr kumimoji="1" lang="en-US" altLang="zh-CN" sz="1125" dirty="0">
                <a:latin typeface="Times New Roman" panose="02020603050405020304" pitchFamily="18" charset="0"/>
              </a:endParaRPr>
            </a:p>
          </p:txBody>
        </p:sp>
        <p:sp>
          <p:nvSpPr>
            <p:cNvPr id="33" name="AutoShape 6"/>
            <p:cNvSpPr>
              <a:spLocks noChangeArrowheads="1"/>
            </p:cNvSpPr>
            <p:nvPr>
              <p:custDataLst>
                <p:tags r:id="rId37"/>
              </p:custDataLst>
            </p:nvPr>
          </p:nvSpPr>
          <p:spPr bwMode="auto">
            <a:xfrm>
              <a:off x="5530243" y="4399033"/>
              <a:ext cx="717190" cy="195076"/>
            </a:xfrm>
            <a:prstGeom prst="rightArrow">
              <a:avLst>
                <a:gd name="adj1" fmla="val 50000"/>
                <a:gd name="adj2" fmla="val 128448"/>
              </a:avLst>
            </a:prstGeom>
            <a:solidFill>
              <a:srgbClr val="66FF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350"/>
            </a:p>
          </p:txBody>
        </p:sp>
        <p:sp>
          <p:nvSpPr>
            <p:cNvPr id="39" name="AutoShape 5"/>
            <p:cNvSpPr>
              <a:spLocks noChangeArrowheads="1"/>
            </p:cNvSpPr>
            <p:nvPr>
              <p:custDataLst>
                <p:tags r:id="rId38"/>
              </p:custDataLst>
            </p:nvPr>
          </p:nvSpPr>
          <p:spPr bwMode="auto">
            <a:xfrm>
              <a:off x="8657150" y="4226205"/>
              <a:ext cx="1695879" cy="571043"/>
            </a:xfrm>
            <a:prstGeom prst="roundRect">
              <a:avLst>
                <a:gd name="adj" fmla="val 16667"/>
              </a:avLst>
            </a:prstGeom>
            <a:solidFill>
              <a:schemeClr val="tx2">
                <a:lumMod val="20000"/>
                <a:lumOff val="80000"/>
              </a:schemeClr>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125" dirty="0">
                  <a:latin typeface="Times New Roman" panose="02020603050405020304" pitchFamily="18" charset="0"/>
                </a:rPr>
                <a:t>插入</a:t>
              </a:r>
              <a:r>
                <a:rPr kumimoji="1" lang="en-US" altLang="zh-CN" sz="1125" dirty="0">
                  <a:latin typeface="Times New Roman" panose="02020603050405020304" pitchFamily="18" charset="0"/>
                </a:rPr>
                <a:t>token</a:t>
              </a:r>
              <a:r>
                <a:rPr kumimoji="1" lang="zh-CN" altLang="en-US" sz="1125" dirty="0">
                  <a:latin typeface="Times New Roman" panose="02020603050405020304" pitchFamily="18" charset="0"/>
                </a:rPr>
                <a:t>表</a:t>
              </a:r>
              <a:endParaRPr kumimoji="1" lang="en-US" altLang="zh-CN" sz="1125" dirty="0">
                <a:latin typeface="Times New Roman" panose="02020603050405020304" pitchFamily="18" charset="0"/>
              </a:endParaRPr>
            </a:p>
          </p:txBody>
        </p:sp>
      </p:grpSp>
      <p:sp>
        <p:nvSpPr>
          <p:cNvPr id="41" name="圆角矩形 40"/>
          <p:cNvSpPr/>
          <p:nvPr>
            <p:custDataLst>
              <p:tags r:id="rId7"/>
            </p:custDataLst>
          </p:nvPr>
        </p:nvSpPr>
        <p:spPr>
          <a:xfrm>
            <a:off x="3225981" y="2321904"/>
            <a:ext cx="638651" cy="378619"/>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a:solidFill>
                  <a:schemeClr val="tx1"/>
                </a:solidFill>
                <a:sym typeface="+mn-ea"/>
              </a:rPr>
              <a:t>识别</a:t>
            </a:r>
          </a:p>
          <a:p>
            <a:pPr algn="ctr"/>
            <a:r>
              <a:rPr lang="zh-CN" altLang="en-US" sz="1050">
                <a:solidFill>
                  <a:schemeClr val="tx1"/>
                </a:solidFill>
                <a:sym typeface="+mn-ea"/>
              </a:rPr>
              <a:t>界符</a:t>
            </a:r>
          </a:p>
        </p:txBody>
      </p:sp>
      <p:sp>
        <p:nvSpPr>
          <p:cNvPr id="42" name="圆角矩形 41"/>
          <p:cNvSpPr/>
          <p:nvPr>
            <p:custDataLst>
              <p:tags r:id="rId8"/>
            </p:custDataLst>
          </p:nvPr>
        </p:nvSpPr>
        <p:spPr>
          <a:xfrm>
            <a:off x="2498801" y="2331905"/>
            <a:ext cx="643890" cy="393859"/>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sym typeface="+mn-ea"/>
              </a:rPr>
              <a:t>识别数值常量</a:t>
            </a:r>
          </a:p>
        </p:txBody>
      </p:sp>
      <p:cxnSp>
        <p:nvCxnSpPr>
          <p:cNvPr id="62" name="直接箭头连接符 61"/>
          <p:cNvCxnSpPr/>
          <p:nvPr>
            <p:custDataLst>
              <p:tags r:id="rId9"/>
            </p:custDataLst>
          </p:nvPr>
        </p:nvCxnSpPr>
        <p:spPr>
          <a:xfrm flipH="1">
            <a:off x="2087743" y="1918043"/>
            <a:ext cx="594360" cy="383858"/>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65" name="直接箭头连接符 64"/>
          <p:cNvCxnSpPr/>
          <p:nvPr>
            <p:custDataLst>
              <p:tags r:id="rId10"/>
            </p:custDataLst>
          </p:nvPr>
        </p:nvCxnSpPr>
        <p:spPr>
          <a:xfrm flipH="1">
            <a:off x="2659720" y="1900898"/>
            <a:ext cx="272891" cy="417195"/>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66" name="直接箭头连接符 65"/>
          <p:cNvCxnSpPr/>
          <p:nvPr>
            <p:custDataLst>
              <p:tags r:id="rId11"/>
            </p:custDataLst>
          </p:nvPr>
        </p:nvCxnSpPr>
        <p:spPr>
          <a:xfrm>
            <a:off x="3330279" y="1863751"/>
            <a:ext cx="863918" cy="486251"/>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68" name="直接箭头连接符 67"/>
          <p:cNvCxnSpPr/>
          <p:nvPr>
            <p:custDataLst>
              <p:tags r:id="rId12"/>
            </p:custDataLst>
          </p:nvPr>
        </p:nvCxnSpPr>
        <p:spPr>
          <a:xfrm>
            <a:off x="3114061" y="1934713"/>
            <a:ext cx="402908" cy="387191"/>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69" name="文本框 68"/>
          <p:cNvSpPr txBox="1"/>
          <p:nvPr>
            <p:custDataLst>
              <p:tags r:id="rId13"/>
            </p:custDataLst>
          </p:nvPr>
        </p:nvSpPr>
        <p:spPr>
          <a:xfrm>
            <a:off x="2141559" y="1951858"/>
            <a:ext cx="660559" cy="307181"/>
          </a:xfrm>
          <a:prstGeom prst="rect">
            <a:avLst/>
          </a:prstGeom>
          <a:noFill/>
        </p:spPr>
        <p:txBody>
          <a:bodyPr wrap="square" rtlCol="0">
            <a:noAutofit/>
          </a:bodyPr>
          <a:lstStyle/>
          <a:p>
            <a:r>
              <a:rPr lang="zh-CN" altLang="en-US" sz="1050">
                <a:solidFill>
                  <a:srgbClr val="C00000"/>
                </a:solidFill>
              </a:rPr>
              <a:t>字母</a:t>
            </a:r>
            <a:endParaRPr lang="en-US" altLang="zh-CN" sz="1050">
              <a:solidFill>
                <a:srgbClr val="C00000"/>
              </a:solidFill>
            </a:endParaRPr>
          </a:p>
        </p:txBody>
      </p:sp>
      <p:sp>
        <p:nvSpPr>
          <p:cNvPr id="70" name="文本框 69"/>
          <p:cNvSpPr txBox="1"/>
          <p:nvPr>
            <p:custDataLst>
              <p:tags r:id="rId14"/>
            </p:custDataLst>
          </p:nvPr>
        </p:nvSpPr>
        <p:spPr>
          <a:xfrm>
            <a:off x="2613999" y="1956143"/>
            <a:ext cx="406718" cy="340043"/>
          </a:xfrm>
          <a:prstGeom prst="rect">
            <a:avLst/>
          </a:prstGeom>
          <a:noFill/>
        </p:spPr>
        <p:txBody>
          <a:bodyPr wrap="square" rtlCol="0">
            <a:noAutofit/>
          </a:bodyPr>
          <a:lstStyle/>
          <a:p>
            <a:r>
              <a:rPr lang="zh-CN" altLang="en-US" sz="1050">
                <a:solidFill>
                  <a:srgbClr val="0000FF"/>
                </a:solidFill>
              </a:rPr>
              <a:t>数字</a:t>
            </a:r>
          </a:p>
        </p:txBody>
      </p:sp>
      <p:sp>
        <p:nvSpPr>
          <p:cNvPr id="71" name="文本框 70"/>
          <p:cNvSpPr txBox="1"/>
          <p:nvPr>
            <p:custDataLst>
              <p:tags r:id="rId15"/>
            </p:custDataLst>
          </p:nvPr>
        </p:nvSpPr>
        <p:spPr>
          <a:xfrm>
            <a:off x="3060245" y="1971860"/>
            <a:ext cx="406718" cy="307181"/>
          </a:xfrm>
          <a:prstGeom prst="rect">
            <a:avLst/>
          </a:prstGeom>
          <a:noFill/>
        </p:spPr>
        <p:txBody>
          <a:bodyPr wrap="square" rtlCol="0">
            <a:noAutofit/>
          </a:bodyPr>
          <a:lstStyle/>
          <a:p>
            <a:r>
              <a:rPr lang="zh-CN" altLang="en-US" sz="1050">
                <a:solidFill>
                  <a:srgbClr val="CC00FF"/>
                </a:solidFill>
              </a:rPr>
              <a:t>界符</a:t>
            </a:r>
          </a:p>
        </p:txBody>
      </p:sp>
      <p:sp>
        <p:nvSpPr>
          <p:cNvPr id="72" name="文本框 71"/>
          <p:cNvSpPr txBox="1"/>
          <p:nvPr>
            <p:custDataLst>
              <p:tags r:id="rId16"/>
            </p:custDataLst>
          </p:nvPr>
        </p:nvSpPr>
        <p:spPr>
          <a:xfrm>
            <a:off x="3506491" y="1982005"/>
            <a:ext cx="638651" cy="259889"/>
          </a:xfrm>
          <a:prstGeom prst="rect">
            <a:avLst/>
          </a:prstGeom>
          <a:noFill/>
        </p:spPr>
        <p:txBody>
          <a:bodyPr wrap="square" rtlCol="0">
            <a:noAutofit/>
          </a:bodyPr>
          <a:lstStyle/>
          <a:p>
            <a:r>
              <a:rPr lang="zh-CN" altLang="en-US" sz="1050" dirty="0">
                <a:solidFill>
                  <a:srgbClr val="00B050"/>
                </a:solidFill>
              </a:rPr>
              <a:t>运算符</a:t>
            </a:r>
          </a:p>
        </p:txBody>
      </p:sp>
      <p:cxnSp>
        <p:nvCxnSpPr>
          <p:cNvPr id="73" name="直接箭头连接符 72"/>
          <p:cNvCxnSpPr/>
          <p:nvPr>
            <p:custDataLst>
              <p:tags r:id="rId17"/>
            </p:custDataLst>
          </p:nvPr>
        </p:nvCxnSpPr>
        <p:spPr>
          <a:xfrm>
            <a:off x="2141559" y="2769579"/>
            <a:ext cx="0" cy="431959"/>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custDataLst>
              <p:tags r:id="rId18"/>
            </p:custDataLst>
          </p:nvPr>
        </p:nvCxnSpPr>
        <p:spPr>
          <a:xfrm>
            <a:off x="2802118" y="2734336"/>
            <a:ext cx="1905" cy="437674"/>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custDataLst>
              <p:tags r:id="rId19"/>
            </p:custDataLst>
          </p:nvPr>
        </p:nvCxnSpPr>
        <p:spPr>
          <a:xfrm>
            <a:off x="4356122" y="2770531"/>
            <a:ext cx="1905" cy="437674"/>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81" name="直接箭头连接符 80"/>
          <p:cNvCxnSpPr/>
          <p:nvPr>
            <p:custDataLst>
              <p:tags r:id="rId20"/>
            </p:custDataLst>
          </p:nvPr>
        </p:nvCxnSpPr>
        <p:spPr>
          <a:xfrm>
            <a:off x="3544592" y="2770531"/>
            <a:ext cx="1905" cy="437674"/>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82" name="直接连接符 81"/>
          <p:cNvCxnSpPr/>
          <p:nvPr>
            <p:custDataLst>
              <p:tags r:id="rId21"/>
            </p:custDataLst>
          </p:nvPr>
        </p:nvCxnSpPr>
        <p:spPr>
          <a:xfrm flipV="1">
            <a:off x="1493383" y="3214872"/>
            <a:ext cx="3457099" cy="5239"/>
          </a:xfrm>
          <a:prstGeom prst="line">
            <a:avLst/>
          </a:prstGeom>
          <a:ln w="28575">
            <a:solidFill>
              <a:srgbClr val="FFC000"/>
            </a:solidFill>
            <a:prstDash val="dash"/>
          </a:ln>
        </p:spPr>
        <p:style>
          <a:lnRef idx="2">
            <a:schemeClr val="accent1"/>
          </a:lnRef>
          <a:fillRef idx="0">
            <a:srgbClr val="FFFFFF"/>
          </a:fillRef>
          <a:effectRef idx="0">
            <a:srgbClr val="FFFFFF"/>
          </a:effectRef>
          <a:fontRef idx="minor">
            <a:schemeClr val="tx1"/>
          </a:fontRef>
        </p:style>
      </p:cxnSp>
      <p:cxnSp>
        <p:nvCxnSpPr>
          <p:cNvPr id="83" name="直接连接符 82"/>
          <p:cNvCxnSpPr/>
          <p:nvPr>
            <p:custDataLst>
              <p:tags r:id="rId22"/>
            </p:custDataLst>
          </p:nvPr>
        </p:nvCxnSpPr>
        <p:spPr>
          <a:xfrm flipV="1">
            <a:off x="4938099" y="2575745"/>
            <a:ext cx="12383" cy="640080"/>
          </a:xfrm>
          <a:prstGeom prst="line">
            <a:avLst/>
          </a:prstGeom>
          <a:ln w="28575">
            <a:solidFill>
              <a:srgbClr val="FFC000"/>
            </a:solidFill>
            <a:prstDash val="dash"/>
          </a:ln>
        </p:spPr>
        <p:style>
          <a:lnRef idx="2">
            <a:schemeClr val="accent1"/>
          </a:lnRef>
          <a:fillRef idx="0">
            <a:srgbClr val="FFFFFF"/>
          </a:fillRef>
          <a:effectRef idx="0">
            <a:srgbClr val="FFFFFF"/>
          </a:effectRef>
          <a:fontRef idx="minor">
            <a:schemeClr val="tx1"/>
          </a:fontRef>
        </p:style>
      </p:cxnSp>
      <p:cxnSp>
        <p:nvCxnSpPr>
          <p:cNvPr id="84" name="直接箭头连接符 83"/>
          <p:cNvCxnSpPr/>
          <p:nvPr>
            <p:custDataLst>
              <p:tags r:id="rId23"/>
            </p:custDataLst>
          </p:nvPr>
        </p:nvCxnSpPr>
        <p:spPr>
          <a:xfrm flipH="1" flipV="1">
            <a:off x="4302306" y="1918044"/>
            <a:ext cx="653891" cy="648176"/>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sp>
        <p:nvSpPr>
          <p:cNvPr id="85" name="文本框 84"/>
          <p:cNvSpPr txBox="1"/>
          <p:nvPr>
            <p:custDataLst>
              <p:tags r:id="rId24"/>
            </p:custDataLst>
          </p:nvPr>
        </p:nvSpPr>
        <p:spPr>
          <a:xfrm>
            <a:off x="1373368" y="2836730"/>
            <a:ext cx="1075373" cy="415498"/>
          </a:xfrm>
          <a:prstGeom prst="rect">
            <a:avLst/>
          </a:prstGeom>
          <a:noFill/>
        </p:spPr>
        <p:txBody>
          <a:bodyPr wrap="square" rtlCol="0" anchor="t">
            <a:spAutoFit/>
          </a:bodyPr>
          <a:lstStyle/>
          <a:p>
            <a:r>
              <a:rPr lang="zh-CN" altLang="en-US" sz="1050">
                <a:solidFill>
                  <a:srgbClr val="C00000"/>
                </a:solidFill>
                <a:sym typeface="+mn-ea"/>
              </a:rPr>
              <a:t>标识符和关键字</a:t>
            </a:r>
          </a:p>
        </p:txBody>
      </p:sp>
      <p:sp>
        <p:nvSpPr>
          <p:cNvPr id="86" name="文本框 85"/>
          <p:cNvSpPr txBox="1"/>
          <p:nvPr>
            <p:custDataLst>
              <p:tags r:id="rId25"/>
            </p:custDataLst>
          </p:nvPr>
        </p:nvSpPr>
        <p:spPr>
          <a:xfrm>
            <a:off x="2412070" y="2836730"/>
            <a:ext cx="735806" cy="253916"/>
          </a:xfrm>
          <a:prstGeom prst="rect">
            <a:avLst/>
          </a:prstGeom>
          <a:noFill/>
        </p:spPr>
        <p:txBody>
          <a:bodyPr wrap="square" rtlCol="0" anchor="t">
            <a:spAutoFit/>
          </a:bodyPr>
          <a:lstStyle/>
          <a:p>
            <a:pPr algn="ctr"/>
            <a:r>
              <a:rPr lang="zh-CN" altLang="en-US" sz="1050">
                <a:solidFill>
                  <a:srgbClr val="0000FF"/>
                </a:solidFill>
                <a:sym typeface="+mn-ea"/>
              </a:rPr>
              <a:t>数值常量</a:t>
            </a:r>
          </a:p>
        </p:txBody>
      </p:sp>
      <p:sp>
        <p:nvSpPr>
          <p:cNvPr id="87" name="文本框 86"/>
          <p:cNvSpPr txBox="1"/>
          <p:nvPr>
            <p:custDataLst>
              <p:tags r:id="rId26"/>
            </p:custDataLst>
          </p:nvPr>
        </p:nvSpPr>
        <p:spPr>
          <a:xfrm>
            <a:off x="3255032" y="2836730"/>
            <a:ext cx="544830" cy="253916"/>
          </a:xfrm>
          <a:prstGeom prst="rect">
            <a:avLst/>
          </a:prstGeom>
          <a:noFill/>
        </p:spPr>
        <p:txBody>
          <a:bodyPr wrap="square" rtlCol="0" anchor="t">
            <a:spAutoFit/>
          </a:bodyPr>
          <a:lstStyle/>
          <a:p>
            <a:pPr algn="ctr"/>
            <a:r>
              <a:rPr lang="zh-CN" altLang="en-US" sz="1050">
                <a:solidFill>
                  <a:srgbClr val="CC00FF"/>
                </a:solidFill>
                <a:sym typeface="+mn-ea"/>
              </a:rPr>
              <a:t>界符</a:t>
            </a:r>
          </a:p>
        </p:txBody>
      </p:sp>
      <p:sp>
        <p:nvSpPr>
          <p:cNvPr id="88" name="文本框 87"/>
          <p:cNvSpPr txBox="1"/>
          <p:nvPr>
            <p:custDataLst>
              <p:tags r:id="rId27"/>
            </p:custDataLst>
          </p:nvPr>
        </p:nvSpPr>
        <p:spPr>
          <a:xfrm>
            <a:off x="4057037" y="2836730"/>
            <a:ext cx="604361" cy="253916"/>
          </a:xfrm>
          <a:prstGeom prst="rect">
            <a:avLst/>
          </a:prstGeom>
          <a:noFill/>
        </p:spPr>
        <p:txBody>
          <a:bodyPr wrap="square" rtlCol="0" anchor="t">
            <a:spAutoFit/>
          </a:bodyPr>
          <a:lstStyle/>
          <a:p>
            <a:r>
              <a:rPr lang="zh-CN" altLang="en-US" sz="1050">
                <a:solidFill>
                  <a:srgbClr val="00B050"/>
                </a:solidFill>
                <a:sym typeface="+mn-ea"/>
              </a:rPr>
              <a:t>运算符</a:t>
            </a:r>
          </a:p>
        </p:txBody>
      </p:sp>
      <p:sp>
        <p:nvSpPr>
          <p:cNvPr id="2" name="圆角矩形 39"/>
          <p:cNvSpPr/>
          <p:nvPr>
            <p:custDataLst>
              <p:tags r:id="rId28"/>
            </p:custDataLst>
          </p:nvPr>
        </p:nvSpPr>
        <p:spPr>
          <a:xfrm>
            <a:off x="1060073" y="2333525"/>
            <a:ext cx="627517" cy="397669"/>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识别</a:t>
            </a:r>
            <a:endParaRPr lang="en-US" altLang="zh-CN" sz="1050" dirty="0">
              <a:solidFill>
                <a:schemeClr val="tx1"/>
              </a:solidFill>
              <a:latin typeface="微软雅黑" panose="020B0503020204020204" charset="-122"/>
              <a:ea typeface="微软雅黑" panose="020B0503020204020204" charset="-122"/>
              <a:sym typeface="+mn-ea"/>
            </a:endParaRPr>
          </a:p>
          <a:p>
            <a:pPr algn="ctr"/>
            <a:r>
              <a:rPr lang="zh-CN" altLang="en-US" sz="1050" dirty="0">
                <a:solidFill>
                  <a:schemeClr val="tx1"/>
                </a:solidFill>
                <a:latin typeface="微软雅黑" panose="020B0503020204020204" charset="-122"/>
                <a:ea typeface="微软雅黑" panose="020B0503020204020204" charset="-122"/>
                <a:sym typeface="+mn-ea"/>
              </a:rPr>
              <a:t>标识符</a:t>
            </a:r>
          </a:p>
        </p:txBody>
      </p:sp>
      <p:sp>
        <p:nvSpPr>
          <p:cNvPr id="3" name="圆角矩形 39"/>
          <p:cNvSpPr/>
          <p:nvPr>
            <p:custDataLst>
              <p:tags r:id="rId29"/>
            </p:custDataLst>
          </p:nvPr>
        </p:nvSpPr>
        <p:spPr>
          <a:xfrm>
            <a:off x="1774207" y="2342382"/>
            <a:ext cx="627517" cy="397669"/>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识别</a:t>
            </a:r>
            <a:endParaRPr lang="en-US" altLang="zh-CN" sz="1050" dirty="0">
              <a:solidFill>
                <a:schemeClr val="tx1"/>
              </a:solidFill>
              <a:latin typeface="微软雅黑" panose="020B0503020204020204" charset="-122"/>
              <a:ea typeface="微软雅黑" panose="020B0503020204020204" charset="-122"/>
              <a:sym typeface="+mn-ea"/>
            </a:endParaRPr>
          </a:p>
          <a:p>
            <a:pPr algn="ctr"/>
            <a:r>
              <a:rPr lang="zh-CN" altLang="en-US" sz="1050" dirty="0">
                <a:solidFill>
                  <a:schemeClr val="tx1"/>
                </a:solidFill>
                <a:latin typeface="微软雅黑" panose="020B0503020204020204" charset="-122"/>
                <a:ea typeface="微软雅黑" panose="020B0503020204020204" charset="-122"/>
                <a:sym typeface="+mn-ea"/>
              </a:rPr>
              <a:t>关键字</a:t>
            </a:r>
          </a:p>
        </p:txBody>
      </p:sp>
      <p:sp>
        <p:nvSpPr>
          <p:cNvPr id="8" name="文本框 7"/>
          <p:cNvSpPr txBox="1"/>
          <p:nvPr>
            <p:custDataLst>
              <p:tags r:id="rId30"/>
            </p:custDataLst>
          </p:nvPr>
        </p:nvSpPr>
        <p:spPr>
          <a:xfrm>
            <a:off x="1568768" y="1934528"/>
            <a:ext cx="580549" cy="211931"/>
          </a:xfrm>
          <a:prstGeom prst="rect">
            <a:avLst/>
          </a:prstGeom>
          <a:noFill/>
        </p:spPr>
        <p:txBody>
          <a:bodyPr wrap="square" rtlCol="0">
            <a:noAutofit/>
          </a:bodyPr>
          <a:lstStyle/>
          <a:p>
            <a:r>
              <a:rPr lang="zh-CN" altLang="en-US" sz="1050">
                <a:solidFill>
                  <a:srgbClr val="C00000"/>
                </a:solidFill>
              </a:rPr>
              <a:t>字母</a:t>
            </a:r>
            <a:endParaRPr lang="en-US" altLang="zh-CN" sz="1050">
              <a:solidFill>
                <a:srgbClr val="C00000"/>
              </a:solidFill>
            </a:endParaRPr>
          </a:p>
        </p:txBody>
      </p:sp>
      <p:cxnSp>
        <p:nvCxnSpPr>
          <p:cNvPr id="10" name="直接箭头连接符 9"/>
          <p:cNvCxnSpPr/>
          <p:nvPr>
            <p:custDataLst>
              <p:tags r:id="rId31"/>
            </p:custDataLst>
          </p:nvPr>
        </p:nvCxnSpPr>
        <p:spPr>
          <a:xfrm flipH="1">
            <a:off x="1460998" y="1869942"/>
            <a:ext cx="1166813" cy="442913"/>
          </a:xfrm>
          <a:prstGeom prst="straightConnector1">
            <a:avLst/>
          </a:prstGeom>
          <a:ln w="41275"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13" name="圆角矩形 12"/>
          <p:cNvSpPr/>
          <p:nvPr>
            <p:custDataLst>
              <p:tags r:id="rId32"/>
            </p:custDataLst>
          </p:nvPr>
        </p:nvSpPr>
        <p:spPr>
          <a:xfrm>
            <a:off x="3940356" y="2321904"/>
            <a:ext cx="638651" cy="378619"/>
          </a:xfrm>
          <a:prstGeom prst="roundRect">
            <a:avLst/>
          </a:prstGeom>
          <a:gradFill>
            <a:gsLst>
              <a:gs pos="50000">
                <a:srgbClr val="F8E786"/>
              </a:gs>
              <a:gs pos="0">
                <a:srgbClr val="FAEFAE"/>
              </a:gs>
              <a:gs pos="100000">
                <a:srgbClr val="F5DE5D"/>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a:solidFill>
                  <a:schemeClr val="tx1"/>
                </a:solidFill>
                <a:sym typeface="+mn-ea"/>
              </a:rPr>
              <a:t>识别</a:t>
            </a:r>
          </a:p>
          <a:p>
            <a:pPr algn="ctr"/>
            <a:r>
              <a:rPr lang="zh-CN" altLang="en-US" sz="1050">
                <a:solidFill>
                  <a:schemeClr val="tx1"/>
                </a:solidFill>
                <a:sym typeface="+mn-ea"/>
              </a:rPr>
              <a:t>界符</a:t>
            </a:r>
          </a:p>
        </p:txBody>
      </p:sp>
      <p:cxnSp>
        <p:nvCxnSpPr>
          <p:cNvPr id="14" name="直接箭头连接符 13"/>
          <p:cNvCxnSpPr/>
          <p:nvPr>
            <p:custDataLst>
              <p:tags r:id="rId33"/>
            </p:custDataLst>
          </p:nvPr>
        </p:nvCxnSpPr>
        <p:spPr>
          <a:xfrm>
            <a:off x="1460998" y="2734336"/>
            <a:ext cx="0" cy="431959"/>
          </a:xfrm>
          <a:prstGeom prst="straightConnector1">
            <a:avLst/>
          </a:prstGeom>
          <a:ln w="28575">
            <a:solidFill>
              <a:srgbClr val="FFC000"/>
            </a:solidFill>
            <a:prstDash val="dash"/>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advTm="4023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练    习    </a:t>
            </a:r>
            <a:r>
              <a:rPr lang="en-US" altLang="zh-CN" sz="4000" b="1">
                <a:ea typeface="楷体_GB2312" pitchFamily="49" charset="-122"/>
              </a:rPr>
              <a:t>2</a:t>
            </a:r>
          </a:p>
        </p:txBody>
      </p:sp>
      <p:sp>
        <p:nvSpPr>
          <p:cNvPr id="18435" name="Rectangle 3"/>
          <p:cNvSpPr>
            <a:spLocks noGrp="1" noChangeArrowheads="1"/>
          </p:cNvSpPr>
          <p:nvPr>
            <p:ph type="body" idx="1"/>
          </p:nvPr>
        </p:nvSpPr>
        <p:spPr>
          <a:xfrm>
            <a:off x="457200" y="1200150"/>
            <a:ext cx="8229600" cy="914400"/>
          </a:xfrm>
        </p:spPr>
        <p:txBody>
          <a:bodyPr/>
          <a:lstStyle/>
          <a:p>
            <a:pPr eaLnBrk="1" hangingPunct="1"/>
            <a:r>
              <a:rPr lang="zh-CN" altLang="en-US">
                <a:latin typeface="Times New Roman" pitchFamily="18" charset="0"/>
              </a:rPr>
              <a:t>画出识别标识符和整常数</a:t>
            </a:r>
            <a:r>
              <a:rPr lang="en-US" altLang="zh-CN">
                <a:latin typeface="Times New Roman" pitchFamily="18" charset="0"/>
              </a:rPr>
              <a:t>(</a:t>
            </a:r>
            <a:r>
              <a:rPr lang="zh-CN" altLang="en-US">
                <a:latin typeface="Times New Roman" pitchFamily="18" charset="0"/>
              </a:rPr>
              <a:t>可带正负号</a:t>
            </a:r>
            <a:r>
              <a:rPr lang="en-US" altLang="zh-CN">
                <a:latin typeface="Times New Roman" pitchFamily="18" charset="0"/>
              </a:rPr>
              <a:t>)</a:t>
            </a:r>
            <a:r>
              <a:rPr lang="zh-CN" altLang="en-US">
                <a:latin typeface="Times New Roman" pitchFamily="18" charset="0"/>
              </a:rPr>
              <a:t>的状态转换图</a:t>
            </a:r>
            <a:r>
              <a:rPr lang="zh-CN" altLang="en-US"/>
              <a:t> </a:t>
            </a:r>
          </a:p>
        </p:txBody>
      </p:sp>
      <p:sp>
        <p:nvSpPr>
          <p:cNvPr id="18436" name="Rectangle 5"/>
          <p:cNvSpPr>
            <a:spLocks noChangeArrowheads="1"/>
          </p:cNvSpPr>
          <p:nvPr/>
        </p:nvSpPr>
        <p:spPr bwMode="auto">
          <a:xfrm>
            <a:off x="3014663" y="1893094"/>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pic>
        <p:nvPicPr>
          <p:cNvPr id="11059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432" y="1995686"/>
            <a:ext cx="5918200" cy="2415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5982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110599"/>
                                        </p:tgtEl>
                                        <p:attrNameLst>
                                          <p:attrName>style.visibility</p:attrName>
                                        </p:attrNameLst>
                                      </p:cBhvr>
                                      <p:to>
                                        <p:strVal val="visible"/>
                                      </p:to>
                                    </p:set>
                                    <p:animEffect transition="in" filter="fade">
                                      <p:cBhvr>
                                        <p:cTn id="7" dur="2000"/>
                                        <p:tgtEl>
                                          <p:spTgt spid="110599"/>
                                        </p:tgtEl>
                                      </p:cBhvr>
                                    </p:animEffect>
                                    <p:anim calcmode="lin" valueType="num">
                                      <p:cBhvr>
                                        <p:cTn id="8" dur="2000" fill="hold"/>
                                        <p:tgtEl>
                                          <p:spTgt spid="110599"/>
                                        </p:tgtEl>
                                        <p:attrNameLst>
                                          <p:attrName>style.rotation</p:attrName>
                                        </p:attrNameLst>
                                      </p:cBhvr>
                                      <p:tavLst>
                                        <p:tav tm="0">
                                          <p:val>
                                            <p:fltVal val="720"/>
                                          </p:val>
                                        </p:tav>
                                        <p:tav tm="100000">
                                          <p:val>
                                            <p:fltVal val="0"/>
                                          </p:val>
                                        </p:tav>
                                      </p:tavLst>
                                    </p:anim>
                                    <p:anim calcmode="lin" valueType="num">
                                      <p:cBhvr>
                                        <p:cTn id="9" dur="2000" fill="hold"/>
                                        <p:tgtEl>
                                          <p:spTgt spid="110599"/>
                                        </p:tgtEl>
                                        <p:attrNameLst>
                                          <p:attrName>ppt_h</p:attrName>
                                        </p:attrNameLst>
                                      </p:cBhvr>
                                      <p:tavLst>
                                        <p:tav tm="0">
                                          <p:val>
                                            <p:fltVal val="0"/>
                                          </p:val>
                                        </p:tav>
                                        <p:tav tm="100000">
                                          <p:val>
                                            <p:strVal val="#ppt_h"/>
                                          </p:val>
                                        </p:tav>
                                      </p:tavLst>
                                    </p:anim>
                                    <p:anim calcmode="lin" valueType="num">
                                      <p:cBhvr>
                                        <p:cTn id="10" dur="2000" fill="hold"/>
                                        <p:tgtEl>
                                          <p:spTgt spid="11059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练   习   </a:t>
            </a:r>
            <a:r>
              <a:rPr lang="en-US" altLang="zh-CN" sz="4000" b="1">
                <a:ea typeface="楷体_GB2312" pitchFamily="49" charset="-122"/>
              </a:rPr>
              <a:t>3</a:t>
            </a:r>
          </a:p>
        </p:txBody>
      </p:sp>
      <p:sp>
        <p:nvSpPr>
          <p:cNvPr id="19459" name="Rectangle 3"/>
          <p:cNvSpPr>
            <a:spLocks noGrp="1" noChangeArrowheads="1"/>
          </p:cNvSpPr>
          <p:nvPr>
            <p:ph type="body" idx="1"/>
          </p:nvPr>
        </p:nvSpPr>
        <p:spPr/>
        <p:txBody>
          <a:bodyPr/>
          <a:lstStyle/>
          <a:p>
            <a:pPr eaLnBrk="1" hangingPunct="1"/>
            <a:r>
              <a:rPr lang="zh-CN" altLang="en-US" b="1" dirty="0"/>
              <a:t>以下状态转换图识别的单词具有什么特性？</a:t>
            </a:r>
          </a:p>
        </p:txBody>
      </p:sp>
      <p:grpSp>
        <p:nvGrpSpPr>
          <p:cNvPr id="19460" name="Group 4"/>
          <p:cNvGrpSpPr>
            <a:grpSpLocks/>
          </p:cNvGrpSpPr>
          <p:nvPr/>
        </p:nvGrpSpPr>
        <p:grpSpPr bwMode="auto">
          <a:xfrm>
            <a:off x="2743200" y="2114551"/>
            <a:ext cx="3843338" cy="1262063"/>
            <a:chOff x="1104" y="1776"/>
            <a:chExt cx="2421" cy="1060"/>
          </a:xfrm>
        </p:grpSpPr>
        <p:sp>
          <p:nvSpPr>
            <p:cNvPr id="19461" name="Oval 5"/>
            <p:cNvSpPr>
              <a:spLocks noChangeArrowheads="1"/>
            </p:cNvSpPr>
            <p:nvPr/>
          </p:nvSpPr>
          <p:spPr bwMode="auto">
            <a:xfrm>
              <a:off x="1440" y="216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19462" name="Oval 6"/>
            <p:cNvSpPr>
              <a:spLocks noChangeArrowheads="1"/>
            </p:cNvSpPr>
            <p:nvPr/>
          </p:nvSpPr>
          <p:spPr bwMode="auto">
            <a:xfrm>
              <a:off x="1488" y="220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b="1">
                  <a:solidFill>
                    <a:schemeClr val="bg1"/>
                  </a:solidFill>
                  <a:latin typeface="Times New Roman" pitchFamily="18" charset="0"/>
                </a:rPr>
                <a:t>X</a:t>
              </a:r>
            </a:p>
          </p:txBody>
        </p:sp>
        <p:sp>
          <p:nvSpPr>
            <p:cNvPr id="19463" name="Oval 7"/>
            <p:cNvSpPr>
              <a:spLocks noChangeArrowheads="1"/>
            </p:cNvSpPr>
            <p:nvPr/>
          </p:nvSpPr>
          <p:spPr bwMode="auto">
            <a:xfrm>
              <a:off x="2784" y="220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b="1">
                  <a:solidFill>
                    <a:schemeClr val="bg1"/>
                  </a:solidFill>
                  <a:latin typeface="Times New Roman" pitchFamily="18" charset="0"/>
                </a:rPr>
                <a:t>Y</a:t>
              </a:r>
            </a:p>
          </p:txBody>
        </p:sp>
        <p:sp>
          <p:nvSpPr>
            <p:cNvPr id="19464" name="AutoShape 8"/>
            <p:cNvSpPr>
              <a:spLocks noChangeArrowheads="1"/>
            </p:cNvSpPr>
            <p:nvPr/>
          </p:nvSpPr>
          <p:spPr bwMode="auto">
            <a:xfrm>
              <a:off x="1104" y="2304"/>
              <a:ext cx="336" cy="96"/>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19465" name="AutoShape 9"/>
            <p:cNvCxnSpPr>
              <a:cxnSpLocks noChangeShapeType="1"/>
              <a:stCxn id="19461" idx="0"/>
              <a:endCxn id="19463" idx="0"/>
            </p:cNvCxnSpPr>
            <p:nvPr/>
          </p:nvCxnSpPr>
          <p:spPr bwMode="auto">
            <a:xfrm rot="5400000" flipV="1">
              <a:off x="2256" y="1536"/>
              <a:ext cx="48" cy="1296"/>
            </a:xfrm>
            <a:prstGeom prst="curvedConnector3">
              <a:avLst>
                <a:gd name="adj1" fmla="val -300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66" name="AutoShape 10"/>
            <p:cNvCxnSpPr>
              <a:cxnSpLocks noChangeShapeType="1"/>
              <a:stCxn id="19463" idx="4"/>
              <a:endCxn id="19461" idx="4"/>
            </p:cNvCxnSpPr>
            <p:nvPr/>
          </p:nvCxnSpPr>
          <p:spPr bwMode="auto">
            <a:xfrm rot="5400000">
              <a:off x="2256" y="1872"/>
              <a:ext cx="48" cy="1296"/>
            </a:xfrm>
            <a:prstGeom prst="curvedConnector3">
              <a:avLst>
                <a:gd name="adj1" fmla="val 400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67" name="AutoShape 11"/>
            <p:cNvCxnSpPr>
              <a:cxnSpLocks noChangeShapeType="1"/>
              <a:stCxn id="19463" idx="7"/>
              <a:endCxn id="19463" idx="5"/>
            </p:cNvCxnSpPr>
            <p:nvPr/>
          </p:nvCxnSpPr>
          <p:spPr bwMode="auto">
            <a:xfrm rot="5400000" flipV="1">
              <a:off x="2929" y="2351"/>
              <a:ext cx="204" cy="1"/>
            </a:xfrm>
            <a:prstGeom prst="curvedConnector5">
              <a:avLst>
                <a:gd name="adj1" fmla="val -39708"/>
                <a:gd name="adj2" fmla="val 30099991"/>
                <a:gd name="adj3" fmla="val 140194"/>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68" name="Text Box 12"/>
            <p:cNvSpPr txBox="1">
              <a:spLocks noChangeArrowheads="1"/>
            </p:cNvSpPr>
            <p:nvPr/>
          </p:nvSpPr>
          <p:spPr bwMode="auto">
            <a:xfrm>
              <a:off x="2160" y="1776"/>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b="1">
                  <a:latin typeface="Times New Roman" pitchFamily="18" charset="0"/>
                </a:rPr>
                <a:t>0</a:t>
              </a:r>
            </a:p>
          </p:txBody>
        </p:sp>
        <p:sp>
          <p:nvSpPr>
            <p:cNvPr id="19469" name="Text Box 13"/>
            <p:cNvSpPr txBox="1">
              <a:spLocks noChangeArrowheads="1"/>
            </p:cNvSpPr>
            <p:nvPr/>
          </p:nvSpPr>
          <p:spPr bwMode="auto">
            <a:xfrm>
              <a:off x="2160" y="244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b="1">
                  <a:latin typeface="Times New Roman" pitchFamily="18" charset="0"/>
                </a:rPr>
                <a:t>0</a:t>
              </a:r>
            </a:p>
          </p:txBody>
        </p:sp>
        <p:sp>
          <p:nvSpPr>
            <p:cNvPr id="19470" name="Text Box 14"/>
            <p:cNvSpPr txBox="1">
              <a:spLocks noChangeArrowheads="1"/>
            </p:cNvSpPr>
            <p:nvPr/>
          </p:nvSpPr>
          <p:spPr bwMode="auto">
            <a:xfrm>
              <a:off x="3312" y="220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b="1">
                  <a:latin typeface="Times New Roman" pitchFamily="18" charset="0"/>
                </a:rPr>
                <a:t>1</a:t>
              </a:r>
            </a:p>
          </p:txBody>
        </p:sp>
      </p:grpSp>
    </p:spTree>
    <p:extLst>
      <p:ext uri="{BB962C8B-B14F-4D97-AF65-F5344CB8AC3E}">
        <p14:creationId xmlns:p14="http://schemas.microsoft.com/office/powerpoint/2010/main" val="184914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内容占位符 23"/>
          <p:cNvSpPr>
            <a:spLocks noGrp="1"/>
          </p:cNvSpPr>
          <p:nvPr>
            <p:ph idx="1"/>
          </p:nvPr>
        </p:nvSpPr>
        <p:spPr>
          <a:xfrm>
            <a:off x="4893772" y="123478"/>
            <a:ext cx="3685065" cy="4896544"/>
          </a:xfrm>
          <a:solidFill>
            <a:schemeClr val="bg2">
              <a:lumMod val="90000"/>
            </a:schemeClr>
          </a:solidFill>
          <a:ln cmpd="sng">
            <a:solidFill>
              <a:schemeClr val="accent2"/>
            </a:solidFill>
          </a:ln>
        </p:spPr>
        <p:txBody>
          <a:bodyPr>
            <a:noAutofit/>
          </a:bodyPr>
          <a:lstStyle/>
          <a:p>
            <a:pPr marL="0" indent="0" algn="just">
              <a:lnSpc>
                <a:spcPct val="110000"/>
              </a:lnSpc>
              <a:spcBef>
                <a:spcPct val="0"/>
              </a:spcBef>
              <a:buNone/>
            </a:pPr>
            <a:r>
              <a:rPr lang="en-US" altLang="zh-CN" sz="1200" dirty="0" err="1">
                <a:solidFill>
                  <a:srgbClr val="3217BB"/>
                </a:solidFill>
                <a:latin typeface="Times New Roman" panose="02020603050405020304" pitchFamily="18" charset="0"/>
                <a:cs typeface="Times New Roman" panose="02020603050405020304" pitchFamily="18" charset="0"/>
              </a:rPr>
              <a:t>Recogonizenum</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zh-CN" altLang="en-US" sz="1200" dirty="0">
                <a:solidFill>
                  <a:srgbClr val="3217BB"/>
                </a:solidFill>
                <a:latin typeface="Times New Roman" panose="02020603050405020304" pitchFamily="18" charset="0"/>
                <a:cs typeface="Times New Roman" panose="02020603050405020304" pitchFamily="18" charset="0"/>
              </a:rPr>
              <a:t>  </a:t>
            </a:r>
            <a:r>
              <a:rPr lang="en-US" altLang="zh-CN" sz="1200" dirty="0">
                <a:solidFill>
                  <a:srgbClr val="3217BB"/>
                </a:solidFill>
                <a:latin typeface="Times New Roman" panose="02020603050405020304" pitchFamily="18" charset="0"/>
                <a:cs typeface="Times New Roman" panose="02020603050405020304" pitchFamily="18" charset="0"/>
              </a:rPr>
              <a:t>state =0;word=“”;</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a:t>
            </a:r>
            <a:r>
              <a:rPr lang="en-US" altLang="zh-CN" sz="1200" dirty="0" err="1">
                <a:solidFill>
                  <a:srgbClr val="3217BB"/>
                </a:solidFill>
                <a:latin typeface="Times New Roman" panose="02020603050405020304" pitchFamily="18" charset="0"/>
                <a:cs typeface="Times New Roman" panose="02020603050405020304" pitchFamily="18" charset="0"/>
              </a:rPr>
              <a:t>getch</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while(state!=2&amp;&amp;state!=3){</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switch(state){</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case 0: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if(</a:t>
            </a:r>
            <a:r>
              <a:rPr lang="en-US" altLang="zh-CN" sz="1200" dirty="0" err="1">
                <a:solidFill>
                  <a:srgbClr val="FF0000"/>
                </a:solidFill>
                <a:latin typeface="Times New Roman" panose="02020603050405020304" pitchFamily="18" charset="0"/>
                <a:cs typeface="Times New Roman" panose="02020603050405020304" pitchFamily="18" charset="0"/>
                <a:sym typeface="+mn-ea"/>
              </a:rPr>
              <a:t>ch.</a:t>
            </a:r>
            <a:r>
              <a:rPr lang="en-US" altLang="zh-CN" sz="1200" dirty="0" err="1">
                <a:solidFill>
                  <a:srgbClr val="FF0000"/>
                </a:solidFill>
                <a:latin typeface="Times New Roman" panose="02020603050405020304" pitchFamily="18" charset="0"/>
                <a:cs typeface="Times New Roman" panose="02020603050405020304" pitchFamily="18" charset="0"/>
              </a:rPr>
              <a:t>isZero</a:t>
            </a:r>
            <a:r>
              <a:rPr lang="en-US" altLang="zh-CN" sz="1200" dirty="0">
                <a:solidFill>
                  <a:srgbClr val="FF0000"/>
                </a:solidFill>
                <a:latin typeface="Times New Roman" panose="02020603050405020304" pitchFamily="18" charset="0"/>
                <a:cs typeface="Times New Roman" panose="02020603050405020304" pitchFamily="18" charset="0"/>
              </a:rPr>
              <a:t>()</a:t>
            </a: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{state=3; return “0”;}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else if(</a:t>
            </a:r>
            <a:r>
              <a:rPr lang="en-US" altLang="zh-CN" sz="1200" dirty="0" err="1">
                <a:solidFill>
                  <a:srgbClr val="FF0000"/>
                </a:solidFill>
                <a:latin typeface="Times New Roman" panose="02020603050405020304" pitchFamily="18" charset="0"/>
                <a:cs typeface="Times New Roman" panose="02020603050405020304" pitchFamily="18" charset="0"/>
                <a:sym typeface="+mn-ea"/>
              </a:rPr>
              <a:t>ch.</a:t>
            </a:r>
            <a:r>
              <a:rPr lang="en-US" altLang="zh-CN" sz="1200" dirty="0">
                <a:solidFill>
                  <a:srgbClr val="FF0000"/>
                </a:solidFill>
                <a:latin typeface="Times New Roman" panose="02020603050405020304" pitchFamily="18" charset="0"/>
                <a:cs typeface="Times New Roman" panose="02020603050405020304" pitchFamily="18" charset="0"/>
              </a:rPr>
              <a:t>isIn(1,9)</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{state = 1,word.append(</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else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error();</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break;</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case 1:</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if (</a:t>
            </a:r>
            <a:r>
              <a:rPr lang="en-US" altLang="zh-CN" sz="1200" dirty="0" err="1">
                <a:solidFill>
                  <a:srgbClr val="FF0000"/>
                </a:solidFill>
                <a:latin typeface="Times New Roman" panose="02020603050405020304" pitchFamily="18" charset="0"/>
                <a:cs typeface="Times New Roman" panose="02020603050405020304" pitchFamily="18" charset="0"/>
                <a:sym typeface="+mn-ea"/>
              </a:rPr>
              <a:t>ch.</a:t>
            </a:r>
            <a:r>
              <a:rPr lang="en-US" altLang="zh-CN" sz="1200" dirty="0">
                <a:solidFill>
                  <a:srgbClr val="FF0000"/>
                </a:solidFill>
                <a:latin typeface="Times New Roman" panose="02020603050405020304" pitchFamily="18" charset="0"/>
                <a:cs typeface="Times New Roman" panose="02020603050405020304" pitchFamily="18" charset="0"/>
                <a:sym typeface="+mn-ea"/>
              </a:rPr>
              <a:t>is</a:t>
            </a:r>
            <a:r>
              <a:rPr lang="en-US" altLang="zh-CN" sz="1200" dirty="0" err="1">
                <a:solidFill>
                  <a:srgbClr val="FF0000"/>
                </a:solidFill>
                <a:latin typeface="Times New Roman" panose="02020603050405020304" pitchFamily="18" charset="0"/>
                <a:cs typeface="Times New Roman" panose="02020603050405020304" pitchFamily="18" charset="0"/>
              </a:rPr>
              <a:t>In</a:t>
            </a:r>
            <a:r>
              <a:rPr lang="en-US" altLang="zh-CN" sz="1200" dirty="0">
                <a:solidFill>
                  <a:srgbClr val="FF0000"/>
                </a:solidFill>
                <a:latin typeface="Times New Roman" panose="02020603050405020304" pitchFamily="18" charset="0"/>
                <a:cs typeface="Times New Roman" panose="02020603050405020304" pitchFamily="18" charset="0"/>
              </a:rPr>
              <a:t>(0,9)</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word. append(</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else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state = 2;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a:t>
            </a:r>
            <a:r>
              <a:rPr lang="en-US" altLang="zh-CN" sz="1200" dirty="0" err="1">
                <a:solidFill>
                  <a:srgbClr val="3217BB"/>
                </a:solidFill>
                <a:latin typeface="Times New Roman" panose="02020603050405020304" pitchFamily="18" charset="0"/>
                <a:cs typeface="Times New Roman" panose="02020603050405020304" pitchFamily="18" charset="0"/>
              </a:rPr>
              <a:t>getch</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return word;</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a:t>
            </a:r>
          </a:p>
        </p:txBody>
      </p:sp>
      <p:sp>
        <p:nvSpPr>
          <p:cNvPr id="50" name="文本框 49"/>
          <p:cNvSpPr txBox="1"/>
          <p:nvPr>
            <p:custDataLst>
              <p:tags r:id="rId2"/>
            </p:custDataLst>
          </p:nvPr>
        </p:nvSpPr>
        <p:spPr>
          <a:xfrm>
            <a:off x="725196" y="3210629"/>
            <a:ext cx="3600400" cy="1188787"/>
          </a:xfrm>
          <a:prstGeom prst="rect">
            <a:avLst/>
          </a:prstGeom>
          <a:ln w="28575" cmpd="sng">
            <a:solidFill>
              <a:schemeClr val="accent1">
                <a:shade val="50000"/>
              </a:schemeClr>
            </a:solidFill>
            <a:prstDash val="solid"/>
          </a:ln>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20000"/>
              </a:lnSpc>
            </a:pPr>
            <a:r>
              <a:rPr lang="zh-CN" altLang="en-US" sz="1500" b="1" dirty="0"/>
              <a:t>识别过程是</a:t>
            </a:r>
            <a:r>
              <a:rPr lang="zh-CN" altLang="en-US" sz="1500" dirty="0"/>
              <a:t>：从</a:t>
            </a:r>
            <a:r>
              <a:rPr lang="zh-CN" altLang="en-US" sz="1500" dirty="0">
                <a:solidFill>
                  <a:srgbClr val="FF0000"/>
                </a:solidFill>
              </a:rPr>
              <a:t>初始状态</a:t>
            </a:r>
            <a:r>
              <a:rPr lang="zh-CN" altLang="en-US" sz="1500" dirty="0"/>
              <a:t>开始，根据读入的符号沿箭头指向转到下一状态，继续读入，并进行转换，如果能进入</a:t>
            </a:r>
            <a:r>
              <a:rPr lang="zh-CN" altLang="en-US" sz="1500" dirty="0">
                <a:solidFill>
                  <a:srgbClr val="FF0000"/>
                </a:solidFill>
              </a:rPr>
              <a:t>终结状态</a:t>
            </a:r>
            <a:r>
              <a:rPr lang="zh-CN" altLang="en-US" sz="1500" dirty="0"/>
              <a:t>，就表示识别出一个单词。</a:t>
            </a:r>
          </a:p>
        </p:txBody>
      </p:sp>
      <p:sp>
        <p:nvSpPr>
          <p:cNvPr id="14" name="矩形 13">
            <a:extLst>
              <a:ext uri="{FF2B5EF4-FFF2-40B4-BE49-F238E27FC236}">
                <a16:creationId xmlns:a16="http://schemas.microsoft.com/office/drawing/2014/main" id="{3B56DC86-3989-43F5-AEB0-5C65ED397C1F}"/>
              </a:ext>
            </a:extLst>
          </p:cNvPr>
          <p:cNvSpPr/>
          <p:nvPr/>
        </p:nvSpPr>
        <p:spPr>
          <a:xfrm>
            <a:off x="5752488" y="1555658"/>
            <a:ext cx="2419912" cy="1448140"/>
          </a:xfrm>
          <a:prstGeom prst="rect">
            <a:avLst/>
          </a:prstGeom>
          <a:solidFill>
            <a:schemeClr val="lt1">
              <a:alpha val="0"/>
            </a:schemeClr>
          </a:solidFill>
          <a:ln w="38100" cmpd="sng"/>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E6C2D4DD-BF71-470E-BD06-8C3A5FA966A8}"/>
              </a:ext>
            </a:extLst>
          </p:cNvPr>
          <p:cNvSpPr/>
          <p:nvPr/>
        </p:nvSpPr>
        <p:spPr>
          <a:xfrm>
            <a:off x="5752488" y="3187338"/>
            <a:ext cx="2419912" cy="824574"/>
          </a:xfrm>
          <a:prstGeom prst="rect">
            <a:avLst/>
          </a:prstGeom>
          <a:solidFill>
            <a:schemeClr val="lt1">
              <a:alpha val="0"/>
            </a:schemeClr>
          </a:solidFill>
          <a:ln w="38100" cmpd="sng"/>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4" name="标题 5">
            <a:extLst>
              <a:ext uri="{FF2B5EF4-FFF2-40B4-BE49-F238E27FC236}">
                <a16:creationId xmlns:a16="http://schemas.microsoft.com/office/drawing/2014/main" id="{E2F1380A-5880-4A7D-84FC-812EB5465788}"/>
              </a:ext>
            </a:extLst>
          </p:cNvPr>
          <p:cNvSpPr>
            <a:spLocks noGrp="1"/>
          </p:cNvSpPr>
          <p:nvPr>
            <p:ph type="title"/>
          </p:nvPr>
        </p:nvSpPr>
        <p:spPr>
          <a:xfrm>
            <a:off x="107504" y="35721"/>
            <a:ext cx="4104456" cy="504056"/>
          </a:xfrm>
        </p:spPr>
        <p:txBody>
          <a:bodyPr>
            <a:noAutofit/>
          </a:bodyPr>
          <a:lstStyle/>
          <a:p>
            <a:pPr algn="l"/>
            <a:r>
              <a:rPr lang="zh-CN" altLang="en-US" dirty="0"/>
              <a:t>状态转换图的实现</a:t>
            </a:r>
            <a:endParaRPr lang="zh-CN" altLang="en-US" b="1" dirty="0"/>
          </a:p>
        </p:txBody>
      </p:sp>
      <p:grpSp>
        <p:nvGrpSpPr>
          <p:cNvPr id="45" name="组合 44">
            <a:extLst>
              <a:ext uri="{FF2B5EF4-FFF2-40B4-BE49-F238E27FC236}">
                <a16:creationId xmlns:a16="http://schemas.microsoft.com/office/drawing/2014/main" id="{02323C7E-B215-4CF7-949A-57CB88162E17}"/>
              </a:ext>
            </a:extLst>
          </p:cNvPr>
          <p:cNvGrpSpPr/>
          <p:nvPr/>
        </p:nvGrpSpPr>
        <p:grpSpPr>
          <a:xfrm>
            <a:off x="626211" y="1059582"/>
            <a:ext cx="3067042" cy="1152628"/>
            <a:chOff x="2671" y="3973"/>
            <a:chExt cx="8255" cy="3489"/>
          </a:xfrm>
        </p:grpSpPr>
        <p:sp>
          <p:nvSpPr>
            <p:cNvPr id="46" name="Text Box 33">
              <a:extLst>
                <a:ext uri="{FF2B5EF4-FFF2-40B4-BE49-F238E27FC236}">
                  <a16:creationId xmlns:a16="http://schemas.microsoft.com/office/drawing/2014/main" id="{D5500332-C489-4537-B885-4E50E544B6DB}"/>
                </a:ext>
              </a:extLst>
            </p:cNvPr>
            <p:cNvSpPr txBox="1"/>
            <p:nvPr>
              <p:custDataLst>
                <p:tags r:id="rId3"/>
              </p:custDataLst>
            </p:nvPr>
          </p:nvSpPr>
          <p:spPr>
            <a:xfrm>
              <a:off x="10453" y="4644"/>
              <a:ext cx="473" cy="111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solidFill>
                    <a:schemeClr val="dk1"/>
                  </a:solidFill>
                  <a:latin typeface="幼圆" panose="02010509060101010101" charset="-122"/>
                  <a:ea typeface="幼圆" panose="02010509060101010101" charset="-122"/>
                </a:rPr>
                <a:t>*</a:t>
              </a:r>
            </a:p>
          </p:txBody>
        </p:sp>
        <p:sp>
          <p:nvSpPr>
            <p:cNvPr id="47" name="椭圆 46">
              <a:extLst>
                <a:ext uri="{FF2B5EF4-FFF2-40B4-BE49-F238E27FC236}">
                  <a16:creationId xmlns:a16="http://schemas.microsoft.com/office/drawing/2014/main" id="{C003CF89-7EBD-46FD-931E-44DA9152CAF4}"/>
                </a:ext>
              </a:extLst>
            </p:cNvPr>
            <p:cNvSpPr/>
            <p:nvPr>
              <p:custDataLst>
                <p:tags r:id="rId4"/>
              </p:custDataLst>
            </p:nvPr>
          </p:nvSpPr>
          <p:spPr>
            <a:xfrm>
              <a:off x="3328" y="4934"/>
              <a:ext cx="1093" cy="1093"/>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0</a:t>
              </a:r>
            </a:p>
          </p:txBody>
        </p:sp>
        <p:sp>
          <p:nvSpPr>
            <p:cNvPr id="48" name="椭圆 47">
              <a:extLst>
                <a:ext uri="{FF2B5EF4-FFF2-40B4-BE49-F238E27FC236}">
                  <a16:creationId xmlns:a16="http://schemas.microsoft.com/office/drawing/2014/main" id="{A5BE0831-DDD9-4F38-A8A3-008E0A71CC26}"/>
                </a:ext>
              </a:extLst>
            </p:cNvPr>
            <p:cNvSpPr/>
            <p:nvPr>
              <p:custDataLst>
                <p:tags r:id="rId5"/>
              </p:custDataLst>
            </p:nvPr>
          </p:nvSpPr>
          <p:spPr>
            <a:xfrm>
              <a:off x="6633" y="4949"/>
              <a:ext cx="1095" cy="1095"/>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1</a:t>
              </a:r>
            </a:p>
          </p:txBody>
        </p:sp>
        <p:sp>
          <p:nvSpPr>
            <p:cNvPr id="49" name="椭圆 48">
              <a:extLst>
                <a:ext uri="{FF2B5EF4-FFF2-40B4-BE49-F238E27FC236}">
                  <a16:creationId xmlns:a16="http://schemas.microsoft.com/office/drawing/2014/main" id="{9AE67EC2-CDBB-4894-82F7-48894576AD32}"/>
                </a:ext>
              </a:extLst>
            </p:cNvPr>
            <p:cNvSpPr/>
            <p:nvPr>
              <p:custDataLst>
                <p:tags r:id="rId6"/>
              </p:custDataLst>
            </p:nvPr>
          </p:nvSpPr>
          <p:spPr>
            <a:xfrm>
              <a:off x="9553" y="4934"/>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51" name="椭圆 50">
              <a:extLst>
                <a:ext uri="{FF2B5EF4-FFF2-40B4-BE49-F238E27FC236}">
                  <a16:creationId xmlns:a16="http://schemas.microsoft.com/office/drawing/2014/main" id="{7AE17B36-8126-43F4-B544-2E2CC89F9A97}"/>
                </a:ext>
              </a:extLst>
            </p:cNvPr>
            <p:cNvSpPr/>
            <p:nvPr>
              <p:custDataLst>
                <p:tags r:id="rId7"/>
              </p:custDataLst>
            </p:nvPr>
          </p:nvSpPr>
          <p:spPr>
            <a:xfrm>
              <a:off x="9691" y="5079"/>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2</a:t>
              </a:r>
            </a:p>
          </p:txBody>
        </p:sp>
        <p:sp>
          <p:nvSpPr>
            <p:cNvPr id="52" name="箭头: 右 9">
              <a:extLst>
                <a:ext uri="{FF2B5EF4-FFF2-40B4-BE49-F238E27FC236}">
                  <a16:creationId xmlns:a16="http://schemas.microsoft.com/office/drawing/2014/main" id="{7A000CFE-D7EB-4B84-B4BD-0D76FEF0EF07}"/>
                </a:ext>
              </a:extLst>
            </p:cNvPr>
            <p:cNvSpPr/>
            <p:nvPr>
              <p:custDataLst>
                <p:tags r:id="rId8"/>
              </p:custDataLst>
            </p:nvPr>
          </p:nvSpPr>
          <p:spPr>
            <a:xfrm>
              <a:off x="2671" y="5314"/>
              <a:ext cx="658" cy="275"/>
            </a:xfrm>
            <a:prstGeom prst="rightArrow">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cxnSp>
          <p:nvCxnSpPr>
            <p:cNvPr id="53" name="直接箭头连接符 52">
              <a:extLst>
                <a:ext uri="{FF2B5EF4-FFF2-40B4-BE49-F238E27FC236}">
                  <a16:creationId xmlns:a16="http://schemas.microsoft.com/office/drawing/2014/main" id="{8B8E43D6-706F-4AB3-83D1-0391CBB91222}"/>
                </a:ext>
              </a:extLst>
            </p:cNvPr>
            <p:cNvCxnSpPr>
              <a:stCxn id="47" idx="6"/>
              <a:endCxn id="48" idx="2"/>
            </p:cNvCxnSpPr>
            <p:nvPr>
              <p:custDataLst>
                <p:tags r:id="rId9"/>
              </p:custDataLst>
            </p:nvPr>
          </p:nvCxnSpPr>
          <p:spPr>
            <a:xfrm>
              <a:off x="4421" y="5479"/>
              <a:ext cx="2213"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EAAF140B-4EFA-4B83-AA74-8CDD66F4A9F7}"/>
                </a:ext>
              </a:extLst>
            </p:cNvPr>
            <p:cNvCxnSpPr>
              <a:stCxn id="48" idx="6"/>
            </p:cNvCxnSpPr>
            <p:nvPr>
              <p:custDataLst>
                <p:tags r:id="rId10"/>
              </p:custDataLst>
            </p:nvPr>
          </p:nvCxnSpPr>
          <p:spPr>
            <a:xfrm flipV="1">
              <a:off x="7728" y="5479"/>
              <a:ext cx="1825"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连接符: 曲线 12">
              <a:extLst>
                <a:ext uri="{FF2B5EF4-FFF2-40B4-BE49-F238E27FC236}">
                  <a16:creationId xmlns:a16="http://schemas.microsoft.com/office/drawing/2014/main" id="{2D0D3C21-963D-40C6-B634-0519431B2638}"/>
                </a:ext>
              </a:extLst>
            </p:cNvPr>
            <p:cNvCxnSpPr>
              <a:stCxn id="48" idx="1"/>
              <a:endCxn id="48" idx="7"/>
            </p:cNvCxnSpPr>
            <p:nvPr>
              <p:custDataLst>
                <p:tags r:id="rId11"/>
              </p:custDataLst>
            </p:nvPr>
          </p:nvCxnSpPr>
          <p:spPr>
            <a:xfrm rot="5400000" flipH="1" flipV="1">
              <a:off x="7181" y="4724"/>
              <a:ext cx="20" cy="775"/>
            </a:xfrm>
            <a:prstGeom prst="curvedConnector3">
              <a:avLst>
                <a:gd name="adj1" fmla="val 2601354"/>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13">
              <a:extLst>
                <a:ext uri="{FF2B5EF4-FFF2-40B4-BE49-F238E27FC236}">
                  <a16:creationId xmlns:a16="http://schemas.microsoft.com/office/drawing/2014/main" id="{E0FE9A1B-A70A-4D14-B27D-62FAB708F4E4}"/>
                </a:ext>
              </a:extLst>
            </p:cNvPr>
            <p:cNvSpPr txBox="1"/>
            <p:nvPr>
              <p:custDataLst>
                <p:tags r:id="rId12"/>
              </p:custDataLst>
            </p:nvPr>
          </p:nvSpPr>
          <p:spPr>
            <a:xfrm>
              <a:off x="4783" y="4635"/>
              <a:ext cx="1274" cy="9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500" dirty="0">
                  <a:solidFill>
                    <a:schemeClr val="dk1"/>
                  </a:solidFill>
                  <a:latin typeface="幼圆" panose="02010509060101010101" charset="-122"/>
                  <a:ea typeface="幼圆" panose="02010509060101010101" charset="-122"/>
                </a:rPr>
                <a:t>1-9</a:t>
              </a:r>
            </a:p>
          </p:txBody>
        </p:sp>
        <p:sp>
          <p:nvSpPr>
            <p:cNvPr id="57" name="文本框 14">
              <a:extLst>
                <a:ext uri="{FF2B5EF4-FFF2-40B4-BE49-F238E27FC236}">
                  <a16:creationId xmlns:a16="http://schemas.microsoft.com/office/drawing/2014/main" id="{B74F93DD-23DA-41FD-9E8D-45E66BD7229E}"/>
                </a:ext>
              </a:extLst>
            </p:cNvPr>
            <p:cNvSpPr txBox="1"/>
            <p:nvPr>
              <p:custDataLst>
                <p:tags r:id="rId13"/>
              </p:custDataLst>
            </p:nvPr>
          </p:nvSpPr>
          <p:spPr>
            <a:xfrm>
              <a:off x="8146" y="4831"/>
              <a:ext cx="1222" cy="7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solidFill>
                    <a:schemeClr val="dk1"/>
                  </a:solidFill>
                  <a:latin typeface="幼圆" panose="02010509060101010101" charset="-122"/>
                  <a:ea typeface="幼圆" panose="02010509060101010101" charset="-122"/>
                </a:rPr>
                <a:t>其他</a:t>
              </a:r>
            </a:p>
          </p:txBody>
        </p:sp>
        <p:sp>
          <p:nvSpPr>
            <p:cNvPr id="58" name="文本框 57">
              <a:extLst>
                <a:ext uri="{FF2B5EF4-FFF2-40B4-BE49-F238E27FC236}">
                  <a16:creationId xmlns:a16="http://schemas.microsoft.com/office/drawing/2014/main" id="{6DE17C52-330F-4881-9172-D3E6F6C4299C}"/>
                </a:ext>
              </a:extLst>
            </p:cNvPr>
            <p:cNvSpPr txBox="1"/>
            <p:nvPr>
              <p:custDataLst>
                <p:tags r:id="rId14"/>
              </p:custDataLst>
            </p:nvPr>
          </p:nvSpPr>
          <p:spPr>
            <a:xfrm>
              <a:off x="6902" y="6272"/>
              <a:ext cx="678" cy="7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050" dirty="0">
                  <a:solidFill>
                    <a:schemeClr val="dk1"/>
                  </a:solidFill>
                  <a:latin typeface="幼圆" panose="02010509060101010101" charset="-122"/>
                  <a:ea typeface="幼圆" panose="02010509060101010101" charset="-122"/>
                </a:rPr>
                <a:t>0</a:t>
              </a:r>
            </a:p>
          </p:txBody>
        </p:sp>
        <p:cxnSp>
          <p:nvCxnSpPr>
            <p:cNvPr id="59" name="连接符: 曲线 57">
              <a:extLst>
                <a:ext uri="{FF2B5EF4-FFF2-40B4-BE49-F238E27FC236}">
                  <a16:creationId xmlns:a16="http://schemas.microsoft.com/office/drawing/2014/main" id="{478085D9-AFB4-491A-961F-A0AFC900F439}"/>
                </a:ext>
              </a:extLst>
            </p:cNvPr>
            <p:cNvCxnSpPr>
              <a:stCxn id="47" idx="5"/>
            </p:cNvCxnSpPr>
            <p:nvPr>
              <p:custDataLst>
                <p:tags r:id="rId15"/>
              </p:custDataLst>
            </p:nvPr>
          </p:nvCxnSpPr>
          <p:spPr>
            <a:xfrm rot="16200000" flipH="1">
              <a:off x="6316" y="3809"/>
              <a:ext cx="1172" cy="5285"/>
            </a:xfrm>
            <a:prstGeom prst="curvedConnector2">
              <a:avLst/>
            </a:prstGeom>
            <a:ln w="28575" cap="flat" cmpd="sng">
              <a:solidFill>
                <a:srgbClr val="000000"/>
              </a:solidFill>
              <a:prstDash val="solid"/>
              <a:headEnd type="none" w="med" len="med"/>
              <a:tailEnd type="triangle" w="med" len="med"/>
            </a:ln>
          </p:spPr>
        </p:cxnSp>
        <p:sp>
          <p:nvSpPr>
            <p:cNvPr id="60" name="椭圆 59">
              <a:extLst>
                <a:ext uri="{FF2B5EF4-FFF2-40B4-BE49-F238E27FC236}">
                  <a16:creationId xmlns:a16="http://schemas.microsoft.com/office/drawing/2014/main" id="{470F2357-BFC6-4793-8349-AD44FE8A6B3F}"/>
                </a:ext>
              </a:extLst>
            </p:cNvPr>
            <p:cNvSpPr/>
            <p:nvPr>
              <p:custDataLst>
                <p:tags r:id="rId16"/>
              </p:custDataLst>
            </p:nvPr>
          </p:nvSpPr>
          <p:spPr>
            <a:xfrm>
              <a:off x="9546" y="6369"/>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61" name="椭圆 60">
              <a:extLst>
                <a:ext uri="{FF2B5EF4-FFF2-40B4-BE49-F238E27FC236}">
                  <a16:creationId xmlns:a16="http://schemas.microsoft.com/office/drawing/2014/main" id="{6265BCFF-53A0-466A-AEF8-CAD226E4C317}"/>
                </a:ext>
              </a:extLst>
            </p:cNvPr>
            <p:cNvSpPr/>
            <p:nvPr>
              <p:custDataLst>
                <p:tags r:id="rId17"/>
              </p:custDataLst>
            </p:nvPr>
          </p:nvSpPr>
          <p:spPr>
            <a:xfrm>
              <a:off x="9683" y="6514"/>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3</a:t>
              </a:r>
            </a:p>
          </p:txBody>
        </p:sp>
        <p:sp>
          <p:nvSpPr>
            <p:cNvPr id="62" name="文本框 13">
              <a:extLst>
                <a:ext uri="{FF2B5EF4-FFF2-40B4-BE49-F238E27FC236}">
                  <a16:creationId xmlns:a16="http://schemas.microsoft.com/office/drawing/2014/main" id="{CE8CFB89-F40B-4DA8-8D8D-D16E398C2909}"/>
                </a:ext>
              </a:extLst>
            </p:cNvPr>
            <p:cNvSpPr txBox="1"/>
            <p:nvPr>
              <p:custDataLst>
                <p:tags r:id="rId18"/>
              </p:custDataLst>
            </p:nvPr>
          </p:nvSpPr>
          <p:spPr>
            <a:xfrm>
              <a:off x="6633" y="3973"/>
              <a:ext cx="1196" cy="9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350" dirty="0">
                  <a:solidFill>
                    <a:schemeClr val="dk1"/>
                  </a:solidFill>
                  <a:latin typeface="幼圆" panose="02010509060101010101" charset="-122"/>
                  <a:ea typeface="幼圆" panose="02010509060101010101" charset="-122"/>
                </a:rPr>
                <a:t>0-9</a:t>
              </a:r>
            </a:p>
          </p:txBody>
        </p:sp>
      </p:grpSp>
    </p:spTree>
    <p:custDataLst>
      <p:tags r:id="rId1"/>
    </p:custDataLst>
  </p:cSld>
  <p:clrMapOvr>
    <a:masterClrMapping/>
  </p:clrMapOvr>
  <p:transition advTm="15199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bg/>
                                          </p:spTgt>
                                        </p:tgtEl>
                                        <p:attrNameLst>
                                          <p:attrName>style.visibility</p:attrName>
                                        </p:attrNameLst>
                                      </p:cBhvr>
                                      <p:to>
                                        <p:strVal val="visible"/>
                                      </p:to>
                                    </p:set>
                                    <p:animEffect transition="in" filter="blinds(horizontal)">
                                      <p:cBhvr>
                                        <p:cTn id="7" dur="500"/>
                                        <p:tgtEl>
                                          <p:spTgt spid="24">
                                            <p:bg/>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4">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4">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4">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4">
                                            <p:txEl>
                                              <p:pRg st="4" end="4"/>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4">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4">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4">
                                            <p:txEl>
                                              <p:pRg st="8" end="8"/>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4">
                                            <p:txEl>
                                              <p:pRg st="9" end="9"/>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4">
                                            <p:txEl>
                                              <p:pRg st="10" end="10"/>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4">
                                            <p:txEl>
                                              <p:pRg st="11" end="11"/>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4">
                                            <p:txEl>
                                              <p:pRg st="12" end="12"/>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4">
                                            <p:txEl>
                                              <p:pRg st="13" end="13"/>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4">
                                            <p:txEl>
                                              <p:pRg st="14" end="14"/>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4">
                                            <p:txEl>
                                              <p:pRg st="15" end="15"/>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4">
                                            <p:txEl>
                                              <p:pRg st="16" end="16"/>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4">
                                            <p:txEl>
                                              <p:pRg st="17" end="17"/>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24">
                                            <p:txEl>
                                              <p:pRg st="18" end="18"/>
                                            </p:txEl>
                                          </p:spTgt>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4">
                                            <p:txEl>
                                              <p:pRg st="19" end="19"/>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24">
                                            <p:txEl>
                                              <p:pRg st="20" end="20"/>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4">
                                            <p:txEl>
                                              <p:pRg st="21" end="21"/>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4">
                                            <p:txEl>
                                              <p:pRg st="22" end="22"/>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4">
                                            <p:txEl>
                                              <p:pRg st="23" end="23"/>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14" grpId="0" animBg="1"/>
      <p:bldP spid="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表格 43"/>
          <p:cNvGraphicFramePr>
            <a:graphicFrameLocks noGrp="1"/>
          </p:cNvGraphicFramePr>
          <p:nvPr>
            <p:custDataLst>
              <p:tags r:id="rId2"/>
            </p:custDataLst>
            <p:extLst>
              <p:ext uri="{D42A27DB-BD31-4B8C-83A1-F6EECF244321}">
                <p14:modId xmlns:p14="http://schemas.microsoft.com/office/powerpoint/2010/main" val="3035487283"/>
              </p:ext>
            </p:extLst>
          </p:nvPr>
        </p:nvGraphicFramePr>
        <p:xfrm>
          <a:off x="795317" y="2388750"/>
          <a:ext cx="2686217" cy="1813560"/>
        </p:xfrm>
        <a:graphic>
          <a:graphicData uri="http://schemas.openxmlformats.org/drawingml/2006/table">
            <a:tbl>
              <a:tblPr firstRow="1" bandRow="1">
                <a:tableStyleId>{5C22544A-7EE6-4342-B048-85BDC9FD1C3A}</a:tableStyleId>
              </a:tblPr>
              <a:tblGrid>
                <a:gridCol w="897530">
                  <a:extLst>
                    <a:ext uri="{9D8B030D-6E8A-4147-A177-3AD203B41FA5}">
                      <a16:colId xmlns:a16="http://schemas.microsoft.com/office/drawing/2014/main" val="20000"/>
                    </a:ext>
                  </a:extLst>
                </a:gridCol>
                <a:gridCol w="627740">
                  <a:extLst>
                    <a:ext uri="{9D8B030D-6E8A-4147-A177-3AD203B41FA5}">
                      <a16:colId xmlns:a16="http://schemas.microsoft.com/office/drawing/2014/main" val="20001"/>
                    </a:ext>
                  </a:extLst>
                </a:gridCol>
                <a:gridCol w="621367">
                  <a:extLst>
                    <a:ext uri="{9D8B030D-6E8A-4147-A177-3AD203B41FA5}">
                      <a16:colId xmlns:a16="http://schemas.microsoft.com/office/drawing/2014/main" val="20002"/>
                    </a:ext>
                  </a:extLst>
                </a:gridCol>
                <a:gridCol w="539580">
                  <a:extLst>
                    <a:ext uri="{9D8B030D-6E8A-4147-A177-3AD203B41FA5}">
                      <a16:colId xmlns:a16="http://schemas.microsoft.com/office/drawing/2014/main" val="20003"/>
                    </a:ext>
                  </a:extLst>
                </a:gridCol>
              </a:tblGrid>
              <a:tr h="685800">
                <a:tc>
                  <a:txBody>
                    <a:bodyPr/>
                    <a:lstStyle/>
                    <a:p>
                      <a:r>
                        <a:rPr lang="zh-CN" altLang="en-US" sz="1400" dirty="0"/>
                        <a:t>         </a:t>
                      </a:r>
                      <a:r>
                        <a:rPr lang="en-US" altLang="zh-CN" sz="1400" dirty="0" err="1"/>
                        <a:t>ch</a:t>
                      </a:r>
                      <a:endParaRPr lang="en-US" altLang="zh-CN" sz="1400" dirty="0"/>
                    </a:p>
                    <a:p>
                      <a:r>
                        <a:rPr lang="en-US" altLang="zh-CN" sz="1400" dirty="0"/>
                        <a:t>state</a:t>
                      </a:r>
                      <a:endParaRPr lang="zh-CN" altLang="en-US" sz="1400" dirty="0"/>
                    </a:p>
                  </a:txBody>
                  <a:tcPr marL="68580" marR="68580" marT="34290" marB="34290">
                    <a:lnTlToBr w="12700" cap="flat" cmpd="sng" algn="ctr">
                      <a:solidFill>
                        <a:schemeClr val="bg1"/>
                      </a:solidFill>
                      <a:prstDash val="solid"/>
                      <a:round/>
                      <a:headEnd type="none" w="med" len="med"/>
                      <a:tailEnd type="none" w="med" len="med"/>
                    </a:lnTlToBr>
                  </a:tcPr>
                </a:tc>
                <a:tc>
                  <a:txBody>
                    <a:bodyPr/>
                    <a:lstStyle/>
                    <a:p>
                      <a:pPr algn="ctr"/>
                      <a:r>
                        <a:rPr lang="en-US" altLang="zh-CN" sz="1400" dirty="0"/>
                        <a:t>0</a:t>
                      </a:r>
                      <a:endParaRPr lang="zh-CN" altLang="en-US" sz="1400" dirty="0"/>
                    </a:p>
                  </a:txBody>
                  <a:tcPr marL="68580" marR="68580" marT="34290" marB="34290" anchor="ctr"/>
                </a:tc>
                <a:tc>
                  <a:txBody>
                    <a:bodyPr/>
                    <a:lstStyle/>
                    <a:p>
                      <a:pPr algn="ctr"/>
                      <a:r>
                        <a:rPr lang="en-US" altLang="zh-CN" sz="1400" dirty="0"/>
                        <a:t>1~9</a:t>
                      </a:r>
                      <a:endParaRPr lang="zh-CN" altLang="en-US" sz="1400" dirty="0"/>
                    </a:p>
                  </a:txBody>
                  <a:tcPr marL="68580" marR="68580" marT="34290" marB="34290" anchor="ctr"/>
                </a:tc>
                <a:tc>
                  <a:txBody>
                    <a:bodyPr/>
                    <a:lstStyle/>
                    <a:p>
                      <a:pPr algn="ctr">
                        <a:buNone/>
                      </a:pPr>
                      <a:r>
                        <a:rPr lang="zh-CN" altLang="en-US" sz="1400" dirty="0"/>
                        <a:t>其他</a:t>
                      </a:r>
                    </a:p>
                  </a:txBody>
                  <a:tcPr marL="68580" marR="68580" marT="34290" marB="34290" anchor="ctr"/>
                </a:tc>
                <a:extLst>
                  <a:ext uri="{0D108BD9-81ED-4DB2-BD59-A6C34878D82A}">
                    <a16:rowId xmlns:a16="http://schemas.microsoft.com/office/drawing/2014/main" val="10000"/>
                  </a:ext>
                </a:extLst>
              </a:tr>
              <a:tr h="274320">
                <a:tc>
                  <a:txBody>
                    <a:bodyPr/>
                    <a:lstStyle/>
                    <a:p>
                      <a:pPr algn="ctr"/>
                      <a:r>
                        <a:rPr lang="en-US" altLang="zh-CN" sz="1400" dirty="0"/>
                        <a:t>0</a:t>
                      </a:r>
                      <a:endParaRPr lang="zh-CN" altLang="en-US" sz="1400" dirty="0"/>
                    </a:p>
                  </a:txBody>
                  <a:tcPr marL="68580" marR="68580" marT="34290" marB="34290" anchor="ctr"/>
                </a:tc>
                <a:tc>
                  <a:txBody>
                    <a:bodyPr/>
                    <a:lstStyle/>
                    <a:p>
                      <a:pPr algn="ctr"/>
                      <a:r>
                        <a:rPr lang="en-US" altLang="zh-CN" sz="1400" dirty="0"/>
                        <a:t>3</a:t>
                      </a:r>
                      <a:endParaRPr lang="zh-CN" altLang="en-US" sz="1400" dirty="0"/>
                    </a:p>
                  </a:txBody>
                  <a:tcPr marL="68580" marR="68580" marT="34290" marB="34290" anchor="ctr"/>
                </a:tc>
                <a:tc>
                  <a:txBody>
                    <a:bodyPr/>
                    <a:lstStyle/>
                    <a:p>
                      <a:pPr algn="ctr"/>
                      <a:r>
                        <a:rPr lang="en-US" altLang="zh-CN" sz="1400" dirty="0"/>
                        <a:t>1</a:t>
                      </a:r>
                      <a:endParaRPr lang="zh-CN" altLang="en-US" sz="1400" dirty="0"/>
                    </a:p>
                  </a:txBody>
                  <a:tcPr marL="68580" marR="68580" marT="34290" marB="34290" anchor="ctr"/>
                </a:tc>
                <a:tc>
                  <a:txBody>
                    <a:bodyPr/>
                    <a:lstStyle/>
                    <a:p>
                      <a:pPr algn="ctr">
                        <a:buNone/>
                      </a:pPr>
                      <a:r>
                        <a:rPr lang="en-US" altLang="zh-CN" sz="1400" dirty="0"/>
                        <a:t>/</a:t>
                      </a:r>
                    </a:p>
                  </a:txBody>
                  <a:tcPr marL="68580" marR="68580" marT="34290" marB="34290" anchor="ctr"/>
                </a:tc>
                <a:extLst>
                  <a:ext uri="{0D108BD9-81ED-4DB2-BD59-A6C34878D82A}">
                    <a16:rowId xmlns:a16="http://schemas.microsoft.com/office/drawing/2014/main" val="10001"/>
                  </a:ext>
                </a:extLst>
              </a:tr>
              <a:tr h="274320">
                <a:tc>
                  <a:txBody>
                    <a:bodyPr/>
                    <a:lstStyle/>
                    <a:p>
                      <a:pPr algn="ctr"/>
                      <a:r>
                        <a:rPr lang="en-US" altLang="zh-CN" sz="1400" dirty="0"/>
                        <a:t>1</a:t>
                      </a:r>
                      <a:endParaRPr lang="zh-CN" altLang="en-US" sz="1400" dirty="0"/>
                    </a:p>
                  </a:txBody>
                  <a:tcPr marL="68580" marR="68580" marT="34290" marB="34290" anchor="ctr"/>
                </a:tc>
                <a:tc>
                  <a:txBody>
                    <a:bodyPr/>
                    <a:lstStyle/>
                    <a:p>
                      <a:pPr algn="ctr"/>
                      <a:r>
                        <a:rPr lang="en-US" altLang="zh-CN" sz="1400" dirty="0"/>
                        <a:t>1</a:t>
                      </a:r>
                      <a:endParaRPr lang="zh-CN" altLang="en-US" sz="1400" dirty="0"/>
                    </a:p>
                  </a:txBody>
                  <a:tcPr marL="68580" marR="68580" marT="34290" marB="34290" anchor="ctr"/>
                </a:tc>
                <a:tc>
                  <a:txBody>
                    <a:bodyPr/>
                    <a:lstStyle/>
                    <a:p>
                      <a:pPr algn="ctr"/>
                      <a:r>
                        <a:rPr lang="en-US" altLang="zh-CN" sz="1400" dirty="0"/>
                        <a:t>1</a:t>
                      </a:r>
                      <a:endParaRPr lang="zh-CN" altLang="en-US" sz="1400" dirty="0"/>
                    </a:p>
                  </a:txBody>
                  <a:tcPr marL="68580" marR="68580" marT="34290" marB="34290" anchor="ctr"/>
                </a:tc>
                <a:tc>
                  <a:txBody>
                    <a:bodyPr/>
                    <a:lstStyle/>
                    <a:p>
                      <a:pPr algn="ctr">
                        <a:buNone/>
                      </a:pPr>
                      <a:r>
                        <a:rPr lang="en-US" altLang="zh-CN" sz="1400" dirty="0"/>
                        <a:t>2</a:t>
                      </a:r>
                    </a:p>
                  </a:txBody>
                  <a:tcPr marL="68580" marR="68580" marT="34290" marB="34290" anchor="ctr"/>
                </a:tc>
                <a:extLst>
                  <a:ext uri="{0D108BD9-81ED-4DB2-BD59-A6C34878D82A}">
                    <a16:rowId xmlns:a16="http://schemas.microsoft.com/office/drawing/2014/main" val="10002"/>
                  </a:ext>
                </a:extLst>
              </a:tr>
              <a:tr h="274320">
                <a:tc>
                  <a:txBody>
                    <a:bodyPr/>
                    <a:lstStyle/>
                    <a:p>
                      <a:pPr algn="ctr">
                        <a:buNone/>
                      </a:pPr>
                      <a:r>
                        <a:rPr lang="en-US" altLang="zh-CN" sz="1400" dirty="0"/>
                        <a:t>2</a:t>
                      </a:r>
                    </a:p>
                  </a:txBody>
                  <a:tcPr marL="68580" marR="68580" marT="34290" marB="34290" anchor="ctr"/>
                </a:tc>
                <a:tc>
                  <a:txBody>
                    <a:bodyPr/>
                    <a:lstStyle/>
                    <a:p>
                      <a:pPr algn="ctr">
                        <a:buNone/>
                      </a:pPr>
                      <a:r>
                        <a:rPr lang="en-US" altLang="zh-CN" sz="1400" dirty="0"/>
                        <a:t>/</a:t>
                      </a:r>
                    </a:p>
                  </a:txBody>
                  <a:tcPr marL="68580" marR="68580" marT="34290" marB="34290" anchor="ctr"/>
                </a:tc>
                <a:tc>
                  <a:txBody>
                    <a:bodyPr/>
                    <a:lstStyle/>
                    <a:p>
                      <a:pPr algn="ctr">
                        <a:buNone/>
                      </a:pPr>
                      <a:r>
                        <a:rPr lang="en-US" altLang="zh-CN" sz="1400" dirty="0"/>
                        <a:t>/</a:t>
                      </a:r>
                    </a:p>
                  </a:txBody>
                  <a:tcPr marL="68580" marR="68580" marT="34290" marB="34290" anchor="ctr"/>
                </a:tc>
                <a:tc>
                  <a:txBody>
                    <a:bodyPr/>
                    <a:lstStyle/>
                    <a:p>
                      <a:pPr algn="ctr">
                        <a:buNone/>
                      </a:pPr>
                      <a:r>
                        <a:rPr lang="en-US" altLang="zh-CN" sz="1400" dirty="0"/>
                        <a:t>/</a:t>
                      </a:r>
                    </a:p>
                  </a:txBody>
                  <a:tcPr marL="68580" marR="68580" marT="34290" marB="34290" anchor="ctr"/>
                </a:tc>
                <a:extLst>
                  <a:ext uri="{0D108BD9-81ED-4DB2-BD59-A6C34878D82A}">
                    <a16:rowId xmlns:a16="http://schemas.microsoft.com/office/drawing/2014/main" val="10003"/>
                  </a:ext>
                </a:extLst>
              </a:tr>
              <a:tr h="274320">
                <a:tc>
                  <a:txBody>
                    <a:bodyPr/>
                    <a:lstStyle/>
                    <a:p>
                      <a:pPr algn="ctr">
                        <a:buNone/>
                      </a:pPr>
                      <a:r>
                        <a:rPr lang="en-US" altLang="zh-CN" sz="1400" dirty="0"/>
                        <a:t>3</a:t>
                      </a:r>
                    </a:p>
                  </a:txBody>
                  <a:tcPr marL="68580" marR="68580" marT="34290" marB="34290" anchor="ctr"/>
                </a:tc>
                <a:tc>
                  <a:txBody>
                    <a:bodyPr/>
                    <a:lstStyle/>
                    <a:p>
                      <a:pPr algn="ctr">
                        <a:buNone/>
                      </a:pPr>
                      <a:r>
                        <a:rPr lang="en-US" altLang="zh-CN" sz="1400" dirty="0"/>
                        <a:t>/</a:t>
                      </a:r>
                    </a:p>
                  </a:txBody>
                  <a:tcPr marL="68580" marR="68580" marT="34290" marB="34290" anchor="ctr"/>
                </a:tc>
                <a:tc>
                  <a:txBody>
                    <a:bodyPr/>
                    <a:lstStyle/>
                    <a:p>
                      <a:pPr algn="ctr">
                        <a:buNone/>
                      </a:pPr>
                      <a:r>
                        <a:rPr lang="en-US" altLang="zh-CN" sz="1400" dirty="0"/>
                        <a:t>/</a:t>
                      </a:r>
                    </a:p>
                  </a:txBody>
                  <a:tcPr marL="68580" marR="68580" marT="34290" marB="34290" anchor="ctr"/>
                </a:tc>
                <a:tc>
                  <a:txBody>
                    <a:bodyPr/>
                    <a:lstStyle/>
                    <a:p>
                      <a:pPr algn="ctr">
                        <a:buNone/>
                      </a:pPr>
                      <a:r>
                        <a:rPr lang="en-US" altLang="zh-CN" sz="1400" dirty="0"/>
                        <a:t>/</a:t>
                      </a:r>
                    </a:p>
                  </a:txBody>
                  <a:tcPr marL="68580" marR="68580" marT="34290" marB="34290" anchor="ctr"/>
                </a:tc>
                <a:extLst>
                  <a:ext uri="{0D108BD9-81ED-4DB2-BD59-A6C34878D82A}">
                    <a16:rowId xmlns:a16="http://schemas.microsoft.com/office/drawing/2014/main" val="10004"/>
                  </a:ext>
                </a:extLst>
              </a:tr>
            </a:tbl>
          </a:graphicData>
        </a:graphic>
      </p:graphicFrame>
      <p:grpSp>
        <p:nvGrpSpPr>
          <p:cNvPr id="10" name="组合 9"/>
          <p:cNvGrpSpPr/>
          <p:nvPr/>
        </p:nvGrpSpPr>
        <p:grpSpPr>
          <a:xfrm>
            <a:off x="611560" y="903662"/>
            <a:ext cx="3067042" cy="1152628"/>
            <a:chOff x="2671" y="3973"/>
            <a:chExt cx="8255" cy="3489"/>
          </a:xfrm>
        </p:grpSpPr>
        <p:sp>
          <p:nvSpPr>
            <p:cNvPr id="11" name="Text Box 33"/>
            <p:cNvSpPr txBox="1"/>
            <p:nvPr>
              <p:custDataLst>
                <p:tags r:id="rId3"/>
              </p:custDataLst>
            </p:nvPr>
          </p:nvSpPr>
          <p:spPr>
            <a:xfrm>
              <a:off x="10453" y="4644"/>
              <a:ext cx="473" cy="111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1800" dirty="0">
                  <a:solidFill>
                    <a:schemeClr val="dk1"/>
                  </a:solidFill>
                  <a:latin typeface="幼圆" panose="02010509060101010101" charset="-122"/>
                  <a:ea typeface="幼圆" panose="02010509060101010101" charset="-122"/>
                </a:rPr>
                <a:t>*</a:t>
              </a:r>
            </a:p>
          </p:txBody>
        </p:sp>
        <p:sp>
          <p:nvSpPr>
            <p:cNvPr id="12" name="椭圆 11"/>
            <p:cNvSpPr/>
            <p:nvPr>
              <p:custDataLst>
                <p:tags r:id="rId4"/>
              </p:custDataLst>
            </p:nvPr>
          </p:nvSpPr>
          <p:spPr>
            <a:xfrm>
              <a:off x="3328" y="4934"/>
              <a:ext cx="1093" cy="1093"/>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0</a:t>
              </a:r>
            </a:p>
          </p:txBody>
        </p:sp>
        <p:sp>
          <p:nvSpPr>
            <p:cNvPr id="13" name="椭圆 12"/>
            <p:cNvSpPr/>
            <p:nvPr>
              <p:custDataLst>
                <p:tags r:id="rId5"/>
              </p:custDataLst>
            </p:nvPr>
          </p:nvSpPr>
          <p:spPr>
            <a:xfrm>
              <a:off x="6633" y="4949"/>
              <a:ext cx="1095" cy="1095"/>
            </a:xfrm>
            <a:prstGeom prst="ellipse">
              <a:avLst/>
            </a:prstGeom>
            <a:solidFill>
              <a:schemeClr val="lt1"/>
            </a:solidFill>
            <a:ln w="29591" cmpd="sng">
              <a:solidFill>
                <a:schemeClr val="dk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1</a:t>
              </a:r>
            </a:p>
          </p:txBody>
        </p:sp>
        <p:sp>
          <p:nvSpPr>
            <p:cNvPr id="14" name="椭圆 13"/>
            <p:cNvSpPr/>
            <p:nvPr>
              <p:custDataLst>
                <p:tags r:id="rId6"/>
              </p:custDataLst>
            </p:nvPr>
          </p:nvSpPr>
          <p:spPr>
            <a:xfrm>
              <a:off x="9553" y="4934"/>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15" name="椭圆 14"/>
            <p:cNvSpPr/>
            <p:nvPr>
              <p:custDataLst>
                <p:tags r:id="rId7"/>
              </p:custDataLst>
            </p:nvPr>
          </p:nvSpPr>
          <p:spPr>
            <a:xfrm>
              <a:off x="9691" y="5079"/>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2</a:t>
              </a:r>
            </a:p>
          </p:txBody>
        </p:sp>
        <p:sp>
          <p:nvSpPr>
            <p:cNvPr id="16" name="箭头: 右 9"/>
            <p:cNvSpPr/>
            <p:nvPr>
              <p:custDataLst>
                <p:tags r:id="rId8"/>
              </p:custDataLst>
            </p:nvPr>
          </p:nvSpPr>
          <p:spPr>
            <a:xfrm>
              <a:off x="2671" y="5314"/>
              <a:ext cx="658" cy="275"/>
            </a:xfrm>
            <a:prstGeom prst="rightArrow">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cxnSp>
          <p:nvCxnSpPr>
            <p:cNvPr id="20" name="直接箭头连接符 19"/>
            <p:cNvCxnSpPr>
              <a:stCxn id="12" idx="6"/>
              <a:endCxn id="13" idx="2"/>
            </p:cNvCxnSpPr>
            <p:nvPr>
              <p:custDataLst>
                <p:tags r:id="rId9"/>
              </p:custDataLst>
            </p:nvPr>
          </p:nvCxnSpPr>
          <p:spPr>
            <a:xfrm>
              <a:off x="4421" y="5479"/>
              <a:ext cx="2213"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3" idx="6"/>
            </p:cNvCxnSpPr>
            <p:nvPr>
              <p:custDataLst>
                <p:tags r:id="rId10"/>
              </p:custDataLst>
            </p:nvPr>
          </p:nvCxnSpPr>
          <p:spPr>
            <a:xfrm flipV="1">
              <a:off x="7728" y="5479"/>
              <a:ext cx="1825" cy="18"/>
            </a:xfrm>
            <a:prstGeom prst="straightConnector1">
              <a:avLst/>
            </a:prstGeom>
            <a:ln w="28575">
              <a:solidFill>
                <a:schemeClr val="dk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12"/>
            <p:cNvCxnSpPr>
              <a:stCxn id="13" idx="1"/>
              <a:endCxn id="13" idx="7"/>
            </p:cNvCxnSpPr>
            <p:nvPr>
              <p:custDataLst>
                <p:tags r:id="rId11"/>
              </p:custDataLst>
            </p:nvPr>
          </p:nvCxnSpPr>
          <p:spPr>
            <a:xfrm rot="5400000" flipH="1" flipV="1">
              <a:off x="7181" y="4724"/>
              <a:ext cx="20" cy="775"/>
            </a:xfrm>
            <a:prstGeom prst="curvedConnector3">
              <a:avLst>
                <a:gd name="adj1" fmla="val 2601354"/>
              </a:avLst>
            </a:prstGeom>
            <a:ln w="28575">
              <a:solidFill>
                <a:schemeClr val="dk1"/>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13"/>
            <p:cNvSpPr txBox="1"/>
            <p:nvPr>
              <p:custDataLst>
                <p:tags r:id="rId12"/>
              </p:custDataLst>
            </p:nvPr>
          </p:nvSpPr>
          <p:spPr>
            <a:xfrm>
              <a:off x="4783" y="4635"/>
              <a:ext cx="1274" cy="9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500" dirty="0">
                  <a:solidFill>
                    <a:schemeClr val="dk1"/>
                  </a:solidFill>
                  <a:latin typeface="幼圆" panose="02010509060101010101" charset="-122"/>
                  <a:ea typeface="幼圆" panose="02010509060101010101" charset="-122"/>
                </a:rPr>
                <a:t>1-9</a:t>
              </a:r>
            </a:p>
          </p:txBody>
        </p:sp>
        <p:sp>
          <p:nvSpPr>
            <p:cNvPr id="24" name="文本框 14"/>
            <p:cNvSpPr txBox="1"/>
            <p:nvPr>
              <p:custDataLst>
                <p:tags r:id="rId13"/>
              </p:custDataLst>
            </p:nvPr>
          </p:nvSpPr>
          <p:spPr>
            <a:xfrm>
              <a:off x="8146" y="4831"/>
              <a:ext cx="1222" cy="7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solidFill>
                    <a:schemeClr val="dk1"/>
                  </a:solidFill>
                  <a:latin typeface="幼圆" panose="02010509060101010101" charset="-122"/>
                  <a:ea typeface="幼圆" panose="02010509060101010101" charset="-122"/>
                </a:rPr>
                <a:t>其他</a:t>
              </a:r>
            </a:p>
          </p:txBody>
        </p:sp>
        <p:sp>
          <p:nvSpPr>
            <p:cNvPr id="25" name="文本框 24"/>
            <p:cNvSpPr txBox="1"/>
            <p:nvPr>
              <p:custDataLst>
                <p:tags r:id="rId14"/>
              </p:custDataLst>
            </p:nvPr>
          </p:nvSpPr>
          <p:spPr>
            <a:xfrm>
              <a:off x="6902" y="6272"/>
              <a:ext cx="678" cy="7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050" dirty="0">
                  <a:solidFill>
                    <a:schemeClr val="dk1"/>
                  </a:solidFill>
                  <a:latin typeface="幼圆" panose="02010509060101010101" charset="-122"/>
                  <a:ea typeface="幼圆" panose="02010509060101010101" charset="-122"/>
                </a:rPr>
                <a:t>0</a:t>
              </a:r>
            </a:p>
          </p:txBody>
        </p:sp>
        <p:cxnSp>
          <p:nvCxnSpPr>
            <p:cNvPr id="26" name="连接符: 曲线 57"/>
            <p:cNvCxnSpPr>
              <a:stCxn id="12" idx="5"/>
            </p:cNvCxnSpPr>
            <p:nvPr>
              <p:custDataLst>
                <p:tags r:id="rId15"/>
              </p:custDataLst>
            </p:nvPr>
          </p:nvCxnSpPr>
          <p:spPr>
            <a:xfrm rot="16200000" flipH="1">
              <a:off x="6316" y="3809"/>
              <a:ext cx="1172" cy="5285"/>
            </a:xfrm>
            <a:prstGeom prst="curvedConnector2">
              <a:avLst/>
            </a:prstGeom>
            <a:ln w="28575" cap="flat" cmpd="sng">
              <a:solidFill>
                <a:srgbClr val="000000"/>
              </a:solidFill>
              <a:prstDash val="solid"/>
              <a:headEnd type="none" w="med" len="med"/>
              <a:tailEnd type="triangle" w="med" len="med"/>
            </a:ln>
          </p:spPr>
        </p:cxnSp>
        <p:sp>
          <p:nvSpPr>
            <p:cNvPr id="27" name="椭圆 26"/>
            <p:cNvSpPr/>
            <p:nvPr>
              <p:custDataLst>
                <p:tags r:id="rId16"/>
              </p:custDataLst>
            </p:nvPr>
          </p:nvSpPr>
          <p:spPr>
            <a:xfrm>
              <a:off x="9546" y="6369"/>
              <a:ext cx="1095" cy="109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endParaRPr lang="zh-CN" altLang="en-US" sz="2100">
                <a:latin typeface="幼圆" panose="02010509060101010101" charset="-122"/>
                <a:ea typeface="幼圆" panose="02010509060101010101" charset="-122"/>
              </a:endParaRPr>
            </a:p>
          </p:txBody>
        </p:sp>
        <p:sp>
          <p:nvSpPr>
            <p:cNvPr id="28" name="椭圆 27"/>
            <p:cNvSpPr/>
            <p:nvPr>
              <p:custDataLst>
                <p:tags r:id="rId17"/>
              </p:custDataLst>
            </p:nvPr>
          </p:nvSpPr>
          <p:spPr>
            <a:xfrm>
              <a:off x="9683" y="6514"/>
              <a:ext cx="820" cy="803"/>
            </a:xfrm>
            <a:prstGeom prst="ellipse">
              <a:avLst/>
            </a:prstGeom>
            <a:solidFill>
              <a:schemeClr val="lt1"/>
            </a:solidFill>
            <a:ln w="29591" cmpd="sng">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pPr>
              <a:r>
                <a:rPr lang="en-US" altLang="zh-CN" sz="2100" dirty="0">
                  <a:solidFill>
                    <a:schemeClr val="dk1"/>
                  </a:solidFill>
                  <a:latin typeface="幼圆" panose="02010509060101010101" charset="-122"/>
                  <a:ea typeface="幼圆" panose="02010509060101010101" charset="-122"/>
                </a:rPr>
                <a:t>3</a:t>
              </a:r>
            </a:p>
          </p:txBody>
        </p:sp>
        <p:sp>
          <p:nvSpPr>
            <p:cNvPr id="29" name="文本框 13"/>
            <p:cNvSpPr txBox="1"/>
            <p:nvPr>
              <p:custDataLst>
                <p:tags r:id="rId18"/>
              </p:custDataLst>
            </p:nvPr>
          </p:nvSpPr>
          <p:spPr>
            <a:xfrm>
              <a:off x="6633" y="3973"/>
              <a:ext cx="1196" cy="9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en-US" altLang="zh-CN" sz="1350" dirty="0">
                  <a:solidFill>
                    <a:schemeClr val="dk1"/>
                  </a:solidFill>
                  <a:latin typeface="幼圆" panose="02010509060101010101" charset="-122"/>
                  <a:ea typeface="幼圆" panose="02010509060101010101" charset="-122"/>
                </a:rPr>
                <a:t>0-9</a:t>
              </a:r>
            </a:p>
          </p:txBody>
        </p:sp>
      </p:grpSp>
      <p:sp>
        <p:nvSpPr>
          <p:cNvPr id="48" name="标题 5">
            <a:extLst>
              <a:ext uri="{FF2B5EF4-FFF2-40B4-BE49-F238E27FC236}">
                <a16:creationId xmlns:a16="http://schemas.microsoft.com/office/drawing/2014/main" id="{E856994E-8B20-4FCE-9DF7-D5B2BA55AB5D}"/>
              </a:ext>
            </a:extLst>
          </p:cNvPr>
          <p:cNvSpPr>
            <a:spLocks noGrp="1"/>
          </p:cNvSpPr>
          <p:nvPr>
            <p:ph type="title"/>
          </p:nvPr>
        </p:nvSpPr>
        <p:spPr>
          <a:xfrm>
            <a:off x="107502" y="35721"/>
            <a:ext cx="5789907" cy="504056"/>
          </a:xfrm>
        </p:spPr>
        <p:txBody>
          <a:bodyPr>
            <a:noAutofit/>
          </a:bodyPr>
          <a:lstStyle/>
          <a:p>
            <a:r>
              <a:rPr lang="zh-CN" altLang="en-US" dirty="0"/>
              <a:t>状态转换图一般化及实现</a:t>
            </a:r>
            <a:endParaRPr lang="zh-CN" altLang="en-US" b="1" dirty="0"/>
          </a:p>
        </p:txBody>
      </p:sp>
      <p:sp>
        <p:nvSpPr>
          <p:cNvPr id="50" name="内容占位符 23">
            <a:extLst>
              <a:ext uri="{FF2B5EF4-FFF2-40B4-BE49-F238E27FC236}">
                <a16:creationId xmlns:a16="http://schemas.microsoft.com/office/drawing/2014/main" id="{45A9DCED-F68C-4203-8992-1D7B08C25D6C}"/>
              </a:ext>
            </a:extLst>
          </p:cNvPr>
          <p:cNvSpPr>
            <a:spLocks noGrp="1"/>
          </p:cNvSpPr>
          <p:nvPr>
            <p:ph idx="1"/>
          </p:nvPr>
        </p:nvSpPr>
        <p:spPr>
          <a:xfrm>
            <a:off x="5351433" y="195486"/>
            <a:ext cx="3685065" cy="4896544"/>
          </a:xfrm>
          <a:solidFill>
            <a:schemeClr val="bg2">
              <a:lumMod val="90000"/>
            </a:schemeClr>
          </a:solidFill>
          <a:ln cmpd="sng">
            <a:solidFill>
              <a:schemeClr val="accent2"/>
            </a:solidFill>
          </a:ln>
        </p:spPr>
        <p:txBody>
          <a:bodyPr>
            <a:noAutofit/>
          </a:bodyPr>
          <a:lstStyle/>
          <a:p>
            <a:pPr marL="0" indent="0" algn="just">
              <a:lnSpc>
                <a:spcPct val="110000"/>
              </a:lnSpc>
              <a:spcBef>
                <a:spcPct val="0"/>
              </a:spcBef>
              <a:buNone/>
            </a:pPr>
            <a:r>
              <a:rPr lang="en-US" altLang="zh-CN" sz="1200" dirty="0" err="1">
                <a:solidFill>
                  <a:srgbClr val="3217BB"/>
                </a:solidFill>
                <a:latin typeface="Times New Roman" panose="02020603050405020304" pitchFamily="18" charset="0"/>
                <a:cs typeface="Times New Roman" panose="02020603050405020304" pitchFamily="18" charset="0"/>
              </a:rPr>
              <a:t>Recogonizenum</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zh-CN" altLang="en-US" sz="1200" dirty="0">
                <a:solidFill>
                  <a:srgbClr val="3217BB"/>
                </a:solidFill>
                <a:latin typeface="Times New Roman" panose="02020603050405020304" pitchFamily="18" charset="0"/>
                <a:cs typeface="Times New Roman" panose="02020603050405020304" pitchFamily="18" charset="0"/>
              </a:rPr>
              <a:t>  </a:t>
            </a:r>
            <a:r>
              <a:rPr lang="en-US" altLang="zh-CN" sz="1200" dirty="0">
                <a:solidFill>
                  <a:srgbClr val="3217BB"/>
                </a:solidFill>
                <a:latin typeface="Times New Roman" panose="02020603050405020304" pitchFamily="18" charset="0"/>
                <a:cs typeface="Times New Roman" panose="02020603050405020304" pitchFamily="18" charset="0"/>
              </a:rPr>
              <a:t>state =0;word=“”;</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a:t>
            </a:r>
            <a:r>
              <a:rPr lang="en-US" altLang="zh-CN" sz="1200" dirty="0" err="1">
                <a:solidFill>
                  <a:srgbClr val="3217BB"/>
                </a:solidFill>
                <a:latin typeface="Times New Roman" panose="02020603050405020304" pitchFamily="18" charset="0"/>
                <a:cs typeface="Times New Roman" panose="02020603050405020304" pitchFamily="18" charset="0"/>
              </a:rPr>
              <a:t>getch</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while(state!=2&amp;&amp;state!=3){</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switch(state){</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case 0: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if(</a:t>
            </a:r>
            <a:r>
              <a:rPr lang="en-US" altLang="zh-CN" sz="1200" dirty="0" err="1">
                <a:solidFill>
                  <a:srgbClr val="FF0000"/>
                </a:solidFill>
                <a:latin typeface="Times New Roman" panose="02020603050405020304" pitchFamily="18" charset="0"/>
                <a:cs typeface="Times New Roman" panose="02020603050405020304" pitchFamily="18" charset="0"/>
                <a:sym typeface="+mn-ea"/>
              </a:rPr>
              <a:t>ch.</a:t>
            </a:r>
            <a:r>
              <a:rPr lang="en-US" altLang="zh-CN" sz="1200" dirty="0" err="1">
                <a:solidFill>
                  <a:srgbClr val="FF0000"/>
                </a:solidFill>
                <a:latin typeface="Times New Roman" panose="02020603050405020304" pitchFamily="18" charset="0"/>
                <a:cs typeface="Times New Roman" panose="02020603050405020304" pitchFamily="18" charset="0"/>
              </a:rPr>
              <a:t>isZero</a:t>
            </a:r>
            <a:r>
              <a:rPr lang="en-US" altLang="zh-CN" sz="1200" dirty="0">
                <a:solidFill>
                  <a:srgbClr val="FF0000"/>
                </a:solidFill>
                <a:latin typeface="Times New Roman" panose="02020603050405020304" pitchFamily="18" charset="0"/>
                <a:cs typeface="Times New Roman" panose="02020603050405020304" pitchFamily="18" charset="0"/>
              </a:rPr>
              <a:t>()</a:t>
            </a: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{state=3; return “0”;}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else if(</a:t>
            </a:r>
            <a:r>
              <a:rPr lang="en-US" altLang="zh-CN" sz="1200" dirty="0" err="1">
                <a:solidFill>
                  <a:srgbClr val="FF0000"/>
                </a:solidFill>
                <a:latin typeface="Times New Roman" panose="02020603050405020304" pitchFamily="18" charset="0"/>
                <a:cs typeface="Times New Roman" panose="02020603050405020304" pitchFamily="18" charset="0"/>
                <a:sym typeface="+mn-ea"/>
              </a:rPr>
              <a:t>ch.</a:t>
            </a:r>
            <a:r>
              <a:rPr lang="en-US" altLang="zh-CN" sz="1200" dirty="0">
                <a:solidFill>
                  <a:srgbClr val="FF0000"/>
                </a:solidFill>
                <a:latin typeface="Times New Roman" panose="02020603050405020304" pitchFamily="18" charset="0"/>
                <a:cs typeface="Times New Roman" panose="02020603050405020304" pitchFamily="18" charset="0"/>
              </a:rPr>
              <a:t>isIn(1,9)</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{state = 1,word.append(</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else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error();</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break;</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case 1:</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if (</a:t>
            </a:r>
            <a:r>
              <a:rPr lang="en-US" altLang="zh-CN" sz="1200" dirty="0" err="1">
                <a:solidFill>
                  <a:srgbClr val="FF0000"/>
                </a:solidFill>
                <a:latin typeface="Times New Roman" panose="02020603050405020304" pitchFamily="18" charset="0"/>
                <a:cs typeface="Times New Roman" panose="02020603050405020304" pitchFamily="18" charset="0"/>
                <a:sym typeface="+mn-ea"/>
              </a:rPr>
              <a:t>ch.</a:t>
            </a:r>
            <a:r>
              <a:rPr lang="en-US" altLang="zh-CN" sz="1200" dirty="0">
                <a:solidFill>
                  <a:srgbClr val="FF0000"/>
                </a:solidFill>
                <a:latin typeface="Times New Roman" panose="02020603050405020304" pitchFamily="18" charset="0"/>
                <a:cs typeface="Times New Roman" panose="02020603050405020304" pitchFamily="18" charset="0"/>
                <a:sym typeface="+mn-ea"/>
              </a:rPr>
              <a:t>is</a:t>
            </a:r>
            <a:r>
              <a:rPr lang="en-US" altLang="zh-CN" sz="1200" dirty="0" err="1">
                <a:solidFill>
                  <a:srgbClr val="FF0000"/>
                </a:solidFill>
                <a:latin typeface="Times New Roman" panose="02020603050405020304" pitchFamily="18" charset="0"/>
                <a:cs typeface="Times New Roman" panose="02020603050405020304" pitchFamily="18" charset="0"/>
              </a:rPr>
              <a:t>In</a:t>
            </a:r>
            <a:r>
              <a:rPr lang="en-US" altLang="zh-CN" sz="1200" dirty="0">
                <a:solidFill>
                  <a:srgbClr val="FF0000"/>
                </a:solidFill>
                <a:latin typeface="Times New Roman" panose="02020603050405020304" pitchFamily="18" charset="0"/>
                <a:cs typeface="Times New Roman" panose="02020603050405020304" pitchFamily="18" charset="0"/>
              </a:rPr>
              <a:t>(0,9)</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word. append(</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else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state = 2;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r>
              <a:rPr lang="en-US" altLang="zh-CN" sz="1200" dirty="0" err="1">
                <a:solidFill>
                  <a:srgbClr val="3217BB"/>
                </a:solidFill>
                <a:latin typeface="Times New Roman" panose="02020603050405020304" pitchFamily="18" charset="0"/>
                <a:cs typeface="Times New Roman" panose="02020603050405020304" pitchFamily="18" charset="0"/>
              </a:rPr>
              <a:t>ch</a:t>
            </a:r>
            <a:r>
              <a:rPr lang="en-US" altLang="zh-CN" sz="1200" dirty="0">
                <a:solidFill>
                  <a:srgbClr val="3217BB"/>
                </a:solidFill>
                <a:latin typeface="Times New Roman" panose="02020603050405020304" pitchFamily="18" charset="0"/>
                <a:cs typeface="Times New Roman" panose="02020603050405020304" pitchFamily="18" charset="0"/>
              </a:rPr>
              <a:t>=</a:t>
            </a:r>
            <a:r>
              <a:rPr lang="en-US" altLang="zh-CN" sz="1200" dirty="0" err="1">
                <a:solidFill>
                  <a:srgbClr val="3217BB"/>
                </a:solidFill>
                <a:latin typeface="Times New Roman" panose="02020603050405020304" pitchFamily="18" charset="0"/>
                <a:cs typeface="Times New Roman" panose="02020603050405020304" pitchFamily="18" charset="0"/>
              </a:rPr>
              <a:t>getch</a:t>
            </a:r>
            <a:r>
              <a:rPr lang="en-US" altLang="zh-CN" sz="1200" dirty="0">
                <a:solidFill>
                  <a:srgbClr val="3217BB"/>
                </a:solidFill>
                <a:latin typeface="Times New Roman" panose="02020603050405020304" pitchFamily="18" charset="0"/>
                <a:cs typeface="Times New Roman" panose="02020603050405020304" pitchFamily="18" charset="0"/>
              </a:rPr>
              <a:t>();</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  return word;</a:t>
            </a:r>
          </a:p>
          <a:p>
            <a:pPr marL="0" indent="0" algn="just">
              <a:lnSpc>
                <a:spcPct val="110000"/>
              </a:lnSpc>
              <a:spcBef>
                <a:spcPct val="0"/>
              </a:spcBef>
              <a:buNone/>
            </a:pPr>
            <a:r>
              <a:rPr lang="en-US" altLang="zh-CN" sz="1200" dirty="0">
                <a:solidFill>
                  <a:srgbClr val="3217BB"/>
                </a:solidFill>
                <a:latin typeface="Times New Roman" panose="02020603050405020304" pitchFamily="18" charset="0"/>
                <a:cs typeface="Times New Roman" panose="02020603050405020304" pitchFamily="18" charset="0"/>
              </a:rPr>
              <a:t>}</a:t>
            </a:r>
          </a:p>
        </p:txBody>
      </p:sp>
      <p:sp>
        <p:nvSpPr>
          <p:cNvPr id="51" name="矩形 50">
            <a:extLst>
              <a:ext uri="{FF2B5EF4-FFF2-40B4-BE49-F238E27FC236}">
                <a16:creationId xmlns:a16="http://schemas.microsoft.com/office/drawing/2014/main" id="{8A23171B-6EB8-49B7-838D-8096D4BBA49A}"/>
              </a:ext>
            </a:extLst>
          </p:cNvPr>
          <p:cNvSpPr/>
          <p:nvPr/>
        </p:nvSpPr>
        <p:spPr>
          <a:xfrm>
            <a:off x="6210149" y="1627666"/>
            <a:ext cx="2419912" cy="1448140"/>
          </a:xfrm>
          <a:prstGeom prst="rect">
            <a:avLst/>
          </a:prstGeom>
          <a:solidFill>
            <a:schemeClr val="lt1">
              <a:alpha val="0"/>
            </a:schemeClr>
          </a:solidFill>
          <a:ln w="38100" cmpd="sng"/>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D7D6A5B0-2CC2-492F-8ED5-2BBE7A496687}"/>
              </a:ext>
            </a:extLst>
          </p:cNvPr>
          <p:cNvSpPr/>
          <p:nvPr/>
        </p:nvSpPr>
        <p:spPr>
          <a:xfrm>
            <a:off x="6210149" y="3259346"/>
            <a:ext cx="2419912" cy="824574"/>
          </a:xfrm>
          <a:prstGeom prst="rect">
            <a:avLst/>
          </a:prstGeom>
          <a:solidFill>
            <a:schemeClr val="lt1">
              <a:alpha val="0"/>
            </a:schemeClr>
          </a:solidFill>
          <a:ln w="38100" cmpd="sng"/>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9" name="文本框 48"/>
          <p:cNvSpPr txBox="1"/>
          <p:nvPr/>
        </p:nvSpPr>
        <p:spPr>
          <a:xfrm>
            <a:off x="5407819" y="1748141"/>
            <a:ext cx="3578591" cy="2169825"/>
          </a:xfrm>
          <a:prstGeom prst="rect">
            <a:avLst/>
          </a:prstGeom>
          <a:solidFill>
            <a:srgbClr val="F5F7ED"/>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1500" dirty="0"/>
              <a:t>state=</a:t>
            </a:r>
            <a:r>
              <a:rPr lang="zh-CN" altLang="en-US" sz="1500" dirty="0"/>
              <a:t>初态，</a:t>
            </a:r>
            <a:r>
              <a:rPr lang="en-US" altLang="zh-CN" sz="1500" dirty="0" err="1"/>
              <a:t>ch</a:t>
            </a:r>
            <a:r>
              <a:rPr lang="en-US" altLang="zh-CN" sz="1500" dirty="0"/>
              <a:t>=</a:t>
            </a:r>
            <a:r>
              <a:rPr lang="en-US" altLang="zh-CN" sz="1500" dirty="0" err="1"/>
              <a:t>getch</a:t>
            </a:r>
            <a:r>
              <a:rPr lang="en-US" altLang="zh-CN" sz="1500" dirty="0"/>
              <a:t>();</a:t>
            </a:r>
          </a:p>
          <a:p>
            <a:r>
              <a:rPr lang="en-US" altLang="zh-CN" sz="1500" dirty="0"/>
              <a:t>while(!</a:t>
            </a:r>
            <a:r>
              <a:rPr lang="en-US" altLang="zh-CN" sz="1500" dirty="0">
                <a:solidFill>
                  <a:srgbClr val="FF0000"/>
                </a:solidFill>
              </a:rPr>
              <a:t>trans[state][</a:t>
            </a:r>
            <a:r>
              <a:rPr lang="en-US" altLang="zh-CN" sz="1500" dirty="0" err="1">
                <a:solidFill>
                  <a:srgbClr val="FF0000"/>
                </a:solidFill>
              </a:rPr>
              <a:t>ch</a:t>
            </a:r>
            <a:r>
              <a:rPr lang="en-US" altLang="zh-CN" sz="1500" dirty="0">
                <a:solidFill>
                  <a:srgbClr val="FF0000"/>
                </a:solidFill>
              </a:rPr>
              <a:t>]</a:t>
            </a:r>
            <a:r>
              <a:rPr lang="en-US" altLang="zh-CN" sz="1500" dirty="0"/>
              <a:t>) {</a:t>
            </a:r>
          </a:p>
          <a:p>
            <a:r>
              <a:rPr lang="en-US" altLang="zh-CN" sz="1500" dirty="0"/>
              <a:t>     //</a:t>
            </a:r>
            <a:r>
              <a:rPr lang="zh-CN" altLang="en-US" sz="1500" dirty="0"/>
              <a:t>存在后继状态</a:t>
            </a:r>
            <a:endParaRPr lang="en-US" altLang="zh-CN" sz="1500" dirty="0"/>
          </a:p>
          <a:p>
            <a:r>
              <a:rPr lang="en-US" altLang="zh-CN" sz="1500" dirty="0"/>
              <a:t>      </a:t>
            </a:r>
            <a:r>
              <a:rPr lang="en-US" altLang="zh-CN" sz="1500" dirty="0" err="1"/>
              <a:t>word.concat</a:t>
            </a:r>
            <a:r>
              <a:rPr lang="en-US" altLang="zh-CN" sz="1500" dirty="0"/>
              <a:t>();//</a:t>
            </a:r>
            <a:r>
              <a:rPr lang="zh-CN" altLang="en-US" sz="1500" dirty="0"/>
              <a:t>拼接</a:t>
            </a:r>
            <a:endParaRPr lang="en-US" altLang="zh-CN" sz="1500" dirty="0"/>
          </a:p>
          <a:p>
            <a:r>
              <a:rPr lang="en-US" altLang="zh-CN" sz="1500" dirty="0"/>
              <a:t>      state=trans[state][</a:t>
            </a:r>
            <a:r>
              <a:rPr lang="en-US" altLang="zh-CN" sz="1500" dirty="0" err="1"/>
              <a:t>ch</a:t>
            </a:r>
            <a:r>
              <a:rPr lang="en-US" altLang="zh-CN" sz="1500" dirty="0"/>
              <a:t>];//</a:t>
            </a:r>
            <a:r>
              <a:rPr lang="zh-CN" altLang="en-US" sz="1500" dirty="0"/>
              <a:t>转移</a:t>
            </a:r>
            <a:endParaRPr lang="en-US" altLang="zh-CN" sz="1500" dirty="0"/>
          </a:p>
          <a:p>
            <a:r>
              <a:rPr lang="en-US" altLang="zh-CN" sz="1500" dirty="0"/>
              <a:t>      if(state</a:t>
            </a:r>
            <a:r>
              <a:rPr lang="zh-CN" altLang="en-US" sz="1500" dirty="0"/>
              <a:t>是终态</a:t>
            </a:r>
            <a:r>
              <a:rPr lang="en-US" altLang="zh-CN" sz="1500" dirty="0"/>
              <a:t>) </a:t>
            </a:r>
          </a:p>
          <a:p>
            <a:r>
              <a:rPr lang="en-US" altLang="zh-CN" sz="1500" dirty="0"/>
              <a:t>             return word</a:t>
            </a:r>
            <a:r>
              <a:rPr lang="zh-CN" altLang="en-US" sz="1500" dirty="0"/>
              <a:t>；</a:t>
            </a:r>
            <a:r>
              <a:rPr lang="en-US" altLang="zh-CN" sz="1500" dirty="0"/>
              <a:t>//</a:t>
            </a:r>
            <a:r>
              <a:rPr lang="zh-CN" altLang="en-US" sz="1500" dirty="0"/>
              <a:t>返回</a:t>
            </a:r>
            <a:endParaRPr lang="en-US" altLang="zh-CN" sz="1500" dirty="0"/>
          </a:p>
          <a:p>
            <a:r>
              <a:rPr lang="en-US" altLang="zh-CN" sz="1500" dirty="0"/>
              <a:t>      </a:t>
            </a:r>
            <a:r>
              <a:rPr lang="en-US" altLang="zh-CN" sz="1500" dirty="0" err="1"/>
              <a:t>ch</a:t>
            </a:r>
            <a:r>
              <a:rPr lang="en-US" altLang="zh-CN" sz="1500" dirty="0"/>
              <a:t>=</a:t>
            </a:r>
            <a:r>
              <a:rPr lang="en-US" altLang="zh-CN" sz="1500" dirty="0" err="1"/>
              <a:t>getch</a:t>
            </a:r>
            <a:r>
              <a:rPr lang="en-US" altLang="zh-CN" sz="1500" dirty="0"/>
              <a:t>(); //</a:t>
            </a:r>
            <a:r>
              <a:rPr lang="zh-CN" altLang="en-US" sz="1500" dirty="0"/>
              <a:t>继续读入符号</a:t>
            </a:r>
            <a:endParaRPr lang="en-US" altLang="zh-CN" sz="1500" dirty="0"/>
          </a:p>
          <a:p>
            <a:r>
              <a:rPr lang="en-US" altLang="zh-CN" sz="1500" dirty="0"/>
              <a:t>}</a:t>
            </a:r>
            <a:endParaRPr lang="zh-CN" altLang="en-US" sz="1500" dirty="0"/>
          </a:p>
        </p:txBody>
      </p:sp>
    </p:spTree>
    <p:custDataLst>
      <p:tags r:id="rId1"/>
    </p:custDataLst>
  </p:cSld>
  <p:clrMapOvr>
    <a:masterClrMapping/>
  </p:clrMapOvr>
  <p:transition advTm="20188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50">
                                            <p:bg/>
                                          </p:spTgt>
                                        </p:tgtEl>
                                        <p:attrNameLst>
                                          <p:attrName>style.visibility</p:attrName>
                                        </p:attrNameLst>
                                      </p:cBhvr>
                                      <p:to>
                                        <p:strVal val="visible"/>
                                      </p:to>
                                    </p:set>
                                    <p:animEffect transition="in" filter="blinds(horizontal)">
                                      <p:cBhvr>
                                        <p:cTn id="11" dur="500"/>
                                        <p:tgtEl>
                                          <p:spTgt spid="50">
                                            <p:bg/>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0">
                                            <p:txEl>
                                              <p:pRg st="0" end="0"/>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0">
                                            <p:txEl>
                                              <p:pRg st="1" end="1"/>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0">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0">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0">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0">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0">
                                            <p:txEl>
                                              <p:pRg st="6" end="6"/>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0">
                                            <p:txEl>
                                              <p:pRg st="7" end="7"/>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0">
                                            <p:txEl>
                                              <p:pRg st="8" end="8"/>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0">
                                            <p:txEl>
                                              <p:pRg st="9" end="9"/>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0">
                                            <p:txEl>
                                              <p:pRg st="10" end="10"/>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0">
                                            <p:txEl>
                                              <p:pRg st="11" end="11"/>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0">
                                            <p:txEl>
                                              <p:pRg st="12" end="12"/>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0">
                                            <p:txEl>
                                              <p:pRg st="13" end="13"/>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50">
                                            <p:txEl>
                                              <p:pRg st="14" end="14"/>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9"/>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0">
                                            <p:txEl>
                                              <p:pRg st="15" end="15"/>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50">
                                            <p:txEl>
                                              <p:pRg st="16" end="16"/>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0">
                                            <p:txEl>
                                              <p:pRg st="17" end="17"/>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50">
                                            <p:txEl>
                                              <p:pRg st="18" end="18"/>
                                            </p:txEl>
                                          </p:spTgt>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50">
                                            <p:txEl>
                                              <p:pRg st="19" end="19"/>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50">
                                            <p:txEl>
                                              <p:pRg st="20" end="20"/>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0">
                                            <p:txEl>
                                              <p:pRg st="21" end="21"/>
                                            </p:txEl>
                                          </p:spTgt>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50">
                                            <p:txEl>
                                              <p:pRg st="22" end="22"/>
                                            </p:txEl>
                                          </p:spTgt>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0">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51" grpId="0" animBg="1"/>
      <p:bldP spid="52" grpId="0" animBg="1"/>
      <p:bldP spid="49"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标题 1"/>
          <p:cNvSpPr>
            <a:spLocks noGrp="1"/>
          </p:cNvSpPr>
          <p:nvPr>
            <p:ph type="title"/>
          </p:nvPr>
        </p:nvSpPr>
        <p:spPr/>
        <p:txBody>
          <a:bodyPr>
            <a:noAutofit/>
          </a:bodyPr>
          <a:lstStyle/>
          <a:p>
            <a:r>
              <a:rPr kumimoji="1" lang="en-US" altLang="zh-CN" sz="4000" b="1" dirty="0">
                <a:solidFill>
                  <a:srgbClr val="CC0099"/>
                </a:solidFill>
                <a:latin typeface="Times New Roman" pitchFamily="18" charset="0"/>
                <a:ea typeface="隶书" pitchFamily="49" charset="-122"/>
              </a:rPr>
              <a:t>2.4 </a:t>
            </a:r>
            <a:r>
              <a:rPr kumimoji="1" lang="zh-CN" altLang="en-US" sz="4000" b="1" dirty="0">
                <a:solidFill>
                  <a:srgbClr val="CC0099"/>
                </a:solidFill>
                <a:latin typeface="Times New Roman" pitchFamily="18" charset="0"/>
                <a:ea typeface="隶书" pitchFamily="49" charset="-122"/>
              </a:rPr>
              <a:t>词法分析器的设计</a:t>
            </a:r>
          </a:p>
        </p:txBody>
      </p:sp>
      <p:sp>
        <p:nvSpPr>
          <p:cNvPr id="23556" name="Rectangle 5"/>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 name="Rectangle 3"/>
          <p:cNvSpPr txBox="1">
            <a:spLocks noChangeArrowheads="1"/>
          </p:cNvSpPr>
          <p:nvPr/>
        </p:nvSpPr>
        <p:spPr>
          <a:xfrm>
            <a:off x="212037" y="1707654"/>
            <a:ext cx="8480425" cy="3435846"/>
          </a:xfrm>
          <a:prstGeom prst="rect">
            <a:avLst/>
          </a:prstGeom>
          <a:solidFill>
            <a:schemeClr val="bg1"/>
          </a:solidFill>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110000"/>
              </a:lnSpc>
              <a:spcBef>
                <a:spcPts val="0"/>
              </a:spcBef>
            </a:pPr>
            <a:r>
              <a:rPr lang="en-US" altLang="zh-CN" dirty="0"/>
              <a:t>1. Token</a:t>
            </a:r>
            <a:r>
              <a:rPr lang="zh-CN" altLang="en-US" dirty="0"/>
              <a:t>文件</a:t>
            </a:r>
            <a:r>
              <a:rPr lang="en-US" altLang="zh-CN" dirty="0"/>
              <a:t>: </a:t>
            </a:r>
            <a:r>
              <a:rPr kumimoji="1" lang="zh-CN" altLang="en-US" dirty="0">
                <a:latin typeface="Times New Roman" pitchFamily="18" charset="0"/>
              </a:rPr>
              <a:t>输出源文件中各个</a:t>
            </a:r>
            <a:r>
              <a:rPr kumimoji="1" lang="zh-CN" altLang="en-US" b="1" dirty="0">
                <a:solidFill>
                  <a:srgbClr val="0000CC"/>
                </a:solidFill>
                <a:latin typeface="Times New Roman" pitchFamily="18" charset="0"/>
              </a:rPr>
              <a:t>有用</a:t>
            </a:r>
            <a:r>
              <a:rPr kumimoji="1" lang="zh-CN" altLang="en-US" dirty="0">
                <a:latin typeface="Times New Roman" pitchFamily="18" charset="0"/>
              </a:rPr>
              <a:t>的单词</a:t>
            </a:r>
            <a:endParaRPr lang="zh-CN" altLang="en-US" dirty="0"/>
          </a:p>
          <a:p>
            <a:pPr lvl="1">
              <a:lnSpc>
                <a:spcPct val="110000"/>
              </a:lnSpc>
              <a:spcBef>
                <a:spcPts val="0"/>
              </a:spcBef>
            </a:pPr>
            <a:r>
              <a:rPr lang="zh-CN" altLang="en-US" sz="2000" dirty="0"/>
              <a:t>格式：</a:t>
            </a:r>
            <a:r>
              <a:rPr lang="zh-CN" altLang="en-US" sz="2000" dirty="0">
                <a:solidFill>
                  <a:srgbClr val="FF6600"/>
                </a:solidFill>
              </a:rPr>
              <a:t> </a:t>
            </a:r>
            <a:r>
              <a:rPr lang="en-US" altLang="zh-CN" sz="2000" b="1" dirty="0">
                <a:solidFill>
                  <a:srgbClr val="FF6600"/>
                </a:solidFill>
              </a:rPr>
              <a:t>(</a:t>
            </a:r>
            <a:r>
              <a:rPr lang="zh-CN" altLang="en-US" sz="2000" b="1" dirty="0">
                <a:solidFill>
                  <a:srgbClr val="FF6600"/>
                </a:solidFill>
              </a:rPr>
              <a:t>单词的种别码，单词自身的值</a:t>
            </a:r>
            <a:r>
              <a:rPr lang="en-US" altLang="zh-CN" sz="2000" b="1" dirty="0">
                <a:solidFill>
                  <a:srgbClr val="FF6600"/>
                </a:solidFill>
              </a:rPr>
              <a:t>)</a:t>
            </a:r>
          </a:p>
          <a:p>
            <a:pPr lvl="1">
              <a:lnSpc>
                <a:spcPct val="110000"/>
              </a:lnSpc>
              <a:spcBef>
                <a:spcPts val="0"/>
              </a:spcBef>
            </a:pPr>
            <a:r>
              <a:rPr lang="zh-CN" altLang="en-US" sz="2000" dirty="0"/>
              <a:t>单词种别</a:t>
            </a:r>
            <a:r>
              <a:rPr lang="zh-CN" altLang="en-US" sz="2000" dirty="0">
                <a:solidFill>
                  <a:srgbClr val="FF6600"/>
                </a:solidFill>
              </a:rPr>
              <a:t>：</a:t>
            </a:r>
            <a:r>
              <a:rPr lang="zh-CN" altLang="en-US" sz="2000" dirty="0"/>
              <a:t>是对能识别的单词的分类编码</a:t>
            </a:r>
            <a:endParaRPr lang="en-US" altLang="zh-CN" sz="2000" dirty="0"/>
          </a:p>
          <a:p>
            <a:pPr lvl="1">
              <a:lnSpc>
                <a:spcPct val="110000"/>
              </a:lnSpc>
              <a:spcBef>
                <a:spcPts val="0"/>
              </a:spcBef>
            </a:pPr>
            <a:r>
              <a:rPr lang="zh-CN" altLang="en-US" sz="2000" dirty="0"/>
              <a:t>单词符号的属性值</a:t>
            </a:r>
            <a:r>
              <a:rPr lang="zh-CN" altLang="en-US" sz="2000" dirty="0">
                <a:solidFill>
                  <a:srgbClr val="FF6600"/>
                </a:solidFill>
              </a:rPr>
              <a:t>：</a:t>
            </a:r>
            <a:r>
              <a:rPr lang="zh-CN" altLang="en-US" sz="2000" dirty="0"/>
              <a:t>单词的某种特性或特征</a:t>
            </a:r>
          </a:p>
          <a:p>
            <a:pPr lvl="2" algn="just">
              <a:lnSpc>
                <a:spcPct val="110000"/>
              </a:lnSpc>
              <a:spcBef>
                <a:spcPts val="0"/>
              </a:spcBef>
            </a:pPr>
            <a:r>
              <a:rPr lang="zh-CN" altLang="en-US" sz="1800" b="1" dirty="0"/>
              <a:t>常数的值，标识符的名字等</a:t>
            </a:r>
          </a:p>
          <a:p>
            <a:pPr lvl="2">
              <a:lnSpc>
                <a:spcPct val="110000"/>
              </a:lnSpc>
              <a:spcBef>
                <a:spcPts val="0"/>
              </a:spcBef>
            </a:pPr>
            <a:r>
              <a:rPr lang="zh-CN" altLang="en-US" sz="1800" b="1" dirty="0"/>
              <a:t>保留字、运算符、分界符的属性值可以省略</a:t>
            </a:r>
          </a:p>
          <a:p>
            <a:pPr lvl="1">
              <a:lnSpc>
                <a:spcPct val="110000"/>
              </a:lnSpc>
              <a:spcBef>
                <a:spcPts val="0"/>
              </a:spcBef>
            </a:pPr>
            <a:r>
              <a:rPr kumimoji="1" lang="zh-CN" altLang="en-US" sz="2000" dirty="0">
                <a:latin typeface="Times New Roman" pitchFamily="18" charset="0"/>
              </a:rPr>
              <a:t>文件存放最好有格式，如每个单词占一行方便“语法分析”程序调用</a:t>
            </a:r>
            <a:endParaRPr kumimoji="1" lang="en-US" altLang="zh-CN" sz="2000" dirty="0">
              <a:latin typeface="Times New Roman" pitchFamily="18" charset="0"/>
            </a:endParaRPr>
          </a:p>
        </p:txBody>
      </p:sp>
      <p:sp>
        <p:nvSpPr>
          <p:cNvPr id="3" name="Rectangle 6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nvPr>
        </p:nvGraphicFramePr>
        <p:xfrm>
          <a:off x="3643258" y="261610"/>
          <a:ext cx="5500742" cy="1518052"/>
        </p:xfrm>
        <a:graphic>
          <a:graphicData uri="http://schemas.openxmlformats.org/presentationml/2006/ole">
            <mc:AlternateContent xmlns:mc="http://schemas.openxmlformats.org/markup-compatibility/2006">
              <mc:Choice xmlns:v="urn:schemas-microsoft-com:vml" Requires="v">
                <p:oleObj spid="_x0000_s41995" name="Visio" r:id="rId3" imgW="2980890" imgH="820800" progId="Visio.Drawing.11">
                  <p:embed/>
                </p:oleObj>
              </mc:Choice>
              <mc:Fallback>
                <p:oleObj name="Visio" r:id="rId3" imgW="2980890" imgH="820800"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3258" y="261610"/>
                        <a:ext cx="5500742" cy="1518052"/>
                      </a:xfrm>
                      <a:prstGeom prst="rect">
                        <a:avLst/>
                      </a:prstGeom>
                      <a:noFill/>
                    </p:spPr>
                  </p:pic>
                </p:oleObj>
              </mc:Fallback>
            </mc:AlternateContent>
          </a:graphicData>
        </a:graphic>
      </p:graphicFrame>
      <p:sp>
        <p:nvSpPr>
          <p:cNvPr id="10" name="Rectangle 3"/>
          <p:cNvSpPr txBox="1">
            <a:spLocks noChangeArrowheads="1"/>
          </p:cNvSpPr>
          <p:nvPr/>
        </p:nvSpPr>
        <p:spPr>
          <a:xfrm>
            <a:off x="239446" y="3795886"/>
            <a:ext cx="8480425" cy="1080120"/>
          </a:xfrm>
          <a:prstGeom prst="rect">
            <a:avLst/>
          </a:prstGeom>
          <a:solidFill>
            <a:schemeClr val="bg1"/>
          </a:solidFill>
        </p:spPr>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110000"/>
              </a:lnSpc>
              <a:spcBef>
                <a:spcPts val="0"/>
              </a:spcBef>
            </a:pPr>
            <a:r>
              <a:rPr lang="en-US" altLang="zh-CN" dirty="0">
                <a:solidFill>
                  <a:srgbClr val="0000CC"/>
                </a:solidFill>
              </a:rPr>
              <a:t>2. </a:t>
            </a:r>
            <a:r>
              <a:rPr lang="zh-CN" altLang="en-US" dirty="0"/>
              <a:t>错误信息</a:t>
            </a:r>
            <a:endParaRPr lang="en-US" altLang="zh-CN" dirty="0"/>
          </a:p>
          <a:p>
            <a:pPr lvl="1">
              <a:lnSpc>
                <a:spcPct val="110000"/>
              </a:lnSpc>
              <a:spcBef>
                <a:spcPts val="0"/>
              </a:spcBef>
            </a:pPr>
            <a:r>
              <a:rPr lang="zh-CN" altLang="en-US" sz="2000" dirty="0"/>
              <a:t>错误信息应该详细，准确，指出出错的具体行、列位置，发生了哪类错误等，方便用户修改</a:t>
            </a:r>
          </a:p>
        </p:txBody>
      </p:sp>
    </p:spTree>
    <p:extLst>
      <p:ext uri="{BB962C8B-B14F-4D97-AF65-F5344CB8AC3E}">
        <p14:creationId xmlns:p14="http://schemas.microsoft.com/office/powerpoint/2010/main" val="417259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1" y="132160"/>
            <a:ext cx="3952875" cy="531019"/>
          </a:xfrm>
        </p:spPr>
        <p:txBody>
          <a:bodyPr>
            <a:normAutofit fontScale="90000"/>
          </a:bodyPr>
          <a:lstStyle/>
          <a:p>
            <a:r>
              <a:rPr lang="zh-CN" altLang="en-US" b="1" dirty="0"/>
              <a:t>具体分解：</a:t>
            </a:r>
            <a:endParaRPr lang="zh-CN" altLang="en-US" dirty="0"/>
          </a:p>
        </p:txBody>
      </p:sp>
      <p:sp>
        <p:nvSpPr>
          <p:cNvPr id="3" name="内容占位符 2"/>
          <p:cNvSpPr>
            <a:spLocks noGrp="1"/>
          </p:cNvSpPr>
          <p:nvPr>
            <p:ph idx="1"/>
          </p:nvPr>
        </p:nvSpPr>
        <p:spPr>
          <a:xfrm>
            <a:off x="467544" y="699542"/>
            <a:ext cx="8012881" cy="2576513"/>
          </a:xfrm>
        </p:spPr>
        <p:txBody>
          <a:bodyPr>
            <a:normAutofit lnSpcReduction="10000"/>
          </a:bodyPr>
          <a:lstStyle/>
          <a:p>
            <a:pPr marL="609600" indent="-609600" eaLnBrk="1" hangingPunct="1">
              <a:buFont typeface="Monotype Sorts" pitchFamily="2" charset="2"/>
              <a:buChar char="4"/>
              <a:defRPr/>
            </a:pPr>
            <a:r>
              <a:rPr lang="zh-CN" altLang="en-US" sz="2200" dirty="0"/>
              <a:t>组织源程序的输入；</a:t>
            </a:r>
          </a:p>
          <a:p>
            <a:pPr marL="609600" indent="-609600" eaLnBrk="1" hangingPunct="1">
              <a:buFont typeface="Monotype Sorts" pitchFamily="2" charset="2"/>
              <a:buChar char="4"/>
              <a:defRPr/>
            </a:pPr>
            <a:r>
              <a:rPr lang="zh-CN" altLang="en-US" sz="2200" dirty="0"/>
              <a:t>按规则识别单词，并转换成二元式形式；</a:t>
            </a:r>
          </a:p>
          <a:p>
            <a:pPr marL="609600" indent="-609600" eaLnBrk="1" hangingPunct="1">
              <a:buFont typeface="Monotype Sorts" pitchFamily="2" charset="2"/>
              <a:buChar char="4"/>
              <a:defRPr/>
            </a:pPr>
            <a:r>
              <a:rPr lang="zh-CN" altLang="en-US" sz="2200" dirty="0"/>
              <a:t>查找单词的</a:t>
            </a:r>
            <a:r>
              <a:rPr lang="en-US" altLang="zh-CN" sz="2200" dirty="0"/>
              <a:t>token</a:t>
            </a:r>
            <a:r>
              <a:rPr lang="zh-CN" altLang="en-US" sz="2200" dirty="0"/>
              <a:t>值；</a:t>
            </a:r>
            <a:endParaRPr lang="en-US" altLang="zh-CN" sz="2200" dirty="0"/>
          </a:p>
          <a:p>
            <a:pPr marL="609600" indent="-609600" eaLnBrk="1" hangingPunct="1">
              <a:buFont typeface="Monotype Sorts" pitchFamily="2" charset="2"/>
              <a:buChar char="4"/>
              <a:defRPr/>
            </a:pPr>
            <a:r>
              <a:rPr lang="zh-CN" altLang="en-US" sz="2200" dirty="0"/>
              <a:t>插入到</a:t>
            </a:r>
            <a:r>
              <a:rPr lang="en-US" altLang="zh-CN" sz="2200" dirty="0"/>
              <a:t>token</a:t>
            </a:r>
            <a:r>
              <a:rPr lang="zh-CN" altLang="en-US" sz="2200" dirty="0"/>
              <a:t>表中；</a:t>
            </a:r>
            <a:endParaRPr lang="en-US" altLang="zh-CN" sz="2200" dirty="0"/>
          </a:p>
          <a:p>
            <a:pPr marL="609600" indent="-609600" eaLnBrk="1" hangingPunct="1">
              <a:buFont typeface="Monotype Sorts" pitchFamily="2" charset="2"/>
              <a:buChar char="4"/>
              <a:defRPr/>
            </a:pPr>
            <a:r>
              <a:rPr lang="zh-CN" altLang="en-US" sz="2200" dirty="0"/>
              <a:t>删除注解行、空格及无用符号；</a:t>
            </a:r>
          </a:p>
          <a:p>
            <a:pPr marL="609600" indent="-609600" eaLnBrk="1" hangingPunct="1">
              <a:buFont typeface="Monotype Sorts" pitchFamily="2" charset="2"/>
              <a:buChar char="4"/>
              <a:defRPr/>
            </a:pPr>
            <a:r>
              <a:rPr lang="zh-CN" altLang="en-US" sz="2200" dirty="0"/>
              <a:t>行计数、列计数；</a:t>
            </a:r>
          </a:p>
          <a:p>
            <a:pPr marL="609600" indent="-609600" eaLnBrk="1" hangingPunct="1">
              <a:buFont typeface="Monotype Sorts" pitchFamily="2" charset="2"/>
              <a:buChar char="4"/>
              <a:defRPr/>
            </a:pPr>
            <a:r>
              <a:rPr lang="zh-CN" altLang="en-US" sz="2200" dirty="0"/>
              <a:t>发现并定位</a:t>
            </a:r>
            <a:r>
              <a:rPr lang="zh-CN" altLang="en-US" sz="2200" dirty="0">
                <a:hlinkClick r:id="rId3" action="ppaction://hlinksldjump"/>
              </a:rPr>
              <a:t>词法错误</a:t>
            </a:r>
            <a:r>
              <a:rPr lang="zh-CN" altLang="en-US" sz="2200" dirty="0"/>
              <a:t>。</a:t>
            </a:r>
          </a:p>
          <a:p>
            <a:pPr>
              <a:defRPr/>
            </a:pPr>
            <a:endParaRPr lang="zh-CN" altLang="en-US" sz="2200" dirty="0"/>
          </a:p>
        </p:txBody>
      </p:sp>
      <p:sp>
        <p:nvSpPr>
          <p:cNvPr id="25604" name="Rectangle 5"/>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graphicFrame>
        <p:nvGraphicFramePr>
          <p:cNvPr id="25605" name="对象 3"/>
          <p:cNvGraphicFramePr>
            <a:graphicFrameLocks noChangeAspect="1"/>
          </p:cNvGraphicFramePr>
          <p:nvPr>
            <p:extLst/>
          </p:nvPr>
        </p:nvGraphicFramePr>
        <p:xfrm>
          <a:off x="611560" y="3219822"/>
          <a:ext cx="8364166" cy="1692970"/>
        </p:xfrm>
        <a:graphic>
          <a:graphicData uri="http://schemas.openxmlformats.org/presentationml/2006/ole">
            <mc:AlternateContent xmlns:mc="http://schemas.openxmlformats.org/markup-compatibility/2006">
              <mc:Choice xmlns:v="urn:schemas-microsoft-com:vml" Requires="v">
                <p:oleObj spid="_x0000_s43028" name="Visio" r:id="rId4" imgW="5522500" imgH="1159175" progId="Visio.Drawing.11">
                  <p:embed/>
                </p:oleObj>
              </mc:Choice>
              <mc:Fallback>
                <p:oleObj name="Visio" r:id="rId4" imgW="5522500" imgH="1159175" progId="Visio.Drawing.11">
                  <p:embed/>
                  <p:pic>
                    <p:nvPicPr>
                      <p:cNvPr id="25605"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3219822"/>
                        <a:ext cx="8364166" cy="1692970"/>
                      </a:xfrm>
                      <a:prstGeom prst="rect">
                        <a:avLst/>
                      </a:prstGeom>
                      <a:noFill/>
                      <a:ln>
                        <a:noFill/>
                      </a:ln>
                    </p:spPr>
                  </p:pic>
                </p:oleObj>
              </mc:Fallback>
            </mc:AlternateContent>
          </a:graphicData>
        </a:graphic>
      </p:graphicFrame>
      <p:graphicFrame>
        <p:nvGraphicFramePr>
          <p:cNvPr id="2" name="对象 1"/>
          <p:cNvGraphicFramePr>
            <a:graphicFrameLocks noChangeAspect="1"/>
          </p:cNvGraphicFramePr>
          <p:nvPr>
            <p:extLst/>
          </p:nvPr>
        </p:nvGraphicFramePr>
        <p:xfrm>
          <a:off x="5076056" y="261938"/>
          <a:ext cx="4067944" cy="1122353"/>
        </p:xfrm>
        <a:graphic>
          <a:graphicData uri="http://schemas.openxmlformats.org/presentationml/2006/ole">
            <mc:AlternateContent xmlns:mc="http://schemas.openxmlformats.org/markup-compatibility/2006">
              <mc:Choice xmlns:v="urn:schemas-microsoft-com:vml" Requires="v">
                <p:oleObj spid="_x0000_s43029" name="Visio" r:id="rId6" imgW="2980890" imgH="820800" progId="Visio.Drawing.11">
                  <p:embed/>
                </p:oleObj>
              </mc:Choice>
              <mc:Fallback>
                <p:oleObj name="Visio" r:id="rId6" imgW="2980890" imgH="820800" progId="Visio.Drawing.11">
                  <p:embed/>
                  <p:pic>
                    <p:nvPicPr>
                      <p:cNvPr id="2" name="对象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6056" y="261938"/>
                        <a:ext cx="4067944" cy="112235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9056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26628" name="矩形 1"/>
          <p:cNvSpPr>
            <a:spLocks noChangeArrowheads="1"/>
          </p:cNvSpPr>
          <p:nvPr/>
        </p:nvSpPr>
        <p:spPr bwMode="auto">
          <a:xfrm>
            <a:off x="231776" y="130969"/>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3600" dirty="0"/>
              <a:t>识别一个单词的流程</a:t>
            </a:r>
            <a:endParaRPr lang="zh-CN" altLang="en-US" sz="3600" dirty="0"/>
          </a:p>
        </p:txBody>
      </p:sp>
      <p:sp>
        <p:nvSpPr>
          <p:cNvPr id="5" name="Text Box 4"/>
          <p:cNvSpPr txBox="1">
            <a:spLocks noChangeArrowheads="1"/>
          </p:cNvSpPr>
          <p:nvPr/>
        </p:nvSpPr>
        <p:spPr>
          <a:xfrm>
            <a:off x="254870" y="2715765"/>
            <a:ext cx="4906888" cy="2427735"/>
          </a:xfrm>
          <a:prstGeom prst="rect">
            <a:avLst/>
          </a:prstGeom>
        </p:spPr>
        <p:style>
          <a:lnRef idx="2">
            <a:schemeClr val="accent1"/>
          </a:lnRef>
          <a:fillRef idx="1">
            <a:schemeClr val="lt1"/>
          </a:fillRef>
          <a:effectRef idx="0">
            <a:schemeClr val="accent1"/>
          </a:effectRef>
          <a:fontRef idx="minor">
            <a:schemeClr val="dk1"/>
          </a:fontRef>
        </p:style>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90000"/>
              </a:lnSpc>
              <a:spcBef>
                <a:spcPts val="0"/>
              </a:spcBef>
              <a:defRPr/>
            </a:pPr>
            <a:r>
              <a:rPr lang="zh-CN" altLang="en-US" sz="2000" kern="0" dirty="0">
                <a:latin typeface="宋体" panose="02010600030101010101" pitchFamily="2" charset="-122"/>
                <a:ea typeface="宋体" panose="02010600030101010101" pitchFamily="2" charset="-122"/>
              </a:rPr>
              <a:t>识别单词前作如下假定：</a:t>
            </a:r>
          </a:p>
          <a:p>
            <a:pPr lvl="1" eaLnBrk="1" hangingPunct="1">
              <a:lnSpc>
                <a:spcPct val="90000"/>
              </a:lnSpc>
              <a:spcBef>
                <a:spcPts val="0"/>
              </a:spcBef>
              <a:defRPr/>
            </a:pPr>
            <a:r>
              <a:rPr lang="zh-CN" altLang="en-US" sz="2000" kern="0" dirty="0">
                <a:latin typeface="宋体" panose="02010600030101010101" pitchFamily="2" charset="-122"/>
                <a:ea typeface="宋体" panose="02010600030101010101" pitchFamily="2" charset="-122"/>
              </a:rPr>
              <a:t>关键字就是保留字</a:t>
            </a:r>
          </a:p>
          <a:p>
            <a:pPr lvl="1" eaLnBrk="1" hangingPunct="1">
              <a:lnSpc>
                <a:spcPct val="90000"/>
              </a:lnSpc>
              <a:spcBef>
                <a:spcPts val="0"/>
              </a:spcBef>
              <a:defRPr/>
            </a:pPr>
            <a:r>
              <a:rPr lang="zh-CN" altLang="en-US" sz="2000" kern="0" dirty="0">
                <a:latin typeface="宋体" panose="02010600030101010101" pitchFamily="2" charset="-122"/>
                <a:ea typeface="宋体" panose="02010600030101010101" pitchFamily="2" charset="-122"/>
              </a:rPr>
              <a:t>单词中间不能有分界符</a:t>
            </a:r>
            <a:r>
              <a:rPr lang="en-US" altLang="zh-CN" sz="2000" kern="0" dirty="0">
                <a:latin typeface="宋体" panose="02010600030101010101" pitchFamily="2" charset="-122"/>
                <a:ea typeface="宋体" panose="02010600030101010101" pitchFamily="2" charset="-122"/>
              </a:rPr>
              <a:t>(</a:t>
            </a:r>
            <a:r>
              <a:rPr lang="zh-CN" altLang="en-US" sz="2000" kern="0" dirty="0">
                <a:latin typeface="宋体" panose="02010600030101010101" pitchFamily="2" charset="-122"/>
                <a:ea typeface="宋体" panose="02010600030101010101" pitchFamily="2" charset="-122"/>
              </a:rPr>
              <a:t>如空格、空白、界符和算符等</a:t>
            </a:r>
            <a:r>
              <a:rPr lang="en-US" altLang="zh-CN" sz="2000" kern="0" dirty="0">
                <a:latin typeface="宋体" panose="02010600030101010101" pitchFamily="2" charset="-122"/>
                <a:ea typeface="宋体" panose="02010600030101010101" pitchFamily="2" charset="-122"/>
              </a:rPr>
              <a:t>)</a:t>
            </a:r>
          </a:p>
          <a:p>
            <a:pPr lvl="1" eaLnBrk="1" hangingPunct="1">
              <a:lnSpc>
                <a:spcPct val="90000"/>
              </a:lnSpc>
              <a:spcBef>
                <a:spcPts val="0"/>
              </a:spcBef>
              <a:defRPr/>
            </a:pPr>
            <a:r>
              <a:rPr lang="zh-CN" altLang="en-US" sz="2000" kern="0" dirty="0">
                <a:latin typeface="宋体" panose="02010600030101010101" pitchFamily="2" charset="-122"/>
                <a:ea typeface="宋体" panose="02010600030101010101" pitchFamily="2" charset="-122"/>
              </a:rPr>
              <a:t>单词中间不能有注释</a:t>
            </a:r>
          </a:p>
          <a:p>
            <a:pPr lvl="1" eaLnBrk="1" hangingPunct="1">
              <a:lnSpc>
                <a:spcPct val="90000"/>
              </a:lnSpc>
              <a:spcBef>
                <a:spcPts val="0"/>
              </a:spcBef>
              <a:defRPr/>
            </a:pPr>
            <a:r>
              <a:rPr lang="zh-CN" altLang="en-US" sz="2000" kern="0" dirty="0">
                <a:latin typeface="宋体" panose="02010600030101010101" pitchFamily="2" charset="-122"/>
                <a:ea typeface="宋体" panose="02010600030101010101" pitchFamily="2" charset="-122"/>
              </a:rPr>
              <a:t>单词必须在一行内写完，换行后认为是另一个单词</a:t>
            </a:r>
          </a:p>
          <a:p>
            <a:pPr lvl="1" eaLnBrk="1" hangingPunct="1">
              <a:lnSpc>
                <a:spcPct val="90000"/>
              </a:lnSpc>
              <a:spcBef>
                <a:spcPts val="0"/>
              </a:spcBef>
              <a:defRPr/>
            </a:pPr>
            <a:r>
              <a:rPr lang="zh-CN" altLang="en-US" sz="2000" kern="0" dirty="0">
                <a:latin typeface="宋体" panose="02010600030101010101" pitchFamily="2" charset="-122"/>
                <a:ea typeface="宋体" panose="02010600030101010101" pitchFamily="2" charset="-122"/>
              </a:rPr>
              <a:t>一个单词不能超过规定长度</a:t>
            </a:r>
          </a:p>
        </p:txBody>
      </p:sp>
      <p:graphicFrame>
        <p:nvGraphicFramePr>
          <p:cNvPr id="26627" name="Object 2"/>
          <p:cNvGraphicFramePr>
            <a:graphicFrameLocks noChangeAspect="1"/>
          </p:cNvGraphicFramePr>
          <p:nvPr>
            <p:extLst>
              <p:ext uri="{D42A27DB-BD31-4B8C-83A1-F6EECF244321}">
                <p14:modId xmlns:p14="http://schemas.microsoft.com/office/powerpoint/2010/main" val="646454749"/>
              </p:ext>
            </p:extLst>
          </p:nvPr>
        </p:nvGraphicFramePr>
        <p:xfrm>
          <a:off x="1403648" y="373857"/>
          <a:ext cx="7740353" cy="3194447"/>
        </p:xfrm>
        <a:graphic>
          <a:graphicData uri="http://schemas.openxmlformats.org/presentationml/2006/ole">
            <mc:AlternateContent xmlns:mc="http://schemas.openxmlformats.org/markup-compatibility/2006">
              <mc:Choice xmlns:v="urn:schemas-microsoft-com:vml" Requires="v">
                <p:oleObj spid="_x0000_s44043" name="Visio" r:id="rId4" imgW="5770880" imgH="2890927" progId="Visio.Drawing.11">
                  <p:embed/>
                </p:oleObj>
              </mc:Choice>
              <mc:Fallback>
                <p:oleObj name="Visio" r:id="rId4" imgW="5770880" imgH="2890927" progId="Visio.Drawing.11">
                  <p:embed/>
                  <p:pic>
                    <p:nvPicPr>
                      <p:cNvPr id="26627"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373857"/>
                        <a:ext cx="7740353" cy="31944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092895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7">
            <a:extLst>
              <a:ext uri="{FF2B5EF4-FFF2-40B4-BE49-F238E27FC236}">
                <a16:creationId xmlns:a16="http://schemas.microsoft.com/office/drawing/2014/main" id="{BB8A8DAB-F2F2-B119-A343-BDDA69DF0BA2}"/>
              </a:ext>
            </a:extLst>
          </p:cNvPr>
          <p:cNvSpPr>
            <a:spLocks noChangeArrowheads="1"/>
          </p:cNvSpPr>
          <p:nvPr/>
        </p:nvSpPr>
        <p:spPr bwMode="auto">
          <a:xfrm>
            <a:off x="251520" y="322662"/>
            <a:ext cx="4644516" cy="461665"/>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r>
              <a:rPr lang="zh-CN" altLang="en-US" sz="2400" dirty="0">
                <a:latin typeface="Times New Roman" pitchFamily="18" charset="0"/>
              </a:rPr>
              <a:t>词法分析的主程序框架</a:t>
            </a:r>
          </a:p>
        </p:txBody>
      </p:sp>
      <p:graphicFrame>
        <p:nvGraphicFramePr>
          <p:cNvPr id="3" name="对象 2">
            <a:extLst>
              <a:ext uri="{FF2B5EF4-FFF2-40B4-BE49-F238E27FC236}">
                <a16:creationId xmlns:a16="http://schemas.microsoft.com/office/drawing/2014/main" id="{7E68AA54-F69C-7E9C-2043-02D8BB7EF2F4}"/>
              </a:ext>
            </a:extLst>
          </p:cNvPr>
          <p:cNvGraphicFramePr>
            <a:graphicFrameLocks noChangeAspect="1"/>
          </p:cNvGraphicFramePr>
          <p:nvPr>
            <p:extLst/>
          </p:nvPr>
        </p:nvGraphicFramePr>
        <p:xfrm>
          <a:off x="4788024" y="195485"/>
          <a:ext cx="4212468" cy="4381281"/>
        </p:xfrm>
        <a:graphic>
          <a:graphicData uri="http://schemas.openxmlformats.org/presentationml/2006/ole">
            <mc:AlternateContent xmlns:mc="http://schemas.openxmlformats.org/markup-compatibility/2006">
              <mc:Choice xmlns:v="urn:schemas-microsoft-com:vml" Requires="v">
                <p:oleObj spid="_x0000_s45067" name="Visio" r:id="rId4" imgW="6441120" imgH="5435280" progId="Visio.Drawing.15">
                  <p:embed/>
                </p:oleObj>
              </mc:Choice>
              <mc:Fallback>
                <p:oleObj name="Visio" r:id="rId4" imgW="6441120" imgH="5435280" progId="Visio.Drawing.15">
                  <p:embed/>
                  <p:pic>
                    <p:nvPicPr>
                      <p:cNvPr id="3" name="对象 2">
                        <a:extLst>
                          <a:ext uri="{FF2B5EF4-FFF2-40B4-BE49-F238E27FC236}">
                            <a16:creationId xmlns:a16="http://schemas.microsoft.com/office/drawing/2014/main" id="{7E68AA54-F69C-7E9C-2043-02D8BB7EF2F4}"/>
                          </a:ext>
                        </a:extLst>
                      </p:cNvPr>
                      <p:cNvPicPr>
                        <a:picLocks noChangeAspect="1" noChangeArrowheads="1"/>
                      </p:cNvPicPr>
                      <p:nvPr/>
                    </p:nvPicPr>
                    <p:blipFill>
                      <a:blip r:embed="rId5"/>
                      <a:srcRect/>
                      <a:stretch>
                        <a:fillRect/>
                      </a:stretch>
                    </p:blipFill>
                    <p:spPr bwMode="auto">
                      <a:xfrm>
                        <a:off x="4788024" y="195485"/>
                        <a:ext cx="4212468" cy="4381281"/>
                      </a:xfrm>
                      <a:prstGeom prst="rect">
                        <a:avLst/>
                      </a:prstGeom>
                      <a:noFill/>
                    </p:spPr>
                  </p:pic>
                </p:oleObj>
              </mc:Fallback>
            </mc:AlternateContent>
          </a:graphicData>
        </a:graphic>
      </p:graphicFrame>
      <p:sp>
        <p:nvSpPr>
          <p:cNvPr id="4" name="文本框 3">
            <a:extLst>
              <a:ext uri="{FF2B5EF4-FFF2-40B4-BE49-F238E27FC236}">
                <a16:creationId xmlns:a16="http://schemas.microsoft.com/office/drawing/2014/main" id="{746E6B32-F0CE-482B-62B7-E7073D5345FA}"/>
              </a:ext>
            </a:extLst>
          </p:cNvPr>
          <p:cNvSpPr txBox="1"/>
          <p:nvPr/>
        </p:nvSpPr>
        <p:spPr>
          <a:xfrm>
            <a:off x="253117" y="920691"/>
            <a:ext cx="4642919" cy="3323987"/>
          </a:xfrm>
          <a:prstGeom prst="rect">
            <a:avLst/>
          </a:prstGeom>
          <a:solidFill>
            <a:srgbClr val="FEF5F0"/>
          </a:solidFill>
          <a:ln>
            <a:solidFill>
              <a:schemeClr val="accent3">
                <a:lumMod val="60000"/>
                <a:lumOff val="40000"/>
              </a:schemeClr>
            </a:solidFill>
          </a:ln>
        </p:spPr>
        <p:txBody>
          <a:bodyPr wrap="square">
            <a:spAutoFit/>
          </a:bodyPr>
          <a:lstStyle/>
          <a:p>
            <a:pPr algn="just"/>
            <a:r>
              <a:rPr lang="en-US" altLang="zh-CN" sz="1400" kern="100" dirty="0">
                <a:effectLst/>
                <a:latin typeface="Times New Roman" panose="02020603050405020304" pitchFamily="18" charset="0"/>
                <a:ea typeface="宋体" panose="02010600030101010101" pitchFamily="2" charset="-122"/>
              </a:rPr>
              <a:t>void </a:t>
            </a:r>
            <a:r>
              <a:rPr lang="en-US" altLang="zh-CN" sz="1400" kern="100" dirty="0" err="1">
                <a:effectLst/>
                <a:latin typeface="Times New Roman" panose="02020603050405020304" pitchFamily="18" charset="0"/>
                <a:ea typeface="宋体" panose="02010600030101010101" pitchFamily="2" charset="-122"/>
              </a:rPr>
              <a:t>FirstCharClassify</a:t>
            </a:r>
            <a:r>
              <a:rPr lang="en-US" altLang="zh-CN" sz="1400" kern="100" dirty="0">
                <a:effectLst/>
                <a:latin typeface="Times New Roman" panose="02020603050405020304" pitchFamily="18" charset="0"/>
                <a:ea typeface="宋体" panose="02010600030101010101" pitchFamily="2" charset="-122"/>
              </a:rPr>
              <a:t>(char </a:t>
            </a:r>
            <a:r>
              <a:rPr lang="en-US" altLang="zh-CN" sz="1400" kern="100" dirty="0" err="1">
                <a:effectLst/>
                <a:latin typeface="Times New Roman" panose="02020603050405020304" pitchFamily="18" charset="0"/>
                <a:ea typeface="宋体" panose="02010600030101010101" pitchFamily="2" charset="-122"/>
              </a:rPr>
              <a:t>ch</a:t>
            </a:r>
            <a:r>
              <a:rPr lang="en-US" altLang="zh-CN" sz="1400" kern="100" dirty="0">
                <a:effectLst/>
                <a:latin typeface="Times New Roman" panose="02020603050405020304" pitchFamily="18" charset="0"/>
                <a:ea typeface="宋体" panose="02010600030101010101" pitchFamily="2" charset="-122"/>
              </a:rPr>
              <a:t>) // </a:t>
            </a:r>
            <a:r>
              <a:rPr lang="zh-CN" altLang="en-US" sz="1400" kern="100" dirty="0">
                <a:effectLst/>
                <a:latin typeface="Times New Roman" panose="02020603050405020304" pitchFamily="18" charset="0"/>
                <a:ea typeface="宋体" panose="02010600030101010101" pitchFamily="2" charset="-122"/>
              </a:rPr>
              <a:t>根据</a:t>
            </a:r>
            <a:r>
              <a:rPr lang="zh-CN" altLang="zh-CN" sz="1400" kern="100" dirty="0">
                <a:effectLst/>
                <a:latin typeface="Times New Roman" panose="02020603050405020304" pitchFamily="18" charset="0"/>
                <a:ea typeface="宋体" panose="02010600030101010101" pitchFamily="2" charset="-122"/>
              </a:rPr>
              <a:t>传入参数</a:t>
            </a:r>
            <a:r>
              <a:rPr lang="en-US" altLang="zh-CN" sz="1400" kern="100" dirty="0" err="1">
                <a:effectLst/>
                <a:latin typeface="Times New Roman" panose="02020603050405020304" pitchFamily="18" charset="0"/>
                <a:ea typeface="宋体" panose="02010600030101010101" pitchFamily="2" charset="-122"/>
              </a:rPr>
              <a:t>ch</a:t>
            </a:r>
            <a:r>
              <a:rPr lang="zh-CN" altLang="en-US" sz="1400" kern="100" dirty="0">
                <a:effectLst/>
                <a:latin typeface="Times New Roman" panose="02020603050405020304" pitchFamily="18" charset="0"/>
                <a:ea typeface="宋体" panose="02010600030101010101" pitchFamily="2" charset="-122"/>
              </a:rPr>
              <a:t>，是单词的</a:t>
            </a:r>
            <a:r>
              <a:rPr lang="zh-CN" altLang="zh-CN" sz="1400" kern="100" dirty="0">
                <a:effectLst/>
                <a:latin typeface="Times New Roman" panose="02020603050405020304" pitchFamily="18" charset="0"/>
                <a:ea typeface="宋体" panose="02010600030101010101" pitchFamily="2" charset="-122"/>
              </a:rPr>
              <a:t>第一个字符，</a:t>
            </a:r>
            <a:r>
              <a:rPr lang="zh-CN" altLang="en-US" sz="1400" kern="100" dirty="0">
                <a:effectLst/>
                <a:latin typeface="Times New Roman" panose="02020603050405020304" pitchFamily="18" charset="0"/>
                <a:ea typeface="宋体" panose="02010600030101010101" pitchFamily="2" charset="-122"/>
              </a:rPr>
              <a:t>分别识别不同类的单词</a:t>
            </a:r>
            <a:endParaRPr lang="zh-CN" altLang="zh-CN" sz="1400" kern="100" dirty="0">
              <a:effectLst/>
              <a:latin typeface="Times New Roman" panose="02020603050405020304" pitchFamily="18" charset="0"/>
              <a:ea typeface="宋体" panose="02010600030101010101" pitchFamily="2" charset="-122"/>
            </a:endParaRPr>
          </a:p>
          <a:p>
            <a:pPr algn="just"/>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3525" algn="just"/>
            <a:r>
              <a:rPr lang="en-US" altLang="zh-CN" sz="1400" kern="100" dirty="0">
                <a:effectLst/>
                <a:latin typeface="Times New Roman" panose="02020603050405020304" pitchFamily="18" charset="0"/>
                <a:ea typeface="宋体" panose="02010600030101010101" pitchFamily="2" charset="-122"/>
              </a:rPr>
              <a:t>if ( </a:t>
            </a:r>
            <a:r>
              <a:rPr lang="en-US" altLang="zh-CN" sz="1400" kern="100" dirty="0" err="1">
                <a:effectLst/>
                <a:latin typeface="Times New Roman" panose="02020603050405020304" pitchFamily="18" charset="0"/>
                <a:ea typeface="宋体" panose="02010600030101010101" pitchFamily="2" charset="-122"/>
              </a:rPr>
              <a:t>isdigit</a:t>
            </a:r>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ch</a:t>
            </a:r>
            <a:r>
              <a:rPr lang="en-US" altLang="zh-CN" sz="1400" kern="100" dirty="0">
                <a:effectLst/>
                <a:latin typeface="Times New Roman" panose="02020603050405020304" pitchFamily="18" charset="0"/>
                <a:ea typeface="宋体" panose="02010600030101010101" pitchFamily="2" charset="-122"/>
              </a:rPr>
              <a:t>) ) </a:t>
            </a:r>
          </a:p>
          <a:p>
            <a:pPr indent="263525" algn="just"/>
            <a:r>
              <a:rPr lang="en-US" altLang="zh-CN" sz="1400" kern="100" dirty="0">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RecogonizeNumber</a:t>
            </a:r>
            <a:r>
              <a:rPr lang="en-US" altLang="zh-CN" sz="1400" kern="100" dirty="0">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a:t>
            </a:r>
            <a:r>
              <a:rPr lang="zh-CN" altLang="zh-CN" sz="1400" kern="100" dirty="0">
                <a:effectLst/>
                <a:latin typeface="Times New Roman" panose="02020603050405020304" pitchFamily="18" charset="0"/>
                <a:ea typeface="宋体" panose="02010600030101010101" pitchFamily="2" charset="-122"/>
              </a:rPr>
              <a:t>若是数字，</a:t>
            </a:r>
            <a:r>
              <a:rPr lang="zh-CN" altLang="en-US" sz="1400" kern="100" dirty="0">
                <a:latin typeface="Times New Roman" panose="02020603050405020304" pitchFamily="18" charset="0"/>
                <a:ea typeface="宋体" panose="02010600030101010101" pitchFamily="2" charset="-122"/>
              </a:rPr>
              <a:t>则识别整数和实数</a:t>
            </a:r>
            <a:endParaRPr lang="zh-CN" altLang="zh-CN" sz="1400" kern="100" dirty="0">
              <a:effectLst/>
              <a:latin typeface="Times New Roman" panose="02020603050405020304" pitchFamily="18" charset="0"/>
              <a:ea typeface="宋体" panose="02010600030101010101" pitchFamily="2" charset="-122"/>
            </a:endParaRPr>
          </a:p>
          <a:p>
            <a:pPr indent="263525" algn="just"/>
            <a:r>
              <a:rPr lang="en-US" altLang="zh-CN" sz="1400" kern="100" dirty="0">
                <a:effectLst/>
                <a:latin typeface="Times New Roman" panose="02020603050405020304" pitchFamily="18" charset="0"/>
                <a:ea typeface="宋体" panose="02010600030101010101" pitchFamily="2" charset="-122"/>
              </a:rPr>
              <a:t>else if (</a:t>
            </a:r>
            <a:r>
              <a:rPr lang="en-US" altLang="zh-CN" sz="1400" kern="100" dirty="0" err="1">
                <a:effectLst/>
                <a:latin typeface="Times New Roman" panose="02020603050405020304" pitchFamily="18" charset="0"/>
                <a:ea typeface="宋体" panose="02010600030101010101" pitchFamily="2" charset="-122"/>
              </a:rPr>
              <a:t>isalpha</a:t>
            </a:r>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ch</a:t>
            </a:r>
            <a:r>
              <a:rPr lang="en-US" altLang="zh-CN" sz="1400" kern="100" dirty="0">
                <a:effectLst/>
                <a:latin typeface="Times New Roman" panose="02020603050405020304" pitchFamily="18" charset="0"/>
                <a:ea typeface="宋体" panose="02010600030101010101" pitchFamily="2" charset="-122"/>
              </a:rPr>
              <a:t>)) </a:t>
            </a:r>
          </a:p>
          <a:p>
            <a:pPr indent="263525" algn="just"/>
            <a:r>
              <a:rPr lang="en-US" altLang="zh-CN" sz="1400" kern="100" dirty="0">
                <a:latin typeface="Times New Roman" panose="02020603050405020304" pitchFamily="18" charset="0"/>
                <a:ea typeface="宋体" panose="02010600030101010101" pitchFamily="2" charset="-122"/>
              </a:rPr>
              <a:t>    </a:t>
            </a:r>
            <a:r>
              <a:rPr lang="en-US" altLang="zh-CN" sz="1400" kern="100" dirty="0" err="1">
                <a:latin typeface="Times New Roman" panose="02020603050405020304" pitchFamily="18" charset="0"/>
                <a:ea typeface="宋体" panose="02010600030101010101" pitchFamily="2" charset="-122"/>
              </a:rPr>
              <a:t>RecogonizeId</a:t>
            </a:r>
            <a:r>
              <a:rPr lang="en-US" altLang="zh-CN" sz="1400" kern="100" dirty="0">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a:t>
            </a:r>
            <a:r>
              <a:rPr lang="zh-CN" altLang="zh-CN" sz="1400" kern="100" dirty="0">
                <a:effectLst/>
                <a:latin typeface="Times New Roman" panose="02020603050405020304" pitchFamily="18" charset="0"/>
                <a:ea typeface="宋体" panose="02010600030101010101" pitchFamily="2" charset="-122"/>
              </a:rPr>
              <a:t>若是字母，则是标识符或关键字</a:t>
            </a:r>
          </a:p>
          <a:p>
            <a:pPr indent="263525" algn="just"/>
            <a:r>
              <a:rPr lang="en-US" altLang="zh-CN" sz="1400" kern="100" dirty="0">
                <a:effectLst/>
                <a:latin typeface="Times New Roman" panose="02020603050405020304" pitchFamily="18" charset="0"/>
                <a:ea typeface="宋体" panose="02010600030101010101" pitchFamily="2" charset="-122"/>
              </a:rPr>
              <a:t>else if (</a:t>
            </a:r>
            <a:r>
              <a:rPr lang="en-US" altLang="zh-CN" sz="1400" kern="100" dirty="0" err="1">
                <a:effectLst/>
                <a:latin typeface="Times New Roman" panose="02020603050405020304" pitchFamily="18" charset="0"/>
                <a:ea typeface="宋体" panose="02010600030101010101" pitchFamily="2" charset="-122"/>
              </a:rPr>
              <a:t>ch</a:t>
            </a:r>
            <a:r>
              <a:rPr lang="en-US" altLang="zh-CN" sz="1400" kern="100" dirty="0">
                <a:effectLst/>
                <a:latin typeface="Times New Roman" panose="02020603050405020304" pitchFamily="18" charset="0"/>
                <a:ea typeface="宋体" panose="02010600030101010101" pitchFamily="2" charset="-122"/>
              </a:rPr>
              <a:t> == </a:t>
            </a:r>
            <a:r>
              <a:rPr lang="en-US" altLang="zh-CN" sz="1400" kern="100" dirty="0">
                <a:latin typeface="Times New Roman" panose="02020603050405020304" pitchFamily="18" charset="0"/>
                <a:ea typeface="宋体" panose="02010600030101010101" pitchFamily="2" charset="-122"/>
              </a:rPr>
              <a:t>‘/’) </a:t>
            </a:r>
          </a:p>
          <a:p>
            <a:pPr indent="263525" algn="just"/>
            <a:r>
              <a:rPr lang="en-US" altLang="zh-CN" sz="1400" kern="100" dirty="0">
                <a:latin typeface="Times New Roman" panose="02020603050405020304" pitchFamily="18" charset="0"/>
                <a:ea typeface="宋体" panose="02010600030101010101" pitchFamily="2" charset="-122"/>
              </a:rPr>
              <a:t>    </a:t>
            </a:r>
            <a:r>
              <a:rPr lang="en-US" altLang="zh-CN" sz="1400" kern="100" dirty="0" err="1">
                <a:latin typeface="Times New Roman" panose="02020603050405020304" pitchFamily="18" charset="0"/>
                <a:ea typeface="宋体" panose="02010600030101010101" pitchFamily="2" charset="-122"/>
              </a:rPr>
              <a:t>RecogonizeDivision</a:t>
            </a:r>
            <a:r>
              <a:rPr lang="en-US" altLang="zh-CN" sz="1400" kern="100" dirty="0">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 //</a:t>
            </a:r>
            <a:r>
              <a:rPr lang="zh-CN" altLang="en-US" sz="1400" kern="100" dirty="0">
                <a:latin typeface="Times New Roman" panose="02020603050405020304" pitchFamily="18" charset="0"/>
                <a:ea typeface="宋体" panose="02010600030101010101" pitchFamily="2" charset="-122"/>
              </a:rPr>
              <a:t>若</a:t>
            </a:r>
            <a:r>
              <a:rPr lang="zh-CN" altLang="en-US" sz="1400" kern="100" dirty="0">
                <a:effectLst/>
                <a:latin typeface="Times New Roman" panose="02020603050405020304" pitchFamily="18" charset="0"/>
                <a:ea typeface="宋体" panose="02010600030101010101" pitchFamily="2" charset="-122"/>
              </a:rPr>
              <a:t>是</a:t>
            </a:r>
            <a:r>
              <a:rPr lang="en-US" altLang="zh-CN" sz="1400" kern="100" dirty="0">
                <a:effectLst/>
                <a:latin typeface="Times New Roman" panose="02020603050405020304" pitchFamily="18" charset="0"/>
                <a:ea typeface="宋体" panose="02010600030101010101" pitchFamily="2" charset="-122"/>
              </a:rPr>
              <a:t>/</a:t>
            </a:r>
            <a:r>
              <a:rPr lang="zh-CN" altLang="en-US" sz="1400" kern="100" dirty="0">
                <a:effectLst/>
                <a:latin typeface="Times New Roman" panose="02020603050405020304" pitchFamily="18" charset="0"/>
                <a:ea typeface="宋体" panose="02010600030101010101" pitchFamily="2" charset="-122"/>
              </a:rPr>
              <a:t>，识别</a:t>
            </a:r>
            <a:r>
              <a:rPr lang="zh-CN" altLang="zh-CN" sz="1400" kern="100" dirty="0">
                <a:latin typeface="Times New Roman" panose="02020603050405020304" pitchFamily="18" charset="0"/>
                <a:ea typeface="宋体" panose="02010600030101010101" pitchFamily="2" charset="-122"/>
              </a:rPr>
              <a:t>除号</a:t>
            </a:r>
            <a:r>
              <a:rPr lang="en-US" altLang="zh-CN" sz="1400" kern="100" dirty="0">
                <a:latin typeface="Times New Roman" panose="02020603050405020304" pitchFamily="18" charset="0"/>
                <a:ea typeface="宋体" panose="02010600030101010101" pitchFamily="2" charset="-122"/>
              </a:rPr>
              <a:t>,</a:t>
            </a:r>
            <a:r>
              <a:rPr lang="zh-CN" altLang="en-US" sz="1400" kern="100" dirty="0">
                <a:latin typeface="Times New Roman" panose="02020603050405020304" pitchFamily="18" charset="0"/>
                <a:ea typeface="宋体" panose="02010600030101010101" pitchFamily="2" charset="-122"/>
              </a:rPr>
              <a:t>处理</a:t>
            </a:r>
            <a:r>
              <a:rPr lang="zh-CN" altLang="zh-CN" sz="1400" kern="100" dirty="0">
                <a:latin typeface="Times New Roman" panose="02020603050405020304" pitchFamily="18" charset="0"/>
                <a:ea typeface="宋体" panose="02010600030101010101" pitchFamily="2" charset="-122"/>
              </a:rPr>
              <a:t>注释</a:t>
            </a:r>
            <a:endParaRPr lang="zh-CN" altLang="zh-CN" sz="1400" kern="100" dirty="0">
              <a:effectLst/>
              <a:latin typeface="Times New Roman" panose="02020603050405020304" pitchFamily="18" charset="0"/>
              <a:ea typeface="宋体" panose="02010600030101010101" pitchFamily="2" charset="-122"/>
            </a:endParaRPr>
          </a:p>
          <a:p>
            <a:pPr indent="263525" algn="just"/>
            <a:r>
              <a:rPr lang="en-US" altLang="zh-CN" sz="1400" kern="100" dirty="0">
                <a:effectLst/>
                <a:latin typeface="Times New Roman" panose="02020603050405020304" pitchFamily="18" charset="0"/>
                <a:ea typeface="宋体" panose="02010600030101010101" pitchFamily="2" charset="-122"/>
              </a:rPr>
              <a:t>else if (</a:t>
            </a:r>
            <a:r>
              <a:rPr lang="en-US" altLang="zh-CN" sz="1400" kern="100" dirty="0" err="1">
                <a:effectLst/>
                <a:latin typeface="Times New Roman" panose="02020603050405020304" pitchFamily="18" charset="0"/>
                <a:ea typeface="宋体" panose="02010600030101010101" pitchFamily="2" charset="-122"/>
              </a:rPr>
              <a:t>ch</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a:latin typeface="Times New Roman" panose="02020603050405020304" pitchFamily="18" charset="0"/>
                <a:ea typeface="宋体" panose="02010600030101010101" pitchFamily="2" charset="-122"/>
              </a:rPr>
              <a:t>==‘\’‘) </a:t>
            </a:r>
          </a:p>
          <a:p>
            <a:pPr indent="263525" algn="just"/>
            <a:r>
              <a:rPr lang="en-US" altLang="zh-CN" sz="1400" kern="100" dirty="0">
                <a:latin typeface="Times New Roman" panose="02020603050405020304" pitchFamily="18" charset="0"/>
                <a:ea typeface="宋体" panose="02010600030101010101" pitchFamily="2" charset="-122"/>
              </a:rPr>
              <a:t>    </a:t>
            </a:r>
            <a:r>
              <a:rPr lang="en-US" altLang="zh-CN" sz="1400" kern="100" dirty="0" err="1">
                <a:latin typeface="Times New Roman" panose="02020603050405020304" pitchFamily="18" charset="0"/>
                <a:ea typeface="宋体" panose="02010600030101010101" pitchFamily="2" charset="-122"/>
              </a:rPr>
              <a:t>RecogonizeString</a:t>
            </a:r>
            <a:r>
              <a:rPr lang="en-US" altLang="zh-CN" sz="1400" kern="100" dirty="0">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 //</a:t>
            </a:r>
            <a:r>
              <a:rPr lang="zh-CN" altLang="zh-CN" sz="1400" kern="100" dirty="0">
                <a:effectLst/>
                <a:latin typeface="Times New Roman" panose="02020603050405020304" pitchFamily="18" charset="0"/>
                <a:ea typeface="宋体" panose="02010600030101010101" pitchFamily="2" charset="-122"/>
              </a:rPr>
              <a:t>若是</a:t>
            </a:r>
            <a:r>
              <a:rPr lang="en-US" altLang="zh-CN" sz="1400" kern="100" dirty="0">
                <a:effectLst/>
                <a:latin typeface="Times New Roman" panose="02020603050405020304" pitchFamily="18" charset="0"/>
                <a:ea typeface="宋体" panose="02010600030101010101" pitchFamily="2" charset="-122"/>
              </a:rPr>
              <a:t>’</a:t>
            </a:r>
            <a:r>
              <a:rPr lang="zh-CN" altLang="zh-CN" sz="1400" kern="100" dirty="0">
                <a:effectLst/>
                <a:latin typeface="Times New Roman" panose="02020603050405020304" pitchFamily="18" charset="0"/>
                <a:ea typeface="宋体" panose="02010600030101010101" pitchFamily="2" charset="-122"/>
              </a:rPr>
              <a:t>，则</a:t>
            </a:r>
            <a:r>
              <a:rPr lang="zh-CN" altLang="en-US" sz="1400" kern="100" dirty="0">
                <a:effectLst/>
                <a:latin typeface="Times New Roman" panose="02020603050405020304" pitchFamily="18" charset="0"/>
                <a:ea typeface="宋体" panose="02010600030101010101" pitchFamily="2" charset="-122"/>
              </a:rPr>
              <a:t>识别</a:t>
            </a:r>
            <a:r>
              <a:rPr lang="zh-CN" altLang="zh-CN" sz="1400" kern="100" dirty="0">
                <a:effectLst/>
                <a:latin typeface="Times New Roman" panose="02020603050405020304" pitchFamily="18" charset="0"/>
                <a:ea typeface="宋体" panose="02010600030101010101" pitchFamily="2" charset="-122"/>
              </a:rPr>
              <a:t>字符常数</a:t>
            </a:r>
          </a:p>
          <a:p>
            <a:pPr indent="263525" algn="just"/>
            <a:r>
              <a:rPr lang="en-US" altLang="zh-CN" sz="1400" kern="100" dirty="0">
                <a:effectLst/>
                <a:latin typeface="Times New Roman" panose="02020603050405020304" pitchFamily="18" charset="0"/>
                <a:ea typeface="宋体" panose="02010600030101010101" pitchFamily="2" charset="-122"/>
              </a:rPr>
              <a:t>else if (</a:t>
            </a:r>
            <a:r>
              <a:rPr lang="en-US" altLang="zh-CN" sz="1400" kern="100" dirty="0" err="1">
                <a:effectLst/>
                <a:latin typeface="Times New Roman" panose="02020603050405020304" pitchFamily="18" charset="0"/>
                <a:ea typeface="宋体" panose="02010600030101010101" pitchFamily="2" charset="-122"/>
              </a:rPr>
              <a:t>isdelimeter</a:t>
            </a:r>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ch</a:t>
            </a:r>
            <a:r>
              <a:rPr lang="en-US" altLang="zh-CN" sz="1400" kern="100" dirty="0">
                <a:effectLst/>
                <a:latin typeface="Times New Roman" panose="02020603050405020304" pitchFamily="18" charset="0"/>
                <a:ea typeface="宋体" panose="02010600030101010101" pitchFamily="2" charset="-122"/>
              </a:rPr>
              <a:t>)) </a:t>
            </a:r>
          </a:p>
          <a:p>
            <a:pPr indent="263525" algn="just"/>
            <a:r>
              <a:rPr lang="en-US" altLang="zh-CN" sz="1400" kern="100" dirty="0">
                <a:latin typeface="Times New Roman" panose="02020603050405020304" pitchFamily="18" charset="0"/>
                <a:ea typeface="宋体" panose="02010600030101010101" pitchFamily="2" charset="-122"/>
              </a:rPr>
              <a:t>    </a:t>
            </a:r>
            <a:r>
              <a:rPr lang="en-US" altLang="zh-CN" sz="1400" kern="100" dirty="0" err="1">
                <a:latin typeface="Times New Roman" panose="02020603050405020304" pitchFamily="18" charset="0"/>
                <a:ea typeface="宋体" panose="02010600030101010101" pitchFamily="2" charset="-122"/>
              </a:rPr>
              <a:t>RecogonizeDelimiter</a:t>
            </a:r>
            <a:r>
              <a:rPr lang="en-US" altLang="zh-CN" sz="1400" kern="100" dirty="0">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 //</a:t>
            </a:r>
            <a:r>
              <a:rPr lang="zh-CN" altLang="zh-CN" sz="1400" kern="100" dirty="0">
                <a:effectLst/>
                <a:latin typeface="Times New Roman" panose="02020603050405020304" pitchFamily="18" charset="0"/>
                <a:ea typeface="宋体" panose="02010600030101010101" pitchFamily="2" charset="-122"/>
              </a:rPr>
              <a:t>若是其它界符，</a:t>
            </a:r>
            <a:r>
              <a:rPr lang="zh-CN" altLang="en-US" sz="1400" kern="100" dirty="0">
                <a:latin typeface="Times New Roman" panose="02020603050405020304" pitchFamily="18" charset="0"/>
                <a:ea typeface="宋体" panose="02010600030101010101" pitchFamily="2" charset="-122"/>
              </a:rPr>
              <a:t>识别</a:t>
            </a:r>
            <a:r>
              <a:rPr lang="zh-CN" altLang="zh-CN" sz="1400" kern="100" dirty="0">
                <a:effectLst/>
                <a:latin typeface="Times New Roman" panose="02020603050405020304" pitchFamily="18" charset="0"/>
                <a:ea typeface="宋体" panose="02010600030101010101" pitchFamily="2" charset="-122"/>
              </a:rPr>
              <a:t>界符</a:t>
            </a:r>
          </a:p>
          <a:p>
            <a:pPr indent="263525" algn="just"/>
            <a:r>
              <a:rPr lang="en-US" altLang="zh-CN" sz="1400" kern="100" dirty="0">
                <a:effectLst/>
                <a:latin typeface="Times New Roman" panose="02020603050405020304" pitchFamily="18" charset="0"/>
                <a:ea typeface="宋体" panose="02010600030101010101" pitchFamily="2" charset="-122"/>
              </a:rPr>
              <a:t>else error(); //</a:t>
            </a:r>
            <a:r>
              <a:rPr lang="zh-CN" altLang="zh-CN" sz="1400" kern="100" dirty="0">
                <a:effectLst/>
                <a:latin typeface="Times New Roman" panose="02020603050405020304" pitchFamily="18" charset="0"/>
                <a:ea typeface="宋体" panose="02010600030101010101" pitchFamily="2" charset="-122"/>
              </a:rPr>
              <a:t>否则出错处理，出现了不识别的字符</a:t>
            </a:r>
          </a:p>
          <a:p>
            <a:r>
              <a:rPr lang="en-US" altLang="zh-CN" sz="1400" kern="100" dirty="0">
                <a:effectLst/>
                <a:latin typeface="Times New Roman" panose="02020603050405020304" pitchFamily="18" charset="0"/>
                <a:ea typeface="宋体" panose="02010600030101010101" pitchFamily="2" charset="-122"/>
              </a:rPr>
              <a:t>}</a:t>
            </a:r>
            <a:endParaRPr lang="zh-CN" altLang="en-US" sz="1400" dirty="0"/>
          </a:p>
        </p:txBody>
      </p:sp>
    </p:spTree>
    <p:extLst>
      <p:ext uri="{BB962C8B-B14F-4D97-AF65-F5344CB8AC3E}">
        <p14:creationId xmlns:p14="http://schemas.microsoft.com/office/powerpoint/2010/main" val="345355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vert="horz" wrap="square" lIns="68580" tIns="34290" rIns="68580" bIns="34290" rtlCol="0" anchor="ctr" anchorCtr="0">
            <a:normAutofit/>
            <a:scene3d>
              <a:camera prst="orthographicFront"/>
              <a:lightRig rig="soft" dir="t"/>
            </a:scene3d>
            <a:sp3d prstMaterial="softEdge">
              <a:bevelT w="25400" h="25400"/>
            </a:sp3d>
          </a:bodyPr>
          <a:lstStyle/>
          <a:p>
            <a:pPr algn="l" eaLnBrk="1" hangingPunct="1"/>
            <a:r>
              <a:rPr lang="zh-CN" altLang="zh-CN" sz="3200" dirty="0"/>
              <a:t>超前搜索技术和双界符的识别</a:t>
            </a:r>
          </a:p>
        </p:txBody>
      </p:sp>
      <p:sp>
        <p:nvSpPr>
          <p:cNvPr id="34819" name="Rectangle 2"/>
          <p:cNvSpPr/>
          <p:nvPr/>
        </p:nvSpPr>
        <p:spPr>
          <a:xfrm>
            <a:off x="4479635" y="-207749"/>
            <a:ext cx="184731" cy="41549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2100" dirty="0"/>
          </a:p>
        </p:txBody>
      </p:sp>
      <p:graphicFrame>
        <p:nvGraphicFramePr>
          <p:cNvPr id="34820" name="Object 1"/>
          <p:cNvGraphicFramePr>
            <a:graphicFrameLocks noChangeAspect="1"/>
          </p:cNvGraphicFramePr>
          <p:nvPr>
            <p:extLst>
              <p:ext uri="{D42A27DB-BD31-4B8C-83A1-F6EECF244321}">
                <p14:modId xmlns:p14="http://schemas.microsoft.com/office/powerpoint/2010/main" val="3624458627"/>
              </p:ext>
            </p:extLst>
          </p:nvPr>
        </p:nvGraphicFramePr>
        <p:xfrm>
          <a:off x="1747150" y="1102454"/>
          <a:ext cx="5464969" cy="2611041"/>
        </p:xfrm>
        <a:graphic>
          <a:graphicData uri="http://schemas.openxmlformats.org/presentationml/2006/ole">
            <mc:AlternateContent xmlns:mc="http://schemas.openxmlformats.org/markup-compatibility/2006">
              <mc:Choice xmlns:v="urn:schemas-microsoft-com:vml" Requires="v">
                <p:oleObj spid="_x0000_s18445" r:id="rId4" imgW="5029200" imgH="2400300" progId="Visio.Drawing.11">
                  <p:embed/>
                </p:oleObj>
              </mc:Choice>
              <mc:Fallback>
                <p:oleObj r:id="rId4" imgW="5029200" imgH="2400300" progId="Visio.Drawing.11">
                  <p:embed/>
                  <p:pic>
                    <p:nvPicPr>
                      <p:cNvPr id="34820" name="Object 1"/>
                      <p:cNvPicPr/>
                      <p:nvPr/>
                    </p:nvPicPr>
                    <p:blipFill>
                      <a:blip r:embed="rId5"/>
                      <a:stretch>
                        <a:fillRect/>
                      </a:stretch>
                    </p:blipFill>
                    <p:spPr>
                      <a:xfrm>
                        <a:off x="1747150" y="1102454"/>
                        <a:ext cx="5464969" cy="2611041"/>
                      </a:xfrm>
                      <a:prstGeom prst="rect">
                        <a:avLst/>
                      </a:prstGeom>
                      <a:noFill/>
                      <a:ln w="38100">
                        <a:noFill/>
                        <a:miter/>
                      </a:ln>
                    </p:spPr>
                  </p:pic>
                </p:oleObj>
              </mc:Fallback>
            </mc:AlternateContent>
          </a:graphicData>
        </a:graphic>
      </p:graphicFrame>
      <p:sp>
        <p:nvSpPr>
          <p:cNvPr id="34821" name="矩形 24"/>
          <p:cNvSpPr/>
          <p:nvPr/>
        </p:nvSpPr>
        <p:spPr>
          <a:xfrm>
            <a:off x="1584629" y="3954824"/>
            <a:ext cx="5790009" cy="3231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r>
              <a:rPr lang="zh-CN" altLang="zh-CN" sz="1500" dirty="0"/>
              <a:t>识别</a:t>
            </a:r>
            <a:r>
              <a:rPr lang="en-US" altLang="zh-CN" sz="1500" dirty="0"/>
              <a:t>&gt;</a:t>
            </a:r>
            <a:r>
              <a:rPr lang="zh-CN" altLang="zh-CN" sz="1500" dirty="0"/>
              <a:t>、</a:t>
            </a:r>
            <a:r>
              <a:rPr lang="en-US" altLang="zh-CN" sz="1500" dirty="0"/>
              <a:t>&gt;=</a:t>
            </a:r>
            <a:r>
              <a:rPr lang="zh-CN" altLang="zh-CN" sz="1500" dirty="0"/>
              <a:t>、</a:t>
            </a:r>
            <a:r>
              <a:rPr lang="en-US" altLang="zh-CN" sz="1500" dirty="0"/>
              <a:t>&gt;&gt;</a:t>
            </a:r>
            <a:r>
              <a:rPr lang="zh-CN" altLang="zh-CN" sz="1500" dirty="0"/>
              <a:t>、</a:t>
            </a:r>
            <a:r>
              <a:rPr lang="en-US" altLang="zh-CN" sz="1500" dirty="0"/>
              <a:t>&gt;&gt;=</a:t>
            </a:r>
            <a:r>
              <a:rPr lang="zh-CN" altLang="zh-CN" sz="1500" dirty="0"/>
              <a:t>四个单词的状态转换图</a:t>
            </a:r>
            <a:endParaRPr lang="zh-CN" alt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p:nvPr/>
        </p:nvSpPr>
        <p:spPr>
          <a:xfrm>
            <a:off x="4479635" y="-207749"/>
            <a:ext cx="184731" cy="41549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2100" dirty="0"/>
          </a:p>
        </p:txBody>
      </p:sp>
      <p:sp>
        <p:nvSpPr>
          <p:cNvPr id="36867" name="矩形 7"/>
          <p:cNvSpPr/>
          <p:nvPr/>
        </p:nvSpPr>
        <p:spPr>
          <a:xfrm>
            <a:off x="1735932" y="4376738"/>
            <a:ext cx="5922169" cy="3231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r>
              <a:rPr lang="zh-CN" altLang="zh-CN" sz="1500" dirty="0"/>
              <a:t>合并后的</a:t>
            </a:r>
            <a:r>
              <a:rPr lang="en-US" altLang="zh-CN" sz="1500" dirty="0"/>
              <a:t>Sample</a:t>
            </a:r>
            <a:r>
              <a:rPr lang="zh-CN" altLang="zh-CN" sz="1500" dirty="0"/>
              <a:t>语言数值型常数的识别</a:t>
            </a:r>
            <a:endParaRPr lang="zh-CN" altLang="en-US" sz="1500" dirty="0"/>
          </a:p>
        </p:txBody>
      </p:sp>
      <p:grpSp>
        <p:nvGrpSpPr>
          <p:cNvPr id="36868" name="组合 10"/>
          <p:cNvGrpSpPr/>
          <p:nvPr/>
        </p:nvGrpSpPr>
        <p:grpSpPr>
          <a:xfrm>
            <a:off x="1407319" y="685800"/>
            <a:ext cx="6396038" cy="3496866"/>
            <a:chOff x="352425" y="914400"/>
            <a:chExt cx="8528050" cy="4662488"/>
          </a:xfrm>
        </p:grpSpPr>
        <p:graphicFrame>
          <p:nvGraphicFramePr>
            <p:cNvPr id="36869" name="Object 1"/>
            <p:cNvGraphicFramePr>
              <a:graphicFrameLocks noChangeAspect="1"/>
            </p:cNvGraphicFramePr>
            <p:nvPr/>
          </p:nvGraphicFramePr>
          <p:xfrm>
            <a:off x="352425" y="914400"/>
            <a:ext cx="8528050" cy="4662488"/>
          </p:xfrm>
          <a:graphic>
            <a:graphicData uri="http://schemas.openxmlformats.org/presentationml/2006/ole">
              <mc:AlternateContent xmlns:mc="http://schemas.openxmlformats.org/markup-compatibility/2006">
                <mc:Choice xmlns:v="urn:schemas-microsoft-com:vml" Requires="v">
                  <p:oleObj spid="_x0000_s19469" r:id="rId3" imgW="8610600" imgH="4546600" progId="Visio.Drawing.11">
                    <p:embed/>
                  </p:oleObj>
                </mc:Choice>
                <mc:Fallback>
                  <p:oleObj r:id="rId3" imgW="8610600" imgH="4546600" progId="Visio.Drawing.11">
                    <p:embed/>
                    <p:pic>
                      <p:nvPicPr>
                        <p:cNvPr id="36869" name="Object 1"/>
                        <p:cNvPicPr/>
                        <p:nvPr/>
                      </p:nvPicPr>
                      <p:blipFill>
                        <a:blip r:embed="rId4"/>
                        <a:stretch>
                          <a:fillRect/>
                        </a:stretch>
                      </p:blipFill>
                      <p:spPr>
                        <a:xfrm>
                          <a:off x="352425" y="914400"/>
                          <a:ext cx="8528050" cy="4662488"/>
                        </a:xfrm>
                        <a:prstGeom prst="rect">
                          <a:avLst/>
                        </a:prstGeom>
                        <a:noFill/>
                        <a:ln w="38100">
                          <a:noFill/>
                          <a:miter/>
                        </a:ln>
                      </p:spPr>
                    </p:pic>
                  </p:oleObj>
                </mc:Fallback>
              </mc:AlternateContent>
            </a:graphicData>
          </a:graphic>
        </p:graphicFrame>
        <p:cxnSp>
          <p:nvCxnSpPr>
            <p:cNvPr id="36870" name="连接符: 肘形 2"/>
            <p:cNvCxnSpPr/>
            <p:nvPr/>
          </p:nvCxnSpPr>
          <p:spPr>
            <a:xfrm flipV="1">
              <a:off x="2156460" y="3307080"/>
              <a:ext cx="5814060" cy="502920"/>
            </a:xfrm>
            <a:prstGeom prst="bentConnector3">
              <a:avLst>
                <a:gd name="adj1" fmla="val 21296"/>
              </a:avLst>
            </a:prstGeom>
            <a:ln w="12700" cap="flat" cmpd="sng">
              <a:solidFill>
                <a:schemeClr val="tx1"/>
              </a:solidFill>
              <a:prstDash val="solid"/>
              <a:round/>
              <a:headEnd type="none" w="med" len="med"/>
              <a:tailEnd type="triangle" w="med" len="med"/>
            </a:ln>
          </p:spPr>
        </p:cxnSp>
        <p:sp>
          <p:nvSpPr>
            <p:cNvPr id="36871" name="文本框 14"/>
            <p:cNvSpPr txBox="1"/>
            <p:nvPr/>
          </p:nvSpPr>
          <p:spPr>
            <a:xfrm>
              <a:off x="6010593" y="3307080"/>
              <a:ext cx="605293" cy="3385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050" dirty="0"/>
                <a:t>其他</a:t>
              </a:r>
            </a:p>
          </p:txBody>
        </p:sp>
      </p:grpSp>
      <p:sp>
        <p:nvSpPr>
          <p:cNvPr id="34818" name="Rectangle 2"/>
          <p:cNvSpPr>
            <a:spLocks noGrp="1"/>
          </p:cNvSpPr>
          <p:nvPr/>
        </p:nvSpPr>
        <p:spPr>
          <a:xfrm>
            <a:off x="1503998" y="149543"/>
            <a:ext cx="6075521" cy="665321"/>
          </a:xfrm>
          <a:prstGeom prst="rect">
            <a:avLst/>
          </a:prstGeom>
          <a:noFill/>
          <a:ln w="9525">
            <a:noFill/>
          </a:ln>
        </p:spPr>
        <p:txBody>
          <a:bodyPr vert="horz" wrap="square" lIns="68580" tIns="34290" rIns="68580" bIns="3429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r>
              <a:rPr lang="zh-CN" altLang="zh-CN" sz="2100" b="1" dirty="0"/>
              <a:t>错误处理</a:t>
            </a: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04800" y="363141"/>
            <a:ext cx="8229600" cy="857250"/>
          </a:xfrm>
        </p:spPr>
        <p:txBody>
          <a:bodyPr/>
          <a:lstStyle/>
          <a:p>
            <a:pPr eaLnBrk="1" hangingPunct="1"/>
            <a:r>
              <a:rPr lang="zh-CN" altLang="en-US" sz="4000" b="1">
                <a:ea typeface="楷体_GB2312" pitchFamily="49" charset="-122"/>
              </a:rPr>
              <a:t>词法分析器的自动生成</a:t>
            </a:r>
          </a:p>
        </p:txBody>
      </p:sp>
      <p:sp>
        <p:nvSpPr>
          <p:cNvPr id="27651" name="Rectangle 3"/>
          <p:cNvSpPr>
            <a:spLocks noGrp="1" noChangeArrowheads="1"/>
          </p:cNvSpPr>
          <p:nvPr>
            <p:ph type="body" idx="1"/>
          </p:nvPr>
        </p:nvSpPr>
        <p:spPr>
          <a:xfrm>
            <a:off x="1936750" y="1709762"/>
            <a:ext cx="6027738" cy="2518172"/>
          </a:xfrm>
        </p:spPr>
        <p:txBody>
          <a:bodyPr/>
          <a:lstStyle/>
          <a:p>
            <a:pPr eaLnBrk="1" hangingPunct="1"/>
            <a:r>
              <a:rPr lang="zh-CN" altLang="en-US" b="1"/>
              <a:t>正则表达式</a:t>
            </a:r>
          </a:p>
          <a:p>
            <a:pPr eaLnBrk="1" hangingPunct="1"/>
            <a:r>
              <a:rPr lang="zh-CN" altLang="en-US" b="1"/>
              <a:t>有穷自动机</a:t>
            </a:r>
          </a:p>
        </p:txBody>
      </p:sp>
    </p:spTree>
    <p:extLst>
      <p:ext uri="{BB962C8B-B14F-4D97-AF65-F5344CB8AC3E}">
        <p14:creationId xmlns:p14="http://schemas.microsoft.com/office/powerpoint/2010/main" val="4128566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205979"/>
            <a:ext cx="9144000" cy="857250"/>
          </a:xfrm>
        </p:spPr>
        <p:txBody>
          <a:bodyPr>
            <a:normAutofit fontScale="90000"/>
          </a:bodyPr>
          <a:lstStyle/>
          <a:p>
            <a:pPr eaLnBrk="1" hangingPunct="1"/>
            <a:r>
              <a:rPr kumimoji="1" lang="en-US" altLang="zh-CN" sz="5400" b="1">
                <a:solidFill>
                  <a:srgbClr val="CC0099"/>
                </a:solidFill>
                <a:latin typeface="Times New Roman" pitchFamily="18" charset="0"/>
                <a:ea typeface="隶书" pitchFamily="49" charset="-122"/>
              </a:rPr>
              <a:t>2.5 </a:t>
            </a:r>
            <a:r>
              <a:rPr kumimoji="1" lang="zh-CN" altLang="zh-CN" sz="5400" b="1">
                <a:solidFill>
                  <a:srgbClr val="CC0099"/>
                </a:solidFill>
                <a:latin typeface="Times New Roman" pitchFamily="18" charset="0"/>
                <a:ea typeface="隶书" pitchFamily="49" charset="-122"/>
              </a:rPr>
              <a:t>正则表达式与有穷自动机</a:t>
            </a:r>
            <a:endParaRPr kumimoji="1" lang="zh-CN" altLang="en-US" sz="5400" b="1">
              <a:solidFill>
                <a:srgbClr val="CC0099"/>
              </a:solidFill>
              <a:latin typeface="Times New Roman" pitchFamily="18" charset="0"/>
              <a:ea typeface="隶书" pitchFamily="49" charset="-122"/>
            </a:endParaRPr>
          </a:p>
        </p:txBody>
      </p:sp>
      <p:sp>
        <p:nvSpPr>
          <p:cNvPr id="28675" name="Rectangle 3"/>
          <p:cNvSpPr>
            <a:spLocks noGrp="1" noChangeArrowheads="1"/>
          </p:cNvSpPr>
          <p:nvPr>
            <p:ph type="body" idx="1"/>
          </p:nvPr>
        </p:nvSpPr>
        <p:spPr>
          <a:xfrm>
            <a:off x="683568" y="1131590"/>
            <a:ext cx="8229600" cy="3394472"/>
          </a:xfrm>
        </p:spPr>
        <p:txBody>
          <a:bodyPr/>
          <a:lstStyle/>
          <a:p>
            <a:pPr algn="just" eaLnBrk="1" hangingPunct="1"/>
            <a:r>
              <a:rPr lang="zh-CN" altLang="en-US" dirty="0">
                <a:solidFill>
                  <a:srgbClr val="3366CC"/>
                </a:solidFill>
                <a:ea typeface="黑体" pitchFamily="49" charset="-122"/>
              </a:rPr>
              <a:t>本节要求</a:t>
            </a:r>
            <a:endParaRPr lang="en-US" altLang="zh-CN" dirty="0">
              <a:solidFill>
                <a:srgbClr val="3366CC"/>
              </a:solidFill>
              <a:ea typeface="黑体" pitchFamily="49" charset="-122"/>
            </a:endParaRPr>
          </a:p>
          <a:p>
            <a:pPr lvl="1" algn="just" eaLnBrk="1" hangingPunct="1"/>
            <a:r>
              <a:rPr lang="zh-CN" altLang="en-US" dirty="0">
                <a:solidFill>
                  <a:srgbClr val="3366CC"/>
                </a:solidFill>
                <a:ea typeface="黑体" pitchFamily="49" charset="-122"/>
                <a:cs typeface="Arial" charset="0"/>
              </a:rPr>
              <a:t>符号和符号串</a:t>
            </a:r>
            <a:endParaRPr lang="en-US" altLang="zh-CN" dirty="0">
              <a:solidFill>
                <a:srgbClr val="3366CC"/>
              </a:solidFill>
              <a:ea typeface="黑体" pitchFamily="49" charset="-122"/>
              <a:cs typeface="Arial" charset="0"/>
            </a:endParaRPr>
          </a:p>
          <a:p>
            <a:pPr lvl="1" algn="just" eaLnBrk="1" hangingPunct="1"/>
            <a:r>
              <a:rPr lang="zh-CN" altLang="en-US" dirty="0">
                <a:solidFill>
                  <a:srgbClr val="3366CC"/>
                </a:solidFill>
                <a:ea typeface="黑体" pitchFamily="49" charset="-122"/>
                <a:cs typeface="Arial" charset="0"/>
              </a:rPr>
              <a:t>集合的运算及语言的定义</a:t>
            </a:r>
            <a:endParaRPr lang="en-US" altLang="zh-CN" dirty="0">
              <a:solidFill>
                <a:srgbClr val="3366CC"/>
              </a:solidFill>
              <a:ea typeface="黑体" pitchFamily="49" charset="-122"/>
              <a:cs typeface="Arial" charset="0"/>
            </a:endParaRPr>
          </a:p>
          <a:p>
            <a:pPr lvl="1" algn="just" eaLnBrk="1" hangingPunct="1"/>
            <a:r>
              <a:rPr lang="zh-CN" altLang="en-US" dirty="0">
                <a:solidFill>
                  <a:srgbClr val="3366CC"/>
                </a:solidFill>
                <a:ea typeface="黑体" pitchFamily="49" charset="-122"/>
                <a:cs typeface="Arial" charset="0"/>
              </a:rPr>
              <a:t>正则表达式</a:t>
            </a:r>
            <a:endParaRPr lang="en-US" altLang="zh-CN" dirty="0">
              <a:solidFill>
                <a:srgbClr val="3366CC"/>
              </a:solidFill>
              <a:ea typeface="黑体" pitchFamily="49" charset="-122"/>
              <a:cs typeface="Arial" charset="0"/>
            </a:endParaRPr>
          </a:p>
          <a:p>
            <a:pPr lvl="1" algn="just" eaLnBrk="1" hangingPunct="1"/>
            <a:r>
              <a:rPr lang="zh-CN" altLang="en-US" dirty="0">
                <a:solidFill>
                  <a:srgbClr val="3366CC"/>
                </a:solidFill>
                <a:ea typeface="黑体" pitchFamily="49" charset="-122"/>
                <a:cs typeface="Arial" charset="0"/>
              </a:rPr>
              <a:t>有穷自动机</a:t>
            </a:r>
            <a:endParaRPr lang="en-US" altLang="zh-CN" dirty="0">
              <a:latin typeface="宋体" pitchFamily="2" charset="-122"/>
            </a:endParaRPr>
          </a:p>
          <a:p>
            <a:pPr lvl="2" algn="just" eaLnBrk="1" hangingPunct="1"/>
            <a:r>
              <a:rPr lang="zh-CN" altLang="en-US" dirty="0">
                <a:latin typeface="宋体" pitchFamily="2" charset="-122"/>
              </a:rPr>
              <a:t>能根据自然语言描述构造</a:t>
            </a:r>
            <a:r>
              <a:rPr lang="en-US" altLang="zh-CN" dirty="0">
                <a:latin typeface="宋体" pitchFamily="2" charset="-122"/>
              </a:rPr>
              <a:t>NFA</a:t>
            </a:r>
          </a:p>
          <a:p>
            <a:pPr lvl="2" algn="just" eaLnBrk="1" hangingPunct="1"/>
            <a:r>
              <a:rPr lang="zh-CN" altLang="en-US" dirty="0">
                <a:latin typeface="宋体" pitchFamily="2" charset="-122"/>
              </a:rPr>
              <a:t>掌握</a:t>
            </a:r>
            <a:r>
              <a:rPr lang="en-US" altLang="zh-CN" dirty="0">
                <a:latin typeface="宋体" pitchFamily="2" charset="-122"/>
              </a:rPr>
              <a:t>NFA</a:t>
            </a:r>
            <a:r>
              <a:rPr lang="zh-CN" altLang="en-US" dirty="0">
                <a:latin typeface="宋体" pitchFamily="2" charset="-122"/>
              </a:rPr>
              <a:t>转换为</a:t>
            </a:r>
            <a:r>
              <a:rPr lang="en-US" altLang="zh-CN" dirty="0">
                <a:latin typeface="宋体" pitchFamily="2" charset="-122"/>
              </a:rPr>
              <a:t>DFA</a:t>
            </a:r>
            <a:r>
              <a:rPr lang="zh-CN" altLang="en-US" dirty="0">
                <a:latin typeface="宋体" pitchFamily="2" charset="-122"/>
              </a:rPr>
              <a:t>，</a:t>
            </a:r>
            <a:r>
              <a:rPr lang="en-US" altLang="zh-CN" dirty="0">
                <a:latin typeface="宋体" pitchFamily="2" charset="-122"/>
              </a:rPr>
              <a:t>DFA</a:t>
            </a:r>
            <a:r>
              <a:rPr lang="zh-CN" altLang="en-US" dirty="0">
                <a:latin typeface="宋体" pitchFamily="2" charset="-122"/>
              </a:rPr>
              <a:t>的化简</a:t>
            </a:r>
            <a:endParaRPr lang="en-US" altLang="zh-CN" dirty="0">
              <a:latin typeface="宋体" pitchFamily="2" charset="-122"/>
            </a:endParaRPr>
          </a:p>
          <a:p>
            <a:pPr lvl="2" algn="just" eaLnBrk="1" hangingPunct="1"/>
            <a:r>
              <a:rPr lang="zh-CN" altLang="en-US" dirty="0">
                <a:latin typeface="宋体" pitchFamily="2" charset="-122"/>
              </a:rPr>
              <a:t>掌握正则表达式和有穷自动机间的转换 </a:t>
            </a:r>
          </a:p>
          <a:p>
            <a:pPr eaLnBrk="1" hangingPunct="1"/>
            <a:endParaRPr lang="en-US" altLang="zh-CN" dirty="0"/>
          </a:p>
        </p:txBody>
      </p:sp>
    </p:spTree>
    <p:extLst>
      <p:ext uri="{BB962C8B-B14F-4D97-AF65-F5344CB8AC3E}">
        <p14:creationId xmlns:p14="http://schemas.microsoft.com/office/powerpoint/2010/main" val="1939167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矩形 1"/>
          <p:cNvSpPr/>
          <p:nvPr/>
        </p:nvSpPr>
        <p:spPr>
          <a:xfrm>
            <a:off x="1249985" y="1971358"/>
            <a:ext cx="4112023" cy="707886"/>
          </a:xfrm>
          <a:prstGeom prst="rect">
            <a:avLst/>
          </a:prstGeom>
        </p:spPr>
        <p:txBody>
          <a:bodyPr wrap="none">
            <a:spAutoFit/>
          </a:bodyPr>
          <a:lstStyle/>
          <a:p>
            <a:r>
              <a:rPr lang="en-US" altLang="zh-CN" sz="4000" b="1" dirty="0">
                <a:solidFill>
                  <a:srgbClr val="CC0099"/>
                </a:solidFill>
                <a:ea typeface="隶书" pitchFamily="49" charset="-122"/>
              </a:rPr>
              <a:t>1</a:t>
            </a:r>
            <a:r>
              <a:rPr lang="zh-CN" altLang="en-US" sz="4000" b="1" dirty="0">
                <a:solidFill>
                  <a:srgbClr val="CC0099"/>
                </a:solidFill>
                <a:ea typeface="隶书" pitchFamily="49" charset="-122"/>
              </a:rPr>
              <a:t>、符号和符号串</a:t>
            </a:r>
            <a:endParaRPr lang="en-US" altLang="zh-CN" sz="4000" b="1" dirty="0">
              <a:solidFill>
                <a:srgbClr val="CC0099"/>
              </a:solidFill>
              <a:ea typeface="隶书" pitchFamily="49" charset="-122"/>
            </a:endParaRPr>
          </a:p>
        </p:txBody>
      </p:sp>
    </p:spTree>
    <p:extLst>
      <p:ext uri="{BB962C8B-B14F-4D97-AF65-F5344CB8AC3E}">
        <p14:creationId xmlns:p14="http://schemas.microsoft.com/office/powerpoint/2010/main" val="4259196734"/>
      </p:ext>
    </p:extLst>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pPr eaLnBrk="1" hangingPunct="1"/>
            <a:r>
              <a:rPr kumimoji="1" lang="en-US" altLang="zh-CN" sz="4800" b="1" dirty="0">
                <a:solidFill>
                  <a:srgbClr val="CC0099"/>
                </a:solidFill>
                <a:latin typeface="Times New Roman" pitchFamily="18" charset="0"/>
                <a:ea typeface="隶书" pitchFamily="49" charset="-122"/>
              </a:rPr>
              <a:t>2.5.1  </a:t>
            </a:r>
            <a:r>
              <a:rPr kumimoji="1" lang="zh-CN" altLang="en-US" sz="4800" b="1" dirty="0">
                <a:solidFill>
                  <a:srgbClr val="CC0099"/>
                </a:solidFill>
                <a:latin typeface="Times New Roman" pitchFamily="18" charset="0"/>
                <a:ea typeface="隶书" pitchFamily="49" charset="-122"/>
              </a:rPr>
              <a:t>符号和符号串</a:t>
            </a:r>
          </a:p>
        </p:txBody>
      </p:sp>
      <p:sp>
        <p:nvSpPr>
          <p:cNvPr id="19459" name="Rectangle 3"/>
          <p:cNvSpPr>
            <a:spLocks noGrp="1" noChangeArrowheads="1"/>
          </p:cNvSpPr>
          <p:nvPr>
            <p:ph type="body" idx="1"/>
          </p:nvPr>
        </p:nvSpPr>
        <p:spPr>
          <a:xfrm>
            <a:off x="395289" y="1059582"/>
            <a:ext cx="8435975" cy="3780010"/>
          </a:xfrm>
        </p:spPr>
        <p:txBody>
          <a:bodyPr>
            <a:normAutofit/>
          </a:bodyPr>
          <a:lstStyle/>
          <a:p>
            <a:pPr>
              <a:lnSpc>
                <a:spcPct val="90000"/>
              </a:lnSpc>
            </a:pPr>
            <a:r>
              <a:rPr lang="en-US" altLang="zh-CN" dirty="0">
                <a:solidFill>
                  <a:srgbClr val="660033"/>
                </a:solidFill>
              </a:rPr>
              <a:t>1.</a:t>
            </a:r>
            <a:r>
              <a:rPr lang="zh-CN" altLang="en-US" b="1" dirty="0">
                <a:solidFill>
                  <a:srgbClr val="0066FF"/>
                </a:solidFill>
              </a:rPr>
              <a:t>字母表</a:t>
            </a:r>
            <a:r>
              <a:rPr lang="zh-CN" altLang="en-US" dirty="0"/>
              <a:t>：</a:t>
            </a:r>
            <a:r>
              <a:rPr lang="zh-CN" altLang="en-US" sz="2200" dirty="0"/>
              <a:t>一个语言能够使用的全部字符构成的集合，</a:t>
            </a:r>
            <a:r>
              <a:rPr lang="zh-CN" altLang="zh-CN" sz="2200" dirty="0"/>
              <a:t>即该语言的合法字符集，</a:t>
            </a:r>
            <a:r>
              <a:rPr lang="zh-CN" altLang="en-US" sz="2200" dirty="0"/>
              <a:t>是元素的有穷非空集合，</a:t>
            </a:r>
            <a:r>
              <a:rPr lang="en-US" altLang="zh-CN" sz="2200" dirty="0">
                <a:cs typeface="Times New Roman" pitchFamily="18" charset="0"/>
              </a:rPr>
              <a:t>Σ</a:t>
            </a:r>
          </a:p>
          <a:p>
            <a:pPr eaLnBrk="1" hangingPunct="1">
              <a:lnSpc>
                <a:spcPct val="90000"/>
              </a:lnSpc>
            </a:pPr>
            <a:endParaRPr lang="en-US" altLang="zh-CN" dirty="0">
              <a:solidFill>
                <a:srgbClr val="660033"/>
              </a:solidFill>
            </a:endParaRPr>
          </a:p>
          <a:p>
            <a:pPr>
              <a:lnSpc>
                <a:spcPct val="90000"/>
              </a:lnSpc>
            </a:pPr>
            <a:r>
              <a:rPr lang="en-US" altLang="zh-CN" dirty="0">
                <a:solidFill>
                  <a:srgbClr val="660033"/>
                </a:solidFill>
              </a:rPr>
              <a:t>2.</a:t>
            </a:r>
            <a:r>
              <a:rPr lang="zh-CN" altLang="en-US" b="1" dirty="0">
                <a:solidFill>
                  <a:srgbClr val="0066FF"/>
                </a:solidFill>
              </a:rPr>
              <a:t>符号</a:t>
            </a:r>
            <a:r>
              <a:rPr lang="zh-CN" altLang="en-US" dirty="0"/>
              <a:t>：字母表中的每个元素，因此字母表也称为符号集</a:t>
            </a:r>
            <a:endParaRPr lang="en-US" altLang="zh-CN" dirty="0"/>
          </a:p>
          <a:p>
            <a:pPr eaLnBrk="1" hangingPunct="1">
              <a:lnSpc>
                <a:spcPct val="90000"/>
              </a:lnSpc>
            </a:pPr>
            <a:endParaRPr lang="zh-CN" altLang="en-US" sz="2800" dirty="0"/>
          </a:p>
          <a:p>
            <a:pPr lvl="1" eaLnBrk="1" hangingPunct="1">
              <a:lnSpc>
                <a:spcPct val="90000"/>
              </a:lnSpc>
            </a:pPr>
            <a:r>
              <a:rPr lang="zh-CN" altLang="en-US" dirty="0"/>
              <a:t>不同的语言可以有不同的字母表</a:t>
            </a:r>
            <a:endParaRPr lang="en-US" altLang="zh-CN" dirty="0"/>
          </a:p>
          <a:p>
            <a:pPr lvl="2">
              <a:lnSpc>
                <a:spcPct val="90000"/>
              </a:lnSpc>
            </a:pPr>
            <a:r>
              <a:rPr lang="zh-CN" altLang="en-US" sz="2200" dirty="0">
                <a:latin typeface="Times New Roman" pitchFamily="18" charset="0"/>
                <a:cs typeface="Times New Roman" pitchFamily="18" charset="0"/>
              </a:rPr>
              <a:t>二进制语言的字母表是 </a:t>
            </a:r>
            <a:r>
              <a:rPr lang="en-US" altLang="zh-CN" sz="2200" dirty="0">
                <a:latin typeface="Times New Roman" pitchFamily="18" charset="0"/>
                <a:cs typeface="Times New Roman" pitchFamily="18" charset="0"/>
              </a:rPr>
              <a:t>{0, 1}</a:t>
            </a:r>
          </a:p>
          <a:p>
            <a:pPr lvl="2" eaLnBrk="1" hangingPunct="1">
              <a:lnSpc>
                <a:spcPct val="90000"/>
              </a:lnSpc>
            </a:pPr>
            <a:r>
              <a:rPr lang="en-US" altLang="zh-CN" sz="2200" dirty="0"/>
              <a:t>C</a:t>
            </a:r>
            <a:r>
              <a:rPr lang="zh-CN" altLang="en-US" sz="2200" dirty="0"/>
              <a:t>语言的字母表是由字母、数字、若干专用符号组成，</a:t>
            </a:r>
            <a:r>
              <a:rPr lang="zh-CN" altLang="en-US" sz="2200" b="1" dirty="0">
                <a:latin typeface="Times New Roman" pitchFamily="18" charset="0"/>
                <a:cs typeface="Times New Roman" pitchFamily="18" charset="0"/>
              </a:rPr>
              <a:t>不识别</a:t>
            </a:r>
            <a:r>
              <a:rPr lang="zh-CN" altLang="zh-CN" sz="2200" b="1" dirty="0"/>
              <a:t>@</a:t>
            </a:r>
            <a:r>
              <a:rPr lang="zh-CN" altLang="en-US" sz="2200" b="1" dirty="0"/>
              <a:t>和</a:t>
            </a:r>
            <a:r>
              <a:rPr lang="en-US" altLang="zh-CN" sz="2200" b="1" dirty="0"/>
              <a:t>π</a:t>
            </a:r>
            <a:endParaRPr lang="en-US" altLang="zh-CN" sz="2200" b="1" dirty="0">
              <a:latin typeface="Times New Roman" pitchFamily="18" charset="0"/>
              <a:cs typeface="Times New Roman" pitchFamily="18" charset="0"/>
            </a:endParaRPr>
          </a:p>
          <a:p>
            <a:pPr lvl="2">
              <a:lnSpc>
                <a:spcPct val="90000"/>
              </a:lnSpc>
            </a:pPr>
            <a:r>
              <a:rPr lang="zh-CN" altLang="en-US" sz="2200" dirty="0"/>
              <a:t>英语的字母表中</a:t>
            </a:r>
            <a:r>
              <a:rPr lang="en-US" altLang="zh-CN" sz="2200" dirty="0"/>
              <a:t>26</a:t>
            </a:r>
            <a:r>
              <a:rPr lang="zh-CN" altLang="en-US" sz="2200" dirty="0"/>
              <a:t>个字母、数字及标点符号等</a:t>
            </a:r>
            <a:endParaRPr lang="zh-CN" altLang="en-US" sz="2200" b="1" dirty="0"/>
          </a:p>
        </p:txBody>
      </p:sp>
    </p:spTree>
    <p:extLst>
      <p:ext uri="{BB962C8B-B14F-4D97-AF65-F5344CB8AC3E}">
        <p14:creationId xmlns:p14="http://schemas.microsoft.com/office/powerpoint/2010/main" val="251786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4294967295"/>
          </p:nvPr>
        </p:nvSpPr>
        <p:spPr>
          <a:xfrm>
            <a:off x="236538" y="843558"/>
            <a:ext cx="8511926" cy="4299942"/>
          </a:xfrm>
          <a:solidFill>
            <a:schemeClr val="bg1"/>
          </a:solidFill>
        </p:spPr>
        <p:txBody>
          <a:bodyPr>
            <a:normAutofit/>
          </a:bodyPr>
          <a:lstStyle/>
          <a:p>
            <a:pPr eaLnBrk="1" hangingPunct="1">
              <a:spcBef>
                <a:spcPts val="0"/>
              </a:spcBef>
              <a:buClr>
                <a:schemeClr val="tx1"/>
              </a:buClr>
            </a:pPr>
            <a:r>
              <a:rPr lang="en-US" altLang="zh-CN" sz="4000" dirty="0">
                <a:solidFill>
                  <a:srgbClr val="660033"/>
                </a:solidFill>
              </a:rPr>
              <a:t>3.</a:t>
            </a:r>
            <a:r>
              <a:rPr lang="zh-CN" altLang="en-US" b="1" dirty="0">
                <a:solidFill>
                  <a:srgbClr val="0066FF"/>
                </a:solidFill>
              </a:rPr>
              <a:t>符号串</a:t>
            </a:r>
            <a:r>
              <a:rPr lang="en-US" altLang="zh-CN" dirty="0"/>
              <a:t>: </a:t>
            </a:r>
            <a:r>
              <a:rPr lang="zh-CN" altLang="en-US" sz="2200" dirty="0"/>
              <a:t>由字母表中的符号组成的任何有穷序列，又称为</a:t>
            </a:r>
            <a:r>
              <a:rPr lang="zh-CN" altLang="en-US" sz="2200" b="1" dirty="0">
                <a:solidFill>
                  <a:srgbClr val="FF0000"/>
                </a:solidFill>
              </a:rPr>
              <a:t>字</a:t>
            </a:r>
            <a:endParaRPr lang="en-US" altLang="zh-CN" sz="2200" b="1" dirty="0">
              <a:solidFill>
                <a:srgbClr val="FF0000"/>
              </a:solidFill>
            </a:endParaRPr>
          </a:p>
          <a:p>
            <a:pPr marL="393192" lvl="1" indent="0">
              <a:spcBef>
                <a:spcPts val="0"/>
              </a:spcBef>
              <a:buClr>
                <a:schemeClr val="tx1"/>
              </a:buClr>
              <a:buNone/>
            </a:pPr>
            <a:r>
              <a:rPr lang="zh-CN" altLang="en-US" dirty="0"/>
              <a:t>     </a:t>
            </a:r>
            <a:r>
              <a:rPr lang="en-US" altLang="zh-CN" dirty="0"/>
              <a:t>001110 </a:t>
            </a:r>
            <a:r>
              <a:rPr lang="zh-CN" altLang="en-US" dirty="0"/>
              <a:t>是字母表</a:t>
            </a:r>
            <a:r>
              <a:rPr lang="zh-CN" altLang="en-US" dirty="0">
                <a:sym typeface="Symbol" pitchFamily="18" charset="2"/>
              </a:rPr>
              <a:t></a:t>
            </a:r>
            <a:r>
              <a:rPr lang="zh-CN" altLang="en-US" dirty="0"/>
              <a:t> =｛0，1｝上的符号串</a:t>
            </a:r>
            <a:endParaRPr lang="en-US" altLang="zh-CN" dirty="0"/>
          </a:p>
          <a:p>
            <a:pPr marL="393192" lvl="1" indent="0" eaLnBrk="1" hangingPunct="1">
              <a:spcBef>
                <a:spcPts val="0"/>
              </a:spcBef>
              <a:buClr>
                <a:schemeClr val="tx1"/>
              </a:buClr>
              <a:buNone/>
            </a:pPr>
            <a:r>
              <a:rPr lang="zh-CN" altLang="en-US" dirty="0"/>
              <a:t>     字母表</a:t>
            </a:r>
            <a:r>
              <a:rPr lang="en-US" altLang="zh-CN" dirty="0"/>
              <a:t>A=</a:t>
            </a:r>
            <a:r>
              <a:rPr lang="zh-CN" altLang="en-US" dirty="0"/>
              <a:t>｛</a:t>
            </a:r>
            <a:r>
              <a:rPr lang="en-US" altLang="zh-CN" dirty="0" err="1"/>
              <a:t>a,b,c</a:t>
            </a:r>
            <a:r>
              <a:rPr lang="zh-CN" altLang="en-US" dirty="0"/>
              <a:t>｝上的符号串有：</a:t>
            </a:r>
            <a:r>
              <a:rPr lang="en-US" altLang="zh-CN" dirty="0" err="1"/>
              <a:t>a,ab,aaca</a:t>
            </a:r>
            <a:r>
              <a:rPr lang="zh-CN" altLang="en-US" dirty="0"/>
              <a:t>等</a:t>
            </a:r>
            <a:endParaRPr lang="en-US" altLang="zh-CN" dirty="0"/>
          </a:p>
          <a:p>
            <a:pPr lvl="1">
              <a:spcBef>
                <a:spcPts val="0"/>
              </a:spcBef>
              <a:buClr>
                <a:schemeClr val="tx1"/>
              </a:buClr>
              <a:buFont typeface="Wingdings" panose="05000000000000000000" pitchFamily="2" charset="2"/>
              <a:buChar char="Ø"/>
            </a:pPr>
            <a:endParaRPr lang="en-US" altLang="zh-CN" dirty="0">
              <a:sym typeface="Symbol" pitchFamily="18" charset="2"/>
            </a:endParaRPr>
          </a:p>
          <a:p>
            <a:pPr lvl="1">
              <a:spcBef>
                <a:spcPts val="0"/>
              </a:spcBef>
              <a:buClr>
                <a:schemeClr val="tx1"/>
              </a:buClr>
              <a:buFont typeface="Wingdings" panose="05000000000000000000" pitchFamily="2" charset="2"/>
              <a:buChar char="Ø"/>
            </a:pPr>
            <a:r>
              <a:rPr lang="zh-CN" altLang="en-US" dirty="0">
                <a:sym typeface="Symbol" pitchFamily="18" charset="2"/>
              </a:rPr>
              <a:t>字母表上的单个符号也可以看成符号串</a:t>
            </a:r>
            <a:endParaRPr lang="en-US" altLang="zh-CN" dirty="0">
              <a:sym typeface="Symbol" pitchFamily="18" charset="2"/>
            </a:endParaRPr>
          </a:p>
          <a:p>
            <a:pPr lvl="1">
              <a:spcBef>
                <a:spcPts val="0"/>
              </a:spcBef>
              <a:buClr>
                <a:schemeClr val="tx1"/>
              </a:buClr>
              <a:buFont typeface="Wingdings" panose="05000000000000000000" pitchFamily="2" charset="2"/>
              <a:buChar char="Ø"/>
            </a:pPr>
            <a:endParaRPr lang="en-US" altLang="zh-CN" dirty="0"/>
          </a:p>
          <a:p>
            <a:pPr lvl="1" eaLnBrk="1" hangingPunct="1">
              <a:spcBef>
                <a:spcPts val="0"/>
              </a:spcBef>
              <a:buClr>
                <a:schemeClr val="tx1"/>
              </a:buClr>
              <a:buFont typeface="Wingdings" panose="05000000000000000000" pitchFamily="2" charset="2"/>
              <a:buChar char="Ø"/>
            </a:pPr>
            <a:r>
              <a:rPr lang="zh-CN" altLang="en-US" dirty="0"/>
              <a:t>符号串中符号的顺序是很重要的</a:t>
            </a:r>
            <a:endParaRPr lang="en-US" altLang="zh-CN" dirty="0"/>
          </a:p>
          <a:p>
            <a:pPr lvl="1" eaLnBrk="1" hangingPunct="1">
              <a:spcBef>
                <a:spcPts val="0"/>
              </a:spcBef>
              <a:buClr>
                <a:schemeClr val="tx1"/>
              </a:buClr>
              <a:buFontTx/>
              <a:buNone/>
            </a:pPr>
            <a:r>
              <a:rPr lang="en-US" altLang="zh-CN" dirty="0"/>
              <a:t>     </a:t>
            </a:r>
            <a:r>
              <a:rPr lang="zh-CN" altLang="en-US" dirty="0"/>
              <a:t>符号串</a:t>
            </a:r>
            <a:r>
              <a:rPr lang="en-US" altLang="zh-CN" dirty="0"/>
              <a:t>ab</a:t>
            </a:r>
            <a:r>
              <a:rPr lang="zh-CN" altLang="en-US" dirty="0"/>
              <a:t>不同于</a:t>
            </a:r>
            <a:r>
              <a:rPr lang="en-US" altLang="zh-CN" dirty="0" err="1"/>
              <a:t>ba,abca</a:t>
            </a:r>
            <a:r>
              <a:rPr lang="zh-CN" altLang="en-US" dirty="0"/>
              <a:t>和</a:t>
            </a:r>
            <a:r>
              <a:rPr lang="en-US" altLang="zh-CN" dirty="0" err="1"/>
              <a:t>aabc</a:t>
            </a:r>
            <a:r>
              <a:rPr lang="zh-CN" altLang="en-US" dirty="0"/>
              <a:t>也不同</a:t>
            </a:r>
            <a:endParaRPr lang="en-US" altLang="zh-CN" dirty="0"/>
          </a:p>
          <a:p>
            <a:pPr lvl="1" eaLnBrk="1" hangingPunct="1">
              <a:spcBef>
                <a:spcPts val="0"/>
              </a:spcBef>
              <a:buClr>
                <a:schemeClr val="tx1"/>
              </a:buClr>
              <a:buFontTx/>
              <a:buNone/>
            </a:pPr>
            <a:r>
              <a:rPr lang="en-US" altLang="zh-CN" dirty="0"/>
              <a:t>   </a:t>
            </a:r>
            <a:r>
              <a:rPr lang="zh-CN" altLang="en-US" dirty="0"/>
              <a:t>  符号串</a:t>
            </a:r>
            <a:r>
              <a:rPr lang="en-US" altLang="zh-CN" dirty="0"/>
              <a:t>STR</a:t>
            </a:r>
            <a:r>
              <a:rPr lang="zh-CN" altLang="en-US" dirty="0"/>
              <a:t>表示</a:t>
            </a:r>
            <a:r>
              <a:rPr lang="zh-CN" altLang="en-US" dirty="0">
                <a:cs typeface="Times New Roman" pitchFamily="18" charset="0"/>
              </a:rPr>
              <a:t>“</a:t>
            </a:r>
            <a:r>
              <a:rPr lang="zh-CN" altLang="en-US" dirty="0"/>
              <a:t>由符号</a:t>
            </a:r>
            <a:r>
              <a:rPr lang="en-US" altLang="zh-CN" dirty="0"/>
              <a:t>S</a:t>
            </a:r>
            <a:r>
              <a:rPr lang="zh-CN" altLang="en-US" dirty="0"/>
              <a:t>、</a:t>
            </a:r>
            <a:r>
              <a:rPr lang="en-US" altLang="zh-CN" dirty="0"/>
              <a:t>T</a:t>
            </a:r>
            <a:r>
              <a:rPr lang="zh-CN" altLang="en-US" dirty="0"/>
              <a:t>和</a:t>
            </a:r>
            <a:r>
              <a:rPr lang="en-US" altLang="zh-CN" dirty="0"/>
              <a:t>R</a:t>
            </a:r>
            <a:r>
              <a:rPr lang="zh-CN" altLang="en-US" dirty="0"/>
              <a:t>，并按此顺序组成</a:t>
            </a:r>
            <a:endParaRPr lang="en-US" altLang="zh-CN" dirty="0"/>
          </a:p>
        </p:txBody>
      </p:sp>
      <p:sp>
        <p:nvSpPr>
          <p:cNvPr id="3" name="Rectangle 2"/>
          <p:cNvSpPr txBox="1">
            <a:spLocks noChangeArrowheads="1"/>
          </p:cNvSpPr>
          <p:nvPr/>
        </p:nvSpPr>
        <p:spPr>
          <a:xfrm>
            <a:off x="107504" y="123478"/>
            <a:ext cx="8229600" cy="576064"/>
          </a:xfrm>
          <a:prstGeom prst="rect">
            <a:avLst/>
          </a:prstGeom>
        </p:spPr>
        <p:txBody>
          <a:bodyPr>
            <a:normAutofit fontScale="750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en-US" altLang="zh-CN" sz="4800" dirty="0">
                <a:solidFill>
                  <a:srgbClr val="CC0099"/>
                </a:solidFill>
                <a:latin typeface="Times New Roman" pitchFamily="18" charset="0"/>
              </a:rPr>
              <a:t>2.5.1  </a:t>
            </a:r>
            <a:r>
              <a:rPr kumimoji="1" lang="zh-CN" altLang="en-US" sz="4800" dirty="0">
                <a:solidFill>
                  <a:srgbClr val="CC0099"/>
                </a:solidFill>
                <a:latin typeface="Times New Roman" pitchFamily="18" charset="0"/>
              </a:rPr>
              <a:t>符号和符号串</a:t>
            </a:r>
          </a:p>
        </p:txBody>
      </p:sp>
    </p:spTree>
    <p:custDataLst>
      <p:tags r:id="rId1"/>
    </p:custDataLst>
    <p:extLst>
      <p:ext uri="{BB962C8B-B14F-4D97-AF65-F5344CB8AC3E}">
        <p14:creationId xmlns:p14="http://schemas.microsoft.com/office/powerpoint/2010/main" val="1938113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39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4294967295"/>
          </p:nvPr>
        </p:nvSpPr>
        <p:spPr>
          <a:xfrm>
            <a:off x="184528" y="699542"/>
            <a:ext cx="8511926" cy="4227934"/>
          </a:xfrm>
          <a:solidFill>
            <a:schemeClr val="bg1"/>
          </a:solidFill>
        </p:spPr>
        <p:txBody>
          <a:bodyPr>
            <a:normAutofit lnSpcReduction="10000"/>
          </a:bodyPr>
          <a:lstStyle/>
          <a:p>
            <a:pPr>
              <a:buClr>
                <a:schemeClr val="tx1"/>
              </a:buClr>
            </a:pPr>
            <a:r>
              <a:rPr lang="en-US" altLang="zh-CN" dirty="0">
                <a:latin typeface="Times New Roman" panose="02020603050405020304" pitchFamily="18" charset="0"/>
                <a:cs typeface="Times New Roman" panose="02020603050405020304" pitchFamily="18" charset="0"/>
              </a:rPr>
              <a:t>4</a:t>
            </a:r>
            <a:r>
              <a:rPr lang="en-US" altLang="zh-CN" sz="2600" b="1" dirty="0">
                <a:solidFill>
                  <a:srgbClr val="0066FF"/>
                </a:solidFill>
                <a:latin typeface="Times New Roman" panose="02020603050405020304" pitchFamily="18" charset="0"/>
                <a:cs typeface="Times New Roman" panose="02020603050405020304" pitchFamily="18" charset="0"/>
              </a:rPr>
              <a:t>. </a:t>
            </a:r>
            <a:r>
              <a:rPr lang="zh-CN" altLang="en-US" sz="2600" b="1" dirty="0">
                <a:solidFill>
                  <a:srgbClr val="0066FF"/>
                </a:solidFill>
                <a:latin typeface="Times New Roman" panose="02020603050405020304" pitchFamily="18" charset="0"/>
                <a:cs typeface="Times New Roman" panose="02020603050405020304" pitchFamily="18" charset="0"/>
              </a:rPr>
              <a:t>符号串的运算</a:t>
            </a:r>
          </a:p>
          <a:p>
            <a:pPr lvl="1" eaLnBrk="1" hangingPunct="1">
              <a:buClr>
                <a:schemeClr val="tx1"/>
              </a:buClr>
            </a:pPr>
            <a:r>
              <a:rPr lang="zh-CN" altLang="zh-CN" dirty="0">
                <a:latin typeface="Times New Roman" panose="02020603050405020304" pitchFamily="18" charset="0"/>
                <a:cs typeface="Times New Roman" panose="02020603050405020304" pitchFamily="18" charset="0"/>
              </a:rPr>
              <a:t>符号串</a:t>
            </a:r>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的</a:t>
            </a:r>
            <a:r>
              <a:rPr lang="zh-CN" altLang="zh-CN" sz="2400" b="1" dirty="0">
                <a:solidFill>
                  <a:srgbClr val="FF0000"/>
                </a:solidFill>
                <a:latin typeface="Times New Roman" panose="02020603050405020304" pitchFamily="18" charset="0"/>
                <a:cs typeface="Times New Roman" panose="02020603050405020304" pitchFamily="18" charset="0"/>
              </a:rPr>
              <a:t>长度</a:t>
            </a:r>
            <a:r>
              <a:rPr lang="zh-CN" altLang="en-US" b="1"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是指出现在</a:t>
            </a:r>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中的符号个数</a:t>
            </a:r>
            <a:endParaRPr lang="en-US" altLang="zh-CN" dirty="0">
              <a:latin typeface="Times New Roman" panose="02020603050405020304" pitchFamily="18" charset="0"/>
              <a:cs typeface="Times New Roman" panose="02020603050405020304" pitchFamily="18" charset="0"/>
            </a:endParaRPr>
          </a:p>
          <a:p>
            <a:pPr marL="393192" lvl="1" indent="0">
              <a:buClr>
                <a:schemeClr val="tx1"/>
              </a:buClr>
              <a:buNone/>
            </a:pPr>
            <a:r>
              <a:rPr lang="zh-CN" altLang="en-US" dirty="0">
                <a:latin typeface="Times New Roman" panose="02020603050405020304" pitchFamily="18" charset="0"/>
                <a:cs typeface="Times New Roman" panose="02020603050405020304" pitchFamily="18" charset="0"/>
              </a:rPr>
              <a:t>    某符号串中有</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个符号，则称其长度为</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，表示为</a:t>
            </a:r>
            <a:r>
              <a:rPr lang="en-US" altLang="zh-CN" dirty="0">
                <a:latin typeface="Times New Roman" panose="02020603050405020304" pitchFamily="18" charset="0"/>
                <a:cs typeface="Times New Roman" panose="02020603050405020304" pitchFamily="18" charset="0"/>
              </a:rPr>
              <a:t>|x|=m</a:t>
            </a:r>
          </a:p>
          <a:p>
            <a:pPr marL="393192" lvl="1" indent="0">
              <a:buClr>
                <a:schemeClr val="tx1"/>
              </a:buClr>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如</a:t>
            </a:r>
            <a:r>
              <a:rPr lang="en-US" altLang="zh-CN" dirty="0">
                <a:latin typeface="Times New Roman" panose="02020603050405020304" pitchFamily="18" charset="0"/>
                <a:cs typeface="Times New Roman" panose="02020603050405020304" pitchFamily="18" charset="0"/>
              </a:rPr>
              <a:t>001110</a:t>
            </a:r>
            <a:r>
              <a:rPr lang="zh-CN" altLang="en-US" dirty="0">
                <a:latin typeface="Times New Roman" panose="02020603050405020304" pitchFamily="18" charset="0"/>
                <a:cs typeface="Times New Roman" panose="02020603050405020304" pitchFamily="18" charset="0"/>
              </a:rPr>
              <a:t>的长度是</a:t>
            </a:r>
            <a:r>
              <a:rPr lang="en-US" altLang="zh-CN" dirty="0">
                <a:latin typeface="Times New Roman" panose="02020603050405020304" pitchFamily="18" charset="0"/>
                <a:cs typeface="Times New Roman" panose="02020603050405020304" pitchFamily="18" charset="0"/>
              </a:rPr>
              <a:t>6</a:t>
            </a:r>
          </a:p>
          <a:p>
            <a:pPr lvl="1">
              <a:buClr>
                <a:schemeClr val="tx1"/>
              </a:buClr>
            </a:pPr>
            <a:r>
              <a:rPr lang="zh-CN" altLang="en-US" sz="2600" b="1" dirty="0">
                <a:solidFill>
                  <a:schemeClr val="accent2"/>
                </a:solidFill>
                <a:latin typeface="Times New Roman" panose="02020603050405020304" pitchFamily="18" charset="0"/>
                <a:cs typeface="Times New Roman" panose="02020603050405020304" pitchFamily="18" charset="0"/>
              </a:rPr>
              <a:t>空符号串</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不包含任何符号的符号串，用</a:t>
            </a:r>
            <a:r>
              <a:rPr lang="en-US" altLang="zh-CN" dirty="0">
                <a:latin typeface="Times New Roman" panose="02020603050405020304" pitchFamily="18" charset="0"/>
                <a:cs typeface="Times New Roman" panose="02020603050405020304" pitchFamily="18" charset="0"/>
              </a:rPr>
              <a:t>ε</a:t>
            </a:r>
            <a:r>
              <a:rPr lang="zh-CN" altLang="en-US" dirty="0">
                <a:latin typeface="Times New Roman" panose="02020603050405020304" pitchFamily="18" charset="0"/>
                <a:cs typeface="Times New Roman" panose="02020603050405020304" pitchFamily="18" charset="0"/>
              </a:rPr>
              <a:t>表示，其长度为</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 即</a:t>
            </a:r>
            <a:r>
              <a:rPr lang="en-US" altLang="zh-CN" dirty="0">
                <a:latin typeface="Times New Roman" panose="02020603050405020304" pitchFamily="18" charset="0"/>
                <a:cs typeface="Times New Roman" panose="02020603050405020304" pitchFamily="18" charset="0"/>
              </a:rPr>
              <a:t>|ε|=0</a:t>
            </a:r>
            <a:r>
              <a:rPr lang="zh-CN" altLang="en-US" dirty="0">
                <a:latin typeface="Times New Roman" panose="02020603050405020304" pitchFamily="18" charset="0"/>
                <a:cs typeface="Times New Roman" panose="02020603050405020304" pitchFamily="18" charset="0"/>
              </a:rPr>
              <a:t>。</a:t>
            </a:r>
          </a:p>
          <a:p>
            <a:pPr lvl="1" eaLnBrk="1" hangingPunct="1">
              <a:buClr>
                <a:schemeClr val="tx1"/>
              </a:buClr>
            </a:pPr>
            <a:r>
              <a:rPr lang="zh-CN" altLang="zh-CN" dirty="0">
                <a:latin typeface="Times New Roman" panose="02020603050405020304" pitchFamily="18" charset="0"/>
                <a:cs typeface="Times New Roman" panose="02020603050405020304" pitchFamily="18" charset="0"/>
              </a:rPr>
              <a:t>字的</a:t>
            </a:r>
            <a:r>
              <a:rPr lang="zh-CN" altLang="zh-CN" sz="2400" b="1" dirty="0">
                <a:solidFill>
                  <a:srgbClr val="FF0000"/>
                </a:solidFill>
                <a:latin typeface="Times New Roman" panose="02020603050405020304" pitchFamily="18" charset="0"/>
                <a:cs typeface="Times New Roman" panose="02020603050405020304" pitchFamily="18" charset="0"/>
              </a:rPr>
              <a:t>前缀</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prefix</a:t>
            </a:r>
            <a:r>
              <a:rPr lang="zh-CN"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是指从字的开头取</a:t>
            </a:r>
            <a:r>
              <a:rPr lang="en-US" altLang="zh-CN" dirty="0">
                <a:latin typeface="Times New Roman" panose="02020603050405020304" pitchFamily="18" charset="0"/>
                <a:cs typeface="Times New Roman" panose="02020603050405020304" pitchFamily="18" charset="0"/>
              </a:rPr>
              <a:t>0</a:t>
            </a:r>
            <a:r>
              <a:rPr lang="zh-CN" altLang="zh-CN" dirty="0">
                <a:latin typeface="Times New Roman" panose="02020603050405020304" pitchFamily="18" charset="0"/>
                <a:cs typeface="Times New Roman" panose="02020603050405020304" pitchFamily="18" charset="0"/>
              </a:rPr>
              <a:t>个或多个符号得到的符号串</a:t>
            </a:r>
            <a:endParaRPr lang="en-US" altLang="zh-CN" dirty="0">
              <a:latin typeface="Times New Roman" panose="02020603050405020304" pitchFamily="18" charset="0"/>
              <a:cs typeface="Times New Roman" panose="02020603050405020304" pitchFamily="18" charset="0"/>
            </a:endParaRPr>
          </a:p>
          <a:p>
            <a:pPr marL="393192" lvl="1" indent="0">
              <a:buClr>
                <a:schemeClr val="tx1"/>
              </a:buClr>
              <a:buNone/>
            </a:pPr>
            <a:r>
              <a:rPr lang="en-US" altLang="zh-CN" dirty="0">
                <a:latin typeface="Times New Roman" panose="02020603050405020304" pitchFamily="18" charset="0"/>
                <a:cs typeface="Times New Roman" panose="02020603050405020304" pitchFamily="18" charset="0"/>
              </a:rPr>
              <a:t>     ban</a:t>
            </a:r>
            <a:r>
              <a:rPr lang="zh-CN" altLang="en-US" dirty="0">
                <a:latin typeface="Times New Roman" panose="02020603050405020304" pitchFamily="18" charset="0"/>
                <a:cs typeface="Times New Roman" panose="02020603050405020304" pitchFamily="18" charset="0"/>
              </a:rPr>
              <a:t>的前缀有</a:t>
            </a:r>
            <a:r>
              <a:rPr lang="en-US" altLang="zh-CN" sz="2000" dirty="0">
                <a:latin typeface="Times New Roman" panose="02020603050405020304" pitchFamily="18" charset="0"/>
                <a:cs typeface="Times New Roman" panose="02020603050405020304" pitchFamily="18" charset="0"/>
              </a:rPr>
              <a:t>ε</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ba</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ban</a:t>
            </a:r>
          </a:p>
          <a:p>
            <a:pPr lvl="1">
              <a:buClr>
                <a:schemeClr val="tx1"/>
              </a:buClr>
            </a:pPr>
            <a:r>
              <a:rPr lang="zh-CN" altLang="zh-CN" dirty="0">
                <a:latin typeface="Times New Roman" panose="02020603050405020304" pitchFamily="18" charset="0"/>
                <a:cs typeface="Times New Roman" panose="02020603050405020304" pitchFamily="18" charset="0"/>
              </a:rPr>
              <a:t>字的</a:t>
            </a:r>
            <a:r>
              <a:rPr lang="zh-CN" altLang="en-US" sz="2400" b="1" dirty="0">
                <a:solidFill>
                  <a:srgbClr val="FF0000"/>
                </a:solidFill>
                <a:latin typeface="Times New Roman" panose="02020603050405020304" pitchFamily="18" charset="0"/>
                <a:cs typeface="Times New Roman" panose="02020603050405020304" pitchFamily="18" charset="0"/>
              </a:rPr>
              <a:t>后</a:t>
            </a:r>
            <a:r>
              <a:rPr lang="zh-CN" altLang="zh-CN" sz="2400" b="1" dirty="0">
                <a:solidFill>
                  <a:srgbClr val="FF0000"/>
                </a:solidFill>
                <a:latin typeface="Times New Roman" panose="02020603050405020304" pitchFamily="18" charset="0"/>
                <a:cs typeface="Times New Roman" panose="02020603050405020304" pitchFamily="18" charset="0"/>
              </a:rPr>
              <a:t>缀</a:t>
            </a:r>
            <a:r>
              <a:rPr lang="zh-CN" altLang="zh-CN" dirty="0">
                <a:latin typeface="Times New Roman" panose="02020603050405020304" pitchFamily="18" charset="0"/>
                <a:cs typeface="Times New Roman" panose="02020603050405020304" pitchFamily="18" charset="0"/>
              </a:rPr>
              <a:t>（</a:t>
            </a:r>
            <a:r>
              <a:rPr lang="en-US" altLang="zh-CN" dirty="0"/>
              <a:t>suffix</a:t>
            </a:r>
            <a:r>
              <a:rPr lang="zh-CN"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是指从字的</a:t>
            </a:r>
            <a:r>
              <a:rPr lang="zh-CN" altLang="en-US" dirty="0">
                <a:latin typeface="Times New Roman" panose="02020603050405020304" pitchFamily="18" charset="0"/>
                <a:cs typeface="Times New Roman" panose="02020603050405020304" pitchFamily="18" charset="0"/>
              </a:rPr>
              <a:t>末尾</a:t>
            </a:r>
            <a:r>
              <a:rPr lang="zh-CN" altLang="zh-CN" dirty="0">
                <a:latin typeface="Times New Roman" panose="02020603050405020304" pitchFamily="18" charset="0"/>
                <a:cs typeface="Times New Roman" panose="02020603050405020304" pitchFamily="18" charset="0"/>
              </a:rPr>
              <a:t>取</a:t>
            </a:r>
            <a:r>
              <a:rPr lang="en-US" altLang="zh-CN" dirty="0">
                <a:latin typeface="Times New Roman" panose="02020603050405020304" pitchFamily="18" charset="0"/>
                <a:cs typeface="Times New Roman" panose="02020603050405020304" pitchFamily="18" charset="0"/>
              </a:rPr>
              <a:t>0</a:t>
            </a:r>
            <a:r>
              <a:rPr lang="zh-CN" altLang="zh-CN" dirty="0">
                <a:latin typeface="Times New Roman" panose="02020603050405020304" pitchFamily="18" charset="0"/>
                <a:cs typeface="Times New Roman" panose="02020603050405020304" pitchFamily="18" charset="0"/>
              </a:rPr>
              <a:t>个或多个符号得到的符号串</a:t>
            </a:r>
            <a:endParaRPr lang="en-US" altLang="zh-CN" dirty="0">
              <a:latin typeface="Times New Roman" panose="02020603050405020304" pitchFamily="18" charset="0"/>
              <a:cs typeface="Times New Roman" panose="02020603050405020304" pitchFamily="18" charset="0"/>
            </a:endParaRPr>
          </a:p>
          <a:p>
            <a:pPr marL="393192" lvl="1" indent="0">
              <a:buClr>
                <a:schemeClr val="tx1"/>
              </a:buClr>
              <a:buNone/>
            </a:pPr>
            <a:r>
              <a:rPr lang="en-US" altLang="zh-CN" dirty="0">
                <a:latin typeface="Times New Roman" panose="02020603050405020304" pitchFamily="18" charset="0"/>
                <a:cs typeface="Times New Roman" panose="02020603050405020304" pitchFamily="18" charset="0"/>
              </a:rPr>
              <a:t>     ban</a:t>
            </a:r>
            <a:r>
              <a:rPr lang="zh-CN" altLang="en-US" dirty="0">
                <a:latin typeface="Times New Roman" panose="02020603050405020304" pitchFamily="18" charset="0"/>
                <a:cs typeface="Times New Roman" panose="02020603050405020304" pitchFamily="18" charset="0"/>
              </a:rPr>
              <a:t>的后缀有</a:t>
            </a:r>
            <a:r>
              <a:rPr lang="en-US" altLang="zh-CN" sz="2000" dirty="0">
                <a:sym typeface="Symbol"/>
              </a:rPr>
              <a:t></a:t>
            </a:r>
            <a:r>
              <a:rPr lang="zh-CN" altLang="zh-CN" sz="2000" dirty="0"/>
              <a:t>、</a:t>
            </a:r>
            <a:r>
              <a:rPr lang="en-US" altLang="zh-CN" sz="2000" dirty="0"/>
              <a:t>n</a:t>
            </a:r>
            <a:r>
              <a:rPr lang="zh-CN" altLang="zh-CN" sz="2000" dirty="0"/>
              <a:t>、</a:t>
            </a:r>
            <a:r>
              <a:rPr lang="en-US" altLang="zh-CN" sz="2000" dirty="0"/>
              <a:t>an</a:t>
            </a:r>
            <a:r>
              <a:rPr lang="zh-CN" altLang="zh-CN" sz="2000" dirty="0"/>
              <a:t>、</a:t>
            </a:r>
            <a:r>
              <a:rPr lang="en-US" altLang="zh-CN" sz="2000" dirty="0"/>
              <a:t>ban</a:t>
            </a:r>
            <a:endParaRPr lang="en-US" altLang="zh-CN" dirty="0">
              <a:latin typeface="Times New Roman" panose="02020603050405020304" pitchFamily="18" charset="0"/>
              <a:cs typeface="Times New Roman" panose="02020603050405020304" pitchFamily="18" charset="0"/>
            </a:endParaRPr>
          </a:p>
        </p:txBody>
      </p:sp>
      <p:sp>
        <p:nvSpPr>
          <p:cNvPr id="3" name="Rectangle 2"/>
          <p:cNvSpPr txBox="1">
            <a:spLocks noChangeArrowheads="1"/>
          </p:cNvSpPr>
          <p:nvPr/>
        </p:nvSpPr>
        <p:spPr>
          <a:xfrm>
            <a:off x="107504" y="123478"/>
            <a:ext cx="8229600" cy="576064"/>
          </a:xfrm>
          <a:prstGeom prst="rect">
            <a:avLst/>
          </a:prstGeom>
        </p:spPr>
        <p:txBody>
          <a:bodyPr>
            <a:normAutofit fontScale="750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en-US" altLang="zh-CN" sz="4800" dirty="0">
                <a:solidFill>
                  <a:srgbClr val="CC0099"/>
                </a:solidFill>
                <a:latin typeface="Times New Roman" pitchFamily="18" charset="0"/>
              </a:rPr>
              <a:t>2.5.1  </a:t>
            </a:r>
            <a:r>
              <a:rPr kumimoji="1" lang="zh-CN" altLang="en-US" sz="4800" dirty="0">
                <a:solidFill>
                  <a:srgbClr val="CC0099"/>
                </a:solidFill>
                <a:latin typeface="Times New Roman" pitchFamily="18" charset="0"/>
              </a:rPr>
              <a:t>符号和符号串</a:t>
            </a:r>
          </a:p>
        </p:txBody>
      </p:sp>
    </p:spTree>
    <p:custDataLst>
      <p:tags r:id="rId1"/>
    </p:custDataLst>
    <p:extLst>
      <p:ext uri="{BB962C8B-B14F-4D97-AF65-F5344CB8AC3E}">
        <p14:creationId xmlns:p14="http://schemas.microsoft.com/office/powerpoint/2010/main" val="22013503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9395">
                                            <p:txEl>
                                              <p:pRg st="7" end="7"/>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93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4294967295"/>
          </p:nvPr>
        </p:nvSpPr>
        <p:spPr>
          <a:xfrm>
            <a:off x="251520" y="843558"/>
            <a:ext cx="8511926" cy="4011910"/>
          </a:xfrm>
          <a:solidFill>
            <a:schemeClr val="bg1"/>
          </a:solidFill>
        </p:spPr>
        <p:txBody>
          <a:bodyPr>
            <a:normAutofit/>
          </a:bodyPr>
          <a:lstStyle/>
          <a:p>
            <a:pPr>
              <a:buClr>
                <a:schemeClr val="tx1"/>
              </a:buClr>
            </a:pPr>
            <a:r>
              <a:rPr lang="en-US" altLang="zh-CN" dirty="0">
                <a:latin typeface="Times New Roman" panose="02020603050405020304" pitchFamily="18" charset="0"/>
                <a:cs typeface="Times New Roman" panose="02020603050405020304" pitchFamily="18" charset="0"/>
              </a:rPr>
              <a:t>4</a:t>
            </a:r>
            <a:r>
              <a:rPr lang="en-US" altLang="zh-CN" sz="2600" b="1" dirty="0">
                <a:solidFill>
                  <a:srgbClr val="0066FF"/>
                </a:solidFill>
                <a:latin typeface="Times New Roman" panose="02020603050405020304" pitchFamily="18" charset="0"/>
                <a:cs typeface="Times New Roman" panose="02020603050405020304" pitchFamily="18" charset="0"/>
              </a:rPr>
              <a:t>. </a:t>
            </a:r>
            <a:r>
              <a:rPr lang="zh-CN" altLang="en-US" sz="2600" b="1" dirty="0">
                <a:solidFill>
                  <a:srgbClr val="0066FF"/>
                </a:solidFill>
                <a:latin typeface="Times New Roman" panose="02020603050405020304" pitchFamily="18" charset="0"/>
                <a:cs typeface="Times New Roman" panose="02020603050405020304" pitchFamily="18" charset="0"/>
              </a:rPr>
              <a:t>符号串的运算</a:t>
            </a:r>
          </a:p>
          <a:p>
            <a:pPr lvl="1">
              <a:buClr>
                <a:schemeClr val="tx1"/>
              </a:buClr>
            </a:pPr>
            <a:r>
              <a:rPr lang="zh-CN" altLang="en-US" dirty="0">
                <a:latin typeface="Times New Roman" panose="02020603050405020304" pitchFamily="18" charset="0"/>
                <a:cs typeface="Times New Roman" panose="02020603050405020304" pitchFamily="18" charset="0"/>
              </a:rPr>
              <a:t>字的</a:t>
            </a:r>
            <a:r>
              <a:rPr lang="zh-CN" altLang="en-US" sz="2400" b="1" dirty="0">
                <a:solidFill>
                  <a:srgbClr val="FF0000"/>
                </a:solidFill>
                <a:latin typeface="Times New Roman" panose="02020603050405020304" pitchFamily="18" charset="0"/>
                <a:cs typeface="Times New Roman" panose="02020603050405020304" pitchFamily="18" charset="0"/>
              </a:rPr>
              <a:t>子串</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从</a:t>
            </a:r>
            <a:r>
              <a:rPr lang="zh-CN" altLang="en-US" dirty="0">
                <a:latin typeface="Times New Roman" panose="02020603050405020304" pitchFamily="18" charset="0"/>
                <a:cs typeface="Times New Roman" panose="02020603050405020304" pitchFamily="18" charset="0"/>
              </a:rPr>
              <a:t>一个</a:t>
            </a:r>
            <a:r>
              <a:rPr lang="zh-CN" altLang="zh-CN" dirty="0">
                <a:latin typeface="Times New Roman" panose="02020603050405020304" pitchFamily="18" charset="0"/>
                <a:cs typeface="Times New Roman" panose="02020603050405020304" pitchFamily="18" charset="0"/>
              </a:rPr>
              <a:t>字中删除任意前缀或后缀后得到的符号串。字的前缀和后缀本身也是子串</a:t>
            </a:r>
            <a:endParaRPr lang="en-US" altLang="zh-CN" dirty="0">
              <a:latin typeface="Times New Roman" panose="02020603050405020304" pitchFamily="18" charset="0"/>
              <a:cs typeface="Times New Roman" panose="02020603050405020304" pitchFamily="18" charset="0"/>
            </a:endParaRPr>
          </a:p>
          <a:p>
            <a:pPr lvl="1" eaLnBrk="1" hangingPunct="1">
              <a:buClr>
                <a:schemeClr val="tx1"/>
              </a:buClr>
            </a:pPr>
            <a:r>
              <a:rPr lang="zh-CN" altLang="zh-CN" dirty="0">
                <a:latin typeface="Times New Roman" panose="02020603050405020304" pitchFamily="18" charset="0"/>
                <a:cs typeface="Times New Roman" panose="02020603050405020304" pitchFamily="18" charset="0"/>
              </a:rPr>
              <a:t>两个符号串的</a:t>
            </a:r>
            <a:r>
              <a:rPr lang="zh-CN" altLang="zh-CN" sz="2400" b="1" dirty="0">
                <a:solidFill>
                  <a:srgbClr val="FF0000"/>
                </a:solidFill>
                <a:latin typeface="Times New Roman" panose="02020603050405020304" pitchFamily="18" charset="0"/>
                <a:cs typeface="Times New Roman" panose="02020603050405020304" pitchFamily="18" charset="0"/>
              </a:rPr>
              <a:t>连接</a:t>
            </a:r>
            <a:r>
              <a:rPr lang="zh-CN" altLang="en-US" b="1"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如果α和β都是符号串，那么α和β的连接是把β加到α后面形成的符号串</a:t>
            </a:r>
            <a:endParaRPr lang="en-US" altLang="zh-CN" dirty="0">
              <a:latin typeface="Times New Roman" panose="02020603050405020304" pitchFamily="18" charset="0"/>
              <a:cs typeface="Times New Roman" panose="02020603050405020304" pitchFamily="18" charset="0"/>
            </a:endParaRPr>
          </a:p>
          <a:p>
            <a:pPr lvl="2">
              <a:buClr>
                <a:srgbClr val="FF0000"/>
              </a:buClr>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 </a:t>
            </a:r>
            <a:r>
              <a:rPr lang="zh-CN" altLang="zh-CN" sz="2200" dirty="0">
                <a:latin typeface="Times New Roman" panose="02020603050405020304" pitchFamily="18" charset="0"/>
                <a:cs typeface="Times New Roman" panose="02020603050405020304" pitchFamily="18" charset="0"/>
              </a:rPr>
              <a:t>α</a:t>
            </a:r>
            <a:r>
              <a:rPr lang="zh-CN" altLang="en-US" sz="2200" dirty="0">
                <a:latin typeface="Times New Roman" panose="02020603050405020304" pitchFamily="18" charset="0"/>
                <a:cs typeface="Times New Roman" panose="02020603050405020304" pitchFamily="18" charset="0"/>
              </a:rPr>
              <a:t>是</a:t>
            </a:r>
            <a:r>
              <a:rPr lang="en-US" altLang="zh-CN" sz="2200" dirty="0">
                <a:latin typeface="Times New Roman" panose="02020603050405020304" pitchFamily="18" charset="0"/>
                <a:cs typeface="Times New Roman" panose="02020603050405020304" pitchFamily="18" charset="0"/>
              </a:rPr>
              <a:t>01</a:t>
            </a:r>
            <a:r>
              <a:rPr lang="zh-CN" altLang="zh-CN" sz="2200" dirty="0">
                <a:latin typeface="Times New Roman" panose="02020603050405020304" pitchFamily="18" charset="0"/>
                <a:cs typeface="Times New Roman" panose="02020603050405020304" pitchFamily="18" charset="0"/>
              </a:rPr>
              <a:t>、β</a:t>
            </a:r>
            <a:r>
              <a:rPr lang="zh-CN" altLang="en-US" sz="2200" dirty="0">
                <a:latin typeface="Times New Roman" panose="02020603050405020304" pitchFamily="18" charset="0"/>
                <a:cs typeface="Times New Roman" panose="02020603050405020304" pitchFamily="18" charset="0"/>
              </a:rPr>
              <a:t>是</a:t>
            </a:r>
            <a:r>
              <a:rPr lang="en-US" altLang="zh-CN" sz="2200" dirty="0">
                <a:latin typeface="Times New Roman" panose="02020603050405020304" pitchFamily="18" charset="0"/>
                <a:cs typeface="Times New Roman" panose="02020603050405020304" pitchFamily="18" charset="0"/>
              </a:rPr>
              <a:t>110</a:t>
            </a:r>
            <a:r>
              <a:rPr lang="zh-CN" altLang="zh-CN" sz="2200" dirty="0">
                <a:latin typeface="Times New Roman" panose="02020603050405020304" pitchFamily="18" charset="0"/>
                <a:cs typeface="Times New Roman" panose="02020603050405020304" pitchFamily="18" charset="0"/>
              </a:rPr>
              <a:t>，则αβ表示符号串</a:t>
            </a:r>
            <a:r>
              <a:rPr lang="en-US" altLang="zh-CN" sz="2200" dirty="0">
                <a:latin typeface="Times New Roman" panose="02020603050405020304" pitchFamily="18" charset="0"/>
                <a:cs typeface="Times New Roman" panose="02020603050405020304" pitchFamily="18" charset="0"/>
              </a:rPr>
              <a:t>01110</a:t>
            </a:r>
            <a:r>
              <a:rPr lang="zh-CN" altLang="zh-CN" sz="2200" dirty="0">
                <a:latin typeface="Times New Roman" panose="02020603050405020304" pitchFamily="18" charset="0"/>
                <a:cs typeface="Times New Roman" panose="02020603050405020304" pitchFamily="18" charset="0"/>
              </a:rPr>
              <a:t>，βα表示符号串</a:t>
            </a:r>
            <a:r>
              <a:rPr lang="en-US" altLang="zh-CN" sz="2200" dirty="0">
                <a:latin typeface="Times New Roman" panose="02020603050405020304" pitchFamily="18" charset="0"/>
                <a:cs typeface="Times New Roman" panose="02020603050405020304" pitchFamily="18" charset="0"/>
              </a:rPr>
              <a:t>11001</a:t>
            </a:r>
          </a:p>
          <a:p>
            <a:pPr lvl="2">
              <a:buClr>
                <a:srgbClr val="FF0000"/>
              </a:buClr>
              <a:buFont typeface="Arial" panose="020B0604020202020204" pitchFamily="34" charset="0"/>
              <a:buChar char="•"/>
            </a:pPr>
            <a:r>
              <a:rPr lang="zh-CN" altLang="en-US" sz="2200" dirty="0"/>
              <a:t>一般而言，</a:t>
            </a:r>
            <a:r>
              <a:rPr lang="zh-CN" altLang="zh-CN" sz="2200" dirty="0"/>
              <a:t>αβ≠βα</a:t>
            </a:r>
            <a:endParaRPr lang="en-US" altLang="zh-CN" sz="2200" dirty="0"/>
          </a:p>
          <a:p>
            <a:pPr lvl="2">
              <a:buClr>
                <a:srgbClr val="FF0000"/>
              </a:buClr>
              <a:buFont typeface="Arial" panose="020B0604020202020204" pitchFamily="34" charset="0"/>
              <a:buChar char="•"/>
            </a:pPr>
            <a:r>
              <a:rPr lang="zh-CN" altLang="zh-CN" sz="2200" dirty="0"/>
              <a:t>空字是连接运算的恒等元素，即</a:t>
            </a:r>
            <a:r>
              <a:rPr lang="en-US" altLang="zh-CN" sz="2200" dirty="0"/>
              <a:t>s</a:t>
            </a:r>
            <a:r>
              <a:rPr lang="en-US" altLang="zh-CN" sz="2200" dirty="0">
                <a:sym typeface="Symbol"/>
              </a:rPr>
              <a:t></a:t>
            </a:r>
            <a:r>
              <a:rPr lang="en-US" altLang="zh-CN" sz="2200" dirty="0"/>
              <a:t>=</a:t>
            </a:r>
            <a:r>
              <a:rPr lang="en-US" altLang="zh-CN" sz="2200" dirty="0">
                <a:sym typeface="Symbol"/>
              </a:rPr>
              <a:t></a:t>
            </a:r>
            <a:r>
              <a:rPr lang="en-US" altLang="zh-CN" sz="2200" dirty="0"/>
              <a:t>s=s</a:t>
            </a:r>
          </a:p>
          <a:p>
            <a:pPr lvl="2">
              <a:buClr>
                <a:srgbClr val="FF0000"/>
              </a:buClr>
              <a:buFont typeface="Arial" panose="020B0604020202020204" pitchFamily="34" charset="0"/>
              <a:buChar char="•"/>
            </a:pPr>
            <a:r>
              <a:rPr lang="zh-CN" altLang="zh-CN" sz="2200" dirty="0"/>
              <a:t>如果把两个串的连接看成是这两个串的乘积，就可以定义串的指数运算：</a:t>
            </a:r>
            <a:r>
              <a:rPr lang="en-US" altLang="zh-CN" sz="2200" dirty="0"/>
              <a:t>s</a:t>
            </a:r>
            <a:r>
              <a:rPr lang="en-US" altLang="zh-CN" sz="2200" baseline="30000" dirty="0"/>
              <a:t>0</a:t>
            </a:r>
            <a:r>
              <a:rPr lang="en-US" altLang="zh-CN" sz="2200" dirty="0"/>
              <a:t>=</a:t>
            </a:r>
            <a:r>
              <a:rPr lang="en-US" altLang="zh-CN" sz="2200" dirty="0">
                <a:sym typeface="Symbol"/>
              </a:rPr>
              <a:t></a:t>
            </a:r>
            <a:r>
              <a:rPr lang="zh-CN" altLang="zh-CN" sz="2200" dirty="0"/>
              <a:t>，当</a:t>
            </a:r>
            <a:r>
              <a:rPr lang="en-US" altLang="zh-CN" sz="2200" dirty="0" err="1"/>
              <a:t>i</a:t>
            </a:r>
            <a:r>
              <a:rPr lang="en-US" altLang="zh-CN" sz="2200" dirty="0"/>
              <a:t>&gt;0</a:t>
            </a:r>
            <a:r>
              <a:rPr lang="zh-CN" altLang="zh-CN" sz="2200" dirty="0"/>
              <a:t>，</a:t>
            </a:r>
            <a:r>
              <a:rPr lang="en-US" altLang="zh-CN" sz="2200" dirty="0" err="1"/>
              <a:t>s</a:t>
            </a:r>
            <a:r>
              <a:rPr lang="en-US" altLang="zh-CN" sz="2200" baseline="30000" dirty="0" err="1"/>
              <a:t>i</a:t>
            </a:r>
            <a:r>
              <a:rPr lang="en-US" altLang="zh-CN" sz="2200" dirty="0"/>
              <a:t> = s</a:t>
            </a:r>
            <a:r>
              <a:rPr lang="en-US" altLang="zh-CN" sz="2200" baseline="30000" dirty="0"/>
              <a:t>i-1</a:t>
            </a:r>
            <a:r>
              <a:rPr lang="en-US" altLang="zh-CN" sz="2200" dirty="0"/>
              <a:t>s</a:t>
            </a:r>
            <a:endParaRPr lang="en-US" altLang="zh-CN" sz="2200" dirty="0">
              <a:latin typeface="Times New Roman" panose="02020603050405020304" pitchFamily="18" charset="0"/>
              <a:cs typeface="Times New Roman" panose="02020603050405020304" pitchFamily="18" charset="0"/>
            </a:endParaRPr>
          </a:p>
        </p:txBody>
      </p:sp>
      <p:sp>
        <p:nvSpPr>
          <p:cNvPr id="3" name="Rectangle 2"/>
          <p:cNvSpPr txBox="1">
            <a:spLocks noChangeArrowheads="1"/>
          </p:cNvSpPr>
          <p:nvPr/>
        </p:nvSpPr>
        <p:spPr>
          <a:xfrm>
            <a:off x="107504" y="123478"/>
            <a:ext cx="8229600" cy="576064"/>
          </a:xfrm>
          <a:prstGeom prst="rect">
            <a:avLst/>
          </a:prstGeom>
        </p:spPr>
        <p:txBody>
          <a:bodyPr>
            <a:normAutofit fontScale="750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kumimoji="1" lang="en-US" altLang="zh-CN" sz="4800" dirty="0">
                <a:solidFill>
                  <a:srgbClr val="CC0099"/>
                </a:solidFill>
                <a:latin typeface="Times New Roman" pitchFamily="18" charset="0"/>
              </a:rPr>
              <a:t>2.5.1  </a:t>
            </a:r>
            <a:r>
              <a:rPr kumimoji="1" lang="zh-CN" altLang="en-US" sz="4800" dirty="0">
                <a:solidFill>
                  <a:srgbClr val="CC0099"/>
                </a:solidFill>
                <a:latin typeface="Times New Roman" pitchFamily="18" charset="0"/>
              </a:rPr>
              <a:t>符号和符号串</a:t>
            </a:r>
          </a:p>
        </p:txBody>
      </p:sp>
    </p:spTree>
    <p:custDataLst>
      <p:tags r:id="rId1"/>
    </p:custDataLst>
    <p:extLst>
      <p:ext uri="{BB962C8B-B14F-4D97-AF65-F5344CB8AC3E}">
        <p14:creationId xmlns:p14="http://schemas.microsoft.com/office/powerpoint/2010/main" val="3235905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矩形 1"/>
          <p:cNvSpPr/>
          <p:nvPr/>
        </p:nvSpPr>
        <p:spPr>
          <a:xfrm>
            <a:off x="1249985" y="1971358"/>
            <a:ext cx="5141151" cy="707886"/>
          </a:xfrm>
          <a:prstGeom prst="rect">
            <a:avLst/>
          </a:prstGeom>
        </p:spPr>
        <p:txBody>
          <a:bodyPr wrap="none">
            <a:spAutoFit/>
          </a:bodyPr>
          <a:lstStyle/>
          <a:p>
            <a:r>
              <a:rPr lang="en-US" altLang="zh-CN" sz="4000" b="1" dirty="0">
                <a:solidFill>
                  <a:srgbClr val="CC0099"/>
                </a:solidFill>
                <a:ea typeface="隶书" pitchFamily="49" charset="-122"/>
              </a:rPr>
              <a:t>2</a:t>
            </a:r>
            <a:r>
              <a:rPr lang="zh-CN" altLang="en-US" sz="4000" b="1" dirty="0">
                <a:solidFill>
                  <a:srgbClr val="CC0099"/>
                </a:solidFill>
                <a:ea typeface="隶书" pitchFamily="49" charset="-122"/>
              </a:rPr>
              <a:t>、集合的运算和语言</a:t>
            </a:r>
            <a:endParaRPr lang="en-US" altLang="zh-CN" sz="4000" b="1" dirty="0">
              <a:solidFill>
                <a:srgbClr val="CC0099"/>
              </a:solidFill>
              <a:ea typeface="隶书" pitchFamily="49" charset="-122"/>
            </a:endParaRPr>
          </a:p>
        </p:txBody>
      </p:sp>
    </p:spTree>
    <p:extLst>
      <p:ext uri="{BB962C8B-B14F-4D97-AF65-F5344CB8AC3E}">
        <p14:creationId xmlns:p14="http://schemas.microsoft.com/office/powerpoint/2010/main" val="942053752"/>
      </p:ext>
    </p:extLst>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533400" y="0"/>
            <a:ext cx="8610600" cy="857250"/>
          </a:xfrm>
        </p:spPr>
        <p:txBody>
          <a:bodyPr/>
          <a:lstStyle/>
          <a:p>
            <a:r>
              <a:rPr kumimoji="1" lang="zh-CN" altLang="zh-CN" sz="4800" b="1">
                <a:solidFill>
                  <a:srgbClr val="CC0099"/>
                </a:solidFill>
                <a:latin typeface="Times New Roman" pitchFamily="18" charset="0"/>
                <a:ea typeface="隶书" pitchFamily="49" charset="-122"/>
              </a:rPr>
              <a:t>2.5.2 集合的运算及语言的定义</a:t>
            </a:r>
          </a:p>
        </p:txBody>
      </p:sp>
      <p:sp>
        <p:nvSpPr>
          <p:cNvPr id="60419" name="Rectangle 3"/>
          <p:cNvSpPr>
            <a:spLocks noGrp="1" noChangeArrowheads="1"/>
          </p:cNvSpPr>
          <p:nvPr>
            <p:ph type="body" idx="4294967295"/>
          </p:nvPr>
        </p:nvSpPr>
        <p:spPr>
          <a:xfrm>
            <a:off x="349250" y="1128712"/>
            <a:ext cx="8337550" cy="3473054"/>
          </a:xfrm>
        </p:spPr>
        <p:txBody>
          <a:bodyPr/>
          <a:lstStyle/>
          <a:p>
            <a:pPr eaLnBrk="1" hangingPunct="1">
              <a:spcBef>
                <a:spcPct val="0"/>
              </a:spcBef>
            </a:pPr>
            <a:r>
              <a:rPr lang="zh-CN" altLang="zh-CN" sz="2400" dirty="0"/>
              <a:t>若集合</a:t>
            </a:r>
            <a:r>
              <a:rPr lang="en-US" altLang="zh-CN" sz="2400" dirty="0"/>
              <a:t>U</a:t>
            </a:r>
            <a:r>
              <a:rPr lang="zh-CN" altLang="zh-CN" sz="2400" dirty="0"/>
              <a:t>中的所有元素都是</a:t>
            </a:r>
            <a:r>
              <a:rPr lang="zh-CN" altLang="zh-CN" sz="2400" dirty="0">
                <a:solidFill>
                  <a:srgbClr val="0000FF"/>
                </a:solidFill>
              </a:rPr>
              <a:t>字母表Σ上的符号串</a:t>
            </a:r>
            <a:r>
              <a:rPr lang="zh-CN" altLang="zh-CN" sz="2400" dirty="0"/>
              <a:t>，则称</a:t>
            </a:r>
            <a:r>
              <a:rPr lang="en-US" altLang="zh-CN" sz="2400" dirty="0"/>
              <a:t>U</a:t>
            </a:r>
            <a:r>
              <a:rPr lang="zh-CN" altLang="zh-CN" sz="2400" dirty="0"/>
              <a:t>为Σ上的</a:t>
            </a:r>
            <a:r>
              <a:rPr lang="zh-CN" altLang="zh-CN" sz="2400" dirty="0">
                <a:solidFill>
                  <a:srgbClr val="0000FF"/>
                </a:solidFill>
              </a:rPr>
              <a:t>符号串集合</a:t>
            </a:r>
            <a:r>
              <a:rPr lang="zh-CN" altLang="zh-CN" sz="2400" dirty="0"/>
              <a:t>，也称</a:t>
            </a:r>
            <a:r>
              <a:rPr lang="en-US" altLang="zh-CN" sz="2400" dirty="0"/>
              <a:t>U</a:t>
            </a:r>
            <a:r>
              <a:rPr lang="zh-CN" altLang="zh-CN" sz="2400" dirty="0"/>
              <a:t>为Σ上的</a:t>
            </a:r>
            <a:r>
              <a:rPr lang="zh-CN" altLang="zh-CN" sz="2400" b="1" dirty="0">
                <a:solidFill>
                  <a:srgbClr val="FF0000"/>
                </a:solidFill>
              </a:rPr>
              <a:t>语言</a:t>
            </a:r>
            <a:r>
              <a:rPr lang="zh-CN" altLang="zh-CN" sz="2400" dirty="0"/>
              <a:t>（</a:t>
            </a:r>
            <a:r>
              <a:rPr lang="en-US" altLang="zh-CN" sz="2400" dirty="0"/>
              <a:t>language</a:t>
            </a:r>
            <a:r>
              <a:rPr lang="zh-CN" altLang="zh-CN" sz="2400" dirty="0"/>
              <a:t>）。</a:t>
            </a:r>
            <a:endParaRPr lang="en-US" altLang="zh-CN" sz="2400" dirty="0"/>
          </a:p>
          <a:p>
            <a:pPr eaLnBrk="1" hangingPunct="1">
              <a:spcBef>
                <a:spcPct val="0"/>
              </a:spcBef>
            </a:pPr>
            <a:r>
              <a:rPr lang="zh-CN" altLang="zh-CN" sz="2400" dirty="0"/>
              <a:t>所有语法正确的</a:t>
            </a:r>
            <a:r>
              <a:rPr lang="en-US" altLang="zh-CN" sz="2400" dirty="0"/>
              <a:t>C</a:t>
            </a:r>
            <a:r>
              <a:rPr lang="zh-CN" altLang="zh-CN" sz="2400" dirty="0"/>
              <a:t>语言程序的集合，以及所有语法正确的英文句子的集合都是</a:t>
            </a:r>
            <a:r>
              <a:rPr lang="en-US" altLang="zh-CN" sz="2400" dirty="0"/>
              <a:t>ASCII</a:t>
            </a:r>
            <a:r>
              <a:rPr lang="zh-CN" altLang="zh-CN" sz="2400" dirty="0"/>
              <a:t>字符集上的符号串集合，它们都是一种语言。</a:t>
            </a:r>
            <a:endParaRPr lang="en-US" altLang="zh-CN" sz="2400" dirty="0"/>
          </a:p>
          <a:p>
            <a:pPr>
              <a:spcBef>
                <a:spcPct val="0"/>
              </a:spcBef>
            </a:pPr>
            <a:r>
              <a:rPr lang="en-US" altLang="zh-CN" dirty="0">
                <a:sym typeface="Symbol"/>
              </a:rPr>
              <a:t></a:t>
            </a:r>
            <a:r>
              <a:rPr lang="zh-CN" altLang="zh-CN" dirty="0"/>
              <a:t>表示不含任何元素的空集</a:t>
            </a:r>
            <a:r>
              <a:rPr lang="en-US" altLang="zh-CN" dirty="0"/>
              <a:t>{}</a:t>
            </a:r>
            <a:r>
              <a:rPr lang="zh-CN" altLang="zh-CN" dirty="0"/>
              <a:t>。</a:t>
            </a:r>
            <a:endParaRPr lang="en-US" altLang="zh-CN" dirty="0"/>
          </a:p>
          <a:p>
            <a:pPr>
              <a:spcBef>
                <a:spcPct val="0"/>
              </a:spcBef>
            </a:pPr>
            <a:r>
              <a:rPr lang="en-US" altLang="zh-CN" dirty="0"/>
              <a:t>{</a:t>
            </a:r>
            <a:r>
              <a:rPr lang="en-US" altLang="zh-CN" dirty="0">
                <a:sym typeface="Symbol"/>
              </a:rPr>
              <a:t></a:t>
            </a:r>
            <a:r>
              <a:rPr lang="en-US" altLang="zh-CN" dirty="0"/>
              <a:t>}</a:t>
            </a:r>
            <a:r>
              <a:rPr lang="zh-CN" altLang="en-US" dirty="0"/>
              <a:t>是有一个元素的集合，这个元素是空符号串</a:t>
            </a:r>
            <a:endParaRPr lang="en-US" altLang="zh-CN" sz="2400" dirty="0">
              <a:solidFill>
                <a:srgbClr val="660033"/>
              </a:solidFill>
            </a:endParaRPr>
          </a:p>
        </p:txBody>
      </p:sp>
    </p:spTree>
    <p:custDataLst>
      <p:tags r:id="rId1"/>
    </p:custDataLst>
    <p:extLst>
      <p:ext uri="{BB962C8B-B14F-4D97-AF65-F5344CB8AC3E}">
        <p14:creationId xmlns:p14="http://schemas.microsoft.com/office/powerpoint/2010/main" val="3361473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strips(downLeft)">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strips(downLeft)">
                                      <p:cBhvr>
                                        <p:cTn id="12" dur="500"/>
                                        <p:tgtEl>
                                          <p:spTgt spid="60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strips(downLeft)">
                                      <p:cBhvr>
                                        <p:cTn id="17" dur="500"/>
                                        <p:tgtEl>
                                          <p:spTgt spid="604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strips(downLeft)">
                                      <p:cBhvr>
                                        <p:cTn id="22" dur="500"/>
                                        <p:tgtEl>
                                          <p:spTgt spid="60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bldLvl="2"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533400" y="0"/>
            <a:ext cx="8610600" cy="857250"/>
          </a:xfrm>
        </p:spPr>
        <p:txBody>
          <a:bodyPr/>
          <a:lstStyle/>
          <a:p>
            <a:r>
              <a:rPr kumimoji="1" lang="zh-CN" altLang="zh-CN" sz="4800" b="1">
                <a:solidFill>
                  <a:srgbClr val="CC0099"/>
                </a:solidFill>
                <a:latin typeface="Times New Roman" pitchFamily="18" charset="0"/>
                <a:ea typeface="隶书" pitchFamily="49" charset="-122"/>
              </a:rPr>
              <a:t>2.5.2 集合的运算及语言的定义</a:t>
            </a:r>
          </a:p>
        </p:txBody>
      </p:sp>
      <p:sp>
        <p:nvSpPr>
          <p:cNvPr id="60419" name="Rectangle 3"/>
          <p:cNvSpPr>
            <a:spLocks noGrp="1" noChangeArrowheads="1"/>
          </p:cNvSpPr>
          <p:nvPr>
            <p:ph type="body" idx="4294967295"/>
          </p:nvPr>
        </p:nvSpPr>
        <p:spPr>
          <a:xfrm>
            <a:off x="304800" y="987574"/>
            <a:ext cx="8337550" cy="1800200"/>
          </a:xfrm>
        </p:spPr>
        <p:style>
          <a:lnRef idx="2">
            <a:schemeClr val="accent1"/>
          </a:lnRef>
          <a:fillRef idx="1">
            <a:schemeClr val="lt1"/>
          </a:fillRef>
          <a:effectRef idx="0">
            <a:schemeClr val="accent1"/>
          </a:effectRef>
          <a:fontRef idx="minor">
            <a:schemeClr val="dk1"/>
          </a:fontRef>
        </p:style>
        <p:txBody>
          <a:bodyPr>
            <a:noAutofit/>
          </a:bodyPr>
          <a:lstStyle/>
          <a:p>
            <a:pPr marL="109728" indent="0">
              <a:lnSpc>
                <a:spcPct val="120000"/>
              </a:lnSpc>
              <a:spcBef>
                <a:spcPts val="0"/>
              </a:spcBef>
              <a:buNone/>
              <a:defRPr/>
            </a:pPr>
            <a:r>
              <a:rPr lang="zh-CN" altLang="en-US" sz="2200" dirty="0">
                <a:latin typeface="宋体" panose="02010600030101010101" pitchFamily="2" charset="-122"/>
                <a:ea typeface="宋体" panose="02010600030101010101" pitchFamily="2" charset="-122"/>
              </a:rPr>
              <a:t>设</a:t>
            </a:r>
            <a:r>
              <a:rPr lang="en-US" altLang="zh-CN" sz="2200" dirty="0">
                <a:latin typeface="宋体" panose="02010600030101010101" pitchFamily="2" charset="-122"/>
                <a:ea typeface="宋体" panose="02010600030101010101" pitchFamily="2" charset="-122"/>
              </a:rPr>
              <a:t>U</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V</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W</a:t>
            </a:r>
            <a:r>
              <a:rPr lang="zh-CN" altLang="zh-CN" sz="2200" dirty="0">
                <a:latin typeface="宋体" panose="02010600030101010101" pitchFamily="2" charset="-122"/>
                <a:ea typeface="宋体" panose="02010600030101010101" pitchFamily="2" charset="-122"/>
              </a:rPr>
              <a:t>是字母表Σ上的符号串集合，即它们都是Σ上的语言</a:t>
            </a:r>
            <a:endParaRPr lang="en-US" altLang="zh-CN" sz="2200" dirty="0">
              <a:latin typeface="宋体" panose="02010600030101010101" pitchFamily="2" charset="-122"/>
              <a:ea typeface="宋体" panose="02010600030101010101" pitchFamily="2" charset="-122"/>
              <a:cs typeface="Times New Roman" panose="02020603050405020304" pitchFamily="18" charset="0"/>
            </a:endParaRPr>
          </a:p>
          <a:p>
            <a:pPr>
              <a:lnSpc>
                <a:spcPct val="120000"/>
              </a:lnSpc>
              <a:spcBef>
                <a:spcPts val="0"/>
              </a:spcBef>
              <a:defRPr/>
            </a:pPr>
            <a:r>
              <a:rPr lang="en-US" altLang="zh-CN" sz="2200" dirty="0">
                <a:latin typeface="宋体" panose="02010600030101010101" pitchFamily="2" charset="-122"/>
                <a:ea typeface="宋体" panose="02010600030101010101" pitchFamily="2" charset="-122"/>
              </a:rPr>
              <a:t>1.</a:t>
            </a:r>
            <a:r>
              <a:rPr lang="zh-CN" altLang="zh-CN" sz="2200" dirty="0">
                <a:latin typeface="宋体" panose="02010600030101010101" pitchFamily="2" charset="-122"/>
                <a:ea typeface="宋体" panose="02010600030101010101" pitchFamily="2" charset="-122"/>
              </a:rPr>
              <a:t>集合</a:t>
            </a:r>
            <a:r>
              <a:rPr lang="en-US" altLang="zh-CN" sz="2200" dirty="0">
                <a:latin typeface="宋体" panose="02010600030101010101" pitchFamily="2" charset="-122"/>
                <a:ea typeface="宋体" panose="02010600030101010101" pitchFamily="2" charset="-122"/>
              </a:rPr>
              <a:t>U</a:t>
            </a:r>
            <a:r>
              <a:rPr lang="zh-CN" altLang="zh-CN"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V</a:t>
            </a:r>
            <a:r>
              <a:rPr lang="zh-CN" altLang="zh-CN" sz="2200" dirty="0">
                <a:latin typeface="宋体" panose="02010600030101010101" pitchFamily="2" charset="-122"/>
                <a:ea typeface="宋体" panose="02010600030101010101" pitchFamily="2" charset="-122"/>
              </a:rPr>
              <a:t>的</a:t>
            </a:r>
            <a:r>
              <a:rPr lang="zh-CN" altLang="zh-CN" sz="2200" b="1" dirty="0">
                <a:solidFill>
                  <a:srgbClr val="FF0000"/>
                </a:solidFill>
                <a:latin typeface="宋体" panose="02010600030101010101" pitchFamily="2" charset="-122"/>
                <a:ea typeface="宋体" panose="02010600030101010101" pitchFamily="2" charset="-122"/>
              </a:rPr>
              <a:t>并</a:t>
            </a:r>
            <a:r>
              <a:rPr lang="zh-CN" altLang="zh-CN" sz="2200" dirty="0">
                <a:latin typeface="宋体" panose="02010600030101010101" pitchFamily="2" charset="-122"/>
                <a:ea typeface="宋体" panose="02010600030101010101" pitchFamily="2" charset="-122"/>
              </a:rPr>
              <a:t>：表示为</a:t>
            </a:r>
            <a:r>
              <a:rPr lang="en-US" altLang="zh-CN" sz="2200" dirty="0">
                <a:latin typeface="宋体" panose="02010600030101010101" pitchFamily="2" charset="-122"/>
                <a:ea typeface="宋体" panose="02010600030101010101" pitchFamily="2" charset="-122"/>
              </a:rPr>
              <a:t>U</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V</a:t>
            </a:r>
            <a:r>
              <a:rPr lang="zh-CN" altLang="zh-CN" sz="2200" dirty="0">
                <a:latin typeface="宋体" panose="02010600030101010101" pitchFamily="2" charset="-122"/>
                <a:ea typeface="宋体" panose="02010600030101010101" pitchFamily="2" charset="-122"/>
              </a:rPr>
              <a:t>，其中的符号串包含</a:t>
            </a:r>
            <a:r>
              <a:rPr lang="en-US" altLang="zh-CN" sz="2200" dirty="0">
                <a:latin typeface="宋体" panose="02010600030101010101" pitchFamily="2" charset="-122"/>
                <a:ea typeface="宋体" panose="02010600030101010101" pitchFamily="2" charset="-122"/>
              </a:rPr>
              <a:t>U</a:t>
            </a:r>
            <a:r>
              <a:rPr lang="zh-CN" altLang="zh-CN"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V</a:t>
            </a:r>
            <a:r>
              <a:rPr lang="zh-CN" altLang="zh-CN" sz="2200" dirty="0">
                <a:latin typeface="宋体" panose="02010600030101010101" pitchFamily="2" charset="-122"/>
                <a:ea typeface="宋体" panose="02010600030101010101" pitchFamily="2" charset="-122"/>
              </a:rPr>
              <a:t>的全部符号串</a:t>
            </a:r>
            <a:endParaRPr lang="en-US" altLang="zh-CN" sz="2200" dirty="0">
              <a:latin typeface="宋体" panose="02010600030101010101" pitchFamily="2" charset="-122"/>
              <a:ea typeface="宋体" panose="02010600030101010101" pitchFamily="2" charset="-122"/>
            </a:endParaRPr>
          </a:p>
          <a:p>
            <a:pPr marL="457200" lvl="1" indent="0">
              <a:lnSpc>
                <a:spcPct val="120000"/>
              </a:lnSpc>
              <a:spcBef>
                <a:spcPts val="0"/>
              </a:spcBef>
              <a:buFontTx/>
              <a:buNone/>
              <a:defRPr/>
            </a:pPr>
            <a:r>
              <a:rPr lang="en-US" altLang="zh-CN" dirty="0"/>
              <a:t>    </a:t>
            </a:r>
            <a:r>
              <a:rPr lang="en-US" altLang="zh-CN" dirty="0">
                <a:solidFill>
                  <a:srgbClr val="FF0000"/>
                </a:solidFill>
              </a:rPr>
              <a:t>U</a:t>
            </a:r>
            <a:r>
              <a:rPr lang="zh-CN" altLang="zh-CN" dirty="0">
                <a:solidFill>
                  <a:srgbClr val="FF0000"/>
                </a:solidFill>
              </a:rPr>
              <a:t>∪</a:t>
            </a:r>
            <a:r>
              <a:rPr lang="en-US" altLang="zh-CN" dirty="0">
                <a:solidFill>
                  <a:srgbClr val="FF0000"/>
                </a:solidFill>
              </a:rPr>
              <a:t>V = {s | s</a:t>
            </a:r>
            <a:r>
              <a:rPr lang="zh-CN" altLang="zh-CN" dirty="0">
                <a:solidFill>
                  <a:srgbClr val="FF0000"/>
                </a:solidFill>
              </a:rPr>
              <a:t>∈</a:t>
            </a:r>
            <a:r>
              <a:rPr lang="en-US" altLang="zh-CN" dirty="0">
                <a:solidFill>
                  <a:srgbClr val="FF0000"/>
                </a:solidFill>
              </a:rPr>
              <a:t>U</a:t>
            </a:r>
            <a:r>
              <a:rPr lang="zh-CN" altLang="zh-CN" dirty="0">
                <a:solidFill>
                  <a:srgbClr val="FF0000"/>
                </a:solidFill>
              </a:rPr>
              <a:t>或者</a:t>
            </a:r>
            <a:r>
              <a:rPr lang="en-US" altLang="zh-CN" dirty="0">
                <a:solidFill>
                  <a:srgbClr val="FF0000"/>
                </a:solidFill>
              </a:rPr>
              <a:t>s</a:t>
            </a:r>
            <a:r>
              <a:rPr lang="zh-CN" altLang="zh-CN" dirty="0">
                <a:solidFill>
                  <a:srgbClr val="FF0000"/>
                </a:solidFill>
              </a:rPr>
              <a:t>∈</a:t>
            </a:r>
            <a:r>
              <a:rPr lang="en-US" altLang="zh-CN" dirty="0">
                <a:solidFill>
                  <a:srgbClr val="FF0000"/>
                </a:solidFill>
              </a:rPr>
              <a:t>V }</a:t>
            </a:r>
          </a:p>
          <a:p>
            <a:pPr lvl="1">
              <a:lnSpc>
                <a:spcPct val="120000"/>
              </a:lnSpc>
              <a:spcBef>
                <a:spcPts val="0"/>
              </a:spcBef>
              <a:defRPr/>
            </a:pPr>
            <a:endParaRPr lang="en-US" altLang="zh-CN" dirty="0"/>
          </a:p>
          <a:p>
            <a:pPr>
              <a:lnSpc>
                <a:spcPct val="120000"/>
              </a:lnSpc>
              <a:spcBef>
                <a:spcPts val="0"/>
              </a:spcBef>
              <a:defRPr/>
            </a:pPr>
            <a:endParaRPr lang="zh-CN" altLang="en-US" dirty="0"/>
          </a:p>
          <a:p>
            <a:pPr marL="0" indent="0">
              <a:lnSpc>
                <a:spcPct val="120000"/>
              </a:lnSpc>
              <a:spcBef>
                <a:spcPts val="0"/>
              </a:spcBef>
              <a:buFontTx/>
              <a:buNone/>
              <a:defRPr/>
            </a:pP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spcBef>
                <a:spcPts val="0"/>
              </a:spcBef>
              <a:defRPr/>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3"/>
          <p:cNvSpPr txBox="1">
            <a:spLocks noChangeArrowheads="1"/>
          </p:cNvSpPr>
          <p:nvPr/>
        </p:nvSpPr>
        <p:spPr>
          <a:xfrm>
            <a:off x="323528" y="2859782"/>
            <a:ext cx="8337550" cy="2139702"/>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lnSpc>
                <a:spcPct val="120000"/>
              </a:lnSpc>
              <a:spcBef>
                <a:spcPts val="0"/>
              </a:spcBef>
              <a:defRPr/>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 </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集合</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V</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的</a:t>
            </a:r>
            <a:r>
              <a:rPr lang="zh-CN"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连接</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：也称集合</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V</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的</a:t>
            </a:r>
            <a:r>
              <a:rPr lang="zh-CN"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乘积</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，表示为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UV</a:t>
            </a:r>
            <a:endParaRPr lang="zh-CN"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20000"/>
              </a:lnSpc>
              <a:spcBef>
                <a:spcPts val="0"/>
              </a:spcBef>
              <a:buFontTx/>
              <a:buNone/>
              <a:defRPr/>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UV = {</a:t>
            </a:r>
            <a:r>
              <a:rPr lang="zh-CN"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αβ</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a:t>
            </a:r>
            <a:r>
              <a:rPr lang="zh-CN"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α∈</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U </a:t>
            </a:r>
            <a:r>
              <a:rPr lang="zh-CN"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并且β∈</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p>
          <a:p>
            <a:pPr marL="0" indent="0">
              <a:lnSpc>
                <a:spcPct val="120000"/>
              </a:lnSpc>
              <a:spcBef>
                <a:spcPts val="0"/>
              </a:spcBef>
              <a:buFontTx/>
              <a:buNone/>
              <a:defRPr/>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集合</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UV</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是由</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中的任一符号串与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V</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中的任一符号串</a:t>
            </a:r>
            <a:r>
              <a:rPr lang="zh-CN" altLang="zh-CN" sz="22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连接</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构成的符号串的集合</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20000"/>
              </a:lnSpc>
              <a:spcBef>
                <a:spcPts val="0"/>
              </a:spcBef>
              <a:buFontTx/>
              <a:buNone/>
              <a:defRPr/>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UV</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VU</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(UV)W=U(VW)</a:t>
            </a:r>
          </a:p>
          <a:p>
            <a:pPr marL="0" indent="0">
              <a:lnSpc>
                <a:spcPct val="120000"/>
              </a:lnSpc>
              <a:spcBef>
                <a:spcPts val="0"/>
              </a:spcBef>
              <a:buFontTx/>
              <a:buNone/>
              <a:defRPr/>
            </a:pP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spcBef>
                <a:spcPts val="0"/>
              </a:spcBef>
              <a:defRPr/>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943037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0419">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0419">
                                            <p:txEl>
                                              <p:pRg st="1" end="1"/>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animBg="1"/>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533400" y="0"/>
            <a:ext cx="8610600" cy="857250"/>
          </a:xfrm>
        </p:spPr>
        <p:txBody>
          <a:bodyPr/>
          <a:lstStyle/>
          <a:p>
            <a:r>
              <a:rPr kumimoji="1" lang="zh-CN" altLang="zh-CN" sz="4800" b="1">
                <a:solidFill>
                  <a:srgbClr val="CC0099"/>
                </a:solidFill>
                <a:latin typeface="Times New Roman" pitchFamily="18" charset="0"/>
                <a:ea typeface="隶书" pitchFamily="49" charset="-122"/>
              </a:rPr>
              <a:t>2.5.2 集合的运算及语言的定义</a:t>
            </a:r>
          </a:p>
        </p:txBody>
      </p:sp>
      <p:sp>
        <p:nvSpPr>
          <p:cNvPr id="5" name="Rectangle 3"/>
          <p:cNvSpPr txBox="1">
            <a:spLocks noChangeArrowheads="1"/>
          </p:cNvSpPr>
          <p:nvPr/>
        </p:nvSpPr>
        <p:spPr>
          <a:xfrm>
            <a:off x="395536" y="915566"/>
            <a:ext cx="8337550" cy="1296144"/>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lnSpc>
                <a:spcPct val="120000"/>
              </a:lnSpc>
              <a:spcBef>
                <a:spcPts val="0"/>
              </a:spcBef>
              <a:defRPr/>
            </a:pPr>
            <a:r>
              <a:rPr lang="en-US" altLang="zh-CN" sz="2200" dirty="0"/>
              <a:t>3. </a:t>
            </a:r>
            <a:r>
              <a:rPr lang="zh-CN" altLang="en-US" sz="2200" dirty="0"/>
              <a:t>集合的</a:t>
            </a:r>
            <a:r>
              <a:rPr lang="zh-CN" altLang="en-US" b="1" dirty="0">
                <a:solidFill>
                  <a:schemeClr val="accent2"/>
                </a:solidFill>
              </a:rPr>
              <a:t>方幂</a:t>
            </a:r>
            <a:r>
              <a:rPr lang="zh-CN" altLang="en-US" sz="2200" dirty="0"/>
              <a:t>：</a:t>
            </a:r>
            <a:r>
              <a:rPr lang="zh-CN" altLang="zh-CN" sz="2200" dirty="0"/>
              <a:t>指</a:t>
            </a:r>
            <a:r>
              <a:rPr lang="en-US" altLang="zh-CN" sz="2200" dirty="0"/>
              <a:t>V</a:t>
            </a:r>
            <a:r>
              <a:rPr lang="zh-CN" altLang="zh-CN" sz="2200" dirty="0"/>
              <a:t>自身的</a:t>
            </a:r>
            <a:r>
              <a:rPr lang="en-US" altLang="zh-CN" sz="2200" dirty="0"/>
              <a:t>n</a:t>
            </a:r>
            <a:r>
              <a:rPr lang="zh-CN" altLang="zh-CN" sz="2200" dirty="0"/>
              <a:t>次乘积</a:t>
            </a:r>
            <a:endParaRPr lang="zh-CN" altLang="en-US" sz="2200" dirty="0"/>
          </a:p>
          <a:p>
            <a:pPr marL="393192" lvl="1" indent="0">
              <a:lnSpc>
                <a:spcPct val="120000"/>
              </a:lnSpc>
              <a:spcBef>
                <a:spcPts val="0"/>
              </a:spcBef>
              <a:buNone/>
              <a:defRPr/>
            </a:pPr>
            <a:r>
              <a:rPr lang="en-US" altLang="zh-CN" dirty="0"/>
              <a:t>     </a:t>
            </a:r>
            <a:r>
              <a:rPr lang="en-US" altLang="zh-CN" dirty="0" err="1"/>
              <a:t>V</a:t>
            </a:r>
            <a:r>
              <a:rPr lang="en-US" altLang="zh-CN" baseline="50000" dirty="0" err="1"/>
              <a:t>n</a:t>
            </a:r>
            <a:r>
              <a:rPr lang="en-US" altLang="zh-CN" dirty="0"/>
              <a:t> =VVVV ….  V 	   </a:t>
            </a:r>
          </a:p>
          <a:p>
            <a:pPr marL="393192" lvl="1" indent="0">
              <a:lnSpc>
                <a:spcPct val="120000"/>
              </a:lnSpc>
              <a:spcBef>
                <a:spcPts val="0"/>
              </a:spcBef>
              <a:buNone/>
              <a:defRPr/>
            </a:pPr>
            <a:r>
              <a:rPr lang="zh-CN" altLang="en-US" dirty="0"/>
              <a:t>     规定</a:t>
            </a:r>
            <a:r>
              <a:rPr lang="en-US" altLang="zh-CN" dirty="0"/>
              <a:t>V</a:t>
            </a:r>
            <a:r>
              <a:rPr lang="en-US" altLang="zh-CN" baseline="50000" dirty="0"/>
              <a:t>0 </a:t>
            </a:r>
            <a:r>
              <a:rPr lang="en-US" altLang="zh-CN" dirty="0"/>
              <a:t>= {</a:t>
            </a:r>
            <a:r>
              <a:rPr lang="en-US" altLang="zh-CN" dirty="0">
                <a:sym typeface="Symbol"/>
              </a:rPr>
              <a:t></a:t>
            </a:r>
            <a:r>
              <a:rPr lang="en-US" altLang="zh-CN" dirty="0"/>
              <a:t>} </a:t>
            </a:r>
            <a:r>
              <a:rPr lang="zh-CN" altLang="en-US" dirty="0"/>
              <a:t>，</a:t>
            </a:r>
            <a:r>
              <a:rPr lang="en-US" altLang="zh-CN" dirty="0" err="1"/>
              <a:t>V</a:t>
            </a:r>
            <a:r>
              <a:rPr lang="en-US" altLang="zh-CN" baseline="50000" dirty="0" err="1"/>
              <a:t>n</a:t>
            </a:r>
            <a:r>
              <a:rPr lang="en-US" altLang="zh-CN" dirty="0"/>
              <a:t>=V</a:t>
            </a:r>
            <a:r>
              <a:rPr lang="en-US" altLang="zh-CN" baseline="50000" dirty="0"/>
              <a:t>n-1</a:t>
            </a:r>
            <a:r>
              <a:rPr lang="en-US" altLang="zh-CN" dirty="0"/>
              <a:t>V</a:t>
            </a:r>
            <a:r>
              <a:rPr lang="zh-CN" altLang="en-US" dirty="0"/>
              <a:t>，</a:t>
            </a:r>
            <a:r>
              <a:rPr lang="en-US" altLang="zh-CN" dirty="0" err="1"/>
              <a:t>V</a:t>
            </a:r>
            <a:r>
              <a:rPr lang="en-US" altLang="zh-CN" baseline="50000" dirty="0" err="1"/>
              <a:t>n</a:t>
            </a:r>
            <a:r>
              <a:rPr lang="en-US" altLang="zh-CN" dirty="0"/>
              <a:t>=VV</a:t>
            </a:r>
            <a:r>
              <a:rPr lang="en-US" altLang="zh-CN" baseline="50000" dirty="0"/>
              <a:t>n-1</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3"/>
          <p:cNvSpPr txBox="1">
            <a:spLocks noChangeArrowheads="1"/>
          </p:cNvSpPr>
          <p:nvPr/>
        </p:nvSpPr>
        <p:spPr>
          <a:xfrm>
            <a:off x="410404" y="2323504"/>
            <a:ext cx="8337550" cy="1976438"/>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ct val="5000"/>
              </a:spcBef>
            </a:pPr>
            <a:r>
              <a:rPr lang="en-US" altLang="zh-CN" dirty="0"/>
              <a:t>4. </a:t>
            </a:r>
            <a:r>
              <a:rPr lang="zh-CN" altLang="en-US" sz="2200" dirty="0"/>
              <a:t>集合的</a:t>
            </a:r>
            <a:r>
              <a:rPr lang="zh-CN" altLang="en-US" b="1" dirty="0">
                <a:solidFill>
                  <a:srgbClr val="FF0000"/>
                </a:solidFill>
              </a:rPr>
              <a:t>闭包</a:t>
            </a:r>
            <a:r>
              <a:rPr lang="zh-CN" altLang="en-US" dirty="0"/>
              <a:t>和</a:t>
            </a:r>
            <a:r>
              <a:rPr lang="zh-CN" altLang="en-US" b="1" dirty="0">
                <a:solidFill>
                  <a:srgbClr val="FF0000"/>
                </a:solidFill>
              </a:rPr>
              <a:t>正闭包</a:t>
            </a:r>
            <a:endParaRPr lang="en-US" altLang="zh-CN" dirty="0"/>
          </a:p>
          <a:p>
            <a:pPr marL="905256" lvl="1" indent="-342900"/>
            <a:r>
              <a:rPr lang="zh-CN" altLang="en-US" dirty="0"/>
              <a:t>集合</a:t>
            </a:r>
            <a:r>
              <a:rPr lang="en-US" altLang="zh-CN" dirty="0"/>
              <a:t>V</a:t>
            </a:r>
            <a:r>
              <a:rPr lang="zh-CN" altLang="zh-CN" dirty="0"/>
              <a:t>的闭包表示将</a:t>
            </a:r>
            <a:r>
              <a:rPr lang="en-US" altLang="zh-CN" dirty="0"/>
              <a:t>V</a:t>
            </a:r>
            <a:r>
              <a:rPr lang="zh-CN" altLang="zh-CN" dirty="0"/>
              <a:t>自身连接零到多次得到的集合的并集，记为</a:t>
            </a:r>
            <a:r>
              <a:rPr lang="en-US" altLang="zh-CN" dirty="0"/>
              <a:t>V</a:t>
            </a:r>
            <a:r>
              <a:rPr lang="en-US" altLang="zh-CN" baseline="30000" dirty="0"/>
              <a:t>*</a:t>
            </a:r>
            <a:r>
              <a:rPr lang="zh-CN" altLang="zh-CN" dirty="0"/>
              <a:t>，有</a:t>
            </a:r>
            <a:r>
              <a:rPr lang="en-US" altLang="zh-CN" dirty="0"/>
              <a:t> V</a:t>
            </a:r>
            <a:r>
              <a:rPr lang="en-US" altLang="zh-CN" baseline="30000" dirty="0"/>
              <a:t>*</a:t>
            </a:r>
            <a:r>
              <a:rPr lang="en-US" altLang="zh-CN" dirty="0"/>
              <a:t>=V</a:t>
            </a:r>
            <a:r>
              <a:rPr lang="en-US" altLang="zh-CN" baseline="30000" dirty="0"/>
              <a:t>0</a:t>
            </a:r>
            <a:r>
              <a:rPr lang="en-US" altLang="zh-CN" dirty="0"/>
              <a:t>∪V</a:t>
            </a:r>
            <a:r>
              <a:rPr lang="en-US" altLang="zh-CN" baseline="30000" dirty="0"/>
              <a:t>1</a:t>
            </a:r>
            <a:r>
              <a:rPr lang="en-US" altLang="zh-CN" dirty="0"/>
              <a:t>∪V</a:t>
            </a:r>
            <a:r>
              <a:rPr lang="en-US" altLang="zh-CN" baseline="30000" dirty="0"/>
              <a:t>2</a:t>
            </a:r>
            <a:r>
              <a:rPr lang="en-US" altLang="zh-CN" dirty="0"/>
              <a:t>∪V</a:t>
            </a:r>
            <a:r>
              <a:rPr lang="en-US" altLang="zh-CN" baseline="30000" dirty="0"/>
              <a:t>3</a:t>
            </a:r>
            <a:r>
              <a:rPr lang="en-US" altLang="zh-CN" dirty="0"/>
              <a:t>∪…</a:t>
            </a:r>
            <a:endParaRPr lang="zh-CN" altLang="zh-CN" dirty="0"/>
          </a:p>
          <a:p>
            <a:pPr marL="905256" lvl="1" indent="-342900"/>
            <a:endParaRPr lang="en-US" altLang="zh-CN" dirty="0"/>
          </a:p>
          <a:p>
            <a:pPr lvl="1">
              <a:spcBef>
                <a:spcPct val="5000"/>
              </a:spcBef>
            </a:pPr>
            <a:endParaRPr lang="zh-CN" altLang="en-US" dirty="0"/>
          </a:p>
        </p:txBody>
      </p:sp>
      <p:sp>
        <p:nvSpPr>
          <p:cNvPr id="7" name="Rectangle 2"/>
          <p:cNvSpPr>
            <a:spLocks noChangeArrowheads="1"/>
          </p:cNvSpPr>
          <p:nvPr/>
        </p:nvSpPr>
        <p:spPr bwMode="auto">
          <a:xfrm>
            <a:off x="380668" y="4299942"/>
            <a:ext cx="8352418" cy="837764"/>
          </a:xfrm>
          <a:prstGeom prst="rect">
            <a:avLst/>
          </a:prstGeom>
          <a:solidFill>
            <a:schemeClr val="bg1"/>
          </a:solidFill>
          <a:ln>
            <a:noFill/>
          </a:ln>
        </p:spPr>
        <p:txBody>
          <a:bodyPr/>
          <a:lstStyle>
            <a:lvl1pPr marL="342900" indent="-342900">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Clr>
                <a:schemeClr val="accent1"/>
              </a:buClr>
              <a:buSzPct val="80000"/>
              <a:buFont typeface="Wingdings" pitchFamily="2" charset="2"/>
              <a:buNone/>
            </a:pPr>
            <a:r>
              <a:rPr lang="zh-CN" altLang="en-US" sz="2200" b="1" dirty="0">
                <a:latin typeface="Times New Roman" panose="02020603050405020304" pitchFamily="18" charset="0"/>
                <a:cs typeface="Times New Roman" panose="02020603050405020304" pitchFamily="18" charset="0"/>
              </a:rPr>
              <a:t>例：</a:t>
            </a:r>
            <a:r>
              <a:rPr lang="en-US" altLang="zh-CN" sz="2200" b="1" dirty="0">
                <a:latin typeface="Times New Roman" panose="02020603050405020304" pitchFamily="18" charset="0"/>
                <a:cs typeface="Times New Roman" panose="02020603050405020304" pitchFamily="18" charset="0"/>
              </a:rPr>
              <a:t>Σ={</a:t>
            </a:r>
            <a:r>
              <a:rPr lang="en-US" altLang="zh-CN" sz="2200" b="1" dirty="0" err="1">
                <a:latin typeface="Times New Roman" panose="02020603050405020304" pitchFamily="18" charset="0"/>
                <a:cs typeface="Times New Roman" panose="02020603050405020304" pitchFamily="18" charset="0"/>
              </a:rPr>
              <a:t>a,b</a:t>
            </a:r>
            <a:r>
              <a:rPr lang="en-US" altLang="zh-CN" sz="2200" b="1" dirty="0">
                <a:latin typeface="Times New Roman" panose="02020603050405020304" pitchFamily="18" charset="0"/>
                <a:cs typeface="Times New Roman" panose="02020603050405020304" pitchFamily="18" charset="0"/>
              </a:rPr>
              <a:t>}</a:t>
            </a:r>
          </a:p>
          <a:p>
            <a:pPr eaLnBrk="1" hangingPunct="1">
              <a:buClr>
                <a:schemeClr val="accent1"/>
              </a:buClr>
              <a:buSzPct val="80000"/>
              <a:buFont typeface="Wingdings" pitchFamily="2" charset="2"/>
              <a:buNone/>
            </a:pPr>
            <a:r>
              <a:rPr lang="en-US" altLang="zh-CN" sz="2200" b="1" dirty="0">
                <a:latin typeface="Times New Roman" panose="02020603050405020304" pitchFamily="18" charset="0"/>
                <a:cs typeface="Times New Roman" panose="02020603050405020304" pitchFamily="18" charset="0"/>
              </a:rPr>
              <a:t>   Σ</a:t>
            </a:r>
            <a:r>
              <a:rPr lang="en-US" altLang="zh-CN" sz="2200" b="1" baseline="30000" dirty="0">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a:t>
            </a:r>
            <a:r>
              <a:rPr lang="en-US" altLang="zh-CN" sz="2200" b="1" dirty="0" err="1">
                <a:latin typeface="Times New Roman" panose="02020603050405020304" pitchFamily="18" charset="0"/>
                <a:cs typeface="Times New Roman" panose="02020603050405020304" pitchFamily="18" charset="0"/>
              </a:rPr>
              <a:t>ε,a,b,aa,ab,ba,bb,aaa,aab</a:t>
            </a:r>
            <a:r>
              <a:rPr lang="en-US" altLang="zh-CN" sz="2200" b="1" dirty="0">
                <a:latin typeface="Times New Roman" panose="02020603050405020304" pitchFamily="18" charset="0"/>
                <a:cs typeface="Times New Roman" panose="02020603050405020304" pitchFamily="18" charset="0"/>
              </a:rPr>
              <a:t>,…}   Σ</a:t>
            </a:r>
            <a:r>
              <a:rPr lang="en-US" altLang="zh-CN" sz="2200" b="1" baseline="30000" dirty="0">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a:t>
            </a:r>
            <a:r>
              <a:rPr lang="en-US" altLang="zh-CN" sz="2200" b="1" dirty="0" err="1">
                <a:latin typeface="Times New Roman" panose="02020603050405020304" pitchFamily="18" charset="0"/>
                <a:cs typeface="Times New Roman" panose="02020603050405020304" pitchFamily="18" charset="0"/>
              </a:rPr>
              <a:t>a,b,aa,ab,ba,bb,aaa,aab</a:t>
            </a:r>
            <a:r>
              <a:rPr lang="en-US" altLang="zh-CN" sz="2200" b="1" dirty="0">
                <a:latin typeface="Times New Roman" panose="02020603050405020304" pitchFamily="18" charset="0"/>
                <a:cs typeface="Times New Roman" panose="02020603050405020304" pitchFamily="18" charset="0"/>
              </a:rPr>
              <a:t>,…}</a:t>
            </a:r>
          </a:p>
        </p:txBody>
      </p:sp>
      <p:sp>
        <p:nvSpPr>
          <p:cNvPr id="9" name="Rectangle 3"/>
          <p:cNvSpPr txBox="1">
            <a:spLocks noChangeArrowheads="1"/>
          </p:cNvSpPr>
          <p:nvPr/>
        </p:nvSpPr>
        <p:spPr>
          <a:xfrm>
            <a:off x="395536" y="3416190"/>
            <a:ext cx="8337550" cy="86130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905256" lvl="1" indent="-342900"/>
            <a:r>
              <a:rPr lang="zh-CN" altLang="zh-CN" dirty="0"/>
              <a:t>集合</a:t>
            </a:r>
            <a:r>
              <a:rPr lang="en-US" altLang="zh-CN" dirty="0"/>
              <a:t>V</a:t>
            </a:r>
            <a:r>
              <a:rPr lang="zh-CN" altLang="zh-CN" dirty="0"/>
              <a:t>的正闭包就是在</a:t>
            </a:r>
            <a:r>
              <a:rPr lang="en-US" altLang="zh-CN" dirty="0"/>
              <a:t>V</a:t>
            </a:r>
            <a:r>
              <a:rPr lang="zh-CN" altLang="zh-CN" dirty="0"/>
              <a:t>的闭包中去掉</a:t>
            </a:r>
            <a:r>
              <a:rPr lang="en-US" altLang="zh-CN" dirty="0"/>
              <a:t>V</a:t>
            </a:r>
            <a:r>
              <a:rPr lang="en-US" altLang="zh-CN" baseline="30000" dirty="0"/>
              <a:t>0</a:t>
            </a:r>
            <a:r>
              <a:rPr lang="zh-CN" altLang="zh-CN" dirty="0"/>
              <a:t>得到的符号串的集合</a:t>
            </a:r>
            <a:r>
              <a:rPr lang="zh-CN" altLang="en-US" dirty="0"/>
              <a:t>，</a:t>
            </a:r>
            <a:r>
              <a:rPr lang="en-US" altLang="zh-CN" dirty="0"/>
              <a:t>V</a:t>
            </a:r>
            <a:r>
              <a:rPr lang="zh-CN" altLang="zh-CN" dirty="0"/>
              <a:t>的正闭包表示为</a:t>
            </a:r>
            <a:r>
              <a:rPr lang="en-US" altLang="zh-CN" dirty="0"/>
              <a:t>V</a:t>
            </a:r>
            <a:r>
              <a:rPr lang="en-US" altLang="zh-CN" baseline="30000" dirty="0"/>
              <a:t>+</a:t>
            </a:r>
            <a:r>
              <a:rPr lang="zh-CN" altLang="zh-CN" dirty="0"/>
              <a:t>，且有</a:t>
            </a:r>
            <a:r>
              <a:rPr lang="en-US" altLang="zh-CN" dirty="0"/>
              <a:t>V</a:t>
            </a:r>
            <a:r>
              <a:rPr lang="en-US" altLang="zh-CN" baseline="30000" dirty="0"/>
              <a:t>+</a:t>
            </a:r>
            <a:r>
              <a:rPr lang="en-US" altLang="zh-CN" dirty="0"/>
              <a:t> = VV</a:t>
            </a:r>
            <a:r>
              <a:rPr lang="en-US" altLang="zh-CN" baseline="30000" dirty="0"/>
              <a:t>*</a:t>
            </a:r>
            <a:endParaRPr lang="zh-CN" altLang="zh-CN" dirty="0"/>
          </a:p>
          <a:p>
            <a:pPr lvl="1">
              <a:spcBef>
                <a:spcPct val="5000"/>
              </a:spcBef>
            </a:pPr>
            <a:endParaRPr lang="zh-CN" altLang="en-US" dirty="0"/>
          </a:p>
        </p:txBody>
      </p:sp>
    </p:spTree>
    <p:custDataLst>
      <p:tags r:id="rId1"/>
    </p:custDataLst>
    <p:extLst>
      <p:ext uri="{BB962C8B-B14F-4D97-AF65-F5344CB8AC3E}">
        <p14:creationId xmlns:p14="http://schemas.microsoft.com/office/powerpoint/2010/main" val="3666607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259853492"/>
              </p:ext>
            </p:extLst>
          </p:nvPr>
        </p:nvGraphicFramePr>
        <p:xfrm>
          <a:off x="999946" y="1615771"/>
          <a:ext cx="7100446" cy="2448273"/>
        </p:xfrm>
        <a:graphic>
          <a:graphicData uri="http://schemas.openxmlformats.org/drawingml/2006/table">
            <a:tbl>
              <a:tblPr firstRow="1" firstCol="1" bandRow="1">
                <a:tableStyleId>{5C22544A-7EE6-4342-B048-85BDC9FD1C3A}</a:tableStyleId>
              </a:tblPr>
              <a:tblGrid>
                <a:gridCol w="938235">
                  <a:extLst>
                    <a:ext uri="{9D8B030D-6E8A-4147-A177-3AD203B41FA5}">
                      <a16:colId xmlns:a16="http://schemas.microsoft.com/office/drawing/2014/main" val="20000"/>
                    </a:ext>
                  </a:extLst>
                </a:gridCol>
                <a:gridCol w="975697">
                  <a:extLst>
                    <a:ext uri="{9D8B030D-6E8A-4147-A177-3AD203B41FA5}">
                      <a16:colId xmlns:a16="http://schemas.microsoft.com/office/drawing/2014/main" val="20001"/>
                    </a:ext>
                  </a:extLst>
                </a:gridCol>
                <a:gridCol w="1014825">
                  <a:extLst>
                    <a:ext uri="{9D8B030D-6E8A-4147-A177-3AD203B41FA5}">
                      <a16:colId xmlns:a16="http://schemas.microsoft.com/office/drawing/2014/main" val="20002"/>
                    </a:ext>
                  </a:extLst>
                </a:gridCol>
                <a:gridCol w="4171689">
                  <a:extLst>
                    <a:ext uri="{9D8B030D-6E8A-4147-A177-3AD203B41FA5}">
                      <a16:colId xmlns:a16="http://schemas.microsoft.com/office/drawing/2014/main" val="20003"/>
                    </a:ext>
                  </a:extLst>
                </a:gridCol>
              </a:tblGrid>
              <a:tr h="395708">
                <a:tc>
                  <a:txBody>
                    <a:bodyPr/>
                    <a:lstStyle/>
                    <a:p>
                      <a:pPr algn="just">
                        <a:lnSpc>
                          <a:spcPct val="120000"/>
                        </a:lnSpc>
                        <a:spcAft>
                          <a:spcPts val="0"/>
                        </a:spcAft>
                      </a:pPr>
                      <a:r>
                        <a:rPr lang="zh-CN" sz="2000" kern="100">
                          <a:solidFill>
                            <a:schemeClr val="tx1"/>
                          </a:solidFill>
                          <a:effectLst/>
                        </a:rPr>
                        <a:t>序号</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运算</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表示</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定义</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10513">
                <a:tc>
                  <a:txBody>
                    <a:bodyPr/>
                    <a:lstStyle/>
                    <a:p>
                      <a:pPr algn="just">
                        <a:lnSpc>
                          <a:spcPct val="120000"/>
                        </a:lnSpc>
                        <a:spcAft>
                          <a:spcPts val="0"/>
                        </a:spcAft>
                      </a:pPr>
                      <a:r>
                        <a:rPr lang="zh-CN" sz="2000" kern="100">
                          <a:solidFill>
                            <a:schemeClr val="tx1"/>
                          </a:solidFill>
                          <a:effectLst/>
                        </a:rPr>
                        <a:t>（</a:t>
                      </a:r>
                      <a:r>
                        <a:rPr lang="en-US" sz="2000" kern="100">
                          <a:solidFill>
                            <a:schemeClr val="tx1"/>
                          </a:solidFill>
                          <a:effectLst/>
                        </a:rPr>
                        <a:t>1</a:t>
                      </a:r>
                      <a:r>
                        <a:rPr lang="zh-CN"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并</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U</a:t>
                      </a:r>
                      <a:r>
                        <a:rPr lang="zh-CN" sz="2000" kern="100">
                          <a:solidFill>
                            <a:schemeClr val="tx1"/>
                          </a:solidFill>
                          <a:effectLst/>
                        </a:rPr>
                        <a:t>∪</a:t>
                      </a:r>
                      <a:r>
                        <a:rPr lang="en-US" sz="2000" kern="100">
                          <a:solidFill>
                            <a:schemeClr val="tx1"/>
                          </a:solidFill>
                          <a:effectLst/>
                        </a:rPr>
                        <a:t>V</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U</a:t>
                      </a:r>
                      <a:r>
                        <a:rPr lang="zh-CN" sz="2000" kern="100">
                          <a:solidFill>
                            <a:schemeClr val="tx1"/>
                          </a:solidFill>
                          <a:effectLst/>
                        </a:rPr>
                        <a:t>∪</a:t>
                      </a:r>
                      <a:r>
                        <a:rPr lang="en-US" sz="2000" kern="100">
                          <a:solidFill>
                            <a:schemeClr val="tx1"/>
                          </a:solidFill>
                          <a:effectLst/>
                        </a:rPr>
                        <a:t>V = {s | s</a:t>
                      </a:r>
                      <a:r>
                        <a:rPr lang="zh-CN" sz="2000" kern="100">
                          <a:solidFill>
                            <a:schemeClr val="tx1"/>
                          </a:solidFill>
                          <a:effectLst/>
                        </a:rPr>
                        <a:t>∈</a:t>
                      </a:r>
                      <a:r>
                        <a:rPr lang="en-US" sz="2000" kern="100">
                          <a:solidFill>
                            <a:schemeClr val="tx1"/>
                          </a:solidFill>
                          <a:effectLst/>
                        </a:rPr>
                        <a:t>U</a:t>
                      </a:r>
                      <a:r>
                        <a:rPr lang="zh-CN" sz="2000" kern="100">
                          <a:solidFill>
                            <a:schemeClr val="tx1"/>
                          </a:solidFill>
                          <a:effectLst/>
                        </a:rPr>
                        <a:t>或者</a:t>
                      </a:r>
                      <a:r>
                        <a:rPr lang="en-US" sz="2000" kern="100">
                          <a:solidFill>
                            <a:schemeClr val="tx1"/>
                          </a:solidFill>
                          <a:effectLst/>
                        </a:rPr>
                        <a:t>s</a:t>
                      </a:r>
                      <a:r>
                        <a:rPr lang="zh-CN" sz="2000" kern="100">
                          <a:solidFill>
                            <a:schemeClr val="tx1"/>
                          </a:solidFill>
                          <a:effectLst/>
                        </a:rPr>
                        <a:t>∈</a:t>
                      </a:r>
                      <a:r>
                        <a:rPr lang="en-US" sz="2000" kern="100">
                          <a:solidFill>
                            <a:schemeClr val="tx1"/>
                          </a:solidFill>
                          <a:effectLst/>
                        </a:rPr>
                        <a:t>V }</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10513">
                <a:tc>
                  <a:txBody>
                    <a:bodyPr/>
                    <a:lstStyle/>
                    <a:p>
                      <a:pPr algn="just">
                        <a:lnSpc>
                          <a:spcPct val="120000"/>
                        </a:lnSpc>
                        <a:spcAft>
                          <a:spcPts val="0"/>
                        </a:spcAft>
                      </a:pPr>
                      <a:r>
                        <a:rPr lang="zh-CN" sz="2000" kern="100">
                          <a:solidFill>
                            <a:schemeClr val="tx1"/>
                          </a:solidFill>
                          <a:effectLst/>
                        </a:rPr>
                        <a:t>（</a:t>
                      </a:r>
                      <a:r>
                        <a:rPr lang="en-US" sz="2000" kern="100">
                          <a:solidFill>
                            <a:schemeClr val="tx1"/>
                          </a:solidFill>
                          <a:effectLst/>
                        </a:rPr>
                        <a:t>2</a:t>
                      </a:r>
                      <a:r>
                        <a:rPr lang="zh-CN"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连接</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UV</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UV = {</a:t>
                      </a:r>
                      <a:r>
                        <a:rPr lang="zh-CN" sz="2000" kern="100">
                          <a:solidFill>
                            <a:schemeClr val="tx1"/>
                          </a:solidFill>
                          <a:effectLst/>
                        </a:rPr>
                        <a:t>αβ</a:t>
                      </a:r>
                      <a:r>
                        <a:rPr lang="en-US" sz="2000" kern="100">
                          <a:solidFill>
                            <a:schemeClr val="tx1"/>
                          </a:solidFill>
                          <a:effectLst/>
                        </a:rPr>
                        <a:t> | </a:t>
                      </a:r>
                      <a:r>
                        <a:rPr lang="zh-CN" sz="2000" kern="100">
                          <a:solidFill>
                            <a:schemeClr val="tx1"/>
                          </a:solidFill>
                          <a:effectLst/>
                        </a:rPr>
                        <a:t>α∈</a:t>
                      </a:r>
                      <a:r>
                        <a:rPr lang="en-US" sz="2000" kern="100">
                          <a:solidFill>
                            <a:schemeClr val="tx1"/>
                          </a:solidFill>
                          <a:effectLst/>
                        </a:rPr>
                        <a:t>U </a:t>
                      </a:r>
                      <a:r>
                        <a:rPr lang="zh-CN" sz="2000" kern="100">
                          <a:solidFill>
                            <a:schemeClr val="tx1"/>
                          </a:solidFill>
                          <a:effectLst/>
                        </a:rPr>
                        <a:t>并且β∈</a:t>
                      </a:r>
                      <a:r>
                        <a:rPr lang="en-US" sz="2000" kern="100">
                          <a:solidFill>
                            <a:schemeClr val="tx1"/>
                          </a:solidFill>
                          <a:effectLst/>
                        </a:rPr>
                        <a:t>V }</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0513">
                <a:tc>
                  <a:txBody>
                    <a:bodyPr/>
                    <a:lstStyle/>
                    <a:p>
                      <a:pPr algn="just">
                        <a:lnSpc>
                          <a:spcPct val="120000"/>
                        </a:lnSpc>
                        <a:spcAft>
                          <a:spcPts val="0"/>
                        </a:spcAft>
                      </a:pPr>
                      <a:r>
                        <a:rPr lang="zh-CN" sz="2000" kern="100">
                          <a:solidFill>
                            <a:schemeClr val="tx1"/>
                          </a:solidFill>
                          <a:effectLst/>
                        </a:rPr>
                        <a:t>（</a:t>
                      </a:r>
                      <a:r>
                        <a:rPr lang="en-US" sz="2000" kern="100">
                          <a:solidFill>
                            <a:schemeClr val="tx1"/>
                          </a:solidFill>
                          <a:effectLst/>
                        </a:rPr>
                        <a:t>3</a:t>
                      </a:r>
                      <a:r>
                        <a:rPr lang="zh-CN"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方幂</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V</a:t>
                      </a:r>
                      <a:r>
                        <a:rPr lang="en-US" sz="2000" kern="100" baseline="30000">
                          <a:solidFill>
                            <a:schemeClr val="tx1"/>
                          </a:solidFill>
                          <a:effectLst/>
                        </a:rPr>
                        <a:t>n</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V</a:t>
                      </a:r>
                      <a:r>
                        <a:rPr lang="en-US" sz="2000" kern="100" baseline="30000">
                          <a:solidFill>
                            <a:schemeClr val="tx1"/>
                          </a:solidFill>
                          <a:effectLst/>
                        </a:rPr>
                        <a:t>n</a:t>
                      </a:r>
                      <a:r>
                        <a:rPr lang="en-US" sz="2000" kern="100">
                          <a:solidFill>
                            <a:schemeClr val="tx1"/>
                          </a:solidFill>
                          <a:effectLst/>
                        </a:rPr>
                        <a:t> = V</a:t>
                      </a:r>
                      <a:r>
                        <a:rPr lang="en-US" sz="2000" kern="100" baseline="30000">
                          <a:solidFill>
                            <a:schemeClr val="tx1"/>
                          </a:solidFill>
                          <a:effectLst/>
                        </a:rPr>
                        <a:t>n-1</a:t>
                      </a:r>
                      <a:r>
                        <a:rPr lang="en-US" sz="2000" kern="100">
                          <a:solidFill>
                            <a:schemeClr val="tx1"/>
                          </a:solidFill>
                          <a:effectLst/>
                        </a:rPr>
                        <a:t>V</a:t>
                      </a:r>
                      <a:r>
                        <a:rPr lang="zh-CN" sz="2000" kern="100">
                          <a:solidFill>
                            <a:schemeClr val="tx1"/>
                          </a:solidFill>
                          <a:effectLst/>
                        </a:rPr>
                        <a:t>（当</a:t>
                      </a:r>
                      <a:r>
                        <a:rPr lang="en-US" sz="2000" kern="100">
                          <a:solidFill>
                            <a:schemeClr val="tx1"/>
                          </a:solidFill>
                          <a:effectLst/>
                        </a:rPr>
                        <a:t>n&gt;0</a:t>
                      </a:r>
                      <a:r>
                        <a:rPr lang="zh-CN" sz="2000" kern="100">
                          <a:solidFill>
                            <a:schemeClr val="tx1"/>
                          </a:solidFill>
                          <a:effectLst/>
                        </a:rPr>
                        <a:t>），</a:t>
                      </a:r>
                      <a:r>
                        <a:rPr lang="en-US" sz="2000" kern="100">
                          <a:solidFill>
                            <a:schemeClr val="tx1"/>
                          </a:solidFill>
                          <a:effectLst/>
                        </a:rPr>
                        <a:t>V</a:t>
                      </a:r>
                      <a:r>
                        <a:rPr lang="en-US" sz="2000" kern="100" baseline="30000">
                          <a:solidFill>
                            <a:schemeClr val="tx1"/>
                          </a:solidFill>
                          <a:effectLst/>
                        </a:rPr>
                        <a:t>0</a:t>
                      </a:r>
                      <a:r>
                        <a:rPr lang="en-US" sz="2000" kern="100">
                          <a:solidFill>
                            <a:schemeClr val="tx1"/>
                          </a:solidFill>
                          <a:effectLst/>
                        </a:rPr>
                        <a:t>={</a:t>
                      </a:r>
                      <a:r>
                        <a:rPr lang="en-US" sz="2000" kern="100">
                          <a:solidFill>
                            <a:schemeClr val="tx1"/>
                          </a:solidFill>
                          <a:effectLst/>
                          <a:sym typeface="Symbol"/>
                        </a:rPr>
                        <a:t></a:t>
                      </a:r>
                      <a:r>
                        <a:rPr lang="en-US"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0513">
                <a:tc>
                  <a:txBody>
                    <a:bodyPr/>
                    <a:lstStyle/>
                    <a:p>
                      <a:pPr algn="just">
                        <a:lnSpc>
                          <a:spcPct val="120000"/>
                        </a:lnSpc>
                        <a:spcAft>
                          <a:spcPts val="0"/>
                        </a:spcAft>
                      </a:pPr>
                      <a:r>
                        <a:rPr lang="zh-CN" sz="2000" kern="100">
                          <a:solidFill>
                            <a:schemeClr val="tx1"/>
                          </a:solidFill>
                          <a:effectLst/>
                        </a:rPr>
                        <a:t>（</a:t>
                      </a:r>
                      <a:r>
                        <a:rPr lang="en-US" sz="2000" kern="100">
                          <a:solidFill>
                            <a:schemeClr val="tx1"/>
                          </a:solidFill>
                          <a:effectLst/>
                        </a:rPr>
                        <a:t>4</a:t>
                      </a:r>
                      <a:r>
                        <a:rPr lang="zh-CN"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闭包</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V</a:t>
                      </a:r>
                      <a:r>
                        <a:rPr lang="en-US" sz="2000" kern="100" baseline="300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V</a:t>
                      </a:r>
                      <a:r>
                        <a:rPr lang="en-US" sz="2000" kern="100" baseline="30000">
                          <a:solidFill>
                            <a:schemeClr val="tx1"/>
                          </a:solidFill>
                          <a:effectLst/>
                        </a:rPr>
                        <a:t>*</a:t>
                      </a:r>
                      <a:r>
                        <a:rPr lang="en-US" sz="2000" kern="100">
                          <a:solidFill>
                            <a:schemeClr val="tx1"/>
                          </a:solidFill>
                          <a:effectLst/>
                        </a:rPr>
                        <a:t>=V</a:t>
                      </a:r>
                      <a:r>
                        <a:rPr lang="en-US" sz="2000" kern="100" baseline="30000">
                          <a:solidFill>
                            <a:schemeClr val="tx1"/>
                          </a:solidFill>
                          <a:effectLst/>
                        </a:rPr>
                        <a:t>0</a:t>
                      </a:r>
                      <a:r>
                        <a:rPr lang="en-US" sz="2000" kern="100">
                          <a:solidFill>
                            <a:schemeClr val="tx1"/>
                          </a:solidFill>
                          <a:effectLst/>
                        </a:rPr>
                        <a:t>∪V</a:t>
                      </a:r>
                      <a:r>
                        <a:rPr lang="en-US" sz="2000" kern="100" baseline="30000">
                          <a:solidFill>
                            <a:schemeClr val="tx1"/>
                          </a:solidFill>
                          <a:effectLst/>
                        </a:rPr>
                        <a:t>1</a:t>
                      </a:r>
                      <a:r>
                        <a:rPr lang="en-US" sz="2000" kern="100">
                          <a:solidFill>
                            <a:schemeClr val="tx1"/>
                          </a:solidFill>
                          <a:effectLst/>
                        </a:rPr>
                        <a:t>∪V</a:t>
                      </a:r>
                      <a:r>
                        <a:rPr lang="en-US" sz="2000" kern="100" baseline="30000">
                          <a:solidFill>
                            <a:schemeClr val="tx1"/>
                          </a:solidFill>
                          <a:effectLst/>
                        </a:rPr>
                        <a:t>2</a:t>
                      </a:r>
                      <a:r>
                        <a:rPr lang="en-US" sz="2000" kern="100">
                          <a:solidFill>
                            <a:schemeClr val="tx1"/>
                          </a:solidFill>
                          <a:effectLst/>
                        </a:rPr>
                        <a:t>∪V</a:t>
                      </a:r>
                      <a:r>
                        <a:rPr lang="en-US" sz="2000" kern="100" baseline="30000">
                          <a:solidFill>
                            <a:schemeClr val="tx1"/>
                          </a:solidFill>
                          <a:effectLst/>
                        </a:rPr>
                        <a:t>3</a:t>
                      </a:r>
                      <a:r>
                        <a:rPr lang="en-US"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10513">
                <a:tc>
                  <a:txBody>
                    <a:bodyPr/>
                    <a:lstStyle/>
                    <a:p>
                      <a:pPr algn="just">
                        <a:lnSpc>
                          <a:spcPct val="120000"/>
                        </a:lnSpc>
                        <a:spcAft>
                          <a:spcPts val="0"/>
                        </a:spcAft>
                      </a:pPr>
                      <a:r>
                        <a:rPr lang="zh-CN" sz="2000" kern="100">
                          <a:solidFill>
                            <a:schemeClr val="tx1"/>
                          </a:solidFill>
                          <a:effectLst/>
                        </a:rPr>
                        <a:t>（</a:t>
                      </a:r>
                      <a:r>
                        <a:rPr lang="en-US" sz="2000" kern="100">
                          <a:solidFill>
                            <a:schemeClr val="tx1"/>
                          </a:solidFill>
                          <a:effectLst/>
                        </a:rPr>
                        <a:t>5</a:t>
                      </a:r>
                      <a:r>
                        <a:rPr lang="zh-CN" sz="2000" kern="1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zh-CN" sz="2000" kern="100">
                          <a:solidFill>
                            <a:schemeClr val="tx1"/>
                          </a:solidFill>
                          <a:effectLst/>
                        </a:rPr>
                        <a:t>正闭包</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a:solidFill>
                            <a:schemeClr val="tx1"/>
                          </a:solidFill>
                          <a:effectLst/>
                        </a:rPr>
                        <a:t>V</a:t>
                      </a:r>
                      <a:r>
                        <a:rPr lang="en-US" sz="2000" kern="100" baseline="30000">
                          <a:solidFill>
                            <a:schemeClr val="tx1"/>
                          </a:solidFill>
                          <a:effectLst/>
                        </a:rPr>
                        <a:t>+</a:t>
                      </a:r>
                      <a:endParaRPr lang="zh-CN" sz="2000" kern="10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20000"/>
                        </a:lnSpc>
                        <a:spcAft>
                          <a:spcPts val="0"/>
                        </a:spcAft>
                      </a:pPr>
                      <a:r>
                        <a:rPr lang="en-US" sz="2000" kern="100" dirty="0">
                          <a:solidFill>
                            <a:schemeClr val="tx1"/>
                          </a:solidFill>
                          <a:effectLst/>
                        </a:rPr>
                        <a:t>V</a:t>
                      </a:r>
                      <a:r>
                        <a:rPr lang="en-US" sz="2000" kern="100" baseline="30000" dirty="0">
                          <a:solidFill>
                            <a:schemeClr val="tx1"/>
                          </a:solidFill>
                          <a:effectLst/>
                        </a:rPr>
                        <a:t>+</a:t>
                      </a:r>
                      <a:r>
                        <a:rPr lang="en-US" sz="2000" kern="100" dirty="0">
                          <a:solidFill>
                            <a:schemeClr val="tx1"/>
                          </a:solidFill>
                          <a:effectLst/>
                        </a:rPr>
                        <a:t> = VV</a:t>
                      </a:r>
                      <a:r>
                        <a:rPr lang="en-US" sz="2000" kern="100" baseline="30000" dirty="0">
                          <a:solidFill>
                            <a:schemeClr val="tx1"/>
                          </a:solidFill>
                          <a:effectLst/>
                        </a:rPr>
                        <a:t>*</a:t>
                      </a:r>
                      <a:endParaRPr lang="zh-CN" sz="200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3" name="TextBox 2"/>
          <p:cNvSpPr txBox="1"/>
          <p:nvPr/>
        </p:nvSpPr>
        <p:spPr>
          <a:xfrm>
            <a:off x="3131626" y="987574"/>
            <a:ext cx="2260808" cy="535531"/>
          </a:xfrm>
          <a:prstGeom prst="rect">
            <a:avLst/>
          </a:prstGeom>
          <a:noFill/>
        </p:spPr>
        <p:txBody>
          <a:bodyPr wrap="square" rtlCol="0">
            <a:spAutoFit/>
          </a:bodyPr>
          <a:lstStyle/>
          <a:p>
            <a:pPr>
              <a:lnSpc>
                <a:spcPct val="120000"/>
              </a:lnSpc>
            </a:pPr>
            <a:r>
              <a:rPr lang="zh-CN" altLang="en-US" sz="2400" dirty="0"/>
              <a:t>集合的运算</a:t>
            </a:r>
          </a:p>
        </p:txBody>
      </p:sp>
    </p:spTree>
    <p:extLst>
      <p:ext uri="{BB962C8B-B14F-4D97-AF65-F5344CB8AC3E}">
        <p14:creationId xmlns:p14="http://schemas.microsoft.com/office/powerpoint/2010/main" val="3522757052"/>
      </p:ext>
    </p:extLst>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533400" y="0"/>
            <a:ext cx="8610600" cy="857250"/>
          </a:xfrm>
        </p:spPr>
        <p:txBody>
          <a:bodyPr/>
          <a:lstStyle/>
          <a:p>
            <a:r>
              <a:rPr kumimoji="1" lang="zh-CN" altLang="zh-CN" sz="4800" b="1">
                <a:solidFill>
                  <a:srgbClr val="CC0099"/>
                </a:solidFill>
                <a:latin typeface="Times New Roman" pitchFamily="18" charset="0"/>
                <a:ea typeface="隶书" pitchFamily="49" charset="-122"/>
              </a:rPr>
              <a:t>2.5.2 集合的运算及语言的定义</a:t>
            </a:r>
          </a:p>
        </p:txBody>
      </p:sp>
      <p:sp>
        <p:nvSpPr>
          <p:cNvPr id="33797" name="Rectangle 17"/>
          <p:cNvSpPr>
            <a:spLocks noChangeArrowheads="1"/>
          </p:cNvSpPr>
          <p:nvPr/>
        </p:nvSpPr>
        <p:spPr bwMode="auto">
          <a:xfrm>
            <a:off x="1907704" y="2265680"/>
            <a:ext cx="432048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200" dirty="0"/>
              <a:t>U = {</a:t>
            </a:r>
            <a:r>
              <a:rPr lang="en-US" altLang="zh-CN" sz="2200" dirty="0" err="1"/>
              <a:t>aa,bb</a:t>
            </a:r>
            <a:r>
              <a:rPr lang="en-US" altLang="zh-CN" sz="2200" dirty="0"/>
              <a:t>}  V={00,11}  </a:t>
            </a:r>
            <a:r>
              <a:rPr lang="zh-CN" altLang="en-US" sz="2200" dirty="0"/>
              <a:t>则</a:t>
            </a:r>
            <a:r>
              <a:rPr lang="en-US" altLang="zh-CN" sz="2200" dirty="0"/>
              <a:t>UV=?</a:t>
            </a:r>
          </a:p>
          <a:p>
            <a:pPr eaLnBrk="1" hangingPunct="1">
              <a:spcBef>
                <a:spcPct val="50000"/>
              </a:spcBef>
              <a:buFontTx/>
              <a:buNone/>
            </a:pPr>
            <a:endParaRPr lang="en-US" altLang="zh-CN" sz="2200" dirty="0"/>
          </a:p>
          <a:p>
            <a:pPr eaLnBrk="1" hangingPunct="1">
              <a:spcBef>
                <a:spcPct val="50000"/>
              </a:spcBef>
              <a:buFontTx/>
              <a:buNone/>
            </a:pPr>
            <a:r>
              <a:rPr lang="en-US" altLang="zh-CN" sz="2200" dirty="0"/>
              <a:t>V={0,1}  V* = ?    V</a:t>
            </a:r>
            <a:r>
              <a:rPr lang="en-US" altLang="zh-CN" sz="2200" baseline="30000" dirty="0"/>
              <a:t>+</a:t>
            </a:r>
            <a:r>
              <a:rPr lang="en-US" altLang="zh-CN" sz="2200" dirty="0"/>
              <a:t> = ?</a:t>
            </a:r>
          </a:p>
        </p:txBody>
      </p:sp>
      <p:sp>
        <p:nvSpPr>
          <p:cNvPr id="2" name="TextBox 1"/>
          <p:cNvSpPr txBox="1"/>
          <p:nvPr/>
        </p:nvSpPr>
        <p:spPr>
          <a:xfrm>
            <a:off x="827584" y="1598771"/>
            <a:ext cx="2160240" cy="646331"/>
          </a:xfrm>
          <a:prstGeom prst="rect">
            <a:avLst/>
          </a:prstGeom>
          <a:noFill/>
        </p:spPr>
        <p:txBody>
          <a:bodyPr wrap="square" rtlCol="0">
            <a:spAutoFit/>
          </a:bodyPr>
          <a:lstStyle/>
          <a:p>
            <a:r>
              <a:rPr lang="zh-CN" altLang="en-US" sz="3600" dirty="0"/>
              <a:t>练习：</a:t>
            </a:r>
          </a:p>
        </p:txBody>
      </p:sp>
    </p:spTree>
    <p:custDataLst>
      <p:tags r:id="rId1"/>
    </p:custDataLst>
    <p:extLst>
      <p:ext uri="{BB962C8B-B14F-4D97-AF65-F5344CB8AC3E}">
        <p14:creationId xmlns:p14="http://schemas.microsoft.com/office/powerpoint/2010/main" val="2601584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idx="1"/>
          </p:nvPr>
        </p:nvSpPr>
        <p:spPr>
          <a:xfrm>
            <a:off x="476350" y="2157241"/>
            <a:ext cx="8229600" cy="2802731"/>
          </a:xfrm>
          <a:solidFill>
            <a:schemeClr val="bg1"/>
          </a:solidFill>
        </p:spPr>
        <p:txBody>
          <a:bodyPr>
            <a:normAutofit/>
          </a:bodyPr>
          <a:lstStyle/>
          <a:p>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1</a:t>
            </a:r>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L</a:t>
            </a:r>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D</a:t>
            </a:r>
            <a:r>
              <a:rPr lang="zh-CN" altLang="zh-CN" sz="2200" dirty="0">
                <a:latin typeface="Times New Roman" panose="02020603050405020304" pitchFamily="18" charset="0"/>
                <a:cs typeface="Times New Roman" panose="02020603050405020304" pitchFamily="18" charset="0"/>
              </a:rPr>
              <a:t>是单个字母和数字构成的集合，定义了一个新语言，是由</a:t>
            </a:r>
            <a:r>
              <a:rPr lang="en-US" altLang="zh-CN" sz="2200" dirty="0">
                <a:latin typeface="Times New Roman" panose="02020603050405020304" pitchFamily="18" charset="0"/>
                <a:cs typeface="Times New Roman" panose="02020603050405020304" pitchFamily="18" charset="0"/>
              </a:rPr>
              <a:t>62</a:t>
            </a:r>
            <a:r>
              <a:rPr lang="zh-CN" altLang="zh-CN" sz="2200" dirty="0">
                <a:latin typeface="Times New Roman" panose="02020603050405020304" pitchFamily="18" charset="0"/>
                <a:cs typeface="Times New Roman" panose="02020603050405020304" pitchFamily="18" charset="0"/>
              </a:rPr>
              <a:t>个长度为</a:t>
            </a:r>
            <a:r>
              <a:rPr lang="en-US" altLang="zh-CN" sz="2200" dirty="0">
                <a:latin typeface="Times New Roman" panose="02020603050405020304" pitchFamily="18" charset="0"/>
                <a:cs typeface="Times New Roman" panose="02020603050405020304" pitchFamily="18" charset="0"/>
              </a:rPr>
              <a:t>1</a:t>
            </a:r>
            <a:r>
              <a:rPr lang="zh-CN" altLang="zh-CN" sz="2200" dirty="0">
                <a:latin typeface="Times New Roman" panose="02020603050405020304" pitchFamily="18" charset="0"/>
                <a:cs typeface="Times New Roman" panose="02020603050405020304" pitchFamily="18" charset="0"/>
              </a:rPr>
              <a:t>的串构成的语言</a:t>
            </a:r>
          </a:p>
          <a:p>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2</a:t>
            </a:r>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LD</a:t>
            </a:r>
            <a:r>
              <a:rPr lang="zh-CN" altLang="zh-CN" sz="2200" dirty="0">
                <a:latin typeface="Times New Roman" panose="02020603050405020304" pitchFamily="18" charset="0"/>
                <a:cs typeface="Times New Roman" panose="02020603050405020304" pitchFamily="18" charset="0"/>
              </a:rPr>
              <a:t>是所有一个字母后随一个数字的符号串的集合。</a:t>
            </a:r>
            <a:endParaRPr lang="en-US" altLang="zh-CN" sz="2200" dirty="0">
              <a:latin typeface="Times New Roman" panose="02020603050405020304" pitchFamily="18" charset="0"/>
              <a:cs typeface="Times New Roman" panose="02020603050405020304" pitchFamily="18" charset="0"/>
            </a:endParaRPr>
          </a:p>
          <a:p>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3</a:t>
            </a:r>
            <a:r>
              <a:rPr lang="zh-CN"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L</a:t>
            </a:r>
            <a:r>
              <a:rPr lang="en-US" altLang="zh-CN" sz="2200" baseline="30000" dirty="0">
                <a:latin typeface="Times New Roman" panose="02020603050405020304" pitchFamily="18" charset="0"/>
                <a:cs typeface="Times New Roman" panose="02020603050405020304" pitchFamily="18" charset="0"/>
              </a:rPr>
              <a:t>6</a:t>
            </a:r>
            <a:r>
              <a:rPr lang="zh-CN" altLang="zh-CN" sz="2200" dirty="0">
                <a:latin typeface="Times New Roman" panose="02020603050405020304" pitchFamily="18" charset="0"/>
                <a:cs typeface="Times New Roman" panose="02020603050405020304" pitchFamily="18" charset="0"/>
              </a:rPr>
              <a:t>是由</a:t>
            </a:r>
            <a:r>
              <a:rPr lang="en-US" altLang="zh-CN" sz="2200" dirty="0">
                <a:latin typeface="Times New Roman" panose="02020603050405020304" pitchFamily="18" charset="0"/>
                <a:cs typeface="Times New Roman" panose="02020603050405020304" pitchFamily="18" charset="0"/>
              </a:rPr>
              <a:t>6</a:t>
            </a:r>
            <a:r>
              <a:rPr lang="zh-CN" altLang="zh-CN" sz="2200" dirty="0">
                <a:latin typeface="Times New Roman" panose="02020603050405020304" pitchFamily="18" charset="0"/>
                <a:cs typeface="Times New Roman" panose="02020603050405020304" pitchFamily="18" charset="0"/>
              </a:rPr>
              <a:t>个字母构成的符号串的集合</a:t>
            </a:r>
          </a:p>
          <a:p>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4</a:t>
            </a:r>
            <a:r>
              <a:rPr lang="zh-CN"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L</a:t>
            </a:r>
            <a:r>
              <a:rPr lang="en-US" altLang="zh-CN" sz="2200" baseline="30000" dirty="0">
                <a:latin typeface="Times New Roman" panose="02020603050405020304" pitchFamily="18" charset="0"/>
                <a:cs typeface="Times New Roman" panose="02020603050405020304" pitchFamily="18" charset="0"/>
              </a:rPr>
              <a:t>*</a:t>
            </a:r>
            <a:r>
              <a:rPr lang="zh-CN" altLang="zh-CN" sz="2200" dirty="0">
                <a:latin typeface="Times New Roman" panose="02020603050405020304" pitchFamily="18" charset="0"/>
                <a:cs typeface="Times New Roman" panose="02020603050405020304" pitchFamily="18" charset="0"/>
              </a:rPr>
              <a:t>是所有由字母构成的串（包括</a:t>
            </a:r>
            <a:r>
              <a:rPr lang="en-US" altLang="zh-CN" sz="2200" dirty="0">
                <a:latin typeface="Times New Roman" panose="02020603050405020304" pitchFamily="18" charset="0"/>
                <a:cs typeface="Times New Roman" panose="02020603050405020304" pitchFamily="18" charset="0"/>
                <a:sym typeface="Symbol" pitchFamily="18" charset="2"/>
              </a:rPr>
              <a:t></a:t>
            </a:r>
            <a:r>
              <a:rPr lang="zh-CN" altLang="zh-CN" sz="2200" dirty="0">
                <a:latin typeface="Times New Roman" panose="02020603050405020304" pitchFamily="18" charset="0"/>
                <a:cs typeface="Times New Roman" panose="02020603050405020304" pitchFamily="18" charset="0"/>
              </a:rPr>
              <a:t>）的集合</a:t>
            </a:r>
          </a:p>
          <a:p>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5</a:t>
            </a:r>
            <a:r>
              <a:rPr lang="zh-CN"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L</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L</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D</a:t>
            </a:r>
            <a:r>
              <a:rPr lang="en-US" altLang="zh-CN" sz="2200" dirty="0">
                <a:latin typeface="Times New Roman" panose="02020603050405020304" pitchFamily="18" charset="0"/>
                <a:cs typeface="Times New Roman" panose="02020603050405020304" pitchFamily="18" charset="0"/>
              </a:rPr>
              <a:t> )</a:t>
            </a:r>
            <a:r>
              <a:rPr lang="en-US" altLang="zh-CN" sz="2200" baseline="30000" dirty="0">
                <a:latin typeface="Times New Roman" panose="02020603050405020304" pitchFamily="18" charset="0"/>
                <a:cs typeface="Times New Roman" panose="02020603050405020304" pitchFamily="18" charset="0"/>
              </a:rPr>
              <a:t>*</a:t>
            </a:r>
            <a:r>
              <a:rPr lang="zh-CN" altLang="zh-CN" sz="2200" dirty="0">
                <a:latin typeface="Times New Roman" panose="02020603050405020304" pitchFamily="18" charset="0"/>
                <a:cs typeface="Times New Roman" panose="02020603050405020304" pitchFamily="18" charset="0"/>
              </a:rPr>
              <a:t>是以字母开头的所有字母数字串的集合</a:t>
            </a:r>
          </a:p>
          <a:p>
            <a:r>
              <a:rPr lang="zh-CN" altLang="zh-CN"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6</a:t>
            </a:r>
            <a:r>
              <a:rPr lang="zh-CN"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D</a:t>
            </a:r>
            <a:r>
              <a:rPr lang="en-US" altLang="zh-CN" sz="2200" baseline="30000" dirty="0">
                <a:latin typeface="Times New Roman" panose="02020603050405020304" pitchFamily="18" charset="0"/>
                <a:cs typeface="Times New Roman" panose="02020603050405020304" pitchFamily="18" charset="0"/>
              </a:rPr>
              <a:t>+</a:t>
            </a:r>
            <a:r>
              <a:rPr lang="zh-CN" altLang="zh-CN" sz="2200" dirty="0">
                <a:latin typeface="Times New Roman" panose="02020603050405020304" pitchFamily="18" charset="0"/>
                <a:cs typeface="Times New Roman" panose="02020603050405020304" pitchFamily="18" charset="0"/>
              </a:rPr>
              <a:t>是不含空串的由</a:t>
            </a:r>
            <a:r>
              <a:rPr lang="en-US" altLang="zh-CN" sz="2200" dirty="0">
                <a:latin typeface="Times New Roman" panose="02020603050405020304" pitchFamily="18" charset="0"/>
                <a:cs typeface="Times New Roman" panose="02020603050405020304" pitchFamily="18" charset="0"/>
              </a:rPr>
              <a:t>1</a:t>
            </a:r>
            <a:r>
              <a:rPr lang="zh-CN" altLang="zh-CN" sz="2200" dirty="0">
                <a:latin typeface="Times New Roman" panose="02020603050405020304" pitchFamily="18" charset="0"/>
                <a:cs typeface="Times New Roman" panose="02020603050405020304" pitchFamily="18" charset="0"/>
              </a:rPr>
              <a:t>个或多个数字构成的串的集合</a:t>
            </a:r>
            <a:endParaRPr lang="zh-CN" altLang="en-US" sz="2200" dirty="0">
              <a:latin typeface="Times New Roman" panose="02020603050405020304" pitchFamily="18" charset="0"/>
              <a:cs typeface="Times New Roman" panose="02020603050405020304" pitchFamily="18" charset="0"/>
            </a:endParaRPr>
          </a:p>
        </p:txBody>
      </p:sp>
      <p:sp>
        <p:nvSpPr>
          <p:cNvPr id="2" name="矩形 1"/>
          <p:cNvSpPr/>
          <p:nvPr/>
        </p:nvSpPr>
        <p:spPr>
          <a:xfrm>
            <a:off x="323528" y="339502"/>
            <a:ext cx="8352928" cy="738664"/>
          </a:xfrm>
          <a:prstGeom prst="rect">
            <a:avLst/>
          </a:prstGeom>
        </p:spPr>
        <p:txBody>
          <a:bodyPr wrap="square">
            <a:spAutoFit/>
          </a:bodyPr>
          <a:lstStyle/>
          <a:p>
            <a:r>
              <a:rPr lang="zh-CN" altLang="zh-CN" sz="2200" dirty="0">
                <a:latin typeface="宋体" panose="02010600030101010101" pitchFamily="2" charset="-122"/>
                <a:ea typeface="宋体" panose="02010600030101010101" pitchFamily="2" charset="-122"/>
              </a:rPr>
              <a:t>例</a:t>
            </a:r>
            <a:r>
              <a:rPr lang="en-US" altLang="zh-CN" sz="2200" dirty="0">
                <a:latin typeface="宋体" panose="02010600030101010101" pitchFamily="2" charset="-122"/>
                <a:ea typeface="宋体" panose="02010600030101010101" pitchFamily="2" charset="-122"/>
              </a:rPr>
              <a:t>2.4 </a:t>
            </a:r>
            <a:r>
              <a:rPr lang="zh-CN" altLang="zh-CN" sz="2000" dirty="0">
                <a:latin typeface="宋体" panose="02010600030101010101" pitchFamily="2" charset="-122"/>
                <a:ea typeface="宋体" panose="02010600030101010101" pitchFamily="2" charset="-122"/>
              </a:rPr>
              <a:t>令</a:t>
            </a:r>
            <a:r>
              <a:rPr lang="en-US" altLang="zh-CN" sz="2000" dirty="0">
                <a:latin typeface="宋体" panose="02010600030101010101" pitchFamily="2" charset="-122"/>
                <a:ea typeface="宋体" panose="02010600030101010101" pitchFamily="2" charset="-122"/>
              </a:rPr>
              <a:t>L={A, B, </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 Z, a, b, </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 z}</a:t>
            </a:r>
            <a:r>
              <a:rPr lang="zh-CN" altLang="zh-CN" sz="2000" dirty="0">
                <a:latin typeface="宋体" panose="02010600030101010101" pitchFamily="2" charset="-122"/>
                <a:ea typeface="宋体" panose="02010600030101010101" pitchFamily="2" charset="-122"/>
              </a:rPr>
              <a:t>，表示</a:t>
            </a:r>
            <a:r>
              <a:rPr lang="en-US" altLang="zh-CN" sz="2000" dirty="0">
                <a:latin typeface="宋体" panose="02010600030101010101" pitchFamily="2" charset="-122"/>
                <a:ea typeface="宋体" panose="02010600030101010101" pitchFamily="2" charset="-122"/>
              </a:rPr>
              <a:t>L</a:t>
            </a:r>
            <a:r>
              <a:rPr lang="zh-CN" altLang="zh-CN" sz="2000" dirty="0">
                <a:latin typeface="宋体" panose="02010600030101010101" pitchFamily="2" charset="-122"/>
                <a:ea typeface="宋体" panose="02010600030101010101" pitchFamily="2" charset="-122"/>
              </a:rPr>
              <a:t>是由大、小写字母组成的字母表，</a:t>
            </a:r>
            <a:r>
              <a:rPr lang="en-US" altLang="zh-CN" sz="2000" dirty="0">
                <a:latin typeface="宋体" panose="02010600030101010101" pitchFamily="2" charset="-122"/>
                <a:ea typeface="宋体" panose="02010600030101010101" pitchFamily="2" charset="-122"/>
              </a:rPr>
              <a:t>D={0, 1, </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 9}</a:t>
            </a:r>
            <a:r>
              <a:rPr lang="zh-CN" altLang="zh-CN" sz="2000" dirty="0">
                <a:latin typeface="宋体" panose="02010600030101010101" pitchFamily="2" charset="-122"/>
                <a:ea typeface="宋体" panose="02010600030101010101" pitchFamily="2" charset="-122"/>
              </a:rPr>
              <a:t>，表示</a:t>
            </a:r>
            <a:r>
              <a:rPr lang="en-US" altLang="zh-CN" sz="2000" dirty="0">
                <a:latin typeface="宋体" panose="02010600030101010101" pitchFamily="2" charset="-122"/>
                <a:ea typeface="宋体" panose="02010600030101010101" pitchFamily="2" charset="-122"/>
              </a:rPr>
              <a:t>D</a:t>
            </a:r>
            <a:r>
              <a:rPr lang="zh-CN" altLang="zh-CN" sz="2000" dirty="0">
                <a:latin typeface="宋体" panose="02010600030101010101" pitchFamily="2" charset="-122"/>
                <a:ea typeface="宋体" panose="02010600030101010101" pitchFamily="2" charset="-122"/>
              </a:rPr>
              <a:t>是由</a:t>
            </a:r>
            <a:r>
              <a:rPr lang="en-US" altLang="zh-CN" sz="2000" dirty="0">
                <a:latin typeface="宋体" panose="02010600030101010101" pitchFamily="2" charset="-122"/>
                <a:ea typeface="宋体" panose="02010600030101010101" pitchFamily="2" charset="-122"/>
              </a:rPr>
              <a:t>10</a:t>
            </a:r>
            <a:r>
              <a:rPr lang="zh-CN" altLang="zh-CN" sz="2000" dirty="0">
                <a:latin typeface="宋体" panose="02010600030101010101" pitchFamily="2" charset="-122"/>
                <a:ea typeface="宋体" panose="02010600030101010101" pitchFamily="2" charset="-122"/>
              </a:rPr>
              <a:t>个数字组成的字母表。</a:t>
            </a:r>
            <a:endParaRPr lang="en-US" altLang="zh-CN" sz="2000" dirty="0">
              <a:latin typeface="宋体" panose="02010600030101010101" pitchFamily="2" charset="-122"/>
              <a:ea typeface="宋体" panose="02010600030101010101" pitchFamily="2" charset="-122"/>
            </a:endParaRPr>
          </a:p>
        </p:txBody>
      </p:sp>
      <p:sp>
        <p:nvSpPr>
          <p:cNvPr id="5" name="矩形 4"/>
          <p:cNvSpPr/>
          <p:nvPr/>
        </p:nvSpPr>
        <p:spPr>
          <a:xfrm>
            <a:off x="353022" y="1111330"/>
            <a:ext cx="8352928" cy="1107996"/>
          </a:xfrm>
          <a:prstGeom prst="rect">
            <a:avLst/>
          </a:prstGeom>
        </p:spPr>
        <p:txBody>
          <a:bodyPr wrap="square">
            <a:spAutoFit/>
          </a:bodyPr>
          <a:lstStyle/>
          <a:p>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由于单个符号可以看成是长度为</a:t>
            </a:r>
            <a:r>
              <a:rPr lang="en-US" altLang="zh-CN" sz="2200" dirty="0">
                <a:latin typeface="宋体" panose="02010600030101010101" pitchFamily="2" charset="-122"/>
                <a:ea typeface="宋体" panose="02010600030101010101" pitchFamily="2" charset="-122"/>
              </a:rPr>
              <a:t>1</a:t>
            </a:r>
            <a:r>
              <a:rPr lang="zh-CN" altLang="zh-CN" sz="2200" dirty="0">
                <a:latin typeface="宋体" panose="02010600030101010101" pitchFamily="2" charset="-122"/>
                <a:ea typeface="宋体" panose="02010600030101010101" pitchFamily="2" charset="-122"/>
              </a:rPr>
              <a:t>的符号串，所以</a:t>
            </a:r>
            <a:r>
              <a:rPr lang="en-US" altLang="zh-CN" sz="2200" dirty="0">
                <a:latin typeface="宋体" panose="02010600030101010101" pitchFamily="2" charset="-122"/>
                <a:ea typeface="宋体" panose="02010600030101010101" pitchFamily="2" charset="-122"/>
              </a:rPr>
              <a:t>L</a:t>
            </a:r>
            <a:r>
              <a:rPr lang="zh-CN" altLang="zh-CN"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D</a:t>
            </a:r>
            <a:r>
              <a:rPr lang="zh-CN" altLang="zh-CN" sz="2200" dirty="0">
                <a:latin typeface="宋体" panose="02010600030101010101" pitchFamily="2" charset="-122"/>
                <a:ea typeface="宋体" panose="02010600030101010101" pitchFamily="2" charset="-122"/>
              </a:rPr>
              <a:t>也可以分别看成是有穷的语言集。</a:t>
            </a:r>
            <a:endParaRPr lang="en-US" altLang="zh-CN" sz="2200" dirty="0">
              <a:latin typeface="宋体" panose="02010600030101010101" pitchFamily="2" charset="-122"/>
              <a:ea typeface="宋体" panose="02010600030101010101" pitchFamily="2" charset="-122"/>
            </a:endParaRPr>
          </a:p>
          <a:p>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用集合的运算作用于</a:t>
            </a:r>
            <a:r>
              <a:rPr lang="en-US" altLang="zh-CN" sz="2200" dirty="0">
                <a:latin typeface="宋体" panose="02010600030101010101" pitchFamily="2" charset="-122"/>
                <a:ea typeface="宋体" panose="02010600030101010101" pitchFamily="2" charset="-122"/>
              </a:rPr>
              <a:t>L</a:t>
            </a:r>
            <a:r>
              <a:rPr lang="zh-CN" altLang="zh-CN"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D</a:t>
            </a:r>
            <a:r>
              <a:rPr lang="zh-CN" altLang="en-US"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得到的</a:t>
            </a:r>
            <a:r>
              <a:rPr lang="en-US" altLang="zh-CN" sz="2200" dirty="0">
                <a:latin typeface="宋体" panose="02010600030101010101" pitchFamily="2" charset="-122"/>
                <a:ea typeface="宋体" panose="02010600030101010101" pitchFamily="2" charset="-122"/>
              </a:rPr>
              <a:t>6</a:t>
            </a:r>
            <a:r>
              <a:rPr lang="zh-CN" altLang="zh-CN" sz="2200" dirty="0">
                <a:latin typeface="宋体" panose="02010600030101010101" pitchFamily="2" charset="-122"/>
                <a:ea typeface="宋体" panose="02010600030101010101" pitchFamily="2" charset="-122"/>
              </a:rPr>
              <a:t>种新语言。</a:t>
            </a:r>
            <a:endParaRPr lang="zh-CN" altLang="en-US" sz="2200" dirty="0"/>
          </a:p>
        </p:txBody>
      </p:sp>
    </p:spTree>
    <p:extLst>
      <p:ext uri="{BB962C8B-B14F-4D97-AF65-F5344CB8AC3E}">
        <p14:creationId xmlns:p14="http://schemas.microsoft.com/office/powerpoint/2010/main" val="149702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bg/>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animBg="1"/>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7544" y="267494"/>
            <a:ext cx="7779236" cy="576064"/>
          </a:xfrm>
        </p:spPr>
        <p:txBody>
          <a:bodyPr>
            <a:noAutofit/>
          </a:bodyPr>
          <a:lstStyle/>
          <a:p>
            <a:r>
              <a:rPr lang="zh-CN" altLang="en-US" sz="4000" dirty="0">
                <a:solidFill>
                  <a:srgbClr val="3333FF"/>
                </a:solidFill>
              </a:rPr>
              <a:t>总结</a:t>
            </a:r>
            <a:endParaRPr lang="zh-CN" altLang="zh-CN" sz="4000" dirty="0"/>
          </a:p>
        </p:txBody>
      </p:sp>
      <p:sp>
        <p:nvSpPr>
          <p:cNvPr id="34819" name="Rectangle 3"/>
          <p:cNvSpPr>
            <a:spLocks noGrp="1" noChangeArrowheads="1"/>
          </p:cNvSpPr>
          <p:nvPr>
            <p:ph type="body" idx="1"/>
          </p:nvPr>
        </p:nvSpPr>
        <p:spPr>
          <a:xfrm>
            <a:off x="467544" y="1059582"/>
            <a:ext cx="8064896" cy="3693001"/>
          </a:xfrm>
        </p:spPr>
        <p:txBody>
          <a:bodyPr>
            <a:normAutofit/>
          </a:bodyPr>
          <a:lstStyle/>
          <a:p>
            <a:pPr algn="just"/>
            <a:r>
              <a:rPr lang="en-US" altLang="zh-CN" dirty="0">
                <a:latin typeface="Times New Roman" panose="02020603050405020304" pitchFamily="18" charset="0"/>
                <a:cs typeface="Times New Roman" panose="02020603050405020304" pitchFamily="18" charset="0"/>
              </a:rPr>
              <a:t>Σ</a:t>
            </a:r>
            <a:r>
              <a:rPr lang="en-US" altLang="zh-CN" baseline="30000"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中的任意一个按一定规则构成的子集称为Σ上的一个（形式）语言</a:t>
            </a:r>
            <a:endParaRPr lang="en-US" altLang="zh-CN" dirty="0">
              <a:latin typeface="Times New Roman" panose="02020603050405020304" pitchFamily="18" charset="0"/>
              <a:cs typeface="Times New Roman" panose="02020603050405020304" pitchFamily="18" charset="0"/>
            </a:endParaRPr>
          </a:p>
          <a:p>
            <a:pPr algn="just"/>
            <a:r>
              <a:rPr lang="zh-CN" altLang="en-US" dirty="0">
                <a:latin typeface="Times New Roman" panose="02020603050405020304" pitchFamily="18" charset="0"/>
                <a:cs typeface="Times New Roman" panose="02020603050405020304" pitchFamily="18" charset="0"/>
              </a:rPr>
              <a:t>从基本集合出发，可以利用集合的运算来构成新的语言</a:t>
            </a:r>
            <a:endParaRPr lang="en-US" altLang="zh-CN" dirty="0">
              <a:latin typeface="Times New Roman" panose="02020603050405020304" pitchFamily="18" charset="0"/>
              <a:cs typeface="Times New Roman" panose="02020603050405020304" pitchFamily="18" charset="0"/>
            </a:endParaRPr>
          </a:p>
          <a:p>
            <a:pPr algn="just"/>
            <a:r>
              <a:rPr lang="zh-CN" altLang="en-US" dirty="0">
                <a:latin typeface="Times New Roman" panose="02020603050405020304" pitchFamily="18" charset="0"/>
                <a:cs typeface="Times New Roman" panose="02020603050405020304" pitchFamily="18" charset="0"/>
              </a:rPr>
              <a:t>每一种程序设计语言，都有它自己的字符集</a:t>
            </a:r>
            <a:r>
              <a:rPr lang="en-US" altLang="zh-CN" dirty="0">
                <a:latin typeface="Times New Roman" panose="02020603050405020304" pitchFamily="18" charset="0"/>
                <a:cs typeface="Times New Roman" panose="02020603050405020304" pitchFamily="18" charset="0"/>
              </a:rPr>
              <a:t>Σ</a:t>
            </a:r>
            <a:r>
              <a:rPr lang="zh-CN" altLang="en-US" dirty="0">
                <a:latin typeface="Times New Roman" panose="02020603050405020304" pitchFamily="18" charset="0"/>
                <a:cs typeface="Times New Roman" panose="02020603050405020304" pitchFamily="18" charset="0"/>
              </a:rPr>
              <a:t>，语言中的每一个单词或者是</a:t>
            </a:r>
            <a:r>
              <a:rPr lang="en-US" altLang="zh-CN" dirty="0">
                <a:latin typeface="Times New Roman" panose="02020603050405020304" pitchFamily="18" charset="0"/>
                <a:cs typeface="Times New Roman" panose="02020603050405020304" pitchFamily="18" charset="0"/>
              </a:rPr>
              <a:t>Σ</a:t>
            </a:r>
            <a:r>
              <a:rPr lang="zh-CN" altLang="en-US" dirty="0">
                <a:latin typeface="Times New Roman" panose="02020603050405020304" pitchFamily="18" charset="0"/>
                <a:cs typeface="Times New Roman" panose="02020603050405020304" pitchFamily="18" charset="0"/>
              </a:rPr>
              <a:t>上的单个字符（长度为</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的字符串），或者是</a:t>
            </a:r>
            <a:r>
              <a:rPr lang="en-US" altLang="zh-CN" dirty="0">
                <a:latin typeface="Times New Roman" panose="02020603050405020304" pitchFamily="18" charset="0"/>
                <a:cs typeface="Times New Roman" panose="02020603050405020304" pitchFamily="18" charset="0"/>
              </a:rPr>
              <a:t>Σ</a:t>
            </a:r>
            <a:r>
              <a:rPr lang="zh-CN" altLang="en-US" dirty="0">
                <a:latin typeface="Times New Roman" panose="02020603050405020304" pitchFamily="18" charset="0"/>
                <a:cs typeface="Times New Roman" panose="02020603050405020304" pitchFamily="18" charset="0"/>
              </a:rPr>
              <a:t>按一定的集合运算规则得到的集合中的符号串</a:t>
            </a:r>
            <a:endParaRPr lang="en-US" altLang="zh-CN" dirty="0">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Σ上的</a:t>
            </a:r>
            <a:r>
              <a:rPr lang="zh-CN" altLang="en-US" dirty="0">
                <a:latin typeface="Times New Roman" panose="02020603050405020304" pitchFamily="18" charset="0"/>
                <a:cs typeface="Times New Roman" panose="02020603050405020304" pitchFamily="18" charset="0"/>
              </a:rPr>
              <a:t>每一个语言中</a:t>
            </a:r>
            <a:r>
              <a:rPr lang="zh-CN" altLang="zh-CN" dirty="0">
                <a:latin typeface="Times New Roman" panose="02020603050405020304" pitchFamily="18" charset="0"/>
                <a:cs typeface="Times New Roman" panose="02020603050405020304" pitchFamily="18" charset="0"/>
              </a:rPr>
              <a:t>的任意一个元素肯定是</a:t>
            </a:r>
            <a:r>
              <a:rPr lang="en-US" altLang="zh-CN" dirty="0">
                <a:latin typeface="Times New Roman" panose="02020603050405020304" pitchFamily="18" charset="0"/>
                <a:cs typeface="Times New Roman" panose="02020603050405020304" pitchFamily="18" charset="0"/>
              </a:rPr>
              <a:t>Σ</a:t>
            </a:r>
            <a:r>
              <a:rPr lang="zh-CN" altLang="zh-CN" dirty="0">
                <a:latin typeface="Times New Roman" panose="02020603050405020304" pitchFamily="18" charset="0"/>
                <a:cs typeface="Times New Roman" panose="02020603050405020304" pitchFamily="18" charset="0"/>
              </a:rPr>
              <a:t>上的符号串</a:t>
            </a:r>
            <a:endParaRPr lang="en-US" altLang="zh-CN" dirty="0">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属于某语言的符号串称为该语言的</a:t>
            </a:r>
            <a:r>
              <a:rPr lang="zh-CN" altLang="zh-CN" b="1" dirty="0">
                <a:solidFill>
                  <a:srgbClr val="FF0000"/>
                </a:solidFill>
                <a:latin typeface="Times New Roman" panose="02020603050405020304" pitchFamily="18" charset="0"/>
                <a:cs typeface="Times New Roman" panose="02020603050405020304" pitchFamily="18" charset="0"/>
              </a:rPr>
              <a:t>句子</a:t>
            </a:r>
            <a:endParaRPr lang="en-US" altLang="zh-C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28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771550"/>
            <a:ext cx="8229600" cy="4032448"/>
          </a:xfrm>
          <a:solidFill>
            <a:schemeClr val="bg1"/>
          </a:solidFill>
        </p:spPr>
        <p:txBody>
          <a:bodyPr>
            <a:normAutofit fontScale="92500" lnSpcReduction="10000"/>
          </a:bodyPr>
          <a:lstStyle/>
          <a:p>
            <a:r>
              <a:rPr lang="zh-CN" altLang="en-US" dirty="0"/>
              <a:t>语言是句子（即符号串）的集合</a:t>
            </a:r>
            <a:endParaRPr lang="en-US" altLang="zh-CN" dirty="0"/>
          </a:p>
          <a:p>
            <a:pPr lvl="1"/>
            <a:r>
              <a:rPr lang="zh-CN" altLang="zh-CN" dirty="0"/>
              <a:t>如果语言是有穷的（只含有有穷多个句子），可以将句子逐一列出</a:t>
            </a:r>
            <a:endParaRPr lang="en-US" altLang="zh-CN" dirty="0"/>
          </a:p>
          <a:p>
            <a:pPr lvl="1"/>
            <a:r>
              <a:rPr lang="zh-CN" altLang="zh-CN" dirty="0"/>
              <a:t>如果语言是无穷的，就必须寻求语言的有穷表示</a:t>
            </a:r>
            <a:endParaRPr lang="en-US" altLang="zh-CN" dirty="0"/>
          </a:p>
          <a:p>
            <a:r>
              <a:rPr lang="zh-CN" altLang="en-US" dirty="0"/>
              <a:t>语言的有穷表示：</a:t>
            </a:r>
            <a:endParaRPr lang="en-US" altLang="zh-CN" dirty="0"/>
          </a:p>
          <a:p>
            <a:pPr lvl="1"/>
            <a:r>
              <a:rPr lang="zh-CN" altLang="zh-CN" dirty="0"/>
              <a:t>用模式表示语言中句子的构成规则。这种方法将语言中的句子的构成模式用一个数学表达式来表示，满足构成模式的符号串都是语言中的句子</a:t>
            </a:r>
          </a:p>
          <a:p>
            <a:pPr lvl="1"/>
            <a:r>
              <a:rPr lang="zh-CN" altLang="zh-CN" dirty="0"/>
              <a:t>用识别的观点表示语言。其思想是用一个算法（称为自动机）来判断某个给定的符号串是否在某语言中：</a:t>
            </a:r>
            <a:endParaRPr lang="en-US" altLang="zh-CN" dirty="0"/>
          </a:p>
          <a:p>
            <a:pPr lvl="2"/>
            <a:r>
              <a:rPr lang="zh-CN" altLang="zh-CN" dirty="0"/>
              <a:t>当输入的符号串属于某语言时，</a:t>
            </a:r>
            <a:r>
              <a:rPr lang="zh-CN" altLang="en-US" dirty="0"/>
              <a:t>算法</a:t>
            </a:r>
            <a:r>
              <a:rPr lang="zh-CN" altLang="zh-CN" dirty="0"/>
              <a:t>经有限次计算后就会停止并回答“是”</a:t>
            </a:r>
            <a:endParaRPr lang="en-US" altLang="zh-CN" dirty="0"/>
          </a:p>
          <a:p>
            <a:pPr lvl="2"/>
            <a:r>
              <a:rPr lang="zh-CN" altLang="zh-CN" dirty="0"/>
              <a:t>若这个符号串不属于该语言，</a:t>
            </a:r>
            <a:r>
              <a:rPr lang="zh-CN" altLang="en-US" dirty="0"/>
              <a:t>算法</a:t>
            </a:r>
            <a:r>
              <a:rPr lang="zh-CN" altLang="zh-CN" dirty="0"/>
              <a:t>要么能停止并回答“不是”，要么永远继续下去</a:t>
            </a:r>
          </a:p>
          <a:p>
            <a:endParaRPr lang="zh-CN" altLang="en-US" dirty="0"/>
          </a:p>
        </p:txBody>
      </p:sp>
      <p:sp>
        <p:nvSpPr>
          <p:cNvPr id="3" name="标题 2"/>
          <p:cNvSpPr>
            <a:spLocks noGrp="1"/>
          </p:cNvSpPr>
          <p:nvPr>
            <p:ph type="title"/>
          </p:nvPr>
        </p:nvSpPr>
        <p:spPr>
          <a:xfrm>
            <a:off x="179512" y="123478"/>
            <a:ext cx="8229600" cy="576064"/>
          </a:xfrm>
        </p:spPr>
        <p:txBody>
          <a:bodyPr>
            <a:normAutofit fontScale="90000"/>
          </a:bodyPr>
          <a:lstStyle/>
          <a:p>
            <a:r>
              <a:rPr lang="zh-CN" altLang="en-US" dirty="0"/>
              <a:t>语言的表示</a:t>
            </a:r>
          </a:p>
        </p:txBody>
      </p:sp>
    </p:spTree>
    <p:extLst>
      <p:ext uri="{BB962C8B-B14F-4D97-AF65-F5344CB8AC3E}">
        <p14:creationId xmlns:p14="http://schemas.microsoft.com/office/powerpoint/2010/main" val="826409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矩形 1"/>
          <p:cNvSpPr/>
          <p:nvPr/>
        </p:nvSpPr>
        <p:spPr>
          <a:xfrm>
            <a:off x="1249985" y="1971358"/>
            <a:ext cx="3597460" cy="707886"/>
          </a:xfrm>
          <a:prstGeom prst="rect">
            <a:avLst/>
          </a:prstGeom>
        </p:spPr>
        <p:txBody>
          <a:bodyPr wrap="none">
            <a:spAutoFit/>
          </a:bodyPr>
          <a:lstStyle/>
          <a:p>
            <a:r>
              <a:rPr lang="en-US" altLang="zh-CN" sz="4000" b="1" dirty="0">
                <a:solidFill>
                  <a:srgbClr val="CC0099"/>
                </a:solidFill>
                <a:ea typeface="隶书" pitchFamily="49" charset="-122"/>
              </a:rPr>
              <a:t>3</a:t>
            </a:r>
            <a:r>
              <a:rPr lang="zh-CN" altLang="en-US" sz="4000" b="1" dirty="0">
                <a:solidFill>
                  <a:srgbClr val="CC0099"/>
                </a:solidFill>
                <a:ea typeface="隶书" pitchFamily="49" charset="-122"/>
              </a:rPr>
              <a:t>、正则表达式</a:t>
            </a:r>
            <a:endParaRPr lang="en-US" altLang="zh-CN" sz="4000" b="1" dirty="0">
              <a:solidFill>
                <a:srgbClr val="CC0099"/>
              </a:solidFill>
              <a:ea typeface="隶书" pitchFamily="49" charset="-122"/>
            </a:endParaRPr>
          </a:p>
        </p:txBody>
      </p:sp>
    </p:spTree>
    <p:extLst>
      <p:ext uri="{BB962C8B-B14F-4D97-AF65-F5344CB8AC3E}">
        <p14:creationId xmlns:p14="http://schemas.microsoft.com/office/powerpoint/2010/main" val="2456350746"/>
      </p:ext>
    </p:extLst>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kumimoji="1" lang="zh-CN" altLang="zh-CN" sz="4800" b="1" dirty="0">
                <a:solidFill>
                  <a:srgbClr val="CC0099"/>
                </a:solidFill>
                <a:latin typeface="Times New Roman" pitchFamily="18" charset="0"/>
                <a:ea typeface="隶书" pitchFamily="49" charset="-122"/>
              </a:rPr>
              <a:t>2.5.3 正则表达式</a:t>
            </a:r>
          </a:p>
        </p:txBody>
      </p:sp>
      <p:sp>
        <p:nvSpPr>
          <p:cNvPr id="36867" name="Rectangle 4"/>
          <p:cNvSpPr>
            <a:spLocks noGrp="1" noChangeArrowheads="1"/>
          </p:cNvSpPr>
          <p:nvPr>
            <p:ph type="body" idx="1"/>
          </p:nvPr>
        </p:nvSpPr>
        <p:spPr>
          <a:xfrm>
            <a:off x="323528" y="1131590"/>
            <a:ext cx="8229600" cy="3456384"/>
          </a:xfrm>
          <a:solidFill>
            <a:schemeClr val="bg1"/>
          </a:solidFill>
        </p:spPr>
        <p:txBody>
          <a:bodyPr>
            <a:noAutofit/>
          </a:bodyPr>
          <a:lstStyle/>
          <a:p>
            <a:pPr>
              <a:spcBef>
                <a:spcPts val="0"/>
              </a:spcBef>
            </a:pPr>
            <a:r>
              <a:rPr lang="zh-CN" altLang="en-US" sz="2200" dirty="0">
                <a:solidFill>
                  <a:srgbClr val="FF0000"/>
                </a:solidFill>
              </a:rPr>
              <a:t>正则表达式</a:t>
            </a:r>
            <a:r>
              <a:rPr lang="zh-CN" altLang="en-US" sz="2200" dirty="0"/>
              <a:t>（</a:t>
            </a:r>
            <a:r>
              <a:rPr lang="en-US" altLang="zh-CN" sz="2200" dirty="0"/>
              <a:t>regular expression</a:t>
            </a:r>
            <a:r>
              <a:rPr lang="zh-CN" altLang="en-US" sz="2200" dirty="0"/>
              <a:t>）也称为正规式</a:t>
            </a:r>
            <a:endParaRPr lang="en-US" altLang="zh-CN" sz="2200" dirty="0"/>
          </a:p>
          <a:p>
            <a:pPr>
              <a:spcBef>
                <a:spcPts val="0"/>
              </a:spcBef>
            </a:pPr>
            <a:r>
              <a:rPr lang="zh-CN" altLang="en-US" sz="2200" dirty="0"/>
              <a:t>用来</a:t>
            </a:r>
            <a:r>
              <a:rPr lang="zh-CN" altLang="zh-CN" sz="2200" dirty="0"/>
              <a:t>描述某个符号串集合</a:t>
            </a:r>
            <a:r>
              <a:rPr lang="zh-CN" altLang="en-US" sz="2200" dirty="0"/>
              <a:t>的构成模式</a:t>
            </a:r>
            <a:endParaRPr lang="en-US" altLang="zh-CN" sz="2200" dirty="0"/>
          </a:p>
          <a:p>
            <a:pPr>
              <a:spcBef>
                <a:spcPts val="0"/>
              </a:spcBef>
            </a:pPr>
            <a:r>
              <a:rPr lang="zh-CN" altLang="en-US" sz="2200" dirty="0"/>
              <a:t>一个正则表达式</a:t>
            </a:r>
            <a:r>
              <a:rPr lang="en-US" altLang="zh-CN" sz="2200" dirty="0"/>
              <a:t>r</a:t>
            </a:r>
            <a:r>
              <a:rPr lang="zh-CN" altLang="en-US" sz="2200" dirty="0"/>
              <a:t>所描述的</a:t>
            </a:r>
            <a:r>
              <a:rPr lang="zh-CN" altLang="en-US" sz="2200" dirty="0">
                <a:solidFill>
                  <a:srgbClr val="0070C0"/>
                </a:solidFill>
              </a:rPr>
              <a:t>符号串集合</a:t>
            </a:r>
            <a:r>
              <a:rPr lang="zh-CN" altLang="en-US" sz="2200" dirty="0"/>
              <a:t>称为</a:t>
            </a:r>
            <a:r>
              <a:rPr lang="zh-CN" altLang="en-US" sz="2200" dirty="0">
                <a:solidFill>
                  <a:srgbClr val="FF0000"/>
                </a:solidFill>
              </a:rPr>
              <a:t>正规集</a:t>
            </a:r>
            <a:r>
              <a:rPr lang="zh-CN" altLang="en-US" sz="2200" dirty="0"/>
              <a:t>，也称为正则表达式描述的语言，可以用</a:t>
            </a:r>
            <a:r>
              <a:rPr lang="en-US" altLang="zh-CN" sz="2200" dirty="0"/>
              <a:t>L(r)</a:t>
            </a:r>
            <a:r>
              <a:rPr lang="zh-CN" altLang="en-US" sz="2200" dirty="0"/>
              <a:t>来表示</a:t>
            </a:r>
            <a:endParaRPr lang="en-US" altLang="zh-CN" sz="2200" dirty="0"/>
          </a:p>
          <a:p>
            <a:pPr>
              <a:spcBef>
                <a:spcPts val="0"/>
              </a:spcBef>
            </a:pPr>
            <a:r>
              <a:rPr lang="zh-CN" altLang="zh-CN" sz="2200" dirty="0"/>
              <a:t>可以用来检查一个字符串是否含有某种特定的子模式串</a:t>
            </a:r>
          </a:p>
        </p:txBody>
      </p:sp>
    </p:spTree>
    <p:extLst>
      <p:ext uri="{BB962C8B-B14F-4D97-AF65-F5344CB8AC3E}">
        <p14:creationId xmlns:p14="http://schemas.microsoft.com/office/powerpoint/2010/main" val="120884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10996"/>
            <a:ext cx="8229600" cy="3548985"/>
          </a:xfrm>
        </p:spPr>
        <p:txBody>
          <a:bodyPr>
            <a:normAutofit fontScale="92500"/>
          </a:bodyPr>
          <a:lstStyle/>
          <a:p>
            <a:pPr marL="342900" indent="-342900">
              <a:spcBef>
                <a:spcPts val="600"/>
              </a:spcBef>
              <a:buClr>
                <a:schemeClr val="accent1"/>
              </a:buClr>
              <a:buSzPct val="80000"/>
              <a:defRPr/>
            </a:pPr>
            <a:r>
              <a:rPr kumimoji="1" lang="zh-CN" altLang="en-US" sz="2100" dirty="0">
                <a:solidFill>
                  <a:srgbClr val="0000FF"/>
                </a:solidFill>
                <a:latin typeface="Times New Roman" panose="02020603050405020304" pitchFamily="18" charset="0"/>
                <a:cs typeface="Times New Roman" panose="02020603050405020304" pitchFamily="18" charset="0"/>
                <a:sym typeface="Symbol" pitchFamily="18" charset="2"/>
              </a:rPr>
              <a:t></a:t>
            </a:r>
            <a:r>
              <a:rPr kumimoji="1" lang="zh-CN" altLang="en-US" sz="2100" dirty="0">
                <a:latin typeface="Times New Roman" panose="02020603050405020304" pitchFamily="18" charset="0"/>
                <a:cs typeface="Times New Roman" panose="02020603050405020304" pitchFamily="18" charset="0"/>
                <a:sym typeface="Symbol" pitchFamily="18" charset="2"/>
              </a:rPr>
              <a:t>是一个正则表达式，表示的正规集</a:t>
            </a:r>
            <a:r>
              <a:rPr kumimoji="1" lang="en-US" altLang="zh-CN" sz="2100" dirty="0">
                <a:latin typeface="Times New Roman" panose="02020603050405020304" pitchFamily="18" charset="0"/>
                <a:cs typeface="Times New Roman" panose="02020603050405020304" pitchFamily="18" charset="0"/>
                <a:sym typeface="Symbol" pitchFamily="18" charset="2"/>
              </a:rPr>
              <a:t>L() = </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a:t>
            </a:r>
            <a:r>
              <a:rPr kumimoji="1" lang="zh-CN" altLang="en-US" sz="2100" dirty="0">
                <a:latin typeface="Times New Roman" panose="02020603050405020304" pitchFamily="18" charset="0"/>
                <a:cs typeface="Times New Roman" panose="02020603050405020304" pitchFamily="18" charset="0"/>
                <a:sym typeface="Symbol" pitchFamily="18" charset="2"/>
              </a:rPr>
              <a:t>，即该语言只包含空串</a:t>
            </a:r>
          </a:p>
          <a:p>
            <a:pPr marL="342900" indent="-342900">
              <a:spcBef>
                <a:spcPts val="600"/>
              </a:spcBef>
              <a:buClr>
                <a:schemeClr val="accent1"/>
              </a:buClr>
              <a:buSzPct val="80000"/>
              <a:defRPr/>
            </a:pPr>
            <a:r>
              <a:rPr kumimoji="1" lang="zh-CN" altLang="en-US" sz="2100" dirty="0">
                <a:latin typeface="Times New Roman" panose="02020603050405020304" pitchFamily="18" charset="0"/>
                <a:cs typeface="Times New Roman" panose="02020603050405020304" pitchFamily="18" charset="0"/>
                <a:sym typeface="Symbol" pitchFamily="18" charset="2"/>
              </a:rPr>
              <a:t>对任何</a:t>
            </a:r>
            <a:r>
              <a:rPr kumimoji="1" lang="en-US" altLang="zh-CN" sz="2100" dirty="0">
                <a:solidFill>
                  <a:srgbClr val="CC00FF"/>
                </a:solidFill>
                <a:latin typeface="Times New Roman" panose="02020603050405020304" pitchFamily="18" charset="0"/>
                <a:cs typeface="Times New Roman" panose="02020603050405020304" pitchFamily="18" charset="0"/>
                <a:sym typeface="Symbol" pitchFamily="18" charset="2"/>
              </a:rPr>
              <a:t>a</a:t>
            </a:r>
            <a:r>
              <a:rPr kumimoji="1" lang="en-US" altLang="zh-CN" sz="2100" dirty="0">
                <a:latin typeface="Times New Roman" panose="02020603050405020304" pitchFamily="18" charset="0"/>
                <a:cs typeface="Times New Roman" panose="02020603050405020304" pitchFamily="18" charset="0"/>
                <a:sym typeface="Symbol" pitchFamily="18" charset="2"/>
              </a:rPr>
              <a:t>∈</a:t>
            </a:r>
            <a:r>
              <a:rPr kumimoji="1" lang="zh-CN" altLang="en-US" sz="2000" b="1" dirty="0">
                <a:latin typeface="Times New Roman" panose="02020603050405020304" pitchFamily="18" charset="0"/>
                <a:cs typeface="Times New Roman" panose="02020603050405020304" pitchFamily="18" charset="0"/>
                <a:sym typeface="Symbol" pitchFamily="18" charset="2"/>
              </a:rPr>
              <a:t> </a:t>
            </a:r>
            <a:r>
              <a:rPr kumimoji="1" lang="zh-CN" altLang="en-US" sz="2100" dirty="0">
                <a:latin typeface="Times New Roman" panose="02020603050405020304" pitchFamily="18" charset="0"/>
                <a:cs typeface="Times New Roman" panose="02020603050405020304" pitchFamily="18" charset="0"/>
                <a:sym typeface="Symbol" pitchFamily="18" charset="2"/>
              </a:rPr>
              <a:t>，</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a</a:t>
            </a:r>
            <a:r>
              <a:rPr kumimoji="1" lang="zh-CN" altLang="en-US" sz="2100" dirty="0">
                <a:latin typeface="Times New Roman" panose="02020603050405020304" pitchFamily="18" charset="0"/>
                <a:cs typeface="Times New Roman" panose="02020603050405020304" pitchFamily="18" charset="0"/>
                <a:sym typeface="Symbol" pitchFamily="18" charset="2"/>
              </a:rPr>
              <a:t>是</a:t>
            </a:r>
            <a:r>
              <a:rPr kumimoji="1" lang="zh-CN" altLang="en-US" sz="2000" b="1" dirty="0">
                <a:latin typeface="Times New Roman" panose="02020603050405020304" pitchFamily="18" charset="0"/>
                <a:cs typeface="Times New Roman" panose="02020603050405020304" pitchFamily="18" charset="0"/>
                <a:sym typeface="Symbol" pitchFamily="18" charset="2"/>
              </a:rPr>
              <a:t></a:t>
            </a:r>
            <a:r>
              <a:rPr kumimoji="1" lang="zh-CN" altLang="en-US" sz="2100" dirty="0">
                <a:latin typeface="Times New Roman" panose="02020603050405020304" pitchFamily="18" charset="0"/>
                <a:cs typeface="Times New Roman" panose="02020603050405020304" pitchFamily="18" charset="0"/>
                <a:sym typeface="Symbol" pitchFamily="18" charset="2"/>
              </a:rPr>
              <a:t>上的一个正则表达式，它所表示的正规集</a:t>
            </a:r>
            <a:r>
              <a:rPr kumimoji="1" lang="en-US" altLang="zh-CN" sz="2100" dirty="0">
                <a:latin typeface="Times New Roman" panose="02020603050405020304" pitchFamily="18" charset="0"/>
                <a:cs typeface="Times New Roman" panose="02020603050405020304" pitchFamily="18" charset="0"/>
                <a:sym typeface="Symbol" pitchFamily="18" charset="2"/>
              </a:rPr>
              <a:t>L(a) = </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{a}</a:t>
            </a:r>
            <a:endParaRPr kumimoji="1" lang="zh-CN" altLang="en-US" sz="2100" dirty="0">
              <a:solidFill>
                <a:srgbClr val="FF0000"/>
              </a:solidFill>
              <a:latin typeface="Times New Roman" panose="02020603050405020304" pitchFamily="18" charset="0"/>
              <a:cs typeface="Times New Roman" panose="02020603050405020304" pitchFamily="18" charset="0"/>
              <a:sym typeface="Symbol" pitchFamily="18" charset="2"/>
            </a:endParaRPr>
          </a:p>
          <a:p>
            <a:pPr marL="342900" indent="-342900">
              <a:spcBef>
                <a:spcPts val="600"/>
              </a:spcBef>
              <a:buClr>
                <a:schemeClr val="accent1"/>
              </a:buClr>
              <a:buSzPct val="80000"/>
              <a:defRPr/>
            </a:pPr>
            <a:r>
              <a:rPr kumimoji="1" lang="zh-CN" altLang="en-US" sz="2100" dirty="0">
                <a:latin typeface="Times New Roman" panose="02020603050405020304" pitchFamily="18" charset="0"/>
                <a:cs typeface="Times New Roman" panose="02020603050405020304" pitchFamily="18" charset="0"/>
                <a:sym typeface="Symbol" pitchFamily="18" charset="2"/>
              </a:rPr>
              <a:t>设</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e1</a:t>
            </a:r>
            <a:r>
              <a:rPr kumimoji="1" lang="zh-CN" altLang="en-US" sz="2100" dirty="0">
                <a:latin typeface="Times New Roman" panose="02020603050405020304" pitchFamily="18" charset="0"/>
                <a:cs typeface="Times New Roman" panose="02020603050405020304" pitchFamily="18" charset="0"/>
                <a:sym typeface="Symbol" pitchFamily="18" charset="2"/>
              </a:rPr>
              <a:t>和</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e2</a:t>
            </a:r>
            <a:r>
              <a:rPr kumimoji="1" lang="zh-CN" altLang="en-US" sz="2100" dirty="0">
                <a:latin typeface="Times New Roman" panose="02020603050405020304" pitchFamily="18" charset="0"/>
                <a:cs typeface="Times New Roman" panose="02020603050405020304" pitchFamily="18" charset="0"/>
                <a:sym typeface="Symbol" pitchFamily="18" charset="2"/>
              </a:rPr>
              <a:t>是</a:t>
            </a:r>
            <a:r>
              <a:rPr kumimoji="1" lang="zh-CN" altLang="en-US" sz="2000" b="1" dirty="0">
                <a:latin typeface="Times New Roman" panose="02020603050405020304" pitchFamily="18" charset="0"/>
                <a:cs typeface="Times New Roman" panose="02020603050405020304" pitchFamily="18" charset="0"/>
                <a:sym typeface="Symbol" pitchFamily="18" charset="2"/>
              </a:rPr>
              <a:t></a:t>
            </a:r>
            <a:r>
              <a:rPr kumimoji="1" lang="zh-CN" altLang="en-US" sz="2100" dirty="0">
                <a:latin typeface="Times New Roman" panose="02020603050405020304" pitchFamily="18" charset="0"/>
                <a:cs typeface="Times New Roman" panose="02020603050405020304" pitchFamily="18" charset="0"/>
                <a:sym typeface="Symbol" pitchFamily="18" charset="2"/>
              </a:rPr>
              <a:t>上的正则表达式，表示的正规集分别为</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L(e1)</a:t>
            </a:r>
            <a:r>
              <a:rPr kumimoji="1" lang="zh-CN" altLang="en-US" sz="2100" dirty="0">
                <a:latin typeface="Times New Roman" panose="02020603050405020304" pitchFamily="18" charset="0"/>
                <a:cs typeface="Times New Roman" panose="02020603050405020304" pitchFamily="18" charset="0"/>
                <a:sym typeface="Symbol" pitchFamily="18" charset="2"/>
              </a:rPr>
              <a:t>和</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L(e2)</a:t>
            </a:r>
            <a:r>
              <a:rPr kumimoji="1" lang="zh-CN" altLang="en-US" sz="2100" dirty="0">
                <a:latin typeface="Times New Roman" panose="02020603050405020304" pitchFamily="18" charset="0"/>
                <a:cs typeface="Times New Roman" panose="02020603050405020304" pitchFamily="18" charset="0"/>
                <a:sym typeface="Symbol" pitchFamily="18" charset="2"/>
              </a:rPr>
              <a:t>，则：</a:t>
            </a:r>
          </a:p>
          <a:p>
            <a:pPr marL="800100" lvl="1" indent="-342900">
              <a:spcBef>
                <a:spcPts val="600"/>
              </a:spcBef>
              <a:buClr>
                <a:schemeClr val="accent1"/>
              </a:buClr>
              <a:buSzPct val="80000"/>
              <a:defRPr/>
            </a:pPr>
            <a:r>
              <a:rPr kumimoji="1" lang="zh-CN" altLang="en-US" sz="2100" dirty="0">
                <a:solidFill>
                  <a:srgbClr val="0000FF"/>
                </a:solidFill>
                <a:latin typeface="Times New Roman" panose="02020603050405020304" pitchFamily="18" charset="0"/>
                <a:cs typeface="Times New Roman" panose="02020603050405020304" pitchFamily="18" charset="0"/>
                <a:sym typeface="Symbol" pitchFamily="18" charset="2"/>
              </a:rPr>
              <a:t> </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(e1)</a:t>
            </a:r>
            <a:r>
              <a:rPr kumimoji="1" lang="zh-CN" altLang="en-US" sz="2100" dirty="0">
                <a:latin typeface="Times New Roman" panose="02020603050405020304" pitchFamily="18" charset="0"/>
                <a:cs typeface="Times New Roman" panose="02020603050405020304" pitchFamily="18" charset="0"/>
                <a:sym typeface="Symbol" pitchFamily="18" charset="2"/>
              </a:rPr>
              <a:t>是正则表达式，它表示的正规集为</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L(e1)</a:t>
            </a:r>
            <a:endParaRPr kumimoji="1" lang="zh-CN" altLang="en-US" sz="2100" dirty="0">
              <a:solidFill>
                <a:srgbClr val="FF0000"/>
              </a:solidFill>
              <a:latin typeface="Times New Roman" panose="02020603050405020304" pitchFamily="18" charset="0"/>
              <a:cs typeface="Times New Roman" panose="02020603050405020304" pitchFamily="18" charset="0"/>
              <a:sym typeface="Symbol" pitchFamily="18" charset="2"/>
            </a:endParaRPr>
          </a:p>
          <a:p>
            <a:pPr marL="800100" lvl="1" indent="-342900">
              <a:spcBef>
                <a:spcPts val="600"/>
              </a:spcBef>
              <a:buClr>
                <a:schemeClr val="accent1"/>
              </a:buClr>
              <a:buSzPct val="80000"/>
              <a:defRPr/>
            </a:pPr>
            <a:r>
              <a:rPr kumimoji="1" lang="zh-CN" altLang="en-US" sz="2100" dirty="0">
                <a:solidFill>
                  <a:srgbClr val="0000FF"/>
                </a:solidFill>
                <a:latin typeface="Times New Roman" panose="02020603050405020304" pitchFamily="18" charset="0"/>
                <a:cs typeface="Times New Roman" panose="02020603050405020304" pitchFamily="18" charset="0"/>
                <a:sym typeface="Symbol" pitchFamily="18" charset="2"/>
              </a:rPr>
              <a:t> </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e1|e2</a:t>
            </a:r>
            <a:r>
              <a:rPr kumimoji="1" lang="zh-CN" altLang="en-US" sz="2100" dirty="0">
                <a:latin typeface="Times New Roman" panose="02020603050405020304" pitchFamily="18" charset="0"/>
                <a:cs typeface="Times New Roman" panose="02020603050405020304" pitchFamily="18" charset="0"/>
                <a:sym typeface="Symbol" pitchFamily="18" charset="2"/>
              </a:rPr>
              <a:t>是正则表达式，它表示的正规集为</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L(e1)∪L(e2)</a:t>
            </a:r>
            <a:endParaRPr kumimoji="1" lang="zh-CN" altLang="en-US" sz="2100" dirty="0">
              <a:solidFill>
                <a:srgbClr val="FF0000"/>
              </a:solidFill>
              <a:latin typeface="Times New Roman" panose="02020603050405020304" pitchFamily="18" charset="0"/>
              <a:cs typeface="Times New Roman" panose="02020603050405020304" pitchFamily="18" charset="0"/>
              <a:sym typeface="Symbol" pitchFamily="18" charset="2"/>
            </a:endParaRPr>
          </a:p>
          <a:p>
            <a:pPr marL="800100" lvl="1" indent="-342900">
              <a:spcBef>
                <a:spcPts val="600"/>
              </a:spcBef>
              <a:buClr>
                <a:schemeClr val="accent1"/>
              </a:buClr>
              <a:buSzPct val="80000"/>
              <a:defRPr/>
            </a:pPr>
            <a:r>
              <a:rPr kumimoji="1" lang="zh-CN" altLang="en-US" sz="2100" dirty="0">
                <a:solidFill>
                  <a:srgbClr val="0000FF"/>
                </a:solidFill>
                <a:latin typeface="Times New Roman" panose="02020603050405020304" pitchFamily="18" charset="0"/>
                <a:cs typeface="Times New Roman" panose="02020603050405020304" pitchFamily="18" charset="0"/>
                <a:sym typeface="Symbol" pitchFamily="18" charset="2"/>
              </a:rPr>
              <a:t> </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e1·e2</a:t>
            </a:r>
            <a:r>
              <a:rPr kumimoji="1" lang="zh-CN" altLang="en-US" sz="2100" dirty="0">
                <a:latin typeface="Times New Roman" panose="02020603050405020304" pitchFamily="18" charset="0"/>
                <a:cs typeface="Times New Roman" panose="02020603050405020304" pitchFamily="18" charset="0"/>
                <a:sym typeface="Symbol" pitchFamily="18" charset="2"/>
              </a:rPr>
              <a:t>是正则表达式，它表示的正规集为</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L(e1)L(e2)</a:t>
            </a:r>
            <a:endParaRPr kumimoji="1" lang="zh-CN" altLang="en-US" sz="2100" dirty="0">
              <a:solidFill>
                <a:srgbClr val="FF0000"/>
              </a:solidFill>
              <a:latin typeface="Times New Roman" panose="02020603050405020304" pitchFamily="18" charset="0"/>
              <a:cs typeface="Times New Roman" panose="02020603050405020304" pitchFamily="18" charset="0"/>
              <a:sym typeface="Symbol" pitchFamily="18" charset="2"/>
            </a:endParaRPr>
          </a:p>
          <a:p>
            <a:pPr marL="800100" lvl="1" indent="-342900">
              <a:spcBef>
                <a:spcPts val="600"/>
              </a:spcBef>
              <a:buClr>
                <a:schemeClr val="accent1"/>
              </a:buClr>
              <a:buSzPct val="80000"/>
              <a:defRPr/>
            </a:pPr>
            <a:r>
              <a:rPr kumimoji="1" lang="zh-CN" altLang="en-US" sz="2100" dirty="0">
                <a:solidFill>
                  <a:srgbClr val="0000FF"/>
                </a:solidFill>
                <a:latin typeface="Times New Roman" panose="02020603050405020304" pitchFamily="18" charset="0"/>
                <a:cs typeface="Times New Roman" panose="02020603050405020304" pitchFamily="18" charset="0"/>
                <a:sym typeface="Symbol" pitchFamily="18" charset="2"/>
              </a:rPr>
              <a:t> </a:t>
            </a:r>
            <a:r>
              <a:rPr kumimoji="1" lang="en-US" altLang="zh-CN" sz="2100" dirty="0">
                <a:solidFill>
                  <a:srgbClr val="0000FF"/>
                </a:solidFill>
                <a:latin typeface="Times New Roman" panose="02020603050405020304" pitchFamily="18" charset="0"/>
                <a:cs typeface="Times New Roman" panose="02020603050405020304" pitchFamily="18" charset="0"/>
                <a:sym typeface="Symbol" pitchFamily="18" charset="2"/>
              </a:rPr>
              <a:t>e1</a:t>
            </a:r>
            <a:r>
              <a:rPr kumimoji="1" lang="en-US" altLang="zh-CN" sz="2100" baseline="30000" dirty="0">
                <a:solidFill>
                  <a:srgbClr val="0000FF"/>
                </a:solidFill>
                <a:latin typeface="Times New Roman" panose="02020603050405020304" pitchFamily="18" charset="0"/>
                <a:cs typeface="Times New Roman" panose="02020603050405020304" pitchFamily="18" charset="0"/>
                <a:sym typeface="Symbol" pitchFamily="18" charset="2"/>
              </a:rPr>
              <a:t>*</a:t>
            </a:r>
            <a:r>
              <a:rPr kumimoji="1" lang="zh-CN" altLang="en-US" sz="2100" dirty="0">
                <a:latin typeface="Times New Roman" panose="02020603050405020304" pitchFamily="18" charset="0"/>
                <a:cs typeface="Times New Roman" panose="02020603050405020304" pitchFamily="18" charset="0"/>
                <a:sym typeface="Symbol" pitchFamily="18" charset="2"/>
              </a:rPr>
              <a:t>是正则表达式，它表示的正规集为 </a:t>
            </a:r>
            <a:r>
              <a:rPr kumimoji="1" lang="en-US" altLang="zh-CN" sz="2100" dirty="0">
                <a:solidFill>
                  <a:srgbClr val="FF0000"/>
                </a:solidFill>
                <a:latin typeface="Times New Roman" panose="02020603050405020304" pitchFamily="18" charset="0"/>
                <a:cs typeface="Times New Roman" panose="02020603050405020304" pitchFamily="18" charset="0"/>
                <a:sym typeface="Symbol" pitchFamily="18" charset="2"/>
              </a:rPr>
              <a:t>(L(e1))</a:t>
            </a:r>
            <a:r>
              <a:rPr kumimoji="1" lang="en-US" altLang="zh-CN" sz="2100" baseline="30000" dirty="0">
                <a:solidFill>
                  <a:srgbClr val="FF0000"/>
                </a:solidFill>
                <a:latin typeface="Times New Roman" panose="02020603050405020304" pitchFamily="18" charset="0"/>
                <a:cs typeface="Times New Roman" panose="02020603050405020304" pitchFamily="18" charset="0"/>
                <a:sym typeface="Symbol" pitchFamily="18" charset="2"/>
              </a:rPr>
              <a:t>*</a:t>
            </a:r>
            <a:endParaRPr kumimoji="1" lang="zh-CN" altLang="en-US" sz="2100" dirty="0">
              <a:solidFill>
                <a:srgbClr val="FF0000"/>
              </a:solidFill>
              <a:latin typeface="Times New Roman" panose="02020603050405020304" pitchFamily="18" charset="0"/>
              <a:cs typeface="Times New Roman" panose="02020603050405020304" pitchFamily="18" charset="0"/>
              <a:sym typeface="Symbol" pitchFamily="18" charset="2"/>
            </a:endParaRPr>
          </a:p>
          <a:p>
            <a:pPr marL="342900" indent="-342900">
              <a:spcBef>
                <a:spcPct val="40000"/>
              </a:spcBef>
              <a:defRPr/>
            </a:pPr>
            <a:r>
              <a:rPr lang="zh-CN" altLang="en-US" sz="2100" dirty="0">
                <a:latin typeface="Times New Roman" panose="02020603050405020304" pitchFamily="18" charset="0"/>
                <a:cs typeface="Times New Roman" panose="02020603050405020304" pitchFamily="18" charset="0"/>
                <a:sym typeface="Symbol" pitchFamily="18" charset="2"/>
              </a:rPr>
              <a:t>有限次使用上述步骤而定义的表达式是上的</a:t>
            </a:r>
            <a:r>
              <a:rPr lang="zh-CN" altLang="en-US" sz="2100" b="1" dirty="0">
                <a:solidFill>
                  <a:srgbClr val="00B050"/>
                </a:solidFill>
                <a:latin typeface="Times New Roman" panose="02020603050405020304" pitchFamily="18" charset="0"/>
                <a:cs typeface="Times New Roman" panose="02020603050405020304" pitchFamily="18" charset="0"/>
                <a:sym typeface="Symbol" pitchFamily="18" charset="2"/>
              </a:rPr>
              <a:t>正则表达式</a:t>
            </a:r>
            <a:r>
              <a:rPr lang="zh-CN" altLang="en-US" sz="2100" dirty="0">
                <a:latin typeface="Times New Roman" panose="02020603050405020304" pitchFamily="18" charset="0"/>
                <a:cs typeface="Times New Roman" panose="02020603050405020304" pitchFamily="18" charset="0"/>
                <a:sym typeface="Symbol" pitchFamily="18" charset="2"/>
              </a:rPr>
              <a:t>，仅由这些正则表达式所表示的集合才是上的</a:t>
            </a:r>
            <a:r>
              <a:rPr lang="zh-CN" altLang="en-US" sz="2100" b="1" dirty="0">
                <a:solidFill>
                  <a:srgbClr val="00B050"/>
                </a:solidFill>
                <a:latin typeface="Times New Roman" panose="02020603050405020304" pitchFamily="18" charset="0"/>
                <a:cs typeface="Times New Roman" panose="02020603050405020304" pitchFamily="18" charset="0"/>
                <a:sym typeface="Symbol" pitchFamily="18" charset="2"/>
              </a:rPr>
              <a:t>正规集</a:t>
            </a:r>
            <a:endParaRPr lang="zh-CN" altLang="en-US" dirty="0"/>
          </a:p>
        </p:txBody>
      </p:sp>
      <p:sp>
        <p:nvSpPr>
          <p:cNvPr id="3" name="标题 2"/>
          <p:cNvSpPr>
            <a:spLocks noGrp="1"/>
          </p:cNvSpPr>
          <p:nvPr>
            <p:ph type="title"/>
          </p:nvPr>
        </p:nvSpPr>
        <p:spPr>
          <a:xfrm>
            <a:off x="107504" y="534932"/>
            <a:ext cx="8229600" cy="576064"/>
          </a:xfrm>
        </p:spPr>
        <p:txBody>
          <a:bodyPr>
            <a:normAutofit/>
          </a:bodyPr>
          <a:lstStyle/>
          <a:p>
            <a:r>
              <a:rPr kumimoji="1" lang="zh-CN" altLang="en-US" sz="2800" dirty="0">
                <a:latin typeface="Times New Roman" panose="02020603050405020304" pitchFamily="18" charset="0"/>
                <a:cs typeface="Times New Roman" panose="02020603050405020304" pitchFamily="18" charset="0"/>
              </a:rPr>
              <a:t>正则表达式和正规集的递归定义：（设字母</a:t>
            </a:r>
            <a:r>
              <a:rPr kumimoji="1" lang="zh-CN" altLang="en-US" sz="2800" dirty="0">
                <a:latin typeface="Times New Roman" panose="02020603050405020304" pitchFamily="18" charset="0"/>
                <a:cs typeface="Times New Roman" panose="02020603050405020304" pitchFamily="18" charset="0"/>
                <a:sym typeface="Symbol" pitchFamily="18" charset="2"/>
              </a:rPr>
              <a:t>表</a:t>
            </a:r>
            <a:r>
              <a:rPr kumimoji="1" lang="zh-CN" altLang="en-US" sz="2800" dirty="0">
                <a:latin typeface="Times New Roman" panose="02020603050405020304" pitchFamily="18" charset="0"/>
                <a:cs typeface="Times New Roman" panose="02020603050405020304" pitchFamily="18" charset="0"/>
              </a:rPr>
              <a:t>为</a:t>
            </a:r>
            <a:r>
              <a:rPr kumimoji="1" lang="zh-CN" altLang="en-US" sz="2800" dirty="0">
                <a:latin typeface="Times New Roman" panose="02020603050405020304" pitchFamily="18" charset="0"/>
                <a:cs typeface="Times New Roman" panose="02020603050405020304" pitchFamily="18" charset="0"/>
                <a:sym typeface="Symbol" pitchFamily="18" charset="2"/>
              </a:rPr>
              <a:t>）</a:t>
            </a:r>
            <a:endParaRPr lang="zh-CN" altLang="en-US" sz="2800" dirty="0"/>
          </a:p>
        </p:txBody>
      </p:sp>
    </p:spTree>
    <p:extLst>
      <p:ext uri="{BB962C8B-B14F-4D97-AF65-F5344CB8AC3E}">
        <p14:creationId xmlns:p14="http://schemas.microsoft.com/office/powerpoint/2010/main" val="408779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pPr eaLnBrk="1" hangingPunct="1"/>
            <a:endParaRPr lang="zh-CN" altLang="zh-CN" sz="4000" b="1"/>
          </a:p>
        </p:txBody>
      </p:sp>
      <p:sp>
        <p:nvSpPr>
          <p:cNvPr id="38915" name="Rectangle 3"/>
          <p:cNvSpPr>
            <a:spLocks noChangeArrowheads="1"/>
          </p:cNvSpPr>
          <p:nvPr/>
        </p:nvSpPr>
        <p:spPr bwMode="auto">
          <a:xfrm>
            <a:off x="1524000" y="1428751"/>
            <a:ext cx="6934200" cy="94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90000"/>
              </a:lnSpc>
              <a:spcBef>
                <a:spcPct val="50000"/>
              </a:spcBef>
              <a:buClr>
                <a:schemeClr val="accent1"/>
              </a:buClr>
              <a:buSzPct val="80000"/>
              <a:buFont typeface="Wingdings" pitchFamily="2" charset="2"/>
              <a:buNone/>
            </a:pPr>
            <a:r>
              <a:rPr kumimoji="1" lang="en-US" altLang="zh-CN" sz="2400" b="1"/>
              <a:t> </a:t>
            </a:r>
            <a:r>
              <a:rPr kumimoji="1" lang="en-US" altLang="zh-CN" sz="2400" b="1">
                <a:sym typeface="Symbol" pitchFamily="18" charset="2"/>
              </a:rPr>
              <a:t></a:t>
            </a:r>
            <a:r>
              <a:rPr kumimoji="1" lang="en-US" altLang="zh-CN" sz="2400" b="1">
                <a:latin typeface="Times New Roman" pitchFamily="18" charset="0"/>
                <a:sym typeface="Symbol" pitchFamily="18" charset="2"/>
              </a:rPr>
              <a:t>——</a:t>
            </a:r>
            <a:r>
              <a:rPr kumimoji="1" lang="zh-CN" altLang="en-US" sz="2400" b="1">
                <a:sym typeface="Symbol" pitchFamily="18" charset="2"/>
              </a:rPr>
              <a:t>或</a:t>
            </a:r>
            <a:r>
              <a:rPr kumimoji="1" lang="zh-CN" altLang="en-US" sz="2400" b="1"/>
              <a:t>；</a:t>
            </a:r>
            <a:r>
              <a:rPr kumimoji="1" lang="zh-CN" altLang="en-US" sz="2400" b="1">
                <a:sym typeface="Symbol" pitchFamily="18" charset="2"/>
              </a:rPr>
              <a:t> </a:t>
            </a:r>
            <a:r>
              <a:rPr kumimoji="1" lang="en-US" altLang="zh-CN" sz="2400" b="1">
                <a:latin typeface="Times New Roman" pitchFamily="18" charset="0"/>
              </a:rPr>
              <a:t>——</a:t>
            </a:r>
            <a:r>
              <a:rPr kumimoji="1" lang="zh-CN" altLang="en-US" sz="2400" b="1"/>
              <a:t>连接；</a:t>
            </a:r>
            <a:r>
              <a:rPr kumimoji="1" lang="zh-CN" altLang="en-US" sz="2400" b="1">
                <a:sym typeface="Symbol" pitchFamily="18" charset="2"/>
              </a:rPr>
              <a:t> </a:t>
            </a:r>
            <a:r>
              <a:rPr kumimoji="1" lang="en-US" altLang="zh-CN" sz="2400" b="1">
                <a:latin typeface="Times New Roman" pitchFamily="18" charset="0"/>
              </a:rPr>
              <a:t>——</a:t>
            </a:r>
            <a:r>
              <a:rPr kumimoji="1" lang="zh-CN" altLang="en-US" sz="2400" b="1"/>
              <a:t>闭包</a:t>
            </a:r>
          </a:p>
          <a:p>
            <a:pPr eaLnBrk="1" hangingPunct="1">
              <a:lnSpc>
                <a:spcPct val="90000"/>
              </a:lnSpc>
              <a:spcBef>
                <a:spcPct val="50000"/>
              </a:spcBef>
              <a:buClr>
                <a:schemeClr val="accent1"/>
              </a:buClr>
              <a:buSzPct val="80000"/>
              <a:buFont typeface="Wingdings" pitchFamily="2" charset="2"/>
              <a:buNone/>
            </a:pPr>
            <a:r>
              <a:rPr kumimoji="1" lang="zh-CN" altLang="en-US" sz="2400" b="1"/>
              <a:t>    规定优先顺序为“</a:t>
            </a:r>
            <a:r>
              <a:rPr kumimoji="1" lang="zh-CN" altLang="en-US" sz="2400" b="1">
                <a:sym typeface="Symbol" pitchFamily="18" charset="2"/>
              </a:rPr>
              <a:t></a:t>
            </a:r>
            <a:r>
              <a:rPr kumimoji="1" lang="zh-CN" altLang="en-US" sz="2400" b="1"/>
              <a:t>”、“</a:t>
            </a:r>
            <a:r>
              <a:rPr kumimoji="1" lang="zh-CN" altLang="en-US" sz="2400" b="1">
                <a:sym typeface="Symbol" pitchFamily="18" charset="2"/>
              </a:rPr>
              <a:t></a:t>
            </a:r>
            <a:r>
              <a:rPr kumimoji="1" lang="zh-CN" altLang="en-US" sz="2400" b="1"/>
              <a:t> ”、“</a:t>
            </a:r>
            <a:r>
              <a:rPr kumimoji="1" lang="zh-CN" altLang="en-US" sz="2400" b="1">
                <a:sym typeface="Symbol" pitchFamily="18" charset="2"/>
              </a:rPr>
              <a:t>”</a:t>
            </a:r>
            <a:r>
              <a:rPr kumimoji="1" lang="zh-CN" altLang="en-US" sz="2400" b="1"/>
              <a:t> </a:t>
            </a:r>
          </a:p>
        </p:txBody>
      </p:sp>
      <p:sp>
        <p:nvSpPr>
          <p:cNvPr id="156676" name="Text Box 4"/>
          <p:cNvSpPr txBox="1">
            <a:spLocks noChangeArrowheads="1"/>
          </p:cNvSpPr>
          <p:nvPr/>
        </p:nvSpPr>
        <p:spPr bwMode="auto">
          <a:xfrm>
            <a:off x="1752600" y="2651523"/>
            <a:ext cx="21852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b="1">
                <a:latin typeface="Times New Roman" pitchFamily="18" charset="0"/>
              </a:rPr>
              <a:t>(a)|((b)*(c))</a:t>
            </a:r>
          </a:p>
        </p:txBody>
      </p:sp>
      <p:sp>
        <p:nvSpPr>
          <p:cNvPr id="156677" name="AutoShape 5"/>
          <p:cNvSpPr>
            <a:spLocks noChangeArrowheads="1"/>
          </p:cNvSpPr>
          <p:nvPr/>
        </p:nvSpPr>
        <p:spPr bwMode="auto">
          <a:xfrm>
            <a:off x="4267200" y="2857500"/>
            <a:ext cx="762000" cy="114300"/>
          </a:xfrm>
          <a:prstGeom prst="rightArrow">
            <a:avLst>
              <a:gd name="adj1" fmla="val 50000"/>
              <a:gd name="adj2" fmla="val 12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156678" name="Text Box 6"/>
          <p:cNvSpPr txBox="1">
            <a:spLocks noChangeArrowheads="1"/>
          </p:cNvSpPr>
          <p:nvPr/>
        </p:nvSpPr>
        <p:spPr bwMode="auto">
          <a:xfrm>
            <a:off x="5334000" y="2651523"/>
            <a:ext cx="10951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b="1">
                <a:latin typeface="Times New Roman" pitchFamily="18" charset="0"/>
              </a:rPr>
              <a:t>a|b*c</a:t>
            </a:r>
          </a:p>
        </p:txBody>
      </p:sp>
    </p:spTree>
    <p:extLst>
      <p:ext uri="{BB962C8B-B14F-4D97-AF65-F5344CB8AC3E}">
        <p14:creationId xmlns:p14="http://schemas.microsoft.com/office/powerpoint/2010/main" val="1621526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6676"/>
                                        </p:tgtEl>
                                        <p:attrNameLst>
                                          <p:attrName>style.visibility</p:attrName>
                                        </p:attrNameLst>
                                      </p:cBhvr>
                                      <p:to>
                                        <p:strVal val="visible"/>
                                      </p:to>
                                    </p:set>
                                    <p:anim calcmode="lin" valueType="num">
                                      <p:cBhvr additive="base">
                                        <p:cTn id="7" dur="500" fill="hold"/>
                                        <p:tgtEl>
                                          <p:spTgt spid="156676"/>
                                        </p:tgtEl>
                                        <p:attrNameLst>
                                          <p:attrName>ppt_x</p:attrName>
                                        </p:attrNameLst>
                                      </p:cBhvr>
                                      <p:tavLst>
                                        <p:tav tm="0">
                                          <p:val>
                                            <p:strVal val="0-#ppt_w/2"/>
                                          </p:val>
                                        </p:tav>
                                        <p:tav tm="100000">
                                          <p:val>
                                            <p:strVal val="#ppt_x"/>
                                          </p:val>
                                        </p:tav>
                                      </p:tavLst>
                                    </p:anim>
                                    <p:anim calcmode="lin" valueType="num">
                                      <p:cBhvr additive="base">
                                        <p:cTn id="8" dur="500" fill="hold"/>
                                        <p:tgtEl>
                                          <p:spTgt spid="1566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6677"/>
                                        </p:tgtEl>
                                        <p:attrNameLst>
                                          <p:attrName>style.visibility</p:attrName>
                                        </p:attrNameLst>
                                      </p:cBhvr>
                                      <p:to>
                                        <p:strVal val="visible"/>
                                      </p:to>
                                    </p:set>
                                    <p:anim calcmode="lin" valueType="num">
                                      <p:cBhvr additive="base">
                                        <p:cTn id="13" dur="500" fill="hold"/>
                                        <p:tgtEl>
                                          <p:spTgt spid="156677"/>
                                        </p:tgtEl>
                                        <p:attrNameLst>
                                          <p:attrName>ppt_x</p:attrName>
                                        </p:attrNameLst>
                                      </p:cBhvr>
                                      <p:tavLst>
                                        <p:tav tm="0">
                                          <p:val>
                                            <p:strVal val="0-#ppt_w/2"/>
                                          </p:val>
                                        </p:tav>
                                        <p:tav tm="100000">
                                          <p:val>
                                            <p:strVal val="#ppt_x"/>
                                          </p:val>
                                        </p:tav>
                                      </p:tavLst>
                                    </p:anim>
                                    <p:anim calcmode="lin" valueType="num">
                                      <p:cBhvr additive="base">
                                        <p:cTn id="14" dur="500" fill="hold"/>
                                        <p:tgtEl>
                                          <p:spTgt spid="15667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6678"/>
                                        </p:tgtEl>
                                        <p:attrNameLst>
                                          <p:attrName>style.visibility</p:attrName>
                                        </p:attrNameLst>
                                      </p:cBhvr>
                                      <p:to>
                                        <p:strVal val="visible"/>
                                      </p:to>
                                    </p:set>
                                    <p:anim calcmode="lin" valueType="num">
                                      <p:cBhvr additive="base">
                                        <p:cTn id="19" dur="500" fill="hold"/>
                                        <p:tgtEl>
                                          <p:spTgt spid="156678"/>
                                        </p:tgtEl>
                                        <p:attrNameLst>
                                          <p:attrName>ppt_x</p:attrName>
                                        </p:attrNameLst>
                                      </p:cBhvr>
                                      <p:tavLst>
                                        <p:tav tm="0">
                                          <p:val>
                                            <p:strVal val="0-#ppt_w/2"/>
                                          </p:val>
                                        </p:tav>
                                        <p:tav tm="100000">
                                          <p:val>
                                            <p:strVal val="#ppt_x"/>
                                          </p:val>
                                        </p:tav>
                                      </p:tavLst>
                                    </p:anim>
                                    <p:anim calcmode="lin" valueType="num">
                                      <p:cBhvr additive="base">
                                        <p:cTn id="20" dur="500" fill="hold"/>
                                        <p:tgtEl>
                                          <p:spTgt spid="1566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autoUpdateAnimBg="0"/>
      <p:bldP spid="156677" grpId="0" animBg="1"/>
      <p:bldP spid="156678"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54014" y="158354"/>
            <a:ext cx="8535987" cy="857250"/>
          </a:xfrm>
        </p:spPr>
        <p:txBody>
          <a:bodyPr>
            <a:normAutofit/>
          </a:bodyPr>
          <a:lstStyle/>
          <a:p>
            <a:pPr marL="989013" indent="-989013" algn="l" eaLnBrk="1" hangingPunct="1"/>
            <a:r>
              <a:rPr lang="zh-CN" altLang="en-US" sz="2400" b="0" dirty="0">
                <a:solidFill>
                  <a:schemeClr val="tx1"/>
                </a:solidFill>
                <a:effectLst/>
                <a:latin typeface="宋体" panose="02010600030101010101" pitchFamily="2" charset="-122"/>
                <a:ea typeface="宋体" panose="02010600030101010101" pitchFamily="2" charset="-122"/>
              </a:rPr>
              <a:t>例</a:t>
            </a:r>
            <a:r>
              <a:rPr lang="en-US" altLang="zh-CN" sz="2400" b="0" dirty="0">
                <a:solidFill>
                  <a:schemeClr val="tx1"/>
                </a:solidFill>
                <a:effectLst/>
                <a:latin typeface="宋体" panose="02010600030101010101" pitchFamily="2" charset="-122"/>
                <a:ea typeface="宋体" panose="02010600030101010101" pitchFamily="2" charset="-122"/>
              </a:rPr>
              <a:t>1</a:t>
            </a:r>
            <a:r>
              <a:rPr lang="zh-CN" altLang="en-US" sz="2400" b="0" dirty="0">
                <a:solidFill>
                  <a:schemeClr val="tx1"/>
                </a:solidFill>
                <a:effectLst/>
                <a:latin typeface="宋体" panose="02010600030101010101" pitchFamily="2" charset="-122"/>
                <a:ea typeface="宋体" panose="02010600030101010101" pitchFamily="2" charset="-122"/>
              </a:rPr>
              <a:t>：令</a:t>
            </a:r>
            <a:r>
              <a:rPr lang="zh-CN" altLang="en-US" sz="2400" b="0" dirty="0">
                <a:solidFill>
                  <a:schemeClr val="tx1"/>
                </a:solidFill>
                <a:effectLst/>
                <a:latin typeface="宋体" panose="02010600030101010101" pitchFamily="2" charset="-122"/>
                <a:ea typeface="宋体" panose="02010600030101010101" pitchFamily="2" charset="-122"/>
                <a:sym typeface="Symbol" pitchFamily="18" charset="2"/>
              </a:rPr>
              <a:t></a:t>
            </a:r>
            <a:r>
              <a:rPr lang="en-US" altLang="zh-CN" sz="2400" b="0" dirty="0">
                <a:solidFill>
                  <a:schemeClr val="tx1"/>
                </a:solidFill>
                <a:effectLst/>
                <a:latin typeface="宋体" panose="02010600030101010101" pitchFamily="2" charset="-122"/>
                <a:ea typeface="宋体" panose="02010600030101010101" pitchFamily="2" charset="-122"/>
                <a:sym typeface="Symbol" pitchFamily="18" charset="2"/>
              </a:rPr>
              <a:t>={a</a:t>
            </a:r>
            <a:r>
              <a:rPr lang="zh-CN" altLang="en-US" sz="2400" b="0" dirty="0">
                <a:solidFill>
                  <a:schemeClr val="tx1"/>
                </a:solidFill>
                <a:effectLst/>
                <a:latin typeface="宋体" panose="02010600030101010101" pitchFamily="2" charset="-122"/>
                <a:ea typeface="宋体" panose="02010600030101010101" pitchFamily="2" charset="-122"/>
                <a:sym typeface="Symbol" pitchFamily="18" charset="2"/>
              </a:rPr>
              <a:t>，</a:t>
            </a:r>
            <a:r>
              <a:rPr lang="en-US" altLang="zh-CN" sz="2400" b="0" dirty="0">
                <a:solidFill>
                  <a:schemeClr val="tx1"/>
                </a:solidFill>
                <a:effectLst/>
                <a:latin typeface="宋体" panose="02010600030101010101" pitchFamily="2" charset="-122"/>
                <a:ea typeface="宋体" panose="02010600030101010101" pitchFamily="2" charset="-122"/>
                <a:sym typeface="Symbol" pitchFamily="18" charset="2"/>
              </a:rPr>
              <a:t>b}</a:t>
            </a:r>
            <a:r>
              <a:rPr lang="zh-CN" altLang="en-US" sz="2400" b="0" dirty="0">
                <a:solidFill>
                  <a:schemeClr val="tx1"/>
                </a:solidFill>
                <a:effectLst/>
                <a:latin typeface="宋体" panose="02010600030101010101" pitchFamily="2" charset="-122"/>
                <a:ea typeface="宋体" panose="02010600030101010101" pitchFamily="2" charset="-122"/>
                <a:sym typeface="Symbol" pitchFamily="18" charset="2"/>
              </a:rPr>
              <a:t>， 上的正则表达式和相应的正规集</a:t>
            </a:r>
          </a:p>
        </p:txBody>
      </p:sp>
      <p:graphicFrame>
        <p:nvGraphicFramePr>
          <p:cNvPr id="17465" name="Group 57"/>
          <p:cNvGraphicFramePr>
            <a:graphicFrameLocks noGrp="1"/>
          </p:cNvGraphicFramePr>
          <p:nvPr>
            <p:extLst>
              <p:ext uri="{D42A27DB-BD31-4B8C-83A1-F6EECF244321}">
                <p14:modId xmlns:p14="http://schemas.microsoft.com/office/powerpoint/2010/main" val="3475971891"/>
              </p:ext>
            </p:extLst>
          </p:nvPr>
        </p:nvGraphicFramePr>
        <p:xfrm>
          <a:off x="395536" y="987574"/>
          <a:ext cx="8375650" cy="3451619"/>
        </p:xfrm>
        <a:graphic>
          <a:graphicData uri="http://schemas.openxmlformats.org/drawingml/2006/table">
            <a:tbl>
              <a:tblPr/>
              <a:tblGrid>
                <a:gridCol w="266065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42971">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正则表达式</a:t>
                      </a: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1"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正规集</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70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70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ab</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70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ab</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70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ab</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ab</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70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a:t>
                      </a:r>
                      <a:r>
                        <a:rPr kumimoji="0" lang="en-US" altLang="zh-CN" sz="1800" b="0" i="0" u="none" strike="noStrike" cap="none" normalizeH="0" baseline="3000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70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ba</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8224">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ab</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800" b="0" i="0" u="none" strike="noStrike" cap="none" normalizeH="0" baseline="3000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224">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a|b</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aa|bb</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a|b</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矩形 1"/>
          <p:cNvSpPr/>
          <p:nvPr/>
        </p:nvSpPr>
        <p:spPr>
          <a:xfrm>
            <a:off x="3043313" y="1347614"/>
            <a:ext cx="466794" cy="369332"/>
          </a:xfrm>
          <a:prstGeom prst="rect">
            <a:avLst/>
          </a:prstGeom>
        </p:spPr>
        <p:txBody>
          <a:bodyPr wrap="none">
            <a:spAutoFit/>
          </a:bodyPr>
          <a:lstStyle/>
          <a:p>
            <a:pPr lvl="0" fontAlgn="base">
              <a:spcBef>
                <a:spcPct val="20000"/>
              </a:spcBef>
              <a:spcAft>
                <a:spcPct val="0"/>
              </a:spcAft>
            </a:pPr>
            <a:r>
              <a:rPr lang="en-US" altLang="zh-CN" dirty="0">
                <a:latin typeface="Arial" panose="020B0604020202020204" pitchFamily="34" charset="0"/>
                <a:ea typeface="宋体" panose="02010600030101010101" pitchFamily="2" charset="-122"/>
                <a:sym typeface="Symbol" panose="05050102010706020507" pitchFamily="18" charset="2"/>
              </a:rPr>
              <a:t>{a}</a:t>
            </a:r>
          </a:p>
        </p:txBody>
      </p:sp>
      <p:sp>
        <p:nvSpPr>
          <p:cNvPr id="3" name="矩形 2"/>
          <p:cNvSpPr/>
          <p:nvPr/>
        </p:nvSpPr>
        <p:spPr>
          <a:xfrm>
            <a:off x="3043313" y="1726590"/>
            <a:ext cx="659155" cy="369332"/>
          </a:xfrm>
          <a:prstGeom prst="rect">
            <a:avLst/>
          </a:prstGeom>
        </p:spPr>
        <p:txBody>
          <a:bodyPr wrap="none">
            <a:spAutoFit/>
          </a:bodyPr>
          <a:lstStyle/>
          <a:p>
            <a:pPr lvl="0" fontAlgn="base">
              <a:spcBef>
                <a:spcPct val="20000"/>
              </a:spcBef>
              <a:spcAft>
                <a:spcPct val="0"/>
              </a:spcAft>
            </a:pPr>
            <a:r>
              <a:rPr lang="en-US" altLang="zh-CN" dirty="0">
                <a:latin typeface="Arial" panose="020B0604020202020204" pitchFamily="34" charset="0"/>
                <a:ea typeface="宋体" panose="02010600030101010101" pitchFamily="2" charset="-122"/>
                <a:sym typeface="Symbol" panose="05050102010706020507" pitchFamily="18" charset="2"/>
              </a:rPr>
              <a:t>{</a:t>
            </a:r>
            <a:r>
              <a:rPr lang="en-US" altLang="zh-CN" dirty="0" err="1">
                <a:latin typeface="Arial" panose="020B0604020202020204" pitchFamily="34" charset="0"/>
                <a:ea typeface="宋体" panose="02010600030101010101" pitchFamily="2" charset="-122"/>
                <a:sym typeface="Symbol" panose="05050102010706020507" pitchFamily="18" charset="2"/>
              </a:rPr>
              <a:t>a,b</a:t>
            </a:r>
            <a:r>
              <a:rPr lang="en-US" altLang="zh-CN" dirty="0">
                <a:latin typeface="Arial" panose="020B0604020202020204" pitchFamily="34" charset="0"/>
                <a:ea typeface="宋体" panose="02010600030101010101" pitchFamily="2" charset="-122"/>
                <a:sym typeface="Symbol" panose="05050102010706020507" pitchFamily="18" charset="2"/>
              </a:rPr>
              <a:t>}</a:t>
            </a:r>
          </a:p>
        </p:txBody>
      </p:sp>
      <p:sp>
        <p:nvSpPr>
          <p:cNvPr id="4" name="矩形 3"/>
          <p:cNvSpPr/>
          <p:nvPr/>
        </p:nvSpPr>
        <p:spPr>
          <a:xfrm>
            <a:off x="3043313" y="2095922"/>
            <a:ext cx="595035" cy="369332"/>
          </a:xfrm>
          <a:prstGeom prst="rect">
            <a:avLst/>
          </a:prstGeom>
        </p:spPr>
        <p:txBody>
          <a:bodyPr wrap="none">
            <a:spAutoFit/>
          </a:bodyPr>
          <a:lstStyle/>
          <a:p>
            <a:pPr lvl="0" fontAlgn="base">
              <a:spcBef>
                <a:spcPct val="20000"/>
              </a:spcBef>
              <a:spcAft>
                <a:spcPct val="0"/>
              </a:spcAft>
            </a:pPr>
            <a:r>
              <a:rPr lang="en-US" altLang="zh-CN" dirty="0">
                <a:latin typeface="Arial" panose="020B0604020202020204" pitchFamily="34" charset="0"/>
                <a:ea typeface="宋体" panose="02010600030101010101" pitchFamily="2" charset="-122"/>
                <a:sym typeface="Symbol" panose="05050102010706020507" pitchFamily="18" charset="2"/>
              </a:rPr>
              <a:t>{ab}</a:t>
            </a:r>
            <a:endParaRPr lang="en-US" altLang="zh-CN" dirty="0">
              <a:latin typeface="Arial" panose="020B0604020202020204" pitchFamily="34" charset="0"/>
              <a:ea typeface="宋体" panose="02010600030101010101" pitchFamily="2" charset="-122"/>
            </a:endParaRPr>
          </a:p>
        </p:txBody>
      </p:sp>
      <p:sp>
        <p:nvSpPr>
          <p:cNvPr id="5" name="矩形 4"/>
          <p:cNvSpPr/>
          <p:nvPr/>
        </p:nvSpPr>
        <p:spPr>
          <a:xfrm>
            <a:off x="3043313" y="2465254"/>
            <a:ext cx="1556836" cy="369332"/>
          </a:xfrm>
          <a:prstGeom prst="rect">
            <a:avLst/>
          </a:prstGeom>
        </p:spPr>
        <p:txBody>
          <a:bodyPr wrap="none">
            <a:spAutoFit/>
          </a:bodyPr>
          <a:lstStyle/>
          <a:p>
            <a:pPr lvl="0" fontAlgn="base">
              <a:spcBef>
                <a:spcPct val="20000"/>
              </a:spcBef>
              <a:spcAft>
                <a:spcPct val="0"/>
              </a:spcAft>
            </a:pPr>
            <a:r>
              <a:rPr lang="en-US" altLang="zh-CN" dirty="0">
                <a:latin typeface="Arial" panose="020B0604020202020204" pitchFamily="34" charset="0"/>
                <a:ea typeface="宋体" panose="02010600030101010101" pitchFamily="2" charset="-122"/>
                <a:sym typeface="Symbol" panose="05050102010706020507" pitchFamily="18" charset="2"/>
              </a:rPr>
              <a:t>{</a:t>
            </a:r>
            <a:r>
              <a:rPr lang="en-US" altLang="zh-CN" dirty="0" err="1">
                <a:latin typeface="Arial" panose="020B0604020202020204" pitchFamily="34" charset="0"/>
                <a:ea typeface="宋体" panose="02010600030101010101" pitchFamily="2" charset="-122"/>
                <a:sym typeface="Symbol" panose="05050102010706020507" pitchFamily="18" charset="2"/>
              </a:rPr>
              <a:t>aa,ab,ba,bb</a:t>
            </a:r>
            <a:r>
              <a:rPr lang="en-US" altLang="zh-CN" dirty="0">
                <a:latin typeface="Arial" panose="020B0604020202020204" pitchFamily="34" charset="0"/>
                <a:ea typeface="宋体" panose="02010600030101010101" pitchFamily="2" charset="-122"/>
                <a:sym typeface="Symbol" panose="05050102010706020507" pitchFamily="18" charset="2"/>
              </a:rPr>
              <a:t>}</a:t>
            </a:r>
            <a:endParaRPr lang="en-US" altLang="zh-CN" dirty="0">
              <a:latin typeface="Arial" panose="020B0604020202020204" pitchFamily="34" charset="0"/>
              <a:ea typeface="宋体" panose="02010600030101010101" pitchFamily="2" charset="-122"/>
            </a:endParaRPr>
          </a:p>
        </p:txBody>
      </p:sp>
      <p:sp>
        <p:nvSpPr>
          <p:cNvPr id="6" name="矩形 5"/>
          <p:cNvSpPr/>
          <p:nvPr/>
        </p:nvSpPr>
        <p:spPr>
          <a:xfrm>
            <a:off x="3043313" y="2859782"/>
            <a:ext cx="4530407" cy="369332"/>
          </a:xfrm>
          <a:prstGeom prst="rect">
            <a:avLst/>
          </a:prstGeom>
        </p:spPr>
        <p:txBody>
          <a:bodyPr wrap="none">
            <a:spAutoFit/>
          </a:bodyPr>
          <a:lstStyle/>
          <a:p>
            <a:pPr lvl="0" fontAlgn="base">
              <a:spcBef>
                <a:spcPct val="20000"/>
              </a:spcBef>
              <a:spcAft>
                <a:spcPct val="0"/>
              </a:spcAft>
            </a:pPr>
            <a:r>
              <a:rPr lang="en-US" altLang="zh-CN" dirty="0">
                <a:latin typeface="Arial" panose="020B0604020202020204" pitchFamily="34" charset="0"/>
                <a:ea typeface="宋体" panose="02010600030101010101" pitchFamily="2" charset="-122"/>
                <a:sym typeface="Symbol" panose="05050102010706020507" pitchFamily="18" charset="2"/>
              </a:rPr>
              <a:t>{ ,</a:t>
            </a:r>
            <a:r>
              <a:rPr lang="en-US" altLang="zh-CN" dirty="0" err="1">
                <a:latin typeface="Arial" panose="020B0604020202020204" pitchFamily="34" charset="0"/>
                <a:ea typeface="宋体" panose="02010600030101010101" pitchFamily="2" charset="-122"/>
                <a:sym typeface="Symbol" panose="05050102010706020507" pitchFamily="18" charset="2"/>
              </a:rPr>
              <a:t>a,aa</a:t>
            </a:r>
            <a:r>
              <a:rPr lang="en-US" altLang="zh-CN" dirty="0">
                <a:latin typeface="Arial" panose="020B0604020202020204" pitchFamily="34" charset="0"/>
                <a:ea typeface="宋体" panose="02010600030101010101" pitchFamily="2" charset="-122"/>
                <a:sym typeface="Symbol" panose="05050102010706020507" pitchFamily="18" charset="2"/>
              </a:rPr>
              <a:t>, ……}    </a:t>
            </a:r>
            <a:r>
              <a:rPr lang="zh-CN" altLang="en-US" dirty="0">
                <a:latin typeface="Arial" panose="020B0604020202020204" pitchFamily="34" charset="0"/>
                <a:ea typeface="宋体" panose="02010600030101010101" pitchFamily="2" charset="-122"/>
                <a:sym typeface="Symbol" panose="05050102010706020507" pitchFamily="18" charset="2"/>
              </a:rPr>
              <a:t>任意个</a:t>
            </a:r>
            <a:r>
              <a:rPr lang="en-US" altLang="zh-CN" dirty="0">
                <a:latin typeface="Arial" panose="020B0604020202020204" pitchFamily="34" charset="0"/>
                <a:ea typeface="宋体" panose="02010600030101010101" pitchFamily="2" charset="-122"/>
                <a:sym typeface="Symbol" panose="05050102010706020507" pitchFamily="18" charset="2"/>
              </a:rPr>
              <a:t>a</a:t>
            </a:r>
            <a:r>
              <a:rPr lang="zh-CN" altLang="en-US" dirty="0">
                <a:latin typeface="Arial" panose="020B0604020202020204" pitchFamily="34" charset="0"/>
                <a:ea typeface="宋体" panose="02010600030101010101" pitchFamily="2" charset="-122"/>
                <a:sym typeface="Symbol" panose="05050102010706020507" pitchFamily="18" charset="2"/>
              </a:rPr>
              <a:t>构成的符号串集合</a:t>
            </a:r>
          </a:p>
        </p:txBody>
      </p:sp>
      <p:sp>
        <p:nvSpPr>
          <p:cNvPr id="7" name="矩形 6"/>
          <p:cNvSpPr/>
          <p:nvPr/>
        </p:nvSpPr>
        <p:spPr>
          <a:xfrm>
            <a:off x="3043313" y="3272009"/>
            <a:ext cx="4826962" cy="369332"/>
          </a:xfrm>
          <a:prstGeom prst="rect">
            <a:avLst/>
          </a:prstGeom>
        </p:spPr>
        <p:txBody>
          <a:bodyPr wrap="none">
            <a:spAutoFit/>
          </a:bodyPr>
          <a:lstStyle/>
          <a:p>
            <a:pPr lvl="0" fontAlgn="base">
              <a:spcBef>
                <a:spcPct val="20000"/>
              </a:spcBef>
              <a:spcAft>
                <a:spcPct val="0"/>
              </a:spcAft>
            </a:pPr>
            <a:r>
              <a:rPr lang="zh-CN" altLang="en-US" dirty="0">
                <a:latin typeface="Arial" panose="020B0604020202020204" pitchFamily="34" charset="0"/>
                <a:ea typeface="宋体" panose="02010600030101010101" pitchFamily="2" charset="-122"/>
                <a:sym typeface="Symbol" panose="05050102010706020507" pitchFamily="18" charset="2"/>
              </a:rPr>
              <a:t>所有以</a:t>
            </a:r>
            <a:r>
              <a:rPr lang="en-US" altLang="zh-CN" dirty="0">
                <a:latin typeface="Arial" panose="020B0604020202020204" pitchFamily="34" charset="0"/>
                <a:ea typeface="宋体" panose="02010600030101010101" pitchFamily="2" charset="-122"/>
                <a:sym typeface="Symbol" panose="05050102010706020507" pitchFamily="18" charset="2"/>
              </a:rPr>
              <a:t>b</a:t>
            </a:r>
            <a:r>
              <a:rPr lang="zh-CN" altLang="en-US" dirty="0">
                <a:latin typeface="Arial" panose="020B0604020202020204" pitchFamily="34" charset="0"/>
                <a:ea typeface="宋体" panose="02010600030101010101" pitchFamily="2" charset="-122"/>
                <a:sym typeface="Symbol" panose="05050102010706020507" pitchFamily="18" charset="2"/>
              </a:rPr>
              <a:t>开头后跟任意多个</a:t>
            </a:r>
            <a:r>
              <a:rPr lang="en-US" altLang="zh-CN" dirty="0">
                <a:latin typeface="Arial" panose="020B0604020202020204" pitchFamily="34" charset="0"/>
                <a:ea typeface="宋体" panose="02010600030101010101" pitchFamily="2" charset="-122"/>
                <a:sym typeface="Symbol" panose="05050102010706020507" pitchFamily="18" charset="2"/>
              </a:rPr>
              <a:t>a</a:t>
            </a:r>
            <a:r>
              <a:rPr lang="zh-CN" altLang="en-US" dirty="0">
                <a:latin typeface="Arial" panose="020B0604020202020204" pitchFamily="34" charset="0"/>
                <a:ea typeface="宋体" panose="02010600030101010101" pitchFamily="2" charset="-122"/>
                <a:sym typeface="Symbol" panose="05050102010706020507" pitchFamily="18" charset="2"/>
              </a:rPr>
              <a:t>构成的符号串集合</a:t>
            </a:r>
          </a:p>
        </p:txBody>
      </p:sp>
      <p:sp>
        <p:nvSpPr>
          <p:cNvPr id="8" name="矩形 7"/>
          <p:cNvSpPr/>
          <p:nvPr/>
        </p:nvSpPr>
        <p:spPr>
          <a:xfrm>
            <a:off x="3043313" y="3667244"/>
            <a:ext cx="5671745" cy="369332"/>
          </a:xfrm>
          <a:prstGeom prst="rect">
            <a:avLst/>
          </a:prstGeom>
        </p:spPr>
        <p:txBody>
          <a:bodyPr wrap="none">
            <a:spAutoFit/>
          </a:bodyPr>
          <a:lstStyle/>
          <a:p>
            <a:pPr lvl="0" fontAlgn="base">
              <a:spcBef>
                <a:spcPct val="20000"/>
              </a:spcBef>
              <a:spcAft>
                <a:spcPct val="0"/>
              </a:spcAft>
            </a:pPr>
            <a:r>
              <a:rPr lang="en-US" altLang="zh-CN" dirty="0">
                <a:latin typeface="Arial" panose="020B0604020202020204" pitchFamily="34" charset="0"/>
                <a:ea typeface="宋体" panose="02010600030101010101" pitchFamily="2" charset="-122"/>
                <a:sym typeface="Symbol" panose="05050102010706020507" pitchFamily="18" charset="2"/>
              </a:rPr>
              <a:t>{ ,</a:t>
            </a:r>
            <a:r>
              <a:rPr lang="en-US" altLang="zh-CN" dirty="0" err="1">
                <a:latin typeface="Arial" panose="020B0604020202020204" pitchFamily="34" charset="0"/>
                <a:ea typeface="宋体" panose="02010600030101010101" pitchFamily="2" charset="-122"/>
                <a:sym typeface="Symbol" panose="05050102010706020507" pitchFamily="18" charset="2"/>
              </a:rPr>
              <a:t>a,b,aa,ab</a:t>
            </a:r>
            <a:r>
              <a:rPr lang="en-US" altLang="zh-CN" dirty="0">
                <a:latin typeface="Arial" panose="020B0604020202020204" pitchFamily="34" charset="0"/>
                <a:ea typeface="宋体" panose="02010600030101010101" pitchFamily="2" charset="-122"/>
                <a:sym typeface="Symbol" panose="05050102010706020507" pitchFamily="18" charset="2"/>
              </a:rPr>
              <a:t> …} </a:t>
            </a:r>
            <a:r>
              <a:rPr lang="zh-CN" altLang="en-US" dirty="0">
                <a:latin typeface="Arial" panose="020B0604020202020204" pitchFamily="34" charset="0"/>
                <a:ea typeface="宋体" panose="02010600030101010101" pitchFamily="2" charset="-122"/>
                <a:sym typeface="Symbol" panose="05050102010706020507" pitchFamily="18" charset="2"/>
              </a:rPr>
              <a:t>由</a:t>
            </a:r>
            <a:r>
              <a:rPr lang="en-US" altLang="zh-CN" dirty="0">
                <a:latin typeface="Arial" panose="020B0604020202020204" pitchFamily="34" charset="0"/>
                <a:ea typeface="宋体" panose="02010600030101010101" pitchFamily="2" charset="-122"/>
                <a:sym typeface="Symbol" panose="05050102010706020507" pitchFamily="18" charset="2"/>
              </a:rPr>
              <a:t>a </a:t>
            </a:r>
            <a:r>
              <a:rPr lang="zh-CN" altLang="en-US" dirty="0">
                <a:latin typeface="Arial" panose="020B0604020202020204" pitchFamily="34" charset="0"/>
                <a:ea typeface="宋体" panose="02010600030101010101" pitchFamily="2" charset="-122"/>
                <a:sym typeface="Symbol" panose="05050102010706020507" pitchFamily="18" charset="2"/>
              </a:rPr>
              <a:t>或</a:t>
            </a:r>
            <a:r>
              <a:rPr lang="en-US" altLang="zh-CN" dirty="0">
                <a:latin typeface="Arial" panose="020B0604020202020204" pitchFamily="34" charset="0"/>
                <a:ea typeface="宋体" panose="02010600030101010101" pitchFamily="2" charset="-122"/>
                <a:sym typeface="Symbol" panose="05050102010706020507" pitchFamily="18" charset="2"/>
              </a:rPr>
              <a:t>b</a:t>
            </a:r>
            <a:r>
              <a:rPr lang="zh-CN" altLang="en-US" dirty="0">
                <a:latin typeface="Arial" panose="020B0604020202020204" pitchFamily="34" charset="0"/>
                <a:ea typeface="宋体" panose="02010600030101010101" pitchFamily="2" charset="-122"/>
                <a:sym typeface="Symbol" panose="05050102010706020507" pitchFamily="18" charset="2"/>
              </a:rPr>
              <a:t>组成的任意长度的符号串集合</a:t>
            </a:r>
            <a:endParaRPr lang="zh-CN" altLang="en-US" dirty="0">
              <a:latin typeface="Arial" panose="020B0604020202020204" pitchFamily="34" charset="0"/>
              <a:ea typeface="宋体" panose="02010600030101010101" pitchFamily="2" charset="-122"/>
            </a:endParaRPr>
          </a:p>
        </p:txBody>
      </p:sp>
      <p:sp>
        <p:nvSpPr>
          <p:cNvPr id="9" name="矩形 8"/>
          <p:cNvSpPr/>
          <p:nvPr/>
        </p:nvSpPr>
        <p:spPr>
          <a:xfrm>
            <a:off x="3043313" y="4045323"/>
            <a:ext cx="5288627" cy="369332"/>
          </a:xfrm>
          <a:prstGeom prst="rect">
            <a:avLst/>
          </a:prstGeom>
        </p:spPr>
        <p:txBody>
          <a:bodyPr wrap="none">
            <a:spAutoFit/>
          </a:bodyPr>
          <a:lstStyle/>
          <a:p>
            <a:pPr lvl="0" fontAlgn="base">
              <a:spcBef>
                <a:spcPct val="20000"/>
              </a:spcBef>
              <a:spcAft>
                <a:spcPct val="0"/>
              </a:spcAft>
            </a:pPr>
            <a:r>
              <a:rPr lang="zh-CN" altLang="en-US" dirty="0">
                <a:latin typeface="Arial" panose="020B0604020202020204" pitchFamily="34" charset="0"/>
                <a:ea typeface="宋体" panose="02010600030101010101" pitchFamily="2" charset="-122"/>
              </a:rPr>
              <a:t>所有含有两个相继的</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或两个相继的</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的符号串集合</a:t>
            </a:r>
          </a:p>
        </p:txBody>
      </p:sp>
      <p:sp>
        <p:nvSpPr>
          <p:cNvPr id="10" name="TextBox 9"/>
          <p:cNvSpPr txBox="1"/>
          <p:nvPr/>
        </p:nvSpPr>
        <p:spPr>
          <a:xfrm>
            <a:off x="1907704" y="1400686"/>
            <a:ext cx="216024" cy="378976"/>
          </a:xfrm>
          <a:prstGeom prst="rect">
            <a:avLst/>
          </a:prstGeom>
          <a:noFill/>
        </p:spPr>
        <p:txBody>
          <a:bodyPr wrap="square" rtlCol="0">
            <a:spAutoFit/>
          </a:bodyPr>
          <a:lstStyle/>
          <a:p>
            <a:r>
              <a:rPr lang="en-US" altLang="zh-CN" dirty="0">
                <a:solidFill>
                  <a:srgbClr val="FF0000"/>
                </a:solidFill>
              </a:rPr>
              <a:t>b</a:t>
            </a:r>
            <a:endParaRPr lang="zh-CN" altLang="en-US" dirty="0">
              <a:solidFill>
                <a:srgbClr val="FF0000"/>
              </a:solidFill>
            </a:endParaRPr>
          </a:p>
        </p:txBody>
      </p:sp>
      <p:sp>
        <p:nvSpPr>
          <p:cNvPr id="13" name="TextBox 12"/>
          <p:cNvSpPr txBox="1"/>
          <p:nvPr/>
        </p:nvSpPr>
        <p:spPr>
          <a:xfrm>
            <a:off x="3995936" y="1391042"/>
            <a:ext cx="604213" cy="369332"/>
          </a:xfrm>
          <a:prstGeom prst="rect">
            <a:avLst/>
          </a:prstGeom>
          <a:noFill/>
        </p:spPr>
        <p:txBody>
          <a:bodyPr wrap="square" rtlCol="0">
            <a:spAutoFit/>
          </a:bodyPr>
          <a:lstStyle/>
          <a:p>
            <a:r>
              <a:rPr lang="en-US" altLang="zh-CN" dirty="0">
                <a:solidFill>
                  <a:srgbClr val="FF0000"/>
                </a:solidFill>
              </a:rPr>
              <a:t>{b}</a:t>
            </a:r>
            <a:endParaRPr lang="zh-CN" altLang="en-US" dirty="0">
              <a:solidFill>
                <a:srgbClr val="FF0000"/>
              </a:solidFill>
            </a:endParaRPr>
          </a:p>
        </p:txBody>
      </p:sp>
    </p:spTree>
    <p:extLst>
      <p:ext uri="{BB962C8B-B14F-4D97-AF65-F5344CB8AC3E}">
        <p14:creationId xmlns:p14="http://schemas.microsoft.com/office/powerpoint/2010/main" val="332611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idx="1"/>
          </p:nvPr>
        </p:nvSpPr>
        <p:spPr>
          <a:xfrm>
            <a:off x="439738" y="915566"/>
            <a:ext cx="8229600" cy="1691332"/>
          </a:xfrm>
        </p:spPr>
        <p:txBody>
          <a:bodyPr>
            <a:normAutofit/>
          </a:bodyPr>
          <a:lstStyle/>
          <a:p>
            <a:pPr eaLnBrk="1" hangingPunct="1">
              <a:lnSpc>
                <a:spcPct val="115000"/>
              </a:lnSpc>
              <a:buFontTx/>
              <a:buNone/>
            </a:pPr>
            <a:r>
              <a:rPr lang="zh-CN" altLang="en-US" sz="2200" dirty="0">
                <a:solidFill>
                  <a:srgbClr val="0000CC"/>
                </a:solidFill>
              </a:rPr>
              <a:t>例</a:t>
            </a:r>
            <a:r>
              <a:rPr lang="en-US" altLang="zh-CN" sz="2200" dirty="0">
                <a:solidFill>
                  <a:srgbClr val="0000CC"/>
                </a:solidFill>
              </a:rPr>
              <a:t>2</a:t>
            </a:r>
            <a:r>
              <a:rPr lang="zh-CN" altLang="en-US" sz="2200" dirty="0"/>
              <a:t>：令</a:t>
            </a:r>
            <a:r>
              <a:rPr lang="zh-CN" altLang="en-US" sz="2200" dirty="0">
                <a:sym typeface="Symbol" pitchFamily="18" charset="2"/>
              </a:rPr>
              <a:t></a:t>
            </a:r>
            <a:r>
              <a:rPr lang="en-US" altLang="zh-CN" sz="2200" dirty="0">
                <a:sym typeface="Symbol" pitchFamily="18" charset="2"/>
              </a:rPr>
              <a:t>={l</a:t>
            </a:r>
            <a:r>
              <a:rPr lang="zh-CN" altLang="en-US" sz="2200" dirty="0">
                <a:sym typeface="Symbol" pitchFamily="18" charset="2"/>
              </a:rPr>
              <a:t>，</a:t>
            </a:r>
            <a:r>
              <a:rPr lang="en-US" altLang="zh-CN" sz="2200" dirty="0">
                <a:sym typeface="Symbol" pitchFamily="18" charset="2"/>
              </a:rPr>
              <a:t>d}</a:t>
            </a:r>
            <a:r>
              <a:rPr lang="zh-CN" altLang="en-US" sz="2200" dirty="0">
                <a:sym typeface="Symbol" pitchFamily="18" charset="2"/>
              </a:rPr>
              <a:t>，</a:t>
            </a:r>
            <a:r>
              <a:rPr lang="en-US" altLang="zh-CN" sz="2200" dirty="0">
                <a:sym typeface="Symbol" pitchFamily="18" charset="2"/>
              </a:rPr>
              <a:t>l </a:t>
            </a:r>
            <a:r>
              <a:rPr lang="zh-CN" altLang="en-US" sz="2200" dirty="0">
                <a:sym typeface="Symbol" pitchFamily="18" charset="2"/>
              </a:rPr>
              <a:t>代表字母</a:t>
            </a:r>
            <a:r>
              <a:rPr lang="en-US" altLang="zh-CN" sz="2200" dirty="0">
                <a:sym typeface="Symbol" pitchFamily="18" charset="2"/>
              </a:rPr>
              <a:t>,d </a:t>
            </a:r>
            <a:r>
              <a:rPr lang="zh-CN" altLang="en-US" sz="2200" dirty="0">
                <a:sym typeface="Symbol" pitchFamily="18" charset="2"/>
              </a:rPr>
              <a:t>代表数字</a:t>
            </a:r>
            <a:r>
              <a:rPr lang="en-US" altLang="zh-CN" sz="2200" dirty="0">
                <a:sym typeface="Symbol" pitchFamily="18" charset="2"/>
              </a:rPr>
              <a:t>,</a:t>
            </a:r>
            <a:r>
              <a:rPr lang="zh-CN" altLang="en-US" sz="2200" dirty="0">
                <a:sym typeface="Symbol" pitchFamily="18" charset="2"/>
              </a:rPr>
              <a:t>则上的正规式</a:t>
            </a:r>
            <a:r>
              <a:rPr lang="en-US" altLang="zh-CN" sz="2200" dirty="0">
                <a:sym typeface="Symbol" pitchFamily="18" charset="2"/>
              </a:rPr>
              <a:t>:	 r = l(</a:t>
            </a:r>
            <a:r>
              <a:rPr lang="en-US" altLang="zh-CN" sz="2200" dirty="0" err="1">
                <a:sym typeface="Symbol" pitchFamily="18" charset="2"/>
              </a:rPr>
              <a:t>ld</a:t>
            </a:r>
            <a:r>
              <a:rPr lang="en-US" altLang="zh-CN" sz="2200" dirty="0">
                <a:sym typeface="Symbol" pitchFamily="18" charset="2"/>
              </a:rPr>
              <a:t>)</a:t>
            </a:r>
            <a:r>
              <a:rPr lang="en-US" altLang="zh-CN" sz="2200" baseline="30000" dirty="0">
                <a:sym typeface="Symbol" pitchFamily="18" charset="2"/>
              </a:rPr>
              <a:t>       </a:t>
            </a:r>
            <a:r>
              <a:rPr lang="zh-CN" altLang="en-US" sz="2200" dirty="0">
                <a:sym typeface="Symbol" pitchFamily="18" charset="2"/>
              </a:rPr>
              <a:t>定义的正规集为</a:t>
            </a:r>
            <a:r>
              <a:rPr lang="en-US" altLang="zh-CN" sz="2200" dirty="0">
                <a:sym typeface="Symbol" pitchFamily="18" charset="2"/>
              </a:rPr>
              <a:t>: {</a:t>
            </a:r>
            <a:r>
              <a:rPr lang="en-US" altLang="zh-CN" sz="2200" dirty="0" err="1">
                <a:sym typeface="Symbol" pitchFamily="18" charset="2"/>
              </a:rPr>
              <a:t>l,ll,ld,lll,ldd</a:t>
            </a:r>
            <a:r>
              <a:rPr lang="en-US" altLang="zh-CN" sz="2200" dirty="0">
                <a:sym typeface="Symbol" pitchFamily="18" charset="2"/>
              </a:rPr>
              <a:t>,……},</a:t>
            </a:r>
            <a:r>
              <a:rPr lang="zh-CN" altLang="en-US" sz="2200" dirty="0">
                <a:sym typeface="Symbol" pitchFamily="18" charset="2"/>
              </a:rPr>
              <a:t>就是</a:t>
            </a:r>
            <a:r>
              <a:rPr lang="en-US" altLang="zh-CN" sz="2200" dirty="0">
                <a:sym typeface="Symbol" pitchFamily="18" charset="2"/>
              </a:rPr>
              <a:t>Pascal</a:t>
            </a:r>
            <a:r>
              <a:rPr lang="zh-CN" altLang="en-US" sz="2200" dirty="0">
                <a:sym typeface="Symbol" pitchFamily="18" charset="2"/>
              </a:rPr>
              <a:t>和 多数程序设计语言允许的的标识符的词法规则。</a:t>
            </a:r>
          </a:p>
        </p:txBody>
      </p:sp>
      <p:sp>
        <p:nvSpPr>
          <p:cNvPr id="40964" name="Rectangle 5"/>
          <p:cNvSpPr>
            <a:spLocks noChangeArrowheads="1"/>
          </p:cNvSpPr>
          <p:nvPr/>
        </p:nvSpPr>
        <p:spPr bwMode="auto">
          <a:xfrm>
            <a:off x="899592" y="3363838"/>
            <a:ext cx="6879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sp>
        <p:nvSpPr>
          <p:cNvPr id="2" name="矩形 1"/>
          <p:cNvSpPr/>
          <p:nvPr/>
        </p:nvSpPr>
        <p:spPr>
          <a:xfrm>
            <a:off x="539552" y="267494"/>
            <a:ext cx="4485523" cy="369332"/>
          </a:xfrm>
          <a:prstGeom prst="rect">
            <a:avLst/>
          </a:prstGeom>
        </p:spPr>
        <p:txBody>
          <a:bodyPr wrap="none">
            <a:spAutoFit/>
          </a:bodyPr>
          <a:lstStyle/>
          <a:p>
            <a:r>
              <a:rPr lang="zh-CN" altLang="en-US" b="1" dirty="0">
                <a:solidFill>
                  <a:srgbClr val="0000CC"/>
                </a:solidFill>
                <a:latin typeface="楷体_GB2312" pitchFamily="49" charset="-122"/>
                <a:ea typeface="楷体_GB2312" pitchFamily="49" charset="-122"/>
                <a:sym typeface="Symbol" pitchFamily="18" charset="2"/>
              </a:rPr>
              <a:t>程序设计语言的单词都能用正规式来定义</a:t>
            </a:r>
            <a:r>
              <a:rPr lang="en-US" altLang="zh-CN" b="1" dirty="0">
                <a:solidFill>
                  <a:srgbClr val="0000CC"/>
                </a:solidFill>
                <a:latin typeface="楷体_GB2312" pitchFamily="49" charset="-122"/>
                <a:ea typeface="楷体_GB2312" pitchFamily="49" charset="-122"/>
                <a:sym typeface="Symbol" pitchFamily="18" charset="2"/>
              </a:rPr>
              <a:t>.</a:t>
            </a:r>
          </a:p>
        </p:txBody>
      </p:sp>
      <p:sp>
        <p:nvSpPr>
          <p:cNvPr id="8" name="Rectangle 4">
            <a:extLst>
              <a:ext uri="{FF2B5EF4-FFF2-40B4-BE49-F238E27FC236}">
                <a16:creationId xmlns:a16="http://schemas.microsoft.com/office/drawing/2014/main" id="{C3772F85-F41C-4F74-BF6A-B8B867410C3B}"/>
              </a:ext>
            </a:extLst>
          </p:cNvPr>
          <p:cNvSpPr>
            <a:spLocks noChangeArrowheads="1"/>
          </p:cNvSpPr>
          <p:nvPr/>
        </p:nvSpPr>
        <p:spPr bwMode="auto">
          <a:xfrm>
            <a:off x="827584" y="2678963"/>
            <a:ext cx="6120680" cy="44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15000"/>
              </a:lnSpc>
              <a:spcBef>
                <a:spcPct val="50000"/>
              </a:spcBef>
              <a:buFontTx/>
              <a:buNone/>
            </a:pPr>
            <a:r>
              <a:rPr kumimoji="1" lang="en-US" altLang="zh-CN" sz="2200" dirty="0">
                <a:latin typeface="Verdana" pitchFamily="34" charset="0"/>
              </a:rPr>
              <a:t>C</a:t>
            </a:r>
            <a:r>
              <a:rPr kumimoji="1" lang="zh-CN" altLang="en-US" sz="2200" dirty="0">
                <a:latin typeface="Verdana" pitchFamily="34" charset="0"/>
              </a:rPr>
              <a:t>语言的标识符的词法规则怎么描述呢？</a:t>
            </a:r>
            <a:endParaRPr lang="zh-CN" altLang="en-US" sz="2200" dirty="0">
              <a:sym typeface="Symbol" pitchFamily="18" charset="2"/>
            </a:endParaRPr>
          </a:p>
        </p:txBody>
      </p:sp>
      <p:sp>
        <p:nvSpPr>
          <p:cNvPr id="9" name="Rectangle 4">
            <a:extLst>
              <a:ext uri="{FF2B5EF4-FFF2-40B4-BE49-F238E27FC236}">
                <a16:creationId xmlns:a16="http://schemas.microsoft.com/office/drawing/2014/main" id="{74140922-89AB-4475-8E33-03F392E2BAF5}"/>
              </a:ext>
            </a:extLst>
          </p:cNvPr>
          <p:cNvSpPr>
            <a:spLocks noChangeArrowheads="1"/>
          </p:cNvSpPr>
          <p:nvPr/>
        </p:nvSpPr>
        <p:spPr bwMode="auto">
          <a:xfrm>
            <a:off x="848298" y="3461364"/>
            <a:ext cx="2355550" cy="44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15000"/>
              </a:lnSpc>
              <a:spcBef>
                <a:spcPct val="50000"/>
              </a:spcBef>
              <a:buNone/>
            </a:pPr>
            <a:r>
              <a:rPr lang="en-US" altLang="zh-CN" sz="2200" dirty="0">
                <a:latin typeface="宋体" panose="02010600030101010101" pitchFamily="2" charset="-122"/>
                <a:sym typeface="Symbol" pitchFamily="18" charset="2"/>
              </a:rPr>
              <a:t>(l|_)(</a:t>
            </a:r>
            <a:r>
              <a:rPr lang="en-US" altLang="zh-CN" sz="2200" dirty="0" err="1">
                <a:latin typeface="宋体" panose="02010600030101010101" pitchFamily="2" charset="-122"/>
                <a:sym typeface="Symbol" pitchFamily="18" charset="2"/>
              </a:rPr>
              <a:t>l|d</a:t>
            </a:r>
            <a:r>
              <a:rPr lang="en-US" altLang="zh-CN" sz="2200" dirty="0">
                <a:latin typeface="宋体" panose="02010600030101010101" pitchFamily="2" charset="-122"/>
                <a:sym typeface="Symbol" pitchFamily="18" charset="2"/>
              </a:rPr>
              <a:t>|_)</a:t>
            </a:r>
            <a:r>
              <a:rPr lang="en-US" altLang="zh-CN" sz="2200" baseline="30000" dirty="0">
                <a:sym typeface="Symbol" pitchFamily="18" charset="2"/>
              </a:rPr>
              <a:t></a:t>
            </a:r>
            <a:endParaRPr lang="zh-CN" altLang="en-US" sz="2200" dirty="0">
              <a:sym typeface="Symbol" pitchFamily="18" charset="2"/>
            </a:endParaRPr>
          </a:p>
        </p:txBody>
      </p:sp>
    </p:spTree>
    <p:extLst>
      <p:ext uri="{BB962C8B-B14F-4D97-AF65-F5344CB8AC3E}">
        <p14:creationId xmlns:p14="http://schemas.microsoft.com/office/powerpoint/2010/main" val="2675824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p:bldP spid="8" grpId="0"/>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173163" y="342900"/>
            <a:ext cx="7772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en-US" sz="4000" b="1">
                <a:solidFill>
                  <a:schemeClr val="tx2"/>
                </a:solidFill>
                <a:ea typeface="楷体_GB2312" pitchFamily="49" charset="-122"/>
              </a:rPr>
              <a:t>练   习</a:t>
            </a:r>
          </a:p>
        </p:txBody>
      </p:sp>
      <p:sp>
        <p:nvSpPr>
          <p:cNvPr id="41987" name="Rectangle 3"/>
          <p:cNvSpPr>
            <a:spLocks noChangeArrowheads="1"/>
          </p:cNvSpPr>
          <p:nvPr/>
        </p:nvSpPr>
        <p:spPr bwMode="auto">
          <a:xfrm>
            <a:off x="1173163" y="1485900"/>
            <a:ext cx="7772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Clr>
                <a:schemeClr val="accent1"/>
              </a:buClr>
              <a:buSzPct val="80000"/>
              <a:buFont typeface="Wingdings" pitchFamily="2" charset="2"/>
              <a:buNone/>
            </a:pPr>
            <a:r>
              <a:rPr kumimoji="1" lang="en-US" altLang="zh-CN" sz="2200">
                <a:sym typeface="Symbol" pitchFamily="18" charset="2"/>
              </a:rPr>
              <a:t>1</a:t>
            </a:r>
            <a:r>
              <a:rPr kumimoji="1" lang="zh-CN" altLang="en-US" sz="2200">
                <a:sym typeface="Symbol" pitchFamily="18" charset="2"/>
              </a:rPr>
              <a:t>、</a:t>
            </a:r>
            <a:r>
              <a:rPr kumimoji="1" lang="en-US" altLang="zh-CN" sz="2200">
                <a:sym typeface="Symbol" pitchFamily="18" charset="2"/>
              </a:rPr>
              <a:t>={a,b}</a:t>
            </a:r>
            <a:r>
              <a:rPr kumimoji="1" lang="zh-CN" altLang="en-US" sz="2200">
                <a:sym typeface="Symbol" pitchFamily="18" charset="2"/>
              </a:rPr>
              <a:t>，则上所有以</a:t>
            </a:r>
            <a:r>
              <a:rPr kumimoji="1" lang="en-US" altLang="zh-CN" sz="2200">
                <a:sym typeface="Symbol" pitchFamily="18" charset="2"/>
              </a:rPr>
              <a:t>b</a:t>
            </a:r>
            <a:r>
              <a:rPr kumimoji="1" lang="zh-CN" altLang="en-US" sz="2200">
                <a:sym typeface="Symbol" pitchFamily="18" charset="2"/>
              </a:rPr>
              <a:t>开头，后跟若干个</a:t>
            </a:r>
            <a:r>
              <a:rPr kumimoji="1" lang="en-US" altLang="zh-CN" sz="2200">
                <a:sym typeface="Symbol" pitchFamily="18" charset="2"/>
              </a:rPr>
              <a:t>ab</a:t>
            </a:r>
            <a:r>
              <a:rPr kumimoji="1" lang="zh-CN" altLang="en-US" sz="2200">
                <a:sym typeface="Symbol" pitchFamily="18" charset="2"/>
              </a:rPr>
              <a:t>的字的全体所对应的正则表达式。</a:t>
            </a:r>
          </a:p>
          <a:p>
            <a:pPr eaLnBrk="1" hangingPunct="1">
              <a:buClr>
                <a:schemeClr val="accent1"/>
              </a:buClr>
              <a:buSzPct val="80000"/>
              <a:buFont typeface="Wingdings" pitchFamily="2" charset="2"/>
              <a:buNone/>
            </a:pPr>
            <a:endParaRPr kumimoji="1" lang="zh-CN" altLang="en-US" sz="2200">
              <a:sym typeface="Symbol" pitchFamily="18" charset="2"/>
            </a:endParaRPr>
          </a:p>
          <a:p>
            <a:pPr eaLnBrk="1" hangingPunct="1">
              <a:buClr>
                <a:schemeClr val="accent1"/>
              </a:buClr>
              <a:buSzPct val="80000"/>
              <a:buFont typeface="Wingdings" pitchFamily="2" charset="2"/>
              <a:buNone/>
            </a:pPr>
            <a:endParaRPr kumimoji="1" lang="en-US" altLang="zh-CN" sz="2200">
              <a:sym typeface="Symbol" pitchFamily="18" charset="2"/>
            </a:endParaRPr>
          </a:p>
          <a:p>
            <a:pPr eaLnBrk="1" hangingPunct="1">
              <a:buClr>
                <a:schemeClr val="accent1"/>
              </a:buClr>
              <a:buSzPct val="80000"/>
              <a:buFont typeface="Wingdings" pitchFamily="2" charset="2"/>
              <a:buNone/>
            </a:pPr>
            <a:r>
              <a:rPr kumimoji="1" lang="en-US" altLang="zh-CN" sz="2200">
                <a:sym typeface="Symbol" pitchFamily="18" charset="2"/>
              </a:rPr>
              <a:t>2</a:t>
            </a:r>
            <a:r>
              <a:rPr kumimoji="1" lang="zh-CN" altLang="en-US" sz="2200">
                <a:sym typeface="Symbol" pitchFamily="18" charset="2"/>
              </a:rPr>
              <a:t>、 </a:t>
            </a:r>
            <a:r>
              <a:rPr kumimoji="1" lang="en-US" altLang="zh-CN" sz="2200">
                <a:sym typeface="Symbol" pitchFamily="18" charset="2"/>
              </a:rPr>
              <a:t>={a,b}</a:t>
            </a:r>
            <a:r>
              <a:rPr kumimoji="1" lang="zh-CN" altLang="en-US" sz="2200">
                <a:sym typeface="Symbol" pitchFamily="18" charset="2"/>
              </a:rPr>
              <a:t>，写出不以</a:t>
            </a:r>
            <a:r>
              <a:rPr kumimoji="1" lang="en-US" altLang="zh-CN" sz="2200">
                <a:sym typeface="Symbol" pitchFamily="18" charset="2"/>
              </a:rPr>
              <a:t>a</a:t>
            </a:r>
            <a:r>
              <a:rPr kumimoji="1" lang="zh-CN" altLang="en-US" sz="2200">
                <a:sym typeface="Symbol" pitchFamily="18" charset="2"/>
              </a:rPr>
              <a:t>开头，但以</a:t>
            </a:r>
            <a:r>
              <a:rPr kumimoji="1" lang="en-US" altLang="zh-CN" sz="2200">
                <a:sym typeface="Symbol" pitchFamily="18" charset="2"/>
              </a:rPr>
              <a:t>aa</a:t>
            </a:r>
            <a:r>
              <a:rPr kumimoji="1" lang="zh-CN" altLang="en-US" sz="2200">
                <a:sym typeface="Symbol" pitchFamily="18" charset="2"/>
              </a:rPr>
              <a:t>结尾的字符串集合的正则表达式。</a:t>
            </a:r>
          </a:p>
        </p:txBody>
      </p:sp>
      <p:sp>
        <p:nvSpPr>
          <p:cNvPr id="157700" name="Text Box 4"/>
          <p:cNvSpPr txBox="1">
            <a:spLocks noChangeArrowheads="1"/>
          </p:cNvSpPr>
          <p:nvPr/>
        </p:nvSpPr>
        <p:spPr bwMode="auto">
          <a:xfrm>
            <a:off x="3581400" y="3771900"/>
            <a:ext cx="118173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200">
                <a:latin typeface="Times New Roman" pitchFamily="18" charset="0"/>
              </a:rPr>
              <a:t>b(a|b)</a:t>
            </a:r>
            <a:r>
              <a:rPr lang="en-US" altLang="zh-CN" sz="2200" baseline="30000">
                <a:latin typeface="Times New Roman" pitchFamily="18" charset="0"/>
              </a:rPr>
              <a:t>*</a:t>
            </a:r>
            <a:r>
              <a:rPr lang="en-US" altLang="zh-CN" sz="2200">
                <a:latin typeface="Times New Roman" pitchFamily="18" charset="0"/>
              </a:rPr>
              <a:t>aa</a:t>
            </a:r>
          </a:p>
        </p:txBody>
      </p:sp>
      <p:sp>
        <p:nvSpPr>
          <p:cNvPr id="157701" name="Text Box 5"/>
          <p:cNvSpPr txBox="1">
            <a:spLocks noChangeArrowheads="1"/>
          </p:cNvSpPr>
          <p:nvPr/>
        </p:nvSpPr>
        <p:spPr bwMode="auto">
          <a:xfrm>
            <a:off x="3657600" y="2228850"/>
            <a:ext cx="8755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200">
                <a:latin typeface="Times New Roman" pitchFamily="18" charset="0"/>
              </a:rPr>
              <a:t>b(ab)</a:t>
            </a:r>
            <a:r>
              <a:rPr lang="en-US" altLang="zh-CN" sz="2200" baseline="30000">
                <a:latin typeface="Times New Roman" pitchFamily="18" charset="0"/>
              </a:rPr>
              <a:t>*</a:t>
            </a:r>
            <a:endParaRPr lang="en-US" altLang="zh-CN" sz="2200">
              <a:latin typeface="Times New Roman" pitchFamily="18" charset="0"/>
            </a:endParaRPr>
          </a:p>
        </p:txBody>
      </p:sp>
    </p:spTree>
    <p:extLst>
      <p:ext uri="{BB962C8B-B14F-4D97-AF65-F5344CB8AC3E}">
        <p14:creationId xmlns:p14="http://schemas.microsoft.com/office/powerpoint/2010/main" val="4281670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701"/>
                                        </p:tgtEl>
                                        <p:attrNameLst>
                                          <p:attrName>style.visibility</p:attrName>
                                        </p:attrNameLst>
                                      </p:cBhvr>
                                      <p:to>
                                        <p:strVal val="visible"/>
                                      </p:to>
                                    </p:set>
                                    <p:anim calcmode="lin" valueType="num">
                                      <p:cBhvr additive="base">
                                        <p:cTn id="7" dur="500" fill="hold"/>
                                        <p:tgtEl>
                                          <p:spTgt spid="157701"/>
                                        </p:tgtEl>
                                        <p:attrNameLst>
                                          <p:attrName>ppt_x</p:attrName>
                                        </p:attrNameLst>
                                      </p:cBhvr>
                                      <p:tavLst>
                                        <p:tav tm="0">
                                          <p:val>
                                            <p:strVal val="0-#ppt_w/2"/>
                                          </p:val>
                                        </p:tav>
                                        <p:tav tm="100000">
                                          <p:val>
                                            <p:strVal val="#ppt_x"/>
                                          </p:val>
                                        </p:tav>
                                      </p:tavLst>
                                    </p:anim>
                                    <p:anim calcmode="lin" valueType="num">
                                      <p:cBhvr additive="base">
                                        <p:cTn id="8" dur="500" fill="hold"/>
                                        <p:tgtEl>
                                          <p:spTgt spid="15770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700"/>
                                        </p:tgtEl>
                                        <p:attrNameLst>
                                          <p:attrName>style.visibility</p:attrName>
                                        </p:attrNameLst>
                                      </p:cBhvr>
                                      <p:to>
                                        <p:strVal val="visible"/>
                                      </p:to>
                                    </p:set>
                                    <p:anim calcmode="lin" valueType="num">
                                      <p:cBhvr additive="base">
                                        <p:cTn id="13" dur="500" fill="hold"/>
                                        <p:tgtEl>
                                          <p:spTgt spid="157700"/>
                                        </p:tgtEl>
                                        <p:attrNameLst>
                                          <p:attrName>ppt_x</p:attrName>
                                        </p:attrNameLst>
                                      </p:cBhvr>
                                      <p:tavLst>
                                        <p:tav tm="0">
                                          <p:val>
                                            <p:strVal val="0-#ppt_w/2"/>
                                          </p:val>
                                        </p:tav>
                                        <p:tav tm="100000">
                                          <p:val>
                                            <p:strVal val="#ppt_x"/>
                                          </p:val>
                                        </p:tav>
                                      </p:tavLst>
                                    </p:anim>
                                    <p:anim calcmode="lin" valueType="num">
                                      <p:cBhvr additive="base">
                                        <p:cTn id="14" dur="500" fill="hold"/>
                                        <p:tgtEl>
                                          <p:spTgt spid="1577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autoUpdateAnimBg="0"/>
      <p:bldP spid="15770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xfrm>
            <a:off x="609600" y="326438"/>
            <a:ext cx="7772400" cy="1729358"/>
          </a:xfrm>
        </p:spPr>
        <p:txBody>
          <a:bodyPr/>
          <a:lstStyle/>
          <a:p>
            <a:pPr eaLnBrk="1" hangingPunct="1"/>
            <a:r>
              <a:rPr lang="zh-CN" altLang="en-US" sz="2200" dirty="0">
                <a:sym typeface="Symbol" pitchFamily="18" charset="2"/>
              </a:rPr>
              <a:t>思考题：</a:t>
            </a:r>
          </a:p>
          <a:p>
            <a:pPr eaLnBrk="1" hangingPunct="1">
              <a:buFontTx/>
              <a:buNone/>
            </a:pPr>
            <a:r>
              <a:rPr lang="zh-CN" altLang="en-US" sz="2200" dirty="0">
                <a:sym typeface="Symbol" pitchFamily="18" charset="2"/>
              </a:rPr>
              <a:t>       </a:t>
            </a:r>
            <a:r>
              <a:rPr lang="en-US" altLang="zh-CN" sz="2200" dirty="0">
                <a:sym typeface="Symbol" pitchFamily="18" charset="2"/>
              </a:rPr>
              <a:t>={d</a:t>
            </a:r>
            <a:r>
              <a:rPr lang="zh-CN" altLang="en-US" sz="2200" dirty="0">
                <a:sym typeface="Symbol" pitchFamily="18" charset="2"/>
              </a:rPr>
              <a:t>，</a:t>
            </a:r>
            <a:r>
              <a:rPr lang="en-US" altLang="zh-CN" sz="2200" dirty="0">
                <a:sym typeface="Symbol" pitchFamily="18" charset="2"/>
              </a:rPr>
              <a:t>. }</a:t>
            </a:r>
            <a:r>
              <a:rPr lang="zh-CN" altLang="en-US" sz="2200" dirty="0">
                <a:sym typeface="Symbol" pitchFamily="18" charset="2"/>
              </a:rPr>
              <a:t>，则上表示</a:t>
            </a:r>
            <a:r>
              <a:rPr lang="zh-CN" altLang="en-US" sz="2200" dirty="0">
                <a:solidFill>
                  <a:srgbClr val="CC3300"/>
                </a:solidFill>
                <a:sym typeface="Symbol" pitchFamily="18" charset="2"/>
              </a:rPr>
              <a:t>无符号数</a:t>
            </a:r>
            <a:r>
              <a:rPr lang="zh-CN" altLang="en-US" sz="2200" dirty="0">
                <a:sym typeface="Symbol" pitchFamily="18" charset="2"/>
              </a:rPr>
              <a:t>的正则表达式是什么？（</a:t>
            </a:r>
            <a:r>
              <a:rPr lang="zh-CN" altLang="en-US" sz="2200" dirty="0">
                <a:latin typeface="Verdana" pitchFamily="34" charset="0"/>
                <a:sym typeface="Symbol" pitchFamily="18" charset="2"/>
              </a:rPr>
              <a:t>不考虑含</a:t>
            </a:r>
            <a:r>
              <a:rPr lang="en-US" altLang="zh-CN" sz="2200" dirty="0">
                <a:latin typeface="Verdana" pitchFamily="34" charset="0"/>
                <a:sym typeface="Symbol" pitchFamily="18" charset="2"/>
              </a:rPr>
              <a:t>e</a:t>
            </a:r>
            <a:r>
              <a:rPr lang="zh-CN" altLang="en-US" sz="2200" dirty="0">
                <a:latin typeface="Verdana" pitchFamily="34" charset="0"/>
                <a:sym typeface="Symbol" pitchFamily="18" charset="2"/>
              </a:rPr>
              <a:t>的科学计数法，</a:t>
            </a:r>
            <a:r>
              <a:rPr lang="zh-CN" altLang="en-US" sz="2200" dirty="0">
                <a:sym typeface="Symbol" pitchFamily="18" charset="2"/>
              </a:rPr>
              <a:t>其中</a:t>
            </a:r>
            <a:r>
              <a:rPr lang="en-US" altLang="zh-CN" sz="2200" dirty="0">
                <a:sym typeface="Symbol" pitchFamily="18" charset="2"/>
              </a:rPr>
              <a:t>d</a:t>
            </a:r>
            <a:r>
              <a:rPr lang="zh-CN" altLang="en-US" sz="2200" dirty="0">
                <a:sym typeface="Symbol" pitchFamily="18" charset="2"/>
              </a:rPr>
              <a:t>为</a:t>
            </a:r>
            <a:r>
              <a:rPr lang="en-US" altLang="zh-CN" sz="2200" dirty="0">
                <a:sym typeface="Symbol" pitchFamily="18" charset="2"/>
              </a:rPr>
              <a:t>0~9</a:t>
            </a:r>
            <a:r>
              <a:rPr lang="zh-CN" altLang="en-US" sz="2200" dirty="0">
                <a:sym typeface="Symbol" pitchFamily="18" charset="2"/>
              </a:rPr>
              <a:t>的数字）</a:t>
            </a:r>
          </a:p>
          <a:p>
            <a:pPr eaLnBrk="1" hangingPunct="1">
              <a:buFontTx/>
              <a:buNone/>
            </a:pPr>
            <a:r>
              <a:rPr lang="zh-CN" altLang="en-US" sz="2200" dirty="0">
                <a:latin typeface="Verdana" pitchFamily="34" charset="0"/>
                <a:sym typeface="Symbol" pitchFamily="18" charset="2"/>
              </a:rPr>
              <a:t>        如：</a:t>
            </a:r>
            <a:r>
              <a:rPr lang="en-US" altLang="zh-CN" sz="2200" dirty="0">
                <a:latin typeface="Verdana" pitchFamily="34" charset="0"/>
                <a:sym typeface="Symbol" pitchFamily="18" charset="2"/>
              </a:rPr>
              <a:t>2 </a:t>
            </a:r>
            <a:r>
              <a:rPr lang="zh-CN" altLang="en-US" sz="2200" dirty="0">
                <a:latin typeface="Verdana" pitchFamily="34" charset="0"/>
                <a:sym typeface="Symbol" pitchFamily="18" charset="2"/>
              </a:rPr>
              <a:t>，</a:t>
            </a:r>
            <a:r>
              <a:rPr lang="en-US" altLang="zh-CN" sz="2200" dirty="0">
                <a:latin typeface="Verdana" pitchFamily="34" charset="0"/>
                <a:sym typeface="Symbol" pitchFamily="18" charset="2"/>
              </a:rPr>
              <a:t>12.59 </a:t>
            </a:r>
            <a:r>
              <a:rPr lang="zh-CN" altLang="en-US" sz="2200" dirty="0">
                <a:latin typeface="Verdana" pitchFamily="34" charset="0"/>
                <a:sym typeface="Symbol" pitchFamily="18" charset="2"/>
              </a:rPr>
              <a:t>，</a:t>
            </a:r>
            <a:r>
              <a:rPr lang="en-US" altLang="zh-CN" sz="2200" dirty="0">
                <a:latin typeface="Verdana" pitchFamily="34" charset="0"/>
                <a:sym typeface="Symbol" pitchFamily="18" charset="2"/>
              </a:rPr>
              <a:t>471.88</a:t>
            </a:r>
            <a:r>
              <a:rPr lang="zh-CN" altLang="en-US" sz="2200" dirty="0">
                <a:latin typeface="Verdana" pitchFamily="34" charset="0"/>
                <a:sym typeface="Symbol" pitchFamily="18" charset="2"/>
              </a:rPr>
              <a:t>等都是该集合中的元素。</a:t>
            </a:r>
            <a:r>
              <a:rPr lang="zh-CN" altLang="zh-CN" sz="2200" dirty="0">
                <a:sym typeface="Symbol" pitchFamily="18" charset="2"/>
              </a:rPr>
              <a:t> </a:t>
            </a:r>
          </a:p>
          <a:p>
            <a:pPr eaLnBrk="1" hangingPunct="1"/>
            <a:endParaRPr lang="zh-CN" altLang="zh-CN" sz="2200" dirty="0">
              <a:sym typeface="Symbol" pitchFamily="18" charset="2"/>
            </a:endParaRPr>
          </a:p>
        </p:txBody>
      </p:sp>
      <p:sp>
        <p:nvSpPr>
          <p:cNvPr id="158723" name="Rectangle 3"/>
          <p:cNvSpPr>
            <a:spLocks noChangeArrowheads="1"/>
          </p:cNvSpPr>
          <p:nvPr/>
        </p:nvSpPr>
        <p:spPr bwMode="auto">
          <a:xfrm>
            <a:off x="2224883" y="1870721"/>
            <a:ext cx="234711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200" dirty="0">
                <a:latin typeface="Lucida Console" pitchFamily="49" charset="0"/>
                <a:ea typeface="Gungsuh" pitchFamily="18" charset="-127"/>
                <a:sym typeface="Symbol" pitchFamily="18" charset="2"/>
              </a:rPr>
              <a:t> dd*(.dd*| )</a:t>
            </a:r>
          </a:p>
        </p:txBody>
      </p:sp>
      <p:sp>
        <p:nvSpPr>
          <p:cNvPr id="4" name="Rectangle 4">
            <a:extLst>
              <a:ext uri="{FF2B5EF4-FFF2-40B4-BE49-F238E27FC236}">
                <a16:creationId xmlns:a16="http://schemas.microsoft.com/office/drawing/2014/main" id="{E5B42C40-EB64-4D29-9E98-BA2208351D93}"/>
              </a:ext>
            </a:extLst>
          </p:cNvPr>
          <p:cNvSpPr>
            <a:spLocks noChangeArrowheads="1"/>
          </p:cNvSpPr>
          <p:nvPr/>
        </p:nvSpPr>
        <p:spPr bwMode="auto">
          <a:xfrm>
            <a:off x="539552" y="2301608"/>
            <a:ext cx="8305800" cy="1396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15000"/>
              </a:lnSpc>
              <a:spcBef>
                <a:spcPct val="50000"/>
              </a:spcBef>
              <a:buFontTx/>
              <a:buNone/>
            </a:pPr>
            <a:r>
              <a:rPr kumimoji="1" lang="zh-CN" altLang="en-US" sz="2200" dirty="0">
                <a:solidFill>
                  <a:srgbClr val="0000CC"/>
                </a:solidFill>
                <a:latin typeface="Verdana" pitchFamily="34" charset="0"/>
              </a:rPr>
              <a:t>例</a:t>
            </a:r>
            <a:r>
              <a:rPr kumimoji="1" lang="en-US" altLang="zh-CN" sz="2200" dirty="0">
                <a:solidFill>
                  <a:srgbClr val="0000CC"/>
                </a:solidFill>
                <a:latin typeface="Verdana" pitchFamily="34" charset="0"/>
              </a:rPr>
              <a:t>3</a:t>
            </a:r>
            <a:r>
              <a:rPr kumimoji="1" lang="zh-CN" altLang="en-US" sz="2200" dirty="0">
                <a:latin typeface="Verdana" pitchFamily="34" charset="0"/>
              </a:rPr>
              <a:t>：</a:t>
            </a:r>
            <a:r>
              <a:rPr lang="zh-CN" altLang="en-US" sz="2200" dirty="0"/>
              <a:t>令</a:t>
            </a:r>
            <a:r>
              <a:rPr lang="zh-CN" altLang="en-US" sz="2200" dirty="0">
                <a:sym typeface="Symbol" pitchFamily="18" charset="2"/>
              </a:rPr>
              <a:t>＝</a:t>
            </a:r>
            <a:r>
              <a:rPr lang="en-US" altLang="zh-CN" sz="2200" dirty="0">
                <a:sym typeface="Symbol" pitchFamily="18" charset="2"/>
              </a:rPr>
              <a:t>{d</a:t>
            </a:r>
            <a:r>
              <a:rPr lang="zh-CN" altLang="en-US" sz="2200" dirty="0">
                <a:sym typeface="Symbol" pitchFamily="18" charset="2"/>
              </a:rPr>
              <a:t>， ，</a:t>
            </a:r>
            <a:r>
              <a:rPr lang="en-US" altLang="zh-CN" sz="2200" dirty="0">
                <a:sym typeface="Symbol" pitchFamily="18" charset="2"/>
              </a:rPr>
              <a:t>e</a:t>
            </a:r>
            <a:r>
              <a:rPr lang="zh-CN" altLang="en-US" sz="2200" dirty="0">
                <a:sym typeface="Symbol" pitchFamily="18" charset="2"/>
              </a:rPr>
              <a:t>，＋，－</a:t>
            </a:r>
            <a:r>
              <a:rPr lang="en-US" altLang="zh-CN" sz="2200" dirty="0">
                <a:sym typeface="Symbol" pitchFamily="18" charset="2"/>
              </a:rPr>
              <a:t>}</a:t>
            </a:r>
            <a:r>
              <a:rPr lang="zh-CN" altLang="en-US" sz="2200" dirty="0">
                <a:sym typeface="Symbol" pitchFamily="18" charset="2"/>
              </a:rPr>
              <a:t>，其中</a:t>
            </a:r>
            <a:r>
              <a:rPr lang="en-US" altLang="zh-CN" sz="2200" dirty="0">
                <a:sym typeface="Symbol" pitchFamily="18" charset="2"/>
              </a:rPr>
              <a:t>d</a:t>
            </a:r>
            <a:r>
              <a:rPr lang="zh-CN" altLang="en-US" sz="2200" dirty="0">
                <a:sym typeface="Symbol" pitchFamily="18" charset="2"/>
              </a:rPr>
              <a:t>为</a:t>
            </a:r>
            <a:r>
              <a:rPr lang="en-US" altLang="zh-CN" sz="2200" dirty="0">
                <a:sym typeface="Symbol" pitchFamily="18" charset="2"/>
              </a:rPr>
              <a:t>0</a:t>
            </a:r>
            <a:r>
              <a:rPr lang="zh-CN" altLang="en-US" sz="2200" dirty="0">
                <a:sym typeface="Symbol" pitchFamily="18" charset="2"/>
              </a:rPr>
              <a:t>～</a:t>
            </a:r>
            <a:r>
              <a:rPr lang="en-US" altLang="zh-CN" sz="2200" dirty="0">
                <a:sym typeface="Symbol" pitchFamily="18" charset="2"/>
              </a:rPr>
              <a:t>9</a:t>
            </a:r>
            <a:r>
              <a:rPr lang="zh-CN" altLang="en-US" sz="2200" dirty="0">
                <a:sym typeface="Symbol" pitchFamily="18" charset="2"/>
              </a:rPr>
              <a:t>中的数字。</a:t>
            </a:r>
            <a:r>
              <a:rPr lang="zh-CN" altLang="zh-CN" sz="2200" dirty="0"/>
              <a:t>写出</a:t>
            </a:r>
            <a:r>
              <a:rPr lang="en-US" altLang="zh-CN" sz="2200" dirty="0"/>
              <a:t>Sample</a:t>
            </a:r>
            <a:r>
              <a:rPr lang="zh-CN" altLang="zh-CN" sz="2200" dirty="0"/>
              <a:t>语言中无符号十进制浮点数的正则表达式。</a:t>
            </a:r>
          </a:p>
          <a:p>
            <a:pPr eaLnBrk="1" hangingPunct="1">
              <a:lnSpc>
                <a:spcPct val="115000"/>
              </a:lnSpc>
              <a:spcBef>
                <a:spcPct val="50000"/>
              </a:spcBef>
              <a:buFontTx/>
              <a:buNone/>
            </a:pPr>
            <a:endParaRPr lang="zh-CN" altLang="en-US" sz="2200" dirty="0">
              <a:sym typeface="Symbol" pitchFamily="18" charset="2"/>
            </a:endParaRPr>
          </a:p>
        </p:txBody>
      </p:sp>
      <p:graphicFrame>
        <p:nvGraphicFramePr>
          <p:cNvPr id="5" name="对象 4">
            <a:extLst>
              <a:ext uri="{FF2B5EF4-FFF2-40B4-BE49-F238E27FC236}">
                <a16:creationId xmlns:a16="http://schemas.microsoft.com/office/drawing/2014/main" id="{3F10511D-4B27-42B3-8E02-8C6683C70601}"/>
              </a:ext>
            </a:extLst>
          </p:cNvPr>
          <p:cNvGraphicFramePr>
            <a:graphicFrameLocks noChangeAspect="1"/>
          </p:cNvGraphicFramePr>
          <p:nvPr>
            <p:extLst>
              <p:ext uri="{D42A27DB-BD31-4B8C-83A1-F6EECF244321}">
                <p14:modId xmlns:p14="http://schemas.microsoft.com/office/powerpoint/2010/main" val="1138000530"/>
              </p:ext>
            </p:extLst>
          </p:nvPr>
        </p:nvGraphicFramePr>
        <p:xfrm>
          <a:off x="609600" y="3219822"/>
          <a:ext cx="7280275" cy="1197769"/>
        </p:xfrm>
        <a:graphic>
          <a:graphicData uri="http://schemas.openxmlformats.org/presentationml/2006/ole">
            <mc:AlternateContent xmlns:mc="http://schemas.openxmlformats.org/markup-compatibility/2006">
              <mc:Choice xmlns:v="urn:schemas-microsoft-com:vml" Requires="v">
                <p:oleObj spid="_x0000_s47109" name="Visio" r:id="rId4" imgW="3557729" imgH="777456" progId="Visio.Drawing.11">
                  <p:embed/>
                </p:oleObj>
              </mc:Choice>
              <mc:Fallback>
                <p:oleObj name="Visio" r:id="rId4" imgW="3557729" imgH="777456" progId="Visio.Drawing.11">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219822"/>
                        <a:ext cx="7280275" cy="1197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3">
            <a:extLst>
              <a:ext uri="{FF2B5EF4-FFF2-40B4-BE49-F238E27FC236}">
                <a16:creationId xmlns:a16="http://schemas.microsoft.com/office/drawing/2014/main" id="{2FE03F85-366F-4E8B-BAAE-CB3E9B0B90CC}"/>
              </a:ext>
            </a:extLst>
          </p:cNvPr>
          <p:cNvSpPr txBox="1"/>
          <p:nvPr/>
        </p:nvSpPr>
        <p:spPr>
          <a:xfrm>
            <a:off x="7020272" y="2789344"/>
            <a:ext cx="1298269" cy="369332"/>
          </a:xfrm>
          <a:prstGeom prst="rect">
            <a:avLst/>
          </a:prstGeom>
          <a:noFill/>
        </p:spPr>
        <p:txBody>
          <a:bodyPr wrap="square" rtlCol="0">
            <a:spAutoFit/>
          </a:bodyPr>
          <a:lstStyle/>
          <a:p>
            <a:r>
              <a:rPr lang="en-US" altLang="zh-CN" dirty="0"/>
              <a:t>3.25E+2</a:t>
            </a:r>
            <a:endParaRPr lang="zh-CN" altLang="en-US" dirty="0"/>
          </a:p>
        </p:txBody>
      </p:sp>
    </p:spTree>
    <p:extLst>
      <p:ext uri="{BB962C8B-B14F-4D97-AF65-F5344CB8AC3E}">
        <p14:creationId xmlns:p14="http://schemas.microsoft.com/office/powerpoint/2010/main" val="249012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8723"/>
                                        </p:tgtEl>
                                        <p:attrNameLst>
                                          <p:attrName>style.visibility</p:attrName>
                                        </p:attrNameLst>
                                      </p:cBhvr>
                                      <p:to>
                                        <p:strVal val="visible"/>
                                      </p:to>
                                    </p:set>
                                    <p:animEffect transition="in" filter="slide(fromBottom)">
                                      <p:cBhvr>
                                        <p:cTn id="7" dur="500"/>
                                        <p:tgtEl>
                                          <p:spTgt spid="1587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autoUpdateAnimBg="0"/>
      <p:bldP spid="4"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39750" y="1"/>
            <a:ext cx="7772400" cy="573881"/>
          </a:xfrm>
        </p:spPr>
        <p:txBody>
          <a:bodyPr>
            <a:normAutofit fontScale="90000"/>
          </a:bodyPr>
          <a:lstStyle/>
          <a:p>
            <a:pPr eaLnBrk="1" hangingPunct="1"/>
            <a:r>
              <a:rPr lang="zh-CN" altLang="en-US" sz="4000" b="1">
                <a:ea typeface="楷体_GB2312" pitchFamily="49" charset="-122"/>
              </a:rPr>
              <a:t>正则表达式的等价</a:t>
            </a:r>
          </a:p>
        </p:txBody>
      </p:sp>
      <p:sp>
        <p:nvSpPr>
          <p:cNvPr id="44035" name="Rectangle 3"/>
          <p:cNvSpPr>
            <a:spLocks noGrp="1" noChangeArrowheads="1"/>
          </p:cNvSpPr>
          <p:nvPr>
            <p:ph type="body" idx="1"/>
          </p:nvPr>
        </p:nvSpPr>
        <p:spPr>
          <a:xfrm>
            <a:off x="296562" y="691754"/>
            <a:ext cx="8523910" cy="4451746"/>
          </a:xfrm>
        </p:spPr>
        <p:style>
          <a:lnRef idx="2">
            <a:schemeClr val="accent1"/>
          </a:lnRef>
          <a:fillRef idx="1">
            <a:schemeClr val="lt1"/>
          </a:fillRef>
          <a:effectRef idx="0">
            <a:schemeClr val="accent1"/>
          </a:effectRef>
          <a:fontRef idx="minor">
            <a:schemeClr val="dk1"/>
          </a:fontRef>
        </p:style>
        <p:txBody>
          <a:bodyPr>
            <a:noAutofit/>
          </a:bodyPr>
          <a:lstStyle/>
          <a:p>
            <a:pPr eaLnBrk="1" hangingPunct="1">
              <a:lnSpc>
                <a:spcPct val="90000"/>
              </a:lnSpc>
            </a:pPr>
            <a:r>
              <a:rPr lang="zh-CN" altLang="en-US" sz="2200" dirty="0">
                <a:latin typeface="Times New Roman" panose="02020603050405020304" pitchFamily="18" charset="0"/>
                <a:cs typeface="Times New Roman" panose="02020603050405020304" pitchFamily="18" charset="0"/>
              </a:rPr>
              <a:t>若两个正则表达式</a:t>
            </a:r>
            <a:r>
              <a:rPr lang="en-US" altLang="zh-CN" sz="2200" dirty="0">
                <a:latin typeface="Times New Roman" panose="02020603050405020304" pitchFamily="18" charset="0"/>
                <a:cs typeface="Times New Roman" panose="02020603050405020304" pitchFamily="18" charset="0"/>
                <a:sym typeface="Symbol" pitchFamily="18" charset="2"/>
              </a:rPr>
              <a:t>e</a:t>
            </a:r>
            <a:r>
              <a:rPr lang="en-US" altLang="zh-CN" sz="2200" baseline="-25000" dirty="0">
                <a:latin typeface="Times New Roman" panose="02020603050405020304" pitchFamily="18" charset="0"/>
                <a:cs typeface="Times New Roman" panose="02020603050405020304" pitchFamily="18" charset="0"/>
                <a:sym typeface="Symbol" pitchFamily="18" charset="2"/>
              </a:rPr>
              <a:t>1</a:t>
            </a:r>
            <a:r>
              <a:rPr lang="zh-CN" altLang="en-US" sz="2200" dirty="0">
                <a:latin typeface="Times New Roman" panose="02020603050405020304" pitchFamily="18" charset="0"/>
                <a:cs typeface="Times New Roman" panose="02020603050405020304" pitchFamily="18" charset="0"/>
                <a:sym typeface="Symbol" pitchFamily="18" charset="2"/>
              </a:rPr>
              <a:t>和</a:t>
            </a:r>
            <a:r>
              <a:rPr lang="en-US" altLang="zh-CN" sz="2200" dirty="0">
                <a:latin typeface="Times New Roman" panose="02020603050405020304" pitchFamily="18" charset="0"/>
                <a:cs typeface="Times New Roman" panose="02020603050405020304" pitchFamily="18" charset="0"/>
                <a:sym typeface="Symbol" pitchFamily="18" charset="2"/>
              </a:rPr>
              <a:t>e</a:t>
            </a:r>
            <a:r>
              <a:rPr lang="en-US" altLang="zh-CN" sz="2200" baseline="-25000" dirty="0">
                <a:latin typeface="Times New Roman" panose="02020603050405020304" pitchFamily="18" charset="0"/>
                <a:cs typeface="Times New Roman" panose="02020603050405020304" pitchFamily="18" charset="0"/>
                <a:sym typeface="Symbol" pitchFamily="18" charset="2"/>
              </a:rPr>
              <a:t>2</a:t>
            </a:r>
            <a:r>
              <a:rPr lang="zh-CN" altLang="en-US" sz="2200" dirty="0">
                <a:latin typeface="Times New Roman" panose="02020603050405020304" pitchFamily="18" charset="0"/>
                <a:cs typeface="Times New Roman" panose="02020603050405020304" pitchFamily="18" charset="0"/>
              </a:rPr>
              <a:t>所表示的正规集相同</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则</a:t>
            </a:r>
            <a:r>
              <a:rPr lang="en-US" altLang="zh-CN" sz="2200" dirty="0">
                <a:latin typeface="Times New Roman" panose="02020603050405020304" pitchFamily="18" charset="0"/>
                <a:cs typeface="Times New Roman" panose="02020603050405020304" pitchFamily="18" charset="0"/>
                <a:sym typeface="Symbol" pitchFamily="18" charset="2"/>
              </a:rPr>
              <a:t>e</a:t>
            </a:r>
            <a:r>
              <a:rPr lang="en-US" altLang="zh-CN" sz="2200" baseline="-25000" dirty="0">
                <a:latin typeface="Times New Roman" panose="02020603050405020304" pitchFamily="18" charset="0"/>
                <a:cs typeface="Times New Roman" panose="02020603050405020304" pitchFamily="18" charset="0"/>
                <a:sym typeface="Symbol" pitchFamily="18" charset="2"/>
              </a:rPr>
              <a:t>1</a:t>
            </a:r>
            <a:r>
              <a:rPr lang="zh-CN" altLang="en-US" sz="2200" dirty="0">
                <a:latin typeface="Times New Roman" panose="02020603050405020304" pitchFamily="18" charset="0"/>
                <a:cs typeface="Times New Roman" panose="02020603050405020304" pitchFamily="18" charset="0"/>
                <a:sym typeface="Symbol" pitchFamily="18" charset="2"/>
              </a:rPr>
              <a:t>和</a:t>
            </a:r>
            <a:r>
              <a:rPr lang="en-US" altLang="zh-CN" sz="2200" dirty="0">
                <a:latin typeface="Times New Roman" panose="02020603050405020304" pitchFamily="18" charset="0"/>
                <a:cs typeface="Times New Roman" panose="02020603050405020304" pitchFamily="18" charset="0"/>
                <a:sym typeface="Symbol" pitchFamily="18" charset="2"/>
              </a:rPr>
              <a:t>e</a:t>
            </a:r>
            <a:r>
              <a:rPr lang="en-US" altLang="zh-CN" sz="2200" baseline="-25000" dirty="0">
                <a:latin typeface="Times New Roman" panose="02020603050405020304" pitchFamily="18" charset="0"/>
                <a:cs typeface="Times New Roman" panose="02020603050405020304" pitchFamily="18" charset="0"/>
                <a:sym typeface="Symbol" pitchFamily="18" charset="2"/>
              </a:rPr>
              <a:t>2</a:t>
            </a:r>
            <a:r>
              <a:rPr lang="zh-CN" altLang="en-US" sz="2200" b="1" dirty="0">
                <a:solidFill>
                  <a:srgbClr val="FF3399"/>
                </a:solidFill>
                <a:latin typeface="Times New Roman" panose="02020603050405020304" pitchFamily="18" charset="0"/>
                <a:cs typeface="Times New Roman" panose="02020603050405020304" pitchFamily="18" charset="0"/>
                <a:sym typeface="Symbol" pitchFamily="18" charset="2"/>
              </a:rPr>
              <a:t>等价</a:t>
            </a:r>
            <a:r>
              <a:rPr lang="en-US" altLang="zh-CN" sz="2200" dirty="0">
                <a:latin typeface="Times New Roman" panose="02020603050405020304" pitchFamily="18" charset="0"/>
                <a:cs typeface="Times New Roman" panose="02020603050405020304" pitchFamily="18" charset="0"/>
                <a:sym typeface="Symbol" pitchFamily="18" charset="2"/>
              </a:rPr>
              <a:t>,</a:t>
            </a:r>
            <a:r>
              <a:rPr lang="zh-CN" altLang="en-US" sz="2200" dirty="0">
                <a:latin typeface="Times New Roman" panose="02020603050405020304" pitchFamily="18" charset="0"/>
                <a:cs typeface="Times New Roman" panose="02020603050405020304" pitchFamily="18" charset="0"/>
                <a:sym typeface="Symbol" pitchFamily="18" charset="2"/>
              </a:rPr>
              <a:t>写作</a:t>
            </a:r>
            <a:r>
              <a:rPr lang="en-US" altLang="zh-CN" sz="2200" dirty="0">
                <a:latin typeface="Times New Roman" panose="02020603050405020304" pitchFamily="18" charset="0"/>
                <a:cs typeface="Times New Roman" panose="02020603050405020304" pitchFamily="18" charset="0"/>
                <a:sym typeface="Symbol" pitchFamily="18" charset="2"/>
              </a:rPr>
              <a:t>e</a:t>
            </a:r>
            <a:r>
              <a:rPr lang="en-US" altLang="zh-CN" sz="2200" baseline="-25000" dirty="0">
                <a:latin typeface="Times New Roman" panose="02020603050405020304" pitchFamily="18" charset="0"/>
                <a:cs typeface="Times New Roman" panose="02020603050405020304" pitchFamily="18" charset="0"/>
                <a:sym typeface="Symbol" pitchFamily="18" charset="2"/>
              </a:rPr>
              <a:t>1</a:t>
            </a:r>
            <a:r>
              <a:rPr lang="en-US" altLang="zh-CN" sz="2200" dirty="0">
                <a:latin typeface="Times New Roman" panose="02020603050405020304" pitchFamily="18" charset="0"/>
                <a:cs typeface="Times New Roman" panose="02020603050405020304" pitchFamily="18" charset="0"/>
                <a:sym typeface="Symbol" pitchFamily="18" charset="2"/>
              </a:rPr>
              <a:t>=e</a:t>
            </a:r>
            <a:r>
              <a:rPr lang="en-US" altLang="zh-CN" sz="2200" baseline="-25000" dirty="0">
                <a:latin typeface="Times New Roman" panose="02020603050405020304" pitchFamily="18" charset="0"/>
                <a:cs typeface="Times New Roman" panose="02020603050405020304" pitchFamily="18" charset="0"/>
                <a:sym typeface="Symbol" pitchFamily="18" charset="2"/>
              </a:rPr>
              <a:t>2</a:t>
            </a:r>
            <a:r>
              <a:rPr lang="zh-CN" altLang="en-US" sz="2200" dirty="0">
                <a:latin typeface="Times New Roman" panose="02020603050405020304" pitchFamily="18" charset="0"/>
                <a:cs typeface="Times New Roman" panose="02020603050405020304" pitchFamily="18" charset="0"/>
              </a:rPr>
              <a:t>。</a:t>
            </a:r>
          </a:p>
        </p:txBody>
      </p:sp>
      <p:sp>
        <p:nvSpPr>
          <p:cNvPr id="2" name="矩形 1"/>
          <p:cNvSpPr/>
          <p:nvPr/>
        </p:nvSpPr>
        <p:spPr>
          <a:xfrm>
            <a:off x="1547664" y="1851670"/>
            <a:ext cx="2884123" cy="400110"/>
          </a:xfrm>
          <a:prstGeom prst="rect">
            <a:avLst/>
          </a:prstGeom>
        </p:spPr>
        <p:txBody>
          <a:bodyPr wrap="none">
            <a:spAutoFit/>
          </a:bodyPr>
          <a:lstStyle/>
          <a:p>
            <a:r>
              <a:rPr lang="zh-CN" altLang="en-US" sz="2000" dirty="0"/>
              <a:t>证明：   </a:t>
            </a:r>
            <a:r>
              <a:rPr lang="en-US" altLang="zh-CN" sz="2000" dirty="0"/>
              <a:t>b(ab)</a:t>
            </a:r>
            <a:r>
              <a:rPr lang="en-US" altLang="zh-CN" sz="2000" baseline="30000" dirty="0"/>
              <a:t> *</a:t>
            </a:r>
            <a:r>
              <a:rPr lang="en-US" altLang="zh-CN" sz="2000" dirty="0"/>
              <a:t>=(</a:t>
            </a:r>
            <a:r>
              <a:rPr lang="en-US" altLang="zh-CN" sz="2000" dirty="0" err="1"/>
              <a:t>ba</a:t>
            </a:r>
            <a:r>
              <a:rPr lang="en-US" altLang="zh-CN" sz="2000" dirty="0"/>
              <a:t>)</a:t>
            </a:r>
            <a:r>
              <a:rPr lang="en-US" altLang="zh-CN" sz="2000" baseline="30000" dirty="0"/>
              <a:t>*</a:t>
            </a:r>
            <a:r>
              <a:rPr lang="en-US" altLang="zh-CN" sz="2000" dirty="0"/>
              <a:t>b</a:t>
            </a:r>
            <a:endParaRPr lang="zh-CN" altLang="en-US" sz="2000" dirty="0"/>
          </a:p>
        </p:txBody>
      </p:sp>
      <p:sp>
        <p:nvSpPr>
          <p:cNvPr id="4" name="Rectangle 3"/>
          <p:cNvSpPr txBox="1">
            <a:spLocks noChangeArrowheads="1"/>
          </p:cNvSpPr>
          <p:nvPr/>
        </p:nvSpPr>
        <p:spPr>
          <a:xfrm>
            <a:off x="368570" y="1491630"/>
            <a:ext cx="8163870" cy="3456384"/>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lnSpc>
                <a:spcPct val="90000"/>
              </a:lnSpc>
              <a:spcBef>
                <a:spcPct val="40000"/>
              </a:spcBef>
            </a:pPr>
            <a:r>
              <a:rPr lang="zh-CN" altLang="en-US" sz="2200" dirty="0">
                <a:latin typeface="Times New Roman" panose="02020603050405020304" pitchFamily="18" charset="0"/>
                <a:cs typeface="Times New Roman" panose="02020603050405020304" pitchFamily="18" charset="0"/>
              </a:rPr>
              <a:t>设</a:t>
            </a:r>
            <a:r>
              <a:rPr lang="en-US" altLang="zh-CN" sz="2200" dirty="0" err="1">
                <a:latin typeface="Times New Roman" panose="02020603050405020304" pitchFamily="18" charset="0"/>
                <a:cs typeface="Times New Roman" panose="02020603050405020304" pitchFamily="18" charset="0"/>
              </a:rPr>
              <a:t>r,s,t</a:t>
            </a:r>
            <a:r>
              <a:rPr lang="zh-CN" altLang="en-US" sz="2200" dirty="0">
                <a:latin typeface="Times New Roman" panose="02020603050405020304" pitchFamily="18" charset="0"/>
                <a:cs typeface="Times New Roman" panose="02020603050405020304" pitchFamily="18" charset="0"/>
              </a:rPr>
              <a:t>为正则表达式，服从的代数规律有：</a:t>
            </a:r>
          </a:p>
          <a:p>
            <a:pPr lvl="1">
              <a:lnSpc>
                <a:spcPct val="90000"/>
              </a:lnSpc>
            </a:pPr>
            <a:r>
              <a:rPr lang="en-US" altLang="zh-CN" dirty="0">
                <a:latin typeface="Times New Roman" panose="02020603050405020304" pitchFamily="18" charset="0"/>
                <a:cs typeface="Times New Roman" panose="02020603050405020304" pitchFamily="18" charset="0"/>
              </a:rPr>
              <a:t>1.  </a:t>
            </a:r>
            <a:r>
              <a:rPr lang="en-US" altLang="zh-CN" dirty="0" err="1">
                <a:latin typeface="Times New Roman" panose="02020603050405020304" pitchFamily="18" charset="0"/>
                <a:cs typeface="Times New Roman" panose="02020603050405020304" pitchFamily="18" charset="0"/>
              </a:rPr>
              <a:t>r</a:t>
            </a:r>
            <a:r>
              <a:rPr lang="en-US" altLang="zh-CN" dirty="0" err="1">
                <a:latin typeface="Times New Roman" panose="02020603050405020304" pitchFamily="18" charset="0"/>
                <a:cs typeface="Times New Roman" panose="02020603050405020304" pitchFamily="18" charset="0"/>
                <a:sym typeface="Symbol" pitchFamily="18" charset="2"/>
              </a:rPr>
              <a:t>s</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sym typeface="Symbol" pitchFamily="18" charset="2"/>
              </a:rPr>
              <a:t>sr</a:t>
            </a:r>
            <a:r>
              <a:rPr lang="en-US" altLang="zh-CN" dirty="0">
                <a:latin typeface="Times New Roman" panose="02020603050405020304" pitchFamily="18" charset="0"/>
                <a:cs typeface="Times New Roman" panose="02020603050405020304" pitchFamily="18" charset="0"/>
                <a:sym typeface="Symbol" pitchFamily="18" charset="2"/>
              </a:rPr>
              <a:t>		“</a:t>
            </a:r>
            <a:r>
              <a:rPr lang="zh-CN" altLang="en-US" dirty="0">
                <a:latin typeface="Times New Roman" panose="02020603050405020304" pitchFamily="18" charset="0"/>
                <a:cs typeface="Times New Roman" panose="02020603050405020304" pitchFamily="18" charset="0"/>
                <a:sym typeface="Symbol" pitchFamily="18" charset="2"/>
              </a:rPr>
              <a:t>或”服从交换律</a:t>
            </a:r>
          </a:p>
          <a:p>
            <a:pPr lvl="1">
              <a:lnSpc>
                <a:spcPct val="90000"/>
              </a:lnSpc>
            </a:pPr>
            <a:r>
              <a:rPr lang="zh-CN" altLang="zh-CN" dirty="0">
                <a:latin typeface="Times New Roman" panose="02020603050405020304" pitchFamily="18" charset="0"/>
                <a:cs typeface="Times New Roman" panose="02020603050405020304" pitchFamily="18" charset="0"/>
                <a:sym typeface="Symbol" pitchFamily="18" charset="2"/>
              </a:rPr>
              <a:t>2</a:t>
            </a:r>
            <a:r>
              <a:rPr lang="en-US" altLang="zh-CN" dirty="0">
                <a:latin typeface="Times New Roman" panose="02020603050405020304" pitchFamily="18" charset="0"/>
                <a:cs typeface="Times New Roman" panose="02020603050405020304" pitchFamily="18" charset="0"/>
                <a:sym typeface="Symbol" pitchFamily="18" charset="2"/>
              </a:rPr>
              <a:t>.  </a:t>
            </a:r>
            <a:r>
              <a:rPr lang="en-US" altLang="zh-CN"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sym typeface="Symbol" pitchFamily="18" charset="2"/>
              </a:rPr>
              <a:t>st</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rPr>
              <a:t>r</a:t>
            </a:r>
            <a:r>
              <a:rPr lang="en-US" altLang="zh-CN" dirty="0" err="1">
                <a:latin typeface="Times New Roman" panose="02020603050405020304" pitchFamily="18" charset="0"/>
                <a:cs typeface="Times New Roman" panose="02020603050405020304" pitchFamily="18" charset="0"/>
                <a:sym typeface="Symbol" pitchFamily="18" charset="2"/>
              </a:rPr>
              <a:t>s</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itchFamily="18" charset="2"/>
              </a:rPr>
              <a:t>t   	“</a:t>
            </a:r>
            <a:r>
              <a:rPr lang="zh-CN" altLang="en-US" dirty="0">
                <a:latin typeface="Times New Roman" panose="02020603050405020304" pitchFamily="18" charset="0"/>
                <a:cs typeface="Times New Roman" panose="02020603050405020304" pitchFamily="18" charset="0"/>
                <a:sym typeface="Symbol" pitchFamily="18" charset="2"/>
              </a:rPr>
              <a:t>或”的可结合律</a:t>
            </a:r>
          </a:p>
          <a:p>
            <a:pPr lvl="1">
              <a:lnSpc>
                <a:spcPct val="90000"/>
              </a:lnSpc>
            </a:pPr>
            <a:r>
              <a:rPr lang="en-US" altLang="zh-CN" dirty="0">
                <a:latin typeface="Times New Roman" panose="02020603050405020304" pitchFamily="18" charset="0"/>
                <a:cs typeface="Times New Roman" panose="02020603050405020304" pitchFamily="18" charset="0"/>
                <a:sym typeface="Symbol" pitchFamily="18" charset="2"/>
              </a:rPr>
              <a:t>3.  (</a:t>
            </a:r>
            <a:r>
              <a:rPr lang="en-US" altLang="zh-CN" dirty="0" err="1">
                <a:latin typeface="Times New Roman" panose="02020603050405020304" pitchFamily="18" charset="0"/>
                <a:cs typeface="Times New Roman" panose="02020603050405020304" pitchFamily="18" charset="0"/>
                <a:sym typeface="Symbol" pitchFamily="18" charset="2"/>
              </a:rPr>
              <a:t>rs</a:t>
            </a:r>
            <a:r>
              <a:rPr lang="en-US" altLang="zh-CN" dirty="0">
                <a:latin typeface="Times New Roman" panose="02020603050405020304" pitchFamily="18" charset="0"/>
                <a:cs typeface="Times New Roman" panose="02020603050405020304" pitchFamily="18" charset="0"/>
                <a:sym typeface="Symbol" pitchFamily="18" charset="2"/>
              </a:rPr>
              <a:t>)t=r(</a:t>
            </a:r>
            <a:r>
              <a:rPr lang="en-US" altLang="zh-CN" dirty="0" err="1">
                <a:latin typeface="Times New Roman" panose="02020603050405020304" pitchFamily="18" charset="0"/>
                <a:cs typeface="Times New Roman" panose="02020603050405020304" pitchFamily="18" charset="0"/>
                <a:sym typeface="Symbol" pitchFamily="18" charset="2"/>
              </a:rPr>
              <a:t>st</a:t>
            </a:r>
            <a:r>
              <a:rPr lang="en-US" altLang="zh-CN" dirty="0">
                <a:latin typeface="Times New Roman" panose="02020603050405020304" pitchFamily="18" charset="0"/>
                <a:cs typeface="Times New Roman" panose="02020603050405020304" pitchFamily="18" charset="0"/>
                <a:sym typeface="Symbol" pitchFamily="18" charset="2"/>
              </a:rPr>
              <a:t>)		“</a:t>
            </a:r>
            <a:r>
              <a:rPr lang="zh-CN" altLang="en-US" dirty="0">
                <a:latin typeface="Times New Roman" panose="02020603050405020304" pitchFamily="18" charset="0"/>
                <a:cs typeface="Times New Roman" panose="02020603050405020304" pitchFamily="18" charset="0"/>
                <a:sym typeface="Symbol" pitchFamily="18" charset="2"/>
              </a:rPr>
              <a:t>连接”的可结合律</a:t>
            </a:r>
          </a:p>
          <a:p>
            <a:pPr lvl="1">
              <a:lnSpc>
                <a:spcPct val="90000"/>
              </a:lnSpc>
            </a:pPr>
            <a:r>
              <a:rPr lang="en-US" altLang="zh-CN" dirty="0">
                <a:latin typeface="Times New Roman" panose="02020603050405020304" pitchFamily="18" charset="0"/>
                <a:cs typeface="Times New Roman" panose="02020603050405020304" pitchFamily="18" charset="0"/>
                <a:sym typeface="Symbol" pitchFamily="18" charset="2"/>
              </a:rPr>
              <a:t>4.  r(</a:t>
            </a:r>
            <a:r>
              <a:rPr lang="en-US" altLang="zh-CN" dirty="0" err="1">
                <a:latin typeface="Times New Roman" panose="02020603050405020304" pitchFamily="18" charset="0"/>
                <a:cs typeface="Times New Roman" panose="02020603050405020304" pitchFamily="18" charset="0"/>
                <a:sym typeface="Symbol" pitchFamily="18" charset="2"/>
              </a:rPr>
              <a:t>st</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sym typeface="Symbol" pitchFamily="18" charset="2"/>
              </a:rPr>
              <a:t>rsrt</a:t>
            </a:r>
            <a:endParaRPr lang="en-US" altLang="zh-CN" dirty="0">
              <a:latin typeface="Times New Roman" panose="02020603050405020304" pitchFamily="18" charset="0"/>
              <a:cs typeface="Times New Roman" panose="02020603050405020304" pitchFamily="18" charset="0"/>
              <a:sym typeface="Symbol" pitchFamily="18" charset="2"/>
            </a:endParaRPr>
          </a:p>
          <a:p>
            <a:pPr lvl="1">
              <a:lnSpc>
                <a:spcPct val="90000"/>
              </a:lnSpc>
              <a:buFontTx/>
              <a:buNone/>
            </a:pPr>
            <a:r>
              <a:rPr lang="en-US" altLang="zh-CN" dirty="0">
                <a:latin typeface="Times New Roman" panose="02020603050405020304" pitchFamily="18" charset="0"/>
                <a:cs typeface="Times New Roman" panose="02020603050405020304" pitchFamily="18" charset="0"/>
                <a:sym typeface="Symbol" pitchFamily="18" charset="2"/>
              </a:rPr>
              <a:t>        (</a:t>
            </a:r>
            <a:r>
              <a:rPr lang="en-US" altLang="zh-CN" dirty="0" err="1">
                <a:latin typeface="Times New Roman" panose="02020603050405020304" pitchFamily="18" charset="0"/>
                <a:cs typeface="Times New Roman" panose="02020603050405020304" pitchFamily="18" charset="0"/>
                <a:sym typeface="Symbol" pitchFamily="18" charset="2"/>
              </a:rPr>
              <a:t>st</a:t>
            </a:r>
            <a:r>
              <a:rPr lang="en-US" altLang="zh-CN" dirty="0">
                <a:latin typeface="Times New Roman" panose="02020603050405020304" pitchFamily="18" charset="0"/>
                <a:cs typeface="Times New Roman" panose="02020603050405020304" pitchFamily="18" charset="0"/>
                <a:sym typeface="Symbol" pitchFamily="18" charset="2"/>
              </a:rPr>
              <a:t>)r=</a:t>
            </a:r>
            <a:r>
              <a:rPr lang="en-US" altLang="zh-CN" dirty="0" err="1">
                <a:latin typeface="Times New Roman" panose="02020603050405020304" pitchFamily="18" charset="0"/>
                <a:cs typeface="Times New Roman" panose="02020603050405020304" pitchFamily="18" charset="0"/>
                <a:sym typeface="Symbol" pitchFamily="18" charset="2"/>
              </a:rPr>
              <a:t>srtr</a:t>
            </a:r>
            <a:r>
              <a:rPr lang="en-US" altLang="zh-CN" dirty="0">
                <a:latin typeface="Times New Roman" panose="02020603050405020304" pitchFamily="18" charset="0"/>
                <a:cs typeface="Times New Roman" panose="02020603050405020304" pitchFamily="18" charset="0"/>
                <a:sym typeface="Symbol" pitchFamily="18" charset="2"/>
              </a:rPr>
              <a:t>	             </a:t>
            </a:r>
            <a:r>
              <a:rPr lang="zh-CN" altLang="en-US" dirty="0">
                <a:latin typeface="Times New Roman" panose="02020603050405020304" pitchFamily="18" charset="0"/>
                <a:cs typeface="Times New Roman" panose="02020603050405020304" pitchFamily="18" charset="0"/>
                <a:sym typeface="Symbol" pitchFamily="18" charset="2"/>
              </a:rPr>
              <a:t>分配律 </a:t>
            </a:r>
          </a:p>
          <a:p>
            <a:pPr lvl="1">
              <a:lnSpc>
                <a:spcPct val="90000"/>
              </a:lnSpc>
            </a:pPr>
            <a:r>
              <a:rPr lang="en-US" altLang="zh-CN" dirty="0">
                <a:latin typeface="Times New Roman" panose="02020603050405020304" pitchFamily="18" charset="0"/>
                <a:cs typeface="Times New Roman" panose="02020603050405020304" pitchFamily="18" charset="0"/>
                <a:sym typeface="Symbol" pitchFamily="18" charset="2"/>
              </a:rPr>
              <a:t>5.  r=r=r		             </a:t>
            </a:r>
            <a:r>
              <a:rPr lang="zh-CN" altLang="en-US" dirty="0">
                <a:latin typeface="Times New Roman" panose="02020603050405020304" pitchFamily="18" charset="0"/>
                <a:cs typeface="Times New Roman" panose="02020603050405020304" pitchFamily="18" charset="0"/>
                <a:sym typeface="Symbol" pitchFamily="18" charset="2"/>
              </a:rPr>
              <a:t>是“连接”的恒等元素   零一律</a:t>
            </a:r>
          </a:p>
          <a:p>
            <a:pPr lvl="1" algn="just">
              <a:lnSpc>
                <a:spcPct val="90000"/>
              </a:lnSpc>
            </a:pPr>
            <a:r>
              <a:rPr lang="en-US" altLang="zh-CN" dirty="0">
                <a:latin typeface="Times New Roman" panose="02020603050405020304" pitchFamily="18" charset="0"/>
                <a:cs typeface="Times New Roman" panose="02020603050405020304" pitchFamily="18" charset="0"/>
                <a:sym typeface="Symbol" pitchFamily="18" charset="2"/>
              </a:rPr>
              <a:t>6. e</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zh-CN" altLang="en-US"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e</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zh-CN" altLang="en-US"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ε</a:t>
            </a:r>
          </a:p>
          <a:p>
            <a:pPr lvl="1" algn="just">
              <a:lnSpc>
                <a:spcPct val="90000"/>
              </a:lnSpc>
            </a:pPr>
            <a:r>
              <a:rPr lang="en-US" altLang="zh-CN" dirty="0">
                <a:latin typeface="Times New Roman" panose="02020603050405020304" pitchFamily="18" charset="0"/>
                <a:cs typeface="Times New Roman" panose="02020603050405020304" pitchFamily="18" charset="0"/>
                <a:sym typeface="Symbol" pitchFamily="18" charset="2"/>
              </a:rPr>
              <a:t>7.  e</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=e</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e=</a:t>
            </a:r>
            <a:r>
              <a:rPr lang="en-US" altLang="zh-CN" dirty="0" err="1">
                <a:latin typeface="Times New Roman" panose="02020603050405020304" pitchFamily="18" charset="0"/>
                <a:cs typeface="Times New Roman" panose="02020603050405020304" pitchFamily="18" charset="0"/>
                <a:sym typeface="Symbol" pitchFamily="18" charset="2"/>
              </a:rPr>
              <a:t>ee</a:t>
            </a:r>
            <a:r>
              <a:rPr lang="en-US" altLang="zh-CN" baseline="30000" dirty="0">
                <a:latin typeface="Times New Roman" panose="02020603050405020304" pitchFamily="18" charset="0"/>
                <a:cs typeface="Times New Roman" panose="02020603050405020304" pitchFamily="18" charset="0"/>
                <a:sym typeface="Symbol" pitchFamily="18" charset="2"/>
              </a:rPr>
              <a:t>*</a:t>
            </a:r>
            <a:endParaRPr lang="en-US" altLang="zh-CN" dirty="0">
              <a:latin typeface="Times New Roman" panose="02020603050405020304" pitchFamily="18" charset="0"/>
              <a:cs typeface="Times New Roman" panose="02020603050405020304" pitchFamily="18" charset="0"/>
              <a:sym typeface="Symbol" pitchFamily="18" charset="2"/>
            </a:endParaRPr>
          </a:p>
          <a:p>
            <a:pPr lvl="1">
              <a:lnSpc>
                <a:spcPct val="90000"/>
              </a:lnSpc>
            </a:pPr>
            <a:r>
              <a:rPr lang="en-US" altLang="zh-CN" dirty="0">
                <a:latin typeface="Times New Roman" panose="02020603050405020304" pitchFamily="18" charset="0"/>
                <a:cs typeface="Times New Roman" panose="02020603050405020304" pitchFamily="18" charset="0"/>
                <a:sym typeface="Symbol" pitchFamily="18" charset="2"/>
              </a:rPr>
              <a:t>8.  (e</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=e</a:t>
            </a:r>
            <a:r>
              <a:rPr lang="en-US" altLang="zh-CN" baseline="30000"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 </a:t>
            </a:r>
          </a:p>
        </p:txBody>
      </p:sp>
    </p:spTree>
    <p:extLst>
      <p:ext uri="{BB962C8B-B14F-4D97-AF65-F5344CB8AC3E}">
        <p14:creationId xmlns:p14="http://schemas.microsoft.com/office/powerpoint/2010/main" val="366948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74663" y="232172"/>
            <a:ext cx="8229600" cy="476250"/>
          </a:xfrm>
        </p:spPr>
        <p:txBody>
          <a:bodyPr>
            <a:normAutofit fontScale="90000"/>
          </a:bodyPr>
          <a:lstStyle/>
          <a:p>
            <a:pPr eaLnBrk="1" hangingPunct="1"/>
            <a:r>
              <a:rPr kumimoji="1" lang="zh-CN" altLang="en-US" sz="4800" b="1">
                <a:solidFill>
                  <a:srgbClr val="CC0099"/>
                </a:solidFill>
                <a:latin typeface="Times New Roman" pitchFamily="18" charset="0"/>
                <a:ea typeface="隶书" pitchFamily="49" charset="-122"/>
              </a:rPr>
              <a:t>正则定义式</a:t>
            </a:r>
            <a:endParaRPr kumimoji="1" lang="zh-CN" altLang="zh-CN" sz="4800" b="1">
              <a:solidFill>
                <a:srgbClr val="CC0099"/>
              </a:solidFill>
              <a:latin typeface="Times New Roman" pitchFamily="18" charset="0"/>
              <a:ea typeface="隶书" pitchFamily="49" charset="-122"/>
            </a:endParaRPr>
          </a:p>
        </p:txBody>
      </p:sp>
      <p:sp>
        <p:nvSpPr>
          <p:cNvPr id="76803" name="Rectangle 3"/>
          <p:cNvSpPr>
            <a:spLocks noGrp="1" noChangeArrowheads="1"/>
          </p:cNvSpPr>
          <p:nvPr>
            <p:ph type="body" idx="1"/>
          </p:nvPr>
        </p:nvSpPr>
        <p:spPr>
          <a:xfrm>
            <a:off x="457201" y="823913"/>
            <a:ext cx="8405813" cy="3865960"/>
          </a:xfrm>
        </p:spPr>
        <p:txBody>
          <a:bodyPr>
            <a:noAutofit/>
          </a:bodyPr>
          <a:lstStyle/>
          <a:p>
            <a:pPr eaLnBrk="1" hangingPunct="1">
              <a:lnSpc>
                <a:spcPct val="90000"/>
              </a:lnSpc>
              <a:defRPr/>
            </a:pPr>
            <a:r>
              <a:rPr lang="zh-CN" altLang="zh-CN" sz="2100" dirty="0"/>
              <a:t>为了表示方便，可以对给定的正则表达式用一个名字来表示，然后再用这个名字定义新的正则表达式。</a:t>
            </a:r>
            <a:endParaRPr lang="en-US" altLang="zh-CN" sz="2100" dirty="0"/>
          </a:p>
          <a:p>
            <a:pPr eaLnBrk="1" hangingPunct="1">
              <a:lnSpc>
                <a:spcPct val="90000"/>
              </a:lnSpc>
              <a:defRPr/>
            </a:pPr>
            <a:r>
              <a:rPr lang="zh-CN" altLang="zh-CN" sz="2100" dirty="0"/>
              <a:t>设字母表为</a:t>
            </a:r>
            <a:r>
              <a:rPr lang="en-US" altLang="zh-CN" sz="2100" dirty="0"/>
              <a:t>Σ</a:t>
            </a:r>
            <a:r>
              <a:rPr lang="zh-CN" altLang="zh-CN" sz="2100" dirty="0"/>
              <a:t>，正则定义（</a:t>
            </a:r>
            <a:r>
              <a:rPr lang="en-US" altLang="zh-CN" sz="2100" dirty="0"/>
              <a:t>Regular Define</a:t>
            </a:r>
            <a:r>
              <a:rPr lang="zh-CN" altLang="zh-CN" sz="2100" dirty="0"/>
              <a:t>）可以按如下形式来定义：</a:t>
            </a:r>
            <a:endParaRPr lang="en-US" altLang="zh-CN" sz="2100" b="1" dirty="0">
              <a:solidFill>
                <a:srgbClr val="FF0000"/>
              </a:solidFill>
            </a:endParaRPr>
          </a:p>
          <a:p>
            <a:pPr marL="0" indent="0" algn="ctr">
              <a:buFontTx/>
              <a:buNone/>
              <a:defRPr/>
            </a:pPr>
            <a:r>
              <a:rPr lang="en-US" altLang="zh-CN" sz="2100" b="1" dirty="0">
                <a:solidFill>
                  <a:srgbClr val="FF0000"/>
                </a:solidFill>
              </a:rPr>
              <a:t>d</a:t>
            </a:r>
            <a:r>
              <a:rPr lang="en-US" altLang="zh-CN" sz="2100" b="1" baseline="-25000" dirty="0">
                <a:solidFill>
                  <a:srgbClr val="FF0000"/>
                </a:solidFill>
              </a:rPr>
              <a:t>1</a:t>
            </a:r>
            <a:r>
              <a:rPr lang="en-US" altLang="zh-CN" sz="2100" b="1" dirty="0">
                <a:solidFill>
                  <a:srgbClr val="FF0000"/>
                </a:solidFill>
              </a:rPr>
              <a:t>→r</a:t>
            </a:r>
            <a:r>
              <a:rPr lang="en-US" altLang="zh-CN" sz="2100" b="1" baseline="-25000" dirty="0">
                <a:solidFill>
                  <a:srgbClr val="FF0000"/>
                </a:solidFill>
              </a:rPr>
              <a:t>1</a:t>
            </a:r>
            <a:endParaRPr lang="zh-CN" altLang="zh-CN" sz="2100" b="1" dirty="0">
              <a:solidFill>
                <a:srgbClr val="FF0000"/>
              </a:solidFill>
            </a:endParaRPr>
          </a:p>
          <a:p>
            <a:pPr marL="0" indent="0" algn="ctr">
              <a:buFontTx/>
              <a:buNone/>
              <a:defRPr/>
            </a:pPr>
            <a:r>
              <a:rPr lang="en-US" altLang="zh-CN" sz="2100" b="1" dirty="0">
                <a:solidFill>
                  <a:srgbClr val="FF0000"/>
                </a:solidFill>
              </a:rPr>
              <a:t>d</a:t>
            </a:r>
            <a:r>
              <a:rPr lang="en-US" altLang="zh-CN" sz="2100" b="1" baseline="-25000" dirty="0">
                <a:solidFill>
                  <a:srgbClr val="FF0000"/>
                </a:solidFill>
              </a:rPr>
              <a:t>2</a:t>
            </a:r>
            <a:r>
              <a:rPr lang="en-US" altLang="zh-CN" sz="2100" b="1" dirty="0">
                <a:solidFill>
                  <a:srgbClr val="FF0000"/>
                </a:solidFill>
              </a:rPr>
              <a:t>→r</a:t>
            </a:r>
            <a:r>
              <a:rPr lang="en-US" altLang="zh-CN" sz="2100" b="1" baseline="-25000" dirty="0">
                <a:solidFill>
                  <a:srgbClr val="FF0000"/>
                </a:solidFill>
              </a:rPr>
              <a:t>2</a:t>
            </a:r>
            <a:endParaRPr lang="zh-CN" altLang="zh-CN" sz="2100" b="1" dirty="0">
              <a:solidFill>
                <a:srgbClr val="FF0000"/>
              </a:solidFill>
            </a:endParaRPr>
          </a:p>
          <a:p>
            <a:pPr marL="0" indent="0" algn="ctr">
              <a:buFontTx/>
              <a:buNone/>
              <a:defRPr/>
            </a:pPr>
            <a:r>
              <a:rPr lang="en-US" altLang="zh-CN" sz="2100" b="1" dirty="0">
                <a:solidFill>
                  <a:srgbClr val="FF0000"/>
                </a:solidFill>
              </a:rPr>
              <a:t>……</a:t>
            </a:r>
            <a:endParaRPr lang="zh-CN" altLang="zh-CN" sz="2100" b="1" dirty="0">
              <a:solidFill>
                <a:srgbClr val="FF0000"/>
              </a:solidFill>
            </a:endParaRPr>
          </a:p>
          <a:p>
            <a:pPr marL="0" indent="0" algn="ctr">
              <a:buFontTx/>
              <a:buNone/>
              <a:defRPr/>
            </a:pPr>
            <a:r>
              <a:rPr lang="en-US" altLang="zh-CN" sz="2100" b="1" dirty="0" err="1">
                <a:solidFill>
                  <a:srgbClr val="FF0000"/>
                </a:solidFill>
              </a:rPr>
              <a:t>d</a:t>
            </a:r>
            <a:r>
              <a:rPr lang="en-US" altLang="zh-CN" sz="2100" b="1" baseline="-25000" dirty="0" err="1">
                <a:solidFill>
                  <a:srgbClr val="FF0000"/>
                </a:solidFill>
              </a:rPr>
              <a:t>n</a:t>
            </a:r>
            <a:r>
              <a:rPr lang="en-US" altLang="zh-CN" sz="2100" b="1" dirty="0" err="1">
                <a:solidFill>
                  <a:srgbClr val="FF0000"/>
                </a:solidFill>
              </a:rPr>
              <a:t>→r</a:t>
            </a:r>
            <a:r>
              <a:rPr lang="en-US" altLang="zh-CN" sz="2100" b="1" baseline="-25000" dirty="0" err="1">
                <a:solidFill>
                  <a:srgbClr val="FF0000"/>
                </a:solidFill>
              </a:rPr>
              <a:t>n</a:t>
            </a:r>
            <a:endParaRPr lang="zh-CN" altLang="zh-CN" sz="2100" b="1" dirty="0">
              <a:solidFill>
                <a:srgbClr val="FF0000"/>
              </a:solidFill>
            </a:endParaRPr>
          </a:p>
          <a:p>
            <a:pPr>
              <a:defRPr/>
            </a:pPr>
            <a:r>
              <a:rPr lang="zh-CN" altLang="zh-CN" sz="2100" dirty="0"/>
              <a:t>其中每个</a:t>
            </a:r>
            <a:r>
              <a:rPr lang="en-US" altLang="zh-CN" sz="2100" dirty="0"/>
              <a:t>d</a:t>
            </a:r>
            <a:r>
              <a:rPr lang="en-US" altLang="zh-CN" sz="2100" baseline="-25000" dirty="0"/>
              <a:t>i</a:t>
            </a:r>
            <a:r>
              <a:rPr lang="zh-CN" altLang="zh-CN" sz="2100" dirty="0"/>
              <a:t>（</a:t>
            </a:r>
            <a:r>
              <a:rPr lang="en-US" altLang="zh-CN" sz="2100" dirty="0" err="1"/>
              <a:t>i</a:t>
            </a:r>
            <a:r>
              <a:rPr lang="en-US" altLang="zh-CN" sz="2100" dirty="0"/>
              <a:t>=1</a:t>
            </a:r>
            <a:r>
              <a:rPr lang="zh-CN" altLang="zh-CN" sz="2100" dirty="0"/>
              <a:t>，</a:t>
            </a:r>
            <a:r>
              <a:rPr lang="en-US" altLang="zh-CN" sz="2100" dirty="0"/>
              <a:t>2</a:t>
            </a:r>
            <a:r>
              <a:rPr lang="zh-CN" altLang="zh-CN" sz="2100" dirty="0"/>
              <a:t>，</a:t>
            </a:r>
            <a:r>
              <a:rPr lang="en-US" altLang="zh-CN" sz="2100" dirty="0"/>
              <a:t>……</a:t>
            </a:r>
            <a:r>
              <a:rPr lang="zh-CN" altLang="zh-CN" sz="2100" dirty="0"/>
              <a:t>，</a:t>
            </a:r>
            <a:r>
              <a:rPr lang="en-US" altLang="zh-CN" sz="2100" dirty="0"/>
              <a:t>n</a:t>
            </a:r>
            <a:r>
              <a:rPr lang="zh-CN" altLang="zh-CN" sz="2100" dirty="0"/>
              <a:t>）都是一个新的名字，它们互不相同，且不在</a:t>
            </a:r>
            <a:r>
              <a:rPr lang="en-US" altLang="zh-CN" sz="2100" dirty="0"/>
              <a:t>Σ</a:t>
            </a:r>
            <a:r>
              <a:rPr lang="zh-CN" altLang="zh-CN" sz="2100" dirty="0"/>
              <a:t>中。</a:t>
            </a:r>
            <a:r>
              <a:rPr lang="en-US" altLang="zh-CN" sz="2100" dirty="0" err="1"/>
              <a:t>r</a:t>
            </a:r>
            <a:r>
              <a:rPr lang="en-US" altLang="zh-CN" sz="2100" baseline="-25000" dirty="0" err="1"/>
              <a:t>i</a:t>
            </a:r>
            <a:r>
              <a:rPr lang="zh-CN" altLang="zh-CN" sz="2100" dirty="0"/>
              <a:t>是在</a:t>
            </a:r>
            <a:r>
              <a:rPr lang="en-US" altLang="zh-CN" sz="2100" dirty="0"/>
              <a:t>Σ</a:t>
            </a:r>
            <a:r>
              <a:rPr lang="zh-CN" altLang="zh-CN" sz="2100" dirty="0"/>
              <a:t>∪</a:t>
            </a:r>
            <a:r>
              <a:rPr lang="en-US" altLang="zh-CN" sz="2100" dirty="0"/>
              <a:t>{d</a:t>
            </a:r>
            <a:r>
              <a:rPr lang="en-US" altLang="zh-CN" sz="2100" baseline="-25000" dirty="0"/>
              <a:t>1</a:t>
            </a:r>
            <a:r>
              <a:rPr lang="zh-CN" altLang="zh-CN" sz="2100" dirty="0"/>
              <a:t>，</a:t>
            </a:r>
            <a:r>
              <a:rPr lang="en-US" altLang="zh-CN" sz="2100" dirty="0"/>
              <a:t>d</a:t>
            </a:r>
            <a:r>
              <a:rPr lang="en-US" altLang="zh-CN" sz="2100" baseline="-25000" dirty="0"/>
              <a:t>2</a:t>
            </a:r>
            <a:r>
              <a:rPr lang="zh-CN" altLang="zh-CN" sz="2100" dirty="0"/>
              <a:t>，</a:t>
            </a:r>
            <a:r>
              <a:rPr lang="en-US" altLang="zh-CN" sz="2100" dirty="0"/>
              <a:t>……</a:t>
            </a:r>
            <a:r>
              <a:rPr lang="zh-CN" altLang="zh-CN" sz="2100" dirty="0"/>
              <a:t>，</a:t>
            </a:r>
            <a:r>
              <a:rPr lang="en-US" altLang="zh-CN" sz="2100" dirty="0"/>
              <a:t>d</a:t>
            </a:r>
            <a:r>
              <a:rPr lang="en-US" altLang="zh-CN" sz="2100" baseline="-25000" dirty="0"/>
              <a:t>i-1</a:t>
            </a:r>
            <a:r>
              <a:rPr lang="en-US" altLang="zh-CN" sz="2100" dirty="0"/>
              <a:t>}</a:t>
            </a:r>
            <a:r>
              <a:rPr lang="zh-CN" altLang="zh-CN" sz="2100" dirty="0"/>
              <a:t>上定义的正则表达式</a:t>
            </a:r>
            <a:endParaRPr lang="en-US" altLang="zh-CN" sz="2100" dirty="0"/>
          </a:p>
          <a:p>
            <a:pPr>
              <a:defRPr/>
            </a:pPr>
            <a:r>
              <a:rPr lang="zh-CN" altLang="zh-CN" sz="2100" dirty="0"/>
              <a:t>即</a:t>
            </a:r>
            <a:r>
              <a:rPr lang="en-US" altLang="zh-CN" sz="2100" dirty="0" err="1"/>
              <a:t>r</a:t>
            </a:r>
            <a:r>
              <a:rPr lang="en-US" altLang="zh-CN" sz="2100" baseline="-25000" dirty="0" err="1"/>
              <a:t>i</a:t>
            </a:r>
            <a:r>
              <a:rPr lang="zh-CN" altLang="zh-CN" sz="2100" dirty="0"/>
              <a:t>是用基本符号和前面已经定义的名字表示的正则表达式</a:t>
            </a:r>
            <a:endParaRPr lang="zh-CN" altLang="en-US" sz="2100" dirty="0"/>
          </a:p>
        </p:txBody>
      </p:sp>
    </p:spTree>
    <p:extLst>
      <p:ext uri="{BB962C8B-B14F-4D97-AF65-F5344CB8AC3E}">
        <p14:creationId xmlns:p14="http://schemas.microsoft.com/office/powerpoint/2010/main" val="4689700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67544" y="843558"/>
            <a:ext cx="8229600" cy="658416"/>
          </a:xfrm>
        </p:spPr>
        <p:txBody>
          <a:bodyPr>
            <a:normAutofit fontScale="90000"/>
          </a:bodyPr>
          <a:lstStyle/>
          <a:p>
            <a:pPr eaLnBrk="1" hangingPunct="1"/>
            <a:r>
              <a:rPr lang="zh-CN" altLang="zh-CN" sz="2400" dirty="0">
                <a:solidFill>
                  <a:srgbClr val="000000"/>
                </a:solidFill>
              </a:rPr>
              <a:t>例</a:t>
            </a:r>
            <a:r>
              <a:rPr lang="en-US" altLang="zh-CN" sz="2400" dirty="0">
                <a:solidFill>
                  <a:srgbClr val="000000"/>
                </a:solidFill>
              </a:rPr>
              <a:t>2.8 C</a:t>
            </a:r>
            <a:r>
              <a:rPr lang="zh-CN" altLang="zh-CN" sz="2400" dirty="0">
                <a:solidFill>
                  <a:srgbClr val="000000"/>
                </a:solidFill>
              </a:rPr>
              <a:t>语言中标识符是以字符或下划线开头的由字母、数字和下划线组成的符号串，写出标识符的正则表达式定义。</a:t>
            </a:r>
            <a:endParaRPr kumimoji="1" lang="zh-CN" altLang="zh-CN" sz="4800" b="1" dirty="0">
              <a:solidFill>
                <a:srgbClr val="CC0099"/>
              </a:solidFill>
              <a:latin typeface="Times New Roman" pitchFamily="18" charset="0"/>
              <a:ea typeface="隶书" pitchFamily="49" charset="-122"/>
            </a:endParaRPr>
          </a:p>
        </p:txBody>
      </p:sp>
      <p:sp>
        <p:nvSpPr>
          <p:cNvPr id="46083" name="Rectangle 3"/>
          <p:cNvSpPr>
            <a:spLocks noGrp="1" noChangeArrowheads="1"/>
          </p:cNvSpPr>
          <p:nvPr>
            <p:ph type="body" idx="1"/>
          </p:nvPr>
        </p:nvSpPr>
        <p:spPr>
          <a:xfrm>
            <a:off x="539552" y="1707654"/>
            <a:ext cx="8229600" cy="1017985"/>
          </a:xfrm>
        </p:spPr>
        <p:txBody>
          <a:bodyPr>
            <a:normAutofit fontScale="92500" lnSpcReduction="20000"/>
          </a:bodyPr>
          <a:lstStyle/>
          <a:p>
            <a:r>
              <a:rPr lang="fr-FR" altLang="zh-CN" sz="2400" b="1" dirty="0">
                <a:solidFill>
                  <a:srgbClr val="FF0000"/>
                </a:solidFill>
              </a:rPr>
              <a:t>digit→0|1|......|9</a:t>
            </a:r>
            <a:endParaRPr lang="zh-CN" altLang="zh-CN" sz="2400" b="1" dirty="0">
              <a:solidFill>
                <a:srgbClr val="FF0000"/>
              </a:solidFill>
            </a:endParaRPr>
          </a:p>
          <a:p>
            <a:r>
              <a:rPr lang="fr-FR" altLang="zh-CN" sz="2400" b="1" dirty="0">
                <a:solidFill>
                  <a:srgbClr val="FF0000"/>
                </a:solidFill>
              </a:rPr>
              <a:t>letter→a|b|......|z|A|B|......|Z|_</a:t>
            </a:r>
            <a:endParaRPr lang="zh-CN" altLang="zh-CN" sz="2400" b="1" dirty="0">
              <a:solidFill>
                <a:srgbClr val="FF0000"/>
              </a:solidFill>
            </a:endParaRPr>
          </a:p>
          <a:p>
            <a:r>
              <a:rPr lang="fr-FR" altLang="zh-CN" sz="2400" b="1" dirty="0">
                <a:solidFill>
                  <a:srgbClr val="FF0000"/>
                </a:solidFill>
              </a:rPr>
              <a:t>id→letter(letter|digit)*</a:t>
            </a:r>
            <a:endParaRPr lang="en-US" altLang="zh-CN" sz="2400" b="1" dirty="0">
              <a:solidFill>
                <a:srgbClr val="FF0000"/>
              </a:solidFill>
            </a:endParaRPr>
          </a:p>
        </p:txBody>
      </p:sp>
    </p:spTree>
    <p:extLst>
      <p:ext uri="{BB962C8B-B14F-4D97-AF65-F5344CB8AC3E}">
        <p14:creationId xmlns:p14="http://schemas.microsoft.com/office/powerpoint/2010/main" val="12291362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矩形 2"/>
          <p:cNvSpPr>
            <a:spLocks noChangeArrowheads="1"/>
          </p:cNvSpPr>
          <p:nvPr/>
        </p:nvSpPr>
        <p:spPr bwMode="auto">
          <a:xfrm>
            <a:off x="570665" y="339502"/>
            <a:ext cx="818515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zh-CN" sz="2200" dirty="0"/>
              <a:t>例</a:t>
            </a:r>
            <a:r>
              <a:rPr lang="en-US" altLang="zh-CN" sz="2200" dirty="0"/>
              <a:t>2.9 </a:t>
            </a:r>
            <a:r>
              <a:rPr lang="zh-CN" altLang="zh-CN" sz="2200" dirty="0"/>
              <a:t>用正则定义的方式来描述</a:t>
            </a:r>
            <a:r>
              <a:rPr lang="en-US" altLang="zh-CN" sz="2200" dirty="0"/>
              <a:t>Sample</a:t>
            </a:r>
            <a:r>
              <a:rPr lang="zh-CN" altLang="zh-CN" sz="2200" dirty="0"/>
              <a:t>语言中无符号浮点数的正则表达式。一个数如果没有小数部分和指数部分，就是一个整数；整数部分要么为</a:t>
            </a:r>
            <a:r>
              <a:rPr lang="en-US" altLang="zh-CN" sz="2200" dirty="0"/>
              <a:t>0</a:t>
            </a:r>
            <a:r>
              <a:rPr lang="zh-CN" altLang="zh-CN" sz="2200" dirty="0"/>
              <a:t>，要么是不以</a:t>
            </a:r>
            <a:r>
              <a:rPr lang="en-US" altLang="zh-CN" sz="2200" dirty="0"/>
              <a:t>0</a:t>
            </a:r>
            <a:r>
              <a:rPr lang="zh-CN" altLang="zh-CN" sz="2200" dirty="0"/>
              <a:t>开头的</a:t>
            </a:r>
            <a:r>
              <a:rPr lang="en-US" altLang="zh-CN" sz="2200" dirty="0"/>
              <a:t>1</a:t>
            </a:r>
            <a:r>
              <a:rPr lang="zh-CN" altLang="zh-CN" sz="2200" dirty="0"/>
              <a:t>到多位数字；浮点数的小数部分和指数部分都是可选的，小数点后和</a:t>
            </a:r>
            <a:r>
              <a:rPr lang="en-US" altLang="zh-CN" sz="2200" dirty="0"/>
              <a:t>e/E</a:t>
            </a:r>
            <a:r>
              <a:rPr lang="zh-CN" altLang="zh-CN" sz="2200" dirty="0"/>
              <a:t>之后的数字至少有</a:t>
            </a:r>
            <a:r>
              <a:rPr lang="en-US" altLang="zh-CN" sz="2200" dirty="0"/>
              <a:t>1</a:t>
            </a:r>
            <a:r>
              <a:rPr lang="zh-CN" altLang="zh-CN" sz="2200" dirty="0"/>
              <a:t>位，是</a:t>
            </a:r>
            <a:r>
              <a:rPr lang="en-US" altLang="zh-CN" sz="2200" dirty="0"/>
              <a:t>0~9</a:t>
            </a:r>
            <a:r>
              <a:rPr lang="zh-CN" altLang="zh-CN" sz="2200" dirty="0"/>
              <a:t>的任意数字。</a:t>
            </a:r>
          </a:p>
        </p:txBody>
      </p:sp>
      <p:sp>
        <p:nvSpPr>
          <p:cNvPr id="46085" name="矩形 3"/>
          <p:cNvSpPr>
            <a:spLocks noChangeArrowheads="1"/>
          </p:cNvSpPr>
          <p:nvPr/>
        </p:nvSpPr>
        <p:spPr bwMode="auto">
          <a:xfrm>
            <a:off x="542386" y="2124606"/>
            <a:ext cx="8569325" cy="2800767"/>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fr-FR" altLang="zh-CN" sz="2200" b="1" dirty="0">
                <a:solidFill>
                  <a:srgbClr val="FF0000"/>
                </a:solidFill>
              </a:rPr>
              <a:t>zero→0</a:t>
            </a:r>
            <a:endParaRPr lang="zh-CN" altLang="zh-CN" sz="2200" b="1" dirty="0">
              <a:solidFill>
                <a:srgbClr val="FF0000"/>
              </a:solidFill>
            </a:endParaRPr>
          </a:p>
          <a:p>
            <a:pPr>
              <a:spcBef>
                <a:spcPct val="0"/>
              </a:spcBef>
              <a:buFontTx/>
              <a:buNone/>
            </a:pPr>
            <a:r>
              <a:rPr lang="fr-FR" altLang="zh-CN" sz="2200" b="1" dirty="0">
                <a:solidFill>
                  <a:srgbClr val="FF0000"/>
                </a:solidFill>
              </a:rPr>
              <a:t>nonzero→1|......|9</a:t>
            </a:r>
            <a:endParaRPr lang="zh-CN" altLang="zh-CN" sz="2200" b="1" dirty="0">
              <a:solidFill>
                <a:srgbClr val="FF0000"/>
              </a:solidFill>
            </a:endParaRPr>
          </a:p>
          <a:p>
            <a:pPr>
              <a:spcBef>
                <a:spcPct val="0"/>
              </a:spcBef>
              <a:buFontTx/>
              <a:buNone/>
            </a:pPr>
            <a:r>
              <a:rPr lang="fr-FR" altLang="zh-CN" sz="2200" b="1" dirty="0">
                <a:solidFill>
                  <a:srgbClr val="FF0000"/>
                </a:solidFill>
              </a:rPr>
              <a:t>digit→zero| nonzero</a:t>
            </a:r>
            <a:endParaRPr lang="zh-CN" altLang="zh-CN" sz="2200" b="1" dirty="0">
              <a:solidFill>
                <a:srgbClr val="FF0000"/>
              </a:solidFill>
            </a:endParaRPr>
          </a:p>
          <a:p>
            <a:pPr>
              <a:spcBef>
                <a:spcPct val="0"/>
              </a:spcBef>
              <a:buFontTx/>
              <a:buNone/>
            </a:pPr>
            <a:r>
              <a:rPr lang="fr-FR" altLang="zh-CN" sz="2200" b="1" dirty="0">
                <a:solidFill>
                  <a:srgbClr val="FF0000"/>
                </a:solidFill>
              </a:rPr>
              <a:t>digits→digit digit*</a:t>
            </a:r>
            <a:endParaRPr lang="zh-CN" altLang="zh-CN" sz="2200" b="1" dirty="0">
              <a:solidFill>
                <a:srgbClr val="FF0000"/>
              </a:solidFill>
            </a:endParaRPr>
          </a:p>
          <a:p>
            <a:pPr>
              <a:spcBef>
                <a:spcPct val="0"/>
              </a:spcBef>
              <a:buFontTx/>
              <a:buNone/>
            </a:pPr>
            <a:r>
              <a:rPr lang="fr-FR" altLang="zh-CN" sz="2200" b="1" dirty="0">
                <a:solidFill>
                  <a:srgbClr val="FF0000"/>
                </a:solidFill>
              </a:rPr>
              <a:t>integerPart→nonzero digit*|zero</a:t>
            </a:r>
            <a:endParaRPr lang="zh-CN" altLang="zh-CN" sz="2200" b="1" dirty="0">
              <a:solidFill>
                <a:srgbClr val="FF0000"/>
              </a:solidFill>
            </a:endParaRPr>
          </a:p>
          <a:p>
            <a:pPr>
              <a:spcBef>
                <a:spcPct val="0"/>
              </a:spcBef>
              <a:buFontTx/>
              <a:buNone/>
            </a:pPr>
            <a:r>
              <a:rPr lang="en-US" altLang="zh-CN" sz="2200" b="1" dirty="0" err="1">
                <a:solidFill>
                  <a:srgbClr val="FF0000"/>
                </a:solidFill>
              </a:rPr>
              <a:t>optionalFraction</a:t>
            </a:r>
            <a:r>
              <a:rPr lang="fr-FR" altLang="zh-CN" sz="2200" b="1" dirty="0">
                <a:solidFill>
                  <a:srgbClr val="FF0000"/>
                </a:solidFill>
              </a:rPr>
              <a:t>→. digits </a:t>
            </a:r>
            <a:r>
              <a:rPr lang="en-US" altLang="zh-CN" sz="2200" b="1" dirty="0">
                <a:solidFill>
                  <a:srgbClr val="FF0000"/>
                </a:solidFill>
              </a:rPr>
              <a:t>| </a:t>
            </a:r>
            <a:r>
              <a:rPr lang="en-US" altLang="zh-CN" sz="2200" b="1" dirty="0">
                <a:solidFill>
                  <a:srgbClr val="FF0000"/>
                </a:solidFill>
                <a:sym typeface="Symbol" pitchFamily="18" charset="2"/>
              </a:rPr>
              <a:t></a:t>
            </a:r>
            <a:endParaRPr lang="zh-CN" altLang="zh-CN" sz="2200" b="1" dirty="0">
              <a:solidFill>
                <a:srgbClr val="FF0000"/>
              </a:solidFill>
            </a:endParaRPr>
          </a:p>
          <a:p>
            <a:pPr>
              <a:spcBef>
                <a:spcPct val="0"/>
              </a:spcBef>
              <a:buFontTx/>
              <a:buNone/>
            </a:pPr>
            <a:r>
              <a:rPr lang="en-US" altLang="zh-CN" sz="2200" b="1" dirty="0" err="1">
                <a:solidFill>
                  <a:srgbClr val="FF0000"/>
                </a:solidFill>
              </a:rPr>
              <a:t>optionalExponent</a:t>
            </a:r>
            <a:r>
              <a:rPr lang="fr-FR" altLang="zh-CN" sz="2200" b="1" dirty="0">
                <a:solidFill>
                  <a:srgbClr val="FF0000"/>
                </a:solidFill>
              </a:rPr>
              <a:t>→((</a:t>
            </a:r>
            <a:r>
              <a:rPr lang="en-US" altLang="zh-CN" sz="2200" b="1" dirty="0">
                <a:solidFill>
                  <a:srgbClr val="FF0000"/>
                </a:solidFill>
              </a:rPr>
              <a:t>e/E)(+|-|</a:t>
            </a:r>
            <a:r>
              <a:rPr lang="en-US" altLang="zh-CN" sz="2200" b="1" dirty="0">
                <a:solidFill>
                  <a:srgbClr val="FF0000"/>
                </a:solidFill>
                <a:sym typeface="Symbol" pitchFamily="18" charset="2"/>
              </a:rPr>
              <a:t></a:t>
            </a:r>
            <a:r>
              <a:rPr lang="en-US" altLang="zh-CN" sz="2200" b="1" dirty="0">
                <a:solidFill>
                  <a:srgbClr val="FF0000"/>
                </a:solidFill>
              </a:rPr>
              <a:t>)digits)|</a:t>
            </a:r>
            <a:r>
              <a:rPr lang="en-US" altLang="zh-CN" sz="2200" b="1" dirty="0">
                <a:solidFill>
                  <a:srgbClr val="FF0000"/>
                </a:solidFill>
                <a:sym typeface="Symbol" pitchFamily="18" charset="2"/>
              </a:rPr>
              <a:t></a:t>
            </a:r>
            <a:endParaRPr lang="zh-CN" altLang="zh-CN" sz="2200" b="1" dirty="0">
              <a:solidFill>
                <a:srgbClr val="FF0000"/>
              </a:solidFill>
            </a:endParaRPr>
          </a:p>
          <a:p>
            <a:pPr>
              <a:spcBef>
                <a:spcPct val="0"/>
              </a:spcBef>
              <a:buFontTx/>
              <a:buNone/>
            </a:pPr>
            <a:r>
              <a:rPr lang="en-US" altLang="zh-CN" sz="2200" b="1" dirty="0" err="1">
                <a:solidFill>
                  <a:srgbClr val="FF0000"/>
                </a:solidFill>
              </a:rPr>
              <a:t>FloatNumber</a:t>
            </a:r>
            <a:r>
              <a:rPr lang="fr-FR" altLang="zh-CN" sz="2200" b="1" dirty="0">
                <a:solidFill>
                  <a:srgbClr val="FF0000"/>
                </a:solidFill>
              </a:rPr>
              <a:t>→integerPart</a:t>
            </a:r>
            <a:r>
              <a:rPr lang="en-US" altLang="zh-CN" sz="2200" b="1" dirty="0">
                <a:solidFill>
                  <a:srgbClr val="FF0000"/>
                </a:solidFill>
              </a:rPr>
              <a:t>  </a:t>
            </a:r>
            <a:r>
              <a:rPr lang="en-US" altLang="zh-CN" sz="2200" b="1" dirty="0" err="1">
                <a:solidFill>
                  <a:srgbClr val="FF0000"/>
                </a:solidFill>
              </a:rPr>
              <a:t>optionalFraction</a:t>
            </a:r>
            <a:r>
              <a:rPr lang="en-US" altLang="zh-CN" sz="2200" b="1" dirty="0">
                <a:solidFill>
                  <a:srgbClr val="FF0000"/>
                </a:solidFill>
              </a:rPr>
              <a:t>  </a:t>
            </a:r>
            <a:r>
              <a:rPr lang="en-US" altLang="zh-CN" sz="2200" b="1" dirty="0" err="1">
                <a:solidFill>
                  <a:srgbClr val="FF0000"/>
                </a:solidFill>
              </a:rPr>
              <a:t>optionalExponent</a:t>
            </a:r>
            <a:endParaRPr lang="zh-CN" altLang="zh-CN" sz="2200" b="1" dirty="0">
              <a:solidFill>
                <a:srgbClr val="FF0000"/>
              </a:solidFill>
            </a:endParaRPr>
          </a:p>
        </p:txBody>
      </p:sp>
    </p:spTree>
    <p:extLst>
      <p:ext uri="{BB962C8B-B14F-4D97-AF65-F5344CB8AC3E}">
        <p14:creationId xmlns:p14="http://schemas.microsoft.com/office/powerpoint/2010/main" val="15850950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3648" y="1779662"/>
            <a:ext cx="3740126" cy="830997"/>
          </a:xfrm>
          <a:prstGeom prst="rect">
            <a:avLst/>
          </a:prstGeom>
        </p:spPr>
        <p:txBody>
          <a:bodyPr wrap="none">
            <a:spAutoFit/>
          </a:bodyPr>
          <a:lstStyle/>
          <a:p>
            <a:r>
              <a:rPr kumimoji="1" lang="en-US" altLang="zh-CN" sz="4800" b="1" dirty="0">
                <a:solidFill>
                  <a:srgbClr val="CC0099"/>
                </a:solidFill>
                <a:latin typeface="Times New Roman" pitchFamily="18" charset="0"/>
                <a:ea typeface="隶书" pitchFamily="49" charset="-122"/>
              </a:rPr>
              <a:t>4</a:t>
            </a:r>
            <a:r>
              <a:rPr kumimoji="1" lang="zh-CN" altLang="zh-CN" sz="4800" b="1" dirty="0">
                <a:solidFill>
                  <a:srgbClr val="CC0099"/>
                </a:solidFill>
                <a:latin typeface="Times New Roman" pitchFamily="18" charset="0"/>
                <a:ea typeface="隶书" pitchFamily="49" charset="-122"/>
              </a:rPr>
              <a:t> 有穷自动机</a:t>
            </a:r>
            <a:endParaRPr lang="zh-CN" altLang="en-US" sz="4800" dirty="0"/>
          </a:p>
        </p:txBody>
      </p:sp>
    </p:spTree>
    <p:extLst>
      <p:ext uri="{BB962C8B-B14F-4D97-AF65-F5344CB8AC3E}">
        <p14:creationId xmlns:p14="http://schemas.microsoft.com/office/powerpoint/2010/main" val="19928954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80166" y="51470"/>
            <a:ext cx="8229600" cy="857250"/>
          </a:xfrm>
        </p:spPr>
        <p:txBody>
          <a:bodyPr/>
          <a:lstStyle/>
          <a:p>
            <a:pPr eaLnBrk="1" hangingPunct="1"/>
            <a:r>
              <a:rPr kumimoji="1" lang="zh-CN" altLang="zh-CN" sz="4800" b="1" dirty="0">
                <a:solidFill>
                  <a:srgbClr val="CC0099"/>
                </a:solidFill>
                <a:latin typeface="Times New Roman" pitchFamily="18" charset="0"/>
                <a:ea typeface="隶书" pitchFamily="49" charset="-122"/>
              </a:rPr>
              <a:t>2.5.</a:t>
            </a:r>
            <a:r>
              <a:rPr kumimoji="1" lang="en-US" altLang="zh-CN" sz="4800" b="1" dirty="0">
                <a:solidFill>
                  <a:srgbClr val="CC0099"/>
                </a:solidFill>
                <a:latin typeface="Times New Roman" pitchFamily="18" charset="0"/>
                <a:ea typeface="隶书" pitchFamily="49" charset="-122"/>
              </a:rPr>
              <a:t>4</a:t>
            </a:r>
            <a:r>
              <a:rPr kumimoji="1" lang="zh-CN" altLang="zh-CN" sz="4800" b="1" dirty="0">
                <a:solidFill>
                  <a:srgbClr val="CC0099"/>
                </a:solidFill>
                <a:latin typeface="Times New Roman" pitchFamily="18" charset="0"/>
                <a:ea typeface="隶书" pitchFamily="49" charset="-122"/>
              </a:rPr>
              <a:t> 有穷自动机</a:t>
            </a:r>
          </a:p>
        </p:txBody>
      </p:sp>
      <p:sp>
        <p:nvSpPr>
          <p:cNvPr id="47107" name="Rectangle 3"/>
          <p:cNvSpPr>
            <a:spLocks noGrp="1" noChangeArrowheads="1"/>
          </p:cNvSpPr>
          <p:nvPr>
            <p:ph type="body" idx="1"/>
          </p:nvPr>
        </p:nvSpPr>
        <p:spPr>
          <a:xfrm>
            <a:off x="539552" y="1203598"/>
            <a:ext cx="7920880" cy="3548985"/>
          </a:xfrm>
          <a:solidFill>
            <a:schemeClr val="bg1"/>
          </a:solidFill>
        </p:spPr>
        <p:txBody>
          <a:bodyPr>
            <a:noAutofit/>
          </a:bodyPr>
          <a:lstStyle/>
          <a:p>
            <a:pPr eaLnBrk="1" hangingPunct="1">
              <a:lnSpc>
                <a:spcPct val="110000"/>
              </a:lnSpc>
              <a:spcBef>
                <a:spcPts val="0"/>
              </a:spcBef>
            </a:pPr>
            <a:r>
              <a:rPr lang="zh-CN" altLang="en-US" sz="2000" dirty="0"/>
              <a:t>有穷自动机</a:t>
            </a:r>
            <a:r>
              <a:rPr lang="en-US" altLang="zh-CN" sz="2000" dirty="0"/>
              <a:t>(</a:t>
            </a:r>
            <a:r>
              <a:rPr lang="zh-CN" altLang="en-US" sz="2000" dirty="0"/>
              <a:t>也称有限自动机</a:t>
            </a:r>
            <a:r>
              <a:rPr lang="en-US" altLang="zh-CN" sz="2000" dirty="0"/>
              <a:t>)</a:t>
            </a:r>
            <a:r>
              <a:rPr lang="zh-CN" altLang="en-US" sz="2000" dirty="0"/>
              <a:t>作为一种识别装置，它能准确地识别正规集，即识别正则表达式所表示的集合，引入有穷自动机这个理论，是为词法分析程序的自动构造寻找特殊的方法和工具。  </a:t>
            </a:r>
          </a:p>
          <a:p>
            <a:pPr eaLnBrk="1" hangingPunct="1">
              <a:lnSpc>
                <a:spcPct val="110000"/>
              </a:lnSpc>
              <a:spcBef>
                <a:spcPts val="0"/>
              </a:spcBef>
            </a:pPr>
            <a:endParaRPr lang="en-US" altLang="zh-CN" sz="2000" dirty="0"/>
          </a:p>
          <a:p>
            <a:pPr eaLnBrk="1" hangingPunct="1">
              <a:lnSpc>
                <a:spcPct val="110000"/>
              </a:lnSpc>
              <a:spcBef>
                <a:spcPts val="0"/>
              </a:spcBef>
            </a:pPr>
            <a:r>
              <a:rPr lang="zh-CN" altLang="en-US" sz="2000" dirty="0"/>
              <a:t>有穷自动机分为两类：</a:t>
            </a:r>
          </a:p>
          <a:p>
            <a:pPr lvl="1" eaLnBrk="1" hangingPunct="1">
              <a:lnSpc>
                <a:spcPct val="110000"/>
              </a:lnSpc>
              <a:spcBef>
                <a:spcPts val="0"/>
              </a:spcBef>
            </a:pPr>
            <a:r>
              <a:rPr lang="zh-CN" altLang="en-US" sz="2000" dirty="0"/>
              <a:t>确定的有穷自动机</a:t>
            </a:r>
            <a:r>
              <a:rPr lang="en-US" altLang="zh-CN" sz="2000" dirty="0"/>
              <a:t>(DFA: Deterministic Finite Automata)</a:t>
            </a:r>
          </a:p>
          <a:p>
            <a:pPr lvl="1" eaLnBrk="1" hangingPunct="1">
              <a:lnSpc>
                <a:spcPct val="110000"/>
              </a:lnSpc>
              <a:spcBef>
                <a:spcPts val="0"/>
              </a:spcBef>
            </a:pPr>
            <a:r>
              <a:rPr lang="zh-CN" altLang="en-US" sz="2000" dirty="0"/>
              <a:t>不确定的有穷自动机</a:t>
            </a:r>
            <a:r>
              <a:rPr lang="en-US" altLang="zh-CN" sz="2000" dirty="0"/>
              <a:t>(NFA: Nondeterministic Finite Automata)</a:t>
            </a:r>
          </a:p>
        </p:txBody>
      </p:sp>
    </p:spTree>
    <p:extLst>
      <p:ext uri="{BB962C8B-B14F-4D97-AF65-F5344CB8AC3E}">
        <p14:creationId xmlns:p14="http://schemas.microsoft.com/office/powerpoint/2010/main" val="3069501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323528" y="18505"/>
            <a:ext cx="7772400" cy="617935"/>
          </a:xfrm>
        </p:spPr>
        <p:txBody>
          <a:bodyPr>
            <a:normAutofit fontScale="90000"/>
          </a:bodyPr>
          <a:lstStyle/>
          <a:p>
            <a:pPr eaLnBrk="1" hangingPunct="1"/>
            <a:r>
              <a:rPr lang="zh-CN" altLang="en-US" sz="4000" b="1" dirty="0">
                <a:ea typeface="楷体_GB2312" pitchFamily="49" charset="-122"/>
              </a:rPr>
              <a:t>确定的有穷自动机</a:t>
            </a:r>
            <a:r>
              <a:rPr lang="en-US" altLang="zh-CN" sz="4000" b="1" dirty="0">
                <a:ea typeface="楷体_GB2312" pitchFamily="49" charset="-122"/>
              </a:rPr>
              <a:t>DFA</a:t>
            </a:r>
          </a:p>
        </p:txBody>
      </p:sp>
      <p:sp>
        <p:nvSpPr>
          <p:cNvPr id="48131" name="Rectangle 3"/>
          <p:cNvSpPr>
            <a:spLocks noGrp="1" noChangeArrowheads="1"/>
          </p:cNvSpPr>
          <p:nvPr>
            <p:ph type="body" idx="1"/>
          </p:nvPr>
        </p:nvSpPr>
        <p:spPr>
          <a:xfrm>
            <a:off x="286099" y="646906"/>
            <a:ext cx="5942086" cy="4301108"/>
          </a:xfrm>
          <a:solidFill>
            <a:schemeClr val="bg1"/>
          </a:solidFill>
          <a:ln w="28575">
            <a:solidFill>
              <a:srgbClr val="3333FF"/>
            </a:solidFill>
            <a:miter lim="800000"/>
            <a:headEnd/>
            <a:tailEnd/>
          </a:ln>
        </p:spPr>
        <p:txBody>
          <a:bodyPr>
            <a:noAutofit/>
          </a:bodyPr>
          <a:lstStyle/>
          <a:p>
            <a:pPr eaLnBrk="1" hangingPunct="1">
              <a:spcBef>
                <a:spcPts val="0"/>
              </a:spcBef>
              <a:buFontTx/>
              <a:buNone/>
            </a:pPr>
            <a:r>
              <a:rPr lang="zh-CN" altLang="en-US" b="1" dirty="0">
                <a:solidFill>
                  <a:srgbClr val="0000CC"/>
                </a:solidFill>
                <a:latin typeface="Times New Roman" panose="02020603050405020304" pitchFamily="18" charset="0"/>
                <a:cs typeface="Times New Roman" panose="02020603050405020304" pitchFamily="18" charset="0"/>
              </a:rPr>
              <a:t>确定的有穷自动机</a:t>
            </a:r>
            <a:r>
              <a:rPr lang="en-US" altLang="zh-CN" sz="2000" dirty="0">
                <a:latin typeface="Times New Roman" panose="02020603050405020304" pitchFamily="18" charset="0"/>
                <a:cs typeface="Times New Roman" panose="02020603050405020304" pitchFamily="18" charset="0"/>
              </a:rPr>
              <a:t>(DFA)M</a:t>
            </a:r>
            <a:r>
              <a:rPr lang="zh-CN" altLang="en-US" sz="2000" dirty="0">
                <a:latin typeface="Times New Roman" panose="02020603050405020304" pitchFamily="18" charset="0"/>
                <a:cs typeface="Times New Roman" panose="02020603050405020304" pitchFamily="18" charset="0"/>
              </a:rPr>
              <a:t>是一个五元组：</a:t>
            </a:r>
            <a:endParaRPr lang="en-US" altLang="zh-CN" sz="2000" dirty="0">
              <a:latin typeface="Times New Roman" panose="02020603050405020304" pitchFamily="18" charset="0"/>
              <a:cs typeface="Times New Roman" panose="02020603050405020304" pitchFamily="18" charset="0"/>
            </a:endParaRPr>
          </a:p>
          <a:p>
            <a:pPr eaLnBrk="1" hangingPunct="1">
              <a:spcBef>
                <a:spcPts val="0"/>
              </a:spcBef>
              <a:buFontTx/>
              <a:buNone/>
            </a:pPr>
            <a:r>
              <a:rPr lang="en-US" altLang="zh-CN" sz="2000" dirty="0">
                <a:latin typeface="Times New Roman" panose="02020603050405020304" pitchFamily="18" charset="0"/>
                <a:cs typeface="Times New Roman" panose="02020603050405020304" pitchFamily="18" charset="0"/>
              </a:rPr>
              <a:t>  </a:t>
            </a:r>
            <a:r>
              <a:rPr lang="en-US" altLang="zh-CN" sz="2000" b="1" dirty="0">
                <a:solidFill>
                  <a:srgbClr val="CC00FF"/>
                </a:solidFill>
                <a:latin typeface="Times New Roman" panose="02020603050405020304" pitchFamily="18" charset="0"/>
                <a:cs typeface="Times New Roman" panose="02020603050405020304" pitchFamily="18" charset="0"/>
              </a:rPr>
              <a:t>M=(S</a:t>
            </a:r>
            <a:r>
              <a:rPr lang="zh-CN" altLang="en-US" sz="2000" b="1" dirty="0">
                <a:solidFill>
                  <a:srgbClr val="CC00FF"/>
                </a:solidFill>
                <a:latin typeface="Times New Roman" panose="02020603050405020304" pitchFamily="18" charset="0"/>
                <a:cs typeface="Times New Roman" panose="02020603050405020304" pitchFamily="18" charset="0"/>
              </a:rPr>
              <a:t>，</a:t>
            </a:r>
            <a:r>
              <a:rPr lang="en-US" altLang="zh-CN" sz="2000" b="1" dirty="0">
                <a:solidFill>
                  <a:srgbClr val="CC00FF"/>
                </a:solidFill>
                <a:latin typeface="Times New Roman" panose="02020603050405020304" pitchFamily="18" charset="0"/>
                <a:cs typeface="Times New Roman" panose="02020603050405020304" pitchFamily="18" charset="0"/>
              </a:rPr>
              <a:t>Σ</a:t>
            </a:r>
            <a:r>
              <a:rPr lang="zh-CN" altLang="en-US" sz="2000" b="1" dirty="0">
                <a:solidFill>
                  <a:srgbClr val="CC00FF"/>
                </a:solidFill>
                <a:latin typeface="Times New Roman" panose="02020603050405020304" pitchFamily="18" charset="0"/>
                <a:cs typeface="Times New Roman" panose="02020603050405020304" pitchFamily="18" charset="0"/>
              </a:rPr>
              <a:t>，</a:t>
            </a:r>
            <a:r>
              <a:rPr lang="en-US" altLang="zh-CN" sz="2000" b="1" dirty="0">
                <a:solidFill>
                  <a:srgbClr val="CC00FF"/>
                </a:solidFill>
                <a:latin typeface="Times New Roman" panose="02020603050405020304" pitchFamily="18" charset="0"/>
                <a:cs typeface="Times New Roman" panose="02020603050405020304" pitchFamily="18" charset="0"/>
              </a:rPr>
              <a:t>δ</a:t>
            </a:r>
            <a:r>
              <a:rPr lang="zh-CN" altLang="en-US" sz="2000" b="1" dirty="0">
                <a:solidFill>
                  <a:srgbClr val="CC00FF"/>
                </a:solidFill>
                <a:latin typeface="Times New Roman" panose="02020603050405020304" pitchFamily="18" charset="0"/>
                <a:cs typeface="Times New Roman" panose="02020603050405020304" pitchFamily="18" charset="0"/>
              </a:rPr>
              <a:t>，</a:t>
            </a:r>
            <a:r>
              <a:rPr lang="en-US" altLang="zh-CN" sz="2000" b="1" dirty="0">
                <a:solidFill>
                  <a:srgbClr val="CC00FF"/>
                </a:solidFill>
                <a:latin typeface="Times New Roman" panose="02020603050405020304" pitchFamily="18" charset="0"/>
                <a:cs typeface="Times New Roman" panose="02020603050405020304" pitchFamily="18" charset="0"/>
              </a:rPr>
              <a:t>s</a:t>
            </a:r>
            <a:r>
              <a:rPr lang="en-US" altLang="zh-CN" sz="2000" b="1" baseline="-25000" dirty="0">
                <a:solidFill>
                  <a:srgbClr val="CC00FF"/>
                </a:solidFill>
                <a:latin typeface="Times New Roman" panose="02020603050405020304" pitchFamily="18" charset="0"/>
                <a:cs typeface="Times New Roman" panose="02020603050405020304" pitchFamily="18" charset="0"/>
              </a:rPr>
              <a:t>0</a:t>
            </a:r>
            <a:r>
              <a:rPr lang="zh-CN" altLang="en-US" sz="2000" b="1" dirty="0">
                <a:solidFill>
                  <a:srgbClr val="CC00FF"/>
                </a:solidFill>
                <a:latin typeface="Times New Roman" panose="02020603050405020304" pitchFamily="18" charset="0"/>
                <a:cs typeface="Times New Roman" panose="02020603050405020304" pitchFamily="18" charset="0"/>
              </a:rPr>
              <a:t>，</a:t>
            </a:r>
            <a:r>
              <a:rPr lang="en-US" altLang="zh-CN" sz="2000" b="1" dirty="0">
                <a:solidFill>
                  <a:srgbClr val="CC00FF"/>
                </a:solidFill>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，其中</a:t>
            </a:r>
            <a:r>
              <a:rPr lang="en-US" altLang="zh-CN" sz="2000" dirty="0">
                <a:latin typeface="Times New Roman" panose="02020603050405020304" pitchFamily="18" charset="0"/>
                <a:cs typeface="Times New Roman" panose="02020603050405020304" pitchFamily="18" charset="0"/>
              </a:rPr>
              <a:t>:</a:t>
            </a:r>
          </a:p>
          <a:p>
            <a:pPr lvl="1" eaLnBrk="1" hangingPunct="1">
              <a:spcBef>
                <a:spcPts val="0"/>
              </a:spcBef>
              <a:buFontTx/>
              <a:buNone/>
            </a:pPr>
            <a:r>
              <a:rPr lang="en-US" altLang="zh-CN" sz="2000" dirty="0">
                <a:latin typeface="Times New Roman" panose="02020603050405020304" pitchFamily="18" charset="0"/>
                <a:cs typeface="Times New Roman" panose="02020603050405020304" pitchFamily="18" charset="0"/>
              </a:rPr>
              <a:t>1.S</a:t>
            </a:r>
            <a:r>
              <a:rPr lang="zh-CN" altLang="en-US" sz="2000" dirty="0">
                <a:latin typeface="Times New Roman" panose="02020603050405020304" pitchFamily="18" charset="0"/>
                <a:cs typeface="Times New Roman" panose="02020603050405020304" pitchFamily="18" charset="0"/>
              </a:rPr>
              <a:t>是一个</a:t>
            </a:r>
            <a:r>
              <a:rPr lang="zh-CN" altLang="en-US" sz="2000" b="1" dirty="0">
                <a:solidFill>
                  <a:srgbClr val="3333FF"/>
                </a:solidFill>
                <a:latin typeface="Times New Roman" panose="02020603050405020304" pitchFamily="18" charset="0"/>
                <a:cs typeface="Times New Roman" panose="02020603050405020304" pitchFamily="18" charset="0"/>
              </a:rPr>
              <a:t>有穷</a:t>
            </a:r>
            <a:r>
              <a:rPr lang="zh-CN" altLang="en-US" sz="2000" dirty="0">
                <a:latin typeface="Times New Roman" panose="02020603050405020304" pitchFamily="18" charset="0"/>
                <a:cs typeface="Times New Roman" panose="02020603050405020304" pitchFamily="18" charset="0"/>
              </a:rPr>
              <a:t>集，它的每个元素称为一个状态；</a:t>
            </a:r>
          </a:p>
          <a:p>
            <a:pPr lvl="1" eaLnBrk="1" hangingPunct="1">
              <a:spcBef>
                <a:spcPts val="0"/>
              </a:spcBef>
              <a:buFontTx/>
              <a:buNone/>
            </a:pPr>
            <a:r>
              <a:rPr lang="en-US" altLang="zh-CN" sz="2000" dirty="0">
                <a:latin typeface="Times New Roman" panose="02020603050405020304" pitchFamily="18" charset="0"/>
                <a:cs typeface="Times New Roman" panose="02020603050405020304" pitchFamily="18" charset="0"/>
              </a:rPr>
              <a:t>2.Σ</a:t>
            </a:r>
            <a:r>
              <a:rPr lang="zh-CN" altLang="en-US" sz="2000" dirty="0">
                <a:latin typeface="Times New Roman" panose="02020603050405020304" pitchFamily="18" charset="0"/>
                <a:cs typeface="Times New Roman" panose="02020603050405020304" pitchFamily="18" charset="0"/>
              </a:rPr>
              <a:t>是一个</a:t>
            </a:r>
            <a:r>
              <a:rPr lang="zh-CN" altLang="en-US" sz="2000" b="1" dirty="0">
                <a:solidFill>
                  <a:srgbClr val="3333FF"/>
                </a:solidFill>
                <a:latin typeface="Times New Roman" panose="02020603050405020304" pitchFamily="18" charset="0"/>
                <a:cs typeface="Times New Roman" panose="02020603050405020304" pitchFamily="18" charset="0"/>
              </a:rPr>
              <a:t>有穷</a:t>
            </a:r>
            <a:r>
              <a:rPr lang="zh-CN" altLang="en-US" sz="2000" dirty="0">
                <a:latin typeface="Times New Roman" panose="02020603050405020304" pitchFamily="18" charset="0"/>
                <a:cs typeface="Times New Roman" panose="02020603050405020304" pitchFamily="18" charset="0"/>
              </a:rPr>
              <a:t>字母表，它的每个元素称为一个输入符号，所以也称</a:t>
            </a:r>
            <a:r>
              <a:rPr lang="en-US" altLang="zh-CN" sz="2000" dirty="0">
                <a:latin typeface="Times New Roman" panose="02020603050405020304" pitchFamily="18" charset="0"/>
                <a:cs typeface="Times New Roman" panose="02020603050405020304" pitchFamily="18" charset="0"/>
              </a:rPr>
              <a:t>Σ</a:t>
            </a:r>
            <a:r>
              <a:rPr lang="zh-CN" altLang="en-US" sz="2000" dirty="0">
                <a:latin typeface="Times New Roman" panose="02020603050405020304" pitchFamily="18" charset="0"/>
                <a:cs typeface="Times New Roman" panose="02020603050405020304" pitchFamily="18" charset="0"/>
              </a:rPr>
              <a:t>为输入符号表；</a:t>
            </a:r>
          </a:p>
          <a:p>
            <a:pPr lvl="1">
              <a:spcBef>
                <a:spcPts val="0"/>
              </a:spcBef>
              <a:buNone/>
            </a:pPr>
            <a:r>
              <a:rPr lang="en-US" altLang="zh-CN" sz="2000" dirty="0">
                <a:latin typeface="Times New Roman" panose="02020603050405020304" pitchFamily="18" charset="0"/>
                <a:cs typeface="Times New Roman" panose="02020603050405020304" pitchFamily="18" charset="0"/>
              </a:rPr>
              <a:t>3.δ</a:t>
            </a:r>
            <a:r>
              <a:rPr lang="zh-CN" altLang="en-US" sz="2000" dirty="0">
                <a:latin typeface="Times New Roman" panose="02020603050405020304" pitchFamily="18" charset="0"/>
                <a:cs typeface="Times New Roman" panose="02020603050405020304" pitchFamily="18" charset="0"/>
              </a:rPr>
              <a:t>是转换函数，是在</a:t>
            </a:r>
            <a:r>
              <a:rPr lang="en-US" altLang="zh-CN" sz="2000" dirty="0">
                <a:latin typeface="Times New Roman" panose="02020603050405020304" pitchFamily="18" charset="0"/>
                <a:cs typeface="Times New Roman" panose="02020603050405020304" pitchFamily="18" charset="0"/>
              </a:rPr>
              <a:t>S×Σ→S</a:t>
            </a:r>
            <a:r>
              <a:rPr lang="zh-CN" altLang="en-US" sz="2000" dirty="0">
                <a:latin typeface="Times New Roman" panose="02020603050405020304" pitchFamily="18" charset="0"/>
                <a:cs typeface="Times New Roman" panose="02020603050405020304" pitchFamily="18" charset="0"/>
              </a:rPr>
              <a:t>上的</a:t>
            </a:r>
            <a:r>
              <a:rPr lang="zh-CN" altLang="en-US" sz="2000" b="1" dirty="0">
                <a:solidFill>
                  <a:srgbClr val="3333FF"/>
                </a:solidFill>
                <a:latin typeface="Times New Roman" panose="02020603050405020304" pitchFamily="18" charset="0"/>
                <a:cs typeface="Times New Roman" panose="02020603050405020304" pitchFamily="18" charset="0"/>
              </a:rPr>
              <a:t>单值映射</a:t>
            </a:r>
            <a:r>
              <a:rPr lang="zh-CN" altLang="en-US" sz="2000" dirty="0">
                <a:latin typeface="Times New Roman" panose="02020603050405020304" pitchFamily="18" charset="0"/>
                <a:cs typeface="Times New Roman" panose="02020603050405020304" pitchFamily="18" charset="0"/>
              </a:rPr>
              <a:t>，</a:t>
            </a:r>
            <a:r>
              <a:rPr lang="fr-FR" altLang="zh-CN" sz="2000" dirty="0">
                <a:latin typeface="Times New Roman" panose="02020603050405020304" pitchFamily="18" charset="0"/>
                <a:cs typeface="Times New Roman" panose="02020603050405020304" pitchFamily="18" charset="0"/>
                <a:sym typeface="Symbol"/>
              </a:rPr>
              <a:t></a:t>
            </a:r>
            <a:r>
              <a:rPr lang="en-US" altLang="zh-CN" sz="2000" dirty="0">
                <a:latin typeface="Times New Roman" panose="02020603050405020304" pitchFamily="18" charset="0"/>
                <a:cs typeface="Times New Roman" panose="02020603050405020304" pitchFamily="18" charset="0"/>
              </a:rPr>
              <a:t>(s</a:t>
            </a:r>
            <a:r>
              <a:rPr lang="zh-CN"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a)=s' (</a:t>
            </a:r>
            <a:r>
              <a:rPr lang="en-US" altLang="zh-CN" sz="2000" dirty="0" err="1">
                <a:latin typeface="Times New Roman" panose="02020603050405020304" pitchFamily="18" charset="0"/>
                <a:cs typeface="Times New Roman" panose="02020603050405020304" pitchFamily="18" charset="0"/>
              </a:rPr>
              <a:t>s∈S</a:t>
            </a:r>
            <a:r>
              <a:rPr lang="zh-CN" altLang="en-US"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s'∈S</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，就意味着，当前状态为</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，输入符为</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时，将转换为下一个状态</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，我们把</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称作</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的一个</a:t>
            </a:r>
            <a:r>
              <a:rPr lang="zh-CN" altLang="en-US" sz="2000" dirty="0">
                <a:solidFill>
                  <a:srgbClr val="FF0000"/>
                </a:solidFill>
                <a:latin typeface="Times New Roman" panose="02020603050405020304" pitchFamily="18" charset="0"/>
                <a:cs typeface="Times New Roman" panose="02020603050405020304" pitchFamily="18" charset="0"/>
              </a:rPr>
              <a:t>后继状态</a:t>
            </a:r>
            <a:r>
              <a:rPr lang="zh-CN" altLang="en-US" sz="2000" dirty="0">
                <a:latin typeface="Times New Roman" panose="02020603050405020304" pitchFamily="18" charset="0"/>
                <a:cs typeface="Times New Roman" panose="02020603050405020304" pitchFamily="18" charset="0"/>
              </a:rPr>
              <a:t>；</a:t>
            </a:r>
          </a:p>
          <a:p>
            <a:pPr lvl="1" eaLnBrk="1" hangingPunct="1">
              <a:spcBef>
                <a:spcPts val="0"/>
              </a:spcBef>
              <a:buFontTx/>
              <a:buNone/>
            </a:pPr>
            <a:r>
              <a:rPr lang="en-US" altLang="zh-CN" sz="2000" dirty="0">
                <a:latin typeface="Times New Roman" panose="02020603050405020304" pitchFamily="18" charset="0"/>
                <a:cs typeface="Times New Roman" panose="02020603050405020304" pitchFamily="18" charset="0"/>
              </a:rPr>
              <a:t>4. s</a:t>
            </a:r>
            <a:r>
              <a:rPr lang="en-US" altLang="zh-CN" sz="2000" baseline="-25000" dirty="0">
                <a:latin typeface="Times New Roman" panose="02020603050405020304" pitchFamily="18" charset="0"/>
                <a:cs typeface="Times New Roman" panose="02020603050405020304" pitchFamily="18" charset="0"/>
              </a:rPr>
              <a:t>0</a:t>
            </a:r>
            <a:r>
              <a:rPr lang="en-US" altLang="zh-CN" sz="2000" dirty="0">
                <a:latin typeface="Times New Roman" panose="02020603050405020304" pitchFamily="18" charset="0"/>
                <a:cs typeface="Times New Roman" panose="02020603050405020304" pitchFamily="18" charset="0"/>
              </a:rPr>
              <a:t> ∈S</a:t>
            </a:r>
            <a:r>
              <a:rPr lang="zh-CN" altLang="en-US" sz="2000" dirty="0">
                <a:latin typeface="Times New Roman" panose="02020603050405020304" pitchFamily="18" charset="0"/>
                <a:cs typeface="Times New Roman" panose="02020603050405020304" pitchFamily="18" charset="0"/>
              </a:rPr>
              <a:t>是</a:t>
            </a:r>
            <a:r>
              <a:rPr lang="zh-CN" altLang="en-US" sz="2000" b="1" dirty="0">
                <a:solidFill>
                  <a:srgbClr val="3333FF"/>
                </a:solidFill>
                <a:latin typeface="Times New Roman" panose="02020603050405020304" pitchFamily="18" charset="0"/>
                <a:cs typeface="Times New Roman" panose="02020603050405020304" pitchFamily="18" charset="0"/>
              </a:rPr>
              <a:t>唯一</a:t>
            </a:r>
            <a:r>
              <a:rPr lang="zh-CN" altLang="en-US" sz="2000" dirty="0">
                <a:latin typeface="Times New Roman" panose="02020603050405020304" pitchFamily="18" charset="0"/>
                <a:cs typeface="Times New Roman" panose="02020603050405020304" pitchFamily="18" charset="0"/>
              </a:rPr>
              <a:t>的一个初态；</a:t>
            </a:r>
          </a:p>
          <a:p>
            <a:pPr lvl="1" eaLnBrk="1" hangingPunct="1">
              <a:spcBef>
                <a:spcPts val="0"/>
              </a:spcBef>
              <a:buFontTx/>
              <a:buNone/>
            </a:pPr>
            <a:r>
              <a:rPr lang="en-US" altLang="zh-CN" sz="2000" dirty="0">
                <a:latin typeface="Times New Roman" panose="02020603050405020304" pitchFamily="18" charset="0"/>
                <a:cs typeface="Times New Roman" panose="02020603050405020304" pitchFamily="18" charset="0"/>
              </a:rPr>
              <a:t>5.F</a:t>
            </a:r>
            <a:r>
              <a:rPr lang="en-US" altLang="zh-CN" sz="2000" dirty="0">
                <a:latin typeface="Times New Roman" panose="02020603050405020304" pitchFamily="18" charset="0"/>
                <a:cs typeface="Times New Roman" panose="02020603050405020304" pitchFamily="18" charset="0"/>
                <a:sym typeface="Symbol" pitchFamily="18" charset="2"/>
              </a:rPr>
              <a:t></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是一个终态</a:t>
            </a:r>
            <a:r>
              <a:rPr lang="zh-CN" altLang="en-US" sz="2000" b="1" dirty="0">
                <a:solidFill>
                  <a:srgbClr val="3333FF"/>
                </a:solidFill>
                <a:latin typeface="Times New Roman" panose="02020603050405020304" pitchFamily="18" charset="0"/>
                <a:cs typeface="Times New Roman" panose="02020603050405020304" pitchFamily="18" charset="0"/>
              </a:rPr>
              <a:t>集</a:t>
            </a:r>
            <a:r>
              <a:rPr lang="en-US" altLang="zh-CN" sz="2000" b="1" dirty="0">
                <a:solidFill>
                  <a:srgbClr val="3333FF"/>
                </a:solidFill>
                <a:latin typeface="Times New Roman" panose="02020603050405020304" pitchFamily="18" charset="0"/>
                <a:cs typeface="Times New Roman" panose="02020603050405020304" pitchFamily="18" charset="0"/>
              </a:rPr>
              <a:t>(</a:t>
            </a:r>
            <a:r>
              <a:rPr lang="zh-CN" altLang="en-US" sz="2000" b="1" dirty="0">
                <a:solidFill>
                  <a:srgbClr val="3333FF"/>
                </a:solidFill>
                <a:latin typeface="Times New Roman" panose="02020603050405020304" pitchFamily="18" charset="0"/>
                <a:cs typeface="Times New Roman" panose="02020603050405020304" pitchFamily="18" charset="0"/>
              </a:rPr>
              <a:t>可空</a:t>
            </a:r>
            <a:r>
              <a:rPr lang="en-US" altLang="zh-CN" sz="2000" b="1" dirty="0">
                <a:solidFill>
                  <a:srgbClr val="3333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，也称可接受状态或结束状态。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084323468"/>
              </p:ext>
            </p:extLst>
          </p:nvPr>
        </p:nvGraphicFramePr>
        <p:xfrm>
          <a:off x="6084168" y="1923678"/>
          <a:ext cx="2915816" cy="1800200"/>
        </p:xfrm>
        <a:graphic>
          <a:graphicData uri="http://schemas.openxmlformats.org/presentationml/2006/ole">
            <mc:AlternateContent xmlns:mc="http://schemas.openxmlformats.org/markup-compatibility/2006">
              <mc:Choice xmlns:v="urn:schemas-microsoft-com:vml" Requires="v">
                <p:oleObj spid="_x0000_s22541" name="Visio" r:id="rId4" imgW="2271733" imgH="1118415" progId="Visio.Drawing.11">
                  <p:embed/>
                </p:oleObj>
              </mc:Choice>
              <mc:Fallback>
                <p:oleObj name="Visio" r:id="rId4" imgW="2271733" imgH="111841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168" y="1923678"/>
                        <a:ext cx="2915816" cy="1800200"/>
                      </a:xfrm>
                      <a:prstGeom prst="rect">
                        <a:avLst/>
                      </a:prstGeom>
                      <a:noFill/>
                    </p:spPr>
                  </p:pic>
                </p:oleObj>
              </mc:Fallback>
            </mc:AlternateContent>
          </a:graphicData>
        </a:graphic>
      </p:graphicFrame>
    </p:spTree>
    <p:extLst>
      <p:ext uri="{BB962C8B-B14F-4D97-AF65-F5344CB8AC3E}">
        <p14:creationId xmlns:p14="http://schemas.microsoft.com/office/powerpoint/2010/main" val="130537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1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3"/>
          <p:cNvSpPr>
            <a:spLocks noGrp="1" noChangeArrowheads="1"/>
          </p:cNvSpPr>
          <p:nvPr>
            <p:ph type="body" sz="half" idx="1"/>
          </p:nvPr>
        </p:nvSpPr>
        <p:spPr>
          <a:xfrm>
            <a:off x="360041" y="741520"/>
            <a:ext cx="4860031" cy="809625"/>
          </a:xfrm>
        </p:spPr>
        <p:txBody>
          <a:bodyPr>
            <a:noAutofit/>
          </a:bodyPr>
          <a:lstStyle/>
          <a:p>
            <a:pPr eaLnBrk="1" hangingPunct="1">
              <a:buFontTx/>
              <a:buNone/>
            </a:pPr>
            <a:r>
              <a:rPr lang="zh-CN" altLang="en-US" sz="2200" dirty="0"/>
              <a:t>例</a:t>
            </a:r>
            <a:r>
              <a:rPr lang="en-US" altLang="zh-CN" sz="2200" dirty="0"/>
              <a:t>3</a:t>
            </a:r>
            <a:r>
              <a:rPr lang="zh-CN" altLang="en-US" sz="2200" dirty="0"/>
              <a:t>：有</a:t>
            </a:r>
            <a:r>
              <a:rPr lang="en-US" altLang="zh-CN" sz="2200" dirty="0"/>
              <a:t>DFA M =({0,1,2,3},{</a:t>
            </a:r>
            <a:r>
              <a:rPr lang="en-US" altLang="zh-CN" sz="2200" dirty="0" err="1"/>
              <a:t>a,b</a:t>
            </a:r>
            <a:r>
              <a:rPr lang="en-US" altLang="zh-CN" sz="2200" dirty="0"/>
              <a:t>}, </a:t>
            </a:r>
            <a:r>
              <a:rPr lang="en-US" altLang="zh-CN" sz="2200" dirty="0">
                <a:cs typeface="Times New Roman" pitchFamily="18" charset="0"/>
              </a:rPr>
              <a:t>δ</a:t>
            </a:r>
            <a:r>
              <a:rPr lang="en-US" altLang="zh-CN" sz="2200" dirty="0"/>
              <a:t>,0,{3})</a:t>
            </a:r>
            <a:r>
              <a:rPr lang="zh-CN" altLang="en-US" sz="2200" dirty="0"/>
              <a:t>，</a:t>
            </a:r>
            <a:r>
              <a:rPr lang="en-US" altLang="zh-CN" sz="2200" dirty="0">
                <a:cs typeface="Times New Roman" pitchFamily="18" charset="0"/>
              </a:rPr>
              <a:t>             δ</a:t>
            </a:r>
            <a:r>
              <a:rPr lang="zh-CN" altLang="en-US" sz="2200" dirty="0">
                <a:cs typeface="Times New Roman" pitchFamily="18" charset="0"/>
              </a:rPr>
              <a:t>为：</a:t>
            </a:r>
          </a:p>
        </p:txBody>
      </p:sp>
      <p:sp>
        <p:nvSpPr>
          <p:cNvPr id="49155" name="Text Box 4"/>
          <p:cNvSpPr txBox="1">
            <a:spLocks noChangeArrowheads="1"/>
          </p:cNvSpPr>
          <p:nvPr/>
        </p:nvSpPr>
        <p:spPr bwMode="auto">
          <a:xfrm>
            <a:off x="5652120" y="726181"/>
            <a:ext cx="3215977" cy="1446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ts val="0"/>
              </a:spcBef>
              <a:buFontTx/>
              <a:buNone/>
            </a:pPr>
            <a:r>
              <a:rPr lang="en-US" altLang="zh-CN" sz="2200" dirty="0"/>
              <a:t>δ(0,a) = 1     δ(0,b) = 2</a:t>
            </a:r>
          </a:p>
          <a:p>
            <a:pPr eaLnBrk="1" hangingPunct="1">
              <a:spcBef>
                <a:spcPts val="0"/>
              </a:spcBef>
              <a:buFontTx/>
              <a:buNone/>
            </a:pPr>
            <a:r>
              <a:rPr lang="en-US" altLang="zh-CN" sz="2200" dirty="0"/>
              <a:t>δ(1,a) = 3     δ(1,b) = 2</a:t>
            </a:r>
          </a:p>
          <a:p>
            <a:pPr eaLnBrk="1" hangingPunct="1">
              <a:spcBef>
                <a:spcPts val="0"/>
              </a:spcBef>
              <a:buFontTx/>
              <a:buNone/>
            </a:pPr>
            <a:r>
              <a:rPr lang="en-US" altLang="zh-CN" sz="2200" dirty="0"/>
              <a:t>δ(2,a) = 1     δ(2,b) = 3</a:t>
            </a:r>
          </a:p>
          <a:p>
            <a:pPr eaLnBrk="1" hangingPunct="1">
              <a:spcBef>
                <a:spcPts val="0"/>
              </a:spcBef>
              <a:buFontTx/>
              <a:buNone/>
            </a:pPr>
            <a:r>
              <a:rPr lang="en-US" altLang="zh-CN" sz="2200" dirty="0"/>
              <a:t>δ(3,a) = 3     δ(3,b) = 3</a:t>
            </a:r>
          </a:p>
        </p:txBody>
      </p:sp>
      <p:graphicFrame>
        <p:nvGraphicFramePr>
          <p:cNvPr id="56385" name="Group 65"/>
          <p:cNvGraphicFramePr>
            <a:graphicFrameLocks noGrp="1"/>
          </p:cNvGraphicFramePr>
          <p:nvPr>
            <p:ph sz="half" idx="2"/>
            <p:extLst>
              <p:ext uri="{D42A27DB-BD31-4B8C-83A1-F6EECF244321}">
                <p14:modId xmlns:p14="http://schemas.microsoft.com/office/powerpoint/2010/main" val="271629333"/>
              </p:ext>
            </p:extLst>
          </p:nvPr>
        </p:nvGraphicFramePr>
        <p:xfrm>
          <a:off x="737452" y="2843855"/>
          <a:ext cx="2682420" cy="2116836"/>
        </p:xfrm>
        <a:graphic>
          <a:graphicData uri="http://schemas.openxmlformats.org/drawingml/2006/table">
            <a:tbl>
              <a:tblPr/>
              <a:tblGrid>
                <a:gridCol w="1170252">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tblGrid>
              <a:tr h="48801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ts val="0"/>
                        </a:spcBef>
                        <a:spcAft>
                          <a:spcPct val="0"/>
                        </a:spcAft>
                        <a:buClrTx/>
                        <a:buSzTx/>
                        <a:buFontTx/>
                        <a:buNone/>
                        <a:tabLst/>
                      </a:pPr>
                      <a:r>
                        <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a:t>
                      </a:r>
                      <a:endParaRPr kumimoji="0" lang="en-US" altLang="zh-CN"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90000"/>
                        </a:lnSpc>
                        <a:spcBef>
                          <a:spcPts val="0"/>
                        </a:spcBef>
                        <a:spcAft>
                          <a:spcPct val="0"/>
                        </a:spcAft>
                        <a:buClrTx/>
                        <a:buSzTx/>
                        <a:buFontTx/>
                        <a:buNone/>
                        <a:tabLst/>
                      </a:pPr>
                      <a:r>
                        <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状态</a:t>
                      </a:r>
                      <a:r>
                        <a:rPr kumimoji="0" lang="zh-CN" altLang="en-US"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49183" name="Rectangle 62"/>
          <p:cNvSpPr>
            <a:spLocks noChangeArrowheads="1"/>
          </p:cNvSpPr>
          <p:nvPr/>
        </p:nvSpPr>
        <p:spPr bwMode="auto">
          <a:xfrm>
            <a:off x="395536" y="1707654"/>
            <a:ext cx="370790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zh-CN" altLang="en-US" sz="2200" dirty="0"/>
              <a:t>行表示状态，列表示输入字符，矩阵元素表示</a:t>
            </a:r>
            <a:r>
              <a:rPr lang="en-US" altLang="zh-CN" sz="2200" dirty="0"/>
              <a:t>δ (s</a:t>
            </a:r>
            <a:r>
              <a:rPr lang="zh-CN" altLang="en-US" sz="2200" dirty="0"/>
              <a:t>，</a:t>
            </a:r>
            <a:r>
              <a:rPr lang="en-US" altLang="zh-CN" sz="2200" dirty="0"/>
              <a:t>a)</a:t>
            </a:r>
            <a:r>
              <a:rPr lang="zh-CN" altLang="en-US" sz="2200" dirty="0"/>
              <a:t>的值，称为</a:t>
            </a:r>
            <a:r>
              <a:rPr lang="zh-CN" altLang="en-US" sz="2200" b="1" dirty="0">
                <a:solidFill>
                  <a:srgbClr val="FF3399"/>
                </a:solidFill>
              </a:rPr>
              <a:t>状态转换矩阵</a:t>
            </a:r>
            <a:r>
              <a:rPr lang="zh-CN" altLang="en-US" sz="2200" dirty="0"/>
              <a:t>。</a:t>
            </a:r>
          </a:p>
        </p:txBody>
      </p:sp>
      <p:sp>
        <p:nvSpPr>
          <p:cNvPr id="49184" name="Rectangle 64"/>
          <p:cNvSpPr>
            <a:spLocks noChangeArrowheads="1"/>
          </p:cNvSpPr>
          <p:nvPr/>
        </p:nvSpPr>
        <p:spPr bwMode="auto">
          <a:xfrm>
            <a:off x="2123728" y="3189"/>
            <a:ext cx="33908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3600" dirty="0"/>
              <a:t>DFA</a:t>
            </a:r>
            <a:r>
              <a:rPr lang="zh-CN" altLang="en-US" sz="3600" dirty="0"/>
              <a:t>的三种表示</a:t>
            </a:r>
          </a:p>
        </p:txBody>
      </p:sp>
      <p:sp>
        <p:nvSpPr>
          <p:cNvPr id="4917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9177" name="对象 49176"/>
          <p:cNvGraphicFramePr>
            <a:graphicFrameLocks noChangeAspect="1"/>
          </p:cNvGraphicFramePr>
          <p:nvPr>
            <p:extLst>
              <p:ext uri="{D42A27DB-BD31-4B8C-83A1-F6EECF244321}">
                <p14:modId xmlns:p14="http://schemas.microsoft.com/office/powerpoint/2010/main" val="548820182"/>
              </p:ext>
            </p:extLst>
          </p:nvPr>
        </p:nvGraphicFramePr>
        <p:xfrm>
          <a:off x="4593257" y="2815650"/>
          <a:ext cx="3914849" cy="1916340"/>
        </p:xfrm>
        <a:graphic>
          <a:graphicData uri="http://schemas.openxmlformats.org/presentationml/2006/ole">
            <mc:AlternateContent xmlns:mc="http://schemas.openxmlformats.org/markup-compatibility/2006">
              <mc:Choice xmlns:v="urn:schemas-microsoft-com:vml" Requires="v">
                <p:oleObj spid="_x0000_s23565" name="Visio" r:id="rId4" imgW="2271733" imgH="1118415" progId="Visio.Drawing.11">
                  <p:embed/>
                </p:oleObj>
              </mc:Choice>
              <mc:Fallback>
                <p:oleObj name="Visio" r:id="rId4" imgW="2271733" imgH="111841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3257" y="2815650"/>
                        <a:ext cx="3914849" cy="1916340"/>
                      </a:xfrm>
                      <a:prstGeom prst="rect">
                        <a:avLst/>
                      </a:prstGeom>
                      <a:noFill/>
                    </p:spPr>
                  </p:pic>
                </p:oleObj>
              </mc:Fallback>
            </mc:AlternateContent>
          </a:graphicData>
        </a:graphic>
      </p:graphicFrame>
    </p:spTree>
    <p:extLst>
      <p:ext uri="{BB962C8B-B14F-4D97-AF65-F5344CB8AC3E}">
        <p14:creationId xmlns:p14="http://schemas.microsoft.com/office/powerpoint/2010/main" val="33531387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83"/>
                                        </p:tgtEl>
                                        <p:attrNameLst>
                                          <p:attrName>style.visibility</p:attrName>
                                        </p:attrNameLst>
                                      </p:cBhvr>
                                      <p:to>
                                        <p:strVal val="visible"/>
                                      </p:to>
                                    </p:set>
                                  </p:childTnLst>
                                </p:cTn>
                              </p:par>
                            </p:childTnLst>
                          </p:cTn>
                        </p:par>
                        <p:par>
                          <p:cTn id="11" fill="hold">
                            <p:stCondLst>
                              <p:cond delay="0"/>
                            </p:stCondLst>
                            <p:childTnLst>
                              <p:par>
                                <p:cTn id="12" presetID="2" presetClass="entr" presetSubtype="4" fill="hold" nodeType="afterEffect">
                                  <p:stCondLst>
                                    <p:cond delay="0"/>
                                  </p:stCondLst>
                                  <p:childTnLst>
                                    <p:set>
                                      <p:cBhvr>
                                        <p:cTn id="13" dur="1" fill="hold">
                                          <p:stCondLst>
                                            <p:cond delay="0"/>
                                          </p:stCondLst>
                                        </p:cTn>
                                        <p:tgtEl>
                                          <p:spTgt spid="56385"/>
                                        </p:tgtEl>
                                        <p:attrNameLst>
                                          <p:attrName>style.visibility</p:attrName>
                                        </p:attrNameLst>
                                      </p:cBhvr>
                                      <p:to>
                                        <p:strVal val="visible"/>
                                      </p:to>
                                    </p:set>
                                    <p:anim calcmode="lin" valueType="num">
                                      <p:cBhvr additive="base">
                                        <p:cTn id="14" dur="500" fill="hold"/>
                                        <p:tgtEl>
                                          <p:spTgt spid="56385"/>
                                        </p:tgtEl>
                                        <p:attrNameLst>
                                          <p:attrName>ppt_x</p:attrName>
                                        </p:attrNameLst>
                                      </p:cBhvr>
                                      <p:tavLst>
                                        <p:tav tm="0">
                                          <p:val>
                                            <p:strVal val="#ppt_x"/>
                                          </p:val>
                                        </p:tav>
                                        <p:tav tm="100000">
                                          <p:val>
                                            <p:strVal val="#ppt_x"/>
                                          </p:val>
                                        </p:tav>
                                      </p:tavLst>
                                    </p:anim>
                                    <p:anim calcmode="lin" valueType="num">
                                      <p:cBhvr additive="base">
                                        <p:cTn id="15" dur="500" fill="hold"/>
                                        <p:tgtEl>
                                          <p:spTgt spid="563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8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body" idx="1"/>
          </p:nvPr>
        </p:nvSpPr>
        <p:spPr>
          <a:xfrm>
            <a:off x="533400" y="685800"/>
            <a:ext cx="7715250" cy="3763566"/>
          </a:xfrm>
        </p:spPr>
        <p:txBody>
          <a:bodyPr/>
          <a:lstStyle/>
          <a:p>
            <a:pPr eaLnBrk="1" hangingPunct="1">
              <a:spcBef>
                <a:spcPct val="40000"/>
              </a:spcBef>
            </a:pPr>
            <a:r>
              <a:rPr lang="en-US" altLang="zh-CN" sz="2800" b="1" dirty="0">
                <a:solidFill>
                  <a:srgbClr val="FF3399"/>
                </a:solidFill>
              </a:rPr>
              <a:t>DFA</a:t>
            </a:r>
            <a:r>
              <a:rPr lang="zh-CN" altLang="en-US" sz="2800" b="1" dirty="0">
                <a:solidFill>
                  <a:srgbClr val="FF3399"/>
                </a:solidFill>
              </a:rPr>
              <a:t>的确定性表现在：</a:t>
            </a:r>
          </a:p>
          <a:p>
            <a:pPr lvl="1" eaLnBrk="1" hangingPunct="1">
              <a:spcBef>
                <a:spcPct val="40000"/>
              </a:spcBef>
            </a:pPr>
            <a:r>
              <a:rPr lang="zh-CN" altLang="en-US" dirty="0"/>
              <a:t>对任何状态</a:t>
            </a:r>
            <a:r>
              <a:rPr lang="en-US" altLang="zh-CN" dirty="0"/>
              <a:t>s ∈S</a:t>
            </a:r>
            <a:r>
              <a:rPr lang="zh-CN" altLang="en-US" dirty="0"/>
              <a:t>，在读入了输入符号</a:t>
            </a:r>
            <a:r>
              <a:rPr lang="en-US" altLang="zh-CN" dirty="0"/>
              <a:t>a ∈ Σ </a:t>
            </a:r>
            <a:r>
              <a:rPr lang="zh-CN" altLang="en-US" dirty="0"/>
              <a:t>之后，能够</a:t>
            </a:r>
            <a:r>
              <a:rPr lang="zh-CN" altLang="en-US" b="1" dirty="0">
                <a:solidFill>
                  <a:srgbClr val="3333FF"/>
                </a:solidFill>
              </a:rPr>
              <a:t>唯一地确定</a:t>
            </a:r>
            <a:r>
              <a:rPr lang="zh-CN" altLang="en-US" dirty="0"/>
              <a:t>下一个状态</a:t>
            </a:r>
          </a:p>
          <a:p>
            <a:pPr lvl="1" eaLnBrk="1" hangingPunct="1">
              <a:spcBef>
                <a:spcPct val="40000"/>
              </a:spcBef>
            </a:pPr>
            <a:r>
              <a:rPr lang="zh-CN" altLang="en-US" dirty="0"/>
              <a:t>映射函数</a:t>
            </a:r>
            <a:r>
              <a:rPr lang="en-US" altLang="zh-CN" dirty="0">
                <a:cs typeface="Times New Roman" pitchFamily="18" charset="0"/>
              </a:rPr>
              <a:t>δ</a:t>
            </a:r>
            <a:r>
              <a:rPr lang="zh-CN" altLang="en-US" dirty="0"/>
              <a:t>：</a:t>
            </a:r>
            <a:r>
              <a:rPr lang="en-US" altLang="zh-CN" dirty="0"/>
              <a:t>S×Σ→S</a:t>
            </a:r>
            <a:r>
              <a:rPr lang="zh-CN" altLang="en-US" dirty="0"/>
              <a:t>是一个</a:t>
            </a:r>
            <a:r>
              <a:rPr lang="zh-CN" altLang="en-US" b="1" dirty="0">
                <a:solidFill>
                  <a:srgbClr val="3333FF"/>
                </a:solidFill>
              </a:rPr>
              <a:t>单值</a:t>
            </a:r>
            <a:r>
              <a:rPr lang="zh-CN" altLang="en-US" dirty="0"/>
              <a:t>函数</a:t>
            </a:r>
          </a:p>
          <a:p>
            <a:pPr lvl="1" eaLnBrk="1" hangingPunct="1">
              <a:spcBef>
                <a:spcPct val="40000"/>
              </a:spcBef>
            </a:pPr>
            <a:r>
              <a:rPr lang="zh-CN" altLang="en-US" dirty="0"/>
              <a:t>从状态转换图来看，若字母表</a:t>
            </a:r>
            <a:r>
              <a:rPr lang="en-US" altLang="zh-CN" dirty="0">
                <a:cs typeface="Arial" charset="0"/>
              </a:rPr>
              <a:t>Σ</a:t>
            </a:r>
            <a:r>
              <a:rPr lang="zh-CN" altLang="en-US" dirty="0"/>
              <a:t>含有</a:t>
            </a:r>
            <a:r>
              <a:rPr lang="en-US" altLang="zh-CN" dirty="0"/>
              <a:t>n</a:t>
            </a:r>
            <a:r>
              <a:rPr lang="zh-CN" altLang="en-US" dirty="0"/>
              <a:t>个输入字符，那末任何一个状态结点</a:t>
            </a:r>
            <a:r>
              <a:rPr lang="zh-CN" altLang="en-US" b="1" dirty="0">
                <a:solidFill>
                  <a:srgbClr val="3333FF"/>
                </a:solidFill>
              </a:rPr>
              <a:t>最多有</a:t>
            </a:r>
            <a:r>
              <a:rPr lang="en-US" altLang="zh-CN" b="1" dirty="0">
                <a:solidFill>
                  <a:srgbClr val="3333FF"/>
                </a:solidFill>
              </a:rPr>
              <a:t>n</a:t>
            </a:r>
            <a:r>
              <a:rPr lang="zh-CN" altLang="en-US" b="1" dirty="0">
                <a:solidFill>
                  <a:srgbClr val="3333FF"/>
                </a:solidFill>
              </a:rPr>
              <a:t>条弧射出</a:t>
            </a:r>
            <a:r>
              <a:rPr lang="zh-CN" altLang="en-US" dirty="0"/>
              <a:t>，而且每条弧以一个</a:t>
            </a:r>
            <a:r>
              <a:rPr lang="zh-CN" altLang="en-US" b="1" dirty="0">
                <a:solidFill>
                  <a:srgbClr val="3333FF"/>
                </a:solidFill>
              </a:rPr>
              <a:t>不同的输入字符</a:t>
            </a:r>
            <a:r>
              <a:rPr lang="zh-CN" altLang="en-US" dirty="0"/>
              <a:t>标记。</a:t>
            </a:r>
          </a:p>
        </p:txBody>
      </p:sp>
    </p:spTree>
    <p:extLst>
      <p:ext uri="{BB962C8B-B14F-4D97-AF65-F5344CB8AC3E}">
        <p14:creationId xmlns:p14="http://schemas.microsoft.com/office/powerpoint/2010/main" val="3947295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3"/>
          <p:cNvSpPr>
            <a:spLocks noChangeArrowheads="1"/>
          </p:cNvSpPr>
          <p:nvPr/>
        </p:nvSpPr>
        <p:spPr bwMode="auto">
          <a:xfrm>
            <a:off x="250826" y="250031"/>
            <a:ext cx="8520113"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0363" indent="-360363">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r>
              <a:rPr kumimoji="1" lang="zh-CN" altLang="en-US" sz="2200" dirty="0">
                <a:latin typeface="Times New Roman" pitchFamily="18" charset="0"/>
              </a:rPr>
              <a:t>一个</a:t>
            </a:r>
            <a:r>
              <a:rPr kumimoji="1" lang="en-US" altLang="zh-CN" sz="2200" dirty="0">
                <a:latin typeface="Times New Roman" pitchFamily="18" charset="0"/>
              </a:rPr>
              <a:t>DFA</a:t>
            </a:r>
            <a:r>
              <a:rPr kumimoji="1" lang="zh-CN" altLang="en-US" sz="2200" dirty="0">
                <a:latin typeface="Times New Roman" pitchFamily="18" charset="0"/>
              </a:rPr>
              <a:t>可以表示成一个状态图</a:t>
            </a:r>
            <a:r>
              <a:rPr kumimoji="1" lang="en-US" altLang="zh-CN" sz="2200" dirty="0">
                <a:latin typeface="Times New Roman" pitchFamily="18" charset="0"/>
              </a:rPr>
              <a:t>(</a:t>
            </a:r>
            <a:r>
              <a:rPr kumimoji="1" lang="zh-CN" altLang="en-US" sz="2200" dirty="0">
                <a:latin typeface="Times New Roman" pitchFamily="18" charset="0"/>
              </a:rPr>
              <a:t>或称状态转换图</a:t>
            </a:r>
            <a:r>
              <a:rPr kumimoji="1" lang="en-US" altLang="zh-CN" sz="2200" dirty="0">
                <a:latin typeface="Times New Roman" pitchFamily="18" charset="0"/>
              </a:rPr>
              <a:t>)</a:t>
            </a:r>
            <a:r>
              <a:rPr kumimoji="1" lang="zh-CN" altLang="en-US" sz="2200" dirty="0">
                <a:latin typeface="Times New Roman" pitchFamily="18" charset="0"/>
              </a:rPr>
              <a:t>。假定</a:t>
            </a:r>
            <a:r>
              <a:rPr kumimoji="1" lang="en-US" altLang="zh-CN" sz="2200" dirty="0">
                <a:latin typeface="Times New Roman" pitchFamily="18" charset="0"/>
              </a:rPr>
              <a:t>DFA M</a:t>
            </a:r>
            <a:r>
              <a:rPr kumimoji="1" lang="zh-CN" altLang="en-US" sz="2200" dirty="0">
                <a:latin typeface="Times New Roman" pitchFamily="18" charset="0"/>
              </a:rPr>
              <a:t>含有</a:t>
            </a:r>
            <a:r>
              <a:rPr kumimoji="1" lang="en-US" altLang="zh-CN" sz="2200" dirty="0">
                <a:latin typeface="Times New Roman" pitchFamily="18" charset="0"/>
              </a:rPr>
              <a:t>m</a:t>
            </a:r>
            <a:r>
              <a:rPr kumimoji="1" lang="zh-CN" altLang="en-US" sz="2200" dirty="0">
                <a:latin typeface="Times New Roman" pitchFamily="18" charset="0"/>
              </a:rPr>
              <a:t>个状态，</a:t>
            </a:r>
            <a:r>
              <a:rPr kumimoji="1" lang="en-US" altLang="zh-CN" sz="2200" dirty="0">
                <a:latin typeface="Times New Roman" pitchFamily="18" charset="0"/>
              </a:rPr>
              <a:t>n</a:t>
            </a:r>
            <a:r>
              <a:rPr kumimoji="1" lang="zh-CN" altLang="en-US" sz="2200" dirty="0">
                <a:latin typeface="Times New Roman" pitchFamily="18" charset="0"/>
              </a:rPr>
              <a:t>个输入字符，那么这个状态图含有</a:t>
            </a:r>
            <a:r>
              <a:rPr kumimoji="1" lang="en-US" altLang="zh-CN" sz="2200" dirty="0">
                <a:latin typeface="Times New Roman" pitchFamily="18" charset="0"/>
              </a:rPr>
              <a:t>m</a:t>
            </a:r>
            <a:r>
              <a:rPr kumimoji="1" lang="zh-CN" altLang="en-US" sz="2200" dirty="0">
                <a:latin typeface="Times New Roman" pitchFamily="18" charset="0"/>
              </a:rPr>
              <a:t>个结点，每个结点最多有</a:t>
            </a:r>
            <a:r>
              <a:rPr kumimoji="1" lang="en-US" altLang="zh-CN" sz="2200" dirty="0">
                <a:latin typeface="Times New Roman" pitchFamily="18" charset="0"/>
              </a:rPr>
              <a:t>n</a:t>
            </a:r>
            <a:r>
              <a:rPr kumimoji="1" lang="zh-CN" altLang="en-US" sz="2200" dirty="0">
                <a:latin typeface="Times New Roman" pitchFamily="18" charset="0"/>
              </a:rPr>
              <a:t>个弧射出，整个图含有唯一一个初态结点和若干个</a:t>
            </a:r>
            <a:r>
              <a:rPr kumimoji="1" lang="en-US" altLang="zh-CN" sz="2200" dirty="0">
                <a:latin typeface="Times New Roman" pitchFamily="18" charset="0"/>
              </a:rPr>
              <a:t>(</a:t>
            </a:r>
            <a:r>
              <a:rPr kumimoji="1" lang="zh-CN" altLang="en-US" sz="2200" dirty="0">
                <a:latin typeface="Times New Roman" pitchFamily="18" charset="0"/>
              </a:rPr>
              <a:t>可以是</a:t>
            </a:r>
            <a:r>
              <a:rPr kumimoji="1" lang="en-US" altLang="zh-CN" sz="2200" dirty="0">
                <a:latin typeface="Times New Roman" pitchFamily="18" charset="0"/>
              </a:rPr>
              <a:t>0</a:t>
            </a:r>
            <a:r>
              <a:rPr kumimoji="1" lang="zh-CN" altLang="en-US" sz="2200" dirty="0">
                <a:latin typeface="Times New Roman" pitchFamily="18" charset="0"/>
              </a:rPr>
              <a:t>个</a:t>
            </a:r>
            <a:r>
              <a:rPr kumimoji="1" lang="en-US" altLang="zh-CN" sz="2200" dirty="0">
                <a:latin typeface="Times New Roman" pitchFamily="18" charset="0"/>
              </a:rPr>
              <a:t>)</a:t>
            </a:r>
            <a:r>
              <a:rPr kumimoji="1" lang="zh-CN" altLang="en-US" sz="2200" dirty="0">
                <a:latin typeface="Times New Roman" pitchFamily="18" charset="0"/>
              </a:rPr>
              <a:t>终态结点，初态结点冠以双箭头</a:t>
            </a:r>
            <a:r>
              <a:rPr kumimoji="1" lang="zh-CN" altLang="en-US" sz="2200" dirty="0">
                <a:cs typeface="Arial" charset="0"/>
              </a:rPr>
              <a:t>“</a:t>
            </a:r>
            <a:r>
              <a:rPr kumimoji="1" lang="en-US" altLang="zh-CN" sz="2200" dirty="0">
                <a:cs typeface="Arial" charset="0"/>
              </a:rPr>
              <a:t>=&gt;”</a:t>
            </a:r>
            <a:r>
              <a:rPr kumimoji="1" lang="en-US" altLang="zh-CN" sz="2200" dirty="0">
                <a:latin typeface="Times New Roman" pitchFamily="18" charset="0"/>
              </a:rPr>
              <a:t> </a:t>
            </a:r>
            <a:r>
              <a:rPr kumimoji="1" lang="zh-CN" altLang="en-US" sz="2200" dirty="0">
                <a:latin typeface="Times New Roman" pitchFamily="18" charset="0"/>
              </a:rPr>
              <a:t>，终态结点用双圈表示，若 </a:t>
            </a:r>
            <a:r>
              <a:rPr kumimoji="1" lang="en-US" altLang="zh-CN" sz="2200" dirty="0">
                <a:latin typeface="Times New Roman" pitchFamily="18" charset="0"/>
                <a:cs typeface="Times New Roman" pitchFamily="18" charset="0"/>
              </a:rPr>
              <a:t>δ</a:t>
            </a:r>
            <a:r>
              <a:rPr kumimoji="1" lang="en-US" altLang="zh-CN" sz="2200" dirty="0">
                <a:latin typeface="Times New Roman" pitchFamily="18" charset="0"/>
              </a:rPr>
              <a:t> (</a:t>
            </a:r>
            <a:r>
              <a:rPr kumimoji="1" lang="en-US" altLang="zh-CN" sz="2200" dirty="0" err="1">
                <a:latin typeface="Times New Roman" pitchFamily="18" charset="0"/>
              </a:rPr>
              <a:t>k</a:t>
            </a:r>
            <a:r>
              <a:rPr kumimoji="1" lang="en-US" altLang="zh-CN" sz="2200" baseline="-30000" dirty="0" err="1">
                <a:latin typeface="Times New Roman" pitchFamily="18" charset="0"/>
              </a:rPr>
              <a:t>i</a:t>
            </a:r>
            <a:r>
              <a:rPr kumimoji="1" lang="en-US" altLang="zh-CN" sz="2200" dirty="0" err="1">
                <a:latin typeface="Times New Roman" pitchFamily="18" charset="0"/>
              </a:rPr>
              <a:t>,a</a:t>
            </a:r>
            <a:r>
              <a:rPr kumimoji="1" lang="en-US" altLang="zh-CN" sz="2200" dirty="0">
                <a:latin typeface="Times New Roman" pitchFamily="18" charset="0"/>
              </a:rPr>
              <a:t>) =</a:t>
            </a:r>
            <a:r>
              <a:rPr kumimoji="1" lang="en-US" altLang="zh-CN" sz="2200" dirty="0" err="1">
                <a:latin typeface="Times New Roman" pitchFamily="18" charset="0"/>
              </a:rPr>
              <a:t>k</a:t>
            </a:r>
            <a:r>
              <a:rPr kumimoji="1" lang="en-US" altLang="zh-CN" sz="2200" baseline="-30000" dirty="0" err="1">
                <a:latin typeface="Times New Roman" pitchFamily="18" charset="0"/>
              </a:rPr>
              <a:t>j</a:t>
            </a:r>
            <a:r>
              <a:rPr kumimoji="1" lang="zh-CN" altLang="en-US" sz="2200" dirty="0">
                <a:latin typeface="Times New Roman" pitchFamily="18" charset="0"/>
              </a:rPr>
              <a:t>，则从状态结点</a:t>
            </a:r>
            <a:r>
              <a:rPr kumimoji="1" lang="en-US" altLang="zh-CN" sz="2200" dirty="0" err="1">
                <a:latin typeface="Times New Roman" pitchFamily="18" charset="0"/>
              </a:rPr>
              <a:t>k</a:t>
            </a:r>
            <a:r>
              <a:rPr kumimoji="1" lang="en-US" altLang="zh-CN" sz="2200" baseline="-30000" dirty="0" err="1">
                <a:latin typeface="Times New Roman" pitchFamily="18" charset="0"/>
              </a:rPr>
              <a:t>i</a:t>
            </a:r>
            <a:r>
              <a:rPr kumimoji="1" lang="zh-CN" altLang="en-US" sz="2200" dirty="0">
                <a:latin typeface="Times New Roman" pitchFamily="18" charset="0"/>
              </a:rPr>
              <a:t>到状态结点</a:t>
            </a:r>
            <a:r>
              <a:rPr kumimoji="1" lang="en-US" altLang="zh-CN" sz="2200" dirty="0" err="1">
                <a:latin typeface="Times New Roman" pitchFamily="18" charset="0"/>
              </a:rPr>
              <a:t>k</a:t>
            </a:r>
            <a:r>
              <a:rPr kumimoji="1" lang="en-US" altLang="zh-CN" sz="2200" baseline="-30000" dirty="0" err="1">
                <a:latin typeface="Times New Roman" pitchFamily="18" charset="0"/>
              </a:rPr>
              <a:t>j</a:t>
            </a:r>
            <a:r>
              <a:rPr kumimoji="1" lang="zh-CN" altLang="en-US" sz="2200" dirty="0">
                <a:latin typeface="Times New Roman" pitchFamily="18" charset="0"/>
              </a:rPr>
              <a:t>画标记为</a:t>
            </a:r>
            <a:r>
              <a:rPr kumimoji="1" lang="en-US" altLang="zh-CN" sz="2200" dirty="0">
                <a:latin typeface="Times New Roman" pitchFamily="18" charset="0"/>
              </a:rPr>
              <a:t>a</a:t>
            </a:r>
            <a:r>
              <a:rPr kumimoji="1" lang="zh-CN" altLang="en-US" sz="2200" dirty="0">
                <a:latin typeface="Times New Roman" pitchFamily="18" charset="0"/>
              </a:rPr>
              <a:t>的弧。</a:t>
            </a:r>
          </a:p>
        </p:txBody>
      </p:sp>
      <p:grpSp>
        <p:nvGrpSpPr>
          <p:cNvPr id="50179" name="Group 44"/>
          <p:cNvGrpSpPr>
            <a:grpSpLocks/>
          </p:cNvGrpSpPr>
          <p:nvPr/>
        </p:nvGrpSpPr>
        <p:grpSpPr bwMode="auto">
          <a:xfrm>
            <a:off x="0" y="2971801"/>
            <a:ext cx="5755514" cy="2021681"/>
            <a:chOff x="0" y="2496"/>
            <a:chExt cx="4189" cy="1698"/>
          </a:xfrm>
        </p:grpSpPr>
        <p:sp>
          <p:nvSpPr>
            <p:cNvPr id="50181" name="Text Box 8"/>
            <p:cNvSpPr txBox="1">
              <a:spLocks noChangeArrowheads="1"/>
            </p:cNvSpPr>
            <p:nvPr/>
          </p:nvSpPr>
          <p:spPr bwMode="auto">
            <a:xfrm>
              <a:off x="2777" y="3806"/>
              <a:ext cx="26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b</a:t>
              </a:r>
            </a:p>
          </p:txBody>
        </p:sp>
        <p:grpSp>
          <p:nvGrpSpPr>
            <p:cNvPr id="50182" name="Group 9"/>
            <p:cNvGrpSpPr>
              <a:grpSpLocks/>
            </p:cNvGrpSpPr>
            <p:nvPr/>
          </p:nvGrpSpPr>
          <p:grpSpPr bwMode="auto">
            <a:xfrm>
              <a:off x="408" y="2496"/>
              <a:ext cx="3261" cy="1610"/>
              <a:chOff x="1488" y="1344"/>
              <a:chExt cx="3600" cy="2064"/>
            </a:xfrm>
          </p:grpSpPr>
          <p:sp>
            <p:nvSpPr>
              <p:cNvPr id="50195" name="Oval 10"/>
              <p:cNvSpPr>
                <a:spLocks noChangeArrowheads="1"/>
              </p:cNvSpPr>
              <p:nvPr/>
            </p:nvSpPr>
            <p:spPr bwMode="auto">
              <a:xfrm>
                <a:off x="1488" y="2112"/>
                <a:ext cx="480" cy="480"/>
              </a:xfrm>
              <a:prstGeom prst="ellipse">
                <a:avLst/>
              </a:prstGeom>
              <a:solidFill>
                <a:srgbClr val="FFFFFF"/>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0</a:t>
                </a:r>
              </a:p>
            </p:txBody>
          </p:sp>
          <p:grpSp>
            <p:nvGrpSpPr>
              <p:cNvPr id="50196" name="Group 11"/>
              <p:cNvGrpSpPr>
                <a:grpSpLocks/>
              </p:cNvGrpSpPr>
              <p:nvPr/>
            </p:nvGrpSpPr>
            <p:grpSpPr bwMode="auto">
              <a:xfrm>
                <a:off x="2976" y="1344"/>
                <a:ext cx="528" cy="2064"/>
                <a:chOff x="2976" y="1344"/>
                <a:chExt cx="528" cy="2064"/>
              </a:xfrm>
            </p:grpSpPr>
            <p:grpSp>
              <p:nvGrpSpPr>
                <p:cNvPr id="50200" name="Group 12"/>
                <p:cNvGrpSpPr>
                  <a:grpSpLocks/>
                </p:cNvGrpSpPr>
                <p:nvPr/>
              </p:nvGrpSpPr>
              <p:grpSpPr bwMode="auto">
                <a:xfrm>
                  <a:off x="2976" y="1584"/>
                  <a:ext cx="528" cy="1584"/>
                  <a:chOff x="2976" y="1584"/>
                  <a:chExt cx="528" cy="1584"/>
                </a:xfrm>
              </p:grpSpPr>
              <p:cxnSp>
                <p:nvCxnSpPr>
                  <p:cNvPr id="50203" name="AutoShape 13"/>
                  <p:cNvCxnSpPr>
                    <a:cxnSpLocks noChangeShapeType="1"/>
                    <a:stCxn id="50201" idx="2"/>
                    <a:endCxn id="50202" idx="2"/>
                  </p:cNvCxnSpPr>
                  <p:nvPr/>
                </p:nvCxnSpPr>
                <p:spPr bwMode="auto">
                  <a:xfrm rot="10800000" flipV="1">
                    <a:off x="2976" y="1584"/>
                    <a:ext cx="48" cy="1584"/>
                  </a:xfrm>
                  <a:prstGeom prst="curvedConnector3">
                    <a:avLst>
                      <a:gd name="adj1" fmla="val 789583"/>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204" name="AutoShape 14"/>
                  <p:cNvCxnSpPr>
                    <a:cxnSpLocks noChangeShapeType="1"/>
                    <a:stCxn id="50202" idx="6"/>
                    <a:endCxn id="50201" idx="6"/>
                  </p:cNvCxnSpPr>
                  <p:nvPr/>
                </p:nvCxnSpPr>
                <p:spPr bwMode="auto">
                  <a:xfrm flipV="1">
                    <a:off x="3456" y="1584"/>
                    <a:ext cx="48" cy="1584"/>
                  </a:xfrm>
                  <a:prstGeom prst="curvedConnector3">
                    <a:avLst>
                      <a:gd name="adj1" fmla="val 75624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50201" name="Oval 15"/>
                <p:cNvSpPr>
                  <a:spLocks noChangeArrowheads="1"/>
                </p:cNvSpPr>
                <p:nvPr/>
              </p:nvSpPr>
              <p:spPr bwMode="auto">
                <a:xfrm>
                  <a:off x="3024" y="1344"/>
                  <a:ext cx="480" cy="480"/>
                </a:xfrm>
                <a:prstGeom prst="ellipse">
                  <a:avLst/>
                </a:prstGeom>
                <a:solidFill>
                  <a:srgbClr val="FFFFFF"/>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1</a:t>
                  </a:r>
                </a:p>
              </p:txBody>
            </p:sp>
            <p:sp>
              <p:nvSpPr>
                <p:cNvPr id="50202" name="Oval 16"/>
                <p:cNvSpPr>
                  <a:spLocks noChangeArrowheads="1"/>
                </p:cNvSpPr>
                <p:nvPr/>
              </p:nvSpPr>
              <p:spPr bwMode="auto">
                <a:xfrm>
                  <a:off x="2976" y="2928"/>
                  <a:ext cx="480" cy="480"/>
                </a:xfrm>
                <a:prstGeom prst="ellipse">
                  <a:avLst/>
                </a:prstGeom>
                <a:solidFill>
                  <a:srgbClr val="FFFFFF"/>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2</a:t>
                  </a:r>
                </a:p>
              </p:txBody>
            </p:sp>
          </p:grpSp>
          <p:grpSp>
            <p:nvGrpSpPr>
              <p:cNvPr id="50197" name="Group 17"/>
              <p:cNvGrpSpPr>
                <a:grpSpLocks/>
              </p:cNvGrpSpPr>
              <p:nvPr/>
            </p:nvGrpSpPr>
            <p:grpSpPr bwMode="auto">
              <a:xfrm>
                <a:off x="4512" y="2160"/>
                <a:ext cx="576" cy="576"/>
                <a:chOff x="4032" y="2160"/>
                <a:chExt cx="576" cy="576"/>
              </a:xfrm>
            </p:grpSpPr>
            <p:sp>
              <p:nvSpPr>
                <p:cNvPr id="50198" name="Oval 18"/>
                <p:cNvSpPr>
                  <a:spLocks noChangeArrowheads="1"/>
                </p:cNvSpPr>
                <p:nvPr/>
              </p:nvSpPr>
              <p:spPr bwMode="auto">
                <a:xfrm>
                  <a:off x="4032" y="2160"/>
                  <a:ext cx="576" cy="576"/>
                </a:xfrm>
                <a:prstGeom prst="ellipse">
                  <a:avLst/>
                </a:prstGeom>
                <a:solidFill>
                  <a:srgbClr val="FFFFFF"/>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50199" name="Oval 19"/>
                <p:cNvSpPr>
                  <a:spLocks noChangeArrowheads="1"/>
                </p:cNvSpPr>
                <p:nvPr/>
              </p:nvSpPr>
              <p:spPr bwMode="auto">
                <a:xfrm>
                  <a:off x="4080" y="2208"/>
                  <a:ext cx="480" cy="480"/>
                </a:xfrm>
                <a:prstGeom prst="ellipse">
                  <a:avLst/>
                </a:prstGeom>
                <a:solidFill>
                  <a:srgbClr val="FFFFFF"/>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3</a:t>
                  </a:r>
                </a:p>
              </p:txBody>
            </p:sp>
          </p:grpSp>
        </p:grpSp>
        <p:cxnSp>
          <p:nvCxnSpPr>
            <p:cNvPr id="50183" name="AutoShape 20"/>
            <p:cNvCxnSpPr>
              <a:cxnSpLocks noChangeShapeType="1"/>
              <a:stCxn id="50195" idx="1"/>
            </p:cNvCxnSpPr>
            <p:nvPr/>
          </p:nvCxnSpPr>
          <p:spPr bwMode="auto">
            <a:xfrm rot="-5400000">
              <a:off x="828" y="2231"/>
              <a:ext cx="563" cy="1276"/>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0184" name="Text Box 21"/>
            <p:cNvSpPr txBox="1">
              <a:spLocks noChangeArrowheads="1"/>
            </p:cNvSpPr>
            <p:nvPr/>
          </p:nvSpPr>
          <p:spPr bwMode="auto">
            <a:xfrm>
              <a:off x="863" y="2608"/>
              <a:ext cx="30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a</a:t>
              </a:r>
            </a:p>
          </p:txBody>
        </p:sp>
        <p:sp>
          <p:nvSpPr>
            <p:cNvPr id="50185" name="Text Box 22"/>
            <p:cNvSpPr txBox="1">
              <a:spLocks noChangeArrowheads="1"/>
            </p:cNvSpPr>
            <p:nvPr/>
          </p:nvSpPr>
          <p:spPr bwMode="auto">
            <a:xfrm>
              <a:off x="2733" y="2571"/>
              <a:ext cx="30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a</a:t>
              </a:r>
            </a:p>
          </p:txBody>
        </p:sp>
        <p:sp>
          <p:nvSpPr>
            <p:cNvPr id="50186" name="Text Box 23"/>
            <p:cNvSpPr txBox="1">
              <a:spLocks noChangeArrowheads="1"/>
            </p:cNvSpPr>
            <p:nvPr/>
          </p:nvSpPr>
          <p:spPr bwMode="auto">
            <a:xfrm>
              <a:off x="2560" y="3058"/>
              <a:ext cx="30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a</a:t>
              </a:r>
            </a:p>
          </p:txBody>
        </p:sp>
        <p:sp>
          <p:nvSpPr>
            <p:cNvPr id="50187" name="Text Box 24"/>
            <p:cNvSpPr txBox="1">
              <a:spLocks noChangeArrowheads="1"/>
            </p:cNvSpPr>
            <p:nvPr/>
          </p:nvSpPr>
          <p:spPr bwMode="auto">
            <a:xfrm>
              <a:off x="907" y="3732"/>
              <a:ext cx="26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b</a:t>
              </a:r>
            </a:p>
          </p:txBody>
        </p:sp>
        <p:sp>
          <p:nvSpPr>
            <p:cNvPr id="50188" name="Text Box 25"/>
            <p:cNvSpPr txBox="1">
              <a:spLocks noChangeArrowheads="1"/>
            </p:cNvSpPr>
            <p:nvPr/>
          </p:nvSpPr>
          <p:spPr bwMode="auto">
            <a:xfrm>
              <a:off x="3538" y="2905"/>
              <a:ext cx="65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a</a:t>
              </a:r>
              <a:r>
                <a:rPr kumimoji="1" lang="zh-CN" altLang="en-US" sz="2400">
                  <a:latin typeface="Times New Roman" pitchFamily="18" charset="0"/>
                </a:rPr>
                <a:t>，</a:t>
              </a:r>
              <a:r>
                <a:rPr kumimoji="1" lang="en-US" altLang="zh-CN" sz="2400">
                  <a:latin typeface="Times New Roman" pitchFamily="18" charset="0"/>
                </a:rPr>
                <a:t>b</a:t>
              </a:r>
            </a:p>
          </p:txBody>
        </p:sp>
        <p:cxnSp>
          <p:nvCxnSpPr>
            <p:cNvPr id="50189" name="AutoShape 27"/>
            <p:cNvCxnSpPr>
              <a:cxnSpLocks noChangeShapeType="1"/>
            </p:cNvCxnSpPr>
            <p:nvPr/>
          </p:nvCxnSpPr>
          <p:spPr bwMode="auto">
            <a:xfrm>
              <a:off x="2222" y="2587"/>
              <a:ext cx="1174" cy="487"/>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90" name="AutoShape 28"/>
            <p:cNvCxnSpPr>
              <a:cxnSpLocks noChangeShapeType="1"/>
            </p:cNvCxnSpPr>
            <p:nvPr/>
          </p:nvCxnSpPr>
          <p:spPr bwMode="auto">
            <a:xfrm flipV="1">
              <a:off x="2177" y="3630"/>
              <a:ext cx="1218" cy="37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0191" name="AutoShape 29"/>
            <p:cNvSpPr>
              <a:spLocks noChangeArrowheads="1"/>
            </p:cNvSpPr>
            <p:nvPr/>
          </p:nvSpPr>
          <p:spPr bwMode="auto">
            <a:xfrm>
              <a:off x="0" y="3165"/>
              <a:ext cx="434" cy="210"/>
            </a:xfrm>
            <a:prstGeom prst="rightArrow">
              <a:avLst>
                <a:gd name="adj1" fmla="val 50000"/>
                <a:gd name="adj2" fmla="val 51667"/>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50192" name="AutoShape 31"/>
            <p:cNvCxnSpPr>
              <a:cxnSpLocks noChangeShapeType="1"/>
              <a:stCxn id="50195" idx="4"/>
            </p:cNvCxnSpPr>
            <p:nvPr/>
          </p:nvCxnSpPr>
          <p:spPr bwMode="auto">
            <a:xfrm rot="16200000" flipH="1">
              <a:off x="924" y="3171"/>
              <a:ext cx="521" cy="1118"/>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93" name="AutoShape 32"/>
            <p:cNvCxnSpPr>
              <a:cxnSpLocks noChangeShapeType="1"/>
              <a:stCxn id="50198" idx="0"/>
              <a:endCxn id="50198" idx="6"/>
            </p:cNvCxnSpPr>
            <p:nvPr/>
          </p:nvCxnSpPr>
          <p:spPr bwMode="auto">
            <a:xfrm rot="5400000" flipV="1">
              <a:off x="3426" y="3115"/>
              <a:ext cx="225" cy="261"/>
            </a:xfrm>
            <a:prstGeom prst="curvedConnector4">
              <a:avLst>
                <a:gd name="adj1" fmla="val -64000"/>
                <a:gd name="adj2" fmla="val 15517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0194" name="Text Box 36"/>
            <p:cNvSpPr txBox="1">
              <a:spLocks noChangeArrowheads="1"/>
            </p:cNvSpPr>
            <p:nvPr/>
          </p:nvSpPr>
          <p:spPr bwMode="auto">
            <a:xfrm>
              <a:off x="1285" y="3123"/>
              <a:ext cx="26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Times New Roman" pitchFamily="18" charset="0"/>
                </a:rPr>
                <a:t>b</a:t>
              </a:r>
            </a:p>
          </p:txBody>
        </p:sp>
      </p:grpSp>
      <p:sp>
        <p:nvSpPr>
          <p:cNvPr id="50180" name="Text Box 38"/>
          <p:cNvSpPr txBox="1">
            <a:spLocks noChangeArrowheads="1"/>
          </p:cNvSpPr>
          <p:nvPr/>
        </p:nvSpPr>
        <p:spPr bwMode="auto">
          <a:xfrm>
            <a:off x="5791201" y="2000251"/>
            <a:ext cx="3097213" cy="178510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000" b="1"/>
              <a:t>δ(0,a) = 1     δ(0,b) = 2</a:t>
            </a:r>
          </a:p>
          <a:p>
            <a:pPr eaLnBrk="1" hangingPunct="1">
              <a:spcBef>
                <a:spcPct val="50000"/>
              </a:spcBef>
              <a:buFontTx/>
              <a:buNone/>
            </a:pPr>
            <a:r>
              <a:rPr lang="en-US" altLang="zh-CN" sz="2000" b="1"/>
              <a:t>δ(1,a) = 3     δ(1,b) = 2</a:t>
            </a:r>
          </a:p>
          <a:p>
            <a:pPr eaLnBrk="1" hangingPunct="1">
              <a:spcBef>
                <a:spcPct val="50000"/>
              </a:spcBef>
              <a:buFontTx/>
              <a:buNone/>
            </a:pPr>
            <a:r>
              <a:rPr lang="en-US" altLang="zh-CN" sz="2000" b="1"/>
              <a:t>δ(2,a) = 1     δ(2,b) = 3</a:t>
            </a:r>
          </a:p>
          <a:p>
            <a:pPr eaLnBrk="1" hangingPunct="1">
              <a:spcBef>
                <a:spcPct val="50000"/>
              </a:spcBef>
              <a:buFontTx/>
              <a:buNone/>
            </a:pPr>
            <a:r>
              <a:rPr lang="en-US" altLang="zh-CN" sz="2000" b="1"/>
              <a:t>δ(3,a) = 3     δ(3,b) = 3</a:t>
            </a:r>
          </a:p>
        </p:txBody>
      </p:sp>
    </p:spTree>
    <p:extLst>
      <p:ext uri="{BB962C8B-B14F-4D97-AF65-F5344CB8AC3E}">
        <p14:creationId xmlns:p14="http://schemas.microsoft.com/office/powerpoint/2010/main" val="32258939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059582"/>
            <a:ext cx="8229600" cy="3178448"/>
          </a:xfrm>
        </p:spPr>
        <p:txBody>
          <a:bodyPr/>
          <a:lstStyle/>
          <a:p>
            <a:pPr>
              <a:spcBef>
                <a:spcPct val="0"/>
              </a:spcBef>
            </a:pPr>
            <a:r>
              <a:rPr lang="zh-CN" altLang="en-US" dirty="0"/>
              <a:t>字</a:t>
            </a:r>
            <a:r>
              <a:rPr lang="en-US" altLang="zh-CN" dirty="0">
                <a:solidFill>
                  <a:srgbClr val="0000CC"/>
                </a:solidFill>
                <a:cs typeface="Arial" charset="0"/>
              </a:rPr>
              <a:t>α</a:t>
            </a:r>
            <a:r>
              <a:rPr lang="zh-CN" altLang="en-US" dirty="0">
                <a:solidFill>
                  <a:srgbClr val="0000CC"/>
                </a:solidFill>
              </a:rPr>
              <a:t>可为</a:t>
            </a:r>
            <a:r>
              <a:rPr lang="en-US" altLang="zh-CN" dirty="0">
                <a:solidFill>
                  <a:srgbClr val="0000CC"/>
                </a:solidFill>
              </a:rPr>
              <a:t>DFA M</a:t>
            </a:r>
            <a:r>
              <a:rPr lang="zh-CN" altLang="en-US" dirty="0">
                <a:solidFill>
                  <a:srgbClr val="0000CC"/>
                </a:solidFill>
              </a:rPr>
              <a:t>所接受（识别）</a:t>
            </a:r>
            <a:r>
              <a:rPr lang="zh-CN" altLang="en-US" dirty="0"/>
              <a:t>：</a:t>
            </a:r>
          </a:p>
          <a:p>
            <a:pPr>
              <a:spcBef>
                <a:spcPct val="0"/>
              </a:spcBef>
              <a:buNone/>
            </a:pPr>
            <a:r>
              <a:rPr lang="zh-CN" altLang="en-US" dirty="0"/>
              <a:t>   对于</a:t>
            </a:r>
            <a:r>
              <a:rPr lang="en-US" altLang="zh-CN" dirty="0"/>
              <a:t>Σ</a:t>
            </a:r>
            <a:r>
              <a:rPr lang="en-US" altLang="zh-CN" baseline="30000" dirty="0"/>
              <a:t>* </a:t>
            </a:r>
            <a:r>
              <a:rPr lang="zh-CN" altLang="en-US" dirty="0"/>
              <a:t>中的任何字</a:t>
            </a:r>
            <a:r>
              <a:rPr lang="en-US" altLang="zh-CN" dirty="0"/>
              <a:t>α</a:t>
            </a:r>
            <a:r>
              <a:rPr lang="zh-CN" altLang="en-US" dirty="0"/>
              <a:t>，若存在一条从初态结点到某个终态结点的通路，且这条通路上所有弧的标记符号连接成的字等于</a:t>
            </a:r>
            <a:r>
              <a:rPr lang="en-US" altLang="zh-CN" dirty="0"/>
              <a:t>α</a:t>
            </a:r>
            <a:r>
              <a:rPr lang="zh-CN" altLang="en-US" dirty="0"/>
              <a:t>。</a:t>
            </a:r>
          </a:p>
          <a:p>
            <a:pPr>
              <a:spcBef>
                <a:spcPct val="0"/>
              </a:spcBef>
            </a:pPr>
            <a:r>
              <a:rPr lang="zh-CN" altLang="en-US" dirty="0"/>
              <a:t>若</a:t>
            </a:r>
            <a:r>
              <a:rPr lang="en-US" altLang="zh-CN" dirty="0"/>
              <a:t>M</a:t>
            </a:r>
            <a:r>
              <a:rPr lang="zh-CN" altLang="en-US" dirty="0"/>
              <a:t>的初态结点又是终态结点，则</a:t>
            </a:r>
            <a:r>
              <a:rPr lang="zh-CN" altLang="en-US" dirty="0">
                <a:solidFill>
                  <a:srgbClr val="0000CC"/>
                </a:solidFill>
              </a:rPr>
              <a:t>空字</a:t>
            </a:r>
            <a:r>
              <a:rPr lang="en-US" altLang="zh-CN" dirty="0">
                <a:solidFill>
                  <a:srgbClr val="0000CC"/>
                </a:solidFill>
                <a:sym typeface="Symbol" pitchFamily="18" charset="2"/>
              </a:rPr>
              <a:t>ε</a:t>
            </a:r>
            <a:r>
              <a:rPr lang="zh-CN" altLang="en-US" dirty="0">
                <a:solidFill>
                  <a:srgbClr val="0000CC"/>
                </a:solidFill>
              </a:rPr>
              <a:t>可为</a:t>
            </a:r>
            <a:r>
              <a:rPr lang="en-US" altLang="zh-CN" dirty="0">
                <a:solidFill>
                  <a:srgbClr val="0000CC"/>
                </a:solidFill>
              </a:rPr>
              <a:t>M</a:t>
            </a:r>
            <a:r>
              <a:rPr lang="zh-CN" altLang="en-US" dirty="0">
                <a:solidFill>
                  <a:srgbClr val="0000CC"/>
                </a:solidFill>
              </a:rPr>
              <a:t>所识别</a:t>
            </a:r>
            <a:r>
              <a:rPr lang="zh-CN" altLang="en-US" dirty="0"/>
              <a:t>。</a:t>
            </a:r>
          </a:p>
          <a:p>
            <a:endParaRPr lang="zh-CN" altLang="en-US" dirty="0"/>
          </a:p>
        </p:txBody>
      </p:sp>
      <p:sp>
        <p:nvSpPr>
          <p:cNvPr id="3" name="标题 2"/>
          <p:cNvSpPr>
            <a:spLocks noGrp="1"/>
          </p:cNvSpPr>
          <p:nvPr>
            <p:ph type="title"/>
          </p:nvPr>
        </p:nvSpPr>
        <p:spPr/>
        <p:txBody>
          <a:bodyPr>
            <a:normAutofit fontScale="90000"/>
          </a:bodyPr>
          <a:lstStyle/>
          <a:p>
            <a:r>
              <a:rPr lang="en-US" altLang="zh-CN" dirty="0">
                <a:effectLst/>
              </a:rPr>
              <a:t>DFA</a:t>
            </a:r>
            <a:r>
              <a:rPr lang="zh-CN" altLang="zh-CN" dirty="0">
                <a:effectLst/>
              </a:rPr>
              <a:t>识别某符号串</a:t>
            </a:r>
            <a:r>
              <a:rPr lang="en-US" altLang="zh-CN" dirty="0">
                <a:effectLst/>
                <a:sym typeface="Symbol"/>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683178831"/>
              </p:ext>
            </p:extLst>
          </p:nvPr>
        </p:nvGraphicFramePr>
        <p:xfrm>
          <a:off x="4598966" y="2931791"/>
          <a:ext cx="4518704" cy="2211710"/>
        </p:xfrm>
        <a:graphic>
          <a:graphicData uri="http://schemas.openxmlformats.org/presentationml/2006/ole">
            <mc:AlternateContent xmlns:mc="http://schemas.openxmlformats.org/markup-compatibility/2006">
              <mc:Choice xmlns:v="urn:schemas-microsoft-com:vml" Requires="v">
                <p:oleObj spid="_x0000_s24589" name="Visio" r:id="rId3" imgW="2271733" imgH="1118415" progId="Visio.Drawing.11">
                  <p:embed/>
                </p:oleObj>
              </mc:Choice>
              <mc:Fallback>
                <p:oleObj name="Visio" r:id="rId3" imgW="2271733" imgH="1118415" progId="Visio.Drawing.11">
                  <p:embed/>
                  <p:pic>
                    <p:nvPicPr>
                      <p:cNvPr id="0" name="对象 491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8966" y="2931791"/>
                        <a:ext cx="4518704" cy="221171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06131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2274477712"/>
              </p:ext>
            </p:extLst>
          </p:nvPr>
        </p:nvGraphicFramePr>
        <p:xfrm>
          <a:off x="179512" y="123478"/>
          <a:ext cx="4824536" cy="4876800"/>
        </p:xfrm>
        <a:graphic>
          <a:graphicData uri="http://schemas.openxmlformats.org/drawingml/2006/table">
            <a:tbl>
              <a:tblPr firstRow="1" firstCol="1" bandRow="1">
                <a:tableStyleId>{5C22544A-7EE6-4342-B048-85BDC9FD1C3A}</a:tableStyleId>
              </a:tblPr>
              <a:tblGrid>
                <a:gridCol w="4824536">
                  <a:extLst>
                    <a:ext uri="{9D8B030D-6E8A-4147-A177-3AD203B41FA5}">
                      <a16:colId xmlns:a16="http://schemas.microsoft.com/office/drawing/2014/main" val="20000"/>
                    </a:ext>
                  </a:extLst>
                </a:gridCol>
              </a:tblGrid>
              <a:tr h="4876006">
                <a:tc>
                  <a:txBody>
                    <a:bodyPr/>
                    <a:lstStyle/>
                    <a:p>
                      <a:pPr algn="just">
                        <a:spcAft>
                          <a:spcPts val="0"/>
                        </a:spcAft>
                      </a:pPr>
                      <a:r>
                        <a:rPr lang="zh-CN" sz="2000" b="1" kern="100" dirty="0">
                          <a:solidFill>
                            <a:srgbClr val="FF0000"/>
                          </a:solidFill>
                          <a:effectLst/>
                        </a:rPr>
                        <a:t>算法</a:t>
                      </a:r>
                      <a:r>
                        <a:rPr lang="en-US" sz="2000" b="1" kern="100" dirty="0">
                          <a:solidFill>
                            <a:srgbClr val="FF0000"/>
                          </a:solidFill>
                          <a:effectLst/>
                        </a:rPr>
                        <a:t>2.1  DFA</a:t>
                      </a:r>
                      <a:r>
                        <a:rPr lang="zh-CN" sz="2000" b="1" kern="100" dirty="0">
                          <a:solidFill>
                            <a:srgbClr val="FF0000"/>
                          </a:solidFill>
                          <a:effectLst/>
                        </a:rPr>
                        <a:t>模拟</a:t>
                      </a:r>
                      <a:r>
                        <a:rPr lang="zh-CN" sz="2000" b="0" kern="100" dirty="0">
                          <a:solidFill>
                            <a:schemeClr val="tx1"/>
                          </a:solidFill>
                          <a:effectLst/>
                        </a:rPr>
                        <a:t>，判断</a:t>
                      </a:r>
                      <a:r>
                        <a:rPr lang="en-US" sz="2000" b="0" kern="100" dirty="0">
                          <a:solidFill>
                            <a:schemeClr val="tx1"/>
                          </a:solidFill>
                          <a:effectLst/>
                        </a:rPr>
                        <a:t>DFA</a:t>
                      </a:r>
                      <a:r>
                        <a:rPr lang="zh-CN" sz="2000" b="0" kern="100" dirty="0">
                          <a:solidFill>
                            <a:schemeClr val="tx1"/>
                          </a:solidFill>
                          <a:effectLst/>
                        </a:rPr>
                        <a:t>是否能识别一个输入符号串</a:t>
                      </a:r>
                    </a:p>
                    <a:p>
                      <a:pPr indent="266700" algn="just">
                        <a:spcAft>
                          <a:spcPts val="0"/>
                        </a:spcAft>
                      </a:pPr>
                      <a:r>
                        <a:rPr lang="zh-CN" sz="2000" b="0" kern="100" dirty="0">
                          <a:solidFill>
                            <a:schemeClr val="tx1"/>
                          </a:solidFill>
                          <a:effectLst/>
                        </a:rPr>
                        <a:t>输入：一个以</a:t>
                      </a:r>
                      <a:r>
                        <a:rPr lang="en-US" sz="2000" b="0" kern="100" dirty="0" err="1">
                          <a:solidFill>
                            <a:schemeClr val="tx1"/>
                          </a:solidFill>
                          <a:effectLst/>
                        </a:rPr>
                        <a:t>eof</a:t>
                      </a:r>
                      <a:r>
                        <a:rPr lang="zh-CN" sz="2000" b="0" kern="100" dirty="0">
                          <a:solidFill>
                            <a:schemeClr val="tx1"/>
                          </a:solidFill>
                          <a:effectLst/>
                        </a:rPr>
                        <a:t>结尾的字符串</a:t>
                      </a:r>
                      <a:r>
                        <a:rPr lang="en-US" sz="2000" b="0" kern="100" dirty="0">
                          <a:solidFill>
                            <a:schemeClr val="tx1"/>
                          </a:solidFill>
                          <a:effectLst/>
                        </a:rPr>
                        <a:t>x</a:t>
                      </a:r>
                      <a:r>
                        <a:rPr lang="zh-CN" sz="2000" b="0" kern="100" dirty="0">
                          <a:solidFill>
                            <a:schemeClr val="tx1"/>
                          </a:solidFill>
                          <a:effectLst/>
                        </a:rPr>
                        <a:t>，一个</a:t>
                      </a:r>
                      <a:r>
                        <a:rPr lang="en-US" sz="2000" b="0" kern="100" dirty="0">
                          <a:solidFill>
                            <a:schemeClr val="tx1"/>
                          </a:solidFill>
                          <a:effectLst/>
                        </a:rPr>
                        <a:t>DFA D</a:t>
                      </a:r>
                      <a:r>
                        <a:rPr lang="zh-CN" sz="2000" b="0" kern="100" dirty="0">
                          <a:solidFill>
                            <a:schemeClr val="tx1"/>
                          </a:solidFill>
                          <a:effectLst/>
                        </a:rPr>
                        <a:t>，</a:t>
                      </a:r>
                      <a:r>
                        <a:rPr lang="en-US" sz="2000" b="0" kern="100" dirty="0">
                          <a:solidFill>
                            <a:schemeClr val="tx1"/>
                          </a:solidFill>
                          <a:effectLst/>
                        </a:rPr>
                        <a:t>D</a:t>
                      </a:r>
                      <a:r>
                        <a:rPr lang="zh-CN" sz="2000" b="0" kern="100" dirty="0">
                          <a:solidFill>
                            <a:schemeClr val="tx1"/>
                          </a:solidFill>
                          <a:effectLst/>
                        </a:rPr>
                        <a:t>的初始状态为</a:t>
                      </a:r>
                      <a:r>
                        <a:rPr lang="en-US" sz="2000" b="0" kern="100" dirty="0">
                          <a:solidFill>
                            <a:schemeClr val="tx1"/>
                          </a:solidFill>
                          <a:effectLst/>
                        </a:rPr>
                        <a:t>s</a:t>
                      </a:r>
                      <a:r>
                        <a:rPr lang="en-US" sz="2000" b="0" kern="100" baseline="-25000" dirty="0">
                          <a:solidFill>
                            <a:schemeClr val="tx1"/>
                          </a:solidFill>
                          <a:effectLst/>
                        </a:rPr>
                        <a:t>0</a:t>
                      </a:r>
                      <a:r>
                        <a:rPr lang="zh-CN" sz="2000" b="0" kern="100" dirty="0">
                          <a:solidFill>
                            <a:schemeClr val="tx1"/>
                          </a:solidFill>
                          <a:effectLst/>
                        </a:rPr>
                        <a:t>，终结状态集为</a:t>
                      </a:r>
                      <a:r>
                        <a:rPr lang="en-US" sz="2000" b="0" kern="100" dirty="0">
                          <a:solidFill>
                            <a:schemeClr val="tx1"/>
                          </a:solidFill>
                          <a:effectLst/>
                        </a:rPr>
                        <a:t>F</a:t>
                      </a:r>
                      <a:r>
                        <a:rPr lang="zh-CN" sz="2000" b="0" kern="100" dirty="0">
                          <a:solidFill>
                            <a:schemeClr val="tx1"/>
                          </a:solidFill>
                          <a:effectLst/>
                        </a:rPr>
                        <a:t>，转换函数为</a:t>
                      </a:r>
                      <a:r>
                        <a:rPr lang="fr-FR" sz="2000" b="0" kern="100" dirty="0">
                          <a:solidFill>
                            <a:schemeClr val="tx1"/>
                          </a:solidFill>
                          <a:effectLst/>
                          <a:sym typeface="Symbol"/>
                        </a:rPr>
                        <a:t></a:t>
                      </a:r>
                      <a:endParaRPr lang="zh-CN" sz="2000" b="0" kern="100" dirty="0">
                        <a:solidFill>
                          <a:schemeClr val="tx1"/>
                        </a:solidFill>
                        <a:effectLst/>
                      </a:endParaRPr>
                    </a:p>
                    <a:p>
                      <a:pPr indent="266700" algn="just">
                        <a:spcAft>
                          <a:spcPts val="0"/>
                        </a:spcAft>
                      </a:pPr>
                      <a:r>
                        <a:rPr lang="zh-CN" sz="2000" b="0" kern="100" dirty="0">
                          <a:solidFill>
                            <a:schemeClr val="tx1"/>
                          </a:solidFill>
                          <a:effectLst/>
                        </a:rPr>
                        <a:t>输出：如果</a:t>
                      </a:r>
                      <a:r>
                        <a:rPr lang="fr-FR" sz="2000" b="0" kern="100" dirty="0">
                          <a:solidFill>
                            <a:schemeClr val="tx1"/>
                          </a:solidFill>
                          <a:effectLst/>
                        </a:rPr>
                        <a:t>D</a:t>
                      </a:r>
                      <a:r>
                        <a:rPr lang="zh-CN" sz="2000" b="0" kern="100" dirty="0">
                          <a:solidFill>
                            <a:schemeClr val="tx1"/>
                          </a:solidFill>
                          <a:effectLst/>
                        </a:rPr>
                        <a:t>能识别符号串</a:t>
                      </a:r>
                      <a:r>
                        <a:rPr lang="fr-FR" sz="2000" b="0" kern="100" dirty="0">
                          <a:solidFill>
                            <a:schemeClr val="tx1"/>
                          </a:solidFill>
                          <a:effectLst/>
                        </a:rPr>
                        <a:t>x</a:t>
                      </a:r>
                      <a:r>
                        <a:rPr lang="zh-CN" sz="2000" b="0" kern="100" dirty="0">
                          <a:solidFill>
                            <a:schemeClr val="tx1"/>
                          </a:solidFill>
                          <a:effectLst/>
                        </a:rPr>
                        <a:t>。输出“</a:t>
                      </a:r>
                      <a:r>
                        <a:rPr lang="fr-FR" sz="2000" b="0" kern="100" dirty="0">
                          <a:solidFill>
                            <a:schemeClr val="tx1"/>
                          </a:solidFill>
                          <a:effectLst/>
                        </a:rPr>
                        <a:t>yes</a:t>
                      </a:r>
                      <a:r>
                        <a:rPr lang="zh-CN" sz="2000" b="0" kern="100" dirty="0">
                          <a:solidFill>
                            <a:schemeClr val="tx1"/>
                          </a:solidFill>
                          <a:effectLst/>
                        </a:rPr>
                        <a:t>”，否则输出“</a:t>
                      </a:r>
                      <a:r>
                        <a:rPr lang="fr-FR" sz="2000" b="0" kern="100" dirty="0">
                          <a:solidFill>
                            <a:schemeClr val="tx1"/>
                          </a:solidFill>
                          <a:effectLst/>
                        </a:rPr>
                        <a:t>no</a:t>
                      </a:r>
                      <a:r>
                        <a:rPr lang="zh-CN" sz="2000" b="0" kern="100" dirty="0">
                          <a:solidFill>
                            <a:schemeClr val="tx1"/>
                          </a:solidFill>
                          <a:effectLst/>
                        </a:rPr>
                        <a:t>”</a:t>
                      </a:r>
                    </a:p>
                    <a:p>
                      <a:pPr indent="266700" algn="just">
                        <a:spcAft>
                          <a:spcPts val="0"/>
                        </a:spcAft>
                      </a:pPr>
                      <a:r>
                        <a:rPr lang="zh-CN" sz="2000" b="0" kern="100" dirty="0">
                          <a:solidFill>
                            <a:schemeClr val="tx1"/>
                          </a:solidFill>
                          <a:effectLst/>
                        </a:rPr>
                        <a:t>步骤：</a:t>
                      </a:r>
                    </a:p>
                    <a:p>
                      <a:pPr indent="457200" algn="just">
                        <a:spcAft>
                          <a:spcPts val="0"/>
                        </a:spcAft>
                      </a:pPr>
                      <a:r>
                        <a:rPr lang="en-US" sz="2000" b="0" kern="100" dirty="0">
                          <a:solidFill>
                            <a:schemeClr val="tx1"/>
                          </a:solidFill>
                          <a:effectLst/>
                        </a:rPr>
                        <a:t>s=s</a:t>
                      </a:r>
                      <a:r>
                        <a:rPr lang="en-US" sz="2000" b="0" kern="100" baseline="-25000" dirty="0">
                          <a:solidFill>
                            <a:schemeClr val="tx1"/>
                          </a:solidFill>
                          <a:effectLst/>
                        </a:rPr>
                        <a:t>0</a:t>
                      </a:r>
                      <a:r>
                        <a:rPr lang="zh-CN" sz="2000" b="0" kern="100" dirty="0">
                          <a:solidFill>
                            <a:schemeClr val="tx1"/>
                          </a:solidFill>
                          <a:effectLst/>
                        </a:rPr>
                        <a:t>；</a:t>
                      </a:r>
                    </a:p>
                    <a:p>
                      <a:pPr indent="457200" algn="just">
                        <a:spcAft>
                          <a:spcPts val="0"/>
                        </a:spcAft>
                      </a:pPr>
                      <a:r>
                        <a:rPr lang="en-US" sz="2000" b="0" kern="100" dirty="0">
                          <a:solidFill>
                            <a:schemeClr val="tx1"/>
                          </a:solidFill>
                          <a:effectLst/>
                        </a:rPr>
                        <a:t>c= </a:t>
                      </a:r>
                      <a:r>
                        <a:rPr lang="en-US" sz="2000" b="0" kern="100" dirty="0" err="1">
                          <a:solidFill>
                            <a:schemeClr val="tx1"/>
                          </a:solidFill>
                          <a:effectLst/>
                        </a:rPr>
                        <a:t>GetNextChar</a:t>
                      </a:r>
                      <a:r>
                        <a:rPr lang="en-US" sz="2000" b="0" kern="100" dirty="0">
                          <a:solidFill>
                            <a:schemeClr val="tx1"/>
                          </a:solidFill>
                          <a:effectLst/>
                        </a:rPr>
                        <a:t> ();</a:t>
                      </a:r>
                      <a:endParaRPr lang="zh-CN" sz="2000" b="0" kern="100" dirty="0">
                        <a:solidFill>
                          <a:schemeClr val="tx1"/>
                        </a:solidFill>
                        <a:effectLst/>
                      </a:endParaRPr>
                    </a:p>
                    <a:p>
                      <a:pPr indent="457200" algn="just">
                        <a:spcAft>
                          <a:spcPts val="0"/>
                        </a:spcAft>
                      </a:pPr>
                      <a:r>
                        <a:rPr lang="en-US" sz="2000" b="0" kern="100" dirty="0">
                          <a:solidFill>
                            <a:schemeClr val="tx1"/>
                          </a:solidFill>
                          <a:effectLst/>
                        </a:rPr>
                        <a:t>while(c != </a:t>
                      </a:r>
                      <a:r>
                        <a:rPr lang="en-US" sz="2000" b="0" kern="100" dirty="0" err="1">
                          <a:solidFill>
                            <a:schemeClr val="tx1"/>
                          </a:solidFill>
                          <a:effectLst/>
                        </a:rPr>
                        <a:t>eof</a:t>
                      </a:r>
                      <a:r>
                        <a:rPr lang="en-US" sz="2000" b="0" kern="100" dirty="0">
                          <a:solidFill>
                            <a:schemeClr val="tx1"/>
                          </a:solidFill>
                          <a:effectLst/>
                        </a:rPr>
                        <a:t>) {</a:t>
                      </a:r>
                      <a:endParaRPr lang="zh-CN" sz="2000" b="0" kern="100" dirty="0">
                        <a:solidFill>
                          <a:schemeClr val="tx1"/>
                        </a:solidFill>
                        <a:effectLst/>
                      </a:endParaRPr>
                    </a:p>
                    <a:p>
                      <a:pPr indent="266700" algn="just">
                        <a:spcAft>
                          <a:spcPts val="0"/>
                        </a:spcAft>
                      </a:pPr>
                      <a:r>
                        <a:rPr lang="en-US" sz="2000" b="0" kern="100" dirty="0">
                          <a:solidFill>
                            <a:srgbClr val="FF0000"/>
                          </a:solidFill>
                          <a:effectLst/>
                        </a:rPr>
                        <a:t>       s = </a:t>
                      </a:r>
                      <a:r>
                        <a:rPr lang="fr-FR" sz="2000" b="0" kern="100" dirty="0">
                          <a:solidFill>
                            <a:srgbClr val="FF0000"/>
                          </a:solidFill>
                          <a:effectLst/>
                          <a:sym typeface="Symbol"/>
                        </a:rPr>
                        <a:t></a:t>
                      </a:r>
                      <a:r>
                        <a:rPr lang="pt-PT" sz="2000" b="0" kern="100" dirty="0">
                          <a:solidFill>
                            <a:srgbClr val="FF0000"/>
                          </a:solidFill>
                          <a:effectLst/>
                        </a:rPr>
                        <a:t>(s,c);</a:t>
                      </a:r>
                      <a:endParaRPr lang="zh-CN" sz="2000" b="0" kern="100" dirty="0">
                        <a:solidFill>
                          <a:srgbClr val="FF0000"/>
                        </a:solidFill>
                        <a:effectLst/>
                      </a:endParaRPr>
                    </a:p>
                    <a:p>
                      <a:pPr indent="266700" algn="just">
                        <a:spcAft>
                          <a:spcPts val="0"/>
                        </a:spcAft>
                      </a:pPr>
                      <a:r>
                        <a:rPr lang="en-US" sz="2000" b="0" kern="100" dirty="0">
                          <a:solidFill>
                            <a:schemeClr val="tx1"/>
                          </a:solidFill>
                          <a:effectLst/>
                        </a:rPr>
                        <a:t>       c= </a:t>
                      </a:r>
                      <a:r>
                        <a:rPr lang="en-US" sz="2000" b="0" kern="100" dirty="0" err="1">
                          <a:solidFill>
                            <a:schemeClr val="tx1"/>
                          </a:solidFill>
                          <a:effectLst/>
                        </a:rPr>
                        <a:t>GetNextChar</a:t>
                      </a:r>
                      <a:r>
                        <a:rPr lang="en-US" sz="2000" b="0" kern="100" dirty="0">
                          <a:solidFill>
                            <a:schemeClr val="tx1"/>
                          </a:solidFill>
                          <a:effectLst/>
                        </a:rPr>
                        <a:t> ();</a:t>
                      </a:r>
                      <a:endParaRPr lang="zh-CN" sz="2000" b="0" kern="100" dirty="0">
                        <a:solidFill>
                          <a:schemeClr val="tx1"/>
                        </a:solidFill>
                        <a:effectLst/>
                      </a:endParaRPr>
                    </a:p>
                    <a:p>
                      <a:pPr indent="457200" algn="just">
                        <a:spcAft>
                          <a:spcPts val="0"/>
                        </a:spcAft>
                      </a:pPr>
                      <a:r>
                        <a:rPr lang="en-US" sz="2000" b="0" kern="100" dirty="0">
                          <a:solidFill>
                            <a:schemeClr val="tx1"/>
                          </a:solidFill>
                          <a:effectLst/>
                        </a:rPr>
                        <a:t>}</a:t>
                      </a:r>
                      <a:endParaRPr lang="zh-CN" sz="2000" b="0" kern="100" dirty="0">
                        <a:solidFill>
                          <a:schemeClr val="tx1"/>
                        </a:solidFill>
                        <a:effectLst/>
                      </a:endParaRPr>
                    </a:p>
                    <a:p>
                      <a:pPr indent="457200" algn="just">
                        <a:spcAft>
                          <a:spcPts val="0"/>
                        </a:spcAft>
                      </a:pPr>
                      <a:r>
                        <a:rPr lang="en-US" sz="2000" b="0" kern="100" dirty="0">
                          <a:solidFill>
                            <a:schemeClr val="tx1"/>
                          </a:solidFill>
                          <a:effectLst/>
                        </a:rPr>
                        <a:t>if( s </a:t>
                      </a:r>
                      <a:r>
                        <a:rPr lang="zh-CN" sz="2000" b="0" kern="100" dirty="0">
                          <a:solidFill>
                            <a:schemeClr val="tx1"/>
                          </a:solidFill>
                          <a:effectLst/>
                        </a:rPr>
                        <a:t>在</a:t>
                      </a:r>
                      <a:r>
                        <a:rPr lang="en-US" sz="2000" b="0" kern="100" dirty="0">
                          <a:solidFill>
                            <a:schemeClr val="tx1"/>
                          </a:solidFill>
                          <a:effectLst/>
                        </a:rPr>
                        <a:t>F</a:t>
                      </a:r>
                      <a:r>
                        <a:rPr lang="zh-CN" sz="2000" b="0" kern="100" dirty="0">
                          <a:solidFill>
                            <a:schemeClr val="tx1"/>
                          </a:solidFill>
                          <a:effectLst/>
                        </a:rPr>
                        <a:t>中</a:t>
                      </a:r>
                      <a:r>
                        <a:rPr lang="en-US" sz="2000" b="0" kern="100" dirty="0">
                          <a:solidFill>
                            <a:schemeClr val="tx1"/>
                          </a:solidFill>
                          <a:effectLst/>
                        </a:rPr>
                        <a:t>) return </a:t>
                      </a:r>
                      <a:r>
                        <a:rPr lang="zh-CN" sz="2000" b="0" kern="100" dirty="0">
                          <a:solidFill>
                            <a:schemeClr val="tx1"/>
                          </a:solidFill>
                          <a:effectLst/>
                        </a:rPr>
                        <a:t>“</a:t>
                      </a:r>
                      <a:r>
                        <a:rPr lang="en-US" sz="2000" b="0" kern="100" dirty="0">
                          <a:solidFill>
                            <a:schemeClr val="tx1"/>
                          </a:solidFill>
                          <a:effectLst/>
                        </a:rPr>
                        <a:t>yes</a:t>
                      </a:r>
                      <a:r>
                        <a:rPr lang="zh-CN" sz="2000" b="0" kern="100" dirty="0">
                          <a:solidFill>
                            <a:schemeClr val="tx1"/>
                          </a:solidFill>
                          <a:effectLst/>
                        </a:rPr>
                        <a:t>”</a:t>
                      </a:r>
                      <a:r>
                        <a:rPr lang="en-US" sz="2000" b="0" kern="100" dirty="0">
                          <a:solidFill>
                            <a:schemeClr val="tx1"/>
                          </a:solidFill>
                          <a:effectLst/>
                        </a:rPr>
                        <a:t>;</a:t>
                      </a:r>
                      <a:endParaRPr lang="zh-CN" sz="2000" b="0" kern="100" dirty="0">
                        <a:solidFill>
                          <a:schemeClr val="tx1"/>
                        </a:solidFill>
                        <a:effectLst/>
                      </a:endParaRPr>
                    </a:p>
                    <a:p>
                      <a:pPr indent="457200" algn="just">
                        <a:spcAft>
                          <a:spcPts val="0"/>
                        </a:spcAft>
                      </a:pPr>
                      <a:r>
                        <a:rPr lang="en-US" sz="2000" b="0" kern="100" dirty="0">
                          <a:solidFill>
                            <a:schemeClr val="tx1"/>
                          </a:solidFill>
                          <a:effectLst/>
                        </a:rPr>
                        <a:t>else return </a:t>
                      </a:r>
                      <a:r>
                        <a:rPr lang="zh-CN" sz="2000" b="0" kern="100" dirty="0">
                          <a:solidFill>
                            <a:schemeClr val="tx1"/>
                          </a:solidFill>
                          <a:effectLst/>
                        </a:rPr>
                        <a:t>“</a:t>
                      </a:r>
                      <a:r>
                        <a:rPr lang="en-US" sz="2000" b="0" kern="100" dirty="0">
                          <a:solidFill>
                            <a:schemeClr val="tx1"/>
                          </a:solidFill>
                          <a:effectLst/>
                        </a:rPr>
                        <a:t>no</a:t>
                      </a:r>
                      <a:r>
                        <a:rPr lang="zh-CN" sz="2000" b="0" kern="100" dirty="0">
                          <a:solidFill>
                            <a:schemeClr val="tx1"/>
                          </a:solidFill>
                          <a:effectLst/>
                        </a:rPr>
                        <a:t>”</a:t>
                      </a:r>
                      <a:r>
                        <a:rPr lang="en-US" sz="2000" b="0" kern="100" dirty="0">
                          <a:solidFill>
                            <a:schemeClr val="tx1"/>
                          </a:solidFill>
                          <a:effectLst/>
                        </a:rPr>
                        <a:t>;</a:t>
                      </a:r>
                      <a:endParaRPr lang="zh-CN" sz="2000" b="0" kern="100" dirty="0">
                        <a:solidFill>
                          <a:schemeClr val="tx1"/>
                        </a:solidFill>
                        <a:effectLst/>
                        <a:latin typeface="Times New Roman"/>
                        <a:ea typeface="宋体"/>
                      </a:endParaRPr>
                    </a:p>
                  </a:txBody>
                  <a:tcPr marL="68583" marR="685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bl>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21405924"/>
              </p:ext>
            </p:extLst>
          </p:nvPr>
        </p:nvGraphicFramePr>
        <p:xfrm>
          <a:off x="5220072" y="2859782"/>
          <a:ext cx="3773016" cy="2099436"/>
        </p:xfrm>
        <a:graphic>
          <a:graphicData uri="http://schemas.openxmlformats.org/presentationml/2006/ole">
            <mc:AlternateContent xmlns:mc="http://schemas.openxmlformats.org/markup-compatibility/2006">
              <mc:Choice xmlns:v="urn:schemas-microsoft-com:vml" Requires="v">
                <p:oleObj spid="_x0000_s25613" name="Visio" r:id="rId4" imgW="2271733" imgH="1118415" progId="Visio.Drawing.11">
                  <p:embed/>
                </p:oleObj>
              </mc:Choice>
              <mc:Fallback>
                <p:oleObj name="Visio" r:id="rId4" imgW="2271733" imgH="1118415" progId="Visio.Drawing.11">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0072" y="2859782"/>
                        <a:ext cx="3773016" cy="2099436"/>
                      </a:xfrm>
                      <a:prstGeom prst="rect">
                        <a:avLst/>
                      </a:prstGeom>
                      <a:solidFill>
                        <a:schemeClr val="accent3">
                          <a:lumMod val="20000"/>
                          <a:lumOff val="80000"/>
                        </a:schemeClr>
                      </a:solidFill>
                      <a:ln>
                        <a:noFill/>
                      </a:ln>
                    </p:spPr>
                  </p:pic>
                </p:oleObj>
              </mc:Fallback>
            </mc:AlternateContent>
          </a:graphicData>
        </a:graphic>
      </p:graphicFrame>
      <p:graphicFrame>
        <p:nvGraphicFramePr>
          <p:cNvPr id="7" name="Group 65"/>
          <p:cNvGraphicFramePr>
            <a:graphicFrameLocks noGrp="1"/>
          </p:cNvGraphicFramePr>
          <p:nvPr>
            <p:ph sz="half" idx="4294967295"/>
            <p:extLst>
              <p:ext uri="{D42A27DB-BD31-4B8C-83A1-F6EECF244321}">
                <p14:modId xmlns:p14="http://schemas.microsoft.com/office/powerpoint/2010/main" val="3718474679"/>
              </p:ext>
            </p:extLst>
          </p:nvPr>
        </p:nvGraphicFramePr>
        <p:xfrm>
          <a:off x="5796136" y="267494"/>
          <a:ext cx="2682420" cy="2116836"/>
        </p:xfrm>
        <a:graphic>
          <a:graphicData uri="http://schemas.openxmlformats.org/drawingml/2006/table">
            <a:tbl>
              <a:tblPr/>
              <a:tblGrid>
                <a:gridCol w="1170252">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tblGrid>
              <a:tr h="48801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ts val="0"/>
                        </a:spcBef>
                        <a:spcAft>
                          <a:spcPct val="0"/>
                        </a:spcAft>
                        <a:buClrTx/>
                        <a:buSzTx/>
                        <a:buFontTx/>
                        <a:buNone/>
                        <a:tabLst/>
                      </a:pPr>
                      <a:r>
                        <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a:t>
                      </a:r>
                      <a:endParaRPr kumimoji="0" lang="en-US" altLang="zh-CN"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90000"/>
                        </a:lnSpc>
                        <a:spcBef>
                          <a:spcPts val="0"/>
                        </a:spcBef>
                        <a:spcAft>
                          <a:spcPct val="0"/>
                        </a:spcAft>
                        <a:buClrTx/>
                        <a:buSzTx/>
                        <a:buFontTx/>
                        <a:buNone/>
                        <a:tabLst/>
                      </a:pPr>
                      <a:r>
                        <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状态</a:t>
                      </a:r>
                      <a:r>
                        <a:rPr kumimoji="0" lang="zh-CN" altLang="en-US"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7248">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107218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dirty="0"/>
              <a:t>DFA M</a:t>
            </a:r>
            <a:r>
              <a:rPr lang="zh-CN" altLang="en-US" dirty="0"/>
              <a:t>所能识别的符号串的全体记为</a:t>
            </a:r>
            <a:r>
              <a:rPr lang="en-US" altLang="zh-CN" dirty="0"/>
              <a:t>L(M)</a:t>
            </a:r>
            <a:r>
              <a:rPr lang="zh-CN" altLang="en-US" dirty="0"/>
              <a:t>，称为</a:t>
            </a:r>
            <a:r>
              <a:rPr lang="en-US" altLang="zh-CN" dirty="0"/>
              <a:t>DFA</a:t>
            </a:r>
            <a:r>
              <a:rPr lang="zh-CN" altLang="en-US" dirty="0"/>
              <a:t>识别的语言</a:t>
            </a:r>
            <a:r>
              <a:rPr lang="en-US" altLang="zh-CN" dirty="0"/>
              <a:t>.</a:t>
            </a:r>
          </a:p>
          <a:p>
            <a:pPr>
              <a:defRPr/>
            </a:pPr>
            <a:r>
              <a:rPr lang="zh-CN" altLang="en-US" dirty="0"/>
              <a:t>对于任何两个确定的有穷自动机</a:t>
            </a:r>
            <a:r>
              <a:rPr lang="en-US" altLang="zh-CN" dirty="0"/>
              <a:t>M</a:t>
            </a:r>
            <a:r>
              <a:rPr lang="zh-CN" altLang="en-US" dirty="0"/>
              <a:t>和</a:t>
            </a:r>
            <a:r>
              <a:rPr lang="en-US" altLang="zh-CN" dirty="0"/>
              <a:t>M′</a:t>
            </a:r>
            <a:r>
              <a:rPr lang="zh-CN" altLang="en-US" dirty="0"/>
              <a:t>，如果</a:t>
            </a:r>
            <a:r>
              <a:rPr lang="en-US" altLang="zh-CN" dirty="0"/>
              <a:t>L(M)=L(M′)</a:t>
            </a:r>
            <a:r>
              <a:rPr lang="zh-CN" altLang="en-US" dirty="0"/>
              <a:t>，则称</a:t>
            </a:r>
            <a:r>
              <a:rPr lang="en-US" altLang="zh-CN" dirty="0"/>
              <a:t>M</a:t>
            </a:r>
            <a:r>
              <a:rPr lang="zh-CN" altLang="en-US" dirty="0"/>
              <a:t>与</a:t>
            </a:r>
            <a:r>
              <a:rPr lang="en-US" altLang="zh-CN" dirty="0"/>
              <a:t>M′</a:t>
            </a:r>
            <a:r>
              <a:rPr lang="zh-CN" altLang="en-US" dirty="0"/>
              <a:t>是等价的</a:t>
            </a:r>
            <a:r>
              <a:rPr lang="en-US" altLang="zh-CN" dirty="0"/>
              <a:t>. </a:t>
            </a:r>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3772042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练   习   </a:t>
            </a:r>
            <a:r>
              <a:rPr lang="en-US" altLang="zh-CN" sz="4000" b="1">
                <a:ea typeface="楷体_GB2312" pitchFamily="49" charset="-122"/>
              </a:rPr>
              <a:t>3</a:t>
            </a:r>
          </a:p>
        </p:txBody>
      </p:sp>
      <p:sp>
        <p:nvSpPr>
          <p:cNvPr id="19459" name="Rectangle 3"/>
          <p:cNvSpPr>
            <a:spLocks noGrp="1" noChangeArrowheads="1"/>
          </p:cNvSpPr>
          <p:nvPr>
            <p:ph type="body" idx="1"/>
          </p:nvPr>
        </p:nvSpPr>
        <p:spPr/>
        <p:txBody>
          <a:bodyPr/>
          <a:lstStyle/>
          <a:p>
            <a:pPr eaLnBrk="1" hangingPunct="1"/>
            <a:r>
              <a:rPr lang="zh-CN" altLang="en-US" b="1" dirty="0"/>
              <a:t>以下</a:t>
            </a:r>
            <a:r>
              <a:rPr lang="en-US" altLang="zh-CN" b="1" dirty="0"/>
              <a:t>DFA</a:t>
            </a:r>
            <a:r>
              <a:rPr lang="zh-CN" altLang="en-US" b="1" dirty="0"/>
              <a:t>识别的语言是什么？</a:t>
            </a:r>
          </a:p>
        </p:txBody>
      </p:sp>
      <p:grpSp>
        <p:nvGrpSpPr>
          <p:cNvPr id="19460" name="Group 4"/>
          <p:cNvGrpSpPr>
            <a:grpSpLocks/>
          </p:cNvGrpSpPr>
          <p:nvPr/>
        </p:nvGrpSpPr>
        <p:grpSpPr bwMode="auto">
          <a:xfrm>
            <a:off x="2743200" y="2114551"/>
            <a:ext cx="3843338" cy="1262063"/>
            <a:chOff x="1104" y="1776"/>
            <a:chExt cx="2421" cy="1060"/>
          </a:xfrm>
        </p:grpSpPr>
        <p:sp>
          <p:nvSpPr>
            <p:cNvPr id="19461" name="Oval 5"/>
            <p:cNvSpPr>
              <a:spLocks noChangeArrowheads="1"/>
            </p:cNvSpPr>
            <p:nvPr/>
          </p:nvSpPr>
          <p:spPr bwMode="auto">
            <a:xfrm>
              <a:off x="1440" y="216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19462" name="Oval 6"/>
            <p:cNvSpPr>
              <a:spLocks noChangeArrowheads="1"/>
            </p:cNvSpPr>
            <p:nvPr/>
          </p:nvSpPr>
          <p:spPr bwMode="auto">
            <a:xfrm>
              <a:off x="1488" y="220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b="1">
                  <a:solidFill>
                    <a:schemeClr val="bg1"/>
                  </a:solidFill>
                  <a:latin typeface="Times New Roman" pitchFamily="18" charset="0"/>
                </a:rPr>
                <a:t>X</a:t>
              </a:r>
            </a:p>
          </p:txBody>
        </p:sp>
        <p:sp>
          <p:nvSpPr>
            <p:cNvPr id="19463" name="Oval 7"/>
            <p:cNvSpPr>
              <a:spLocks noChangeArrowheads="1"/>
            </p:cNvSpPr>
            <p:nvPr/>
          </p:nvSpPr>
          <p:spPr bwMode="auto">
            <a:xfrm>
              <a:off x="2784" y="220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b="1">
                  <a:solidFill>
                    <a:schemeClr val="bg1"/>
                  </a:solidFill>
                  <a:latin typeface="Times New Roman" pitchFamily="18" charset="0"/>
                </a:rPr>
                <a:t>Y</a:t>
              </a:r>
            </a:p>
          </p:txBody>
        </p:sp>
        <p:sp>
          <p:nvSpPr>
            <p:cNvPr id="19464" name="AutoShape 8"/>
            <p:cNvSpPr>
              <a:spLocks noChangeArrowheads="1"/>
            </p:cNvSpPr>
            <p:nvPr/>
          </p:nvSpPr>
          <p:spPr bwMode="auto">
            <a:xfrm>
              <a:off x="1104" y="2304"/>
              <a:ext cx="336" cy="96"/>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19465" name="AutoShape 9"/>
            <p:cNvCxnSpPr>
              <a:cxnSpLocks noChangeShapeType="1"/>
              <a:stCxn id="19461" idx="0"/>
              <a:endCxn id="19463" idx="0"/>
            </p:cNvCxnSpPr>
            <p:nvPr/>
          </p:nvCxnSpPr>
          <p:spPr bwMode="auto">
            <a:xfrm rot="5400000" flipV="1">
              <a:off x="2256" y="1536"/>
              <a:ext cx="48" cy="1296"/>
            </a:xfrm>
            <a:prstGeom prst="curvedConnector3">
              <a:avLst>
                <a:gd name="adj1" fmla="val -300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66" name="AutoShape 10"/>
            <p:cNvCxnSpPr>
              <a:cxnSpLocks noChangeShapeType="1"/>
              <a:stCxn id="19463" idx="4"/>
              <a:endCxn id="19461" idx="4"/>
            </p:cNvCxnSpPr>
            <p:nvPr/>
          </p:nvCxnSpPr>
          <p:spPr bwMode="auto">
            <a:xfrm rot="5400000">
              <a:off x="2256" y="1872"/>
              <a:ext cx="48" cy="1296"/>
            </a:xfrm>
            <a:prstGeom prst="curvedConnector3">
              <a:avLst>
                <a:gd name="adj1" fmla="val 400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67" name="AutoShape 11"/>
            <p:cNvCxnSpPr>
              <a:cxnSpLocks noChangeShapeType="1"/>
              <a:stCxn id="19463" idx="7"/>
              <a:endCxn id="19463" idx="5"/>
            </p:cNvCxnSpPr>
            <p:nvPr/>
          </p:nvCxnSpPr>
          <p:spPr bwMode="auto">
            <a:xfrm rot="5400000" flipV="1">
              <a:off x="2929" y="2351"/>
              <a:ext cx="204" cy="1"/>
            </a:xfrm>
            <a:prstGeom prst="curvedConnector5">
              <a:avLst>
                <a:gd name="adj1" fmla="val -39708"/>
                <a:gd name="adj2" fmla="val 30099991"/>
                <a:gd name="adj3" fmla="val 140194"/>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68" name="Text Box 12"/>
            <p:cNvSpPr txBox="1">
              <a:spLocks noChangeArrowheads="1"/>
            </p:cNvSpPr>
            <p:nvPr/>
          </p:nvSpPr>
          <p:spPr bwMode="auto">
            <a:xfrm>
              <a:off x="2160" y="1776"/>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b="1">
                  <a:latin typeface="Times New Roman" pitchFamily="18" charset="0"/>
                </a:rPr>
                <a:t>0</a:t>
              </a:r>
            </a:p>
          </p:txBody>
        </p:sp>
        <p:sp>
          <p:nvSpPr>
            <p:cNvPr id="19469" name="Text Box 13"/>
            <p:cNvSpPr txBox="1">
              <a:spLocks noChangeArrowheads="1"/>
            </p:cNvSpPr>
            <p:nvPr/>
          </p:nvSpPr>
          <p:spPr bwMode="auto">
            <a:xfrm>
              <a:off x="2160" y="244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b="1">
                  <a:latin typeface="Times New Roman" pitchFamily="18" charset="0"/>
                </a:rPr>
                <a:t>0</a:t>
              </a:r>
            </a:p>
          </p:txBody>
        </p:sp>
        <p:sp>
          <p:nvSpPr>
            <p:cNvPr id="19470" name="Text Box 14"/>
            <p:cNvSpPr txBox="1">
              <a:spLocks noChangeArrowheads="1"/>
            </p:cNvSpPr>
            <p:nvPr/>
          </p:nvSpPr>
          <p:spPr bwMode="auto">
            <a:xfrm>
              <a:off x="3312" y="220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b="1">
                  <a:latin typeface="Times New Roman" pitchFamily="18" charset="0"/>
                </a:rPr>
                <a:t>1</a:t>
              </a:r>
            </a:p>
          </p:txBody>
        </p:sp>
      </p:grpSp>
    </p:spTree>
    <p:extLst>
      <p:ext uri="{BB962C8B-B14F-4D97-AF65-F5344CB8AC3E}">
        <p14:creationId xmlns:p14="http://schemas.microsoft.com/office/powerpoint/2010/main" val="40123649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9"/>
          <p:cNvSpPr>
            <a:spLocks noGrp="1" noChangeArrowheads="1"/>
          </p:cNvSpPr>
          <p:nvPr>
            <p:ph type="title"/>
          </p:nvPr>
        </p:nvSpPr>
        <p:spPr>
          <a:xfrm flipV="1">
            <a:off x="457200" y="0"/>
            <a:ext cx="8229600" cy="57150"/>
          </a:xfrm>
        </p:spPr>
        <p:txBody>
          <a:bodyPr>
            <a:normAutofit fontScale="90000"/>
          </a:bodyPr>
          <a:lstStyle/>
          <a:p>
            <a:pPr eaLnBrk="1" hangingPunct="1"/>
            <a:endParaRPr lang="zh-CN" altLang="zh-CN" sz="1800"/>
          </a:p>
        </p:txBody>
      </p:sp>
      <p:grpSp>
        <p:nvGrpSpPr>
          <p:cNvPr id="53251" name="Group 1032"/>
          <p:cNvGrpSpPr>
            <a:grpSpLocks/>
          </p:cNvGrpSpPr>
          <p:nvPr/>
        </p:nvGrpSpPr>
        <p:grpSpPr bwMode="auto">
          <a:xfrm>
            <a:off x="250826" y="1876425"/>
            <a:ext cx="5256213" cy="2699148"/>
            <a:chOff x="158" y="1253"/>
            <a:chExt cx="3311" cy="2267"/>
          </a:xfrm>
        </p:grpSpPr>
        <p:graphicFrame>
          <p:nvGraphicFramePr>
            <p:cNvPr id="53257" name="Object 1028"/>
            <p:cNvGraphicFramePr>
              <a:graphicFrameLocks noChangeAspect="1"/>
            </p:cNvGraphicFramePr>
            <p:nvPr/>
          </p:nvGraphicFramePr>
          <p:xfrm>
            <a:off x="158" y="1253"/>
            <a:ext cx="3311" cy="1746"/>
          </p:xfrm>
          <a:graphic>
            <a:graphicData uri="http://schemas.openxmlformats.org/presentationml/2006/ole">
              <mc:AlternateContent xmlns:mc="http://schemas.openxmlformats.org/markup-compatibility/2006">
                <mc:Choice xmlns:v="urn:schemas-microsoft-com:vml" Requires="v">
                  <p:oleObj spid="_x0000_s26637" name="位图图像" r:id="rId4" imgW="2962689" imgH="1561905" progId="Paint.Picture">
                    <p:embed/>
                  </p:oleObj>
                </mc:Choice>
                <mc:Fallback>
                  <p:oleObj name="位图图像" r:id="rId4" imgW="2962689" imgH="1561905"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 y="1253"/>
                          <a:ext cx="3311" cy="1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1031"/>
            <p:cNvSpPr txBox="1">
              <a:spLocks noChangeArrowheads="1"/>
            </p:cNvSpPr>
            <p:nvPr/>
          </p:nvSpPr>
          <p:spPr bwMode="auto">
            <a:xfrm>
              <a:off x="1020" y="3158"/>
              <a:ext cx="1769"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zh-CN" altLang="en-US" sz="2200"/>
                <a:t>有穷自动机模型</a:t>
              </a:r>
            </a:p>
          </p:txBody>
        </p:sp>
      </p:grpSp>
      <p:sp>
        <p:nvSpPr>
          <p:cNvPr id="53252" name="Text Box 1033"/>
          <p:cNvSpPr txBox="1">
            <a:spLocks noChangeArrowheads="1"/>
          </p:cNvSpPr>
          <p:nvPr/>
        </p:nvSpPr>
        <p:spPr bwMode="auto">
          <a:xfrm>
            <a:off x="4859339" y="3118248"/>
            <a:ext cx="4033837"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9263" indent="-449263">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pPr>
            <a:r>
              <a:rPr lang="zh-CN" altLang="en-US" sz="2200"/>
              <a:t>电梯控制系统，人脑都是有穷自动机</a:t>
            </a:r>
          </a:p>
          <a:p>
            <a:pPr eaLnBrk="1" hangingPunct="1">
              <a:spcBef>
                <a:spcPct val="50000"/>
              </a:spcBef>
            </a:pPr>
            <a:r>
              <a:rPr lang="zh-CN" altLang="en-US" sz="2200"/>
              <a:t>文本编辑程序有穷状态系统</a:t>
            </a:r>
          </a:p>
        </p:txBody>
      </p:sp>
      <p:sp>
        <p:nvSpPr>
          <p:cNvPr id="53258" name="AutoShape 1034"/>
          <p:cNvSpPr>
            <a:spLocks noChangeArrowheads="1"/>
          </p:cNvSpPr>
          <p:nvPr/>
        </p:nvSpPr>
        <p:spPr bwMode="auto">
          <a:xfrm>
            <a:off x="4648200" y="0"/>
            <a:ext cx="4495800" cy="1485900"/>
          </a:xfrm>
          <a:prstGeom prst="wedgeEllipseCallout">
            <a:avLst>
              <a:gd name="adj1" fmla="val -43856"/>
              <a:gd name="adj2" fmla="val 73157"/>
            </a:avLst>
          </a:prstGeom>
          <a:solidFill>
            <a:srgbClr val="009900"/>
          </a:solidFill>
          <a:ln w="9525">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zh-CN" altLang="en-US" sz="1800" b="1">
                <a:solidFill>
                  <a:schemeClr val="bg1"/>
                </a:solidFill>
              </a:rPr>
              <a:t>每读入一个符号，读头向后移动一个位置，有穷控制器控制状态转移到下一个状态</a:t>
            </a:r>
          </a:p>
        </p:txBody>
      </p:sp>
      <p:sp>
        <p:nvSpPr>
          <p:cNvPr id="53259" name="AutoShape 1035"/>
          <p:cNvSpPr>
            <a:spLocks noChangeArrowheads="1"/>
          </p:cNvSpPr>
          <p:nvPr/>
        </p:nvSpPr>
        <p:spPr bwMode="auto">
          <a:xfrm>
            <a:off x="0" y="0"/>
            <a:ext cx="4876800" cy="1314450"/>
          </a:xfrm>
          <a:prstGeom prst="wedgeEllipseCallout">
            <a:avLst>
              <a:gd name="adj1" fmla="val -41310"/>
              <a:gd name="adj2" fmla="val 93750"/>
            </a:avLst>
          </a:prstGeom>
          <a:solidFill>
            <a:srgbClr val="009900"/>
          </a:solidFill>
          <a:ln w="9525">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zh-CN" altLang="en-US" sz="1800" b="1">
                <a:solidFill>
                  <a:schemeClr val="bg1"/>
                </a:solidFill>
              </a:rPr>
              <a:t>在初始时，读头处于输入带的开始位置，表示准备读入，状态处于初始状态</a:t>
            </a:r>
          </a:p>
        </p:txBody>
      </p:sp>
      <p:sp>
        <p:nvSpPr>
          <p:cNvPr id="53261" name="AutoShape 1037"/>
          <p:cNvSpPr>
            <a:spLocks noChangeArrowheads="1"/>
          </p:cNvSpPr>
          <p:nvPr/>
        </p:nvSpPr>
        <p:spPr bwMode="auto">
          <a:xfrm>
            <a:off x="1219200" y="0"/>
            <a:ext cx="5257800" cy="1143000"/>
          </a:xfrm>
          <a:prstGeom prst="wedgeRectCallout">
            <a:avLst>
              <a:gd name="adj1" fmla="val -25093"/>
              <a:gd name="adj2" fmla="val 108542"/>
            </a:avLst>
          </a:prstGeom>
          <a:solidFill>
            <a:srgbClr val="D2CDCC"/>
          </a:solidFill>
          <a:ln w="9525">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en-US" sz="1800" b="1"/>
              <a:t>整个模型由三部分组成：</a:t>
            </a:r>
          </a:p>
          <a:p>
            <a:pPr eaLnBrk="1" hangingPunct="1">
              <a:spcBef>
                <a:spcPct val="0"/>
              </a:spcBef>
            </a:pPr>
            <a:r>
              <a:rPr lang="zh-CN" altLang="en-US" sz="1800" b="1"/>
              <a:t>  输入带：存放输入符号</a:t>
            </a:r>
          </a:p>
          <a:p>
            <a:pPr eaLnBrk="1" hangingPunct="1">
              <a:spcBef>
                <a:spcPct val="0"/>
              </a:spcBef>
            </a:pPr>
            <a:r>
              <a:rPr lang="zh-CN" altLang="en-US" sz="1800" b="1"/>
              <a:t>  读头：可以在输入带上向后移动</a:t>
            </a:r>
          </a:p>
          <a:p>
            <a:pPr eaLnBrk="1" hangingPunct="1">
              <a:spcBef>
                <a:spcPct val="0"/>
              </a:spcBef>
            </a:pPr>
            <a:r>
              <a:rPr lang="zh-CN" altLang="en-US" sz="1800" b="1"/>
              <a:t>  有穷控制器：控制状态发生变化</a:t>
            </a:r>
            <a:endParaRPr lang="zh-CN" altLang="en-US" sz="1800"/>
          </a:p>
        </p:txBody>
      </p:sp>
      <p:sp>
        <p:nvSpPr>
          <p:cNvPr id="53262" name="AutoShape 1038"/>
          <p:cNvSpPr>
            <a:spLocks noChangeArrowheads="1"/>
          </p:cNvSpPr>
          <p:nvPr/>
        </p:nvSpPr>
        <p:spPr bwMode="auto">
          <a:xfrm>
            <a:off x="2667000" y="0"/>
            <a:ext cx="4953000" cy="1257300"/>
          </a:xfrm>
          <a:prstGeom prst="wedgeRoundRectCallout">
            <a:avLst>
              <a:gd name="adj1" fmla="val -23191"/>
              <a:gd name="adj2" fmla="val 94827"/>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zh-CN" altLang="en-US" sz="1800" b="1"/>
              <a:t>如果读头移动到最后一个符号后面，状态正好是终结状态，则称输入带上的符号组成的字能被该有穷自动机所识别</a:t>
            </a:r>
          </a:p>
        </p:txBody>
      </p:sp>
    </p:spTree>
    <p:extLst>
      <p:ext uri="{BB962C8B-B14F-4D97-AF65-F5344CB8AC3E}">
        <p14:creationId xmlns:p14="http://schemas.microsoft.com/office/powerpoint/2010/main" val="2384264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3261"/>
                                        </p:tgtEl>
                                        <p:attrNameLst>
                                          <p:attrName>style.visibility</p:attrName>
                                        </p:attrNameLst>
                                      </p:cBhvr>
                                      <p:to>
                                        <p:strVal val="visible"/>
                                      </p:to>
                                    </p:set>
                                    <p:anim calcmode="lin" valueType="num">
                                      <p:cBhvr additive="base">
                                        <p:cTn id="7" dur="500" fill="hold"/>
                                        <p:tgtEl>
                                          <p:spTgt spid="53261"/>
                                        </p:tgtEl>
                                        <p:attrNameLst>
                                          <p:attrName>ppt_x</p:attrName>
                                        </p:attrNameLst>
                                      </p:cBhvr>
                                      <p:tavLst>
                                        <p:tav tm="0">
                                          <p:val>
                                            <p:strVal val="#ppt_x"/>
                                          </p:val>
                                        </p:tav>
                                        <p:tav tm="100000">
                                          <p:val>
                                            <p:strVal val="#ppt_x"/>
                                          </p:val>
                                        </p:tav>
                                      </p:tavLst>
                                    </p:anim>
                                    <p:anim calcmode="lin" valueType="num">
                                      <p:cBhvr additive="base">
                                        <p:cTn id="8" dur="500" fill="hold"/>
                                        <p:tgtEl>
                                          <p:spTgt spid="53261"/>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53261"/>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3259"/>
                                        </p:tgtEl>
                                        <p:attrNameLst>
                                          <p:attrName>style.visibility</p:attrName>
                                        </p:attrNameLst>
                                      </p:cBhvr>
                                      <p:to>
                                        <p:strVal val="visible"/>
                                      </p:to>
                                    </p:set>
                                    <p:anim calcmode="lin" valueType="num">
                                      <p:cBhvr additive="base">
                                        <p:cTn id="13" dur="500" fill="hold"/>
                                        <p:tgtEl>
                                          <p:spTgt spid="53259"/>
                                        </p:tgtEl>
                                        <p:attrNameLst>
                                          <p:attrName>ppt_x</p:attrName>
                                        </p:attrNameLst>
                                      </p:cBhvr>
                                      <p:tavLst>
                                        <p:tav tm="0">
                                          <p:val>
                                            <p:strVal val="0-#ppt_w/2"/>
                                          </p:val>
                                        </p:tav>
                                        <p:tav tm="100000">
                                          <p:val>
                                            <p:strVal val="#ppt_x"/>
                                          </p:val>
                                        </p:tav>
                                      </p:tavLst>
                                    </p:anim>
                                    <p:anim calcmode="lin" valueType="num">
                                      <p:cBhvr additive="base">
                                        <p:cTn id="14" dur="500" fill="hold"/>
                                        <p:tgtEl>
                                          <p:spTgt spid="5325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3259"/>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3258"/>
                                        </p:tgtEl>
                                        <p:attrNameLst>
                                          <p:attrName>style.visibility</p:attrName>
                                        </p:attrNameLst>
                                      </p:cBhvr>
                                      <p:to>
                                        <p:strVal val="visible"/>
                                      </p:to>
                                    </p:set>
                                    <p:anim calcmode="lin" valueType="num">
                                      <p:cBhvr additive="base">
                                        <p:cTn id="19" dur="500" fill="hold"/>
                                        <p:tgtEl>
                                          <p:spTgt spid="53258"/>
                                        </p:tgtEl>
                                        <p:attrNameLst>
                                          <p:attrName>ppt_x</p:attrName>
                                        </p:attrNameLst>
                                      </p:cBhvr>
                                      <p:tavLst>
                                        <p:tav tm="0">
                                          <p:val>
                                            <p:strVal val="1+#ppt_w/2"/>
                                          </p:val>
                                        </p:tav>
                                        <p:tav tm="100000">
                                          <p:val>
                                            <p:strVal val="#ppt_x"/>
                                          </p:val>
                                        </p:tav>
                                      </p:tavLst>
                                    </p:anim>
                                    <p:anim calcmode="lin" valueType="num">
                                      <p:cBhvr additive="base">
                                        <p:cTn id="20" dur="500" fill="hold"/>
                                        <p:tgtEl>
                                          <p:spTgt spid="5325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3258"/>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53262"/>
                                        </p:tgtEl>
                                        <p:attrNameLst>
                                          <p:attrName>style.visibility</p:attrName>
                                        </p:attrNameLst>
                                      </p:cBhvr>
                                      <p:to>
                                        <p:strVal val="visible"/>
                                      </p:to>
                                    </p:set>
                                    <p:animEffect transition="in" filter="slide(fromTop)">
                                      <p:cBhvr>
                                        <p:cTn id="25" dur="500"/>
                                        <p:tgtEl>
                                          <p:spTgt spid="53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8" grpId="0" animBg="1" autoUpdateAnimBg="0"/>
      <p:bldP spid="53259" grpId="0" animBg="1" autoUpdateAnimBg="0"/>
      <p:bldP spid="53261" grpId="0" animBg="1" autoUpdateAnimBg="0"/>
      <p:bldP spid="53262"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fontScale="90000"/>
          </a:bodyPr>
          <a:lstStyle/>
          <a:p>
            <a:pPr eaLnBrk="1" hangingPunct="1"/>
            <a:endParaRPr lang="zh-CN" altLang="zh-CN"/>
          </a:p>
        </p:txBody>
      </p:sp>
      <p:sp>
        <p:nvSpPr>
          <p:cNvPr id="54275" name="Rectangle 3"/>
          <p:cNvSpPr>
            <a:spLocks noGrp="1" noChangeArrowheads="1"/>
          </p:cNvSpPr>
          <p:nvPr>
            <p:ph type="body" idx="1"/>
          </p:nvPr>
        </p:nvSpPr>
        <p:spPr/>
        <p:txBody>
          <a:bodyPr/>
          <a:lstStyle/>
          <a:p>
            <a:pPr eaLnBrk="1" hangingPunct="1">
              <a:spcBef>
                <a:spcPct val="40000"/>
              </a:spcBef>
            </a:pPr>
            <a:r>
              <a:rPr lang="zh-CN" altLang="en-US">
                <a:solidFill>
                  <a:srgbClr val="0000CC"/>
                </a:solidFill>
              </a:rPr>
              <a:t>结论</a:t>
            </a:r>
            <a:r>
              <a:rPr lang="zh-CN" altLang="en-US"/>
              <a:t>：</a:t>
            </a:r>
          </a:p>
          <a:p>
            <a:pPr lvl="1" eaLnBrk="1" hangingPunct="1">
              <a:spcBef>
                <a:spcPct val="40000"/>
              </a:spcBef>
              <a:buFontTx/>
              <a:buNone/>
            </a:pPr>
            <a:r>
              <a:rPr lang="zh-CN" altLang="en-US"/>
              <a:t> </a:t>
            </a:r>
            <a:r>
              <a:rPr lang="zh-CN" altLang="en-US">
                <a:sym typeface="Symbol" pitchFamily="18" charset="2"/>
              </a:rPr>
              <a:t>上一个符</a:t>
            </a:r>
            <a:r>
              <a:rPr lang="zh-CN" altLang="en-US">
                <a:latin typeface="宋体" pitchFamily="2" charset="-122"/>
              </a:rPr>
              <a:t>号</a:t>
            </a:r>
            <a:r>
              <a:rPr lang="zh-CN" altLang="en-US">
                <a:sym typeface="Symbol" pitchFamily="18" charset="2"/>
              </a:rPr>
              <a:t>串集</a:t>
            </a:r>
            <a:r>
              <a:rPr lang="en-US" altLang="zh-CN">
                <a:sym typeface="Symbol" pitchFamily="18" charset="2"/>
              </a:rPr>
              <a:t>V </a:t>
            </a:r>
            <a:r>
              <a:rPr lang="en-US" altLang="zh-CN" sz="2400">
                <a:sym typeface="Symbol" pitchFamily="18" charset="2"/>
              </a:rPr>
              <a:t></a:t>
            </a:r>
            <a:r>
              <a:rPr lang="en-US" altLang="zh-CN">
                <a:sym typeface="Symbol" pitchFamily="18" charset="2"/>
              </a:rPr>
              <a:t> </a:t>
            </a:r>
            <a:r>
              <a:rPr lang="en-US" altLang="zh-CN" baseline="30000">
                <a:sym typeface="Symbol" pitchFamily="18" charset="2"/>
              </a:rPr>
              <a:t></a:t>
            </a:r>
            <a:r>
              <a:rPr lang="zh-CN" altLang="en-US">
                <a:sym typeface="Symbol" pitchFamily="18" charset="2"/>
              </a:rPr>
              <a:t>是正规的，当且仅当存在一个上的确定有穷自动机</a:t>
            </a:r>
            <a:r>
              <a:rPr lang="en-US" altLang="zh-CN">
                <a:sym typeface="Symbol" pitchFamily="18" charset="2"/>
              </a:rPr>
              <a:t>M</a:t>
            </a:r>
            <a:r>
              <a:rPr lang="zh-CN" altLang="en-US">
                <a:sym typeface="Symbol" pitchFamily="18" charset="2"/>
              </a:rPr>
              <a:t>，使得</a:t>
            </a:r>
            <a:r>
              <a:rPr lang="en-US" altLang="zh-CN">
                <a:sym typeface="Symbol" pitchFamily="18" charset="2"/>
              </a:rPr>
              <a:t>V=L(M)</a:t>
            </a:r>
            <a:r>
              <a:rPr lang="zh-CN" altLang="en-US">
                <a:sym typeface="Symbol" pitchFamily="18" charset="2"/>
              </a:rPr>
              <a:t>。</a:t>
            </a:r>
          </a:p>
          <a:p>
            <a:pPr eaLnBrk="1" hangingPunct="1"/>
            <a:endParaRPr lang="en-US" altLang="zh-CN"/>
          </a:p>
        </p:txBody>
      </p:sp>
    </p:spTree>
    <p:extLst>
      <p:ext uri="{BB962C8B-B14F-4D97-AF65-F5344CB8AC3E}">
        <p14:creationId xmlns:p14="http://schemas.microsoft.com/office/powerpoint/2010/main" val="12947613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3648" y="1779662"/>
            <a:ext cx="3740126" cy="1569660"/>
          </a:xfrm>
          <a:prstGeom prst="rect">
            <a:avLst/>
          </a:prstGeom>
        </p:spPr>
        <p:txBody>
          <a:bodyPr wrap="none">
            <a:spAutoFit/>
          </a:bodyPr>
          <a:lstStyle/>
          <a:p>
            <a:r>
              <a:rPr kumimoji="1" lang="en-US" altLang="zh-CN" sz="4800" b="1" dirty="0">
                <a:solidFill>
                  <a:srgbClr val="CC0099"/>
                </a:solidFill>
                <a:latin typeface="Times New Roman" pitchFamily="18" charset="0"/>
                <a:ea typeface="隶书" pitchFamily="49" charset="-122"/>
              </a:rPr>
              <a:t>4</a:t>
            </a:r>
            <a:r>
              <a:rPr kumimoji="1" lang="zh-CN" altLang="zh-CN" sz="4800" b="1" dirty="0">
                <a:solidFill>
                  <a:srgbClr val="CC0099"/>
                </a:solidFill>
                <a:latin typeface="Times New Roman" pitchFamily="18" charset="0"/>
                <a:ea typeface="隶书" pitchFamily="49" charset="-122"/>
              </a:rPr>
              <a:t> 有穷自动机</a:t>
            </a:r>
            <a:endParaRPr kumimoji="1" lang="en-US" altLang="zh-CN" sz="4800" b="1" dirty="0">
              <a:solidFill>
                <a:srgbClr val="CC0099"/>
              </a:solidFill>
              <a:latin typeface="Times New Roman" pitchFamily="18" charset="0"/>
              <a:ea typeface="隶书" pitchFamily="49" charset="-122"/>
            </a:endParaRPr>
          </a:p>
          <a:p>
            <a:r>
              <a:rPr kumimoji="1" lang="en-US" altLang="zh-CN" sz="4800" b="1" dirty="0">
                <a:solidFill>
                  <a:srgbClr val="CC0099"/>
                </a:solidFill>
                <a:latin typeface="Times New Roman" pitchFamily="18" charset="0"/>
                <a:ea typeface="隶书" pitchFamily="49" charset="-122"/>
              </a:rPr>
              <a:t>    ——NFA</a:t>
            </a:r>
            <a:endParaRPr lang="zh-CN" altLang="en-US" sz="4800" dirty="0"/>
          </a:p>
        </p:txBody>
      </p:sp>
    </p:spTree>
    <p:extLst>
      <p:ext uri="{BB962C8B-B14F-4D97-AF65-F5344CB8AC3E}">
        <p14:creationId xmlns:p14="http://schemas.microsoft.com/office/powerpoint/2010/main" val="22322002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395536" y="123478"/>
            <a:ext cx="7772400" cy="800100"/>
          </a:xfrm>
        </p:spPr>
        <p:txBody>
          <a:bodyPr>
            <a:normAutofit/>
          </a:bodyPr>
          <a:lstStyle/>
          <a:p>
            <a:pPr eaLnBrk="1" hangingPunct="1"/>
            <a:r>
              <a:rPr lang="zh-CN" altLang="en-US" b="1" dirty="0">
                <a:ea typeface="楷体_GB2312" pitchFamily="49" charset="-122"/>
              </a:rPr>
              <a:t>不确定的有穷自动机</a:t>
            </a:r>
            <a:r>
              <a:rPr lang="en-US" altLang="zh-CN" b="1" dirty="0">
                <a:ea typeface="楷体_GB2312" pitchFamily="49" charset="-122"/>
              </a:rPr>
              <a:t>NFA</a:t>
            </a:r>
          </a:p>
        </p:txBody>
      </p:sp>
      <p:sp>
        <p:nvSpPr>
          <p:cNvPr id="95235" name="Rectangle 3"/>
          <p:cNvSpPr>
            <a:spLocks noGrp="1" noChangeArrowheads="1"/>
          </p:cNvSpPr>
          <p:nvPr>
            <p:ph type="body" idx="1"/>
          </p:nvPr>
        </p:nvSpPr>
        <p:spPr>
          <a:xfrm>
            <a:off x="323528" y="954273"/>
            <a:ext cx="4680520" cy="3881860"/>
          </a:xfrm>
          <a:solidFill>
            <a:schemeClr val="bg1"/>
          </a:solidFill>
          <a:ln w="28575">
            <a:solidFill>
              <a:srgbClr val="3333FF"/>
            </a:solidFill>
            <a:miter lim="800000"/>
            <a:headEnd/>
            <a:tailEnd/>
          </a:ln>
        </p:spPr>
        <p:txBody>
          <a:bodyPr>
            <a:normAutofit/>
          </a:bodyPr>
          <a:lstStyle/>
          <a:p>
            <a:pPr eaLnBrk="1" hangingPunct="1">
              <a:defRPr/>
            </a:pPr>
            <a:r>
              <a:rPr lang="zh-CN" altLang="en-US" sz="2000" b="1" dirty="0">
                <a:solidFill>
                  <a:schemeClr val="accent2"/>
                </a:solidFill>
                <a:latin typeface="Times New Roman" panose="02020603050405020304" pitchFamily="18" charset="0"/>
                <a:cs typeface="Times New Roman" panose="02020603050405020304" pitchFamily="18" charset="0"/>
              </a:rPr>
              <a:t>定义</a:t>
            </a:r>
            <a:r>
              <a:rPr lang="zh-CN" altLang="en-US" sz="2000" dirty="0">
                <a:latin typeface="Times New Roman" panose="02020603050405020304" pitchFamily="18" charset="0"/>
                <a:cs typeface="Times New Roman" panose="02020603050405020304" pitchFamily="18" charset="0"/>
              </a:rPr>
              <a:t>：不确定的有穷自动机</a:t>
            </a:r>
            <a:r>
              <a:rPr lang="en-US" altLang="zh-CN" sz="2000" b="1" dirty="0">
                <a:latin typeface="Times New Roman" panose="02020603050405020304" pitchFamily="18" charset="0"/>
                <a:cs typeface="Times New Roman" panose="02020603050405020304" pitchFamily="18" charset="0"/>
              </a:rPr>
              <a:t>NFA</a:t>
            </a:r>
            <a:r>
              <a:rPr lang="zh-CN" altLang="en-US" sz="2000" dirty="0">
                <a:latin typeface="Times New Roman" panose="02020603050405020304" pitchFamily="18" charset="0"/>
                <a:cs typeface="Times New Roman" panose="02020603050405020304" pitchFamily="18" charset="0"/>
              </a:rPr>
              <a:t>也是一个五元组，</a:t>
            </a:r>
            <a:r>
              <a:rPr lang="en-US" altLang="zh-CN" sz="2000" dirty="0">
                <a:latin typeface="Times New Roman" panose="02020603050405020304" pitchFamily="18" charset="0"/>
                <a:cs typeface="Times New Roman" panose="02020603050405020304" pitchFamily="18" charset="0"/>
              </a:rPr>
              <a:t> M=</a:t>
            </a:r>
            <a:r>
              <a:rPr lang="en-US" altLang="zh-CN" sz="2000" dirty="0">
                <a:latin typeface="Times New Roman" panose="02020603050405020304" pitchFamily="18" charset="0"/>
                <a:cs typeface="Times New Roman" panose="02020603050405020304" pitchFamily="18" charset="0"/>
                <a:sym typeface="Symbol" pitchFamily="18" charset="2"/>
              </a:rPr>
              <a:t>{S</a:t>
            </a:r>
            <a:r>
              <a:rPr lang="zh-CN" altLang="en-US" sz="2000" dirty="0">
                <a:latin typeface="Times New Roman" panose="02020603050405020304" pitchFamily="18" charset="0"/>
                <a:cs typeface="Times New Roman" panose="02020603050405020304" pitchFamily="18" charset="0"/>
                <a:sym typeface="Symbol" pitchFamily="18" charset="2"/>
              </a:rPr>
              <a:t>，，</a:t>
            </a:r>
            <a:r>
              <a:rPr lang="en-US" altLang="zh-CN" sz="2000" dirty="0">
                <a:latin typeface="Times New Roman" panose="02020603050405020304" pitchFamily="18" charset="0"/>
                <a:cs typeface="Times New Roman" panose="02020603050405020304" pitchFamily="18" charset="0"/>
              </a:rPr>
              <a:t>δ</a:t>
            </a:r>
            <a:r>
              <a:rPr lang="zh-CN" altLang="en-US" sz="2000" dirty="0">
                <a:latin typeface="Times New Roman" panose="02020603050405020304" pitchFamily="18" charset="0"/>
                <a:cs typeface="Times New Roman" panose="02020603050405020304" pitchFamily="18" charset="0"/>
                <a:sym typeface="Symbol" pitchFamily="18" charset="2"/>
              </a:rPr>
              <a:t>，</a:t>
            </a:r>
            <a:r>
              <a:rPr lang="en-US" altLang="zh-CN" sz="2000" dirty="0">
                <a:latin typeface="Times New Roman" panose="02020603050405020304" pitchFamily="18" charset="0"/>
                <a:cs typeface="Times New Roman" panose="02020603050405020304" pitchFamily="18" charset="0"/>
                <a:sym typeface="Symbol" pitchFamily="18" charset="2"/>
              </a:rPr>
              <a:t>S</a:t>
            </a:r>
            <a:r>
              <a:rPr lang="en-US" altLang="zh-CN" sz="2000" baseline="-25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F</a:t>
            </a:r>
            <a:r>
              <a:rPr lang="en-US" altLang="zh-CN" sz="2000" dirty="0">
                <a:latin typeface="Times New Roman" panose="02020603050405020304" pitchFamily="18" charset="0"/>
                <a:cs typeface="Times New Roman" panose="02020603050405020304" pitchFamily="18" charset="0"/>
                <a:sym typeface="Symbol" pitchFamily="18" charset="2"/>
              </a:rPr>
              <a:t> }</a:t>
            </a:r>
            <a:r>
              <a:rPr lang="zh-CN" altLang="en-US" sz="2000" dirty="0">
                <a:latin typeface="Times New Roman" panose="02020603050405020304" pitchFamily="18" charset="0"/>
                <a:cs typeface="Times New Roman" panose="02020603050405020304" pitchFamily="18" charset="0"/>
                <a:sym typeface="Symbol" pitchFamily="18" charset="2"/>
              </a:rPr>
              <a:t>，其中：</a:t>
            </a:r>
          </a:p>
          <a:p>
            <a:pPr marL="620713" lvl="1" indent="-258763">
              <a:defRPr/>
            </a:pPr>
            <a:r>
              <a:rPr lang="en-US" altLang="zh-CN" sz="2000" b="1" dirty="0">
                <a:latin typeface="Times New Roman" panose="02020603050405020304" pitchFamily="18" charset="0"/>
                <a:cs typeface="Times New Roman" panose="02020603050405020304" pitchFamily="18" charset="0"/>
                <a:sym typeface="Symbol" pitchFamily="18" charset="2"/>
              </a:rPr>
              <a:t>S</a:t>
            </a:r>
            <a:r>
              <a:rPr lang="zh-CN" altLang="en-US" sz="2000" dirty="0">
                <a:latin typeface="Times New Roman" panose="02020603050405020304" pitchFamily="18" charset="0"/>
                <a:cs typeface="Times New Roman" panose="02020603050405020304" pitchFamily="18" charset="0"/>
                <a:sym typeface="Symbol" pitchFamily="18" charset="2"/>
              </a:rPr>
              <a:t>为状态的</a:t>
            </a:r>
            <a:r>
              <a:rPr lang="zh-CN" altLang="en-US" sz="2000" b="1" dirty="0">
                <a:solidFill>
                  <a:srgbClr val="3333FF"/>
                </a:solidFill>
                <a:latin typeface="Times New Roman" panose="02020603050405020304" pitchFamily="18" charset="0"/>
                <a:cs typeface="Times New Roman" panose="02020603050405020304" pitchFamily="18" charset="0"/>
                <a:sym typeface="Symbol" pitchFamily="18" charset="2"/>
              </a:rPr>
              <a:t>有穷</a:t>
            </a:r>
            <a:r>
              <a:rPr lang="zh-CN" altLang="en-US" sz="2000" dirty="0">
                <a:latin typeface="Times New Roman" panose="02020603050405020304" pitchFamily="18" charset="0"/>
                <a:cs typeface="Times New Roman" panose="02020603050405020304" pitchFamily="18" charset="0"/>
                <a:sym typeface="Symbol" pitchFamily="18" charset="2"/>
              </a:rPr>
              <a:t>状态集， </a:t>
            </a:r>
          </a:p>
          <a:p>
            <a:pPr marL="620713" lvl="1" indent="-258763">
              <a:defRPr/>
            </a:pPr>
            <a:r>
              <a:rPr lang="zh-CN" altLang="zh-CN" sz="2000" b="1" dirty="0">
                <a:latin typeface="Times New Roman" panose="02020603050405020304" pitchFamily="18" charset="0"/>
                <a:cs typeface="Times New Roman" panose="02020603050405020304" pitchFamily="18" charset="0"/>
                <a:sym typeface="Symbol" pitchFamily="18" charset="2"/>
              </a:rPr>
              <a:t></a:t>
            </a:r>
            <a:r>
              <a:rPr lang="zh-CN" altLang="en-US" sz="2000" b="1" dirty="0">
                <a:latin typeface="Times New Roman" panose="02020603050405020304" pitchFamily="18" charset="0"/>
                <a:cs typeface="Times New Roman" panose="02020603050405020304" pitchFamily="18" charset="0"/>
                <a:sym typeface="Symbol" pitchFamily="18" charset="2"/>
              </a:rPr>
              <a:t> </a:t>
            </a:r>
            <a:r>
              <a:rPr lang="zh-CN" altLang="en-US" sz="2000" dirty="0">
                <a:latin typeface="Times New Roman" panose="02020603050405020304" pitchFamily="18" charset="0"/>
                <a:cs typeface="Times New Roman" panose="02020603050405020304" pitchFamily="18" charset="0"/>
                <a:sym typeface="Symbol" pitchFamily="18" charset="2"/>
              </a:rPr>
              <a:t>为</a:t>
            </a:r>
            <a:r>
              <a:rPr lang="zh-CN" altLang="en-US" sz="2000" b="1" dirty="0">
                <a:solidFill>
                  <a:srgbClr val="3333FF"/>
                </a:solidFill>
                <a:latin typeface="Times New Roman" panose="02020603050405020304" pitchFamily="18" charset="0"/>
                <a:cs typeface="Times New Roman" panose="02020603050405020304" pitchFamily="18" charset="0"/>
                <a:sym typeface="Symbol" pitchFamily="18" charset="2"/>
              </a:rPr>
              <a:t>有穷</a:t>
            </a:r>
            <a:r>
              <a:rPr lang="zh-CN" altLang="en-US" sz="2000" dirty="0">
                <a:latin typeface="Times New Roman" panose="02020603050405020304" pitchFamily="18" charset="0"/>
                <a:cs typeface="Times New Roman" panose="02020603050405020304" pitchFamily="18" charset="0"/>
                <a:sym typeface="Symbol" pitchFamily="18" charset="2"/>
              </a:rPr>
              <a:t>输入字母表， </a:t>
            </a:r>
          </a:p>
          <a:p>
            <a:pPr marL="620713" lvl="1" indent="-258763">
              <a:defRPr/>
            </a:pPr>
            <a:r>
              <a:rPr lang="fr-FR" altLang="zh-CN" sz="2000" b="1" dirty="0">
                <a:latin typeface="Times New Roman" panose="02020603050405020304" pitchFamily="18" charset="0"/>
                <a:cs typeface="Times New Roman" panose="02020603050405020304" pitchFamily="18" charset="0"/>
                <a:sym typeface="Symbol"/>
              </a:rPr>
              <a:t></a:t>
            </a:r>
            <a:r>
              <a:rPr lang="zh-CN" altLang="zh-CN" sz="2000" dirty="0">
                <a:latin typeface="Times New Roman" panose="02020603050405020304" pitchFamily="18" charset="0"/>
                <a:cs typeface="Times New Roman" panose="02020603050405020304" pitchFamily="18" charset="0"/>
              </a:rPr>
              <a:t>为状态转换函数，是</a:t>
            </a:r>
            <a:r>
              <a:rPr lang="en-US" altLang="zh-CN" sz="2000" dirty="0">
                <a:solidFill>
                  <a:srgbClr val="FF0000"/>
                </a:solidFill>
                <a:latin typeface="Times New Roman" panose="02020603050405020304" pitchFamily="18" charset="0"/>
                <a:cs typeface="Times New Roman" panose="02020603050405020304" pitchFamily="18" charset="0"/>
              </a:rPr>
              <a:t>S</a:t>
            </a:r>
            <a:r>
              <a:rPr lang="en-US" altLang="zh-CN" sz="2000" dirty="0">
                <a:solidFill>
                  <a:srgbClr val="FF0000"/>
                </a:solidFill>
                <a:latin typeface="Times New Roman" panose="02020603050405020304" pitchFamily="18" charset="0"/>
                <a:cs typeface="Times New Roman" panose="02020603050405020304" pitchFamily="18" charset="0"/>
                <a:sym typeface="Symbol"/>
              </a:rPr>
              <a:t></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sym typeface="Symbol"/>
              </a:rPr>
              <a:t></a:t>
            </a:r>
            <a:r>
              <a:rPr lang="zh-CN" altLang="zh-CN"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sym typeface="Symbol"/>
              </a:rPr>
              <a:t></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zh-CN" sz="2000" dirty="0">
                <a:latin typeface="Times New Roman" panose="02020603050405020304" pitchFamily="18" charset="0"/>
                <a:cs typeface="Times New Roman" panose="02020603050405020304" pitchFamily="18" charset="0"/>
              </a:rPr>
              <a:t>到</a:t>
            </a:r>
            <a:r>
              <a:rPr lang="en-US" altLang="zh-CN" sz="2000" dirty="0">
                <a:latin typeface="Times New Roman" panose="02020603050405020304" pitchFamily="18" charset="0"/>
                <a:cs typeface="Times New Roman" panose="02020603050405020304" pitchFamily="18" charset="0"/>
              </a:rPr>
              <a:t>S</a:t>
            </a:r>
            <a:r>
              <a:rPr lang="zh-CN" altLang="zh-CN" sz="2000" dirty="0">
                <a:latin typeface="Times New Roman" panose="02020603050405020304" pitchFamily="18" charset="0"/>
                <a:cs typeface="Times New Roman" panose="02020603050405020304" pitchFamily="18" charset="0"/>
              </a:rPr>
              <a:t>的子集的映射</a:t>
            </a:r>
          </a:p>
          <a:p>
            <a:pPr marL="361950" lvl="1" indent="0">
              <a:buNone/>
              <a:defRPr/>
            </a:pPr>
            <a:r>
              <a:rPr lang="fr-FR" altLang="zh-CN" sz="2000" dirty="0">
                <a:latin typeface="Times New Roman" panose="02020603050405020304" pitchFamily="18" charset="0"/>
                <a:cs typeface="Times New Roman" panose="02020603050405020304" pitchFamily="18" charset="0"/>
                <a:sym typeface="Symbol"/>
              </a:rPr>
              <a:t>     </a:t>
            </a:r>
            <a:r>
              <a:rPr lang="zh-CN"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S </a:t>
            </a:r>
            <a:r>
              <a:rPr lang="en-US" altLang="zh-CN" sz="2000" dirty="0">
                <a:latin typeface="Times New Roman" panose="02020603050405020304" pitchFamily="18" charset="0"/>
                <a:cs typeface="Times New Roman" panose="02020603050405020304" pitchFamily="18" charset="0"/>
                <a:sym typeface="Symbol"/>
              </a:rPr>
              <a:t></a:t>
            </a:r>
            <a:r>
              <a:rPr lang="en-US"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sym typeface="Symbol"/>
              </a:rPr>
              <a:t></a:t>
            </a:r>
            <a:r>
              <a:rPr lang="zh-CN"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sym typeface="Symbol"/>
              </a:rPr>
              <a:t></a:t>
            </a:r>
            <a:r>
              <a:rPr lang="en-US" altLang="zh-CN" sz="2000" dirty="0">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2</a:t>
            </a:r>
            <a:r>
              <a:rPr lang="en-US" altLang="zh-CN" sz="2000" baseline="30000" dirty="0">
                <a:solidFill>
                  <a:srgbClr val="FF0000"/>
                </a:solidFill>
                <a:latin typeface="Times New Roman" panose="02020603050405020304" pitchFamily="18" charset="0"/>
                <a:cs typeface="Times New Roman" panose="02020603050405020304" pitchFamily="18" charset="0"/>
              </a:rPr>
              <a:t>S</a:t>
            </a:r>
            <a:r>
              <a:rPr lang="zh-CN"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S</a:t>
            </a:r>
            <a:r>
              <a:rPr lang="zh-CN" altLang="zh-CN" sz="2000" dirty="0">
                <a:latin typeface="Times New Roman" panose="02020603050405020304" pitchFamily="18" charset="0"/>
                <a:cs typeface="Times New Roman" panose="02020603050405020304" pitchFamily="18" charset="0"/>
              </a:rPr>
              <a:t>的幂集）</a:t>
            </a:r>
            <a:r>
              <a:rPr lang="en-US" altLang="zh-CN" sz="2000" dirty="0">
                <a:latin typeface="Times New Roman" panose="02020603050405020304" pitchFamily="18" charset="0"/>
                <a:cs typeface="Times New Roman" panose="02020603050405020304" pitchFamily="18" charset="0"/>
                <a:sym typeface="Symbol" pitchFamily="18" charset="2"/>
              </a:rPr>
              <a:t>      </a:t>
            </a:r>
          </a:p>
          <a:p>
            <a:pPr marL="620713" lvl="1" indent="-258763">
              <a:defRPr/>
            </a:pPr>
            <a:r>
              <a:rPr lang="en-US" altLang="zh-CN" sz="2000" b="1" dirty="0">
                <a:latin typeface="Times New Roman" panose="02020603050405020304" pitchFamily="18" charset="0"/>
                <a:cs typeface="Times New Roman" panose="02020603050405020304" pitchFamily="18" charset="0"/>
                <a:sym typeface="Symbol" pitchFamily="18" charset="2"/>
              </a:rPr>
              <a:t>S</a:t>
            </a:r>
            <a:r>
              <a:rPr lang="en-US" altLang="zh-CN" sz="2000" b="1" baseline="-25000" dirty="0">
                <a:latin typeface="Times New Roman" panose="02020603050405020304" pitchFamily="18" charset="0"/>
                <a:cs typeface="Times New Roman" panose="02020603050405020304" pitchFamily="18" charset="0"/>
              </a:rPr>
              <a:t>0</a:t>
            </a:r>
            <a:r>
              <a:rPr lang="en-US" altLang="zh-CN" sz="2000" dirty="0">
                <a:latin typeface="Times New Roman" panose="02020603050405020304" pitchFamily="18" charset="0"/>
                <a:cs typeface="Times New Roman" panose="02020603050405020304" pitchFamily="18" charset="0"/>
                <a:sym typeface="Symbol" pitchFamily="18" charset="2"/>
              </a:rPr>
              <a:t> S</a:t>
            </a:r>
            <a:r>
              <a:rPr lang="zh-CN" altLang="en-US" sz="2000" dirty="0">
                <a:latin typeface="Times New Roman" panose="02020603050405020304" pitchFamily="18" charset="0"/>
                <a:cs typeface="Times New Roman" panose="02020603050405020304" pitchFamily="18" charset="0"/>
                <a:sym typeface="Symbol" pitchFamily="18" charset="2"/>
              </a:rPr>
              <a:t>是</a:t>
            </a:r>
            <a:r>
              <a:rPr lang="zh-CN" altLang="en-US" sz="2000" b="1" dirty="0">
                <a:solidFill>
                  <a:srgbClr val="3333FF"/>
                </a:solidFill>
                <a:latin typeface="Times New Roman" panose="02020603050405020304" pitchFamily="18" charset="0"/>
                <a:cs typeface="Times New Roman" panose="02020603050405020304" pitchFamily="18" charset="0"/>
                <a:sym typeface="Symbol" pitchFamily="18" charset="2"/>
              </a:rPr>
              <a:t>初始状态集</a:t>
            </a:r>
            <a:endParaRPr lang="zh-CN" altLang="en-US" sz="2000" dirty="0">
              <a:latin typeface="Times New Roman" panose="02020603050405020304" pitchFamily="18" charset="0"/>
              <a:cs typeface="Times New Roman" panose="02020603050405020304" pitchFamily="18" charset="0"/>
              <a:sym typeface="Symbol" pitchFamily="18" charset="2"/>
            </a:endParaRPr>
          </a:p>
          <a:p>
            <a:pPr marL="620713" lvl="1" indent="-258763">
              <a:defRPr/>
            </a:pPr>
            <a:r>
              <a:rPr lang="en-US" altLang="zh-CN" sz="2000" b="1" dirty="0">
                <a:latin typeface="Times New Roman" panose="02020603050405020304" pitchFamily="18" charset="0"/>
                <a:cs typeface="Times New Roman" panose="02020603050405020304" pitchFamily="18" charset="0"/>
                <a:sym typeface="Symbol" pitchFamily="18" charset="2"/>
              </a:rPr>
              <a:t>F</a:t>
            </a:r>
            <a:r>
              <a:rPr lang="en-US" altLang="zh-CN" sz="2000" dirty="0">
                <a:latin typeface="Times New Roman" panose="02020603050405020304" pitchFamily="18" charset="0"/>
                <a:cs typeface="Times New Roman" panose="02020603050405020304" pitchFamily="18" charset="0"/>
                <a:sym typeface="Symbol" pitchFamily="18" charset="2"/>
              </a:rPr>
              <a:t> S</a:t>
            </a:r>
            <a:r>
              <a:rPr lang="zh-CN" altLang="en-US" sz="2000" dirty="0">
                <a:latin typeface="Times New Roman" panose="02020603050405020304" pitchFamily="18" charset="0"/>
                <a:cs typeface="Times New Roman" panose="02020603050405020304" pitchFamily="18" charset="0"/>
                <a:sym typeface="Symbol" pitchFamily="18" charset="2"/>
              </a:rPr>
              <a:t>为终止状态集</a:t>
            </a:r>
            <a:r>
              <a:rPr lang="en-US" altLang="zh-CN" sz="2000" dirty="0">
                <a:latin typeface="Times New Roman" panose="02020603050405020304" pitchFamily="18" charset="0"/>
                <a:cs typeface="Times New Roman" panose="02020603050405020304" pitchFamily="18" charset="0"/>
                <a:sym typeface="Symbol" pitchFamily="18" charset="2"/>
              </a:rPr>
              <a:t>(</a:t>
            </a:r>
            <a:r>
              <a:rPr lang="zh-CN" altLang="en-US" sz="2000" dirty="0">
                <a:latin typeface="Times New Roman" panose="02020603050405020304" pitchFamily="18" charset="0"/>
                <a:cs typeface="Times New Roman" panose="02020603050405020304" pitchFamily="18" charset="0"/>
                <a:sym typeface="Symbol" pitchFamily="18" charset="2"/>
              </a:rPr>
              <a:t>可空</a:t>
            </a:r>
            <a:r>
              <a:rPr lang="en-US" altLang="zh-CN" sz="2000" dirty="0">
                <a:latin typeface="Times New Roman" panose="02020603050405020304" pitchFamily="18" charset="0"/>
                <a:cs typeface="Times New Roman" panose="02020603050405020304" pitchFamily="18" charset="0"/>
                <a:sym typeface="Symbol" pitchFamily="18" charset="2"/>
              </a:rPr>
              <a:t>)</a:t>
            </a:r>
            <a:r>
              <a:rPr lang="zh-CN" altLang="en-US" sz="2000" dirty="0">
                <a:latin typeface="Times New Roman" panose="02020603050405020304" pitchFamily="18" charset="0"/>
                <a:cs typeface="Times New Roman" panose="02020603050405020304" pitchFamily="18" charset="0"/>
                <a:sym typeface="Symbol" pitchFamily="18" charset="2"/>
              </a:rPr>
              <a:t>。</a:t>
            </a:r>
          </a:p>
        </p:txBody>
      </p:sp>
      <p:sp>
        <p:nvSpPr>
          <p:cNvPr id="4" name="Rectangle 3"/>
          <p:cNvSpPr txBox="1">
            <a:spLocks noChangeArrowheads="1"/>
          </p:cNvSpPr>
          <p:nvPr/>
        </p:nvSpPr>
        <p:spPr>
          <a:xfrm>
            <a:off x="5220072" y="915566"/>
            <a:ext cx="3923928" cy="3888432"/>
          </a:xfrm>
          <a:prstGeom prst="rect">
            <a:avLst/>
          </a:prstGeom>
          <a:solidFill>
            <a:schemeClr val="accent3">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buFontTx/>
              <a:buNone/>
            </a:pPr>
            <a:r>
              <a:rPr lang="zh-CN" altLang="en-US" sz="1800" b="1" dirty="0">
                <a:solidFill>
                  <a:srgbClr val="0000CC"/>
                </a:solidFill>
                <a:latin typeface="Times New Roman" panose="02020603050405020304" pitchFamily="18" charset="0"/>
                <a:cs typeface="Times New Roman" panose="02020603050405020304" pitchFamily="18" charset="0"/>
              </a:rPr>
              <a:t>确定的有穷自动机</a:t>
            </a:r>
            <a:r>
              <a:rPr lang="en-US" altLang="zh-CN" sz="1600" dirty="0">
                <a:latin typeface="Times New Roman" panose="02020603050405020304" pitchFamily="18" charset="0"/>
                <a:cs typeface="Times New Roman" panose="02020603050405020304" pitchFamily="18" charset="0"/>
              </a:rPr>
              <a:t>(DFA)M</a:t>
            </a:r>
            <a:r>
              <a:rPr lang="zh-CN" altLang="en-US" sz="1600" dirty="0">
                <a:latin typeface="Times New Roman" panose="02020603050405020304" pitchFamily="18" charset="0"/>
                <a:cs typeface="Times New Roman" panose="02020603050405020304" pitchFamily="18" charset="0"/>
              </a:rPr>
              <a:t>是一个五元组</a:t>
            </a:r>
            <a:r>
              <a:rPr lang="en-US" altLang="zh-CN" sz="1600" dirty="0">
                <a:latin typeface="Times New Roman" panose="02020603050405020304" pitchFamily="18" charset="0"/>
                <a:cs typeface="Times New Roman" panose="02020603050405020304" pitchFamily="18" charset="0"/>
              </a:rPr>
              <a:t>  </a:t>
            </a:r>
            <a:r>
              <a:rPr lang="en-US" altLang="zh-CN" sz="1600" b="1" dirty="0">
                <a:solidFill>
                  <a:srgbClr val="CC00FF"/>
                </a:solidFill>
                <a:latin typeface="Times New Roman" panose="02020603050405020304" pitchFamily="18" charset="0"/>
                <a:cs typeface="Times New Roman" panose="02020603050405020304" pitchFamily="18" charset="0"/>
              </a:rPr>
              <a:t>M=(S</a:t>
            </a:r>
            <a:r>
              <a:rPr lang="zh-CN" altLang="en-US" sz="1600" b="1" dirty="0">
                <a:solidFill>
                  <a:srgbClr val="CC00FF"/>
                </a:solidFill>
                <a:latin typeface="Times New Roman" panose="02020603050405020304" pitchFamily="18" charset="0"/>
                <a:cs typeface="Times New Roman" panose="02020603050405020304" pitchFamily="18" charset="0"/>
              </a:rPr>
              <a:t>，</a:t>
            </a:r>
            <a:r>
              <a:rPr lang="en-US" altLang="zh-CN" sz="1600" b="1" dirty="0">
                <a:solidFill>
                  <a:srgbClr val="CC00FF"/>
                </a:solidFill>
                <a:latin typeface="Times New Roman" panose="02020603050405020304" pitchFamily="18" charset="0"/>
                <a:cs typeface="Times New Roman" panose="02020603050405020304" pitchFamily="18" charset="0"/>
              </a:rPr>
              <a:t>Σ</a:t>
            </a:r>
            <a:r>
              <a:rPr lang="zh-CN" altLang="en-US" sz="1600" b="1" dirty="0">
                <a:solidFill>
                  <a:srgbClr val="CC00FF"/>
                </a:solidFill>
                <a:latin typeface="Times New Roman" panose="02020603050405020304" pitchFamily="18" charset="0"/>
                <a:cs typeface="Times New Roman" panose="02020603050405020304" pitchFamily="18" charset="0"/>
              </a:rPr>
              <a:t>，</a:t>
            </a:r>
            <a:r>
              <a:rPr lang="en-US" altLang="zh-CN" sz="1600" b="1" dirty="0">
                <a:solidFill>
                  <a:srgbClr val="CC00FF"/>
                </a:solidFill>
                <a:latin typeface="Times New Roman" panose="02020603050405020304" pitchFamily="18" charset="0"/>
                <a:cs typeface="Times New Roman" panose="02020603050405020304" pitchFamily="18" charset="0"/>
              </a:rPr>
              <a:t>δ</a:t>
            </a:r>
            <a:r>
              <a:rPr lang="zh-CN" altLang="en-US" sz="1600" b="1" dirty="0">
                <a:solidFill>
                  <a:srgbClr val="CC00FF"/>
                </a:solidFill>
                <a:latin typeface="Times New Roman" panose="02020603050405020304" pitchFamily="18" charset="0"/>
                <a:cs typeface="Times New Roman" panose="02020603050405020304" pitchFamily="18" charset="0"/>
              </a:rPr>
              <a:t>，</a:t>
            </a:r>
            <a:r>
              <a:rPr lang="en-US" altLang="zh-CN" sz="1600" b="1" dirty="0">
                <a:solidFill>
                  <a:srgbClr val="CC00FF"/>
                </a:solidFill>
                <a:latin typeface="Times New Roman" panose="02020603050405020304" pitchFamily="18" charset="0"/>
                <a:cs typeface="Times New Roman" panose="02020603050405020304" pitchFamily="18" charset="0"/>
              </a:rPr>
              <a:t>s</a:t>
            </a:r>
            <a:r>
              <a:rPr lang="en-US" altLang="zh-CN" sz="1600" b="1" baseline="-25000" dirty="0">
                <a:solidFill>
                  <a:srgbClr val="CC00FF"/>
                </a:solidFill>
                <a:latin typeface="Times New Roman" panose="02020603050405020304" pitchFamily="18" charset="0"/>
                <a:cs typeface="Times New Roman" panose="02020603050405020304" pitchFamily="18" charset="0"/>
              </a:rPr>
              <a:t>0</a:t>
            </a:r>
            <a:r>
              <a:rPr lang="zh-CN" altLang="en-US" sz="1600" b="1" dirty="0">
                <a:solidFill>
                  <a:srgbClr val="CC00FF"/>
                </a:solidFill>
                <a:latin typeface="Times New Roman" panose="02020603050405020304" pitchFamily="18" charset="0"/>
                <a:cs typeface="Times New Roman" panose="02020603050405020304" pitchFamily="18" charset="0"/>
              </a:rPr>
              <a:t>，</a:t>
            </a:r>
            <a:r>
              <a:rPr lang="en-US" altLang="zh-CN" sz="1600" b="1" dirty="0">
                <a:solidFill>
                  <a:srgbClr val="CC00FF"/>
                </a:solidFill>
                <a:latin typeface="Times New Roman" panose="02020603050405020304" pitchFamily="18" charset="0"/>
                <a:cs typeface="Times New Roman" panose="02020603050405020304" pitchFamily="18" charset="0"/>
              </a:rPr>
              <a:t>F)</a:t>
            </a:r>
            <a:r>
              <a:rPr lang="zh-CN" altLang="en-US" sz="1600" dirty="0">
                <a:latin typeface="Times New Roman" panose="02020603050405020304" pitchFamily="18" charset="0"/>
                <a:cs typeface="Times New Roman" panose="02020603050405020304" pitchFamily="18" charset="0"/>
              </a:rPr>
              <a:t>，其中</a:t>
            </a:r>
            <a:r>
              <a:rPr lang="en-US" altLang="zh-CN" sz="1600" dirty="0">
                <a:latin typeface="Times New Roman" panose="02020603050405020304" pitchFamily="18" charset="0"/>
                <a:cs typeface="Times New Roman" panose="02020603050405020304" pitchFamily="18" charset="0"/>
              </a:rPr>
              <a:t>:</a:t>
            </a:r>
          </a:p>
          <a:p>
            <a:pPr lvl="1">
              <a:spcBef>
                <a:spcPts val="0"/>
              </a:spcBef>
              <a:buFontTx/>
              <a:buNone/>
            </a:pPr>
            <a:r>
              <a:rPr lang="en-US" altLang="zh-CN" sz="1600" dirty="0">
                <a:latin typeface="Times New Roman" panose="02020603050405020304" pitchFamily="18" charset="0"/>
                <a:cs typeface="Times New Roman" panose="02020603050405020304" pitchFamily="18" charset="0"/>
              </a:rPr>
              <a:t>1.S</a:t>
            </a:r>
            <a:r>
              <a:rPr lang="zh-CN" altLang="en-US" sz="1600" dirty="0">
                <a:latin typeface="Times New Roman" panose="02020603050405020304" pitchFamily="18" charset="0"/>
                <a:cs typeface="Times New Roman" panose="02020603050405020304" pitchFamily="18" charset="0"/>
              </a:rPr>
              <a:t>是一个</a:t>
            </a:r>
            <a:r>
              <a:rPr lang="zh-CN" altLang="en-US" sz="1600" b="1" dirty="0">
                <a:solidFill>
                  <a:srgbClr val="3333FF"/>
                </a:solidFill>
                <a:latin typeface="Times New Roman" panose="02020603050405020304" pitchFamily="18" charset="0"/>
                <a:cs typeface="Times New Roman" panose="02020603050405020304" pitchFamily="18" charset="0"/>
              </a:rPr>
              <a:t>有穷</a:t>
            </a:r>
            <a:r>
              <a:rPr lang="zh-CN" altLang="en-US" sz="1600" dirty="0">
                <a:latin typeface="Times New Roman" panose="02020603050405020304" pitchFamily="18" charset="0"/>
                <a:cs typeface="Times New Roman" panose="02020603050405020304" pitchFamily="18" charset="0"/>
              </a:rPr>
              <a:t>集，它的每个元素称为一个状态；</a:t>
            </a:r>
          </a:p>
          <a:p>
            <a:pPr lvl="1">
              <a:spcBef>
                <a:spcPts val="0"/>
              </a:spcBef>
              <a:buFontTx/>
              <a:buNone/>
            </a:pPr>
            <a:r>
              <a:rPr lang="en-US" altLang="zh-CN" sz="1600" dirty="0">
                <a:latin typeface="Times New Roman" panose="02020603050405020304" pitchFamily="18" charset="0"/>
                <a:cs typeface="Times New Roman" panose="02020603050405020304" pitchFamily="18" charset="0"/>
              </a:rPr>
              <a:t>2.Σ</a:t>
            </a:r>
            <a:r>
              <a:rPr lang="zh-CN" altLang="en-US" sz="1600" dirty="0">
                <a:latin typeface="Times New Roman" panose="02020603050405020304" pitchFamily="18" charset="0"/>
                <a:cs typeface="Times New Roman" panose="02020603050405020304" pitchFamily="18" charset="0"/>
              </a:rPr>
              <a:t>是一个</a:t>
            </a:r>
            <a:r>
              <a:rPr lang="zh-CN" altLang="en-US" sz="1600" b="1" dirty="0">
                <a:solidFill>
                  <a:srgbClr val="3333FF"/>
                </a:solidFill>
                <a:latin typeface="Times New Roman" panose="02020603050405020304" pitchFamily="18" charset="0"/>
                <a:cs typeface="Times New Roman" panose="02020603050405020304" pitchFamily="18" charset="0"/>
              </a:rPr>
              <a:t>有穷</a:t>
            </a:r>
            <a:r>
              <a:rPr lang="zh-CN" altLang="en-US" sz="1600" dirty="0">
                <a:latin typeface="Times New Roman" panose="02020603050405020304" pitchFamily="18" charset="0"/>
                <a:cs typeface="Times New Roman" panose="02020603050405020304" pitchFamily="18" charset="0"/>
              </a:rPr>
              <a:t>字母表，它的每个元素称为一个输入符号，所以也称</a:t>
            </a:r>
            <a:r>
              <a:rPr lang="en-US" altLang="zh-CN" sz="1600" dirty="0">
                <a:latin typeface="Times New Roman" panose="02020603050405020304" pitchFamily="18" charset="0"/>
                <a:cs typeface="Times New Roman" panose="02020603050405020304" pitchFamily="18" charset="0"/>
              </a:rPr>
              <a:t>Σ</a:t>
            </a:r>
            <a:r>
              <a:rPr lang="zh-CN" altLang="en-US" sz="1600" dirty="0">
                <a:latin typeface="Times New Roman" panose="02020603050405020304" pitchFamily="18" charset="0"/>
                <a:cs typeface="Times New Roman" panose="02020603050405020304" pitchFamily="18" charset="0"/>
              </a:rPr>
              <a:t>为输入符号表；</a:t>
            </a:r>
          </a:p>
          <a:p>
            <a:pPr lvl="1">
              <a:spcBef>
                <a:spcPts val="0"/>
              </a:spcBef>
              <a:buFont typeface="Verdana"/>
              <a:buNone/>
            </a:pPr>
            <a:r>
              <a:rPr lang="en-US" altLang="zh-CN" sz="1600" dirty="0">
                <a:latin typeface="Times New Roman" panose="02020603050405020304" pitchFamily="18" charset="0"/>
                <a:cs typeface="Times New Roman" panose="02020603050405020304" pitchFamily="18" charset="0"/>
              </a:rPr>
              <a:t>3.δ</a:t>
            </a:r>
            <a:r>
              <a:rPr lang="zh-CN" altLang="en-US" sz="1600" dirty="0">
                <a:latin typeface="Times New Roman" panose="02020603050405020304" pitchFamily="18" charset="0"/>
                <a:cs typeface="Times New Roman" panose="02020603050405020304" pitchFamily="18" charset="0"/>
              </a:rPr>
              <a:t>是转换函数，是在</a:t>
            </a:r>
            <a:r>
              <a:rPr lang="en-US" altLang="zh-CN" sz="1600" dirty="0">
                <a:latin typeface="Times New Roman" panose="02020603050405020304" pitchFamily="18" charset="0"/>
                <a:cs typeface="Times New Roman" panose="02020603050405020304" pitchFamily="18" charset="0"/>
              </a:rPr>
              <a:t>S×Σ→S</a:t>
            </a:r>
            <a:r>
              <a:rPr lang="zh-CN" altLang="en-US" sz="1600" dirty="0">
                <a:latin typeface="Times New Roman" panose="02020603050405020304" pitchFamily="18" charset="0"/>
                <a:cs typeface="Times New Roman" panose="02020603050405020304" pitchFamily="18" charset="0"/>
              </a:rPr>
              <a:t>上的</a:t>
            </a:r>
            <a:r>
              <a:rPr lang="zh-CN" altLang="en-US" sz="1600" b="1" dirty="0">
                <a:solidFill>
                  <a:srgbClr val="3333FF"/>
                </a:solidFill>
                <a:latin typeface="Times New Roman" panose="02020603050405020304" pitchFamily="18" charset="0"/>
                <a:cs typeface="Times New Roman" panose="02020603050405020304" pitchFamily="18" charset="0"/>
              </a:rPr>
              <a:t>单值映射</a:t>
            </a:r>
            <a:r>
              <a:rPr lang="zh-CN" altLang="en-US" sz="1600" dirty="0">
                <a:latin typeface="Times New Roman" panose="02020603050405020304" pitchFamily="18" charset="0"/>
                <a:cs typeface="Times New Roman" panose="02020603050405020304" pitchFamily="18" charset="0"/>
              </a:rPr>
              <a:t>，</a:t>
            </a:r>
            <a:r>
              <a:rPr lang="fr-FR" altLang="zh-CN" sz="1600" dirty="0">
                <a:latin typeface="Times New Roman" panose="02020603050405020304" pitchFamily="18" charset="0"/>
                <a:cs typeface="Times New Roman" panose="02020603050405020304" pitchFamily="18" charset="0"/>
                <a:sym typeface="Symbol"/>
              </a:rPr>
              <a:t></a:t>
            </a:r>
            <a:r>
              <a:rPr lang="en-US" altLang="zh-CN" sz="1600" dirty="0">
                <a:latin typeface="Times New Roman" panose="02020603050405020304" pitchFamily="18" charset="0"/>
                <a:cs typeface="Times New Roman" panose="02020603050405020304" pitchFamily="18" charset="0"/>
              </a:rPr>
              <a:t>(s</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a)=s' (</a:t>
            </a:r>
            <a:r>
              <a:rPr lang="en-US" altLang="zh-CN" sz="1600" dirty="0" err="1">
                <a:latin typeface="Times New Roman" panose="02020603050405020304" pitchFamily="18" charset="0"/>
                <a:cs typeface="Times New Roman" panose="02020603050405020304" pitchFamily="18" charset="0"/>
              </a:rPr>
              <a:t>s∈S</a:t>
            </a:r>
            <a:r>
              <a:rPr lang="zh-CN" altLang="en-US"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s'∈S</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，就意味着，当前状态为</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，输入符为</a:t>
            </a:r>
            <a:r>
              <a:rPr lang="en-US" altLang="zh-CN" sz="1600" dirty="0">
                <a:latin typeface="Times New Roman" panose="02020603050405020304" pitchFamily="18" charset="0"/>
                <a:cs typeface="Times New Roman" panose="02020603050405020304" pitchFamily="18" charset="0"/>
              </a:rPr>
              <a:t>a</a:t>
            </a:r>
            <a:r>
              <a:rPr lang="zh-CN" altLang="en-US" sz="1600" dirty="0">
                <a:latin typeface="Times New Roman" panose="02020603050405020304" pitchFamily="18" charset="0"/>
                <a:cs typeface="Times New Roman" panose="02020603050405020304" pitchFamily="18" charset="0"/>
              </a:rPr>
              <a:t>时，将转换为下一个状态</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，我们把</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称作</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的一个</a:t>
            </a:r>
            <a:r>
              <a:rPr lang="zh-CN" altLang="en-US" sz="1600" dirty="0">
                <a:solidFill>
                  <a:srgbClr val="FF0000"/>
                </a:solidFill>
                <a:latin typeface="Times New Roman" panose="02020603050405020304" pitchFamily="18" charset="0"/>
                <a:cs typeface="Times New Roman" panose="02020603050405020304" pitchFamily="18" charset="0"/>
              </a:rPr>
              <a:t>后继状态</a:t>
            </a:r>
            <a:r>
              <a:rPr lang="zh-CN" altLang="en-US" sz="1600" dirty="0">
                <a:latin typeface="Times New Roman" panose="02020603050405020304" pitchFamily="18" charset="0"/>
                <a:cs typeface="Times New Roman" panose="02020603050405020304" pitchFamily="18" charset="0"/>
              </a:rPr>
              <a:t>；</a:t>
            </a:r>
          </a:p>
          <a:p>
            <a:pPr lvl="1">
              <a:spcBef>
                <a:spcPts val="0"/>
              </a:spcBef>
              <a:buFontTx/>
              <a:buNone/>
            </a:pPr>
            <a:r>
              <a:rPr lang="en-US" altLang="zh-CN" sz="1600" dirty="0">
                <a:latin typeface="Times New Roman" panose="02020603050405020304" pitchFamily="18" charset="0"/>
                <a:cs typeface="Times New Roman" panose="02020603050405020304" pitchFamily="18" charset="0"/>
              </a:rPr>
              <a:t>4. s</a:t>
            </a:r>
            <a:r>
              <a:rPr lang="en-US" altLang="zh-CN" sz="1600" baseline="-25000" dirty="0">
                <a:latin typeface="Times New Roman" panose="02020603050405020304" pitchFamily="18" charset="0"/>
                <a:cs typeface="Times New Roman" panose="02020603050405020304" pitchFamily="18" charset="0"/>
              </a:rPr>
              <a:t>0</a:t>
            </a:r>
            <a:r>
              <a:rPr lang="en-US" altLang="zh-CN" sz="1600" dirty="0">
                <a:latin typeface="Times New Roman" panose="02020603050405020304" pitchFamily="18" charset="0"/>
                <a:cs typeface="Times New Roman" panose="02020603050405020304" pitchFamily="18" charset="0"/>
              </a:rPr>
              <a:t> ∈S</a:t>
            </a:r>
            <a:r>
              <a:rPr lang="zh-CN" altLang="en-US" sz="1600" dirty="0">
                <a:latin typeface="Times New Roman" panose="02020603050405020304" pitchFamily="18" charset="0"/>
                <a:cs typeface="Times New Roman" panose="02020603050405020304" pitchFamily="18" charset="0"/>
              </a:rPr>
              <a:t>是</a:t>
            </a:r>
            <a:r>
              <a:rPr lang="zh-CN" altLang="en-US" sz="1600" b="1" dirty="0">
                <a:solidFill>
                  <a:srgbClr val="3333FF"/>
                </a:solidFill>
                <a:latin typeface="Times New Roman" panose="02020603050405020304" pitchFamily="18" charset="0"/>
                <a:cs typeface="Times New Roman" panose="02020603050405020304" pitchFamily="18" charset="0"/>
              </a:rPr>
              <a:t>唯一</a:t>
            </a:r>
            <a:r>
              <a:rPr lang="zh-CN" altLang="en-US" sz="1600" dirty="0">
                <a:latin typeface="Times New Roman" panose="02020603050405020304" pitchFamily="18" charset="0"/>
                <a:cs typeface="Times New Roman" panose="02020603050405020304" pitchFamily="18" charset="0"/>
              </a:rPr>
              <a:t>的一个初态；</a:t>
            </a:r>
          </a:p>
          <a:p>
            <a:pPr lvl="1">
              <a:spcBef>
                <a:spcPts val="0"/>
              </a:spcBef>
              <a:buFontTx/>
              <a:buNone/>
            </a:pPr>
            <a:r>
              <a:rPr lang="en-US" altLang="zh-CN" sz="1600" dirty="0">
                <a:latin typeface="Times New Roman" panose="02020603050405020304" pitchFamily="18" charset="0"/>
                <a:cs typeface="Times New Roman" panose="02020603050405020304" pitchFamily="18" charset="0"/>
              </a:rPr>
              <a:t>5.F</a:t>
            </a:r>
            <a:r>
              <a:rPr lang="en-US" altLang="zh-CN" sz="1600" dirty="0">
                <a:latin typeface="Times New Roman" panose="02020603050405020304" pitchFamily="18" charset="0"/>
                <a:cs typeface="Times New Roman" panose="02020603050405020304" pitchFamily="18" charset="0"/>
                <a:sym typeface="Symbol" pitchFamily="18" charset="2"/>
              </a:rPr>
              <a:t></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是一个称可接受状态或结束终态集</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可空</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，也状态。</a:t>
            </a:r>
          </a:p>
        </p:txBody>
      </p:sp>
    </p:spTree>
    <p:extLst>
      <p:ext uri="{BB962C8B-B14F-4D97-AF65-F5344CB8AC3E}">
        <p14:creationId xmlns:p14="http://schemas.microsoft.com/office/powerpoint/2010/main" val="85671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23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523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523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23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523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2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uiExpand="1" build="p"/>
      <p:bldP spid="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205978"/>
            <a:ext cx="8229600" cy="136922"/>
          </a:xfrm>
        </p:spPr>
        <p:txBody>
          <a:bodyPr>
            <a:normAutofit fontScale="90000"/>
          </a:bodyPr>
          <a:lstStyle/>
          <a:p>
            <a:pPr eaLnBrk="1" hangingPunct="1"/>
            <a:r>
              <a:rPr lang="en-US" altLang="zh-CN"/>
              <a:t>NFA</a:t>
            </a:r>
            <a:r>
              <a:rPr lang="zh-CN" altLang="en-US"/>
              <a:t>的三种表示</a:t>
            </a:r>
          </a:p>
        </p:txBody>
      </p:sp>
      <p:sp>
        <p:nvSpPr>
          <p:cNvPr id="56323" name="Rectangle 3"/>
          <p:cNvSpPr>
            <a:spLocks noGrp="1" noChangeArrowheads="1"/>
          </p:cNvSpPr>
          <p:nvPr>
            <p:ph type="body" idx="1"/>
          </p:nvPr>
        </p:nvSpPr>
        <p:spPr>
          <a:xfrm>
            <a:off x="498475" y="704850"/>
            <a:ext cx="7025853" cy="2514972"/>
          </a:xfrm>
        </p:spPr>
        <p:txBody>
          <a:bodyPr>
            <a:noAutofit/>
          </a:bodyPr>
          <a:lstStyle/>
          <a:p>
            <a:pPr eaLnBrk="1" hangingPunct="1">
              <a:lnSpc>
                <a:spcPct val="90000"/>
              </a:lnSpc>
            </a:pPr>
            <a:r>
              <a:rPr lang="zh-CN" altLang="en-US" sz="2000" dirty="0">
                <a:solidFill>
                  <a:schemeClr val="accent2"/>
                </a:solidFill>
                <a:sym typeface="Symbol" pitchFamily="18" charset="2"/>
              </a:rPr>
              <a:t>例</a:t>
            </a:r>
            <a:r>
              <a:rPr lang="en-US" altLang="zh-CN" sz="2000" dirty="0">
                <a:solidFill>
                  <a:schemeClr val="accent2"/>
                </a:solidFill>
                <a:sym typeface="Symbol" pitchFamily="18" charset="2"/>
              </a:rPr>
              <a:t>4</a:t>
            </a:r>
            <a:r>
              <a:rPr lang="zh-CN" altLang="en-US" sz="2000" dirty="0">
                <a:sym typeface="Symbol" pitchFamily="18" charset="2"/>
              </a:rPr>
              <a:t>：</a:t>
            </a:r>
            <a:r>
              <a:rPr lang="en-US" altLang="zh-CN" sz="2000" dirty="0">
                <a:sym typeface="Symbol" pitchFamily="18" charset="2"/>
              </a:rPr>
              <a:t>NFA M=({S</a:t>
            </a:r>
            <a:r>
              <a:rPr lang="zh-CN" altLang="en-US" sz="2000" dirty="0">
                <a:sym typeface="Symbol" pitchFamily="18" charset="2"/>
              </a:rPr>
              <a:t>，</a:t>
            </a:r>
            <a:r>
              <a:rPr lang="en-US" altLang="zh-CN" sz="2000" dirty="0">
                <a:sym typeface="Symbol" pitchFamily="18" charset="2"/>
              </a:rPr>
              <a:t>P</a:t>
            </a:r>
            <a:r>
              <a:rPr lang="zh-CN" altLang="en-US" sz="2000" dirty="0">
                <a:sym typeface="Symbol" pitchFamily="18" charset="2"/>
              </a:rPr>
              <a:t>，</a:t>
            </a:r>
            <a:r>
              <a:rPr lang="en-US" altLang="zh-CN" sz="2000" dirty="0">
                <a:sym typeface="Symbol" pitchFamily="18" charset="2"/>
              </a:rPr>
              <a:t>Z}</a:t>
            </a:r>
            <a:r>
              <a:rPr lang="zh-CN" altLang="en-US" sz="2000" dirty="0">
                <a:sym typeface="Symbol" pitchFamily="18" charset="2"/>
              </a:rPr>
              <a:t>，</a:t>
            </a:r>
            <a:r>
              <a:rPr lang="en-US" altLang="zh-CN" sz="2000" dirty="0">
                <a:sym typeface="Symbol" pitchFamily="18" charset="2"/>
              </a:rPr>
              <a:t>{0</a:t>
            </a:r>
            <a:r>
              <a:rPr lang="zh-CN" altLang="en-US" sz="2000" dirty="0">
                <a:sym typeface="Symbol" pitchFamily="18" charset="2"/>
              </a:rPr>
              <a:t>，</a:t>
            </a:r>
            <a:r>
              <a:rPr lang="en-US" altLang="zh-CN" sz="2000" dirty="0">
                <a:sym typeface="Symbol" pitchFamily="18" charset="2"/>
              </a:rPr>
              <a:t>1}</a:t>
            </a:r>
            <a:r>
              <a:rPr lang="zh-CN" altLang="en-US" sz="2000" dirty="0">
                <a:sym typeface="Symbol" pitchFamily="18" charset="2"/>
              </a:rPr>
              <a:t>，</a:t>
            </a:r>
            <a:r>
              <a:rPr lang="en-US" altLang="zh-CN" sz="2000" dirty="0">
                <a:cs typeface="Times New Roman" pitchFamily="18" charset="0"/>
              </a:rPr>
              <a:t>δ</a:t>
            </a:r>
            <a:r>
              <a:rPr lang="zh-CN" altLang="en-US" sz="2000" dirty="0">
                <a:sym typeface="Symbol" pitchFamily="18" charset="2"/>
              </a:rPr>
              <a:t>，</a:t>
            </a:r>
            <a:r>
              <a:rPr lang="en-US" altLang="zh-CN" sz="2000" dirty="0">
                <a:sym typeface="Symbol" pitchFamily="18" charset="2"/>
              </a:rPr>
              <a:t>{S</a:t>
            </a:r>
            <a:r>
              <a:rPr lang="zh-CN" altLang="en-US" sz="2000" dirty="0">
                <a:sym typeface="Symbol" pitchFamily="18" charset="2"/>
              </a:rPr>
              <a:t>，</a:t>
            </a:r>
            <a:r>
              <a:rPr lang="en-US" altLang="zh-CN" sz="2000" dirty="0">
                <a:sym typeface="Symbol" pitchFamily="18" charset="2"/>
              </a:rPr>
              <a:t>P}</a:t>
            </a:r>
            <a:r>
              <a:rPr lang="zh-CN" altLang="en-US" sz="2000" dirty="0">
                <a:sym typeface="Symbol" pitchFamily="18" charset="2"/>
              </a:rPr>
              <a:t>，</a:t>
            </a:r>
            <a:r>
              <a:rPr lang="en-US" altLang="zh-CN" sz="2000" dirty="0">
                <a:sym typeface="Symbol" pitchFamily="18" charset="2"/>
              </a:rPr>
              <a:t>{Z})</a:t>
            </a:r>
          </a:p>
          <a:p>
            <a:pPr lvl="1" eaLnBrk="1" hangingPunct="1">
              <a:lnSpc>
                <a:spcPct val="90000"/>
              </a:lnSpc>
              <a:buFontTx/>
              <a:buNone/>
            </a:pPr>
            <a:r>
              <a:rPr lang="zh-CN" altLang="en-US" sz="2000" dirty="0">
                <a:sym typeface="Symbol" pitchFamily="18" charset="2"/>
              </a:rPr>
              <a:t>其中： </a:t>
            </a:r>
          </a:p>
          <a:p>
            <a:pPr lvl="1" eaLnBrk="1" hangingPunct="1">
              <a:lnSpc>
                <a:spcPct val="90000"/>
              </a:lnSpc>
              <a:buFontTx/>
              <a:buNone/>
            </a:pPr>
            <a:r>
              <a:rPr lang="en-US" altLang="zh-CN" sz="2000" dirty="0">
                <a:cs typeface="Times New Roman" pitchFamily="18" charset="0"/>
              </a:rPr>
              <a:t>δ(</a:t>
            </a:r>
            <a:r>
              <a:rPr lang="en-US" altLang="zh-CN" sz="2000" dirty="0">
                <a:sym typeface="Symbol" pitchFamily="18" charset="2"/>
              </a:rPr>
              <a:t>S</a:t>
            </a:r>
            <a:r>
              <a:rPr lang="zh-CN" altLang="en-US" sz="2000" dirty="0">
                <a:sym typeface="Symbol" pitchFamily="18" charset="2"/>
              </a:rPr>
              <a:t>，</a:t>
            </a:r>
            <a:r>
              <a:rPr lang="en-US" altLang="zh-CN" sz="2000" dirty="0">
                <a:sym typeface="Symbol" pitchFamily="18" charset="2"/>
              </a:rPr>
              <a:t>0)={P}</a:t>
            </a:r>
          </a:p>
          <a:p>
            <a:pPr lvl="1" eaLnBrk="1" hangingPunct="1">
              <a:lnSpc>
                <a:spcPct val="90000"/>
              </a:lnSpc>
              <a:buFontTx/>
              <a:buNone/>
            </a:pPr>
            <a:r>
              <a:rPr lang="en-US" altLang="zh-CN" sz="2000" dirty="0">
                <a:cs typeface="Times New Roman" pitchFamily="18" charset="0"/>
              </a:rPr>
              <a:t>δ</a:t>
            </a:r>
            <a:r>
              <a:rPr lang="en-US" altLang="zh-CN" sz="2000" dirty="0"/>
              <a:t>(S</a:t>
            </a:r>
            <a:r>
              <a:rPr lang="zh-CN" altLang="en-US" sz="2000" dirty="0"/>
              <a:t>，</a:t>
            </a:r>
            <a:r>
              <a:rPr lang="en-US" altLang="zh-CN" sz="2000" dirty="0"/>
              <a:t>1)={S</a:t>
            </a:r>
            <a:r>
              <a:rPr lang="zh-CN" altLang="en-US" sz="2000" dirty="0"/>
              <a:t>，</a:t>
            </a:r>
            <a:r>
              <a:rPr lang="en-US" altLang="zh-CN" sz="2000" dirty="0"/>
              <a:t>Z}</a:t>
            </a:r>
          </a:p>
          <a:p>
            <a:pPr lvl="1" eaLnBrk="1" hangingPunct="1">
              <a:lnSpc>
                <a:spcPct val="90000"/>
              </a:lnSpc>
              <a:buFontTx/>
              <a:buNone/>
            </a:pPr>
            <a:r>
              <a:rPr lang="en-US" altLang="zh-CN" sz="2000" dirty="0">
                <a:cs typeface="Times New Roman" pitchFamily="18" charset="0"/>
              </a:rPr>
              <a:t>δ</a:t>
            </a:r>
            <a:r>
              <a:rPr lang="en-US" altLang="zh-CN" sz="2000" dirty="0"/>
              <a:t>(Z</a:t>
            </a:r>
            <a:r>
              <a:rPr lang="zh-CN" altLang="en-US" sz="2000" dirty="0"/>
              <a:t>，</a:t>
            </a:r>
            <a:r>
              <a:rPr lang="en-US" altLang="zh-CN" sz="2000" dirty="0"/>
              <a:t>0)={P}</a:t>
            </a:r>
          </a:p>
          <a:p>
            <a:pPr lvl="1" eaLnBrk="1" hangingPunct="1">
              <a:lnSpc>
                <a:spcPct val="90000"/>
              </a:lnSpc>
              <a:buFontTx/>
              <a:buNone/>
            </a:pPr>
            <a:r>
              <a:rPr lang="en-US" altLang="zh-CN" sz="2000" dirty="0">
                <a:cs typeface="Times New Roman" pitchFamily="18" charset="0"/>
              </a:rPr>
              <a:t>δ</a:t>
            </a:r>
            <a:r>
              <a:rPr lang="en-US" altLang="zh-CN" sz="2000" dirty="0"/>
              <a:t>(Z</a:t>
            </a:r>
            <a:r>
              <a:rPr lang="zh-CN" altLang="en-US" sz="2000" dirty="0"/>
              <a:t>，</a:t>
            </a:r>
            <a:r>
              <a:rPr lang="en-US" altLang="zh-CN" sz="2000" dirty="0"/>
              <a:t>1)={P}</a:t>
            </a:r>
          </a:p>
          <a:p>
            <a:pPr lvl="1" eaLnBrk="1" hangingPunct="1">
              <a:lnSpc>
                <a:spcPct val="90000"/>
              </a:lnSpc>
              <a:buFontTx/>
              <a:buNone/>
            </a:pPr>
            <a:r>
              <a:rPr lang="en-US" altLang="zh-CN" sz="2000" dirty="0">
                <a:cs typeface="Times New Roman" pitchFamily="18" charset="0"/>
              </a:rPr>
              <a:t>δ</a:t>
            </a:r>
            <a:r>
              <a:rPr lang="en-US" altLang="zh-CN" sz="2000" dirty="0"/>
              <a:t>(P</a:t>
            </a:r>
            <a:r>
              <a:rPr lang="zh-CN" altLang="en-US" sz="2000" dirty="0"/>
              <a:t>，</a:t>
            </a:r>
            <a:r>
              <a:rPr lang="en-US" altLang="zh-CN" sz="2000" dirty="0"/>
              <a:t>1)={Z}</a:t>
            </a:r>
          </a:p>
          <a:p>
            <a:pPr eaLnBrk="1" hangingPunct="1">
              <a:lnSpc>
                <a:spcPct val="90000"/>
              </a:lnSpc>
            </a:pPr>
            <a:r>
              <a:rPr lang="zh-CN" altLang="en-US" sz="2000" dirty="0"/>
              <a:t>矩阵表示</a:t>
            </a:r>
            <a:endParaRPr lang="zh-CN" altLang="en-US" sz="2000" dirty="0">
              <a:solidFill>
                <a:schemeClr val="accent2"/>
              </a:solidFill>
            </a:endParaRPr>
          </a:p>
          <a:p>
            <a:pPr eaLnBrk="1" hangingPunct="1">
              <a:lnSpc>
                <a:spcPct val="90000"/>
              </a:lnSpc>
            </a:pPr>
            <a:endParaRPr lang="en-US" altLang="zh-CN" sz="2000" dirty="0"/>
          </a:p>
        </p:txBody>
      </p:sp>
      <p:graphicFrame>
        <p:nvGraphicFramePr>
          <p:cNvPr id="95281" name="Group 49"/>
          <p:cNvGraphicFramePr>
            <a:graphicFrameLocks noGrp="1"/>
          </p:cNvGraphicFramePr>
          <p:nvPr>
            <p:extLst>
              <p:ext uri="{D42A27DB-BD31-4B8C-83A1-F6EECF244321}">
                <p14:modId xmlns:p14="http://schemas.microsoft.com/office/powerpoint/2010/main" val="491404098"/>
              </p:ext>
            </p:extLst>
          </p:nvPr>
        </p:nvGraphicFramePr>
        <p:xfrm>
          <a:off x="6475486" y="1128550"/>
          <a:ext cx="2528664" cy="1831896"/>
        </p:xfrm>
        <a:graphic>
          <a:graphicData uri="http://schemas.openxmlformats.org/drawingml/2006/table">
            <a:tbl>
              <a:tblPr/>
              <a:tblGrid>
                <a:gridCol w="8724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429343">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输入状态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59581">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bg1"/>
                          </a:solidFill>
                          <a:effectLst/>
                          <a:latin typeface="Arial" panose="020B0604020202020204" pitchFamily="34" charset="0"/>
                          <a:ea typeface="宋体" panose="02010600030101010101" pitchFamily="2" charset="-122"/>
                        </a:rPr>
                        <a:t>{P}</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{S,Z}</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extLst>
                  <a:ext uri="{0D108BD9-81ED-4DB2-BD59-A6C34878D82A}">
                    <a16:rowId xmlns:a16="http://schemas.microsoft.com/office/drawing/2014/main" val="10001"/>
                  </a:ext>
                </a:extLst>
              </a:tr>
              <a:tr h="423863">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bg1"/>
                          </a:solidFill>
                          <a:effectLst/>
                          <a:latin typeface="Arial" panose="020B0604020202020204" pitchFamily="34" charset="0"/>
                          <a:ea typeface="宋体" panose="02010600030101010101" pitchFamily="2" charset="-122"/>
                        </a:rPr>
                        <a:t>{Z}</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extLst>
                  <a:ext uri="{0D108BD9-81ED-4DB2-BD59-A6C34878D82A}">
                    <a16:rowId xmlns:a16="http://schemas.microsoft.com/office/drawing/2014/main" val="10002"/>
                  </a:ext>
                </a:extLst>
              </a:tr>
              <a:tr h="422672">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bg1"/>
                          </a:solidFill>
                          <a:effectLst/>
                          <a:latin typeface="Arial" panose="020B0604020202020204" pitchFamily="34" charset="0"/>
                          <a:ea typeface="宋体" panose="02010600030101010101" pitchFamily="2" charset="-122"/>
                        </a:rPr>
                        <a:t>{P}</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9900"/>
                    </a:solidFill>
                  </a:tcPr>
                </a:tc>
                <a:extLst>
                  <a:ext uri="{0D108BD9-81ED-4DB2-BD59-A6C34878D82A}">
                    <a16:rowId xmlns:a16="http://schemas.microsoft.com/office/drawing/2014/main" val="10003"/>
                  </a:ext>
                </a:extLst>
              </a:tr>
            </a:tbl>
          </a:graphicData>
        </a:graphic>
      </p:graphicFrame>
      <p:sp>
        <p:nvSpPr>
          <p:cNvPr id="95280" name="Rectangle 48"/>
          <p:cNvSpPr>
            <a:spLocks noChangeArrowheads="1"/>
          </p:cNvSpPr>
          <p:nvPr/>
        </p:nvSpPr>
        <p:spPr bwMode="auto">
          <a:xfrm>
            <a:off x="398684" y="3387064"/>
            <a:ext cx="4032448" cy="1446550"/>
          </a:xfrm>
          <a:prstGeom prst="rect">
            <a:avLst/>
          </a:prstGeom>
          <a:solidFill>
            <a:schemeClr val="bg1"/>
          </a:solidFill>
          <a:ln>
            <a:noFill/>
          </a:ln>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en-US" sz="2200" dirty="0"/>
              <a:t>从</a:t>
            </a:r>
            <a:r>
              <a:rPr lang="en-US" altLang="zh-CN" sz="2200" dirty="0"/>
              <a:t>NFA</a:t>
            </a:r>
            <a:r>
              <a:rPr lang="zh-CN" altLang="en-US" sz="2200" dirty="0"/>
              <a:t>的矩阵表示中可以看出，表项是状态的集合，而在</a:t>
            </a:r>
            <a:r>
              <a:rPr lang="en-US" altLang="zh-CN" sz="2200" dirty="0"/>
              <a:t>DFA</a:t>
            </a:r>
            <a:r>
              <a:rPr lang="zh-CN" altLang="en-US" sz="2200" dirty="0"/>
              <a:t>的矩阵表示中，表项是一个状态</a:t>
            </a:r>
          </a:p>
        </p:txBody>
      </p:sp>
      <p:grpSp>
        <p:nvGrpSpPr>
          <p:cNvPr id="6" name="Group 25"/>
          <p:cNvGrpSpPr>
            <a:grpSpLocks/>
          </p:cNvGrpSpPr>
          <p:nvPr/>
        </p:nvGrpSpPr>
        <p:grpSpPr bwMode="auto">
          <a:xfrm>
            <a:off x="5612871" y="3220531"/>
            <a:ext cx="3426633" cy="1654969"/>
            <a:chOff x="2496" y="1008"/>
            <a:chExt cx="3168" cy="1584"/>
          </a:xfrm>
        </p:grpSpPr>
        <p:sp>
          <p:nvSpPr>
            <p:cNvPr id="7" name="Oval 7"/>
            <p:cNvSpPr>
              <a:spLocks noChangeArrowheads="1"/>
            </p:cNvSpPr>
            <p:nvPr/>
          </p:nvSpPr>
          <p:spPr bwMode="auto">
            <a:xfrm>
              <a:off x="5163" y="1388"/>
              <a:ext cx="501" cy="57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 name="Oval 8"/>
            <p:cNvSpPr>
              <a:spLocks noChangeArrowheads="1"/>
            </p:cNvSpPr>
            <p:nvPr/>
          </p:nvSpPr>
          <p:spPr bwMode="auto">
            <a:xfrm>
              <a:off x="2878" y="1261"/>
              <a:ext cx="390" cy="44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S</a:t>
              </a:r>
            </a:p>
          </p:txBody>
        </p:sp>
        <p:sp>
          <p:nvSpPr>
            <p:cNvPr id="9" name="Oval 9"/>
            <p:cNvSpPr>
              <a:spLocks noChangeArrowheads="1"/>
            </p:cNvSpPr>
            <p:nvPr/>
          </p:nvSpPr>
          <p:spPr bwMode="auto">
            <a:xfrm>
              <a:off x="3993" y="2148"/>
              <a:ext cx="390" cy="44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P</a:t>
              </a:r>
            </a:p>
          </p:txBody>
        </p:sp>
        <p:sp>
          <p:nvSpPr>
            <p:cNvPr id="10" name="Oval 10"/>
            <p:cNvSpPr>
              <a:spLocks noChangeArrowheads="1"/>
            </p:cNvSpPr>
            <p:nvPr/>
          </p:nvSpPr>
          <p:spPr bwMode="auto">
            <a:xfrm>
              <a:off x="5218" y="1452"/>
              <a:ext cx="390" cy="44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Z</a:t>
              </a:r>
            </a:p>
          </p:txBody>
        </p:sp>
        <p:cxnSp>
          <p:nvCxnSpPr>
            <p:cNvPr id="11" name="AutoShape 11"/>
            <p:cNvCxnSpPr>
              <a:cxnSpLocks noChangeShapeType="1"/>
              <a:stCxn id="8" idx="2"/>
              <a:endCxn id="8" idx="0"/>
            </p:cNvCxnSpPr>
            <p:nvPr/>
          </p:nvCxnSpPr>
          <p:spPr bwMode="auto">
            <a:xfrm rot="10800000" flipH="1">
              <a:off x="2878" y="1261"/>
              <a:ext cx="195" cy="222"/>
            </a:xfrm>
            <a:prstGeom prst="curvedConnector4">
              <a:avLst>
                <a:gd name="adj1" fmla="val -85713"/>
                <a:gd name="adj2" fmla="val 185713"/>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 name="AutoShape 12"/>
            <p:cNvCxnSpPr>
              <a:cxnSpLocks noChangeShapeType="1"/>
              <a:stCxn id="8" idx="3"/>
              <a:endCxn id="9" idx="2"/>
            </p:cNvCxnSpPr>
            <p:nvPr/>
          </p:nvCxnSpPr>
          <p:spPr bwMode="auto">
            <a:xfrm rot="16200000" flipH="1">
              <a:off x="3099" y="1476"/>
              <a:ext cx="730" cy="1058"/>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 name="Text Box 13"/>
            <p:cNvSpPr txBox="1">
              <a:spLocks noChangeArrowheads="1"/>
            </p:cNvSpPr>
            <p:nvPr/>
          </p:nvSpPr>
          <p:spPr bwMode="auto">
            <a:xfrm>
              <a:off x="3101" y="2085"/>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0</a:t>
              </a:r>
            </a:p>
          </p:txBody>
        </p:sp>
        <p:cxnSp>
          <p:nvCxnSpPr>
            <p:cNvPr id="14" name="AutoShape 14"/>
            <p:cNvCxnSpPr>
              <a:cxnSpLocks noChangeShapeType="1"/>
              <a:stCxn id="7" idx="2"/>
              <a:endCxn id="9" idx="7"/>
            </p:cNvCxnSpPr>
            <p:nvPr/>
          </p:nvCxnSpPr>
          <p:spPr bwMode="auto">
            <a:xfrm rot="10800000" flipV="1">
              <a:off x="4326" y="1673"/>
              <a:ext cx="837" cy="54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9" idx="6"/>
              <a:endCxn id="7" idx="4"/>
            </p:cNvCxnSpPr>
            <p:nvPr/>
          </p:nvCxnSpPr>
          <p:spPr bwMode="auto">
            <a:xfrm flipV="1">
              <a:off x="4383" y="1958"/>
              <a:ext cx="1030" cy="41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 name="Text Box 16"/>
            <p:cNvSpPr txBox="1">
              <a:spLocks noChangeArrowheads="1"/>
            </p:cNvSpPr>
            <p:nvPr/>
          </p:nvSpPr>
          <p:spPr bwMode="auto">
            <a:xfrm>
              <a:off x="4215" y="1515"/>
              <a:ext cx="359"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0,1</a:t>
              </a:r>
            </a:p>
          </p:txBody>
        </p:sp>
        <p:sp>
          <p:nvSpPr>
            <p:cNvPr id="17" name="Text Box 17"/>
            <p:cNvSpPr txBox="1">
              <a:spLocks noChangeArrowheads="1"/>
            </p:cNvSpPr>
            <p:nvPr/>
          </p:nvSpPr>
          <p:spPr bwMode="auto">
            <a:xfrm>
              <a:off x="2544" y="1261"/>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1</a:t>
              </a:r>
            </a:p>
          </p:txBody>
        </p:sp>
        <p:sp>
          <p:nvSpPr>
            <p:cNvPr id="18" name="Text Box 18"/>
            <p:cNvSpPr txBox="1">
              <a:spLocks noChangeArrowheads="1"/>
            </p:cNvSpPr>
            <p:nvPr/>
          </p:nvSpPr>
          <p:spPr bwMode="auto">
            <a:xfrm>
              <a:off x="4828" y="214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1</a:t>
              </a:r>
            </a:p>
          </p:txBody>
        </p:sp>
        <p:cxnSp>
          <p:nvCxnSpPr>
            <p:cNvPr id="19" name="AutoShape 19"/>
            <p:cNvCxnSpPr>
              <a:cxnSpLocks noChangeShapeType="1"/>
              <a:stCxn id="8" idx="7"/>
              <a:endCxn id="7" idx="0"/>
            </p:cNvCxnSpPr>
            <p:nvPr/>
          </p:nvCxnSpPr>
          <p:spPr bwMode="auto">
            <a:xfrm rot="16200000" flipH="1">
              <a:off x="4281" y="256"/>
              <a:ext cx="62" cy="2203"/>
            </a:xfrm>
            <a:prstGeom prst="curvedConnector3">
              <a:avLst>
                <a:gd name="adj1" fmla="val -41469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Text Box 20"/>
            <p:cNvSpPr txBox="1">
              <a:spLocks noChangeArrowheads="1"/>
            </p:cNvSpPr>
            <p:nvPr/>
          </p:nvSpPr>
          <p:spPr bwMode="auto">
            <a:xfrm>
              <a:off x="3825" y="100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1</a:t>
              </a:r>
            </a:p>
          </p:txBody>
        </p:sp>
        <p:sp>
          <p:nvSpPr>
            <p:cNvPr id="21" name="AutoShape 23"/>
            <p:cNvSpPr>
              <a:spLocks noChangeArrowheads="1"/>
            </p:cNvSpPr>
            <p:nvPr/>
          </p:nvSpPr>
          <p:spPr bwMode="auto">
            <a:xfrm>
              <a:off x="2496" y="1536"/>
              <a:ext cx="432" cy="96"/>
            </a:xfrm>
            <a:prstGeom prst="rightArrow">
              <a:avLst>
                <a:gd name="adj1" fmla="val 50000"/>
                <a:gd name="adj2" fmla="val 112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22" name="AutoShape 24"/>
            <p:cNvSpPr>
              <a:spLocks noChangeArrowheads="1"/>
            </p:cNvSpPr>
            <p:nvPr/>
          </p:nvSpPr>
          <p:spPr bwMode="auto">
            <a:xfrm>
              <a:off x="3600" y="2496"/>
              <a:ext cx="432" cy="96"/>
            </a:xfrm>
            <a:prstGeom prst="rightArrow">
              <a:avLst>
                <a:gd name="adj1" fmla="val 50000"/>
                <a:gd name="adj2" fmla="val 112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23" name="Group 3"/>
          <p:cNvGrpSpPr>
            <a:grpSpLocks/>
          </p:cNvGrpSpPr>
          <p:nvPr/>
        </p:nvGrpSpPr>
        <p:grpSpPr bwMode="auto">
          <a:xfrm>
            <a:off x="2627784" y="1253249"/>
            <a:ext cx="3647614" cy="1710591"/>
            <a:chOff x="1200" y="1152"/>
            <a:chExt cx="3250" cy="1440"/>
          </a:xfrm>
        </p:grpSpPr>
        <p:sp>
          <p:nvSpPr>
            <p:cNvPr id="24" name="Oval 4"/>
            <p:cNvSpPr>
              <a:spLocks noChangeArrowheads="1"/>
            </p:cNvSpPr>
            <p:nvPr/>
          </p:nvSpPr>
          <p:spPr bwMode="auto">
            <a:xfrm>
              <a:off x="3729" y="22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25" name="Oval 5"/>
            <p:cNvSpPr>
              <a:spLocks noChangeArrowheads="1"/>
            </p:cNvSpPr>
            <p:nvPr/>
          </p:nvSpPr>
          <p:spPr bwMode="auto">
            <a:xfrm>
              <a:off x="3777" y="2256"/>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4</a:t>
              </a:r>
            </a:p>
          </p:txBody>
        </p:sp>
        <p:sp>
          <p:nvSpPr>
            <p:cNvPr id="26" name="Oval 6"/>
            <p:cNvSpPr>
              <a:spLocks noChangeArrowheads="1"/>
            </p:cNvSpPr>
            <p:nvPr/>
          </p:nvSpPr>
          <p:spPr bwMode="auto">
            <a:xfrm>
              <a:off x="1536" y="182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1</a:t>
              </a:r>
            </a:p>
          </p:txBody>
        </p:sp>
        <p:sp>
          <p:nvSpPr>
            <p:cNvPr id="27" name="Oval 7"/>
            <p:cNvSpPr>
              <a:spLocks noChangeArrowheads="1"/>
            </p:cNvSpPr>
            <p:nvPr/>
          </p:nvSpPr>
          <p:spPr bwMode="auto">
            <a:xfrm>
              <a:off x="2577" y="22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3</a:t>
              </a:r>
            </a:p>
          </p:txBody>
        </p:sp>
        <p:sp>
          <p:nvSpPr>
            <p:cNvPr id="28" name="Line 8"/>
            <p:cNvSpPr>
              <a:spLocks noChangeShapeType="1"/>
            </p:cNvSpPr>
            <p:nvPr/>
          </p:nvSpPr>
          <p:spPr bwMode="auto">
            <a:xfrm>
              <a:off x="1920" y="2112"/>
              <a:ext cx="657" cy="288"/>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9"/>
            <p:cNvSpPr txBox="1">
              <a:spLocks noChangeArrowheads="1"/>
            </p:cNvSpPr>
            <p:nvPr/>
          </p:nvSpPr>
          <p:spPr bwMode="auto">
            <a:xfrm>
              <a:off x="3168" y="2092"/>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b</a:t>
              </a:r>
            </a:p>
          </p:txBody>
        </p:sp>
        <p:sp>
          <p:nvSpPr>
            <p:cNvPr id="30" name="Oval 10"/>
            <p:cNvSpPr>
              <a:spLocks noChangeArrowheads="1"/>
            </p:cNvSpPr>
            <p:nvPr/>
          </p:nvSpPr>
          <p:spPr bwMode="auto">
            <a:xfrm>
              <a:off x="2544"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latin typeface="Times New Roman" pitchFamily="18" charset="0"/>
                </a:rPr>
                <a:t>2</a:t>
              </a:r>
            </a:p>
          </p:txBody>
        </p:sp>
        <p:sp>
          <p:nvSpPr>
            <p:cNvPr id="31" name="Line 11"/>
            <p:cNvSpPr>
              <a:spLocks noChangeShapeType="1"/>
            </p:cNvSpPr>
            <p:nvPr/>
          </p:nvSpPr>
          <p:spPr bwMode="auto">
            <a:xfrm flipV="1">
              <a:off x="1920" y="1584"/>
              <a:ext cx="624" cy="336"/>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12"/>
            <p:cNvSpPr txBox="1">
              <a:spLocks noChangeArrowheads="1"/>
            </p:cNvSpPr>
            <p:nvPr/>
          </p:nvSpPr>
          <p:spPr bwMode="auto">
            <a:xfrm>
              <a:off x="2112" y="1366"/>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t>
              </a:r>
            </a:p>
          </p:txBody>
        </p:sp>
        <p:sp>
          <p:nvSpPr>
            <p:cNvPr id="33" name="Text Box 13"/>
            <p:cNvSpPr txBox="1">
              <a:spLocks noChangeArrowheads="1"/>
            </p:cNvSpPr>
            <p:nvPr/>
          </p:nvSpPr>
          <p:spPr bwMode="auto">
            <a:xfrm>
              <a:off x="3168" y="1305"/>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a:t>
              </a:r>
            </a:p>
          </p:txBody>
        </p:sp>
        <p:sp>
          <p:nvSpPr>
            <p:cNvPr id="34" name="Line 14"/>
            <p:cNvSpPr>
              <a:spLocks noChangeShapeType="1"/>
            </p:cNvSpPr>
            <p:nvPr/>
          </p:nvSpPr>
          <p:spPr bwMode="auto">
            <a:xfrm>
              <a:off x="2961" y="2400"/>
              <a:ext cx="768"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15"/>
            <p:cNvSpPr>
              <a:spLocks noChangeShapeType="1"/>
            </p:cNvSpPr>
            <p:nvPr/>
          </p:nvSpPr>
          <p:spPr bwMode="auto">
            <a:xfrm flipV="1">
              <a:off x="2928" y="1632"/>
              <a:ext cx="816"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6" name="Text Box 16"/>
            <p:cNvSpPr txBox="1">
              <a:spLocks noChangeArrowheads="1"/>
            </p:cNvSpPr>
            <p:nvPr/>
          </p:nvSpPr>
          <p:spPr bwMode="auto">
            <a:xfrm>
              <a:off x="2160" y="1910"/>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t>
              </a:r>
            </a:p>
          </p:txBody>
        </p:sp>
        <p:sp>
          <p:nvSpPr>
            <p:cNvPr id="37" name="Text Box 17"/>
            <p:cNvSpPr txBox="1">
              <a:spLocks noChangeArrowheads="1"/>
            </p:cNvSpPr>
            <p:nvPr/>
          </p:nvSpPr>
          <p:spPr bwMode="auto">
            <a:xfrm>
              <a:off x="4237" y="1152"/>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a:t>
              </a:r>
            </a:p>
          </p:txBody>
        </p:sp>
        <p:sp>
          <p:nvSpPr>
            <p:cNvPr id="38" name="Text Box 18"/>
            <p:cNvSpPr txBox="1">
              <a:spLocks noChangeArrowheads="1"/>
            </p:cNvSpPr>
            <p:nvPr/>
          </p:nvSpPr>
          <p:spPr bwMode="auto">
            <a:xfrm>
              <a:off x="4224" y="2016"/>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b</a:t>
              </a:r>
            </a:p>
          </p:txBody>
        </p:sp>
        <p:sp>
          <p:nvSpPr>
            <p:cNvPr id="39" name="Oval 19"/>
            <p:cNvSpPr>
              <a:spLocks noChangeArrowheads="1"/>
            </p:cNvSpPr>
            <p:nvPr/>
          </p:nvSpPr>
          <p:spPr bwMode="auto">
            <a:xfrm>
              <a:off x="3744"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40" name="Oval 20"/>
            <p:cNvSpPr>
              <a:spLocks noChangeArrowheads="1"/>
            </p:cNvSpPr>
            <p:nvPr/>
          </p:nvSpPr>
          <p:spPr bwMode="auto">
            <a:xfrm>
              <a:off x="3792"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4</a:t>
              </a:r>
            </a:p>
          </p:txBody>
        </p:sp>
        <p:sp>
          <p:nvSpPr>
            <p:cNvPr id="41" name="AutoShape 21"/>
            <p:cNvSpPr>
              <a:spLocks noChangeArrowheads="1"/>
            </p:cNvSpPr>
            <p:nvPr/>
          </p:nvSpPr>
          <p:spPr bwMode="auto">
            <a:xfrm>
              <a:off x="1200" y="2016"/>
              <a:ext cx="336" cy="96"/>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42" name="AutoShape 22"/>
            <p:cNvCxnSpPr>
              <a:cxnSpLocks noChangeShapeType="1"/>
              <a:stCxn id="39" idx="0"/>
              <a:endCxn id="39" idx="6"/>
            </p:cNvCxnSpPr>
            <p:nvPr/>
          </p:nvCxnSpPr>
          <p:spPr bwMode="auto">
            <a:xfrm rot="5400000" flipV="1">
              <a:off x="3936" y="1440"/>
              <a:ext cx="192" cy="192"/>
            </a:xfrm>
            <a:prstGeom prst="curvedConnector4">
              <a:avLst>
                <a:gd name="adj1" fmla="val -75000"/>
                <a:gd name="adj2" fmla="val 175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 name="AutoShape 23"/>
            <p:cNvCxnSpPr>
              <a:cxnSpLocks noChangeShapeType="1"/>
              <a:stCxn id="24" idx="0"/>
              <a:endCxn id="24" idx="6"/>
            </p:cNvCxnSpPr>
            <p:nvPr/>
          </p:nvCxnSpPr>
          <p:spPr bwMode="auto">
            <a:xfrm rot="5400000" flipV="1">
              <a:off x="3921" y="2208"/>
              <a:ext cx="192" cy="192"/>
            </a:xfrm>
            <a:prstGeom prst="curvedConnector4">
              <a:avLst>
                <a:gd name="adj1" fmla="val -75000"/>
                <a:gd name="adj2" fmla="val 175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1020221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95281"/>
                                        </p:tgtEl>
                                        <p:attrNameLst>
                                          <p:attrName>style.visibility</p:attrName>
                                        </p:attrNameLst>
                                      </p:cBhvr>
                                      <p:to>
                                        <p:strVal val="visible"/>
                                      </p:to>
                                    </p:set>
                                    <p:animEffect transition="in" filter="slide(fromRight)">
                                      <p:cBhvr>
                                        <p:cTn id="7" dur="500"/>
                                        <p:tgtEl>
                                          <p:spTgt spid="952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5280"/>
                                        </p:tgtEl>
                                        <p:attrNameLst>
                                          <p:attrName>style.visibility</p:attrName>
                                        </p:attrNameLst>
                                      </p:cBhvr>
                                      <p:to>
                                        <p:strVal val="visible"/>
                                      </p:to>
                                    </p:set>
                                    <p:animEffect transition="in" filter="checkerboard(across)">
                                      <p:cBhvr>
                                        <p:cTn id="12" dur="500"/>
                                        <p:tgtEl>
                                          <p:spTgt spid="9528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9528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80" grpId="0" animBg="1" autoUpdateAnimBg="0"/>
      <p:bldP spid="95280" grpId="1"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06400" y="0"/>
            <a:ext cx="8229600" cy="616744"/>
          </a:xfrm>
        </p:spPr>
        <p:txBody>
          <a:bodyPr>
            <a:normAutofit fontScale="90000"/>
          </a:bodyPr>
          <a:lstStyle/>
          <a:p>
            <a:pPr eaLnBrk="1" hangingPunct="1"/>
            <a:r>
              <a:rPr lang="zh-CN" altLang="en-US">
                <a:solidFill>
                  <a:schemeClr val="accent2"/>
                </a:solidFill>
              </a:rPr>
              <a:t>状态图表示</a:t>
            </a:r>
          </a:p>
        </p:txBody>
      </p:sp>
      <p:sp>
        <p:nvSpPr>
          <p:cNvPr id="96261" name="Text Box 5"/>
          <p:cNvSpPr>
            <a:spLocks noGrp="1" noChangeArrowheads="1"/>
          </p:cNvSpPr>
          <p:nvPr>
            <p:ph type="body" idx="1"/>
          </p:nvPr>
        </p:nvSpPr>
        <p:spPr>
          <a:xfrm>
            <a:off x="576263" y="3271838"/>
            <a:ext cx="8229600" cy="1771650"/>
          </a:xfrm>
          <a:solidFill>
            <a:schemeClr val="bg1"/>
          </a:solidFill>
        </p:spPr>
        <p:txBody>
          <a:bodyPr>
            <a:normAutofit fontScale="92500"/>
          </a:bodyPr>
          <a:lstStyle/>
          <a:p>
            <a:pPr eaLnBrk="1" hangingPunct="1">
              <a:spcBef>
                <a:spcPts val="0"/>
              </a:spcBef>
              <a:buFontTx/>
              <a:buNone/>
            </a:pPr>
            <a:r>
              <a:rPr lang="zh-CN" altLang="en-US" sz="2400" dirty="0"/>
              <a:t>一个含有</a:t>
            </a:r>
            <a:r>
              <a:rPr lang="en-US" altLang="zh-CN" sz="2400" dirty="0"/>
              <a:t>m</a:t>
            </a:r>
            <a:r>
              <a:rPr lang="zh-CN" altLang="en-US" sz="2400" dirty="0"/>
              <a:t>个状态，</a:t>
            </a:r>
            <a:r>
              <a:rPr lang="en-US" altLang="zh-CN" sz="2400" dirty="0"/>
              <a:t>n</a:t>
            </a:r>
            <a:r>
              <a:rPr lang="zh-CN" altLang="en-US" sz="2400" dirty="0"/>
              <a:t>个输入字符的</a:t>
            </a:r>
            <a:r>
              <a:rPr lang="en-US" altLang="zh-CN" sz="2400" dirty="0"/>
              <a:t>NFA</a:t>
            </a:r>
            <a:r>
              <a:rPr lang="zh-CN" altLang="en-US" sz="2400" dirty="0"/>
              <a:t>的状态转换图：有</a:t>
            </a:r>
            <a:r>
              <a:rPr lang="en-US" altLang="zh-CN" sz="2400" dirty="0"/>
              <a:t>m</a:t>
            </a:r>
            <a:r>
              <a:rPr lang="zh-CN" altLang="en-US" sz="2400" dirty="0"/>
              <a:t>个结点，每个结点可射出</a:t>
            </a:r>
            <a:r>
              <a:rPr lang="zh-CN" altLang="en-US" sz="2400" b="1" dirty="0">
                <a:solidFill>
                  <a:srgbClr val="0000CC"/>
                </a:solidFill>
              </a:rPr>
              <a:t>若干条</a:t>
            </a:r>
            <a:r>
              <a:rPr lang="zh-CN" altLang="en-US" sz="2400" dirty="0"/>
              <a:t>弧与别的结点相连接，每条弧用</a:t>
            </a:r>
            <a:r>
              <a:rPr lang="zh-CN" altLang="en-US" sz="2400" dirty="0">
                <a:sym typeface="Symbol" pitchFamily="18" charset="2"/>
              </a:rPr>
              <a:t>* 上的一个字来表示</a:t>
            </a:r>
            <a:r>
              <a:rPr lang="en-US" altLang="zh-CN" sz="2400" dirty="0">
                <a:sym typeface="Symbol" pitchFamily="18" charset="2"/>
              </a:rPr>
              <a:t>(</a:t>
            </a:r>
            <a:r>
              <a:rPr lang="zh-CN" altLang="en-US" sz="2400" dirty="0">
                <a:sym typeface="Symbol" pitchFamily="18" charset="2"/>
              </a:rPr>
              <a:t>这些字可以相同，也可以是</a:t>
            </a:r>
            <a:r>
              <a:rPr lang="en-US" altLang="zh-CN" sz="2400" dirty="0">
                <a:solidFill>
                  <a:srgbClr val="0000CC"/>
                </a:solidFill>
                <a:latin typeface="宋体" pitchFamily="2" charset="-122"/>
                <a:sym typeface="Symbol" pitchFamily="18" charset="2"/>
              </a:rPr>
              <a:t>ε</a:t>
            </a:r>
            <a:r>
              <a:rPr lang="en-US" altLang="zh-CN" sz="2400" dirty="0">
                <a:sym typeface="Symbol" pitchFamily="18" charset="2"/>
              </a:rPr>
              <a:t>)</a:t>
            </a:r>
            <a:r>
              <a:rPr lang="zh-CN" altLang="en-US" sz="2400" dirty="0">
                <a:sym typeface="Symbol" pitchFamily="18" charset="2"/>
              </a:rPr>
              <a:t>。</a:t>
            </a:r>
          </a:p>
          <a:p>
            <a:pPr eaLnBrk="1" hangingPunct="1">
              <a:spcBef>
                <a:spcPts val="0"/>
              </a:spcBef>
              <a:buFontTx/>
              <a:buNone/>
            </a:pPr>
            <a:r>
              <a:rPr lang="zh-CN" altLang="en-US" sz="2400" dirty="0">
                <a:sym typeface="Symbol" pitchFamily="18" charset="2"/>
              </a:rPr>
              <a:t>整个图</a:t>
            </a:r>
            <a:r>
              <a:rPr lang="zh-CN" altLang="en-US" sz="2400" b="1" dirty="0">
                <a:solidFill>
                  <a:srgbClr val="0000CC"/>
                </a:solidFill>
                <a:sym typeface="Symbol" pitchFamily="18" charset="2"/>
              </a:rPr>
              <a:t>至少有一个初始结点</a:t>
            </a:r>
            <a:r>
              <a:rPr lang="zh-CN" altLang="en-US" sz="2400" dirty="0">
                <a:sym typeface="Symbol" pitchFamily="18" charset="2"/>
              </a:rPr>
              <a:t>以及</a:t>
            </a:r>
            <a:r>
              <a:rPr lang="zh-CN" altLang="en-US" sz="2400" b="1" dirty="0">
                <a:solidFill>
                  <a:srgbClr val="0000CC"/>
                </a:solidFill>
                <a:sym typeface="Symbol" pitchFamily="18" charset="2"/>
              </a:rPr>
              <a:t>若干个</a:t>
            </a:r>
            <a:r>
              <a:rPr lang="en-US" altLang="zh-CN" sz="2400" b="1" dirty="0">
                <a:solidFill>
                  <a:srgbClr val="0000CC"/>
                </a:solidFill>
                <a:sym typeface="Symbol" pitchFamily="18" charset="2"/>
              </a:rPr>
              <a:t>(</a:t>
            </a:r>
            <a:r>
              <a:rPr lang="zh-CN" altLang="en-US" sz="2400" b="1" dirty="0">
                <a:solidFill>
                  <a:srgbClr val="0000CC"/>
                </a:solidFill>
                <a:sym typeface="Symbol" pitchFamily="18" charset="2"/>
              </a:rPr>
              <a:t>可以是</a:t>
            </a:r>
            <a:r>
              <a:rPr lang="en-US" altLang="zh-CN" sz="2400" b="1" dirty="0">
                <a:solidFill>
                  <a:srgbClr val="0000CC"/>
                </a:solidFill>
                <a:sym typeface="Symbol" pitchFamily="18" charset="2"/>
              </a:rPr>
              <a:t>0</a:t>
            </a:r>
            <a:r>
              <a:rPr lang="zh-CN" altLang="en-US" sz="2400" b="1" dirty="0">
                <a:solidFill>
                  <a:srgbClr val="0000CC"/>
                </a:solidFill>
                <a:sym typeface="Symbol" pitchFamily="18" charset="2"/>
              </a:rPr>
              <a:t>个</a:t>
            </a:r>
            <a:r>
              <a:rPr lang="en-US" altLang="zh-CN" sz="2400" b="1" dirty="0">
                <a:solidFill>
                  <a:srgbClr val="0000CC"/>
                </a:solidFill>
                <a:sym typeface="Symbol" pitchFamily="18" charset="2"/>
              </a:rPr>
              <a:t>)</a:t>
            </a:r>
            <a:r>
              <a:rPr lang="zh-CN" altLang="en-US" sz="2400" b="1" dirty="0">
                <a:solidFill>
                  <a:srgbClr val="0000CC"/>
                </a:solidFill>
                <a:sym typeface="Symbol" pitchFamily="18" charset="2"/>
              </a:rPr>
              <a:t>终态结点</a:t>
            </a:r>
            <a:r>
              <a:rPr lang="zh-CN" altLang="en-US" sz="2400" dirty="0">
                <a:sym typeface="Symbol" pitchFamily="18" charset="2"/>
              </a:rPr>
              <a:t>，某些结点既可以是初态结点，又可以是终态结点。</a:t>
            </a:r>
            <a:endParaRPr lang="zh-CN" altLang="en-US" sz="2400" dirty="0"/>
          </a:p>
        </p:txBody>
      </p:sp>
      <p:sp>
        <p:nvSpPr>
          <p:cNvPr id="57348" name="Rectangle 22"/>
          <p:cNvSpPr>
            <a:spLocks noChangeArrowheads="1"/>
          </p:cNvSpPr>
          <p:nvPr/>
        </p:nvSpPr>
        <p:spPr bwMode="auto">
          <a:xfrm>
            <a:off x="576263" y="1231107"/>
            <a:ext cx="2590800" cy="1902059"/>
          </a:xfrm>
          <a:prstGeom prst="rect">
            <a:avLst/>
          </a:prstGeom>
          <a:solidFill>
            <a:srgbClr val="CCCCFF"/>
          </a:solidFill>
          <a:ln w="9525">
            <a:solidFill>
              <a:srgbClr val="D2CDCC"/>
            </a:solidFill>
            <a:miter lim="800000"/>
            <a:headEnd/>
            <a:tailEnd/>
          </a:ln>
        </p:spPr>
        <p:txBody>
          <a:bodyPr>
            <a:spAutoFit/>
          </a:bodyPr>
          <a:lstStyle>
            <a:lvl1pPr marL="342900" indent="-342900">
              <a:spcBef>
                <a:spcPct val="20000"/>
              </a:spcBef>
              <a:buChar char="•"/>
              <a:defRPr sz="3200">
                <a:solidFill>
                  <a:schemeClr val="tx1"/>
                </a:solidFill>
                <a:latin typeface="Arial" charset="0"/>
                <a:ea typeface="宋体" pitchFamily="2" charset="-122"/>
              </a:defRPr>
            </a:lvl1pPr>
            <a:lvl2pPr>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lvl="1" eaLnBrk="1" hangingPunct="1">
              <a:lnSpc>
                <a:spcPct val="90000"/>
              </a:lnSpc>
              <a:spcBef>
                <a:spcPct val="10000"/>
              </a:spcBef>
              <a:buFontTx/>
              <a:buNone/>
            </a:pPr>
            <a:r>
              <a:rPr lang="en-US" altLang="zh-CN" sz="2400">
                <a:cs typeface="Times New Roman" pitchFamily="18" charset="0"/>
              </a:rPr>
              <a:t>δ(</a:t>
            </a:r>
            <a:r>
              <a:rPr lang="en-US" altLang="zh-CN" sz="2000">
                <a:sym typeface="Symbol" pitchFamily="18" charset="2"/>
              </a:rPr>
              <a:t>S</a:t>
            </a:r>
            <a:r>
              <a:rPr lang="zh-CN" altLang="en-US" sz="2000">
                <a:sym typeface="Symbol" pitchFamily="18" charset="2"/>
              </a:rPr>
              <a:t>，</a:t>
            </a:r>
            <a:r>
              <a:rPr lang="en-US" altLang="zh-CN" sz="2000">
                <a:sym typeface="Symbol" pitchFamily="18" charset="2"/>
              </a:rPr>
              <a:t>0)={P}</a:t>
            </a:r>
          </a:p>
          <a:p>
            <a:pPr lvl="1" eaLnBrk="1" hangingPunct="1">
              <a:lnSpc>
                <a:spcPct val="90000"/>
              </a:lnSpc>
              <a:spcBef>
                <a:spcPct val="10000"/>
              </a:spcBef>
              <a:buFontTx/>
              <a:buNone/>
            </a:pPr>
            <a:r>
              <a:rPr lang="en-US" altLang="zh-CN" sz="2400">
                <a:cs typeface="Times New Roman" pitchFamily="18" charset="0"/>
              </a:rPr>
              <a:t>δ</a:t>
            </a:r>
            <a:r>
              <a:rPr lang="en-US" altLang="zh-CN" sz="2000"/>
              <a:t>(S</a:t>
            </a:r>
            <a:r>
              <a:rPr lang="zh-CN" altLang="en-US" sz="2000"/>
              <a:t>，</a:t>
            </a:r>
            <a:r>
              <a:rPr lang="en-US" altLang="zh-CN" sz="2000"/>
              <a:t>1)={S</a:t>
            </a:r>
            <a:r>
              <a:rPr lang="zh-CN" altLang="en-US" sz="2000"/>
              <a:t>，</a:t>
            </a:r>
            <a:r>
              <a:rPr lang="en-US" altLang="zh-CN" sz="2000"/>
              <a:t>Z}</a:t>
            </a:r>
          </a:p>
          <a:p>
            <a:pPr lvl="1" eaLnBrk="1" hangingPunct="1">
              <a:lnSpc>
                <a:spcPct val="90000"/>
              </a:lnSpc>
              <a:spcBef>
                <a:spcPct val="10000"/>
              </a:spcBef>
              <a:buFontTx/>
              <a:buNone/>
            </a:pPr>
            <a:r>
              <a:rPr lang="en-US" altLang="zh-CN" sz="2400">
                <a:cs typeface="Times New Roman" pitchFamily="18" charset="0"/>
              </a:rPr>
              <a:t>δ</a:t>
            </a:r>
            <a:r>
              <a:rPr lang="en-US" altLang="zh-CN" sz="2000"/>
              <a:t>(Z</a:t>
            </a:r>
            <a:r>
              <a:rPr lang="zh-CN" altLang="en-US" sz="2000"/>
              <a:t>，</a:t>
            </a:r>
            <a:r>
              <a:rPr lang="en-US" altLang="zh-CN" sz="2000"/>
              <a:t>0)={P}</a:t>
            </a:r>
          </a:p>
          <a:p>
            <a:pPr lvl="1" eaLnBrk="1" hangingPunct="1">
              <a:lnSpc>
                <a:spcPct val="90000"/>
              </a:lnSpc>
              <a:spcBef>
                <a:spcPct val="10000"/>
              </a:spcBef>
              <a:buFontTx/>
              <a:buNone/>
            </a:pPr>
            <a:r>
              <a:rPr lang="en-US" altLang="zh-CN" sz="2400">
                <a:cs typeface="Times New Roman" pitchFamily="18" charset="0"/>
              </a:rPr>
              <a:t>δ</a:t>
            </a:r>
            <a:r>
              <a:rPr lang="en-US" altLang="zh-CN" sz="2000"/>
              <a:t>(Z</a:t>
            </a:r>
            <a:r>
              <a:rPr lang="zh-CN" altLang="en-US" sz="2000"/>
              <a:t>，</a:t>
            </a:r>
            <a:r>
              <a:rPr lang="en-US" altLang="zh-CN" sz="2000"/>
              <a:t>1)={P}</a:t>
            </a:r>
          </a:p>
          <a:p>
            <a:pPr lvl="1" eaLnBrk="1" hangingPunct="1">
              <a:lnSpc>
                <a:spcPct val="90000"/>
              </a:lnSpc>
              <a:spcBef>
                <a:spcPct val="10000"/>
              </a:spcBef>
              <a:buFontTx/>
              <a:buNone/>
            </a:pPr>
            <a:r>
              <a:rPr lang="en-US" altLang="zh-CN" sz="2400">
                <a:cs typeface="Times New Roman" pitchFamily="18" charset="0"/>
              </a:rPr>
              <a:t>δ</a:t>
            </a:r>
            <a:r>
              <a:rPr lang="en-US" altLang="zh-CN" sz="2000"/>
              <a:t>(P</a:t>
            </a:r>
            <a:r>
              <a:rPr lang="zh-CN" altLang="en-US" sz="2000"/>
              <a:t>，</a:t>
            </a:r>
            <a:r>
              <a:rPr lang="en-US" altLang="zh-CN" sz="2000"/>
              <a:t>1)={Z}</a:t>
            </a:r>
          </a:p>
        </p:txBody>
      </p:sp>
      <p:grpSp>
        <p:nvGrpSpPr>
          <p:cNvPr id="57349" name="Group 25"/>
          <p:cNvGrpSpPr>
            <a:grpSpLocks/>
          </p:cNvGrpSpPr>
          <p:nvPr/>
        </p:nvGrpSpPr>
        <p:grpSpPr bwMode="auto">
          <a:xfrm>
            <a:off x="3860800" y="895350"/>
            <a:ext cx="5029200" cy="1885950"/>
            <a:chOff x="2496" y="1008"/>
            <a:chExt cx="3168" cy="1584"/>
          </a:xfrm>
        </p:grpSpPr>
        <p:sp>
          <p:nvSpPr>
            <p:cNvPr id="57350" name="Oval 7"/>
            <p:cNvSpPr>
              <a:spLocks noChangeArrowheads="1"/>
            </p:cNvSpPr>
            <p:nvPr/>
          </p:nvSpPr>
          <p:spPr bwMode="auto">
            <a:xfrm>
              <a:off x="5163" y="1388"/>
              <a:ext cx="501" cy="57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57351" name="Oval 8"/>
            <p:cNvSpPr>
              <a:spLocks noChangeArrowheads="1"/>
            </p:cNvSpPr>
            <p:nvPr/>
          </p:nvSpPr>
          <p:spPr bwMode="auto">
            <a:xfrm>
              <a:off x="2878" y="1261"/>
              <a:ext cx="390" cy="44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S</a:t>
              </a:r>
            </a:p>
          </p:txBody>
        </p:sp>
        <p:sp>
          <p:nvSpPr>
            <p:cNvPr id="57352" name="Oval 9"/>
            <p:cNvSpPr>
              <a:spLocks noChangeArrowheads="1"/>
            </p:cNvSpPr>
            <p:nvPr/>
          </p:nvSpPr>
          <p:spPr bwMode="auto">
            <a:xfrm>
              <a:off x="3993" y="2148"/>
              <a:ext cx="390" cy="44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P</a:t>
              </a:r>
            </a:p>
          </p:txBody>
        </p:sp>
        <p:sp>
          <p:nvSpPr>
            <p:cNvPr id="57353" name="Oval 10"/>
            <p:cNvSpPr>
              <a:spLocks noChangeArrowheads="1"/>
            </p:cNvSpPr>
            <p:nvPr/>
          </p:nvSpPr>
          <p:spPr bwMode="auto">
            <a:xfrm>
              <a:off x="5218" y="1452"/>
              <a:ext cx="390" cy="44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Z</a:t>
              </a:r>
            </a:p>
          </p:txBody>
        </p:sp>
        <p:cxnSp>
          <p:nvCxnSpPr>
            <p:cNvPr id="57354" name="AutoShape 11"/>
            <p:cNvCxnSpPr>
              <a:cxnSpLocks noChangeShapeType="1"/>
              <a:stCxn id="57351" idx="2"/>
              <a:endCxn id="57351" idx="0"/>
            </p:cNvCxnSpPr>
            <p:nvPr/>
          </p:nvCxnSpPr>
          <p:spPr bwMode="auto">
            <a:xfrm rot="10800000" flipH="1">
              <a:off x="2878" y="1261"/>
              <a:ext cx="195" cy="222"/>
            </a:xfrm>
            <a:prstGeom prst="curvedConnector4">
              <a:avLst>
                <a:gd name="adj1" fmla="val -85713"/>
                <a:gd name="adj2" fmla="val 185713"/>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355" name="AutoShape 12"/>
            <p:cNvCxnSpPr>
              <a:cxnSpLocks noChangeShapeType="1"/>
              <a:stCxn id="57351" idx="3"/>
              <a:endCxn id="57352" idx="2"/>
            </p:cNvCxnSpPr>
            <p:nvPr/>
          </p:nvCxnSpPr>
          <p:spPr bwMode="auto">
            <a:xfrm rot="16200000" flipH="1">
              <a:off x="3099" y="1476"/>
              <a:ext cx="730" cy="1058"/>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7356" name="Text Box 13"/>
            <p:cNvSpPr txBox="1">
              <a:spLocks noChangeArrowheads="1"/>
            </p:cNvSpPr>
            <p:nvPr/>
          </p:nvSpPr>
          <p:spPr bwMode="auto">
            <a:xfrm>
              <a:off x="3101" y="2085"/>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0</a:t>
              </a:r>
            </a:p>
          </p:txBody>
        </p:sp>
        <p:cxnSp>
          <p:nvCxnSpPr>
            <p:cNvPr id="57357" name="AutoShape 14"/>
            <p:cNvCxnSpPr>
              <a:cxnSpLocks noChangeShapeType="1"/>
              <a:stCxn id="57353" idx="2"/>
              <a:endCxn id="57352" idx="7"/>
            </p:cNvCxnSpPr>
            <p:nvPr/>
          </p:nvCxnSpPr>
          <p:spPr bwMode="auto">
            <a:xfrm rot="10800000" flipV="1">
              <a:off x="4326" y="1673"/>
              <a:ext cx="892" cy="54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358" name="AutoShape 15"/>
            <p:cNvCxnSpPr>
              <a:cxnSpLocks noChangeShapeType="1"/>
              <a:stCxn id="57352" idx="6"/>
              <a:endCxn id="57353" idx="3"/>
            </p:cNvCxnSpPr>
            <p:nvPr/>
          </p:nvCxnSpPr>
          <p:spPr bwMode="auto">
            <a:xfrm flipV="1">
              <a:off x="4383" y="1830"/>
              <a:ext cx="892" cy="54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7359" name="Text Box 16"/>
            <p:cNvSpPr txBox="1">
              <a:spLocks noChangeArrowheads="1"/>
            </p:cNvSpPr>
            <p:nvPr/>
          </p:nvSpPr>
          <p:spPr bwMode="auto">
            <a:xfrm>
              <a:off x="4215" y="1515"/>
              <a:ext cx="359"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0,1</a:t>
              </a:r>
            </a:p>
          </p:txBody>
        </p:sp>
        <p:sp>
          <p:nvSpPr>
            <p:cNvPr id="57360" name="Text Box 17"/>
            <p:cNvSpPr txBox="1">
              <a:spLocks noChangeArrowheads="1"/>
            </p:cNvSpPr>
            <p:nvPr/>
          </p:nvSpPr>
          <p:spPr bwMode="auto">
            <a:xfrm>
              <a:off x="2544" y="1261"/>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1</a:t>
              </a:r>
            </a:p>
          </p:txBody>
        </p:sp>
        <p:sp>
          <p:nvSpPr>
            <p:cNvPr id="57361" name="Text Box 18"/>
            <p:cNvSpPr txBox="1">
              <a:spLocks noChangeArrowheads="1"/>
            </p:cNvSpPr>
            <p:nvPr/>
          </p:nvSpPr>
          <p:spPr bwMode="auto">
            <a:xfrm>
              <a:off x="4828" y="214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1</a:t>
              </a:r>
            </a:p>
          </p:txBody>
        </p:sp>
        <p:cxnSp>
          <p:nvCxnSpPr>
            <p:cNvPr id="57362" name="AutoShape 19"/>
            <p:cNvCxnSpPr>
              <a:cxnSpLocks noChangeShapeType="1"/>
              <a:stCxn id="57351" idx="7"/>
              <a:endCxn id="57353" idx="1"/>
            </p:cNvCxnSpPr>
            <p:nvPr/>
          </p:nvCxnSpPr>
          <p:spPr bwMode="auto">
            <a:xfrm rot="5400000" flipV="1">
              <a:off x="4148" y="389"/>
              <a:ext cx="190" cy="2064"/>
            </a:xfrm>
            <a:prstGeom prst="curvedConnector3">
              <a:avLst>
                <a:gd name="adj1" fmla="val -134028"/>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7363" name="Text Box 20"/>
            <p:cNvSpPr txBox="1">
              <a:spLocks noChangeArrowheads="1"/>
            </p:cNvSpPr>
            <p:nvPr/>
          </p:nvSpPr>
          <p:spPr bwMode="auto">
            <a:xfrm>
              <a:off x="3825" y="100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400">
                  <a:latin typeface="Times New Roman" pitchFamily="18" charset="0"/>
                </a:rPr>
                <a:t>1</a:t>
              </a:r>
            </a:p>
          </p:txBody>
        </p:sp>
        <p:sp>
          <p:nvSpPr>
            <p:cNvPr id="57364" name="AutoShape 23"/>
            <p:cNvSpPr>
              <a:spLocks noChangeArrowheads="1"/>
            </p:cNvSpPr>
            <p:nvPr/>
          </p:nvSpPr>
          <p:spPr bwMode="auto">
            <a:xfrm>
              <a:off x="2496" y="1536"/>
              <a:ext cx="432" cy="96"/>
            </a:xfrm>
            <a:prstGeom prst="rightArrow">
              <a:avLst>
                <a:gd name="adj1" fmla="val 50000"/>
                <a:gd name="adj2" fmla="val 112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57365" name="AutoShape 24"/>
            <p:cNvSpPr>
              <a:spLocks noChangeArrowheads="1"/>
            </p:cNvSpPr>
            <p:nvPr/>
          </p:nvSpPr>
          <p:spPr bwMode="auto">
            <a:xfrm>
              <a:off x="3600" y="2496"/>
              <a:ext cx="432" cy="96"/>
            </a:xfrm>
            <a:prstGeom prst="rightArrow">
              <a:avLst>
                <a:gd name="adj1" fmla="val 50000"/>
                <a:gd name="adj2" fmla="val 112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Tree>
    <p:extLst>
      <p:ext uri="{BB962C8B-B14F-4D97-AF65-F5344CB8AC3E}">
        <p14:creationId xmlns:p14="http://schemas.microsoft.com/office/powerpoint/2010/main" val="3025526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26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62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1"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10997"/>
            <a:ext cx="8367816" cy="3394472"/>
          </a:xfrm>
        </p:spPr>
        <p:txBody>
          <a:bodyPr>
            <a:normAutofit/>
          </a:bodyPr>
          <a:lstStyle/>
          <a:p>
            <a:pPr marL="109728" indent="0">
              <a:buNone/>
            </a:pPr>
            <a:r>
              <a:rPr lang="zh-CN" altLang="zh-CN" sz="2000" dirty="0"/>
              <a:t>NFA的特点是它的不确定性，即在当前状态下读入同一个符号，可能有多个后继状态</a:t>
            </a:r>
            <a:r>
              <a:rPr lang="zh-CN" altLang="en-US" sz="2000" dirty="0"/>
              <a:t>，这种</a:t>
            </a:r>
            <a:r>
              <a:rPr lang="zh-CN" altLang="zh-CN" sz="2000" dirty="0"/>
              <a:t>不确定性</a:t>
            </a:r>
            <a:r>
              <a:rPr lang="zh-CN" altLang="en-US" sz="2000" dirty="0"/>
              <a:t>表现在：</a:t>
            </a:r>
            <a:endParaRPr lang="en-US" altLang="zh-CN" sz="2000" dirty="0"/>
          </a:p>
          <a:p>
            <a:r>
              <a:rPr lang="zh-CN" altLang="zh-CN" sz="2000" dirty="0"/>
              <a:t>在NFA的定义中，就是δ函数是一对多的</a:t>
            </a:r>
            <a:endParaRPr lang="en-US" altLang="zh-CN" sz="2000" dirty="0"/>
          </a:p>
          <a:p>
            <a:r>
              <a:rPr lang="zh-CN" altLang="zh-CN" sz="2000" dirty="0"/>
              <a:t>在转换表中，就是M［i, a］的值不是单一状态，而是一个状态集合。</a:t>
            </a:r>
            <a:endParaRPr lang="en-US" altLang="zh-CN" sz="2000" dirty="0"/>
          </a:p>
          <a:p>
            <a:r>
              <a:rPr lang="zh-CN" altLang="zh-CN" sz="2000" dirty="0"/>
              <a:t>在状态转换图中，就是从一个状态出发可能有多于一条标记相同的弧转移到不同的后继状态；</a:t>
            </a:r>
            <a:endParaRPr lang="en-US" altLang="zh-CN" sz="2000" dirty="0"/>
          </a:p>
          <a:p>
            <a:r>
              <a:rPr lang="zh-CN" altLang="zh-CN" sz="2000" dirty="0"/>
              <a:t>从定义可以发现，</a:t>
            </a:r>
            <a:r>
              <a:rPr lang="en-US" altLang="zh-CN" sz="2000" dirty="0"/>
              <a:t>DFA</a:t>
            </a:r>
            <a:r>
              <a:rPr lang="zh-CN" altLang="zh-CN" sz="2000" dirty="0"/>
              <a:t>其实是</a:t>
            </a:r>
            <a:r>
              <a:rPr lang="en-US" altLang="zh-CN" sz="2000" dirty="0"/>
              <a:t>NFA</a:t>
            </a:r>
            <a:r>
              <a:rPr lang="zh-CN" altLang="zh-CN" sz="2000" dirty="0"/>
              <a:t>的特例。</a:t>
            </a:r>
          </a:p>
          <a:p>
            <a:endParaRPr lang="zh-CN" altLang="en-US" sz="2000" dirty="0"/>
          </a:p>
        </p:txBody>
      </p:sp>
      <p:sp>
        <p:nvSpPr>
          <p:cNvPr id="3" name="标题 2"/>
          <p:cNvSpPr>
            <a:spLocks noGrp="1"/>
          </p:cNvSpPr>
          <p:nvPr>
            <p:ph type="title"/>
          </p:nvPr>
        </p:nvSpPr>
        <p:spPr>
          <a:xfrm>
            <a:off x="467544" y="267494"/>
            <a:ext cx="7868104" cy="576064"/>
          </a:xfrm>
        </p:spPr>
        <p:txBody>
          <a:bodyPr>
            <a:normAutofit fontScale="90000"/>
          </a:bodyPr>
          <a:lstStyle/>
          <a:p>
            <a:r>
              <a:rPr lang="en-US" altLang="zh-CN" dirty="0"/>
              <a:t>NFA</a:t>
            </a:r>
            <a:r>
              <a:rPr lang="zh-CN" altLang="en-US" dirty="0"/>
              <a:t>的特点</a:t>
            </a:r>
          </a:p>
        </p:txBody>
      </p:sp>
      <p:grpSp>
        <p:nvGrpSpPr>
          <p:cNvPr id="4" name="Group 3"/>
          <p:cNvGrpSpPr>
            <a:grpSpLocks/>
          </p:cNvGrpSpPr>
          <p:nvPr/>
        </p:nvGrpSpPr>
        <p:grpSpPr bwMode="auto">
          <a:xfrm>
            <a:off x="4886812" y="3210256"/>
            <a:ext cx="3976507" cy="1714500"/>
            <a:chOff x="1200" y="1152"/>
            <a:chExt cx="3248" cy="1440"/>
          </a:xfrm>
        </p:grpSpPr>
        <p:sp>
          <p:nvSpPr>
            <p:cNvPr id="5" name="Oval 4"/>
            <p:cNvSpPr>
              <a:spLocks noChangeArrowheads="1"/>
            </p:cNvSpPr>
            <p:nvPr/>
          </p:nvSpPr>
          <p:spPr bwMode="auto">
            <a:xfrm>
              <a:off x="3729" y="22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 name="Oval 5"/>
            <p:cNvSpPr>
              <a:spLocks noChangeArrowheads="1"/>
            </p:cNvSpPr>
            <p:nvPr/>
          </p:nvSpPr>
          <p:spPr bwMode="auto">
            <a:xfrm>
              <a:off x="3777" y="2256"/>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4</a:t>
              </a:r>
            </a:p>
          </p:txBody>
        </p:sp>
        <p:sp>
          <p:nvSpPr>
            <p:cNvPr id="7" name="Oval 6"/>
            <p:cNvSpPr>
              <a:spLocks noChangeArrowheads="1"/>
            </p:cNvSpPr>
            <p:nvPr/>
          </p:nvSpPr>
          <p:spPr bwMode="auto">
            <a:xfrm>
              <a:off x="1536" y="182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1</a:t>
              </a:r>
            </a:p>
          </p:txBody>
        </p:sp>
        <p:sp>
          <p:nvSpPr>
            <p:cNvPr id="8" name="Oval 7"/>
            <p:cNvSpPr>
              <a:spLocks noChangeArrowheads="1"/>
            </p:cNvSpPr>
            <p:nvPr/>
          </p:nvSpPr>
          <p:spPr bwMode="auto">
            <a:xfrm>
              <a:off x="2577" y="22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3</a:t>
              </a:r>
            </a:p>
          </p:txBody>
        </p:sp>
        <p:sp>
          <p:nvSpPr>
            <p:cNvPr id="9" name="Line 8"/>
            <p:cNvSpPr>
              <a:spLocks noChangeShapeType="1"/>
            </p:cNvSpPr>
            <p:nvPr/>
          </p:nvSpPr>
          <p:spPr bwMode="auto">
            <a:xfrm>
              <a:off x="1920" y="2112"/>
              <a:ext cx="657" cy="288"/>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9"/>
            <p:cNvSpPr txBox="1">
              <a:spLocks noChangeArrowheads="1"/>
            </p:cNvSpPr>
            <p:nvPr/>
          </p:nvSpPr>
          <p:spPr bwMode="auto">
            <a:xfrm>
              <a:off x="3168" y="2160"/>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b</a:t>
              </a:r>
            </a:p>
          </p:txBody>
        </p:sp>
        <p:sp>
          <p:nvSpPr>
            <p:cNvPr id="11" name="Oval 10"/>
            <p:cNvSpPr>
              <a:spLocks noChangeArrowheads="1"/>
            </p:cNvSpPr>
            <p:nvPr/>
          </p:nvSpPr>
          <p:spPr bwMode="auto">
            <a:xfrm>
              <a:off x="2544"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2</a:t>
              </a:r>
            </a:p>
          </p:txBody>
        </p:sp>
        <p:sp>
          <p:nvSpPr>
            <p:cNvPr id="12" name="Line 11"/>
            <p:cNvSpPr>
              <a:spLocks noChangeShapeType="1"/>
            </p:cNvSpPr>
            <p:nvPr/>
          </p:nvSpPr>
          <p:spPr bwMode="auto">
            <a:xfrm flipV="1">
              <a:off x="1920" y="1584"/>
              <a:ext cx="624" cy="336"/>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2"/>
            <p:cNvSpPr txBox="1">
              <a:spLocks noChangeArrowheads="1"/>
            </p:cNvSpPr>
            <p:nvPr/>
          </p:nvSpPr>
          <p:spPr bwMode="auto">
            <a:xfrm>
              <a:off x="2112" y="1488"/>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sp>
          <p:nvSpPr>
            <p:cNvPr id="14" name="Text Box 13"/>
            <p:cNvSpPr txBox="1">
              <a:spLocks noChangeArrowheads="1"/>
            </p:cNvSpPr>
            <p:nvPr/>
          </p:nvSpPr>
          <p:spPr bwMode="auto">
            <a:xfrm>
              <a:off x="3168" y="1344"/>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a:t>
              </a:r>
            </a:p>
          </p:txBody>
        </p:sp>
        <p:sp>
          <p:nvSpPr>
            <p:cNvPr id="15" name="Line 14"/>
            <p:cNvSpPr>
              <a:spLocks noChangeShapeType="1"/>
            </p:cNvSpPr>
            <p:nvPr/>
          </p:nvSpPr>
          <p:spPr bwMode="auto">
            <a:xfrm>
              <a:off x="2961" y="2400"/>
              <a:ext cx="768"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5"/>
            <p:cNvSpPr>
              <a:spLocks noChangeShapeType="1"/>
            </p:cNvSpPr>
            <p:nvPr/>
          </p:nvSpPr>
          <p:spPr bwMode="auto">
            <a:xfrm flipV="1">
              <a:off x="2928" y="1632"/>
              <a:ext cx="816"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16"/>
            <p:cNvSpPr txBox="1">
              <a:spLocks noChangeArrowheads="1"/>
            </p:cNvSpPr>
            <p:nvPr/>
          </p:nvSpPr>
          <p:spPr bwMode="auto">
            <a:xfrm>
              <a:off x="2160" y="2016"/>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sp>
          <p:nvSpPr>
            <p:cNvPr id="18" name="Text Box 17"/>
            <p:cNvSpPr txBox="1">
              <a:spLocks noChangeArrowheads="1"/>
            </p:cNvSpPr>
            <p:nvPr/>
          </p:nvSpPr>
          <p:spPr bwMode="auto">
            <a:xfrm>
              <a:off x="4204" y="1152"/>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a:t>
              </a:r>
            </a:p>
          </p:txBody>
        </p:sp>
        <p:sp>
          <p:nvSpPr>
            <p:cNvPr id="19" name="Text Box 18"/>
            <p:cNvSpPr txBox="1">
              <a:spLocks noChangeArrowheads="1"/>
            </p:cNvSpPr>
            <p:nvPr/>
          </p:nvSpPr>
          <p:spPr bwMode="auto">
            <a:xfrm>
              <a:off x="4224" y="2016"/>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b</a:t>
              </a:r>
            </a:p>
          </p:txBody>
        </p:sp>
        <p:sp>
          <p:nvSpPr>
            <p:cNvPr id="20" name="Oval 19"/>
            <p:cNvSpPr>
              <a:spLocks noChangeArrowheads="1"/>
            </p:cNvSpPr>
            <p:nvPr/>
          </p:nvSpPr>
          <p:spPr bwMode="auto">
            <a:xfrm>
              <a:off x="3744"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21" name="Oval 20"/>
            <p:cNvSpPr>
              <a:spLocks noChangeArrowheads="1"/>
            </p:cNvSpPr>
            <p:nvPr/>
          </p:nvSpPr>
          <p:spPr bwMode="auto">
            <a:xfrm>
              <a:off x="3792"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4</a:t>
              </a:r>
            </a:p>
          </p:txBody>
        </p:sp>
        <p:sp>
          <p:nvSpPr>
            <p:cNvPr id="22" name="AutoShape 21"/>
            <p:cNvSpPr>
              <a:spLocks noChangeArrowheads="1"/>
            </p:cNvSpPr>
            <p:nvPr/>
          </p:nvSpPr>
          <p:spPr bwMode="auto">
            <a:xfrm>
              <a:off x="1200" y="2016"/>
              <a:ext cx="336" cy="96"/>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23" name="AutoShape 22"/>
            <p:cNvCxnSpPr>
              <a:cxnSpLocks noChangeShapeType="1"/>
              <a:stCxn id="20" idx="0"/>
              <a:endCxn id="20" idx="6"/>
            </p:cNvCxnSpPr>
            <p:nvPr/>
          </p:nvCxnSpPr>
          <p:spPr bwMode="auto">
            <a:xfrm rot="5400000" flipV="1">
              <a:off x="3936" y="1440"/>
              <a:ext cx="192" cy="192"/>
            </a:xfrm>
            <a:prstGeom prst="curvedConnector4">
              <a:avLst>
                <a:gd name="adj1" fmla="val -75000"/>
                <a:gd name="adj2" fmla="val 175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 name="AutoShape 23"/>
            <p:cNvCxnSpPr>
              <a:cxnSpLocks noChangeShapeType="1"/>
              <a:stCxn id="5" idx="0"/>
              <a:endCxn id="5" idx="6"/>
            </p:cNvCxnSpPr>
            <p:nvPr/>
          </p:nvCxnSpPr>
          <p:spPr bwMode="auto">
            <a:xfrm rot="5400000" flipV="1">
              <a:off x="3921" y="2208"/>
              <a:ext cx="192" cy="192"/>
            </a:xfrm>
            <a:prstGeom prst="curvedConnector4">
              <a:avLst>
                <a:gd name="adj1" fmla="val -75000"/>
                <a:gd name="adj2" fmla="val 175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48867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9910" y="123478"/>
            <a:ext cx="8229600" cy="720080"/>
          </a:xfrm>
        </p:spPr>
        <p:txBody>
          <a:bodyPr>
            <a:normAutofit/>
          </a:bodyPr>
          <a:lstStyle/>
          <a:p>
            <a:pPr algn="l" eaLnBrk="1" hangingPunct="1"/>
            <a:r>
              <a:rPr lang="en-US" altLang="zh-CN" sz="2800" dirty="0">
                <a:solidFill>
                  <a:srgbClr val="0000CC"/>
                </a:solidFill>
                <a:latin typeface="方正舒体" pitchFamily="2" charset="-122"/>
                <a:ea typeface="方正舒体" pitchFamily="2" charset="-122"/>
              </a:rPr>
              <a:t>∑*</a:t>
            </a:r>
            <a:r>
              <a:rPr lang="zh-CN" altLang="en-US" sz="2800" dirty="0">
                <a:solidFill>
                  <a:srgbClr val="0000CC"/>
                </a:solidFill>
                <a:latin typeface="方正舒体" pitchFamily="2" charset="-122"/>
                <a:ea typeface="方正舒体" pitchFamily="2" charset="-122"/>
              </a:rPr>
              <a:t>上的符号串</a:t>
            </a:r>
            <a:r>
              <a:rPr lang="en-US" altLang="zh-CN" sz="2800" dirty="0">
                <a:solidFill>
                  <a:srgbClr val="0000CC"/>
                </a:solidFill>
                <a:latin typeface="方正舒体" pitchFamily="2" charset="-122"/>
                <a:ea typeface="方正舒体" pitchFamily="2" charset="-122"/>
              </a:rPr>
              <a:t>t</a:t>
            </a:r>
            <a:r>
              <a:rPr lang="zh-CN" altLang="en-US" sz="2800" dirty="0">
                <a:solidFill>
                  <a:srgbClr val="0000CC"/>
                </a:solidFill>
                <a:latin typeface="方正舒体" pitchFamily="2" charset="-122"/>
                <a:ea typeface="方正舒体" pitchFamily="2" charset="-122"/>
              </a:rPr>
              <a:t>被</a:t>
            </a:r>
            <a:r>
              <a:rPr lang="en-US" altLang="zh-CN" sz="2800" dirty="0">
                <a:solidFill>
                  <a:srgbClr val="0000CC"/>
                </a:solidFill>
                <a:latin typeface="方正舒体" pitchFamily="2" charset="-122"/>
                <a:ea typeface="方正舒体" pitchFamily="2" charset="-122"/>
              </a:rPr>
              <a:t>NFA M</a:t>
            </a:r>
            <a:r>
              <a:rPr lang="zh-CN" altLang="en-US" sz="2800" dirty="0">
                <a:solidFill>
                  <a:srgbClr val="0000CC"/>
                </a:solidFill>
                <a:latin typeface="方正舒体" pitchFamily="2" charset="-122"/>
                <a:ea typeface="方正舒体" pitchFamily="2" charset="-122"/>
              </a:rPr>
              <a:t>接受（识别）</a:t>
            </a:r>
            <a:r>
              <a:rPr lang="en-US" altLang="zh-CN" sz="2800" dirty="0">
                <a:latin typeface="方正舒体" pitchFamily="2" charset="-122"/>
                <a:ea typeface="方正舒体" pitchFamily="2" charset="-122"/>
              </a:rPr>
              <a:t>:</a:t>
            </a:r>
            <a:endParaRPr lang="en-US" altLang="zh-CN" sz="2800" dirty="0"/>
          </a:p>
        </p:txBody>
      </p:sp>
      <p:sp>
        <p:nvSpPr>
          <p:cNvPr id="58371" name="Rectangle 3"/>
          <p:cNvSpPr>
            <a:spLocks noGrp="1" noChangeArrowheads="1"/>
          </p:cNvSpPr>
          <p:nvPr>
            <p:ph type="body" idx="1"/>
          </p:nvPr>
        </p:nvSpPr>
        <p:spPr>
          <a:xfrm>
            <a:off x="457200" y="1131590"/>
            <a:ext cx="8229600" cy="3240360"/>
          </a:xfrm>
        </p:spPr>
        <p:txBody>
          <a:bodyPr>
            <a:noAutofit/>
          </a:bodyPr>
          <a:lstStyle/>
          <a:p>
            <a:pPr eaLnBrk="1" hangingPunct="1">
              <a:spcBef>
                <a:spcPts val="0"/>
              </a:spcBef>
            </a:pPr>
            <a:r>
              <a:rPr lang="zh-CN" altLang="en-US" sz="2200" dirty="0">
                <a:latin typeface="Times New Roman" panose="02020603050405020304" pitchFamily="18" charset="0"/>
                <a:cs typeface="Times New Roman" panose="02020603050405020304" pitchFamily="18" charset="0"/>
              </a:rPr>
              <a:t>对于</a:t>
            </a:r>
            <a:r>
              <a:rPr lang="en-US" altLang="zh-CN" sz="2200" dirty="0">
                <a:latin typeface="Times New Roman" panose="02020603050405020304" pitchFamily="18" charset="0"/>
                <a:cs typeface="Times New Roman" panose="02020603050405020304" pitchFamily="18" charset="0"/>
              </a:rPr>
              <a:t>Σ</a:t>
            </a:r>
            <a:r>
              <a:rPr lang="en-US" altLang="zh-CN" sz="2200" baseline="300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中的任何一个串</a:t>
            </a:r>
            <a:r>
              <a:rPr lang="en-US" altLang="zh-CN" sz="2200" dirty="0">
                <a:latin typeface="Times New Roman" panose="02020603050405020304" pitchFamily="18" charset="0"/>
                <a:cs typeface="Times New Roman" panose="02020603050405020304" pitchFamily="18" charset="0"/>
              </a:rPr>
              <a:t>t</a:t>
            </a:r>
            <a:r>
              <a:rPr lang="zh-CN" altLang="en-US" sz="2200" dirty="0">
                <a:latin typeface="Times New Roman" panose="02020603050405020304" pitchFamily="18" charset="0"/>
                <a:cs typeface="Times New Roman" panose="02020603050405020304" pitchFamily="18" charset="0"/>
              </a:rPr>
              <a:t>，若存在一条从</a:t>
            </a:r>
            <a:r>
              <a:rPr lang="zh-CN" altLang="en-US" sz="2200" dirty="0">
                <a:solidFill>
                  <a:srgbClr val="FF0000"/>
                </a:solidFill>
                <a:latin typeface="Times New Roman" panose="02020603050405020304" pitchFamily="18" charset="0"/>
                <a:cs typeface="Times New Roman" panose="02020603050405020304" pitchFamily="18" charset="0"/>
              </a:rPr>
              <a:t>某一初态结点</a:t>
            </a:r>
            <a:r>
              <a:rPr lang="zh-CN" altLang="en-US" sz="2200" dirty="0">
                <a:latin typeface="Times New Roman" panose="02020603050405020304" pitchFamily="18" charset="0"/>
                <a:cs typeface="Times New Roman" panose="02020603050405020304" pitchFamily="18" charset="0"/>
              </a:rPr>
              <a:t>到</a:t>
            </a:r>
            <a:r>
              <a:rPr lang="zh-CN" altLang="en-US" sz="2200" dirty="0">
                <a:solidFill>
                  <a:srgbClr val="FF0000"/>
                </a:solidFill>
                <a:latin typeface="Times New Roman" panose="02020603050405020304" pitchFamily="18" charset="0"/>
                <a:cs typeface="Times New Roman" panose="02020603050405020304" pitchFamily="18" charset="0"/>
              </a:rPr>
              <a:t>某一终态结点</a:t>
            </a:r>
            <a:r>
              <a:rPr lang="zh-CN" altLang="en-US" sz="2200" dirty="0">
                <a:latin typeface="Times New Roman" panose="02020603050405020304" pitchFamily="18" charset="0"/>
                <a:cs typeface="Times New Roman" panose="02020603050405020304" pitchFamily="18" charset="0"/>
              </a:rPr>
              <a:t>的通路，且这条通路上所有弧的标记字</a:t>
            </a:r>
            <a:r>
              <a:rPr lang="zh-CN" altLang="en-US" sz="2200" dirty="0">
                <a:solidFill>
                  <a:srgbClr val="FF0000"/>
                </a:solidFill>
                <a:latin typeface="Times New Roman" panose="02020603050405020304" pitchFamily="18" charset="0"/>
                <a:cs typeface="Times New Roman" panose="02020603050405020304" pitchFamily="18" charset="0"/>
              </a:rPr>
              <a:t>依序</a:t>
            </a:r>
            <a:r>
              <a:rPr lang="zh-CN" altLang="en-US" sz="2200" dirty="0">
                <a:latin typeface="Times New Roman" panose="02020603050405020304" pitchFamily="18" charset="0"/>
                <a:cs typeface="Times New Roman" panose="02020603050405020304" pitchFamily="18" charset="0"/>
              </a:rPr>
              <a:t>连接成的串</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不理采那些标记为</a:t>
            </a:r>
            <a:r>
              <a:rPr lang="en-US" altLang="zh-CN" sz="2200" dirty="0">
                <a:latin typeface="Times New Roman" panose="02020603050405020304" pitchFamily="18" charset="0"/>
                <a:cs typeface="Times New Roman" panose="02020603050405020304" pitchFamily="18" charset="0"/>
              </a:rPr>
              <a:t>ε</a:t>
            </a:r>
            <a:r>
              <a:rPr lang="zh-CN" altLang="en-US" sz="2200" dirty="0">
                <a:latin typeface="Times New Roman" panose="02020603050405020304" pitchFamily="18" charset="0"/>
                <a:cs typeface="Times New Roman" panose="02020603050405020304" pitchFamily="18" charset="0"/>
              </a:rPr>
              <a:t>的弧</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等于</a:t>
            </a:r>
            <a:r>
              <a:rPr lang="en-US" altLang="zh-CN" sz="2200" dirty="0">
                <a:latin typeface="Times New Roman" panose="02020603050405020304" pitchFamily="18" charset="0"/>
                <a:cs typeface="Times New Roman" panose="02020603050405020304" pitchFamily="18" charset="0"/>
              </a:rPr>
              <a:t>t</a:t>
            </a:r>
            <a:r>
              <a:rPr lang="zh-CN" altLang="en-US" sz="2200" dirty="0">
                <a:latin typeface="Times New Roman" panose="02020603050405020304" pitchFamily="18" charset="0"/>
                <a:cs typeface="Times New Roman" panose="02020603050405020304" pitchFamily="18" charset="0"/>
              </a:rPr>
              <a:t>，则称</a:t>
            </a:r>
            <a:r>
              <a:rPr lang="en-US" altLang="zh-CN" sz="2200" dirty="0">
                <a:latin typeface="Times New Roman" panose="02020603050405020304" pitchFamily="18" charset="0"/>
                <a:cs typeface="Times New Roman" panose="02020603050405020304" pitchFamily="18" charset="0"/>
              </a:rPr>
              <a:t>t</a:t>
            </a:r>
            <a:r>
              <a:rPr lang="zh-CN" altLang="en-US" sz="2200" dirty="0">
                <a:latin typeface="Times New Roman" panose="02020603050405020304" pitchFamily="18" charset="0"/>
                <a:cs typeface="Times New Roman" panose="02020603050405020304" pitchFamily="18" charset="0"/>
              </a:rPr>
              <a:t>可为</a:t>
            </a:r>
            <a:r>
              <a:rPr lang="en-US" altLang="zh-CN" sz="2200" dirty="0">
                <a:latin typeface="Times New Roman" panose="02020603050405020304" pitchFamily="18" charset="0"/>
                <a:cs typeface="Times New Roman" panose="02020603050405020304" pitchFamily="18" charset="0"/>
              </a:rPr>
              <a:t>NFA M</a:t>
            </a:r>
            <a:r>
              <a:rPr lang="zh-CN" altLang="en-US" sz="2200" dirty="0">
                <a:latin typeface="Times New Roman" panose="02020603050405020304" pitchFamily="18" charset="0"/>
                <a:cs typeface="Times New Roman" panose="02020603050405020304" pitchFamily="18" charset="0"/>
              </a:rPr>
              <a:t>所识别</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读出或接受</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a:t>
            </a:r>
          </a:p>
          <a:p>
            <a:pPr eaLnBrk="1" hangingPunct="1">
              <a:spcBef>
                <a:spcPts val="0"/>
              </a:spcBef>
            </a:pPr>
            <a:r>
              <a:rPr lang="zh-CN" altLang="en-US" sz="2200" dirty="0">
                <a:latin typeface="Times New Roman" panose="02020603050405020304" pitchFamily="18" charset="0"/>
                <a:cs typeface="Times New Roman" panose="02020603050405020304" pitchFamily="18" charset="0"/>
              </a:rPr>
              <a:t>若</a:t>
            </a:r>
            <a:r>
              <a:rPr lang="en-US" altLang="zh-CN" sz="2200" dirty="0">
                <a:latin typeface="Times New Roman" panose="02020603050405020304" pitchFamily="18" charset="0"/>
                <a:cs typeface="Times New Roman" panose="02020603050405020304" pitchFamily="18" charset="0"/>
              </a:rPr>
              <a:t>M</a:t>
            </a:r>
            <a:r>
              <a:rPr lang="zh-CN" altLang="en-US" sz="2200" dirty="0">
                <a:latin typeface="Times New Roman" panose="02020603050405020304" pitchFamily="18" charset="0"/>
                <a:cs typeface="Times New Roman" panose="02020603050405020304" pitchFamily="18" charset="0"/>
              </a:rPr>
              <a:t>的某些结点既是初态结点又是终态结点；或者存在一条从某个初态结点到某个终态结点的路径</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其上所有弧的标记均为</a:t>
            </a:r>
            <a:r>
              <a:rPr lang="en-US" altLang="zh-CN" sz="2200" dirty="0">
                <a:latin typeface="Times New Roman" panose="02020603050405020304" pitchFamily="18" charset="0"/>
                <a:cs typeface="Times New Roman" panose="02020603050405020304" pitchFamily="18" charset="0"/>
              </a:rPr>
              <a:t>ε</a:t>
            </a:r>
            <a:r>
              <a:rPr lang="zh-CN" altLang="en-US" sz="2200" dirty="0">
                <a:latin typeface="Times New Roman" panose="02020603050405020304" pitchFamily="18" charset="0"/>
                <a:cs typeface="Times New Roman" panose="02020603050405020304" pitchFamily="18" charset="0"/>
              </a:rPr>
              <a:t>，那么空字</a:t>
            </a:r>
            <a:r>
              <a:rPr lang="en-US" altLang="zh-CN" sz="2200" dirty="0">
                <a:latin typeface="Times New Roman" panose="02020603050405020304" pitchFamily="18" charset="0"/>
                <a:cs typeface="Times New Roman" panose="02020603050405020304" pitchFamily="18" charset="0"/>
              </a:rPr>
              <a:t>ε</a:t>
            </a:r>
            <a:r>
              <a:rPr lang="zh-CN" altLang="en-US" sz="2200" dirty="0">
                <a:latin typeface="Times New Roman" panose="02020603050405020304" pitchFamily="18" charset="0"/>
                <a:cs typeface="Times New Roman" panose="02020603050405020304" pitchFamily="18" charset="0"/>
              </a:rPr>
              <a:t>可为</a:t>
            </a:r>
            <a:r>
              <a:rPr lang="en-US" altLang="zh-CN" sz="2200" dirty="0">
                <a:latin typeface="Times New Roman" panose="02020603050405020304" pitchFamily="18" charset="0"/>
                <a:cs typeface="Times New Roman" panose="02020603050405020304" pitchFamily="18" charset="0"/>
              </a:rPr>
              <a:t>M</a:t>
            </a:r>
            <a:r>
              <a:rPr lang="zh-CN" altLang="en-US" sz="2200" dirty="0">
                <a:latin typeface="Times New Roman" panose="02020603050405020304" pitchFamily="18" charset="0"/>
                <a:cs typeface="Times New Roman" panose="02020603050405020304" pitchFamily="18" charset="0"/>
              </a:rPr>
              <a:t>所接受。</a:t>
            </a:r>
            <a:endParaRPr lang="en-US" altLang="zh-CN" sz="2200"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07646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Grp="1" noChangeArrowheads="1"/>
          </p:cNvSpPr>
          <p:nvPr>
            <p:ph type="body" idx="1"/>
          </p:nvPr>
        </p:nvSpPr>
        <p:spPr>
          <a:xfrm>
            <a:off x="1371600" y="857250"/>
            <a:ext cx="7772400" cy="3086100"/>
          </a:xfrm>
        </p:spPr>
        <p:txBody>
          <a:bodyPr/>
          <a:lstStyle/>
          <a:p>
            <a:pPr eaLnBrk="1" hangingPunct="1"/>
            <a:r>
              <a:rPr lang="zh-CN" altLang="en-US" b="1"/>
              <a:t>例</a:t>
            </a:r>
            <a:r>
              <a:rPr lang="en-US" altLang="zh-CN" b="1"/>
              <a:t>2</a:t>
            </a:r>
            <a:r>
              <a:rPr lang="zh-CN" altLang="en-US" b="1"/>
              <a:t>：</a:t>
            </a:r>
          </a:p>
          <a:p>
            <a:pPr lvl="1" eaLnBrk="1" hangingPunct="1"/>
            <a:endParaRPr lang="en-US" altLang="zh-CN" b="1"/>
          </a:p>
        </p:txBody>
      </p:sp>
      <p:sp>
        <p:nvSpPr>
          <p:cNvPr id="59400" name="Text Box 8"/>
          <p:cNvSpPr txBox="1">
            <a:spLocks noChangeArrowheads="1"/>
          </p:cNvSpPr>
          <p:nvPr/>
        </p:nvSpPr>
        <p:spPr bwMode="auto">
          <a:xfrm>
            <a:off x="4160838" y="1534021"/>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a:t>
            </a:r>
          </a:p>
        </p:txBody>
      </p:sp>
      <p:sp>
        <p:nvSpPr>
          <p:cNvPr id="59409" name="Text Box 17"/>
          <p:cNvSpPr txBox="1">
            <a:spLocks noChangeArrowheads="1"/>
          </p:cNvSpPr>
          <p:nvPr/>
        </p:nvSpPr>
        <p:spPr bwMode="auto">
          <a:xfrm>
            <a:off x="1447800" y="2171700"/>
            <a:ext cx="30492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en-US" sz="2800" b="1" dirty="0">
                <a:latin typeface="Times New Roman" pitchFamily="18" charset="0"/>
              </a:rPr>
              <a:t>接受串</a:t>
            </a:r>
            <a:r>
              <a:rPr lang="en-US" altLang="zh-CN" sz="2800" b="1" dirty="0" err="1">
                <a:latin typeface="Times New Roman" pitchFamily="18" charset="0"/>
              </a:rPr>
              <a:t>abb</a:t>
            </a:r>
            <a:r>
              <a:rPr lang="zh-CN" altLang="en-US" sz="2800" b="1" dirty="0">
                <a:latin typeface="Times New Roman" pitchFamily="18" charset="0"/>
              </a:rPr>
              <a:t>的路径</a:t>
            </a:r>
            <a:r>
              <a:rPr lang="en-US" altLang="zh-CN" sz="2800" b="1" dirty="0">
                <a:latin typeface="Times New Roman" pitchFamily="18" charset="0"/>
              </a:rPr>
              <a:t>:</a:t>
            </a:r>
          </a:p>
        </p:txBody>
      </p:sp>
      <p:grpSp>
        <p:nvGrpSpPr>
          <p:cNvPr id="2" name="Group 18"/>
          <p:cNvGrpSpPr>
            <a:grpSpLocks/>
          </p:cNvGrpSpPr>
          <p:nvPr/>
        </p:nvGrpSpPr>
        <p:grpSpPr bwMode="auto">
          <a:xfrm>
            <a:off x="2865439" y="2628903"/>
            <a:ext cx="3263899" cy="576263"/>
            <a:chOff x="1680" y="2736"/>
            <a:chExt cx="2056" cy="484"/>
          </a:xfrm>
        </p:grpSpPr>
        <p:sp>
          <p:nvSpPr>
            <p:cNvPr id="59422" name="Text Box 19"/>
            <p:cNvSpPr txBox="1">
              <a:spLocks noChangeArrowheads="1"/>
            </p:cNvSpPr>
            <p:nvPr/>
          </p:nvSpPr>
          <p:spPr bwMode="auto">
            <a:xfrm>
              <a:off x="1680" y="2832"/>
              <a:ext cx="205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latin typeface="Times New Roman" pitchFamily="18" charset="0"/>
                  <a:sym typeface="Wingdings" pitchFamily="2" charset="2"/>
                </a:rPr>
                <a:t>--&gt;1—&gt;2—&gt;4—&gt;2—&gt;4</a:t>
              </a:r>
              <a:endParaRPr lang="en-US" altLang="zh-CN" sz="2400" b="1">
                <a:latin typeface="Times New Roman" pitchFamily="18" charset="0"/>
              </a:endParaRPr>
            </a:p>
          </p:txBody>
        </p:sp>
        <p:sp>
          <p:nvSpPr>
            <p:cNvPr id="59423" name="Text Box 20"/>
            <p:cNvSpPr txBox="1">
              <a:spLocks noChangeArrowheads="1"/>
            </p:cNvSpPr>
            <p:nvPr/>
          </p:nvSpPr>
          <p:spPr bwMode="auto">
            <a:xfrm>
              <a:off x="2064" y="2736"/>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dirty="0">
                  <a:solidFill>
                    <a:srgbClr val="CC3300"/>
                  </a:solidFill>
                  <a:latin typeface="Times New Roman" pitchFamily="18" charset="0"/>
                </a:rPr>
                <a:t>a</a:t>
              </a:r>
            </a:p>
          </p:txBody>
        </p:sp>
        <p:sp>
          <p:nvSpPr>
            <p:cNvPr id="59424" name="Text Box 21"/>
            <p:cNvSpPr txBox="1">
              <a:spLocks noChangeArrowheads="1"/>
            </p:cNvSpPr>
            <p:nvPr/>
          </p:nvSpPr>
          <p:spPr bwMode="auto">
            <a:xfrm>
              <a:off x="3264" y="2736"/>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solidFill>
                    <a:srgbClr val="CC3300"/>
                  </a:solidFill>
                  <a:latin typeface="Times New Roman" pitchFamily="18" charset="0"/>
                </a:rPr>
                <a:t>b</a:t>
              </a:r>
            </a:p>
          </p:txBody>
        </p:sp>
        <p:sp>
          <p:nvSpPr>
            <p:cNvPr id="59425" name="Text Box 22"/>
            <p:cNvSpPr txBox="1">
              <a:spLocks noChangeArrowheads="1"/>
            </p:cNvSpPr>
            <p:nvPr/>
          </p:nvSpPr>
          <p:spPr bwMode="auto">
            <a:xfrm>
              <a:off x="2448" y="2736"/>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solidFill>
                    <a:srgbClr val="CC3300"/>
                  </a:solidFill>
                  <a:latin typeface="Times New Roman" pitchFamily="18" charset="0"/>
                </a:rPr>
                <a:t>b</a:t>
              </a:r>
            </a:p>
          </p:txBody>
        </p:sp>
        <p:sp>
          <p:nvSpPr>
            <p:cNvPr id="59426" name="Text Box 23"/>
            <p:cNvSpPr txBox="1">
              <a:spLocks noChangeArrowheads="1"/>
            </p:cNvSpPr>
            <p:nvPr/>
          </p:nvSpPr>
          <p:spPr bwMode="auto">
            <a:xfrm>
              <a:off x="2880" y="2736"/>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grpSp>
      <p:grpSp>
        <p:nvGrpSpPr>
          <p:cNvPr id="3" name="Group 24"/>
          <p:cNvGrpSpPr>
            <a:grpSpLocks/>
          </p:cNvGrpSpPr>
          <p:nvPr/>
        </p:nvGrpSpPr>
        <p:grpSpPr bwMode="auto">
          <a:xfrm>
            <a:off x="2941639" y="3143253"/>
            <a:ext cx="4362450" cy="576263"/>
            <a:chOff x="1728" y="3168"/>
            <a:chExt cx="2748" cy="484"/>
          </a:xfrm>
        </p:grpSpPr>
        <p:sp>
          <p:nvSpPr>
            <p:cNvPr id="59415" name="Text Box 25"/>
            <p:cNvSpPr txBox="1">
              <a:spLocks noChangeArrowheads="1"/>
            </p:cNvSpPr>
            <p:nvPr/>
          </p:nvSpPr>
          <p:spPr bwMode="auto">
            <a:xfrm>
              <a:off x="1728" y="3264"/>
              <a:ext cx="274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latin typeface="Times New Roman" pitchFamily="18" charset="0"/>
                  <a:sym typeface="Wingdings" pitchFamily="2" charset="2"/>
                </a:rPr>
                <a:t>--&gt;1—&gt;3—&gt;4—&gt;2—&gt;4—&gt;2—4</a:t>
              </a:r>
              <a:endParaRPr lang="en-US" altLang="zh-CN" sz="2400" b="1">
                <a:latin typeface="Times New Roman" pitchFamily="18" charset="0"/>
              </a:endParaRPr>
            </a:p>
          </p:txBody>
        </p:sp>
        <p:sp>
          <p:nvSpPr>
            <p:cNvPr id="59416" name="Text Box 26"/>
            <p:cNvSpPr txBox="1">
              <a:spLocks noChangeArrowheads="1"/>
            </p:cNvSpPr>
            <p:nvPr/>
          </p:nvSpPr>
          <p:spPr bwMode="auto">
            <a:xfrm>
              <a:off x="3312" y="3168"/>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solidFill>
                    <a:srgbClr val="CC3300"/>
                  </a:solidFill>
                  <a:latin typeface="Times New Roman" pitchFamily="18" charset="0"/>
                </a:rPr>
                <a:t>b</a:t>
              </a:r>
            </a:p>
          </p:txBody>
        </p:sp>
        <p:sp>
          <p:nvSpPr>
            <p:cNvPr id="59417" name="Text Box 27"/>
            <p:cNvSpPr txBox="1">
              <a:spLocks noChangeArrowheads="1"/>
            </p:cNvSpPr>
            <p:nvPr/>
          </p:nvSpPr>
          <p:spPr bwMode="auto">
            <a:xfrm>
              <a:off x="4080" y="3168"/>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solidFill>
                    <a:srgbClr val="CC3300"/>
                  </a:solidFill>
                  <a:latin typeface="Times New Roman" pitchFamily="18" charset="0"/>
                </a:rPr>
                <a:t>b</a:t>
              </a:r>
            </a:p>
          </p:txBody>
        </p:sp>
        <p:sp>
          <p:nvSpPr>
            <p:cNvPr id="59418" name="Text Box 28"/>
            <p:cNvSpPr txBox="1">
              <a:spLocks noChangeArrowheads="1"/>
            </p:cNvSpPr>
            <p:nvPr/>
          </p:nvSpPr>
          <p:spPr bwMode="auto">
            <a:xfrm>
              <a:off x="2112" y="316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b="1">
                  <a:solidFill>
                    <a:srgbClr val="CC3300"/>
                  </a:solidFill>
                  <a:latin typeface="Times New Roman" pitchFamily="18" charset="0"/>
                </a:rPr>
                <a:t>a</a:t>
              </a:r>
            </a:p>
          </p:txBody>
        </p:sp>
        <p:sp>
          <p:nvSpPr>
            <p:cNvPr id="59419" name="Text Box 29"/>
            <p:cNvSpPr txBox="1">
              <a:spLocks noChangeArrowheads="1"/>
            </p:cNvSpPr>
            <p:nvPr/>
          </p:nvSpPr>
          <p:spPr bwMode="auto">
            <a:xfrm>
              <a:off x="2496" y="3168"/>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sp>
          <p:nvSpPr>
            <p:cNvPr id="59420" name="Text Box 30"/>
            <p:cNvSpPr txBox="1">
              <a:spLocks noChangeArrowheads="1"/>
            </p:cNvSpPr>
            <p:nvPr/>
          </p:nvSpPr>
          <p:spPr bwMode="auto">
            <a:xfrm>
              <a:off x="2928" y="3168"/>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sp>
          <p:nvSpPr>
            <p:cNvPr id="59421" name="Text Box 31"/>
            <p:cNvSpPr txBox="1">
              <a:spLocks noChangeArrowheads="1"/>
            </p:cNvSpPr>
            <p:nvPr/>
          </p:nvSpPr>
          <p:spPr bwMode="auto">
            <a:xfrm>
              <a:off x="3696" y="3168"/>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grpSp>
      <p:grpSp>
        <p:nvGrpSpPr>
          <p:cNvPr id="4" name="组合 3"/>
          <p:cNvGrpSpPr/>
          <p:nvPr/>
        </p:nvGrpSpPr>
        <p:grpSpPr>
          <a:xfrm>
            <a:off x="3203848" y="627534"/>
            <a:ext cx="4285977" cy="1296144"/>
            <a:chOff x="2438400" y="627534"/>
            <a:chExt cx="5051425" cy="1296144"/>
          </a:xfrm>
        </p:grpSpPr>
        <p:sp>
          <p:nvSpPr>
            <p:cNvPr id="59394" name="Oval 2"/>
            <p:cNvSpPr>
              <a:spLocks noChangeArrowheads="1"/>
            </p:cNvSpPr>
            <p:nvPr/>
          </p:nvSpPr>
          <p:spPr bwMode="auto">
            <a:xfrm>
              <a:off x="6880225" y="1371600"/>
              <a:ext cx="6096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59395" name="Oval 3"/>
            <p:cNvSpPr>
              <a:spLocks noChangeArrowheads="1"/>
            </p:cNvSpPr>
            <p:nvPr/>
          </p:nvSpPr>
          <p:spPr bwMode="auto">
            <a:xfrm>
              <a:off x="6956425" y="1428750"/>
              <a:ext cx="4572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4</a:t>
              </a:r>
            </a:p>
          </p:txBody>
        </p:sp>
        <p:sp>
          <p:nvSpPr>
            <p:cNvPr id="59397" name="Oval 5"/>
            <p:cNvSpPr>
              <a:spLocks noChangeArrowheads="1"/>
            </p:cNvSpPr>
            <p:nvPr/>
          </p:nvSpPr>
          <p:spPr bwMode="auto">
            <a:xfrm>
              <a:off x="3070225" y="1371600"/>
              <a:ext cx="6096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1</a:t>
              </a:r>
            </a:p>
          </p:txBody>
        </p:sp>
        <p:sp>
          <p:nvSpPr>
            <p:cNvPr id="59398" name="Oval 6"/>
            <p:cNvSpPr>
              <a:spLocks noChangeArrowheads="1"/>
            </p:cNvSpPr>
            <p:nvPr/>
          </p:nvSpPr>
          <p:spPr bwMode="auto">
            <a:xfrm>
              <a:off x="5051425" y="1371600"/>
              <a:ext cx="6096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3</a:t>
              </a:r>
            </a:p>
          </p:txBody>
        </p:sp>
        <p:sp>
          <p:nvSpPr>
            <p:cNvPr id="59399" name="Line 7"/>
            <p:cNvSpPr>
              <a:spLocks noChangeShapeType="1"/>
            </p:cNvSpPr>
            <p:nvPr/>
          </p:nvSpPr>
          <p:spPr bwMode="auto">
            <a:xfrm>
              <a:off x="3679825" y="1600200"/>
              <a:ext cx="1371600"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9401" name="Oval 9"/>
            <p:cNvSpPr>
              <a:spLocks noChangeArrowheads="1"/>
            </p:cNvSpPr>
            <p:nvPr/>
          </p:nvSpPr>
          <p:spPr bwMode="auto">
            <a:xfrm>
              <a:off x="4365625" y="685800"/>
              <a:ext cx="6096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a:latin typeface="Times New Roman" pitchFamily="18" charset="0"/>
                </a:rPr>
                <a:t>2</a:t>
              </a:r>
            </a:p>
          </p:txBody>
        </p:sp>
        <p:sp>
          <p:nvSpPr>
            <p:cNvPr id="59402" name="Line 10"/>
            <p:cNvSpPr>
              <a:spLocks noChangeShapeType="1"/>
            </p:cNvSpPr>
            <p:nvPr/>
          </p:nvSpPr>
          <p:spPr bwMode="auto">
            <a:xfrm flipV="1">
              <a:off x="3551238" y="971550"/>
              <a:ext cx="838200" cy="45720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9403" name="Text Box 11"/>
            <p:cNvSpPr txBox="1">
              <a:spLocks noChangeArrowheads="1"/>
            </p:cNvSpPr>
            <p:nvPr/>
          </p:nvSpPr>
          <p:spPr bwMode="auto">
            <a:xfrm>
              <a:off x="3519488" y="915566"/>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a:t>
              </a:r>
            </a:p>
          </p:txBody>
        </p:sp>
        <p:sp>
          <p:nvSpPr>
            <p:cNvPr id="59404" name="Line 12"/>
            <p:cNvSpPr>
              <a:spLocks noChangeShapeType="1"/>
            </p:cNvSpPr>
            <p:nvPr/>
          </p:nvSpPr>
          <p:spPr bwMode="auto">
            <a:xfrm>
              <a:off x="5661025" y="1600200"/>
              <a:ext cx="1219200"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3"/>
            <p:cNvSpPr>
              <a:spLocks noChangeShapeType="1"/>
            </p:cNvSpPr>
            <p:nvPr/>
          </p:nvSpPr>
          <p:spPr bwMode="auto">
            <a:xfrm>
              <a:off x="4975225" y="914400"/>
              <a:ext cx="1981200" cy="57150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9406" name="Text Box 14"/>
            <p:cNvSpPr txBox="1">
              <a:spLocks noChangeArrowheads="1"/>
            </p:cNvSpPr>
            <p:nvPr/>
          </p:nvSpPr>
          <p:spPr bwMode="auto">
            <a:xfrm>
              <a:off x="5989638" y="1462013"/>
              <a:ext cx="319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t>
              </a:r>
            </a:p>
          </p:txBody>
        </p:sp>
        <p:sp>
          <p:nvSpPr>
            <p:cNvPr id="59407" name="Text Box 15"/>
            <p:cNvSpPr txBox="1">
              <a:spLocks noChangeArrowheads="1"/>
            </p:cNvSpPr>
            <p:nvPr/>
          </p:nvSpPr>
          <p:spPr bwMode="auto">
            <a:xfrm>
              <a:off x="5943600" y="627534"/>
              <a:ext cx="319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a:t>
              </a:r>
            </a:p>
          </p:txBody>
        </p:sp>
        <p:sp>
          <p:nvSpPr>
            <p:cNvPr id="59408" name="Text Box 16"/>
            <p:cNvSpPr txBox="1">
              <a:spLocks noChangeArrowheads="1"/>
            </p:cNvSpPr>
            <p:nvPr/>
          </p:nvSpPr>
          <p:spPr bwMode="auto">
            <a:xfrm>
              <a:off x="5608638" y="1085850"/>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a:latin typeface="Times New Roman" pitchFamily="18" charset="0"/>
                  <a:sym typeface="Symbol" pitchFamily="18" charset="2"/>
                </a:rPr>
                <a:t>b</a:t>
              </a:r>
            </a:p>
          </p:txBody>
        </p:sp>
        <p:sp>
          <p:nvSpPr>
            <p:cNvPr id="59412" name="Line 32"/>
            <p:cNvSpPr>
              <a:spLocks noChangeShapeType="1"/>
            </p:cNvSpPr>
            <p:nvPr/>
          </p:nvSpPr>
          <p:spPr bwMode="auto">
            <a:xfrm flipH="1" flipV="1">
              <a:off x="4876800" y="742950"/>
              <a:ext cx="2286000" cy="62865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413" name="AutoShape 33"/>
            <p:cNvSpPr>
              <a:spLocks noChangeArrowheads="1"/>
            </p:cNvSpPr>
            <p:nvPr/>
          </p:nvSpPr>
          <p:spPr bwMode="auto">
            <a:xfrm>
              <a:off x="2438400" y="1543050"/>
              <a:ext cx="609600" cy="114300"/>
            </a:xfrm>
            <a:prstGeom prst="rightArrow">
              <a:avLst>
                <a:gd name="adj1" fmla="val 50000"/>
                <a:gd name="adj2" fmla="val 100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
        <p:nvSpPr>
          <p:cNvPr id="160802" name="Rectangle 34"/>
          <p:cNvSpPr>
            <a:spLocks noChangeArrowheads="1"/>
          </p:cNvSpPr>
          <p:nvPr/>
        </p:nvSpPr>
        <p:spPr bwMode="auto">
          <a:xfrm>
            <a:off x="899592" y="3999310"/>
            <a:ext cx="79928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200" b="1" dirty="0">
                <a:solidFill>
                  <a:srgbClr val="CC3300"/>
                </a:solidFill>
                <a:latin typeface="Times New Roman" pitchFamily="18" charset="0"/>
                <a:sym typeface="Symbol" pitchFamily="18" charset="2"/>
              </a:rPr>
              <a:t>-</a:t>
            </a:r>
            <a:r>
              <a:rPr kumimoji="1" lang="zh-CN" altLang="en-US" sz="2200" b="1" dirty="0">
                <a:solidFill>
                  <a:srgbClr val="CC3300"/>
                </a:solidFill>
                <a:latin typeface="Times New Roman" pitchFamily="18" charset="0"/>
                <a:sym typeface="Symbol" pitchFamily="18" charset="2"/>
              </a:rPr>
              <a:t>转换（  </a:t>
            </a:r>
            <a:r>
              <a:rPr kumimoji="1" lang="en-US" altLang="zh-CN" sz="2200" b="1" dirty="0">
                <a:solidFill>
                  <a:srgbClr val="CC3300"/>
                </a:solidFill>
                <a:latin typeface="Times New Roman" pitchFamily="18" charset="0"/>
                <a:sym typeface="Symbol" pitchFamily="18" charset="2"/>
              </a:rPr>
              <a:t>-transition</a:t>
            </a:r>
            <a:r>
              <a:rPr kumimoji="1" lang="zh-CN" altLang="en-US" sz="2200" b="1" dirty="0">
                <a:solidFill>
                  <a:srgbClr val="CC3300"/>
                </a:solidFill>
                <a:latin typeface="Times New Roman" pitchFamily="18" charset="0"/>
                <a:sym typeface="Symbol" pitchFamily="18" charset="2"/>
              </a:rPr>
              <a:t>）</a:t>
            </a:r>
            <a:r>
              <a:rPr kumimoji="1" lang="en-US" altLang="zh-CN" sz="2200" b="1" dirty="0">
                <a:latin typeface="Times New Roman" pitchFamily="18" charset="0"/>
                <a:sym typeface="Symbol" pitchFamily="18" charset="2"/>
              </a:rPr>
              <a:t>:</a:t>
            </a:r>
            <a:r>
              <a:rPr kumimoji="1" lang="zh-CN" altLang="en-US" sz="2200" b="1" dirty="0"/>
              <a:t>是无需考虑输入串就有可能发生的转换</a:t>
            </a:r>
            <a:endParaRPr kumimoji="1" lang="zh-CN" altLang="en-US" sz="2200" b="1" dirty="0">
              <a:latin typeface="Times New Roman" pitchFamily="18" charset="0"/>
              <a:sym typeface="Symbol" pitchFamily="18" charset="2"/>
            </a:endParaRPr>
          </a:p>
        </p:txBody>
      </p:sp>
    </p:spTree>
    <p:extLst>
      <p:ext uri="{BB962C8B-B14F-4D97-AF65-F5344CB8AC3E}">
        <p14:creationId xmlns:p14="http://schemas.microsoft.com/office/powerpoint/2010/main" val="2270354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160802"/>
                                        </p:tgtEl>
                                        <p:attrNameLst>
                                          <p:attrName>style.visibility</p:attrName>
                                        </p:attrNameLst>
                                      </p:cBhvr>
                                      <p:to>
                                        <p:strVal val="visible"/>
                                      </p:to>
                                    </p:set>
                                    <p:animEffect transition="in" filter="slide(fromBottom)">
                                      <p:cBhvr>
                                        <p:cTn id="11" dur="500"/>
                                        <p:tgtEl>
                                          <p:spTgt spid="16080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02"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fontScale="90000"/>
          </a:bodyPr>
          <a:lstStyle/>
          <a:p>
            <a:pPr eaLnBrk="1" hangingPunct="1"/>
            <a:r>
              <a:rPr lang="zh-CN" altLang="en-US" dirty="0"/>
              <a:t>语言</a:t>
            </a:r>
            <a:endParaRPr lang="zh-CN" altLang="zh-CN" dirty="0"/>
          </a:p>
        </p:txBody>
      </p:sp>
      <p:sp>
        <p:nvSpPr>
          <p:cNvPr id="61443" name="Rectangle 3"/>
          <p:cNvSpPr>
            <a:spLocks noGrp="1" noChangeArrowheads="1"/>
          </p:cNvSpPr>
          <p:nvPr>
            <p:ph type="body" idx="1"/>
          </p:nvPr>
        </p:nvSpPr>
        <p:spPr>
          <a:xfrm>
            <a:off x="395536" y="915566"/>
            <a:ext cx="8435280" cy="668665"/>
          </a:xfrm>
        </p:spPr>
        <p:txBody>
          <a:bodyPr>
            <a:normAutofit fontScale="92500"/>
          </a:bodyPr>
          <a:lstStyle/>
          <a:p>
            <a:pPr>
              <a:buNone/>
            </a:pPr>
            <a:r>
              <a:rPr lang="en-US" altLang="zh-CN" dirty="0"/>
              <a:t>NFA M</a:t>
            </a:r>
            <a:r>
              <a:rPr lang="zh-CN" altLang="en-US" dirty="0"/>
              <a:t>所能接受的符</a:t>
            </a:r>
            <a:r>
              <a:rPr lang="zh-CN" altLang="en-US" dirty="0">
                <a:latin typeface="宋体" pitchFamily="2" charset="-122"/>
              </a:rPr>
              <a:t>号</a:t>
            </a:r>
            <a:r>
              <a:rPr lang="zh-CN" altLang="en-US" dirty="0"/>
              <a:t>串的全体，称为</a:t>
            </a:r>
            <a:r>
              <a:rPr lang="en-US" altLang="zh-CN" dirty="0"/>
              <a:t>NFA</a:t>
            </a:r>
            <a:r>
              <a:rPr lang="zh-CN" altLang="zh-CN" dirty="0"/>
              <a:t>所识别的语言</a:t>
            </a:r>
            <a:r>
              <a:rPr lang="zh-CN" altLang="en-US" dirty="0"/>
              <a:t>，记为</a:t>
            </a:r>
            <a:r>
              <a:rPr lang="en-US" altLang="zh-CN" dirty="0"/>
              <a:t>L(M)</a:t>
            </a:r>
          </a:p>
        </p:txBody>
      </p:sp>
      <p:graphicFrame>
        <p:nvGraphicFramePr>
          <p:cNvPr id="4" name="对象 3"/>
          <p:cNvGraphicFramePr>
            <a:graphicFrameLocks noChangeAspect="1"/>
          </p:cNvGraphicFramePr>
          <p:nvPr>
            <p:extLst>
              <p:ext uri="{D42A27DB-BD31-4B8C-83A1-F6EECF244321}">
                <p14:modId xmlns:p14="http://schemas.microsoft.com/office/powerpoint/2010/main" val="4284820522"/>
              </p:ext>
            </p:extLst>
          </p:nvPr>
        </p:nvGraphicFramePr>
        <p:xfrm>
          <a:off x="4644008" y="1563638"/>
          <a:ext cx="4014979" cy="1635646"/>
        </p:xfrm>
        <a:graphic>
          <a:graphicData uri="http://schemas.openxmlformats.org/presentationml/2006/ole">
            <mc:AlternateContent xmlns:mc="http://schemas.openxmlformats.org/markup-compatibility/2006">
              <mc:Choice xmlns:v="urn:schemas-microsoft-com:vml" Requires="v">
                <p:oleObj spid="_x0000_s27661" name="Visio" r:id="rId4" imgW="3016871" imgH="1233577" progId="Visio.Drawing.11">
                  <p:embed/>
                </p:oleObj>
              </mc:Choice>
              <mc:Fallback>
                <p:oleObj name="Visio" r:id="rId4" imgW="3016871" imgH="1233577"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1563638"/>
                        <a:ext cx="4014979" cy="1635646"/>
                      </a:xfrm>
                      <a:prstGeom prst="rect">
                        <a:avLst/>
                      </a:prstGeom>
                      <a:noFill/>
                    </p:spPr>
                  </p:pic>
                </p:oleObj>
              </mc:Fallback>
            </mc:AlternateContent>
          </a:graphicData>
        </a:graphic>
      </p:graphicFrame>
      <p:sp>
        <p:nvSpPr>
          <p:cNvPr id="5" name="矩形 4"/>
          <p:cNvSpPr/>
          <p:nvPr/>
        </p:nvSpPr>
        <p:spPr>
          <a:xfrm>
            <a:off x="5039544" y="3391073"/>
            <a:ext cx="4104456" cy="646331"/>
          </a:xfrm>
          <a:prstGeom prst="rect">
            <a:avLst/>
          </a:prstGeom>
          <a:solidFill>
            <a:schemeClr val="bg1"/>
          </a:solidFill>
        </p:spPr>
        <p:txBody>
          <a:bodyPr wrap="square">
            <a:spAutoFit/>
          </a:bodyPr>
          <a:lstStyle/>
          <a:p>
            <a:r>
              <a:rPr lang="zh-CN" altLang="zh-CN" dirty="0"/>
              <a:t>识别的语言</a:t>
            </a:r>
            <a:r>
              <a:rPr lang="en-US" altLang="zh-CN" dirty="0"/>
              <a:t>L(M) </a:t>
            </a:r>
            <a:r>
              <a:rPr lang="zh-CN" altLang="zh-CN" dirty="0"/>
              <a:t>就是用</a:t>
            </a:r>
            <a:r>
              <a:rPr lang="en-US" altLang="zh-CN" dirty="0"/>
              <a:t>(</a:t>
            </a:r>
            <a:r>
              <a:rPr lang="en-US" altLang="zh-CN" dirty="0" err="1"/>
              <a:t>a|b</a:t>
            </a:r>
            <a:r>
              <a:rPr lang="en-US" altLang="zh-CN" dirty="0"/>
              <a:t>)*</a:t>
            </a:r>
            <a:r>
              <a:rPr lang="en-US" altLang="zh-CN" dirty="0" err="1"/>
              <a:t>abb</a:t>
            </a:r>
            <a:r>
              <a:rPr lang="zh-CN" altLang="zh-CN" dirty="0"/>
              <a:t>表示的全部符号串 </a:t>
            </a:r>
            <a:endParaRPr lang="zh-CN" altLang="en-US" dirty="0"/>
          </a:p>
        </p:txBody>
      </p:sp>
      <p:sp>
        <p:nvSpPr>
          <p:cNvPr id="2" name="矩形 1"/>
          <p:cNvSpPr/>
          <p:nvPr/>
        </p:nvSpPr>
        <p:spPr>
          <a:xfrm>
            <a:off x="251520" y="2744742"/>
            <a:ext cx="3888432" cy="129266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solidFill>
                  <a:srgbClr val="0000CC"/>
                </a:solidFill>
              </a:rPr>
              <a:t>结论：</a:t>
            </a:r>
          </a:p>
          <a:p>
            <a:pPr marL="0" lvl="1" indent="457200"/>
            <a:r>
              <a:rPr lang="zh-CN" altLang="en-US" dirty="0">
                <a:sym typeface="Symbol" pitchFamily="18" charset="2"/>
              </a:rPr>
              <a:t>上一个符</a:t>
            </a:r>
            <a:r>
              <a:rPr lang="zh-CN" altLang="en-US" dirty="0">
                <a:latin typeface="宋体" pitchFamily="2" charset="-122"/>
              </a:rPr>
              <a:t>号</a:t>
            </a:r>
            <a:r>
              <a:rPr lang="zh-CN" altLang="en-US" dirty="0">
                <a:sym typeface="Symbol" pitchFamily="18" charset="2"/>
              </a:rPr>
              <a:t>串集合</a:t>
            </a:r>
            <a:r>
              <a:rPr lang="en-US" altLang="zh-CN" dirty="0">
                <a:sym typeface="Symbol" pitchFamily="18" charset="2"/>
              </a:rPr>
              <a:t>V </a:t>
            </a:r>
            <a:r>
              <a:rPr lang="en-US" altLang="zh-CN" sz="2400" dirty="0">
                <a:sym typeface="Symbol" pitchFamily="18" charset="2"/>
              </a:rPr>
              <a:t></a:t>
            </a:r>
            <a:r>
              <a:rPr lang="en-US" altLang="zh-CN" dirty="0">
                <a:sym typeface="Symbol" pitchFamily="18" charset="2"/>
              </a:rPr>
              <a:t> </a:t>
            </a:r>
            <a:r>
              <a:rPr lang="en-US" altLang="zh-CN" baseline="30000" dirty="0">
                <a:sym typeface="Symbol" pitchFamily="18" charset="2"/>
              </a:rPr>
              <a:t></a:t>
            </a:r>
            <a:r>
              <a:rPr lang="zh-CN" altLang="en-US" dirty="0">
                <a:sym typeface="Symbol" pitchFamily="18" charset="2"/>
              </a:rPr>
              <a:t>是正规集，当且仅当存在一个上的不确定的有穷自动机</a:t>
            </a:r>
            <a:r>
              <a:rPr lang="en-US" altLang="zh-CN" dirty="0">
                <a:sym typeface="Symbol" pitchFamily="18" charset="2"/>
              </a:rPr>
              <a:t>M</a:t>
            </a:r>
            <a:r>
              <a:rPr lang="zh-CN" altLang="en-US" dirty="0">
                <a:sym typeface="Symbol" pitchFamily="18" charset="2"/>
              </a:rPr>
              <a:t>，使得</a:t>
            </a:r>
            <a:r>
              <a:rPr lang="en-US" altLang="zh-CN" dirty="0">
                <a:sym typeface="Symbol" pitchFamily="18" charset="2"/>
              </a:rPr>
              <a:t>V=L(M)</a:t>
            </a:r>
            <a:r>
              <a:rPr lang="zh-CN" altLang="en-US" dirty="0">
                <a:sym typeface="Symbol" pitchFamily="18" charset="2"/>
              </a:rPr>
              <a:t>。</a:t>
            </a:r>
          </a:p>
        </p:txBody>
      </p:sp>
      <p:sp>
        <p:nvSpPr>
          <p:cNvPr id="3" name="矩形 2"/>
          <p:cNvSpPr/>
          <p:nvPr/>
        </p:nvSpPr>
        <p:spPr>
          <a:xfrm>
            <a:off x="16443" y="4500366"/>
            <a:ext cx="562235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dirty="0"/>
              <a:t>Michael O. Rabin </a:t>
            </a:r>
            <a:r>
              <a:rPr lang="zh-CN" altLang="zh-CN" dirty="0"/>
              <a:t>和</a:t>
            </a:r>
            <a:r>
              <a:rPr lang="en-US" altLang="zh-CN" dirty="0"/>
              <a:t> Dana S. Scott</a:t>
            </a:r>
            <a:r>
              <a:rPr lang="zh-CN" altLang="zh-CN" dirty="0"/>
              <a:t>，非确定性有限状态自动机理论的开创者，荣获</a:t>
            </a:r>
            <a:r>
              <a:rPr lang="en-US" altLang="zh-CN" dirty="0"/>
              <a:t>1976</a:t>
            </a:r>
            <a:r>
              <a:rPr lang="zh-CN" altLang="zh-CN" dirty="0"/>
              <a:t>年度的</a:t>
            </a:r>
            <a:r>
              <a:rPr lang="en-US" altLang="zh-CN" dirty="0"/>
              <a:t>图灵奖</a:t>
            </a:r>
            <a:r>
              <a:rPr lang="zh-CN" altLang="zh-CN" dirty="0"/>
              <a:t>。</a:t>
            </a:r>
            <a:endParaRPr lang="zh-CN" altLang="en-US" dirty="0"/>
          </a:p>
        </p:txBody>
      </p:sp>
    </p:spTree>
    <p:extLst>
      <p:ext uri="{BB962C8B-B14F-4D97-AF65-F5344CB8AC3E}">
        <p14:creationId xmlns:p14="http://schemas.microsoft.com/office/powerpoint/2010/main" val="228775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676400" y="870347"/>
            <a:ext cx="55525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zh-CN" altLang="en-US" sz="2800" b="1"/>
              <a:t>例</a:t>
            </a:r>
            <a:r>
              <a:rPr kumimoji="1" lang="en-US" altLang="zh-CN" sz="2800" b="1" dirty="0"/>
              <a:t>3:</a:t>
            </a:r>
            <a:r>
              <a:rPr kumimoji="1" lang="zh-CN" altLang="en-US" sz="2800" b="1"/>
              <a:t>下列</a:t>
            </a:r>
            <a:r>
              <a:rPr kumimoji="1" lang="en-US" altLang="zh-CN" sz="2800" b="1" dirty="0"/>
              <a:t>NFA</a:t>
            </a:r>
            <a:r>
              <a:rPr kumimoji="1" lang="zh-CN" altLang="en-US" sz="2800" b="1"/>
              <a:t>定义的语言是什么？</a:t>
            </a:r>
          </a:p>
        </p:txBody>
      </p:sp>
      <p:grpSp>
        <p:nvGrpSpPr>
          <p:cNvPr id="60419" name="Group 3"/>
          <p:cNvGrpSpPr>
            <a:grpSpLocks/>
          </p:cNvGrpSpPr>
          <p:nvPr/>
        </p:nvGrpSpPr>
        <p:grpSpPr bwMode="auto">
          <a:xfrm>
            <a:off x="1768476" y="1885950"/>
            <a:ext cx="5156201" cy="1714500"/>
            <a:chOff x="1200" y="1152"/>
            <a:chExt cx="3248" cy="1440"/>
          </a:xfrm>
        </p:grpSpPr>
        <p:sp>
          <p:nvSpPr>
            <p:cNvPr id="60420" name="Oval 4"/>
            <p:cNvSpPr>
              <a:spLocks noChangeArrowheads="1"/>
            </p:cNvSpPr>
            <p:nvPr/>
          </p:nvSpPr>
          <p:spPr bwMode="auto">
            <a:xfrm>
              <a:off x="3729" y="22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0421" name="Oval 5"/>
            <p:cNvSpPr>
              <a:spLocks noChangeArrowheads="1"/>
            </p:cNvSpPr>
            <p:nvPr/>
          </p:nvSpPr>
          <p:spPr bwMode="auto">
            <a:xfrm>
              <a:off x="3777" y="2256"/>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latin typeface="Times New Roman" pitchFamily="18" charset="0"/>
                </a:rPr>
                <a:t>4</a:t>
              </a:r>
            </a:p>
          </p:txBody>
        </p:sp>
        <p:sp>
          <p:nvSpPr>
            <p:cNvPr id="60422" name="Oval 6"/>
            <p:cNvSpPr>
              <a:spLocks noChangeArrowheads="1"/>
            </p:cNvSpPr>
            <p:nvPr/>
          </p:nvSpPr>
          <p:spPr bwMode="auto">
            <a:xfrm>
              <a:off x="1536" y="182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latin typeface="Times New Roman" pitchFamily="18" charset="0"/>
                </a:rPr>
                <a:t>1</a:t>
              </a:r>
            </a:p>
          </p:txBody>
        </p:sp>
        <p:sp>
          <p:nvSpPr>
            <p:cNvPr id="60423" name="Oval 7"/>
            <p:cNvSpPr>
              <a:spLocks noChangeArrowheads="1"/>
            </p:cNvSpPr>
            <p:nvPr/>
          </p:nvSpPr>
          <p:spPr bwMode="auto">
            <a:xfrm>
              <a:off x="2577" y="22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latin typeface="Times New Roman" pitchFamily="18" charset="0"/>
                </a:rPr>
                <a:t>3</a:t>
              </a:r>
            </a:p>
          </p:txBody>
        </p:sp>
        <p:sp>
          <p:nvSpPr>
            <p:cNvPr id="60424" name="Line 8"/>
            <p:cNvSpPr>
              <a:spLocks noChangeShapeType="1"/>
            </p:cNvSpPr>
            <p:nvPr/>
          </p:nvSpPr>
          <p:spPr bwMode="auto">
            <a:xfrm>
              <a:off x="1920" y="2112"/>
              <a:ext cx="657" cy="288"/>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0425" name="Text Box 9"/>
            <p:cNvSpPr txBox="1">
              <a:spLocks noChangeArrowheads="1"/>
            </p:cNvSpPr>
            <p:nvPr/>
          </p:nvSpPr>
          <p:spPr bwMode="auto">
            <a:xfrm>
              <a:off x="3168" y="2160"/>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b</a:t>
              </a:r>
            </a:p>
          </p:txBody>
        </p:sp>
        <p:sp>
          <p:nvSpPr>
            <p:cNvPr id="60426" name="Oval 10"/>
            <p:cNvSpPr>
              <a:spLocks noChangeArrowheads="1"/>
            </p:cNvSpPr>
            <p:nvPr/>
          </p:nvSpPr>
          <p:spPr bwMode="auto">
            <a:xfrm>
              <a:off x="2544"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latin typeface="Times New Roman" pitchFamily="18" charset="0"/>
                </a:rPr>
                <a:t>2</a:t>
              </a:r>
            </a:p>
          </p:txBody>
        </p:sp>
        <p:sp>
          <p:nvSpPr>
            <p:cNvPr id="60427" name="Line 11"/>
            <p:cNvSpPr>
              <a:spLocks noChangeShapeType="1"/>
            </p:cNvSpPr>
            <p:nvPr/>
          </p:nvSpPr>
          <p:spPr bwMode="auto">
            <a:xfrm flipV="1">
              <a:off x="1920" y="1584"/>
              <a:ext cx="624" cy="336"/>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0428" name="Text Box 12"/>
            <p:cNvSpPr txBox="1">
              <a:spLocks noChangeArrowheads="1"/>
            </p:cNvSpPr>
            <p:nvPr/>
          </p:nvSpPr>
          <p:spPr bwMode="auto">
            <a:xfrm>
              <a:off x="2112" y="1488"/>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t>
              </a:r>
            </a:p>
          </p:txBody>
        </p:sp>
        <p:sp>
          <p:nvSpPr>
            <p:cNvPr id="60429" name="Text Box 13"/>
            <p:cNvSpPr txBox="1">
              <a:spLocks noChangeArrowheads="1"/>
            </p:cNvSpPr>
            <p:nvPr/>
          </p:nvSpPr>
          <p:spPr bwMode="auto">
            <a:xfrm>
              <a:off x="3168" y="1344"/>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a:t>
              </a:r>
            </a:p>
          </p:txBody>
        </p:sp>
        <p:sp>
          <p:nvSpPr>
            <p:cNvPr id="60430" name="Line 14"/>
            <p:cNvSpPr>
              <a:spLocks noChangeShapeType="1"/>
            </p:cNvSpPr>
            <p:nvPr/>
          </p:nvSpPr>
          <p:spPr bwMode="auto">
            <a:xfrm>
              <a:off x="2961" y="2400"/>
              <a:ext cx="768"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0431" name="Line 15"/>
            <p:cNvSpPr>
              <a:spLocks noChangeShapeType="1"/>
            </p:cNvSpPr>
            <p:nvPr/>
          </p:nvSpPr>
          <p:spPr bwMode="auto">
            <a:xfrm flipV="1">
              <a:off x="2928" y="1632"/>
              <a:ext cx="816" cy="0"/>
            </a:xfrm>
            <a:prstGeom prst="line">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0432" name="Text Box 16"/>
            <p:cNvSpPr txBox="1">
              <a:spLocks noChangeArrowheads="1"/>
            </p:cNvSpPr>
            <p:nvPr/>
          </p:nvSpPr>
          <p:spPr bwMode="auto">
            <a:xfrm>
              <a:off x="2160" y="2016"/>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t>
              </a:r>
            </a:p>
          </p:txBody>
        </p:sp>
        <p:sp>
          <p:nvSpPr>
            <p:cNvPr id="60433" name="Text Box 17"/>
            <p:cNvSpPr txBox="1">
              <a:spLocks noChangeArrowheads="1"/>
            </p:cNvSpPr>
            <p:nvPr/>
          </p:nvSpPr>
          <p:spPr bwMode="auto">
            <a:xfrm>
              <a:off x="4204" y="1152"/>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a</a:t>
              </a:r>
            </a:p>
          </p:txBody>
        </p:sp>
        <p:sp>
          <p:nvSpPr>
            <p:cNvPr id="60434" name="Text Box 18"/>
            <p:cNvSpPr txBox="1">
              <a:spLocks noChangeArrowheads="1"/>
            </p:cNvSpPr>
            <p:nvPr/>
          </p:nvSpPr>
          <p:spPr bwMode="auto">
            <a:xfrm>
              <a:off x="4224" y="2016"/>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kumimoji="1" lang="en-US" altLang="zh-CN" sz="2400" b="1" dirty="0">
                  <a:latin typeface="Times New Roman" pitchFamily="18" charset="0"/>
                  <a:sym typeface="Symbol" pitchFamily="18" charset="2"/>
                </a:rPr>
                <a:t>b</a:t>
              </a:r>
            </a:p>
          </p:txBody>
        </p:sp>
        <p:sp>
          <p:nvSpPr>
            <p:cNvPr id="60435" name="Oval 19"/>
            <p:cNvSpPr>
              <a:spLocks noChangeArrowheads="1"/>
            </p:cNvSpPr>
            <p:nvPr/>
          </p:nvSpPr>
          <p:spPr bwMode="auto">
            <a:xfrm>
              <a:off x="3744"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0436" name="Oval 20"/>
            <p:cNvSpPr>
              <a:spLocks noChangeArrowheads="1"/>
            </p:cNvSpPr>
            <p:nvPr/>
          </p:nvSpPr>
          <p:spPr bwMode="auto">
            <a:xfrm>
              <a:off x="3792"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latin typeface="Times New Roman" pitchFamily="18" charset="0"/>
                </a:rPr>
                <a:t>4</a:t>
              </a:r>
            </a:p>
          </p:txBody>
        </p:sp>
        <p:sp>
          <p:nvSpPr>
            <p:cNvPr id="60437" name="AutoShape 21"/>
            <p:cNvSpPr>
              <a:spLocks noChangeArrowheads="1"/>
            </p:cNvSpPr>
            <p:nvPr/>
          </p:nvSpPr>
          <p:spPr bwMode="auto">
            <a:xfrm>
              <a:off x="1200" y="2016"/>
              <a:ext cx="336" cy="96"/>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60438" name="AutoShape 22"/>
            <p:cNvCxnSpPr>
              <a:cxnSpLocks noChangeShapeType="1"/>
              <a:stCxn id="60435" idx="0"/>
              <a:endCxn id="60435" idx="6"/>
            </p:cNvCxnSpPr>
            <p:nvPr/>
          </p:nvCxnSpPr>
          <p:spPr bwMode="auto">
            <a:xfrm rot="5400000" flipV="1">
              <a:off x="3936" y="1440"/>
              <a:ext cx="192" cy="192"/>
            </a:xfrm>
            <a:prstGeom prst="curvedConnector4">
              <a:avLst>
                <a:gd name="adj1" fmla="val -75000"/>
                <a:gd name="adj2" fmla="val 175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0439" name="AutoShape 23"/>
            <p:cNvCxnSpPr>
              <a:cxnSpLocks noChangeShapeType="1"/>
              <a:stCxn id="60420" idx="0"/>
              <a:endCxn id="60420" idx="6"/>
            </p:cNvCxnSpPr>
            <p:nvPr/>
          </p:nvCxnSpPr>
          <p:spPr bwMode="auto">
            <a:xfrm rot="5400000" flipV="1">
              <a:off x="3921" y="2208"/>
              <a:ext cx="192" cy="192"/>
            </a:xfrm>
            <a:prstGeom prst="curvedConnector4">
              <a:avLst>
                <a:gd name="adj1" fmla="val -75000"/>
                <a:gd name="adj2" fmla="val 175000"/>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171533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3648" y="1779662"/>
            <a:ext cx="5725414" cy="1569660"/>
          </a:xfrm>
          <a:prstGeom prst="rect">
            <a:avLst/>
          </a:prstGeom>
        </p:spPr>
        <p:txBody>
          <a:bodyPr wrap="none">
            <a:spAutoFit/>
          </a:bodyPr>
          <a:lstStyle/>
          <a:p>
            <a:r>
              <a:rPr kumimoji="1" lang="en-US" altLang="zh-CN" sz="4800" b="1" dirty="0">
                <a:solidFill>
                  <a:srgbClr val="CC0099"/>
                </a:solidFill>
                <a:latin typeface="Times New Roman" pitchFamily="18" charset="0"/>
                <a:ea typeface="隶书" pitchFamily="49" charset="-122"/>
              </a:rPr>
              <a:t>4</a:t>
            </a:r>
            <a:r>
              <a:rPr kumimoji="1" lang="zh-CN" altLang="zh-CN" sz="4800" b="1" dirty="0">
                <a:solidFill>
                  <a:srgbClr val="CC0099"/>
                </a:solidFill>
                <a:latin typeface="Times New Roman" pitchFamily="18" charset="0"/>
                <a:ea typeface="隶书" pitchFamily="49" charset="-122"/>
              </a:rPr>
              <a:t> 有穷自动机</a:t>
            </a:r>
            <a:endParaRPr kumimoji="1" lang="en-US" altLang="zh-CN" sz="4800" b="1" dirty="0">
              <a:solidFill>
                <a:srgbClr val="CC0099"/>
              </a:solidFill>
              <a:latin typeface="Times New Roman" pitchFamily="18" charset="0"/>
              <a:ea typeface="隶书" pitchFamily="49" charset="-122"/>
            </a:endParaRPr>
          </a:p>
          <a:p>
            <a:r>
              <a:rPr kumimoji="1" lang="en-US" altLang="zh-CN" sz="4800" b="1" dirty="0">
                <a:solidFill>
                  <a:srgbClr val="CC0099"/>
                </a:solidFill>
                <a:latin typeface="Times New Roman" pitchFamily="18" charset="0"/>
                <a:ea typeface="隶书" pitchFamily="49" charset="-122"/>
              </a:rPr>
              <a:t>    ——NFA</a:t>
            </a:r>
            <a:r>
              <a:rPr kumimoji="1" lang="zh-CN" altLang="en-US" sz="4800" b="1" dirty="0">
                <a:solidFill>
                  <a:srgbClr val="CC0099"/>
                </a:solidFill>
                <a:latin typeface="Times New Roman" pitchFamily="18" charset="0"/>
                <a:ea typeface="隶书" pitchFamily="49" charset="-122"/>
              </a:rPr>
              <a:t>的确定化</a:t>
            </a:r>
            <a:endParaRPr lang="zh-CN" altLang="en-US" sz="4800" dirty="0"/>
          </a:p>
        </p:txBody>
      </p:sp>
    </p:spTree>
    <p:extLst>
      <p:ext uri="{BB962C8B-B14F-4D97-AF65-F5344CB8AC3E}">
        <p14:creationId xmlns:p14="http://schemas.microsoft.com/office/powerpoint/2010/main" val="11474301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51520" y="195486"/>
            <a:ext cx="8229600" cy="576064"/>
          </a:xfrm>
        </p:spPr>
        <p:txBody>
          <a:bodyPr>
            <a:normAutofit fontScale="90000"/>
          </a:bodyPr>
          <a:lstStyle/>
          <a:p>
            <a:pPr eaLnBrk="1" hangingPunct="1"/>
            <a:r>
              <a:rPr lang="en-US" altLang="zh-CN" sz="4000" b="1" dirty="0">
                <a:ea typeface="楷体_GB2312" pitchFamily="49" charset="-122"/>
              </a:rPr>
              <a:t>DFA</a:t>
            </a:r>
            <a:r>
              <a:rPr lang="zh-CN" altLang="en-US" sz="4000" b="1" dirty="0">
                <a:ea typeface="楷体_GB2312" pitchFamily="49" charset="-122"/>
              </a:rPr>
              <a:t>与</a:t>
            </a:r>
            <a:r>
              <a:rPr lang="en-US" altLang="zh-CN" sz="4000" b="1" dirty="0">
                <a:ea typeface="楷体_GB2312" pitchFamily="49" charset="-122"/>
              </a:rPr>
              <a:t>NFA</a:t>
            </a:r>
            <a:r>
              <a:rPr lang="zh-CN" altLang="en-US" sz="4000" b="1" dirty="0">
                <a:ea typeface="楷体_GB2312" pitchFamily="49" charset="-122"/>
              </a:rPr>
              <a:t>的主要区别</a:t>
            </a:r>
          </a:p>
        </p:txBody>
      </p:sp>
      <p:sp>
        <p:nvSpPr>
          <p:cNvPr id="62467" name="Rectangle 3"/>
          <p:cNvSpPr>
            <a:spLocks noGrp="1" noChangeArrowheads="1"/>
          </p:cNvSpPr>
          <p:nvPr>
            <p:ph type="body" idx="1"/>
          </p:nvPr>
        </p:nvSpPr>
        <p:spPr>
          <a:xfrm>
            <a:off x="683568" y="1203598"/>
            <a:ext cx="7571184" cy="3394472"/>
          </a:xfrm>
        </p:spPr>
        <p:txBody>
          <a:bodyPr>
            <a:normAutofit/>
          </a:bodyPr>
          <a:lstStyle/>
          <a:p>
            <a:r>
              <a:rPr lang="zh-CN" altLang="en-US" sz="2200" dirty="0"/>
              <a:t>（</a:t>
            </a:r>
            <a:r>
              <a:rPr lang="en-US" altLang="zh-CN" sz="2200" dirty="0"/>
              <a:t>1</a:t>
            </a:r>
            <a:r>
              <a:rPr lang="zh-CN" altLang="en-US" sz="2200" dirty="0"/>
              <a:t>）</a:t>
            </a:r>
            <a:r>
              <a:rPr lang="en-US" altLang="zh-CN" sz="2200" dirty="0"/>
              <a:t>DFA</a:t>
            </a:r>
            <a:r>
              <a:rPr lang="zh-CN" altLang="en-US" sz="2200" dirty="0"/>
              <a:t>的初态唯一，</a:t>
            </a:r>
            <a:r>
              <a:rPr lang="en-US" altLang="zh-CN" sz="2200" dirty="0"/>
              <a:t>NFA</a:t>
            </a:r>
            <a:r>
              <a:rPr lang="zh-CN" altLang="en-US" sz="2200" dirty="0"/>
              <a:t>的初态为一集合。</a:t>
            </a:r>
          </a:p>
          <a:p>
            <a:r>
              <a:rPr lang="zh-CN" altLang="en-US" sz="2200" dirty="0"/>
              <a:t>（</a:t>
            </a:r>
            <a:r>
              <a:rPr lang="en-US" altLang="zh-CN" sz="2200" dirty="0"/>
              <a:t>2</a:t>
            </a:r>
            <a:r>
              <a:rPr lang="zh-CN" altLang="en-US" sz="2200" dirty="0"/>
              <a:t>）</a:t>
            </a:r>
            <a:r>
              <a:rPr lang="en-US" altLang="zh-CN" sz="2200" dirty="0"/>
              <a:t>DFA</a:t>
            </a:r>
            <a:r>
              <a:rPr lang="zh-CN" altLang="en-US" sz="2200" dirty="0"/>
              <a:t>任何状态都没有</a:t>
            </a:r>
            <a:r>
              <a:rPr lang="en-US" altLang="zh-CN" sz="2200" dirty="0"/>
              <a:t>ε</a:t>
            </a:r>
            <a:r>
              <a:rPr lang="zh-CN" altLang="en-US" sz="2200" dirty="0"/>
              <a:t>转换，即没有任何状态可以不进行输入符号的匹配就直接进入下一个状态；</a:t>
            </a:r>
            <a:r>
              <a:rPr lang="en-US" altLang="zh-CN" sz="2200" dirty="0"/>
              <a:t>NFA</a:t>
            </a:r>
            <a:r>
              <a:rPr lang="zh-CN" altLang="en-US" sz="2200" dirty="0"/>
              <a:t>存在</a:t>
            </a:r>
            <a:r>
              <a:rPr lang="en-US" altLang="zh-CN" sz="2200" dirty="0"/>
              <a:t>ε</a:t>
            </a:r>
            <a:r>
              <a:rPr lang="zh-CN" altLang="en-US" sz="2200" dirty="0"/>
              <a:t>转换。</a:t>
            </a:r>
          </a:p>
          <a:p>
            <a:r>
              <a:rPr lang="zh-CN" altLang="en-US" sz="2200" dirty="0"/>
              <a:t>（</a:t>
            </a:r>
            <a:r>
              <a:rPr lang="en-US" altLang="zh-CN" sz="2200" dirty="0"/>
              <a:t>3</a:t>
            </a:r>
            <a:r>
              <a:rPr lang="zh-CN" altLang="en-US" sz="2200" dirty="0"/>
              <a:t>）</a:t>
            </a:r>
            <a:r>
              <a:rPr lang="en-US" altLang="zh-CN" sz="2200" dirty="0"/>
              <a:t>DFA</a:t>
            </a:r>
            <a:r>
              <a:rPr lang="zh-CN" altLang="en-US" sz="2200" dirty="0"/>
              <a:t>中的状态转换函数</a:t>
            </a:r>
            <a:r>
              <a:rPr lang="en-US" altLang="zh-CN" sz="2200" dirty="0"/>
              <a:t>δ</a:t>
            </a:r>
            <a:r>
              <a:rPr lang="zh-CN" altLang="en-US" sz="2200" dirty="0"/>
              <a:t>是一个单值函数，对任何状态</a:t>
            </a:r>
            <a:r>
              <a:rPr lang="en-US" altLang="zh-CN" sz="2200" i="1" dirty="0"/>
              <a:t>s</a:t>
            </a:r>
            <a:r>
              <a:rPr lang="zh-CN" altLang="en-US" sz="2200" dirty="0"/>
              <a:t>和任何输入符号</a:t>
            </a:r>
            <a:r>
              <a:rPr lang="en-US" altLang="zh-CN" sz="2200" i="1" dirty="0"/>
              <a:t>a</a:t>
            </a:r>
            <a:r>
              <a:rPr lang="zh-CN" altLang="en-US" sz="2200" dirty="0"/>
              <a:t>，只有一个后继状态；而</a:t>
            </a:r>
            <a:r>
              <a:rPr lang="en-US" altLang="zh-CN" sz="2200" dirty="0"/>
              <a:t>NFA</a:t>
            </a:r>
            <a:r>
              <a:rPr lang="zh-CN" altLang="en-US" sz="2200" dirty="0"/>
              <a:t>中</a:t>
            </a:r>
            <a:r>
              <a:rPr lang="en-US" altLang="zh-CN" sz="2200" dirty="0"/>
              <a:t>δ</a:t>
            </a:r>
            <a:r>
              <a:rPr lang="zh-CN" altLang="en-US" sz="2200" dirty="0"/>
              <a:t>是一个多值函数。</a:t>
            </a:r>
          </a:p>
        </p:txBody>
      </p:sp>
    </p:spTree>
    <p:extLst>
      <p:ext uri="{BB962C8B-B14F-4D97-AF65-F5344CB8AC3E}">
        <p14:creationId xmlns:p14="http://schemas.microsoft.com/office/powerpoint/2010/main" val="225690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468313" y="1075135"/>
            <a:ext cx="8229600" cy="3714750"/>
          </a:xfrm>
        </p:spPr>
        <p:txBody>
          <a:bodyPr>
            <a:normAutofit/>
          </a:bodyPr>
          <a:lstStyle/>
          <a:p>
            <a:pPr eaLnBrk="1" hangingPunct="1">
              <a:lnSpc>
                <a:spcPct val="90000"/>
              </a:lnSpc>
            </a:pPr>
            <a:r>
              <a:rPr lang="en-US" altLang="zh-CN" sz="2200" dirty="0"/>
              <a:t>DFA</a:t>
            </a:r>
            <a:r>
              <a:rPr lang="zh-CN" altLang="en-US" sz="2200" dirty="0"/>
              <a:t>是</a:t>
            </a:r>
            <a:r>
              <a:rPr lang="en-US" altLang="zh-CN" sz="2200" dirty="0"/>
              <a:t>NFA</a:t>
            </a:r>
            <a:r>
              <a:rPr lang="zh-CN" altLang="en-US" sz="2200" dirty="0"/>
              <a:t>的特例</a:t>
            </a:r>
            <a:r>
              <a:rPr lang="en-US" altLang="zh-CN" sz="2200" dirty="0"/>
              <a:t>.</a:t>
            </a:r>
            <a:r>
              <a:rPr lang="zh-CN" altLang="en-US" sz="2200" dirty="0"/>
              <a:t>对每个</a:t>
            </a:r>
            <a:r>
              <a:rPr lang="en-US" altLang="zh-CN" sz="2200" dirty="0"/>
              <a:t>NFA  N</a:t>
            </a:r>
            <a:r>
              <a:rPr lang="zh-CN" altLang="en-US" sz="2200" dirty="0"/>
              <a:t>一定存在一个</a:t>
            </a:r>
            <a:r>
              <a:rPr lang="en-US" altLang="zh-CN" sz="2200" dirty="0"/>
              <a:t>DFA  </a:t>
            </a:r>
            <a:r>
              <a:rPr lang="zh-CN" altLang="en-US" sz="2200" dirty="0"/>
              <a:t>Ｍ，使得  </a:t>
            </a:r>
            <a:r>
              <a:rPr lang="en-US" altLang="zh-CN" sz="2200" dirty="0"/>
              <a:t>L(M)=L(N)</a:t>
            </a:r>
            <a:r>
              <a:rPr lang="zh-CN" altLang="en-US" sz="2200" dirty="0"/>
              <a:t>。也就是说：对每个</a:t>
            </a:r>
            <a:r>
              <a:rPr lang="en-US" altLang="zh-CN" sz="2200" dirty="0"/>
              <a:t>NFA N</a:t>
            </a:r>
            <a:r>
              <a:rPr lang="zh-CN" altLang="en-US" sz="2200" dirty="0"/>
              <a:t>存在着与之等价的</a:t>
            </a:r>
            <a:r>
              <a:rPr lang="en-US" altLang="zh-CN" sz="2200" dirty="0"/>
              <a:t>DFA M</a:t>
            </a:r>
            <a:r>
              <a:rPr lang="zh-CN" altLang="en-US" sz="2200" dirty="0"/>
              <a:t>。</a:t>
            </a:r>
          </a:p>
          <a:p>
            <a:pPr eaLnBrk="1" hangingPunct="1">
              <a:lnSpc>
                <a:spcPct val="90000"/>
              </a:lnSpc>
            </a:pPr>
            <a:endParaRPr lang="zh-CN" altLang="en-US" sz="2200" dirty="0"/>
          </a:p>
          <a:p>
            <a:pPr eaLnBrk="1" hangingPunct="1">
              <a:lnSpc>
                <a:spcPct val="90000"/>
              </a:lnSpc>
            </a:pPr>
            <a:r>
              <a:rPr lang="zh-CN" altLang="en-US" sz="2200" b="1" dirty="0">
                <a:solidFill>
                  <a:srgbClr val="0000CC"/>
                </a:solidFill>
                <a:ea typeface="方正舒体" pitchFamily="2" charset="-122"/>
              </a:rPr>
              <a:t>思路：</a:t>
            </a:r>
            <a:r>
              <a:rPr lang="zh-CN" altLang="en-US" sz="2200" dirty="0"/>
              <a:t>将</a:t>
            </a:r>
            <a:r>
              <a:rPr lang="en-US" altLang="zh-CN" sz="2200" dirty="0"/>
              <a:t>NFA</a:t>
            </a:r>
            <a:r>
              <a:rPr lang="zh-CN" altLang="en-US" sz="2200" dirty="0"/>
              <a:t>转换成接受同样语言的</a:t>
            </a:r>
            <a:r>
              <a:rPr lang="en-US" altLang="zh-CN" sz="2200" dirty="0"/>
              <a:t>DFA</a:t>
            </a:r>
            <a:r>
              <a:rPr lang="zh-CN" altLang="en-US" sz="2200" dirty="0"/>
              <a:t>。</a:t>
            </a:r>
            <a:endParaRPr lang="zh-CN" altLang="en-US" sz="2200" dirty="0">
              <a:solidFill>
                <a:schemeClr val="bg1"/>
              </a:solidFill>
            </a:endParaRPr>
          </a:p>
          <a:p>
            <a:pPr>
              <a:lnSpc>
                <a:spcPct val="90000"/>
              </a:lnSpc>
            </a:pPr>
            <a:endParaRPr lang="en-US" altLang="zh-CN" sz="2200" dirty="0">
              <a:solidFill>
                <a:srgbClr val="0000CC"/>
              </a:solidFill>
            </a:endParaRPr>
          </a:p>
          <a:p>
            <a:pPr>
              <a:lnSpc>
                <a:spcPct val="90000"/>
              </a:lnSpc>
            </a:pPr>
            <a:r>
              <a:rPr lang="en-US" altLang="zh-CN" sz="2200" dirty="0">
                <a:solidFill>
                  <a:srgbClr val="0000CC"/>
                </a:solidFill>
              </a:rPr>
              <a:t>NFA</a:t>
            </a:r>
            <a:r>
              <a:rPr lang="zh-CN" altLang="en-US" sz="2200" dirty="0">
                <a:solidFill>
                  <a:srgbClr val="0000CC"/>
                </a:solidFill>
              </a:rPr>
              <a:t>确定化</a:t>
            </a:r>
            <a:r>
              <a:rPr lang="zh-CN" altLang="en-US" sz="2200" dirty="0"/>
              <a:t>的方法是： </a:t>
            </a:r>
            <a:r>
              <a:rPr lang="en-US" altLang="zh-CN" sz="2200" b="1" dirty="0">
                <a:solidFill>
                  <a:srgbClr val="3333FF"/>
                </a:solidFill>
                <a:latin typeface="方正舒体" pitchFamily="2" charset="-122"/>
                <a:ea typeface="方正舒体" pitchFamily="2" charset="-122"/>
              </a:rPr>
              <a:t>DFA</a:t>
            </a:r>
            <a:r>
              <a:rPr lang="zh-CN" altLang="en-US" sz="2200" b="1" dirty="0">
                <a:solidFill>
                  <a:srgbClr val="3333FF"/>
                </a:solidFill>
                <a:latin typeface="方正舒体" pitchFamily="2" charset="-122"/>
                <a:ea typeface="方正舒体" pitchFamily="2" charset="-122"/>
              </a:rPr>
              <a:t>的每一个状态对应</a:t>
            </a:r>
            <a:r>
              <a:rPr lang="en-US" altLang="zh-CN" sz="2200" dirty="0">
                <a:solidFill>
                  <a:srgbClr val="3333FF"/>
                </a:solidFill>
                <a:latin typeface="方正舒体" pitchFamily="2" charset="-122"/>
                <a:ea typeface="方正舒体" pitchFamily="2" charset="-122"/>
              </a:rPr>
              <a:t>NFA</a:t>
            </a:r>
            <a:r>
              <a:rPr lang="zh-CN" altLang="en-US" sz="2200" dirty="0">
                <a:solidFill>
                  <a:srgbClr val="3333FF"/>
                </a:solidFill>
                <a:latin typeface="方正舒体" pitchFamily="2" charset="-122"/>
                <a:ea typeface="方正舒体" pitchFamily="2" charset="-122"/>
              </a:rPr>
              <a:t>的一组状态</a:t>
            </a:r>
            <a:r>
              <a:rPr lang="en-US" altLang="zh-CN" sz="2200" dirty="0">
                <a:solidFill>
                  <a:srgbClr val="3333FF"/>
                </a:solidFill>
                <a:latin typeface="方正舒体" pitchFamily="2" charset="-122"/>
                <a:ea typeface="方正舒体" pitchFamily="2" charset="-122"/>
              </a:rPr>
              <a:t>.</a:t>
            </a:r>
            <a:r>
              <a:rPr lang="en-US" altLang="zh-CN" sz="2200" dirty="0">
                <a:latin typeface="方正舒体" pitchFamily="2" charset="-122"/>
                <a:ea typeface="方正舒体" pitchFamily="2" charset="-122"/>
              </a:rPr>
              <a:t> </a:t>
            </a:r>
            <a:r>
              <a:rPr lang="zh-CN" altLang="en-US" sz="2200" b="1" dirty="0">
                <a:solidFill>
                  <a:srgbClr val="0000CC"/>
                </a:solidFill>
                <a:ea typeface="方正舒体" pitchFamily="2" charset="-122"/>
              </a:rPr>
              <a:t>（子集法）</a:t>
            </a:r>
            <a:endParaRPr lang="zh-CN" altLang="zh-CN" sz="2200" dirty="0"/>
          </a:p>
          <a:p>
            <a:pPr>
              <a:lnSpc>
                <a:spcPct val="90000"/>
              </a:lnSpc>
            </a:pPr>
            <a:r>
              <a:rPr lang="zh-CN" altLang="en-US" sz="2200" dirty="0"/>
              <a:t>使用</a:t>
            </a:r>
            <a:r>
              <a:rPr lang="en-US" altLang="zh-CN" sz="2200" dirty="0"/>
              <a:t>DFA</a:t>
            </a:r>
            <a:r>
              <a:rPr lang="zh-CN" altLang="en-US" sz="2200" dirty="0"/>
              <a:t>的一个状态去记录在</a:t>
            </a:r>
            <a:r>
              <a:rPr lang="en-US" altLang="zh-CN" sz="2200" dirty="0"/>
              <a:t>NFA</a:t>
            </a:r>
            <a:r>
              <a:rPr lang="zh-CN" altLang="en-US" sz="2200" dirty="0"/>
              <a:t>读入一个输入符号后可能达到的所有状态</a:t>
            </a:r>
            <a:r>
              <a:rPr lang="en-US" altLang="zh-CN" sz="2200" dirty="0"/>
              <a:t>.</a:t>
            </a:r>
            <a:r>
              <a:rPr lang="zh-CN" altLang="en-US" sz="2200" b="1" dirty="0">
                <a:solidFill>
                  <a:srgbClr val="0000CC"/>
                </a:solidFill>
                <a:ea typeface="方正舒体" pitchFamily="2" charset="-122"/>
              </a:rPr>
              <a:t> </a:t>
            </a:r>
            <a:endParaRPr lang="zh-CN" altLang="zh-CN" sz="2200" dirty="0"/>
          </a:p>
        </p:txBody>
      </p:sp>
      <p:sp>
        <p:nvSpPr>
          <p:cNvPr id="63491" name="Rectangle 5"/>
          <p:cNvSpPr>
            <a:spLocks noGrp="1" noChangeArrowheads="1"/>
          </p:cNvSpPr>
          <p:nvPr>
            <p:ph type="title"/>
          </p:nvPr>
        </p:nvSpPr>
        <p:spPr>
          <a:xfrm>
            <a:off x="371475" y="180975"/>
            <a:ext cx="8229600" cy="704850"/>
          </a:xfrm>
        </p:spPr>
        <p:txBody>
          <a:bodyPr/>
          <a:lstStyle/>
          <a:p>
            <a:pPr eaLnBrk="1" hangingPunct="1"/>
            <a:r>
              <a:rPr lang="en-US" altLang="zh-CN" sz="4000" b="1" dirty="0">
                <a:ea typeface="楷体_GB2312" pitchFamily="49" charset="-122"/>
              </a:rPr>
              <a:t>NFA</a:t>
            </a:r>
            <a:r>
              <a:rPr lang="zh-CN" altLang="en-US" sz="4000" b="1">
                <a:ea typeface="楷体_GB2312" pitchFamily="49" charset="-122"/>
              </a:rPr>
              <a:t>的确定化</a:t>
            </a:r>
          </a:p>
        </p:txBody>
      </p:sp>
    </p:spTree>
    <p:extLst>
      <p:ext uri="{BB962C8B-B14F-4D97-AF65-F5344CB8AC3E}">
        <p14:creationId xmlns:p14="http://schemas.microsoft.com/office/powerpoint/2010/main" val="266848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4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4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394172" y="2054664"/>
            <a:ext cx="2933912" cy="1457836"/>
            <a:chOff x="2394172" y="2054664"/>
            <a:chExt cx="2933912" cy="1457836"/>
          </a:xfrm>
        </p:grpSpPr>
        <p:sp>
          <p:nvSpPr>
            <p:cNvPr id="5" name="椭圆 4"/>
            <p:cNvSpPr/>
            <p:nvPr/>
          </p:nvSpPr>
          <p:spPr>
            <a:xfrm>
              <a:off x="2771800" y="213970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771800" y="249974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771800" y="321982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2394172" y="2067694"/>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2394172" y="2427734"/>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2394172" y="3143168"/>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cxnSp>
          <p:nvCxnSpPr>
            <p:cNvPr id="8" name="直接箭头连接符 7"/>
            <p:cNvCxnSpPr>
              <a:stCxn id="5" idx="6"/>
            </p:cNvCxnSpPr>
            <p:nvPr/>
          </p:nvCxnSpPr>
          <p:spPr>
            <a:xfrm>
              <a:off x="2987824" y="2247714"/>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9" idx="6"/>
            </p:cNvCxnSpPr>
            <p:nvPr/>
          </p:nvCxnSpPr>
          <p:spPr>
            <a:xfrm>
              <a:off x="2987824" y="2607754"/>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6"/>
            </p:cNvCxnSpPr>
            <p:nvPr/>
          </p:nvCxnSpPr>
          <p:spPr>
            <a:xfrm>
              <a:off x="2987824" y="3327834"/>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705454" y="2569566"/>
              <a:ext cx="648072" cy="369332"/>
            </a:xfrm>
            <a:prstGeom prst="rect">
              <a:avLst/>
            </a:prstGeom>
            <a:noFill/>
          </p:spPr>
          <p:txBody>
            <a:bodyPr wrap="square" rtlCol="0">
              <a:spAutoFit/>
            </a:bodyPr>
            <a:lstStyle/>
            <a:p>
              <a:r>
                <a:rPr lang="en-US" altLang="zh-CN" dirty="0"/>
                <a:t>……</a:t>
              </a:r>
              <a:endParaRPr lang="zh-CN" altLang="en-US" dirty="0"/>
            </a:p>
          </p:txBody>
        </p:sp>
        <p:cxnSp>
          <p:nvCxnSpPr>
            <p:cNvPr id="21" name="直接箭头连接符 20"/>
            <p:cNvCxnSpPr/>
            <p:nvPr/>
          </p:nvCxnSpPr>
          <p:spPr>
            <a:xfrm>
              <a:off x="4572000" y="2211710"/>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4572000" y="2571750"/>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4572000" y="3291830"/>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5041774" y="210369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5041774" y="246373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5041774" y="318381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4992821" y="3143168"/>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4988256" y="2427734"/>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5004048" y="2054664"/>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p:nvPr/>
          </p:nvCxnSpPr>
          <p:spPr>
            <a:xfrm flipV="1">
              <a:off x="4537319" y="2679762"/>
              <a:ext cx="501410" cy="14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27" idx="1"/>
            </p:cNvCxnSpPr>
            <p:nvPr/>
          </p:nvCxnSpPr>
          <p:spPr>
            <a:xfrm>
              <a:off x="4572000" y="3084495"/>
              <a:ext cx="466795" cy="1027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9" idx="5"/>
            </p:cNvCxnSpPr>
            <p:nvPr/>
          </p:nvCxnSpPr>
          <p:spPr>
            <a:xfrm>
              <a:off x="2956188" y="2684130"/>
              <a:ext cx="463684" cy="1445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2525934" y="2812186"/>
              <a:ext cx="648072" cy="369332"/>
            </a:xfrm>
            <a:prstGeom prst="rect">
              <a:avLst/>
            </a:prstGeom>
            <a:noFill/>
          </p:spPr>
          <p:txBody>
            <a:bodyPr wrap="square" rtlCol="0">
              <a:spAutoFit/>
            </a:bodyPr>
            <a:lstStyle/>
            <a:p>
              <a:r>
                <a:rPr lang="en-US" altLang="zh-CN" dirty="0"/>
                <a:t>……</a:t>
              </a:r>
              <a:endParaRPr lang="zh-CN" altLang="en-US" dirty="0"/>
            </a:p>
          </p:txBody>
        </p:sp>
        <p:sp>
          <p:nvSpPr>
            <p:cNvPr id="64" name="TextBox 63"/>
            <p:cNvSpPr txBox="1"/>
            <p:nvPr/>
          </p:nvSpPr>
          <p:spPr>
            <a:xfrm>
              <a:off x="4680012" y="2715766"/>
              <a:ext cx="648072" cy="369332"/>
            </a:xfrm>
            <a:prstGeom prst="rect">
              <a:avLst/>
            </a:prstGeom>
            <a:noFill/>
          </p:spPr>
          <p:txBody>
            <a:bodyPr wrap="square" rtlCol="0">
              <a:spAutoFit/>
            </a:bodyPr>
            <a:lstStyle/>
            <a:p>
              <a:r>
                <a:rPr lang="en-US" altLang="zh-CN" dirty="0"/>
                <a:t>……</a:t>
              </a:r>
              <a:endParaRPr lang="zh-CN" altLang="en-US" dirty="0"/>
            </a:p>
          </p:txBody>
        </p:sp>
      </p:grpSp>
      <p:sp>
        <p:nvSpPr>
          <p:cNvPr id="67586" name="Rectangle 2"/>
          <p:cNvSpPr>
            <a:spLocks noGrp="1" noChangeArrowheads="1"/>
          </p:cNvSpPr>
          <p:nvPr>
            <p:ph type="title"/>
          </p:nvPr>
        </p:nvSpPr>
        <p:spPr>
          <a:xfrm>
            <a:off x="457200" y="-92546"/>
            <a:ext cx="8229600" cy="685800"/>
          </a:xfrm>
        </p:spPr>
        <p:txBody>
          <a:bodyPr>
            <a:normAutofit fontScale="90000"/>
          </a:bodyPr>
          <a:lstStyle/>
          <a:p>
            <a:pPr eaLnBrk="1" hangingPunct="1"/>
            <a:r>
              <a:rPr lang="en-US" altLang="zh-CN" sz="4000" b="1" dirty="0">
                <a:ea typeface="楷体_GB2312" pitchFamily="49" charset="-122"/>
              </a:rPr>
              <a:t>NFA</a:t>
            </a:r>
            <a:r>
              <a:rPr lang="zh-CN" altLang="en-US" sz="4000" b="1" dirty="0">
                <a:ea typeface="楷体_GB2312" pitchFamily="49" charset="-122"/>
              </a:rPr>
              <a:t>的确定化</a:t>
            </a:r>
          </a:p>
        </p:txBody>
      </p:sp>
      <p:sp>
        <p:nvSpPr>
          <p:cNvPr id="67587" name="Rectangle 3"/>
          <p:cNvSpPr>
            <a:spLocks noGrp="1" noChangeArrowheads="1"/>
          </p:cNvSpPr>
          <p:nvPr>
            <p:ph type="body" idx="1"/>
          </p:nvPr>
        </p:nvSpPr>
        <p:spPr>
          <a:xfrm>
            <a:off x="449263" y="627534"/>
            <a:ext cx="8382000" cy="1272109"/>
          </a:xfrm>
          <a:solidFill>
            <a:schemeClr val="bg1"/>
          </a:solidFill>
          <a:ln w="28575">
            <a:solidFill>
              <a:srgbClr val="3333FF"/>
            </a:solidFill>
            <a:miter lim="800000"/>
            <a:headEnd/>
            <a:tailEnd/>
          </a:ln>
        </p:spPr>
        <p:txBody>
          <a:bodyPr>
            <a:normAutofit lnSpcReduction="10000"/>
          </a:bodyPr>
          <a:lstStyle/>
          <a:p>
            <a:pPr eaLnBrk="1" hangingPunct="1">
              <a:lnSpc>
                <a:spcPct val="90000"/>
              </a:lnSpc>
            </a:pPr>
            <a:r>
              <a:rPr lang="zh-CN" altLang="en-US" sz="2200" dirty="0">
                <a:solidFill>
                  <a:srgbClr val="0000CC"/>
                </a:solidFill>
              </a:rPr>
              <a:t>第一步：对状态图进行改造</a:t>
            </a:r>
          </a:p>
          <a:p>
            <a:pPr lvl="1" eaLnBrk="1" hangingPunct="1">
              <a:lnSpc>
                <a:spcPct val="90000"/>
              </a:lnSpc>
            </a:pPr>
            <a:r>
              <a:rPr lang="en-US" altLang="zh-CN" dirty="0"/>
              <a:t>(1)</a:t>
            </a:r>
            <a:r>
              <a:rPr lang="zh-CN" altLang="en-US" dirty="0"/>
              <a:t>增加状态</a:t>
            </a:r>
            <a:r>
              <a:rPr lang="en-US" altLang="zh-CN" dirty="0"/>
              <a:t>X,Y,</a:t>
            </a:r>
            <a:r>
              <a:rPr lang="zh-CN" altLang="en-US" dirty="0"/>
              <a:t>使之成为新的唯一的初态和终态。从</a:t>
            </a:r>
            <a:r>
              <a:rPr lang="en-US" altLang="zh-CN" dirty="0"/>
              <a:t>X</a:t>
            </a:r>
            <a:r>
              <a:rPr lang="zh-CN" altLang="en-US" dirty="0"/>
              <a:t>引</a:t>
            </a:r>
            <a:r>
              <a:rPr lang="en-US" altLang="zh-CN" dirty="0">
                <a:solidFill>
                  <a:srgbClr val="0000CC"/>
                </a:solidFill>
              </a:rPr>
              <a:t>ε</a:t>
            </a:r>
            <a:r>
              <a:rPr lang="zh-CN" altLang="en-US" dirty="0"/>
              <a:t>弧到原初态结点</a:t>
            </a:r>
            <a:r>
              <a:rPr lang="en-US" altLang="zh-CN" dirty="0"/>
              <a:t>, </a:t>
            </a:r>
            <a:r>
              <a:rPr lang="zh-CN" altLang="en-US" dirty="0"/>
              <a:t>从原终态结点引</a:t>
            </a:r>
            <a:r>
              <a:rPr lang="en-US" altLang="zh-CN" dirty="0">
                <a:solidFill>
                  <a:srgbClr val="0000CC"/>
                </a:solidFill>
              </a:rPr>
              <a:t>ε</a:t>
            </a:r>
            <a:r>
              <a:rPr lang="zh-CN" altLang="en-US" dirty="0"/>
              <a:t>弧到</a:t>
            </a:r>
            <a:r>
              <a:rPr lang="en-US" altLang="zh-CN" dirty="0"/>
              <a:t>Y</a:t>
            </a:r>
            <a:r>
              <a:rPr lang="zh-CN" altLang="en-US" dirty="0"/>
              <a:t>结点。原来的初态结点不在是初态结点，原来的终态结点不再是终态结点。</a:t>
            </a:r>
          </a:p>
        </p:txBody>
      </p:sp>
      <p:graphicFrame>
        <p:nvGraphicFramePr>
          <p:cNvPr id="2" name="对象 1"/>
          <p:cNvGraphicFramePr>
            <a:graphicFrameLocks noChangeAspect="1"/>
          </p:cNvGraphicFramePr>
          <p:nvPr>
            <p:extLst>
              <p:ext uri="{D42A27DB-BD31-4B8C-83A1-F6EECF244321}">
                <p14:modId xmlns:p14="http://schemas.microsoft.com/office/powerpoint/2010/main" val="4250338747"/>
              </p:ext>
            </p:extLst>
          </p:nvPr>
        </p:nvGraphicFramePr>
        <p:xfrm>
          <a:off x="251520" y="3795886"/>
          <a:ext cx="3960442" cy="1224136"/>
        </p:xfrm>
        <a:graphic>
          <a:graphicData uri="http://schemas.openxmlformats.org/presentationml/2006/ole">
            <mc:AlternateContent xmlns:mc="http://schemas.openxmlformats.org/markup-compatibility/2006">
              <mc:Choice xmlns:v="urn:schemas-microsoft-com:vml" Requires="v">
                <p:oleObj spid="_x0000_s28696" name="Visio" r:id="rId4" imgW="2419377" imgH="934672" progId="Visio.Drawing.11">
                  <p:embed/>
                </p:oleObj>
              </mc:Choice>
              <mc:Fallback>
                <p:oleObj name="Visio" r:id="rId4" imgW="2419377" imgH="934672"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3795886"/>
                        <a:ext cx="3960442" cy="1224136"/>
                      </a:xfrm>
                      <a:prstGeom prst="rect">
                        <a:avLst/>
                      </a:prstGeom>
                      <a:solidFill>
                        <a:schemeClr val="bg1"/>
                      </a:solidFill>
                      <a:ln>
                        <a:solidFill>
                          <a:srgbClr val="00B050"/>
                        </a:solidFill>
                      </a:ln>
                    </p:spPr>
                  </p:pic>
                </p:oleObj>
              </mc:Fallback>
            </mc:AlternateContent>
          </a:graphicData>
        </a:graphic>
      </p:graphicFrame>
      <p:sp>
        <p:nvSpPr>
          <p:cNvPr id="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653324898"/>
              </p:ext>
            </p:extLst>
          </p:nvPr>
        </p:nvGraphicFramePr>
        <p:xfrm>
          <a:off x="4788024" y="3760852"/>
          <a:ext cx="4335188" cy="1197231"/>
        </p:xfrm>
        <a:graphic>
          <a:graphicData uri="http://schemas.openxmlformats.org/presentationml/2006/ole">
            <mc:AlternateContent xmlns:mc="http://schemas.openxmlformats.org/markup-compatibility/2006">
              <mc:Choice xmlns:v="urn:schemas-microsoft-com:vml" Requires="v">
                <p:oleObj spid="_x0000_s28697" name="Visio" r:id="rId6" imgW="3381334" imgH="934672" progId="Visio.Drawing.11">
                  <p:embed/>
                </p:oleObj>
              </mc:Choice>
              <mc:Fallback>
                <p:oleObj name="Visio" r:id="rId6" imgW="3381334" imgH="934672"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024" y="3760852"/>
                        <a:ext cx="4335188" cy="1197231"/>
                      </a:xfrm>
                      <a:prstGeom prst="rect">
                        <a:avLst/>
                      </a:prstGeom>
                      <a:noFill/>
                      <a:ln>
                        <a:solidFill>
                          <a:srgbClr val="00B050"/>
                        </a:solidFill>
                      </a:ln>
                    </p:spPr>
                  </p:pic>
                </p:oleObj>
              </mc:Fallback>
            </mc:AlternateContent>
          </a:graphicData>
        </a:graphic>
      </p:graphicFrame>
      <p:sp>
        <p:nvSpPr>
          <p:cNvPr id="39" name="TextBox 38"/>
          <p:cNvSpPr txBox="1"/>
          <p:nvPr/>
        </p:nvSpPr>
        <p:spPr>
          <a:xfrm>
            <a:off x="1170036" y="2490450"/>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grpSp>
        <p:nvGrpSpPr>
          <p:cNvPr id="81" name="组合 80"/>
          <p:cNvGrpSpPr/>
          <p:nvPr/>
        </p:nvGrpSpPr>
        <p:grpSpPr>
          <a:xfrm>
            <a:off x="5272004" y="2067694"/>
            <a:ext cx="1013428" cy="513348"/>
            <a:chOff x="1758372" y="2446612"/>
            <a:chExt cx="1013428" cy="513348"/>
          </a:xfrm>
        </p:grpSpPr>
        <p:cxnSp>
          <p:nvCxnSpPr>
            <p:cNvPr id="82" name="直接箭头连接符 81"/>
            <p:cNvCxnSpPr>
              <a:stCxn id="29" idx="5"/>
            </p:cNvCxnSpPr>
            <p:nvPr/>
          </p:nvCxnSpPr>
          <p:spPr>
            <a:xfrm>
              <a:off x="1758372" y="2690554"/>
              <a:ext cx="1013428" cy="269406"/>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2066480" y="2446612"/>
              <a:ext cx="288032" cy="369332"/>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cs typeface="Times New Roman" panose="02020603050405020304" pitchFamily="18" charset="0"/>
                </a:rPr>
                <a:t>ε</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grpSp>
        <p:nvGrpSpPr>
          <p:cNvPr id="84" name="组合 83"/>
          <p:cNvGrpSpPr/>
          <p:nvPr/>
        </p:nvGrpSpPr>
        <p:grpSpPr>
          <a:xfrm>
            <a:off x="5286929" y="2562458"/>
            <a:ext cx="918891" cy="369332"/>
            <a:chOff x="1655676" y="2735055"/>
            <a:chExt cx="918891" cy="369332"/>
          </a:xfrm>
        </p:grpSpPr>
        <p:cxnSp>
          <p:nvCxnSpPr>
            <p:cNvPr id="85" name="直接箭头连接符 84"/>
            <p:cNvCxnSpPr>
              <a:endCxn id="89" idx="2"/>
            </p:cNvCxnSpPr>
            <p:nvPr/>
          </p:nvCxnSpPr>
          <p:spPr>
            <a:xfrm>
              <a:off x="1655676" y="2778482"/>
              <a:ext cx="918891" cy="109881"/>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955803" y="2735055"/>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sp>
        <p:nvSpPr>
          <p:cNvPr id="88" name="椭圆 87"/>
          <p:cNvSpPr/>
          <p:nvPr/>
        </p:nvSpPr>
        <p:spPr>
          <a:xfrm>
            <a:off x="6254773" y="2605885"/>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00FF"/>
                </a:solidFill>
                <a:latin typeface="Times New Roman" panose="02020603050405020304" pitchFamily="18" charset="0"/>
                <a:cs typeface="Times New Roman" panose="02020603050405020304" pitchFamily="18" charset="0"/>
              </a:rPr>
              <a:t>Y</a:t>
            </a:r>
            <a:endParaRPr lang="zh-CN" altLang="en-US" sz="1600" dirty="0">
              <a:solidFill>
                <a:srgbClr val="0000FF"/>
              </a:solidFill>
              <a:latin typeface="Times New Roman" panose="02020603050405020304" pitchFamily="18" charset="0"/>
              <a:cs typeface="Times New Roman" panose="02020603050405020304" pitchFamily="18" charset="0"/>
            </a:endParaRPr>
          </a:p>
        </p:txBody>
      </p:sp>
      <p:sp>
        <p:nvSpPr>
          <p:cNvPr id="89" name="椭圆 88"/>
          <p:cNvSpPr/>
          <p:nvPr/>
        </p:nvSpPr>
        <p:spPr>
          <a:xfrm>
            <a:off x="6205820" y="2565235"/>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5306751" y="2822207"/>
            <a:ext cx="945043" cy="469623"/>
            <a:chOff x="1655676" y="2335859"/>
            <a:chExt cx="945043" cy="469623"/>
          </a:xfrm>
        </p:grpSpPr>
        <p:cxnSp>
          <p:nvCxnSpPr>
            <p:cNvPr id="92" name="直接箭头连接符 91"/>
            <p:cNvCxnSpPr>
              <a:endCxn id="89" idx="3"/>
            </p:cNvCxnSpPr>
            <p:nvPr/>
          </p:nvCxnSpPr>
          <p:spPr>
            <a:xfrm flipV="1">
              <a:off x="1655676" y="2335859"/>
              <a:ext cx="945043" cy="442623"/>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2073053" y="2436150"/>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nvGrpSpPr>
          <p:cNvPr id="99" name="组合 98"/>
          <p:cNvGrpSpPr/>
          <p:nvPr/>
        </p:nvGrpSpPr>
        <p:grpSpPr>
          <a:xfrm>
            <a:off x="2394172" y="2054664"/>
            <a:ext cx="2933912" cy="1457836"/>
            <a:chOff x="2394172" y="2054664"/>
            <a:chExt cx="2933912" cy="1457836"/>
          </a:xfrm>
          <a:solidFill>
            <a:schemeClr val="bg1"/>
          </a:solidFill>
        </p:grpSpPr>
        <p:sp>
          <p:nvSpPr>
            <p:cNvPr id="123" name="TextBox 122"/>
            <p:cNvSpPr txBox="1"/>
            <p:nvPr/>
          </p:nvSpPr>
          <p:spPr>
            <a:xfrm>
              <a:off x="4680012" y="2715766"/>
              <a:ext cx="648072" cy="369332"/>
            </a:xfrm>
            <a:prstGeom prst="rect">
              <a:avLst/>
            </a:prstGeom>
            <a:grpFill/>
          </p:spPr>
          <p:txBody>
            <a:bodyPr wrap="square" rtlCol="0">
              <a:spAutoFit/>
            </a:bodyPr>
            <a:lstStyle/>
            <a:p>
              <a:r>
                <a:rPr lang="en-US" altLang="zh-CN" dirty="0"/>
                <a:t>……</a:t>
              </a:r>
              <a:endParaRPr lang="zh-CN" altLang="en-US" dirty="0"/>
            </a:p>
          </p:txBody>
        </p:sp>
        <p:sp>
          <p:nvSpPr>
            <p:cNvPr id="103" name="TextBox 102"/>
            <p:cNvSpPr txBox="1"/>
            <p:nvPr/>
          </p:nvSpPr>
          <p:spPr>
            <a:xfrm>
              <a:off x="2394172" y="2067694"/>
              <a:ext cx="504056" cy="369332"/>
            </a:xfrm>
            <a:prstGeom prst="rect">
              <a:avLst/>
            </a:prstGeom>
            <a:grp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04" name="TextBox 103"/>
            <p:cNvSpPr txBox="1"/>
            <p:nvPr/>
          </p:nvSpPr>
          <p:spPr>
            <a:xfrm>
              <a:off x="2394172" y="2427734"/>
              <a:ext cx="504056" cy="369332"/>
            </a:xfrm>
            <a:prstGeom prst="rect">
              <a:avLst/>
            </a:prstGeom>
            <a:grp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05" name="TextBox 104"/>
            <p:cNvSpPr txBox="1"/>
            <p:nvPr/>
          </p:nvSpPr>
          <p:spPr>
            <a:xfrm>
              <a:off x="2394172" y="3143168"/>
              <a:ext cx="504056" cy="369332"/>
            </a:xfrm>
            <a:prstGeom prst="rect">
              <a:avLst/>
            </a:prstGeom>
            <a:grp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00" name="椭圆 99"/>
            <p:cNvSpPr/>
            <p:nvPr/>
          </p:nvSpPr>
          <p:spPr>
            <a:xfrm>
              <a:off x="2771800" y="2139702"/>
              <a:ext cx="216024" cy="216024"/>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2771800" y="2499742"/>
              <a:ext cx="216024" cy="216024"/>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2771800" y="3219822"/>
              <a:ext cx="216024" cy="216024"/>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6" name="直接箭头连接符 105"/>
            <p:cNvCxnSpPr>
              <a:stCxn id="100" idx="6"/>
            </p:cNvCxnSpPr>
            <p:nvPr/>
          </p:nvCxnSpPr>
          <p:spPr>
            <a:xfrm>
              <a:off x="2987824" y="2247714"/>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1" idx="6"/>
            </p:cNvCxnSpPr>
            <p:nvPr/>
          </p:nvCxnSpPr>
          <p:spPr>
            <a:xfrm>
              <a:off x="2987824" y="2607754"/>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02" idx="6"/>
            </p:cNvCxnSpPr>
            <p:nvPr/>
          </p:nvCxnSpPr>
          <p:spPr>
            <a:xfrm>
              <a:off x="2987824" y="3327834"/>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3705454" y="2569566"/>
              <a:ext cx="648072" cy="369332"/>
            </a:xfrm>
            <a:prstGeom prst="rect">
              <a:avLst/>
            </a:prstGeom>
            <a:grpFill/>
          </p:spPr>
          <p:txBody>
            <a:bodyPr wrap="square" rtlCol="0">
              <a:spAutoFit/>
            </a:bodyPr>
            <a:lstStyle/>
            <a:p>
              <a:r>
                <a:rPr lang="en-US" altLang="zh-CN" dirty="0"/>
                <a:t>……</a:t>
              </a:r>
              <a:endParaRPr lang="zh-CN" altLang="en-US" dirty="0"/>
            </a:p>
          </p:txBody>
        </p:sp>
        <p:cxnSp>
          <p:nvCxnSpPr>
            <p:cNvPr id="110" name="直接箭头连接符 109"/>
            <p:cNvCxnSpPr/>
            <p:nvPr/>
          </p:nvCxnSpPr>
          <p:spPr>
            <a:xfrm>
              <a:off x="4572000" y="2211710"/>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4572000" y="2571750"/>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4572000" y="3291830"/>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6" name="椭圆 115"/>
            <p:cNvSpPr/>
            <p:nvPr/>
          </p:nvSpPr>
          <p:spPr>
            <a:xfrm>
              <a:off x="4992821" y="3143168"/>
              <a:ext cx="313930" cy="301062"/>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a:off x="4988256" y="2427734"/>
              <a:ext cx="313930" cy="301062"/>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a:off x="5004048" y="2054664"/>
              <a:ext cx="313930" cy="301062"/>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 name="直接箭头连接符 118"/>
            <p:cNvCxnSpPr/>
            <p:nvPr/>
          </p:nvCxnSpPr>
          <p:spPr>
            <a:xfrm flipV="1">
              <a:off x="4537319" y="2679762"/>
              <a:ext cx="501410" cy="14894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a:endCxn id="116" idx="1"/>
            </p:cNvCxnSpPr>
            <p:nvPr/>
          </p:nvCxnSpPr>
          <p:spPr>
            <a:xfrm>
              <a:off x="4572000" y="3084495"/>
              <a:ext cx="466795" cy="102763"/>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a:stCxn id="101" idx="5"/>
            </p:cNvCxnSpPr>
            <p:nvPr/>
          </p:nvCxnSpPr>
          <p:spPr>
            <a:xfrm>
              <a:off x="2956188" y="2684130"/>
              <a:ext cx="463684" cy="144572"/>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2525934" y="2812186"/>
              <a:ext cx="648072" cy="369332"/>
            </a:xfrm>
            <a:prstGeom prst="rect">
              <a:avLst/>
            </a:prstGeom>
            <a:grpFill/>
          </p:spPr>
          <p:txBody>
            <a:bodyPr wrap="square" rtlCol="0">
              <a:spAutoFit/>
            </a:bodyPr>
            <a:lstStyle/>
            <a:p>
              <a:r>
                <a:rPr lang="en-US" altLang="zh-CN" dirty="0"/>
                <a:t>……</a:t>
              </a:r>
              <a:endParaRPr lang="zh-CN" altLang="en-US" dirty="0"/>
            </a:p>
          </p:txBody>
        </p:sp>
      </p:grpSp>
      <p:sp>
        <p:nvSpPr>
          <p:cNvPr id="38" name="椭圆 37"/>
          <p:cNvSpPr/>
          <p:nvPr/>
        </p:nvSpPr>
        <p:spPr>
          <a:xfrm>
            <a:off x="1547664" y="256245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00FF"/>
                </a:solidFill>
                <a:latin typeface="Times New Roman" panose="02020603050405020304" pitchFamily="18" charset="0"/>
                <a:cs typeface="Times New Roman" panose="02020603050405020304" pitchFamily="18" charset="0"/>
              </a:rPr>
              <a:t>X</a:t>
            </a:r>
            <a:endParaRPr lang="zh-CN" altLang="en-US" sz="1600" dirty="0">
              <a:solidFill>
                <a:srgbClr val="0000FF"/>
              </a:solidFill>
              <a:latin typeface="Times New Roman" panose="02020603050405020304" pitchFamily="18" charset="0"/>
              <a:cs typeface="Times New Roman" panose="02020603050405020304" pitchFamily="18" charset="0"/>
            </a:endParaRPr>
          </a:p>
        </p:txBody>
      </p:sp>
      <p:grpSp>
        <p:nvGrpSpPr>
          <p:cNvPr id="74" name="组合 73"/>
          <p:cNvGrpSpPr/>
          <p:nvPr/>
        </p:nvGrpSpPr>
        <p:grpSpPr>
          <a:xfrm>
            <a:off x="1763688" y="2211710"/>
            <a:ext cx="1008112" cy="414922"/>
            <a:chOff x="1763688" y="2211710"/>
            <a:chExt cx="1008112" cy="414922"/>
          </a:xfrm>
        </p:grpSpPr>
        <p:cxnSp>
          <p:nvCxnSpPr>
            <p:cNvPr id="65" name="直接箭头连接符 64"/>
            <p:cNvCxnSpPr/>
            <p:nvPr/>
          </p:nvCxnSpPr>
          <p:spPr>
            <a:xfrm flipV="1">
              <a:off x="1763688" y="2252360"/>
              <a:ext cx="1008112" cy="374272"/>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932850" y="2211710"/>
              <a:ext cx="288032" cy="369332"/>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cs typeface="Times New Roman" panose="02020603050405020304" pitchFamily="18" charset="0"/>
                </a:rPr>
                <a:t>ε</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grpSp>
        <p:nvGrpSpPr>
          <p:cNvPr id="76" name="组合 75"/>
          <p:cNvGrpSpPr/>
          <p:nvPr/>
        </p:nvGrpSpPr>
        <p:grpSpPr>
          <a:xfrm>
            <a:off x="1729405" y="2571750"/>
            <a:ext cx="1042395" cy="369332"/>
            <a:chOff x="1729405" y="2571750"/>
            <a:chExt cx="1042395" cy="369332"/>
          </a:xfrm>
        </p:grpSpPr>
        <p:cxnSp>
          <p:nvCxnSpPr>
            <p:cNvPr id="67" name="直接箭头连接符 66"/>
            <p:cNvCxnSpPr/>
            <p:nvPr/>
          </p:nvCxnSpPr>
          <p:spPr>
            <a:xfrm flipV="1">
              <a:off x="1729405" y="2649995"/>
              <a:ext cx="1042395" cy="70103"/>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021580" y="2571750"/>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nvGrpSpPr>
          <p:cNvPr id="77" name="组合 76"/>
          <p:cNvGrpSpPr/>
          <p:nvPr/>
        </p:nvGrpSpPr>
        <p:grpSpPr>
          <a:xfrm>
            <a:off x="1655676" y="2778482"/>
            <a:ext cx="1116124" cy="543798"/>
            <a:chOff x="1655676" y="2778482"/>
            <a:chExt cx="1116124" cy="543798"/>
          </a:xfrm>
        </p:grpSpPr>
        <p:cxnSp>
          <p:nvCxnSpPr>
            <p:cNvPr id="69" name="直接箭头连接符 68"/>
            <p:cNvCxnSpPr>
              <a:stCxn id="38" idx="4"/>
            </p:cNvCxnSpPr>
            <p:nvPr/>
          </p:nvCxnSpPr>
          <p:spPr>
            <a:xfrm>
              <a:off x="1655676" y="2778482"/>
              <a:ext cx="1116124" cy="543798"/>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2046631" y="2947605"/>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84735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88" grpId="0" animBg="1"/>
      <p:bldP spid="89" grpId="0" animBg="1"/>
      <p:bldP spid="3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57200" y="205979"/>
            <a:ext cx="8229600" cy="571500"/>
          </a:xfrm>
        </p:spPr>
        <p:txBody>
          <a:bodyPr>
            <a:normAutofit fontScale="90000"/>
          </a:bodyPr>
          <a:lstStyle/>
          <a:p>
            <a:pPr eaLnBrk="1" hangingPunct="1"/>
            <a:r>
              <a:rPr lang="en-US" altLang="zh-CN" b="1" dirty="0">
                <a:ea typeface="楷体_GB2312" pitchFamily="49" charset="-122"/>
              </a:rPr>
              <a:t>NFA</a:t>
            </a:r>
            <a:r>
              <a:rPr lang="zh-CN" altLang="en-US" b="1">
                <a:ea typeface="楷体_GB2312" pitchFamily="49" charset="-122"/>
              </a:rPr>
              <a:t>的确定化</a:t>
            </a:r>
            <a:endParaRPr lang="zh-CN" altLang="zh-CN"/>
          </a:p>
        </p:txBody>
      </p:sp>
      <p:sp>
        <p:nvSpPr>
          <p:cNvPr id="64515" name="Rectangle 3"/>
          <p:cNvSpPr>
            <a:spLocks noGrp="1" noChangeArrowheads="1"/>
          </p:cNvSpPr>
          <p:nvPr>
            <p:ph type="body" idx="1"/>
          </p:nvPr>
        </p:nvSpPr>
        <p:spPr>
          <a:xfrm>
            <a:off x="461964" y="956072"/>
            <a:ext cx="4491037" cy="3829050"/>
          </a:xfrm>
        </p:spPr>
        <p:txBody>
          <a:bodyPr>
            <a:normAutofit/>
          </a:bodyPr>
          <a:lstStyle/>
          <a:p>
            <a:pPr eaLnBrk="1" hangingPunct="1"/>
            <a:r>
              <a:rPr lang="en-US" altLang="zh-CN" sz="2200" dirty="0"/>
              <a:t>NFA</a:t>
            </a:r>
            <a:r>
              <a:rPr lang="zh-CN" altLang="en-US" sz="2200" dirty="0"/>
              <a:t>带有</a:t>
            </a:r>
            <a:r>
              <a:rPr lang="zh-CN" altLang="en-US" sz="2200" dirty="0">
                <a:sym typeface="Symbol" pitchFamily="18" charset="2"/>
              </a:rPr>
              <a:t></a:t>
            </a:r>
            <a:r>
              <a:rPr lang="zh-CN" altLang="en-US" sz="2200" dirty="0"/>
              <a:t>弧，称为具有</a:t>
            </a:r>
            <a:r>
              <a:rPr lang="zh-CN" altLang="en-US" sz="2200" dirty="0">
                <a:sym typeface="Symbol" pitchFamily="18" charset="2"/>
              </a:rPr>
              <a:t></a:t>
            </a:r>
            <a:r>
              <a:rPr lang="zh-CN" altLang="en-US" sz="2200" dirty="0"/>
              <a:t>转移的不确定的有穷自动机</a:t>
            </a:r>
          </a:p>
          <a:p>
            <a:pPr eaLnBrk="1" hangingPunct="1"/>
            <a:endParaRPr lang="zh-CN" altLang="en-US" sz="2200" dirty="0"/>
          </a:p>
          <a:p>
            <a:pPr eaLnBrk="1" hangingPunct="1"/>
            <a:endParaRPr lang="zh-CN" altLang="en-US" sz="2200" dirty="0"/>
          </a:p>
          <a:p>
            <a:pPr eaLnBrk="1" hangingPunct="1"/>
            <a:r>
              <a:rPr lang="zh-CN" altLang="en-US" sz="2200" dirty="0"/>
              <a:t>对任何一个具有</a:t>
            </a:r>
            <a:r>
              <a:rPr lang="zh-CN" altLang="en-US" sz="2200" dirty="0">
                <a:sym typeface="Symbol" pitchFamily="18" charset="2"/>
              </a:rPr>
              <a:t></a:t>
            </a:r>
            <a:r>
              <a:rPr lang="zh-CN" altLang="en-US" sz="2200" dirty="0"/>
              <a:t>转移的不确定的有穷自动机</a:t>
            </a:r>
            <a:r>
              <a:rPr lang="en-US" altLang="zh-CN" sz="2200" dirty="0"/>
              <a:t>NFA N</a:t>
            </a:r>
            <a:r>
              <a:rPr lang="zh-CN" altLang="en-US" sz="2200" dirty="0"/>
              <a:t>，一定存在一个不具有</a:t>
            </a:r>
            <a:r>
              <a:rPr lang="zh-CN" altLang="en-US" sz="2200" dirty="0">
                <a:sym typeface="Symbol" pitchFamily="18" charset="2"/>
              </a:rPr>
              <a:t></a:t>
            </a:r>
            <a:r>
              <a:rPr lang="zh-CN" altLang="en-US" sz="2200" dirty="0"/>
              <a:t>转移的不确定的有穷自动机</a:t>
            </a:r>
            <a:r>
              <a:rPr lang="en-US" altLang="zh-CN" sz="2200" dirty="0"/>
              <a:t>NFA</a:t>
            </a:r>
            <a:r>
              <a:rPr lang="zh-CN" altLang="en-US" sz="2200" dirty="0"/>
              <a:t>　Ｍ ，使得</a:t>
            </a:r>
            <a:r>
              <a:rPr lang="en-US" altLang="zh-CN" sz="2200" dirty="0"/>
              <a:t>L(M)=L(N)</a:t>
            </a:r>
            <a:r>
              <a:rPr lang="zh-CN" altLang="en-US" sz="2200" dirty="0"/>
              <a:t>。</a:t>
            </a:r>
            <a:endParaRPr lang="zh-CN" altLang="en-US" sz="2200" dirty="0">
              <a:solidFill>
                <a:srgbClr val="0000CC"/>
              </a:solidFill>
            </a:endParaRPr>
          </a:p>
        </p:txBody>
      </p:sp>
      <p:grpSp>
        <p:nvGrpSpPr>
          <p:cNvPr id="64516" name="Group 65"/>
          <p:cNvGrpSpPr>
            <a:grpSpLocks/>
          </p:cNvGrpSpPr>
          <p:nvPr/>
        </p:nvGrpSpPr>
        <p:grpSpPr bwMode="auto">
          <a:xfrm>
            <a:off x="5518150" y="2188368"/>
            <a:ext cx="2759074" cy="2405062"/>
            <a:chOff x="3551" y="2158"/>
            <a:chExt cx="1738" cy="2020"/>
          </a:xfrm>
        </p:grpSpPr>
        <p:sp>
          <p:nvSpPr>
            <p:cNvPr id="64537" name="Oval 25"/>
            <p:cNvSpPr>
              <a:spLocks noChangeArrowheads="1"/>
            </p:cNvSpPr>
            <p:nvPr/>
          </p:nvSpPr>
          <p:spPr bwMode="auto">
            <a:xfrm>
              <a:off x="4848" y="2544"/>
              <a:ext cx="430" cy="37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zh-CN" altLang="zh-CN" sz="2400">
                  <a:latin typeface="Times New Roman" pitchFamily="18" charset="0"/>
                </a:rPr>
                <a:t>2</a:t>
              </a:r>
            </a:p>
          </p:txBody>
        </p:sp>
        <p:cxnSp>
          <p:nvCxnSpPr>
            <p:cNvPr id="64538" name="AutoShape 26"/>
            <p:cNvCxnSpPr>
              <a:cxnSpLocks noChangeShapeType="1"/>
            </p:cNvCxnSpPr>
            <p:nvPr/>
          </p:nvCxnSpPr>
          <p:spPr bwMode="auto">
            <a:xfrm rot="-5400000">
              <a:off x="4230" y="2553"/>
              <a:ext cx="394" cy="789"/>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39" name="AutoShape 27"/>
            <p:cNvCxnSpPr>
              <a:cxnSpLocks noChangeShapeType="1"/>
              <a:endCxn id="64537" idx="3"/>
            </p:cNvCxnSpPr>
            <p:nvPr/>
          </p:nvCxnSpPr>
          <p:spPr bwMode="auto">
            <a:xfrm flipV="1">
              <a:off x="4201" y="2862"/>
              <a:ext cx="710" cy="25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4540" name="Text Box 28"/>
            <p:cNvSpPr txBox="1">
              <a:spLocks noChangeArrowheads="1"/>
            </p:cNvSpPr>
            <p:nvPr/>
          </p:nvSpPr>
          <p:spPr bwMode="auto">
            <a:xfrm>
              <a:off x="4140" y="2557"/>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a</a:t>
              </a:r>
            </a:p>
          </p:txBody>
        </p:sp>
        <p:sp>
          <p:nvSpPr>
            <p:cNvPr id="64541" name="Text Box 29"/>
            <p:cNvSpPr txBox="1">
              <a:spLocks noChangeArrowheads="1"/>
            </p:cNvSpPr>
            <p:nvPr/>
          </p:nvSpPr>
          <p:spPr bwMode="auto">
            <a:xfrm>
              <a:off x="5087" y="3022"/>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c</a:t>
              </a:r>
            </a:p>
          </p:txBody>
        </p:sp>
        <p:sp>
          <p:nvSpPr>
            <p:cNvPr id="64542" name="Text Box 30"/>
            <p:cNvSpPr txBox="1">
              <a:spLocks noChangeArrowheads="1"/>
            </p:cNvSpPr>
            <p:nvPr/>
          </p:nvSpPr>
          <p:spPr bwMode="auto">
            <a:xfrm>
              <a:off x="4293" y="3645"/>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b</a:t>
              </a:r>
            </a:p>
          </p:txBody>
        </p:sp>
        <p:sp>
          <p:nvSpPr>
            <p:cNvPr id="64543" name="Text Box 31"/>
            <p:cNvSpPr txBox="1">
              <a:spLocks noChangeArrowheads="1"/>
            </p:cNvSpPr>
            <p:nvPr/>
          </p:nvSpPr>
          <p:spPr bwMode="auto">
            <a:xfrm>
              <a:off x="4799" y="3070"/>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b</a:t>
              </a:r>
            </a:p>
          </p:txBody>
        </p:sp>
        <p:cxnSp>
          <p:nvCxnSpPr>
            <p:cNvPr id="64544" name="AutoShape 32"/>
            <p:cNvCxnSpPr>
              <a:cxnSpLocks noChangeShapeType="1"/>
            </p:cNvCxnSpPr>
            <p:nvPr/>
          </p:nvCxnSpPr>
          <p:spPr bwMode="auto">
            <a:xfrm rot="10800000" flipH="1">
              <a:off x="3888" y="3133"/>
              <a:ext cx="59" cy="122"/>
            </a:xfrm>
            <a:prstGeom prst="curvedConnector4">
              <a:avLst>
                <a:gd name="adj1" fmla="val -244069"/>
                <a:gd name="adj2" fmla="val 259838"/>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45" name="AutoShape 33"/>
            <p:cNvCxnSpPr>
              <a:cxnSpLocks noChangeShapeType="1"/>
            </p:cNvCxnSpPr>
            <p:nvPr/>
          </p:nvCxnSpPr>
          <p:spPr bwMode="auto">
            <a:xfrm rot="16200000" flipH="1">
              <a:off x="5048" y="3592"/>
              <a:ext cx="1" cy="306"/>
            </a:xfrm>
            <a:prstGeom prst="curvedConnector3">
              <a:avLst>
                <a:gd name="adj1" fmla="val 207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46" name="AutoShape 34"/>
            <p:cNvCxnSpPr>
              <a:cxnSpLocks noChangeShapeType="1"/>
              <a:stCxn id="64537" idx="1"/>
              <a:endCxn id="64537" idx="7"/>
            </p:cNvCxnSpPr>
            <p:nvPr/>
          </p:nvCxnSpPr>
          <p:spPr bwMode="auto">
            <a:xfrm rot="5400000" flipV="1">
              <a:off x="5062" y="2448"/>
              <a:ext cx="1" cy="304"/>
            </a:xfrm>
            <a:prstGeom prst="curvedConnector3">
              <a:avLst>
                <a:gd name="adj1" fmla="val -199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47" name="AutoShape 35"/>
            <p:cNvCxnSpPr>
              <a:cxnSpLocks noChangeShapeType="1"/>
              <a:stCxn id="64563" idx="2"/>
            </p:cNvCxnSpPr>
            <p:nvPr/>
          </p:nvCxnSpPr>
          <p:spPr bwMode="auto">
            <a:xfrm rot="16200000" flipH="1">
              <a:off x="4338" y="3211"/>
              <a:ext cx="381" cy="78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48" name="AutoShape 36"/>
            <p:cNvCxnSpPr>
              <a:cxnSpLocks noChangeShapeType="1"/>
              <a:stCxn id="64563" idx="2"/>
            </p:cNvCxnSpPr>
            <p:nvPr/>
          </p:nvCxnSpPr>
          <p:spPr bwMode="auto">
            <a:xfrm rot="16200000" flipH="1">
              <a:off x="4426" y="3123"/>
              <a:ext cx="192" cy="768"/>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49" name="AutoShape 37"/>
            <p:cNvCxnSpPr>
              <a:cxnSpLocks noChangeShapeType="1"/>
              <a:stCxn id="64563" idx="2"/>
            </p:cNvCxnSpPr>
            <p:nvPr/>
          </p:nvCxnSpPr>
          <p:spPr bwMode="auto">
            <a:xfrm rot="16200000" flipH="1">
              <a:off x="4339" y="3210"/>
              <a:ext cx="298" cy="699"/>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64550" name="Group 38"/>
            <p:cNvGrpSpPr>
              <a:grpSpLocks/>
            </p:cNvGrpSpPr>
            <p:nvPr/>
          </p:nvGrpSpPr>
          <p:grpSpPr bwMode="auto">
            <a:xfrm>
              <a:off x="4896" y="3503"/>
              <a:ext cx="314" cy="388"/>
              <a:chOff x="4032" y="2269"/>
              <a:chExt cx="384" cy="649"/>
            </a:xfrm>
          </p:grpSpPr>
          <p:grpSp>
            <p:nvGrpSpPr>
              <p:cNvPr id="64566" name="Group 39"/>
              <p:cNvGrpSpPr>
                <a:grpSpLocks/>
              </p:cNvGrpSpPr>
              <p:nvPr/>
            </p:nvGrpSpPr>
            <p:grpSpPr bwMode="auto">
              <a:xfrm>
                <a:off x="4032" y="2400"/>
                <a:ext cx="384" cy="384"/>
                <a:chOff x="2928" y="1440"/>
                <a:chExt cx="384" cy="384"/>
              </a:xfrm>
            </p:grpSpPr>
            <p:sp>
              <p:nvSpPr>
                <p:cNvPr id="64568" name="Oval 40"/>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4569" name="Oval 41"/>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
            <p:nvSpPr>
              <p:cNvPr id="64567" name="Text Box 42"/>
              <p:cNvSpPr txBox="1">
                <a:spLocks noChangeArrowheads="1"/>
              </p:cNvSpPr>
              <p:nvPr/>
            </p:nvSpPr>
            <p:spPr bwMode="auto">
              <a:xfrm>
                <a:off x="4105" y="2269"/>
                <a:ext cx="261" cy="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3</a:t>
                </a:r>
              </a:p>
            </p:txBody>
          </p:sp>
        </p:grpSp>
        <p:grpSp>
          <p:nvGrpSpPr>
            <p:cNvPr id="64551" name="Group 43"/>
            <p:cNvGrpSpPr>
              <a:grpSpLocks/>
            </p:cNvGrpSpPr>
            <p:nvPr/>
          </p:nvGrpSpPr>
          <p:grpSpPr bwMode="auto">
            <a:xfrm>
              <a:off x="3936" y="3023"/>
              <a:ext cx="384" cy="388"/>
              <a:chOff x="4032" y="2269"/>
              <a:chExt cx="384" cy="649"/>
            </a:xfrm>
          </p:grpSpPr>
          <p:grpSp>
            <p:nvGrpSpPr>
              <p:cNvPr id="64562" name="Group 44"/>
              <p:cNvGrpSpPr>
                <a:grpSpLocks/>
              </p:cNvGrpSpPr>
              <p:nvPr/>
            </p:nvGrpSpPr>
            <p:grpSpPr bwMode="auto">
              <a:xfrm>
                <a:off x="4032" y="2400"/>
                <a:ext cx="384" cy="384"/>
                <a:chOff x="2928" y="1440"/>
                <a:chExt cx="384" cy="384"/>
              </a:xfrm>
            </p:grpSpPr>
            <p:sp>
              <p:nvSpPr>
                <p:cNvPr id="64564" name="Oval 45"/>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4565" name="Oval 46"/>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
            <p:nvSpPr>
              <p:cNvPr id="64563" name="Text Box 47"/>
              <p:cNvSpPr txBox="1">
                <a:spLocks noChangeArrowheads="1"/>
              </p:cNvSpPr>
              <p:nvPr/>
            </p:nvSpPr>
            <p:spPr bwMode="auto">
              <a:xfrm>
                <a:off x="4128" y="2269"/>
                <a:ext cx="213" cy="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1</a:t>
                </a:r>
              </a:p>
            </p:txBody>
          </p:sp>
        </p:grpSp>
        <p:sp>
          <p:nvSpPr>
            <p:cNvPr id="64552" name="Text Box 48"/>
            <p:cNvSpPr txBox="1">
              <a:spLocks noChangeArrowheads="1"/>
            </p:cNvSpPr>
            <p:nvPr/>
          </p:nvSpPr>
          <p:spPr bwMode="auto">
            <a:xfrm>
              <a:off x="4415" y="3406"/>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a</a:t>
              </a:r>
            </a:p>
          </p:txBody>
        </p:sp>
        <p:sp>
          <p:nvSpPr>
            <p:cNvPr id="64553" name="Text Box 49"/>
            <p:cNvSpPr txBox="1">
              <a:spLocks noChangeArrowheads="1"/>
            </p:cNvSpPr>
            <p:nvPr/>
          </p:nvSpPr>
          <p:spPr bwMode="auto">
            <a:xfrm>
              <a:off x="4415" y="3262"/>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c</a:t>
              </a:r>
            </a:p>
          </p:txBody>
        </p:sp>
        <p:sp>
          <p:nvSpPr>
            <p:cNvPr id="64554" name="Text Box 50"/>
            <p:cNvSpPr txBox="1">
              <a:spLocks noChangeArrowheads="1"/>
            </p:cNvSpPr>
            <p:nvPr/>
          </p:nvSpPr>
          <p:spPr bwMode="auto">
            <a:xfrm>
              <a:off x="3551" y="2782"/>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a</a:t>
              </a:r>
            </a:p>
          </p:txBody>
        </p:sp>
        <p:sp>
          <p:nvSpPr>
            <p:cNvPr id="64555" name="Text Box 51"/>
            <p:cNvSpPr txBox="1">
              <a:spLocks noChangeArrowheads="1"/>
            </p:cNvSpPr>
            <p:nvPr/>
          </p:nvSpPr>
          <p:spPr bwMode="auto">
            <a:xfrm>
              <a:off x="4895" y="3790"/>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c</a:t>
              </a:r>
            </a:p>
          </p:txBody>
        </p:sp>
        <p:sp>
          <p:nvSpPr>
            <p:cNvPr id="64556" name="Text Box 52"/>
            <p:cNvSpPr txBox="1">
              <a:spLocks noChangeArrowheads="1"/>
            </p:cNvSpPr>
            <p:nvPr/>
          </p:nvSpPr>
          <p:spPr bwMode="auto">
            <a:xfrm>
              <a:off x="4463" y="2734"/>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b</a:t>
              </a:r>
            </a:p>
          </p:txBody>
        </p:sp>
        <p:sp>
          <p:nvSpPr>
            <p:cNvPr id="64557" name="Text Box 53"/>
            <p:cNvSpPr txBox="1">
              <a:spLocks noChangeArrowheads="1"/>
            </p:cNvSpPr>
            <p:nvPr/>
          </p:nvSpPr>
          <p:spPr bwMode="auto">
            <a:xfrm>
              <a:off x="4937" y="215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b</a:t>
              </a:r>
            </a:p>
          </p:txBody>
        </p:sp>
        <p:sp>
          <p:nvSpPr>
            <p:cNvPr id="64558" name="AutoShape 54"/>
            <p:cNvSpPr>
              <a:spLocks noChangeArrowheads="1"/>
            </p:cNvSpPr>
            <p:nvPr/>
          </p:nvSpPr>
          <p:spPr bwMode="auto">
            <a:xfrm>
              <a:off x="3552" y="3120"/>
              <a:ext cx="240" cy="24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4559" name="Line 55"/>
            <p:cNvSpPr>
              <a:spLocks noChangeShapeType="1"/>
            </p:cNvSpPr>
            <p:nvPr/>
          </p:nvSpPr>
          <p:spPr bwMode="auto">
            <a:xfrm>
              <a:off x="4992" y="2928"/>
              <a:ext cx="0"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0" name="Line 56"/>
            <p:cNvSpPr>
              <a:spLocks noChangeShapeType="1"/>
            </p:cNvSpPr>
            <p:nvPr/>
          </p:nvSpPr>
          <p:spPr bwMode="auto">
            <a:xfrm>
              <a:off x="5136" y="2880"/>
              <a:ext cx="0"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1" name="Oval 57"/>
            <p:cNvSpPr>
              <a:spLocks noChangeArrowheads="1"/>
            </p:cNvSpPr>
            <p:nvPr/>
          </p:nvSpPr>
          <p:spPr bwMode="auto">
            <a:xfrm>
              <a:off x="4896" y="2592"/>
              <a:ext cx="336"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zh-CN" altLang="zh-CN" sz="2400">
                  <a:latin typeface="Times New Roman" pitchFamily="18" charset="0"/>
                </a:rPr>
                <a:t>2</a:t>
              </a:r>
            </a:p>
          </p:txBody>
        </p:sp>
      </p:grpSp>
      <p:grpSp>
        <p:nvGrpSpPr>
          <p:cNvPr id="64517" name="Group 64"/>
          <p:cNvGrpSpPr>
            <a:grpSpLocks/>
          </p:cNvGrpSpPr>
          <p:nvPr/>
        </p:nvGrpSpPr>
        <p:grpSpPr bwMode="auto">
          <a:xfrm>
            <a:off x="4953001" y="719138"/>
            <a:ext cx="3317875" cy="958454"/>
            <a:chOff x="3024" y="1211"/>
            <a:chExt cx="2090" cy="805"/>
          </a:xfrm>
        </p:grpSpPr>
        <p:sp>
          <p:nvSpPr>
            <p:cNvPr id="64518" name="Oval 5"/>
            <p:cNvSpPr>
              <a:spLocks noChangeArrowheads="1"/>
            </p:cNvSpPr>
            <p:nvPr/>
          </p:nvSpPr>
          <p:spPr bwMode="auto">
            <a:xfrm>
              <a:off x="3312" y="1676"/>
              <a:ext cx="314" cy="32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1</a:t>
              </a:r>
            </a:p>
          </p:txBody>
        </p:sp>
        <p:sp>
          <p:nvSpPr>
            <p:cNvPr id="64519" name="Oval 6"/>
            <p:cNvSpPr>
              <a:spLocks noChangeArrowheads="1"/>
            </p:cNvSpPr>
            <p:nvPr/>
          </p:nvSpPr>
          <p:spPr bwMode="auto">
            <a:xfrm>
              <a:off x="4032" y="1676"/>
              <a:ext cx="313" cy="32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2</a:t>
              </a:r>
            </a:p>
          </p:txBody>
        </p:sp>
        <p:cxnSp>
          <p:nvCxnSpPr>
            <p:cNvPr id="64520" name="AutoShape 7"/>
            <p:cNvCxnSpPr>
              <a:cxnSpLocks noChangeShapeType="1"/>
              <a:stCxn id="64518" idx="6"/>
              <a:endCxn id="64519" idx="2"/>
            </p:cNvCxnSpPr>
            <p:nvPr/>
          </p:nvCxnSpPr>
          <p:spPr bwMode="auto">
            <a:xfrm>
              <a:off x="3626" y="1839"/>
              <a:ext cx="406"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4521" name="Text Box 8"/>
            <p:cNvSpPr txBox="1">
              <a:spLocks noChangeArrowheads="1"/>
            </p:cNvSpPr>
            <p:nvPr/>
          </p:nvSpPr>
          <p:spPr bwMode="auto">
            <a:xfrm>
              <a:off x="3743" y="1483"/>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sym typeface="Symbol" pitchFamily="18" charset="2"/>
                </a:rPr>
                <a:t></a:t>
              </a:r>
              <a:endParaRPr kumimoji="1" lang="en-US" altLang="zh-CN" sz="2400" dirty="0">
                <a:latin typeface="Times New Roman" pitchFamily="18" charset="0"/>
              </a:endParaRPr>
            </a:p>
          </p:txBody>
        </p:sp>
        <p:sp>
          <p:nvSpPr>
            <p:cNvPr id="64522" name="Text Box 9"/>
            <p:cNvSpPr txBox="1">
              <a:spLocks noChangeArrowheads="1"/>
            </p:cNvSpPr>
            <p:nvPr/>
          </p:nvSpPr>
          <p:spPr bwMode="auto">
            <a:xfrm>
              <a:off x="4511" y="1551"/>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sym typeface="Symbol" pitchFamily="18" charset="2"/>
                </a:rPr>
                <a:t></a:t>
              </a:r>
              <a:endParaRPr kumimoji="1" lang="en-US" altLang="zh-CN" sz="2400" dirty="0">
                <a:latin typeface="Times New Roman" pitchFamily="18" charset="0"/>
              </a:endParaRPr>
            </a:p>
          </p:txBody>
        </p:sp>
        <p:grpSp>
          <p:nvGrpSpPr>
            <p:cNvPr id="64523" name="Group 10"/>
            <p:cNvGrpSpPr>
              <a:grpSpLocks/>
            </p:cNvGrpSpPr>
            <p:nvPr/>
          </p:nvGrpSpPr>
          <p:grpSpPr bwMode="auto">
            <a:xfrm>
              <a:off x="4800" y="1620"/>
              <a:ext cx="314" cy="388"/>
              <a:chOff x="4032" y="2364"/>
              <a:chExt cx="384" cy="458"/>
            </a:xfrm>
          </p:grpSpPr>
          <p:grpSp>
            <p:nvGrpSpPr>
              <p:cNvPr id="64533" name="Group 11"/>
              <p:cNvGrpSpPr>
                <a:grpSpLocks/>
              </p:cNvGrpSpPr>
              <p:nvPr/>
            </p:nvGrpSpPr>
            <p:grpSpPr bwMode="auto">
              <a:xfrm>
                <a:off x="4032" y="2400"/>
                <a:ext cx="384" cy="384"/>
                <a:chOff x="2928" y="1440"/>
                <a:chExt cx="384" cy="384"/>
              </a:xfrm>
            </p:grpSpPr>
            <p:sp>
              <p:nvSpPr>
                <p:cNvPr id="64535" name="Oval 12"/>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4536" name="Oval 13"/>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
            <p:nvSpPr>
              <p:cNvPr id="64534" name="Text Box 14"/>
              <p:cNvSpPr txBox="1">
                <a:spLocks noChangeArrowheads="1"/>
              </p:cNvSpPr>
              <p:nvPr/>
            </p:nvSpPr>
            <p:spPr bwMode="auto">
              <a:xfrm>
                <a:off x="4105" y="2364"/>
                <a:ext cx="261"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3</a:t>
                </a:r>
              </a:p>
            </p:txBody>
          </p:sp>
        </p:grpSp>
        <p:sp>
          <p:nvSpPr>
            <p:cNvPr id="64524" name="AutoShape 15"/>
            <p:cNvSpPr>
              <a:spLocks noChangeArrowheads="1"/>
            </p:cNvSpPr>
            <p:nvPr/>
          </p:nvSpPr>
          <p:spPr bwMode="auto">
            <a:xfrm>
              <a:off x="3024" y="1676"/>
              <a:ext cx="240" cy="34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4525" name="Line 19"/>
            <p:cNvSpPr>
              <a:spLocks noChangeShapeType="1"/>
            </p:cNvSpPr>
            <p:nvPr/>
          </p:nvSpPr>
          <p:spPr bwMode="auto">
            <a:xfrm>
              <a:off x="4368" y="1812"/>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64526" name="AutoShape 20"/>
            <p:cNvCxnSpPr>
              <a:cxnSpLocks noChangeShapeType="1"/>
            </p:cNvCxnSpPr>
            <p:nvPr/>
          </p:nvCxnSpPr>
          <p:spPr bwMode="auto">
            <a:xfrm>
              <a:off x="4320" y="1812"/>
              <a:ext cx="54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4527" name="Text Box 21"/>
            <p:cNvSpPr txBox="1">
              <a:spLocks noChangeArrowheads="1"/>
            </p:cNvSpPr>
            <p:nvPr/>
          </p:nvSpPr>
          <p:spPr bwMode="auto">
            <a:xfrm>
              <a:off x="3359" y="1278"/>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a</a:t>
              </a:r>
            </a:p>
          </p:txBody>
        </p:sp>
        <p:sp>
          <p:nvSpPr>
            <p:cNvPr id="64528" name="Text Box 22"/>
            <p:cNvSpPr txBox="1">
              <a:spLocks noChangeArrowheads="1"/>
            </p:cNvSpPr>
            <p:nvPr/>
          </p:nvSpPr>
          <p:spPr bwMode="auto">
            <a:xfrm>
              <a:off x="4073" y="1211"/>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b</a:t>
              </a:r>
            </a:p>
          </p:txBody>
        </p:sp>
        <p:sp>
          <p:nvSpPr>
            <p:cNvPr id="64529" name="Text Box 23"/>
            <p:cNvSpPr txBox="1">
              <a:spLocks noChangeArrowheads="1"/>
            </p:cNvSpPr>
            <p:nvPr/>
          </p:nvSpPr>
          <p:spPr bwMode="auto">
            <a:xfrm>
              <a:off x="4799" y="1211"/>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c</a:t>
              </a:r>
            </a:p>
          </p:txBody>
        </p:sp>
        <p:cxnSp>
          <p:nvCxnSpPr>
            <p:cNvPr id="64530" name="AutoShape 61"/>
            <p:cNvCxnSpPr>
              <a:cxnSpLocks noChangeShapeType="1"/>
            </p:cNvCxnSpPr>
            <p:nvPr/>
          </p:nvCxnSpPr>
          <p:spPr bwMode="auto">
            <a:xfrm rot="5400000" flipV="1">
              <a:off x="3478" y="1610"/>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31" name="AutoShape 62"/>
            <p:cNvCxnSpPr>
              <a:cxnSpLocks noChangeShapeType="1"/>
            </p:cNvCxnSpPr>
            <p:nvPr/>
          </p:nvCxnSpPr>
          <p:spPr bwMode="auto">
            <a:xfrm rot="5400000" flipV="1">
              <a:off x="4198" y="1610"/>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32" name="AutoShape 63"/>
            <p:cNvCxnSpPr>
              <a:cxnSpLocks noChangeShapeType="1"/>
            </p:cNvCxnSpPr>
            <p:nvPr/>
          </p:nvCxnSpPr>
          <p:spPr bwMode="auto">
            <a:xfrm rot="5400000" flipV="1">
              <a:off x="4966" y="1562"/>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1791362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76200" y="698897"/>
            <a:ext cx="8686800" cy="1689497"/>
          </a:xfrm>
          <a:solidFill>
            <a:schemeClr val="bg1"/>
          </a:solidFill>
          <a:ln w="28575">
            <a:solidFill>
              <a:srgbClr val="3333FF"/>
            </a:solidFill>
            <a:miter lim="800000"/>
            <a:headEnd/>
            <a:tailEnd/>
          </a:ln>
        </p:spPr>
        <p:txBody>
          <a:bodyPr>
            <a:normAutofit/>
          </a:bodyPr>
          <a:lstStyle/>
          <a:p>
            <a:pPr marL="609600" indent="-609600" eaLnBrk="1" hangingPunct="1">
              <a:lnSpc>
                <a:spcPct val="90000"/>
              </a:lnSpc>
              <a:spcBef>
                <a:spcPct val="50000"/>
              </a:spcBef>
              <a:buClr>
                <a:srgbClr val="FF6600"/>
              </a:buClr>
              <a:buSzPct val="90000"/>
              <a:buFont typeface="Wingdings" pitchFamily="2" charset="2"/>
              <a:buChar char="v"/>
            </a:pPr>
            <a:r>
              <a:rPr lang="zh-CN" altLang="en-US" b="1" dirty="0">
                <a:latin typeface="Times New Roman" panose="02020603050405020304" pitchFamily="18" charset="0"/>
                <a:ea typeface="方正舒体" pitchFamily="2" charset="-122"/>
                <a:cs typeface="Times New Roman" panose="02020603050405020304" pitchFamily="18" charset="0"/>
              </a:rPr>
              <a:t>状态集合</a:t>
            </a:r>
            <a:r>
              <a:rPr lang="en-US" altLang="zh-CN" b="1" dirty="0">
                <a:solidFill>
                  <a:srgbClr val="FF0000"/>
                </a:solidFill>
                <a:latin typeface="Times New Roman" panose="02020603050405020304" pitchFamily="18" charset="0"/>
                <a:cs typeface="Times New Roman" panose="02020603050405020304" pitchFamily="18" charset="0"/>
              </a:rPr>
              <a:t>I</a:t>
            </a:r>
            <a:r>
              <a:rPr lang="zh-CN" altLang="en-US" b="1" dirty="0">
                <a:solidFill>
                  <a:srgbClr val="FF0000"/>
                </a:solidFill>
                <a:latin typeface="Times New Roman" panose="02020603050405020304" pitchFamily="18" charset="0"/>
                <a:ea typeface="方正舒体" pitchFamily="2" charset="-122"/>
                <a:cs typeface="Times New Roman" panose="02020603050405020304" pitchFamily="18" charset="0"/>
              </a:rPr>
              <a:t>的</a:t>
            </a:r>
            <a:r>
              <a:rPr lang="en-US" altLang="zh-CN" b="1" dirty="0">
                <a:solidFill>
                  <a:srgbClr val="FF0000"/>
                </a:solidFill>
                <a:latin typeface="Times New Roman" panose="02020603050405020304" pitchFamily="18" charset="0"/>
                <a:ea typeface="方正舒体" pitchFamily="2" charset="-122"/>
                <a:cs typeface="Times New Roman" panose="02020603050405020304" pitchFamily="18" charset="0"/>
              </a:rPr>
              <a:t>ε-</a:t>
            </a:r>
            <a:r>
              <a:rPr lang="zh-CN" altLang="en-US" b="1" dirty="0">
                <a:solidFill>
                  <a:srgbClr val="FF0000"/>
                </a:solidFill>
                <a:latin typeface="Times New Roman" panose="02020603050405020304" pitchFamily="18" charset="0"/>
                <a:ea typeface="方正舒体" pitchFamily="2" charset="-122"/>
                <a:cs typeface="Times New Roman" panose="02020603050405020304" pitchFamily="18" charset="0"/>
              </a:rPr>
              <a:t>闭包</a:t>
            </a:r>
            <a:r>
              <a:rPr lang="en-US" altLang="zh-CN" dirty="0">
                <a:latin typeface="Times New Roman" panose="02020603050405020304" pitchFamily="18" charset="0"/>
                <a:cs typeface="Times New Roman" panose="02020603050405020304" pitchFamily="18" charset="0"/>
              </a:rPr>
              <a:t>ε-closure(I)</a:t>
            </a:r>
            <a:r>
              <a:rPr lang="zh-CN" altLang="en-US" dirty="0">
                <a:latin typeface="Times New Roman" panose="02020603050405020304" pitchFamily="18" charset="0"/>
                <a:cs typeface="Times New Roman" panose="02020603050405020304" pitchFamily="18" charset="0"/>
              </a:rPr>
              <a:t>，是一状态集 </a:t>
            </a:r>
          </a:p>
          <a:p>
            <a:pPr marL="990600" lvl="1" indent="-533400" eaLnBrk="1" hangingPunct="1">
              <a:lnSpc>
                <a:spcPct val="90000"/>
              </a:lnSpc>
              <a:spcBef>
                <a:spcPct val="50000"/>
              </a:spcBef>
              <a:buClr>
                <a:srgbClr val="FF6600"/>
              </a:buClr>
              <a:buSzPct val="90000"/>
              <a:buFont typeface="Wingdings" pitchFamily="2" charset="2"/>
              <a:buChar char="v"/>
            </a:pPr>
            <a:r>
              <a:rPr kumimoji="1" lang="zh-CN" altLang="en-US" dirty="0">
                <a:solidFill>
                  <a:srgbClr val="0000FF"/>
                </a:solidFill>
                <a:latin typeface="Times New Roman" pitchFamily="18" charset="0"/>
                <a:cs typeface="Times New Roman" panose="02020603050405020304" pitchFamily="18" charset="0"/>
              </a:rPr>
              <a:t>任何状态</a:t>
            </a:r>
            <a:r>
              <a:rPr kumimoji="1" lang="en-US" altLang="zh-CN" dirty="0">
                <a:solidFill>
                  <a:srgbClr val="0000FF"/>
                </a:solidFill>
                <a:latin typeface="Times New Roman" pitchFamily="18" charset="0"/>
                <a:cs typeface="Times New Roman" panose="02020603050405020304" pitchFamily="18" charset="0"/>
              </a:rPr>
              <a:t>q ∈ I</a:t>
            </a:r>
            <a:r>
              <a:rPr kumimoji="1" lang="zh-CN" altLang="en-US" dirty="0">
                <a:solidFill>
                  <a:srgbClr val="0000FF"/>
                </a:solidFill>
                <a:latin typeface="Times New Roman" pitchFamily="18" charset="0"/>
                <a:cs typeface="Times New Roman" panose="02020603050405020304" pitchFamily="18" charset="0"/>
              </a:rPr>
              <a:t>，则</a:t>
            </a:r>
            <a:r>
              <a:rPr kumimoji="1" lang="en-US" altLang="zh-CN" dirty="0">
                <a:solidFill>
                  <a:srgbClr val="0000FF"/>
                </a:solidFill>
                <a:latin typeface="Times New Roman" pitchFamily="18" charset="0"/>
                <a:cs typeface="Times New Roman" panose="02020603050405020304" pitchFamily="18" charset="0"/>
              </a:rPr>
              <a:t>q ∈ ε-closure(I)</a:t>
            </a:r>
            <a:r>
              <a:rPr kumimoji="1" lang="zh-CN" altLang="en-US" dirty="0">
                <a:solidFill>
                  <a:srgbClr val="0000FF"/>
                </a:solidFill>
                <a:latin typeface="Times New Roman" pitchFamily="18" charset="0"/>
                <a:cs typeface="Times New Roman" panose="02020603050405020304" pitchFamily="18" charset="0"/>
              </a:rPr>
              <a:t>；</a:t>
            </a:r>
          </a:p>
          <a:p>
            <a:pPr marL="990600" lvl="1" indent="-533400" eaLnBrk="1" hangingPunct="1">
              <a:lnSpc>
                <a:spcPct val="90000"/>
              </a:lnSpc>
              <a:spcBef>
                <a:spcPct val="50000"/>
              </a:spcBef>
              <a:buClr>
                <a:srgbClr val="FF6600"/>
              </a:buClr>
              <a:buSzPct val="90000"/>
              <a:buFont typeface="Wingdings" pitchFamily="2" charset="2"/>
              <a:buChar char="v"/>
            </a:pPr>
            <a:r>
              <a:rPr kumimoji="1" lang="zh-CN" altLang="en-US" dirty="0">
                <a:solidFill>
                  <a:schemeClr val="accent2">
                    <a:lumMod val="75000"/>
                  </a:schemeClr>
                </a:solidFill>
                <a:latin typeface="Times New Roman" pitchFamily="18" charset="0"/>
                <a:cs typeface="Times New Roman" panose="02020603050405020304" pitchFamily="18" charset="0"/>
              </a:rPr>
              <a:t>任何状态</a:t>
            </a:r>
            <a:r>
              <a:rPr kumimoji="1" lang="en-US" altLang="zh-CN" dirty="0">
                <a:solidFill>
                  <a:schemeClr val="accent2">
                    <a:lumMod val="75000"/>
                  </a:schemeClr>
                </a:solidFill>
                <a:latin typeface="Times New Roman" pitchFamily="18" charset="0"/>
                <a:cs typeface="Times New Roman" panose="02020603050405020304" pitchFamily="18" charset="0"/>
              </a:rPr>
              <a:t>q ∈ I</a:t>
            </a:r>
            <a:r>
              <a:rPr kumimoji="1" lang="zh-CN" altLang="en-US" dirty="0">
                <a:solidFill>
                  <a:schemeClr val="accent2">
                    <a:lumMod val="75000"/>
                  </a:schemeClr>
                </a:solidFill>
                <a:latin typeface="Times New Roman" pitchFamily="18" charset="0"/>
                <a:cs typeface="Times New Roman" panose="02020603050405020304" pitchFamily="18" charset="0"/>
              </a:rPr>
              <a:t>，则</a:t>
            </a:r>
            <a:r>
              <a:rPr kumimoji="1" lang="en-US" altLang="zh-CN" dirty="0">
                <a:solidFill>
                  <a:schemeClr val="accent2">
                    <a:lumMod val="75000"/>
                  </a:schemeClr>
                </a:solidFill>
                <a:latin typeface="Times New Roman" pitchFamily="18" charset="0"/>
                <a:cs typeface="Times New Roman" panose="02020603050405020304" pitchFamily="18" charset="0"/>
              </a:rPr>
              <a:t>q</a:t>
            </a:r>
            <a:r>
              <a:rPr kumimoji="1" lang="zh-CN" altLang="en-US" dirty="0">
                <a:solidFill>
                  <a:schemeClr val="accent2">
                    <a:lumMod val="75000"/>
                  </a:schemeClr>
                </a:solidFill>
                <a:latin typeface="Times New Roman" pitchFamily="18" charset="0"/>
                <a:cs typeface="Times New Roman" panose="02020603050405020304" pitchFamily="18" charset="0"/>
              </a:rPr>
              <a:t>经任意条 </a:t>
            </a:r>
            <a:r>
              <a:rPr kumimoji="1" lang="en-US" altLang="zh-CN" dirty="0">
                <a:solidFill>
                  <a:schemeClr val="accent2">
                    <a:lumMod val="75000"/>
                  </a:schemeClr>
                </a:solidFill>
                <a:latin typeface="Times New Roman" pitchFamily="18" charset="0"/>
                <a:cs typeface="Times New Roman" panose="02020603050405020304" pitchFamily="18" charset="0"/>
              </a:rPr>
              <a:t>ε </a:t>
            </a:r>
            <a:r>
              <a:rPr kumimoji="1" lang="zh-CN" altLang="en-US" dirty="0">
                <a:solidFill>
                  <a:schemeClr val="accent2">
                    <a:lumMod val="75000"/>
                  </a:schemeClr>
                </a:solidFill>
                <a:latin typeface="Times New Roman" pitchFamily="18" charset="0"/>
                <a:cs typeface="Times New Roman" panose="02020603050405020304" pitchFamily="18" charset="0"/>
              </a:rPr>
              <a:t>弧而能到达的状态</a:t>
            </a:r>
            <a:r>
              <a:rPr kumimoji="1" lang="en-US" altLang="zh-CN" dirty="0">
                <a:solidFill>
                  <a:schemeClr val="accent2">
                    <a:lumMod val="75000"/>
                  </a:schemeClr>
                </a:solidFill>
                <a:latin typeface="Times New Roman" pitchFamily="18" charset="0"/>
                <a:cs typeface="Times New Roman" pitchFamily="18" charset="0"/>
              </a:rPr>
              <a:t>q′ ∈ ε-closure(I) </a:t>
            </a:r>
            <a:r>
              <a:rPr kumimoji="1" lang="zh-CN" altLang="en-US" dirty="0">
                <a:solidFill>
                  <a:schemeClr val="accent2">
                    <a:lumMod val="75000"/>
                  </a:schemeClr>
                </a:solidFill>
                <a:latin typeface="Times New Roman" pitchFamily="18" charset="0"/>
                <a:cs typeface="Times New Roman" panose="02020603050405020304" pitchFamily="18" charset="0"/>
              </a:rPr>
              <a:t>。</a:t>
            </a:r>
          </a:p>
        </p:txBody>
      </p:sp>
      <p:sp>
        <p:nvSpPr>
          <p:cNvPr id="65539" name="Rectangle 4"/>
          <p:cNvSpPr>
            <a:spLocks noChangeArrowheads="1"/>
          </p:cNvSpPr>
          <p:nvPr/>
        </p:nvSpPr>
        <p:spPr bwMode="auto">
          <a:xfrm>
            <a:off x="1" y="127397"/>
            <a:ext cx="5083841"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90000"/>
              </a:lnSpc>
              <a:buFontTx/>
              <a:buNone/>
            </a:pPr>
            <a:r>
              <a:rPr lang="zh-CN" altLang="en-US" sz="3600" b="1" dirty="0">
                <a:solidFill>
                  <a:srgbClr val="0000CC"/>
                </a:solidFill>
              </a:rPr>
              <a:t>几个定义</a:t>
            </a:r>
          </a:p>
        </p:txBody>
      </p:sp>
      <p:sp>
        <p:nvSpPr>
          <p:cNvPr id="34858" name="Rectangle 42"/>
          <p:cNvSpPr>
            <a:spLocks noChangeArrowheads="1"/>
          </p:cNvSpPr>
          <p:nvPr/>
        </p:nvSpPr>
        <p:spPr bwMode="auto">
          <a:xfrm>
            <a:off x="551656" y="4177081"/>
            <a:ext cx="42830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solidFill>
                  <a:srgbClr val="0000CC"/>
                </a:solidFill>
                <a:sym typeface="Symbol" pitchFamily="18" charset="2"/>
              </a:rPr>
              <a:t>-closure(I)={5,4,6,2,7}</a:t>
            </a:r>
          </a:p>
        </p:txBody>
      </p:sp>
      <p:sp>
        <p:nvSpPr>
          <p:cNvPr id="34859" name="Rectangle 43"/>
          <p:cNvSpPr>
            <a:spLocks noChangeArrowheads="1"/>
          </p:cNvSpPr>
          <p:nvPr/>
        </p:nvSpPr>
        <p:spPr bwMode="auto">
          <a:xfrm>
            <a:off x="0" y="2822972"/>
            <a:ext cx="62309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charset="0"/>
                <a:ea typeface="宋体" pitchFamily="2" charset="-122"/>
              </a:defRPr>
            </a:lvl1pPr>
            <a:lvl2pPr>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lvl="1" eaLnBrk="1" hangingPunct="1">
              <a:spcBef>
                <a:spcPct val="0"/>
              </a:spcBef>
              <a:buFontTx/>
              <a:buNone/>
            </a:pPr>
            <a:r>
              <a:rPr kumimoji="1" lang="zh-CN" altLang="en-US" sz="2200" dirty="0"/>
              <a:t>例： </a:t>
            </a:r>
            <a:r>
              <a:rPr kumimoji="1" lang="en-US" altLang="zh-CN" sz="2200" dirty="0"/>
              <a:t>I={1},  </a:t>
            </a:r>
            <a:r>
              <a:rPr kumimoji="1" lang="en-US" altLang="zh-CN" sz="2200" dirty="0">
                <a:sym typeface="Symbol" pitchFamily="18" charset="2"/>
              </a:rPr>
              <a:t>-closure(I)={       }</a:t>
            </a:r>
            <a:r>
              <a:rPr kumimoji="1" lang="zh-CN" altLang="en-US" sz="2200" dirty="0">
                <a:sym typeface="Symbol" pitchFamily="18" charset="2"/>
              </a:rPr>
              <a:t>； </a:t>
            </a:r>
          </a:p>
          <a:p>
            <a:pPr lvl="1" eaLnBrk="1" hangingPunct="1">
              <a:spcBef>
                <a:spcPct val="0"/>
              </a:spcBef>
              <a:buFontTx/>
              <a:buNone/>
            </a:pPr>
            <a:r>
              <a:rPr kumimoji="1" lang="zh-CN" altLang="en-US" sz="2200" dirty="0">
                <a:sym typeface="Symbol" pitchFamily="18" charset="2"/>
              </a:rPr>
              <a:t>        </a:t>
            </a:r>
            <a:r>
              <a:rPr kumimoji="1" lang="en-US" altLang="zh-CN" sz="2200" dirty="0">
                <a:sym typeface="Symbol" pitchFamily="18" charset="2"/>
              </a:rPr>
              <a:t>I={5}, -closure(I)={            }</a:t>
            </a:r>
            <a:r>
              <a:rPr kumimoji="1" lang="zh-CN" altLang="en-US" sz="2200" dirty="0">
                <a:sym typeface="Symbol" pitchFamily="18" charset="2"/>
              </a:rPr>
              <a:t>；</a:t>
            </a:r>
          </a:p>
        </p:txBody>
      </p:sp>
      <p:sp>
        <p:nvSpPr>
          <p:cNvPr id="34860" name="Rectangle 44"/>
          <p:cNvSpPr>
            <a:spLocks noChangeArrowheads="1"/>
          </p:cNvSpPr>
          <p:nvPr/>
        </p:nvSpPr>
        <p:spPr bwMode="auto">
          <a:xfrm>
            <a:off x="956982" y="3698082"/>
            <a:ext cx="34724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charset="0"/>
                <a:ea typeface="宋体" pitchFamily="2" charset="-122"/>
              </a:defRPr>
            </a:lvl1pPr>
            <a:lvl2pPr>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lvl="1" algn="ctr" eaLnBrk="1" hangingPunct="1">
              <a:spcBef>
                <a:spcPct val="0"/>
              </a:spcBef>
              <a:buFontTx/>
              <a:buNone/>
            </a:pPr>
            <a:r>
              <a:rPr kumimoji="1" lang="en-US" altLang="zh-CN" sz="2200" dirty="0">
                <a:sym typeface="Symbol" pitchFamily="18" charset="2"/>
              </a:rPr>
              <a:t>I={5,4}, -closure(I)=</a:t>
            </a:r>
            <a:r>
              <a:rPr kumimoji="1" lang="zh-CN" altLang="en-US" sz="2200">
                <a:sym typeface="Symbol" pitchFamily="18" charset="2"/>
              </a:rPr>
              <a:t>？</a:t>
            </a:r>
          </a:p>
        </p:txBody>
      </p:sp>
      <p:grpSp>
        <p:nvGrpSpPr>
          <p:cNvPr id="44" name="Group 5"/>
          <p:cNvGrpSpPr>
            <a:grpSpLocks/>
          </p:cNvGrpSpPr>
          <p:nvPr/>
        </p:nvGrpSpPr>
        <p:grpSpPr bwMode="auto">
          <a:xfrm>
            <a:off x="4897135" y="2610743"/>
            <a:ext cx="3314042" cy="2214329"/>
            <a:chOff x="1008" y="1213"/>
            <a:chExt cx="3408" cy="2488"/>
          </a:xfrm>
        </p:grpSpPr>
        <p:sp>
          <p:nvSpPr>
            <p:cNvPr id="45" name="Oval 6"/>
            <p:cNvSpPr>
              <a:spLocks noChangeArrowheads="1"/>
            </p:cNvSpPr>
            <p:nvPr/>
          </p:nvSpPr>
          <p:spPr bwMode="auto">
            <a:xfrm>
              <a:off x="1008"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1</a:t>
              </a:r>
            </a:p>
          </p:txBody>
        </p:sp>
        <p:sp>
          <p:nvSpPr>
            <p:cNvPr id="46" name="Oval 7"/>
            <p:cNvSpPr>
              <a:spLocks noChangeArrowheads="1"/>
            </p:cNvSpPr>
            <p:nvPr/>
          </p:nvSpPr>
          <p:spPr bwMode="auto">
            <a:xfrm>
              <a:off x="1872"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2</a:t>
              </a:r>
            </a:p>
          </p:txBody>
        </p:sp>
        <p:sp>
          <p:nvSpPr>
            <p:cNvPr id="47" name="Oval 8"/>
            <p:cNvSpPr>
              <a:spLocks noChangeArrowheads="1"/>
            </p:cNvSpPr>
            <p:nvPr/>
          </p:nvSpPr>
          <p:spPr bwMode="auto">
            <a:xfrm>
              <a:off x="1872"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5</a:t>
              </a:r>
            </a:p>
          </p:txBody>
        </p:sp>
        <p:sp>
          <p:nvSpPr>
            <p:cNvPr id="48" name="Oval 9"/>
            <p:cNvSpPr>
              <a:spLocks noChangeArrowheads="1"/>
            </p:cNvSpPr>
            <p:nvPr/>
          </p:nvSpPr>
          <p:spPr bwMode="auto">
            <a:xfrm>
              <a:off x="2940"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3</a:t>
              </a:r>
            </a:p>
          </p:txBody>
        </p:sp>
        <p:sp>
          <p:nvSpPr>
            <p:cNvPr id="49" name="Oval 10"/>
            <p:cNvSpPr>
              <a:spLocks noChangeArrowheads="1"/>
            </p:cNvSpPr>
            <p:nvPr/>
          </p:nvSpPr>
          <p:spPr bwMode="auto">
            <a:xfrm>
              <a:off x="1872" y="326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4</a:t>
              </a:r>
            </a:p>
          </p:txBody>
        </p:sp>
        <p:grpSp>
          <p:nvGrpSpPr>
            <p:cNvPr id="50" name="Group 11"/>
            <p:cNvGrpSpPr>
              <a:grpSpLocks/>
            </p:cNvGrpSpPr>
            <p:nvPr/>
          </p:nvGrpSpPr>
          <p:grpSpPr bwMode="auto">
            <a:xfrm>
              <a:off x="2940" y="1391"/>
              <a:ext cx="384" cy="484"/>
              <a:chOff x="2940" y="1391"/>
              <a:chExt cx="384" cy="484"/>
            </a:xfrm>
          </p:grpSpPr>
          <p:grpSp>
            <p:nvGrpSpPr>
              <p:cNvPr id="77" name="Group 12"/>
              <p:cNvGrpSpPr>
                <a:grpSpLocks/>
              </p:cNvGrpSpPr>
              <p:nvPr/>
            </p:nvGrpSpPr>
            <p:grpSpPr bwMode="auto">
              <a:xfrm>
                <a:off x="2940" y="1440"/>
                <a:ext cx="384" cy="384"/>
                <a:chOff x="2928" y="1440"/>
                <a:chExt cx="384" cy="384"/>
              </a:xfrm>
            </p:grpSpPr>
            <p:sp>
              <p:nvSpPr>
                <p:cNvPr id="79" name="Oval 13"/>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sp>
              <p:nvSpPr>
                <p:cNvPr id="80" name="Oval 14"/>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
            <p:nvSpPr>
              <p:cNvPr id="78" name="Text Box 15"/>
              <p:cNvSpPr txBox="1">
                <a:spLocks noChangeArrowheads="1"/>
              </p:cNvSpPr>
              <p:nvPr/>
            </p:nvSpPr>
            <p:spPr bwMode="auto">
              <a:xfrm>
                <a:off x="3011" y="1391"/>
                <a:ext cx="24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6</a:t>
                </a:r>
              </a:p>
            </p:txBody>
          </p:sp>
        </p:grpSp>
        <p:grpSp>
          <p:nvGrpSpPr>
            <p:cNvPr id="51" name="Group 16"/>
            <p:cNvGrpSpPr>
              <a:grpSpLocks/>
            </p:cNvGrpSpPr>
            <p:nvPr/>
          </p:nvGrpSpPr>
          <p:grpSpPr bwMode="auto">
            <a:xfrm>
              <a:off x="4032" y="2350"/>
              <a:ext cx="384" cy="484"/>
              <a:chOff x="4032" y="2350"/>
              <a:chExt cx="384" cy="484"/>
            </a:xfrm>
          </p:grpSpPr>
          <p:grpSp>
            <p:nvGrpSpPr>
              <p:cNvPr id="73" name="Group 17"/>
              <p:cNvGrpSpPr>
                <a:grpSpLocks/>
              </p:cNvGrpSpPr>
              <p:nvPr/>
            </p:nvGrpSpPr>
            <p:grpSpPr bwMode="auto">
              <a:xfrm>
                <a:off x="4032" y="2400"/>
                <a:ext cx="384" cy="384"/>
                <a:chOff x="2928" y="1440"/>
                <a:chExt cx="384" cy="384"/>
              </a:xfrm>
            </p:grpSpPr>
            <p:sp>
              <p:nvSpPr>
                <p:cNvPr id="75" name="Oval 18"/>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sp>
              <p:nvSpPr>
                <p:cNvPr id="76" name="Oval 19"/>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
            <p:nvSpPr>
              <p:cNvPr id="74" name="Text Box 20"/>
              <p:cNvSpPr txBox="1">
                <a:spLocks noChangeArrowheads="1"/>
              </p:cNvSpPr>
              <p:nvPr/>
            </p:nvSpPr>
            <p:spPr bwMode="auto">
              <a:xfrm>
                <a:off x="4112" y="2350"/>
                <a:ext cx="24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8</a:t>
                </a:r>
              </a:p>
            </p:txBody>
          </p:sp>
        </p:grpSp>
        <p:grpSp>
          <p:nvGrpSpPr>
            <p:cNvPr id="52" name="Group 21"/>
            <p:cNvGrpSpPr>
              <a:grpSpLocks/>
            </p:cNvGrpSpPr>
            <p:nvPr/>
          </p:nvGrpSpPr>
          <p:grpSpPr bwMode="auto">
            <a:xfrm>
              <a:off x="2940" y="3217"/>
              <a:ext cx="384" cy="484"/>
              <a:chOff x="2940" y="3217"/>
              <a:chExt cx="384" cy="484"/>
            </a:xfrm>
          </p:grpSpPr>
          <p:grpSp>
            <p:nvGrpSpPr>
              <p:cNvPr id="69" name="Group 22"/>
              <p:cNvGrpSpPr>
                <a:grpSpLocks/>
              </p:cNvGrpSpPr>
              <p:nvPr/>
            </p:nvGrpSpPr>
            <p:grpSpPr bwMode="auto">
              <a:xfrm>
                <a:off x="2940" y="3264"/>
                <a:ext cx="384" cy="384"/>
                <a:chOff x="2928" y="1440"/>
                <a:chExt cx="384" cy="384"/>
              </a:xfrm>
            </p:grpSpPr>
            <p:sp>
              <p:nvSpPr>
                <p:cNvPr id="71" name="Oval 23"/>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sp>
              <p:nvSpPr>
                <p:cNvPr id="72" name="Oval 24"/>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
            <p:nvSpPr>
              <p:cNvPr id="70" name="Text Box 25"/>
              <p:cNvSpPr txBox="1">
                <a:spLocks noChangeArrowheads="1"/>
              </p:cNvSpPr>
              <p:nvPr/>
            </p:nvSpPr>
            <p:spPr bwMode="auto">
              <a:xfrm>
                <a:off x="3011" y="3217"/>
                <a:ext cx="24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7</a:t>
                </a:r>
              </a:p>
            </p:txBody>
          </p:sp>
        </p:grpSp>
        <p:cxnSp>
          <p:nvCxnSpPr>
            <p:cNvPr id="53" name="AutoShape 26"/>
            <p:cNvCxnSpPr>
              <a:cxnSpLocks noChangeShapeType="1"/>
              <a:stCxn id="49" idx="6"/>
              <a:endCxn id="71" idx="2"/>
            </p:cNvCxnSpPr>
            <p:nvPr/>
          </p:nvCxnSpPr>
          <p:spPr bwMode="auto">
            <a:xfrm>
              <a:off x="2256" y="3456"/>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 name="AutoShape 27"/>
            <p:cNvCxnSpPr>
              <a:cxnSpLocks noChangeShapeType="1"/>
              <a:stCxn id="46" idx="6"/>
              <a:endCxn id="48" idx="2"/>
            </p:cNvCxnSpPr>
            <p:nvPr/>
          </p:nvCxnSpPr>
          <p:spPr bwMode="auto">
            <a:xfrm>
              <a:off x="2256" y="259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AutoShape 28"/>
            <p:cNvCxnSpPr>
              <a:cxnSpLocks noChangeShapeType="1"/>
              <a:stCxn id="79" idx="3"/>
              <a:endCxn id="46" idx="7"/>
            </p:cNvCxnSpPr>
            <p:nvPr/>
          </p:nvCxnSpPr>
          <p:spPr bwMode="auto">
            <a:xfrm rot="5400000">
              <a:off x="2254" y="1714"/>
              <a:ext cx="688" cy="796"/>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AutoShape 29"/>
            <p:cNvCxnSpPr>
              <a:cxnSpLocks noChangeShapeType="1"/>
              <a:stCxn id="47" idx="6"/>
              <a:endCxn id="79" idx="2"/>
            </p:cNvCxnSpPr>
            <p:nvPr/>
          </p:nvCxnSpPr>
          <p:spPr bwMode="auto">
            <a:xfrm>
              <a:off x="2256" y="163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AutoShape 30"/>
            <p:cNvCxnSpPr>
              <a:cxnSpLocks noChangeShapeType="1"/>
              <a:stCxn id="45" idx="6"/>
              <a:endCxn id="46" idx="2"/>
            </p:cNvCxnSpPr>
            <p:nvPr/>
          </p:nvCxnSpPr>
          <p:spPr bwMode="auto">
            <a:xfrm>
              <a:off x="1392" y="2592"/>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8" name="AutoShape 31"/>
            <p:cNvCxnSpPr>
              <a:cxnSpLocks noChangeShapeType="1"/>
              <a:stCxn id="45" idx="0"/>
              <a:endCxn id="47" idx="2"/>
            </p:cNvCxnSpPr>
            <p:nvPr/>
          </p:nvCxnSpPr>
          <p:spPr bwMode="auto">
            <a:xfrm rot="-5400000">
              <a:off x="1152" y="1680"/>
              <a:ext cx="768"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 name="AutoShape 32"/>
            <p:cNvCxnSpPr>
              <a:cxnSpLocks noChangeShapeType="1"/>
              <a:stCxn id="45" idx="4"/>
              <a:endCxn id="49" idx="2"/>
            </p:cNvCxnSpPr>
            <p:nvPr/>
          </p:nvCxnSpPr>
          <p:spPr bwMode="auto">
            <a:xfrm rot="16200000" flipH="1">
              <a:off x="1200" y="2784"/>
              <a:ext cx="672"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AutoShape 33"/>
            <p:cNvCxnSpPr>
              <a:cxnSpLocks noChangeShapeType="1"/>
              <a:stCxn id="48" idx="6"/>
              <a:endCxn id="75" idx="2"/>
            </p:cNvCxnSpPr>
            <p:nvPr/>
          </p:nvCxnSpPr>
          <p:spPr bwMode="auto">
            <a:xfrm>
              <a:off x="3324" y="2592"/>
              <a:ext cx="70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 name="Text Box 34"/>
            <p:cNvSpPr txBox="1">
              <a:spLocks noChangeArrowheads="1"/>
            </p:cNvSpPr>
            <p:nvPr/>
          </p:nvSpPr>
          <p:spPr bwMode="auto">
            <a:xfrm>
              <a:off x="1232" y="1456"/>
              <a:ext cx="231"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sp>
          <p:nvSpPr>
            <p:cNvPr id="62" name="Text Box 35"/>
            <p:cNvSpPr txBox="1">
              <a:spLocks noChangeArrowheads="1"/>
            </p:cNvSpPr>
            <p:nvPr/>
          </p:nvSpPr>
          <p:spPr bwMode="auto">
            <a:xfrm>
              <a:off x="1277" y="3071"/>
              <a:ext cx="231"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sp>
          <p:nvSpPr>
            <p:cNvPr id="63" name="Text Box 36"/>
            <p:cNvSpPr txBox="1">
              <a:spLocks noChangeArrowheads="1"/>
            </p:cNvSpPr>
            <p:nvPr/>
          </p:nvSpPr>
          <p:spPr bwMode="auto">
            <a:xfrm>
              <a:off x="1468" y="2184"/>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4" name="Text Box 37"/>
            <p:cNvSpPr txBox="1">
              <a:spLocks noChangeArrowheads="1"/>
            </p:cNvSpPr>
            <p:nvPr/>
          </p:nvSpPr>
          <p:spPr bwMode="auto">
            <a:xfrm>
              <a:off x="2384" y="1699"/>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5" name="Text Box 38"/>
            <p:cNvSpPr txBox="1">
              <a:spLocks noChangeArrowheads="1"/>
            </p:cNvSpPr>
            <p:nvPr/>
          </p:nvSpPr>
          <p:spPr bwMode="auto">
            <a:xfrm>
              <a:off x="2425" y="1213"/>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6" name="Text Box 39"/>
            <p:cNvSpPr txBox="1">
              <a:spLocks noChangeArrowheads="1"/>
            </p:cNvSpPr>
            <p:nvPr/>
          </p:nvSpPr>
          <p:spPr bwMode="auto">
            <a:xfrm>
              <a:off x="3490" y="2184"/>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7" name="Text Box 40"/>
            <p:cNvSpPr txBox="1">
              <a:spLocks noChangeArrowheads="1"/>
            </p:cNvSpPr>
            <p:nvPr/>
          </p:nvSpPr>
          <p:spPr bwMode="auto">
            <a:xfrm>
              <a:off x="2432" y="3074"/>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8" name="Text Box 41"/>
            <p:cNvSpPr txBox="1">
              <a:spLocks noChangeArrowheads="1"/>
            </p:cNvSpPr>
            <p:nvPr/>
          </p:nvSpPr>
          <p:spPr bwMode="auto">
            <a:xfrm>
              <a:off x="2480" y="2184"/>
              <a:ext cx="231"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grpSp>
      <p:sp>
        <p:nvSpPr>
          <p:cNvPr id="2" name="矩形 1"/>
          <p:cNvSpPr/>
          <p:nvPr/>
        </p:nvSpPr>
        <p:spPr>
          <a:xfrm>
            <a:off x="3779912" y="2830165"/>
            <a:ext cx="498855" cy="430887"/>
          </a:xfrm>
          <a:prstGeom prst="rect">
            <a:avLst/>
          </a:prstGeom>
        </p:spPr>
        <p:txBody>
          <a:bodyPr wrap="none">
            <a:spAutoFit/>
          </a:bodyPr>
          <a:lstStyle/>
          <a:p>
            <a:r>
              <a:rPr kumimoji="1" lang="en-US" altLang="zh-CN" sz="2200" dirty="0">
                <a:solidFill>
                  <a:schemeClr val="accent2">
                    <a:lumMod val="7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 2</a:t>
            </a:r>
            <a:endParaRPr lang="zh-CN" altLang="en-US" sz="2200" dirty="0">
              <a:solidFill>
                <a:schemeClr val="accent2">
                  <a:lumMod val="7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 name="矩形 2"/>
          <p:cNvSpPr/>
          <p:nvPr/>
        </p:nvSpPr>
        <p:spPr>
          <a:xfrm>
            <a:off x="3707904" y="3161526"/>
            <a:ext cx="813043" cy="430887"/>
          </a:xfrm>
          <a:prstGeom prst="rect">
            <a:avLst/>
          </a:prstGeom>
        </p:spPr>
        <p:txBody>
          <a:bodyPr wrap="none">
            <a:spAutoFit/>
          </a:bodyPr>
          <a:lstStyle/>
          <a:p>
            <a:r>
              <a:rPr kumimoji="1" lang="en-US" altLang="zh-CN" sz="2200" dirty="0">
                <a:solidFill>
                  <a:schemeClr val="accent2">
                    <a:lumMod val="7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 6, 2</a:t>
            </a:r>
            <a:endParaRPr lang="zh-CN" altLang="en-US" sz="2200" dirty="0">
              <a:solidFill>
                <a:schemeClr val="accent2">
                  <a:lumMod val="7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 name="矩形 3"/>
          <p:cNvSpPr/>
          <p:nvPr/>
        </p:nvSpPr>
        <p:spPr>
          <a:xfrm>
            <a:off x="3563888" y="2859782"/>
            <a:ext cx="341760" cy="430887"/>
          </a:xfrm>
          <a:prstGeom prst="rect">
            <a:avLst/>
          </a:prstGeom>
        </p:spPr>
        <p:txBody>
          <a:bodyPr wrap="none">
            <a:spAutoFit/>
          </a:bodyPr>
          <a:lstStyle/>
          <a:p>
            <a:r>
              <a:rPr kumimoji="1" lang="en-US" altLang="zh-CN" sz="22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1</a:t>
            </a:r>
            <a:endParaRPr lang="zh-CN" altLang="en-US" sz="22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3491880" y="3161526"/>
            <a:ext cx="341760" cy="430887"/>
          </a:xfrm>
          <a:prstGeom prst="rect">
            <a:avLst/>
          </a:prstGeom>
        </p:spPr>
        <p:txBody>
          <a:bodyPr wrap="none">
            <a:spAutoFit/>
          </a:bodyPr>
          <a:lstStyle/>
          <a:p>
            <a:r>
              <a:rPr kumimoji="1" lang="en-US" altLang="zh-CN" sz="22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5</a:t>
            </a:r>
            <a:endParaRPr lang="zh-CN" altLang="en-US" sz="22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84262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85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86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animBg="1"/>
      <p:bldP spid="34858" grpId="0"/>
      <p:bldP spid="34859" grpId="0"/>
      <p:bldP spid="34860" grpId="0"/>
      <p:bldP spid="2" grpId="0"/>
      <p:bldP spid="3" grpId="0"/>
      <p:bldP spid="4" grpId="0"/>
      <p:bldP spid="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p:cNvSpPr>
            <a:spLocks noChangeArrowheads="1"/>
          </p:cNvSpPr>
          <p:nvPr/>
        </p:nvSpPr>
        <p:spPr bwMode="auto">
          <a:xfrm>
            <a:off x="132165" y="4034935"/>
            <a:ext cx="8915400" cy="938719"/>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marL="342900" indent="-342900">
              <a:spcBef>
                <a:spcPct val="20000"/>
              </a:spcBef>
              <a:buChar char="•"/>
              <a:defRPr sz="3200">
                <a:solidFill>
                  <a:schemeClr val="tx1"/>
                </a:solidFill>
                <a:latin typeface="Arial" charset="0"/>
                <a:ea typeface="宋体" pitchFamily="2" charset="-122"/>
              </a:defRPr>
            </a:lvl1pPr>
            <a:lvl2pPr indent="-26670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lvl="1" eaLnBrk="1" hangingPunct="1">
              <a:spcBef>
                <a:spcPct val="50000"/>
              </a:spcBef>
              <a:buClr>
                <a:schemeClr val="accent1"/>
              </a:buClr>
              <a:buFontTx/>
              <a:buNone/>
            </a:pPr>
            <a:r>
              <a:rPr kumimoji="1" lang="en-US" altLang="zh-CN" sz="2200" b="1" dirty="0">
                <a:solidFill>
                  <a:srgbClr val="0000CC"/>
                </a:solidFill>
                <a:latin typeface="Times New Roman" pitchFamily="18" charset="0"/>
                <a:sym typeface="Symbol" pitchFamily="18" charset="2"/>
              </a:rPr>
              <a:t>I={1,2},  </a:t>
            </a:r>
            <a:r>
              <a:rPr kumimoji="1" lang="en-US" altLang="zh-CN" sz="2200" b="1" dirty="0">
                <a:solidFill>
                  <a:srgbClr val="0000CC"/>
                </a:solidFill>
                <a:latin typeface="Times New Roman" pitchFamily="18" charset="0"/>
              </a:rPr>
              <a:t>J=move(I,a)=</a:t>
            </a:r>
            <a:r>
              <a:rPr kumimoji="1" lang="en-US" altLang="zh-CN" sz="2200" b="1" dirty="0">
                <a:solidFill>
                  <a:srgbClr val="0000CC"/>
                </a:solidFill>
                <a:latin typeface="Times New Roman" pitchFamily="18" charset="0"/>
                <a:sym typeface="Symbol" pitchFamily="18" charset="2"/>
              </a:rPr>
              <a:t> {5,3,4} ; </a:t>
            </a:r>
          </a:p>
          <a:p>
            <a:pPr lvl="1" eaLnBrk="1" hangingPunct="1">
              <a:spcBef>
                <a:spcPct val="50000"/>
              </a:spcBef>
              <a:buClr>
                <a:schemeClr val="accent1"/>
              </a:buClr>
              <a:buFontTx/>
              <a:buNone/>
            </a:pPr>
            <a:r>
              <a:rPr kumimoji="1" lang="en-US" altLang="zh-CN" sz="2200" b="1" dirty="0" err="1">
                <a:solidFill>
                  <a:srgbClr val="0000CC"/>
                </a:solidFill>
                <a:latin typeface="Times New Roman" pitchFamily="18" charset="0"/>
                <a:sym typeface="Symbol" pitchFamily="18" charset="2"/>
              </a:rPr>
              <a:t>I</a:t>
            </a:r>
            <a:r>
              <a:rPr kumimoji="1" lang="en-US" altLang="zh-CN" sz="2200" b="1" baseline="-25000" dirty="0" err="1">
                <a:solidFill>
                  <a:srgbClr val="0000CC"/>
                </a:solidFill>
                <a:latin typeface="Times New Roman" pitchFamily="18" charset="0"/>
                <a:sym typeface="Symbol" pitchFamily="18" charset="2"/>
              </a:rPr>
              <a:t>a</a:t>
            </a:r>
            <a:r>
              <a:rPr kumimoji="1" lang="en-US" altLang="zh-CN" sz="2200" b="1" dirty="0">
                <a:solidFill>
                  <a:srgbClr val="0000CC"/>
                </a:solidFill>
                <a:latin typeface="Times New Roman" pitchFamily="18" charset="0"/>
                <a:sym typeface="Symbol" pitchFamily="18" charset="2"/>
              </a:rPr>
              <a:t>= -closure({5,3,4})={2,3,4,5,6,7,8}</a:t>
            </a:r>
            <a:endParaRPr kumimoji="1" lang="zh-CN" altLang="zh-CN" sz="2200" b="1" dirty="0">
              <a:solidFill>
                <a:srgbClr val="0000CC"/>
              </a:solidFill>
              <a:latin typeface="Times New Roman" pitchFamily="18" charset="0"/>
              <a:sym typeface="Symbol" pitchFamily="18" charset="2"/>
            </a:endParaRPr>
          </a:p>
        </p:txBody>
      </p:sp>
      <p:grpSp>
        <p:nvGrpSpPr>
          <p:cNvPr id="2" name="Group 5"/>
          <p:cNvGrpSpPr>
            <a:grpSpLocks/>
          </p:cNvGrpSpPr>
          <p:nvPr/>
        </p:nvGrpSpPr>
        <p:grpSpPr bwMode="auto">
          <a:xfrm>
            <a:off x="5169415" y="1851588"/>
            <a:ext cx="3314042" cy="2214329"/>
            <a:chOff x="1008" y="1213"/>
            <a:chExt cx="3408" cy="2488"/>
          </a:xfrm>
        </p:grpSpPr>
        <p:sp>
          <p:nvSpPr>
            <p:cNvPr id="66567" name="Oval 6"/>
            <p:cNvSpPr>
              <a:spLocks noChangeArrowheads="1"/>
            </p:cNvSpPr>
            <p:nvPr/>
          </p:nvSpPr>
          <p:spPr bwMode="auto">
            <a:xfrm>
              <a:off x="1008"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1</a:t>
              </a:r>
            </a:p>
          </p:txBody>
        </p:sp>
        <p:sp>
          <p:nvSpPr>
            <p:cNvPr id="66568" name="Oval 7"/>
            <p:cNvSpPr>
              <a:spLocks noChangeArrowheads="1"/>
            </p:cNvSpPr>
            <p:nvPr/>
          </p:nvSpPr>
          <p:spPr bwMode="auto">
            <a:xfrm>
              <a:off x="1872"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2</a:t>
              </a:r>
            </a:p>
          </p:txBody>
        </p:sp>
        <p:sp>
          <p:nvSpPr>
            <p:cNvPr id="66569" name="Oval 8"/>
            <p:cNvSpPr>
              <a:spLocks noChangeArrowheads="1"/>
            </p:cNvSpPr>
            <p:nvPr/>
          </p:nvSpPr>
          <p:spPr bwMode="auto">
            <a:xfrm>
              <a:off x="1872"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5</a:t>
              </a:r>
            </a:p>
          </p:txBody>
        </p:sp>
        <p:sp>
          <p:nvSpPr>
            <p:cNvPr id="66570" name="Oval 9"/>
            <p:cNvSpPr>
              <a:spLocks noChangeArrowheads="1"/>
            </p:cNvSpPr>
            <p:nvPr/>
          </p:nvSpPr>
          <p:spPr bwMode="auto">
            <a:xfrm>
              <a:off x="2940" y="240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3</a:t>
              </a:r>
            </a:p>
          </p:txBody>
        </p:sp>
        <p:sp>
          <p:nvSpPr>
            <p:cNvPr id="66571" name="Oval 10"/>
            <p:cNvSpPr>
              <a:spLocks noChangeArrowheads="1"/>
            </p:cNvSpPr>
            <p:nvPr/>
          </p:nvSpPr>
          <p:spPr bwMode="auto">
            <a:xfrm>
              <a:off x="1872" y="326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4</a:t>
              </a:r>
            </a:p>
          </p:txBody>
        </p:sp>
        <p:grpSp>
          <p:nvGrpSpPr>
            <p:cNvPr id="66572" name="Group 11"/>
            <p:cNvGrpSpPr>
              <a:grpSpLocks/>
            </p:cNvGrpSpPr>
            <p:nvPr/>
          </p:nvGrpSpPr>
          <p:grpSpPr bwMode="auto">
            <a:xfrm>
              <a:off x="2940" y="1391"/>
              <a:ext cx="384" cy="484"/>
              <a:chOff x="2940" y="1391"/>
              <a:chExt cx="384" cy="484"/>
            </a:xfrm>
          </p:grpSpPr>
          <p:grpSp>
            <p:nvGrpSpPr>
              <p:cNvPr id="66599" name="Group 12"/>
              <p:cNvGrpSpPr>
                <a:grpSpLocks/>
              </p:cNvGrpSpPr>
              <p:nvPr/>
            </p:nvGrpSpPr>
            <p:grpSpPr bwMode="auto">
              <a:xfrm>
                <a:off x="2940" y="1440"/>
                <a:ext cx="384" cy="384"/>
                <a:chOff x="2928" y="1440"/>
                <a:chExt cx="384" cy="384"/>
              </a:xfrm>
            </p:grpSpPr>
            <p:sp>
              <p:nvSpPr>
                <p:cNvPr id="66601" name="Oval 13"/>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sp>
              <p:nvSpPr>
                <p:cNvPr id="66602" name="Oval 14"/>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
            <p:nvSpPr>
              <p:cNvPr id="66600" name="Text Box 15"/>
              <p:cNvSpPr txBox="1">
                <a:spLocks noChangeArrowheads="1"/>
              </p:cNvSpPr>
              <p:nvPr/>
            </p:nvSpPr>
            <p:spPr bwMode="auto">
              <a:xfrm>
                <a:off x="3011" y="1391"/>
                <a:ext cx="24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6</a:t>
                </a:r>
              </a:p>
            </p:txBody>
          </p:sp>
        </p:grpSp>
        <p:grpSp>
          <p:nvGrpSpPr>
            <p:cNvPr id="66573" name="Group 16"/>
            <p:cNvGrpSpPr>
              <a:grpSpLocks/>
            </p:cNvGrpSpPr>
            <p:nvPr/>
          </p:nvGrpSpPr>
          <p:grpSpPr bwMode="auto">
            <a:xfrm>
              <a:off x="4032" y="2350"/>
              <a:ext cx="384" cy="484"/>
              <a:chOff x="4032" y="2350"/>
              <a:chExt cx="384" cy="484"/>
            </a:xfrm>
          </p:grpSpPr>
          <p:grpSp>
            <p:nvGrpSpPr>
              <p:cNvPr id="66595" name="Group 17"/>
              <p:cNvGrpSpPr>
                <a:grpSpLocks/>
              </p:cNvGrpSpPr>
              <p:nvPr/>
            </p:nvGrpSpPr>
            <p:grpSpPr bwMode="auto">
              <a:xfrm>
                <a:off x="4032" y="2400"/>
                <a:ext cx="384" cy="384"/>
                <a:chOff x="2928" y="1440"/>
                <a:chExt cx="384" cy="384"/>
              </a:xfrm>
            </p:grpSpPr>
            <p:sp>
              <p:nvSpPr>
                <p:cNvPr id="66597" name="Oval 18"/>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sp>
              <p:nvSpPr>
                <p:cNvPr id="66598" name="Oval 19"/>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
            <p:nvSpPr>
              <p:cNvPr id="66596" name="Text Box 20"/>
              <p:cNvSpPr txBox="1">
                <a:spLocks noChangeArrowheads="1"/>
              </p:cNvSpPr>
              <p:nvPr/>
            </p:nvSpPr>
            <p:spPr bwMode="auto">
              <a:xfrm>
                <a:off x="4112" y="2350"/>
                <a:ext cx="24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8</a:t>
                </a:r>
              </a:p>
            </p:txBody>
          </p:sp>
        </p:grpSp>
        <p:grpSp>
          <p:nvGrpSpPr>
            <p:cNvPr id="66574" name="Group 21"/>
            <p:cNvGrpSpPr>
              <a:grpSpLocks/>
            </p:cNvGrpSpPr>
            <p:nvPr/>
          </p:nvGrpSpPr>
          <p:grpSpPr bwMode="auto">
            <a:xfrm>
              <a:off x="2940" y="3217"/>
              <a:ext cx="384" cy="484"/>
              <a:chOff x="2940" y="3217"/>
              <a:chExt cx="384" cy="484"/>
            </a:xfrm>
          </p:grpSpPr>
          <p:grpSp>
            <p:nvGrpSpPr>
              <p:cNvPr id="66591" name="Group 22"/>
              <p:cNvGrpSpPr>
                <a:grpSpLocks/>
              </p:cNvGrpSpPr>
              <p:nvPr/>
            </p:nvGrpSpPr>
            <p:grpSpPr bwMode="auto">
              <a:xfrm>
                <a:off x="2940" y="3264"/>
                <a:ext cx="384" cy="384"/>
                <a:chOff x="2928" y="1440"/>
                <a:chExt cx="384" cy="384"/>
              </a:xfrm>
            </p:grpSpPr>
            <p:sp>
              <p:nvSpPr>
                <p:cNvPr id="66593" name="Oval 23"/>
                <p:cNvSpPr>
                  <a:spLocks noChangeArrowheads="1"/>
                </p:cNvSpPr>
                <p:nvPr/>
              </p:nvSpPr>
              <p:spPr bwMode="auto">
                <a:xfrm>
                  <a:off x="2928" y="144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sp>
              <p:nvSpPr>
                <p:cNvPr id="66594" name="Oval 24"/>
                <p:cNvSpPr>
                  <a:spLocks noChangeArrowheads="1"/>
                </p:cNvSpPr>
                <p:nvPr/>
              </p:nvSpPr>
              <p:spPr bwMode="auto">
                <a:xfrm>
                  <a:off x="2976" y="148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
            <p:nvSpPr>
              <p:cNvPr id="66592" name="Text Box 25"/>
              <p:cNvSpPr txBox="1">
                <a:spLocks noChangeArrowheads="1"/>
              </p:cNvSpPr>
              <p:nvPr/>
            </p:nvSpPr>
            <p:spPr bwMode="auto">
              <a:xfrm>
                <a:off x="3011" y="3217"/>
                <a:ext cx="24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7</a:t>
                </a:r>
              </a:p>
            </p:txBody>
          </p:sp>
        </p:grpSp>
        <p:cxnSp>
          <p:nvCxnSpPr>
            <p:cNvPr id="66575" name="AutoShape 26"/>
            <p:cNvCxnSpPr>
              <a:cxnSpLocks noChangeShapeType="1"/>
              <a:stCxn id="66571" idx="6"/>
              <a:endCxn id="66593" idx="2"/>
            </p:cNvCxnSpPr>
            <p:nvPr/>
          </p:nvCxnSpPr>
          <p:spPr bwMode="auto">
            <a:xfrm>
              <a:off x="2256" y="3456"/>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76" name="AutoShape 27"/>
            <p:cNvCxnSpPr>
              <a:cxnSpLocks noChangeShapeType="1"/>
              <a:stCxn id="66568" idx="6"/>
              <a:endCxn id="66570" idx="2"/>
            </p:cNvCxnSpPr>
            <p:nvPr/>
          </p:nvCxnSpPr>
          <p:spPr bwMode="auto">
            <a:xfrm>
              <a:off x="2256" y="259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77" name="AutoShape 28"/>
            <p:cNvCxnSpPr>
              <a:cxnSpLocks noChangeShapeType="1"/>
              <a:stCxn id="66601" idx="3"/>
              <a:endCxn id="66568" idx="7"/>
            </p:cNvCxnSpPr>
            <p:nvPr/>
          </p:nvCxnSpPr>
          <p:spPr bwMode="auto">
            <a:xfrm rot="5400000">
              <a:off x="2254" y="1714"/>
              <a:ext cx="688" cy="796"/>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78" name="AutoShape 29"/>
            <p:cNvCxnSpPr>
              <a:cxnSpLocks noChangeShapeType="1"/>
              <a:stCxn id="66569" idx="6"/>
              <a:endCxn id="66601" idx="2"/>
            </p:cNvCxnSpPr>
            <p:nvPr/>
          </p:nvCxnSpPr>
          <p:spPr bwMode="auto">
            <a:xfrm>
              <a:off x="2256" y="1632"/>
              <a:ext cx="6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79" name="AutoShape 30"/>
            <p:cNvCxnSpPr>
              <a:cxnSpLocks noChangeShapeType="1"/>
              <a:stCxn id="66567" idx="6"/>
              <a:endCxn id="66568" idx="2"/>
            </p:cNvCxnSpPr>
            <p:nvPr/>
          </p:nvCxnSpPr>
          <p:spPr bwMode="auto">
            <a:xfrm>
              <a:off x="1392" y="2592"/>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80" name="AutoShape 31"/>
            <p:cNvCxnSpPr>
              <a:cxnSpLocks noChangeShapeType="1"/>
              <a:stCxn id="66567" idx="0"/>
              <a:endCxn id="66569" idx="2"/>
            </p:cNvCxnSpPr>
            <p:nvPr/>
          </p:nvCxnSpPr>
          <p:spPr bwMode="auto">
            <a:xfrm rot="-5400000">
              <a:off x="1152" y="1680"/>
              <a:ext cx="768"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81" name="AutoShape 32"/>
            <p:cNvCxnSpPr>
              <a:cxnSpLocks noChangeShapeType="1"/>
              <a:stCxn id="66567" idx="4"/>
              <a:endCxn id="66571" idx="2"/>
            </p:cNvCxnSpPr>
            <p:nvPr/>
          </p:nvCxnSpPr>
          <p:spPr bwMode="auto">
            <a:xfrm rot="16200000" flipH="1">
              <a:off x="1200" y="2784"/>
              <a:ext cx="672" cy="67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82" name="AutoShape 33"/>
            <p:cNvCxnSpPr>
              <a:cxnSpLocks noChangeShapeType="1"/>
              <a:stCxn id="66570" idx="6"/>
              <a:endCxn id="66597" idx="2"/>
            </p:cNvCxnSpPr>
            <p:nvPr/>
          </p:nvCxnSpPr>
          <p:spPr bwMode="auto">
            <a:xfrm>
              <a:off x="3324" y="2592"/>
              <a:ext cx="70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6583" name="Text Box 34"/>
            <p:cNvSpPr txBox="1">
              <a:spLocks noChangeArrowheads="1"/>
            </p:cNvSpPr>
            <p:nvPr/>
          </p:nvSpPr>
          <p:spPr bwMode="auto">
            <a:xfrm>
              <a:off x="1232" y="1456"/>
              <a:ext cx="231"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sp>
          <p:nvSpPr>
            <p:cNvPr id="66584" name="Text Box 35"/>
            <p:cNvSpPr txBox="1">
              <a:spLocks noChangeArrowheads="1"/>
            </p:cNvSpPr>
            <p:nvPr/>
          </p:nvSpPr>
          <p:spPr bwMode="auto">
            <a:xfrm>
              <a:off x="1277" y="3071"/>
              <a:ext cx="231"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a</a:t>
              </a:r>
            </a:p>
          </p:txBody>
        </p:sp>
        <p:sp>
          <p:nvSpPr>
            <p:cNvPr id="66585" name="Text Box 36"/>
            <p:cNvSpPr txBox="1">
              <a:spLocks noChangeArrowheads="1"/>
            </p:cNvSpPr>
            <p:nvPr/>
          </p:nvSpPr>
          <p:spPr bwMode="auto">
            <a:xfrm>
              <a:off x="1468" y="2184"/>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6586" name="Text Box 37"/>
            <p:cNvSpPr txBox="1">
              <a:spLocks noChangeArrowheads="1"/>
            </p:cNvSpPr>
            <p:nvPr/>
          </p:nvSpPr>
          <p:spPr bwMode="auto">
            <a:xfrm>
              <a:off x="2384" y="1699"/>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6587" name="Text Box 38"/>
            <p:cNvSpPr txBox="1">
              <a:spLocks noChangeArrowheads="1"/>
            </p:cNvSpPr>
            <p:nvPr/>
          </p:nvSpPr>
          <p:spPr bwMode="auto">
            <a:xfrm>
              <a:off x="2425" y="1213"/>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6588" name="Text Box 39"/>
            <p:cNvSpPr txBox="1">
              <a:spLocks noChangeArrowheads="1"/>
            </p:cNvSpPr>
            <p:nvPr/>
          </p:nvSpPr>
          <p:spPr bwMode="auto">
            <a:xfrm>
              <a:off x="3490" y="2184"/>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sym typeface="Symbol" pitchFamily="18" charset="2"/>
                </a:rPr>
                <a:t></a:t>
              </a:r>
              <a:endParaRPr kumimoji="1" lang="en-US" altLang="zh-CN" sz="2200">
                <a:latin typeface="Times New Roman" pitchFamily="18" charset="0"/>
              </a:endParaRPr>
            </a:p>
          </p:txBody>
        </p:sp>
        <p:sp>
          <p:nvSpPr>
            <p:cNvPr id="66589" name="Text Box 40"/>
            <p:cNvSpPr txBox="1">
              <a:spLocks noChangeArrowheads="1"/>
            </p:cNvSpPr>
            <p:nvPr/>
          </p:nvSpPr>
          <p:spPr bwMode="auto">
            <a:xfrm>
              <a:off x="2432" y="3074"/>
              <a:ext cx="23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sp>
          <p:nvSpPr>
            <p:cNvPr id="66590" name="Text Box 41"/>
            <p:cNvSpPr txBox="1">
              <a:spLocks noChangeArrowheads="1"/>
            </p:cNvSpPr>
            <p:nvPr/>
          </p:nvSpPr>
          <p:spPr bwMode="auto">
            <a:xfrm>
              <a:off x="2480" y="2184"/>
              <a:ext cx="231"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grpSp>
      <p:sp>
        <p:nvSpPr>
          <p:cNvPr id="66564" name="Rectangle 43"/>
          <p:cNvSpPr>
            <a:spLocks noGrp="1" noChangeArrowheads="1"/>
          </p:cNvSpPr>
          <p:nvPr>
            <p:ph type="title"/>
          </p:nvPr>
        </p:nvSpPr>
        <p:spPr>
          <a:xfrm>
            <a:off x="271463" y="381000"/>
            <a:ext cx="8229600" cy="1038622"/>
          </a:xfrm>
          <a:solidFill>
            <a:schemeClr val="bg1"/>
          </a:solidFill>
          <a:ln w="28575">
            <a:solidFill>
              <a:srgbClr val="3333FF"/>
            </a:solidFill>
            <a:miter lim="800000"/>
            <a:headEnd/>
            <a:tailEnd/>
          </a:ln>
        </p:spPr>
        <p:txBody>
          <a:bodyPr>
            <a:normAutofit/>
          </a:bodyPr>
          <a:lstStyle/>
          <a:p>
            <a:pPr marL="515938" indent="-515938" algn="l" eaLnBrk="1" hangingPunct="1">
              <a:spcBef>
                <a:spcPts val="0"/>
              </a:spcBef>
              <a:buClr>
                <a:srgbClr val="FF6600"/>
              </a:buClr>
              <a:buSzPct val="90000"/>
              <a:buFont typeface="Wingdings" pitchFamily="2" charset="2"/>
              <a:buChar char="v"/>
            </a:pPr>
            <a:r>
              <a:rPr lang="zh-CN" altLang="en-US" sz="2400" b="1" dirty="0">
                <a:solidFill>
                  <a:srgbClr val="0000CC"/>
                </a:solidFill>
                <a:effectLst/>
                <a:latin typeface="Times New Roman" panose="02020603050405020304" pitchFamily="18" charset="0"/>
                <a:ea typeface="方正舒体" pitchFamily="2" charset="-122"/>
                <a:cs typeface="Times New Roman" panose="02020603050405020304" pitchFamily="18" charset="0"/>
              </a:rPr>
              <a:t>状态集合</a:t>
            </a:r>
            <a:r>
              <a:rPr lang="en-US" altLang="zh-CN" sz="2400" b="1" dirty="0">
                <a:solidFill>
                  <a:srgbClr val="FF0000"/>
                </a:solidFill>
                <a:effectLst/>
                <a:latin typeface="Times New Roman" panose="02020603050405020304" pitchFamily="18" charset="0"/>
                <a:cs typeface="Times New Roman" panose="02020603050405020304" pitchFamily="18" charset="0"/>
              </a:rPr>
              <a:t>I</a:t>
            </a:r>
            <a:r>
              <a:rPr lang="zh-CN" altLang="en-US" sz="2400" b="1" dirty="0">
                <a:solidFill>
                  <a:srgbClr val="FF0000"/>
                </a:solidFill>
                <a:effectLst/>
                <a:latin typeface="Times New Roman" panose="02020603050405020304" pitchFamily="18" charset="0"/>
                <a:ea typeface="方正舒体" pitchFamily="2" charset="-122"/>
                <a:cs typeface="Times New Roman" panose="02020603050405020304" pitchFamily="18" charset="0"/>
              </a:rPr>
              <a:t>的</a:t>
            </a:r>
            <a:r>
              <a:rPr lang="en-US" altLang="zh-CN" sz="2400" b="1" dirty="0">
                <a:solidFill>
                  <a:srgbClr val="FF0000"/>
                </a:solidFill>
                <a:effectLst/>
                <a:latin typeface="Times New Roman" panose="02020603050405020304" pitchFamily="18" charset="0"/>
                <a:ea typeface="方正舒体" pitchFamily="2" charset="-122"/>
                <a:cs typeface="Times New Roman" panose="02020603050405020304" pitchFamily="18" charset="0"/>
              </a:rPr>
              <a:t>a</a:t>
            </a:r>
            <a:r>
              <a:rPr lang="zh-CN" altLang="en-US" sz="2400" b="1" dirty="0">
                <a:solidFill>
                  <a:srgbClr val="FF0000"/>
                </a:solidFill>
                <a:effectLst/>
                <a:latin typeface="Times New Roman" panose="02020603050405020304" pitchFamily="18" charset="0"/>
                <a:ea typeface="方正舒体" pitchFamily="2" charset="-122"/>
                <a:cs typeface="Times New Roman" panose="02020603050405020304" pitchFamily="18" charset="0"/>
              </a:rPr>
              <a:t>弧转换</a:t>
            </a:r>
            <a:r>
              <a:rPr lang="zh-CN" altLang="en-US" sz="2400" dirty="0">
                <a:solidFill>
                  <a:schemeClr val="tx1"/>
                </a:solidFill>
                <a:effectLst/>
                <a:latin typeface="Times New Roman" panose="02020603050405020304" pitchFamily="18" charset="0"/>
                <a:cs typeface="Times New Roman" panose="02020603050405020304" pitchFamily="18" charset="0"/>
              </a:rPr>
              <a:t>，</a:t>
            </a:r>
            <a:r>
              <a:rPr lang="en-US" altLang="zh-CN" sz="2400" b="1" dirty="0" err="1">
                <a:solidFill>
                  <a:schemeClr val="tx1"/>
                </a:solidFill>
                <a:effectLst/>
                <a:latin typeface="Times New Roman" panose="02020603050405020304" pitchFamily="18" charset="0"/>
                <a:cs typeface="Times New Roman" panose="02020603050405020304" pitchFamily="18" charset="0"/>
              </a:rPr>
              <a:t>I</a:t>
            </a:r>
            <a:r>
              <a:rPr lang="en-US" altLang="zh-CN" sz="2400" b="1" baseline="-25000" dirty="0" err="1">
                <a:solidFill>
                  <a:schemeClr val="tx1"/>
                </a:solidFill>
                <a:effectLst/>
                <a:latin typeface="Times New Roman" panose="02020603050405020304" pitchFamily="18" charset="0"/>
                <a:cs typeface="Times New Roman" panose="02020603050405020304" pitchFamily="18" charset="0"/>
              </a:rPr>
              <a:t>a</a:t>
            </a:r>
            <a:r>
              <a:rPr lang="en-US" altLang="zh-CN" sz="2400" dirty="0">
                <a:solidFill>
                  <a:schemeClr val="tx1"/>
                </a:solidFill>
                <a:effectLst/>
                <a:latin typeface="Times New Roman" panose="02020603050405020304" pitchFamily="18" charset="0"/>
                <a:cs typeface="Times New Roman" panose="02020603050405020304" pitchFamily="18" charset="0"/>
              </a:rPr>
              <a:t> = ε-closure(J) ,</a:t>
            </a:r>
            <a:r>
              <a:rPr lang="zh-CN" altLang="en-US" sz="2400" dirty="0">
                <a:solidFill>
                  <a:schemeClr val="tx1"/>
                </a:solidFill>
                <a:effectLst/>
                <a:latin typeface="Times New Roman" panose="02020603050405020304" pitchFamily="18" charset="0"/>
                <a:cs typeface="Times New Roman" panose="02020603050405020304" pitchFamily="18" charset="0"/>
              </a:rPr>
              <a:t>其中</a:t>
            </a:r>
            <a:r>
              <a:rPr kumimoji="1" lang="en-US" altLang="zh-CN" sz="2400" b="1" dirty="0">
                <a:solidFill>
                  <a:schemeClr val="tx1"/>
                </a:solidFill>
                <a:effectLst/>
                <a:latin typeface="Times New Roman" panose="02020603050405020304" pitchFamily="18" charset="0"/>
                <a:cs typeface="Times New Roman" panose="02020603050405020304" pitchFamily="18" charset="0"/>
              </a:rPr>
              <a:t>J=move(</a:t>
            </a:r>
            <a:r>
              <a:rPr kumimoji="1" lang="en-US" altLang="zh-CN" sz="2400" b="1" dirty="0" err="1">
                <a:solidFill>
                  <a:schemeClr val="tx1"/>
                </a:solidFill>
                <a:effectLst/>
                <a:latin typeface="Times New Roman" panose="02020603050405020304" pitchFamily="18" charset="0"/>
                <a:cs typeface="Times New Roman" panose="02020603050405020304" pitchFamily="18" charset="0"/>
              </a:rPr>
              <a:t>I,a</a:t>
            </a:r>
            <a:r>
              <a:rPr kumimoji="1" lang="en-US" altLang="zh-CN" sz="2400" b="1" dirty="0">
                <a:solidFill>
                  <a:schemeClr val="tx1"/>
                </a:solidFill>
                <a:effectLst/>
                <a:latin typeface="Times New Roman" panose="02020603050405020304" pitchFamily="18" charset="0"/>
                <a:cs typeface="Times New Roman" panose="02020603050405020304" pitchFamily="18" charset="0"/>
              </a:rPr>
              <a:t>)</a:t>
            </a:r>
            <a:r>
              <a:rPr kumimoji="1" lang="zh-CN" altLang="en-US" sz="2200" b="1" dirty="0">
                <a:solidFill>
                  <a:schemeClr val="tx1"/>
                </a:solidFill>
                <a:effectLst/>
                <a:latin typeface="Times New Roman" panose="02020603050405020304" pitchFamily="18" charset="0"/>
                <a:cs typeface="Times New Roman" panose="02020603050405020304" pitchFamily="18" charset="0"/>
              </a:rPr>
              <a:t>，</a:t>
            </a:r>
            <a:r>
              <a:rPr lang="zh-CN" altLang="en-US" sz="2200" dirty="0">
                <a:solidFill>
                  <a:schemeClr val="tx1"/>
                </a:solidFill>
                <a:effectLst/>
                <a:latin typeface="Times New Roman" panose="02020603050405020304" pitchFamily="18" charset="0"/>
                <a:cs typeface="Times New Roman" panose="02020603050405020304" pitchFamily="18" charset="0"/>
              </a:rPr>
              <a:t>即所有可从</a:t>
            </a:r>
            <a:r>
              <a:rPr lang="en-US" altLang="zh-CN" sz="2200" dirty="0">
                <a:solidFill>
                  <a:schemeClr val="tx1"/>
                </a:solidFill>
                <a:effectLst/>
                <a:latin typeface="Times New Roman" panose="02020603050405020304" pitchFamily="18" charset="0"/>
                <a:cs typeface="Times New Roman" panose="02020603050405020304" pitchFamily="18" charset="0"/>
              </a:rPr>
              <a:t>I</a:t>
            </a:r>
            <a:r>
              <a:rPr lang="zh-CN" altLang="en-US" sz="2200" dirty="0">
                <a:solidFill>
                  <a:schemeClr val="tx1"/>
                </a:solidFill>
                <a:effectLst/>
                <a:latin typeface="Times New Roman" panose="02020603050405020304" pitchFamily="18" charset="0"/>
                <a:cs typeface="Times New Roman" panose="02020603050405020304" pitchFamily="18" charset="0"/>
              </a:rPr>
              <a:t>中的某一状态经过一条</a:t>
            </a:r>
            <a:r>
              <a:rPr lang="en-US" altLang="zh-CN" sz="2200" dirty="0">
                <a:solidFill>
                  <a:schemeClr val="tx1"/>
                </a:solidFill>
                <a:effectLst/>
                <a:latin typeface="Times New Roman" panose="02020603050405020304" pitchFamily="18" charset="0"/>
                <a:cs typeface="Times New Roman" panose="02020603050405020304" pitchFamily="18" charset="0"/>
              </a:rPr>
              <a:t>a</a:t>
            </a:r>
            <a:r>
              <a:rPr lang="zh-CN" altLang="en-US" sz="2200" dirty="0">
                <a:solidFill>
                  <a:schemeClr val="tx1"/>
                </a:solidFill>
                <a:effectLst/>
                <a:latin typeface="Times New Roman" panose="02020603050405020304" pitchFamily="18" charset="0"/>
                <a:cs typeface="Times New Roman" panose="02020603050405020304" pitchFamily="18" charset="0"/>
              </a:rPr>
              <a:t>弧而到达的状态的全体。</a:t>
            </a:r>
          </a:p>
        </p:txBody>
      </p:sp>
      <p:sp>
        <p:nvSpPr>
          <p:cNvPr id="86061" name="Rectangle 45"/>
          <p:cNvSpPr>
            <a:spLocks noChangeArrowheads="1"/>
          </p:cNvSpPr>
          <p:nvPr/>
        </p:nvSpPr>
        <p:spPr bwMode="auto">
          <a:xfrm>
            <a:off x="622300" y="1648727"/>
            <a:ext cx="160011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None/>
            </a:pPr>
            <a:r>
              <a:rPr kumimoji="1" lang="en-US" altLang="zh-CN" sz="2200" dirty="0">
                <a:sym typeface="Symbol" pitchFamily="18" charset="2"/>
              </a:rPr>
              <a:t>I={1}</a:t>
            </a:r>
            <a:r>
              <a:rPr kumimoji="1" lang="zh-CN" altLang="en-US" sz="2200" dirty="0">
                <a:sym typeface="Symbol" pitchFamily="18" charset="2"/>
              </a:rPr>
              <a:t>，求</a:t>
            </a:r>
            <a:r>
              <a:rPr kumimoji="1" lang="en-US" altLang="zh-CN" sz="2200" dirty="0" err="1">
                <a:sym typeface="Symbol" pitchFamily="18" charset="2"/>
              </a:rPr>
              <a:t>I</a:t>
            </a:r>
            <a:r>
              <a:rPr kumimoji="1" lang="en-US" altLang="zh-CN" sz="2200" baseline="-25000" dirty="0" err="1">
                <a:sym typeface="Symbol" pitchFamily="18" charset="2"/>
              </a:rPr>
              <a:t>a</a:t>
            </a:r>
            <a:r>
              <a:rPr kumimoji="1" lang="en-US" altLang="zh-CN" sz="2200" dirty="0">
                <a:sym typeface="Symbol" pitchFamily="18" charset="2"/>
              </a:rPr>
              <a:t> </a:t>
            </a:r>
          </a:p>
        </p:txBody>
      </p:sp>
      <p:sp>
        <p:nvSpPr>
          <p:cNvPr id="86062" name="Rectangle 46"/>
          <p:cNvSpPr>
            <a:spLocks noChangeArrowheads="1"/>
          </p:cNvSpPr>
          <p:nvPr/>
        </p:nvSpPr>
        <p:spPr bwMode="auto">
          <a:xfrm>
            <a:off x="613801" y="3394472"/>
            <a:ext cx="17251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sym typeface="Symbol" pitchFamily="18" charset="2"/>
              </a:rPr>
              <a:t>I={1,2}, </a:t>
            </a:r>
            <a:r>
              <a:rPr kumimoji="1" lang="en-US" altLang="zh-CN" sz="2200" dirty="0" err="1">
                <a:sym typeface="Symbol" pitchFamily="18" charset="2"/>
              </a:rPr>
              <a:t>I</a:t>
            </a:r>
            <a:r>
              <a:rPr kumimoji="1" lang="en-US" altLang="zh-CN" sz="2200" baseline="-25000" dirty="0" err="1">
                <a:sym typeface="Symbol" pitchFamily="18" charset="2"/>
              </a:rPr>
              <a:t>a</a:t>
            </a:r>
            <a:r>
              <a:rPr kumimoji="1" lang="en-US" altLang="zh-CN" sz="2200" dirty="0">
                <a:sym typeface="Symbol" pitchFamily="18" charset="2"/>
              </a:rPr>
              <a:t>=?</a:t>
            </a:r>
          </a:p>
        </p:txBody>
      </p:sp>
      <p:sp>
        <p:nvSpPr>
          <p:cNvPr id="43" name="Rectangle 45"/>
          <p:cNvSpPr>
            <a:spLocks noChangeArrowheads="1"/>
          </p:cNvSpPr>
          <p:nvPr/>
        </p:nvSpPr>
        <p:spPr bwMode="auto">
          <a:xfrm>
            <a:off x="578403" y="2113900"/>
            <a:ext cx="290335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200" dirty="0"/>
              <a:t>J=move(</a:t>
            </a:r>
            <a:r>
              <a:rPr kumimoji="1" lang="en-US" altLang="zh-CN" sz="2200" dirty="0" err="1"/>
              <a:t>I,a</a:t>
            </a:r>
            <a:r>
              <a:rPr kumimoji="1" lang="en-US" altLang="zh-CN" sz="2200" dirty="0"/>
              <a:t>) =</a:t>
            </a:r>
            <a:r>
              <a:rPr kumimoji="1" lang="en-US" altLang="zh-CN" sz="2200" dirty="0">
                <a:sym typeface="Symbol" pitchFamily="18" charset="2"/>
              </a:rPr>
              <a:t> {5, 4}  </a:t>
            </a:r>
          </a:p>
        </p:txBody>
      </p:sp>
      <p:sp>
        <p:nvSpPr>
          <p:cNvPr id="44" name="Rectangle 45"/>
          <p:cNvSpPr>
            <a:spLocks noChangeArrowheads="1"/>
          </p:cNvSpPr>
          <p:nvPr/>
        </p:nvSpPr>
        <p:spPr bwMode="auto">
          <a:xfrm>
            <a:off x="578404" y="2644339"/>
            <a:ext cx="258917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None/>
            </a:pPr>
            <a:r>
              <a:rPr kumimoji="1" lang="en-US" altLang="zh-CN" sz="2200" dirty="0" err="1">
                <a:sym typeface="Symbol" pitchFamily="18" charset="2"/>
              </a:rPr>
              <a:t>I</a:t>
            </a:r>
            <a:r>
              <a:rPr kumimoji="1" lang="en-US" altLang="zh-CN" sz="2200" baseline="-25000" dirty="0" err="1">
                <a:sym typeface="Symbol" pitchFamily="18" charset="2"/>
              </a:rPr>
              <a:t>a</a:t>
            </a:r>
            <a:r>
              <a:rPr kumimoji="1" lang="en-US" altLang="zh-CN" sz="2200" dirty="0">
                <a:sym typeface="Symbol" pitchFamily="18" charset="2"/>
              </a:rPr>
              <a:t>= -closure({5, 4})</a:t>
            </a:r>
          </a:p>
        </p:txBody>
      </p:sp>
      <p:sp>
        <p:nvSpPr>
          <p:cNvPr id="3" name="矩形 2"/>
          <p:cNvSpPr/>
          <p:nvPr/>
        </p:nvSpPr>
        <p:spPr>
          <a:xfrm>
            <a:off x="3563888" y="2644339"/>
            <a:ext cx="813043" cy="430887"/>
          </a:xfrm>
          <a:prstGeom prst="rect">
            <a:avLst/>
          </a:prstGeom>
        </p:spPr>
        <p:txBody>
          <a:bodyPr wrap="none">
            <a:spAutoFit/>
          </a:bodyPr>
          <a:lstStyle/>
          <a:p>
            <a:r>
              <a:rPr kumimoji="1" lang="en-US" altLang="zh-CN" sz="22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 6, 2</a:t>
            </a:r>
            <a:endParaRPr lang="zh-CN" altLang="en-US" sz="22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 name="矩形 3"/>
          <p:cNvSpPr/>
          <p:nvPr/>
        </p:nvSpPr>
        <p:spPr>
          <a:xfrm>
            <a:off x="4165992" y="2644339"/>
            <a:ext cx="498855" cy="430887"/>
          </a:xfrm>
          <a:prstGeom prst="rect">
            <a:avLst/>
          </a:prstGeom>
        </p:spPr>
        <p:txBody>
          <a:bodyPr wrap="none">
            <a:spAutoFit/>
          </a:bodyPr>
          <a:lstStyle/>
          <a:p>
            <a:r>
              <a:rPr kumimoji="1" lang="en-US" altLang="zh-CN" sz="22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 7</a:t>
            </a:r>
            <a:endParaRPr lang="zh-CN" altLang="en-US" sz="22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2947583" y="2644339"/>
            <a:ext cx="1874231" cy="430887"/>
          </a:xfrm>
          <a:prstGeom prst="rect">
            <a:avLst/>
          </a:prstGeom>
        </p:spPr>
        <p:txBody>
          <a:bodyPr wrap="none">
            <a:spAutoFit/>
          </a:bodyPr>
          <a:lstStyle/>
          <a:p>
            <a:r>
              <a:rPr kumimoji="1"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sym typeface="Symbol" pitchFamily="18" charset="2"/>
              </a:rPr>
              <a:t>={5,4            }</a:t>
            </a:r>
            <a:endPar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3821985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606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60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animBg="1"/>
      <p:bldP spid="86061" grpId="0"/>
      <p:bldP spid="86062" grpId="0"/>
      <p:bldP spid="43" grpId="0"/>
      <p:bldP spid="44" grpId="0"/>
      <p:bldP spid="3" grpId="0"/>
      <p:bldP spid="4" grpId="0"/>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67736" y="2731924"/>
            <a:ext cx="2376264" cy="582637"/>
          </a:xfrm>
        </p:spPr>
        <p:txBody>
          <a:bodyPr/>
          <a:lstStyle/>
          <a:p>
            <a:r>
              <a:rPr lang="zh-CN" altLang="en-US" dirty="0"/>
              <a:t>识别了符号</a:t>
            </a:r>
            <a:r>
              <a:rPr lang="en-US" altLang="zh-CN" dirty="0"/>
              <a:t>a</a:t>
            </a:r>
            <a:endParaRPr lang="zh-CN" altLang="en-US" dirty="0"/>
          </a:p>
        </p:txBody>
      </p:sp>
      <p:sp>
        <p:nvSpPr>
          <p:cNvPr id="3" name="标题 2"/>
          <p:cNvSpPr>
            <a:spLocks noGrp="1"/>
          </p:cNvSpPr>
          <p:nvPr>
            <p:ph type="title"/>
          </p:nvPr>
        </p:nvSpPr>
        <p:spPr>
          <a:xfrm>
            <a:off x="280435" y="244367"/>
            <a:ext cx="1719159" cy="576064"/>
          </a:xfrm>
        </p:spPr>
        <p:txBody>
          <a:bodyPr>
            <a:noAutofit/>
          </a:bodyPr>
          <a:lstStyle/>
          <a:p>
            <a:r>
              <a:rPr lang="en-US" altLang="zh-CN" dirty="0"/>
              <a:t>I</a:t>
            </a:r>
            <a:r>
              <a:rPr lang="zh-CN" altLang="en-US" dirty="0"/>
              <a:t>和</a:t>
            </a:r>
            <a:r>
              <a:rPr lang="en-US" altLang="zh-CN" dirty="0" err="1"/>
              <a:t>I</a:t>
            </a:r>
            <a:r>
              <a:rPr lang="en-US" altLang="zh-CN" baseline="-25000" dirty="0" err="1"/>
              <a:t>a</a:t>
            </a:r>
            <a:endParaRPr lang="zh-CN" altLang="en-US" baseline="-25000" dirty="0"/>
          </a:p>
        </p:txBody>
      </p:sp>
      <p:grpSp>
        <p:nvGrpSpPr>
          <p:cNvPr id="58" name="组合 57"/>
          <p:cNvGrpSpPr/>
          <p:nvPr/>
        </p:nvGrpSpPr>
        <p:grpSpPr>
          <a:xfrm>
            <a:off x="3654540" y="334702"/>
            <a:ext cx="2077110" cy="539458"/>
            <a:chOff x="1937432" y="1859399"/>
            <a:chExt cx="2077110" cy="539458"/>
          </a:xfrm>
        </p:grpSpPr>
        <p:sp>
          <p:nvSpPr>
            <p:cNvPr id="46" name="Oval 6"/>
            <p:cNvSpPr>
              <a:spLocks noChangeArrowheads="1"/>
            </p:cNvSpPr>
            <p:nvPr/>
          </p:nvSpPr>
          <p:spPr bwMode="auto">
            <a:xfrm>
              <a:off x="2602574" y="205709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4</a:t>
              </a:r>
            </a:p>
          </p:txBody>
        </p:sp>
        <p:sp>
          <p:nvSpPr>
            <p:cNvPr id="47" name="Oval 6"/>
            <p:cNvSpPr>
              <a:spLocks noChangeArrowheads="1"/>
            </p:cNvSpPr>
            <p:nvPr/>
          </p:nvSpPr>
          <p:spPr bwMode="auto">
            <a:xfrm>
              <a:off x="3641129" y="205709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5</a:t>
              </a:r>
            </a:p>
          </p:txBody>
        </p:sp>
        <p:cxnSp>
          <p:nvCxnSpPr>
            <p:cNvPr id="49" name="AutoShape 29"/>
            <p:cNvCxnSpPr>
              <a:cxnSpLocks noChangeShapeType="1"/>
            </p:cNvCxnSpPr>
            <p:nvPr/>
          </p:nvCxnSpPr>
          <p:spPr bwMode="auto">
            <a:xfrm>
              <a:off x="1937432" y="2227977"/>
              <a:ext cx="6651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0" name="Text Box 38"/>
            <p:cNvSpPr txBox="1">
              <a:spLocks noChangeArrowheads="1"/>
            </p:cNvSpPr>
            <p:nvPr/>
          </p:nvSpPr>
          <p:spPr bwMode="auto">
            <a:xfrm>
              <a:off x="2248713" y="1862879"/>
              <a:ext cx="223659"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cxnSp>
          <p:nvCxnSpPr>
            <p:cNvPr id="51" name="AutoShape 29"/>
            <p:cNvCxnSpPr>
              <a:cxnSpLocks noChangeShapeType="1"/>
            </p:cNvCxnSpPr>
            <p:nvPr/>
          </p:nvCxnSpPr>
          <p:spPr bwMode="auto">
            <a:xfrm>
              <a:off x="2975987" y="2232311"/>
              <a:ext cx="6651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2" name="Text Box 38"/>
            <p:cNvSpPr txBox="1">
              <a:spLocks noChangeArrowheads="1"/>
            </p:cNvSpPr>
            <p:nvPr/>
          </p:nvSpPr>
          <p:spPr bwMode="auto">
            <a:xfrm>
              <a:off x="3140328" y="1859399"/>
              <a:ext cx="223659"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grpSp>
      <p:grpSp>
        <p:nvGrpSpPr>
          <p:cNvPr id="59" name="组合 58"/>
          <p:cNvGrpSpPr/>
          <p:nvPr/>
        </p:nvGrpSpPr>
        <p:grpSpPr>
          <a:xfrm>
            <a:off x="3638185" y="1021862"/>
            <a:ext cx="1038555" cy="530338"/>
            <a:chOff x="1921077" y="2546559"/>
            <a:chExt cx="1038555" cy="530338"/>
          </a:xfrm>
        </p:grpSpPr>
        <p:sp>
          <p:nvSpPr>
            <p:cNvPr id="53" name="Oval 6"/>
            <p:cNvSpPr>
              <a:spLocks noChangeArrowheads="1"/>
            </p:cNvSpPr>
            <p:nvPr/>
          </p:nvSpPr>
          <p:spPr bwMode="auto">
            <a:xfrm>
              <a:off x="2586219" y="273513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6</a:t>
              </a:r>
            </a:p>
          </p:txBody>
        </p:sp>
        <p:cxnSp>
          <p:nvCxnSpPr>
            <p:cNvPr id="54" name="AutoShape 29"/>
            <p:cNvCxnSpPr>
              <a:cxnSpLocks noChangeShapeType="1"/>
            </p:cNvCxnSpPr>
            <p:nvPr/>
          </p:nvCxnSpPr>
          <p:spPr bwMode="auto">
            <a:xfrm>
              <a:off x="1921077" y="2910351"/>
              <a:ext cx="6651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5" name="Text Box 38"/>
            <p:cNvSpPr txBox="1">
              <a:spLocks noChangeArrowheads="1"/>
            </p:cNvSpPr>
            <p:nvPr/>
          </p:nvSpPr>
          <p:spPr bwMode="auto">
            <a:xfrm>
              <a:off x="2246079" y="2546559"/>
              <a:ext cx="223659"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grpSp>
      <p:grpSp>
        <p:nvGrpSpPr>
          <p:cNvPr id="62" name="组合 61"/>
          <p:cNvGrpSpPr/>
          <p:nvPr/>
        </p:nvGrpSpPr>
        <p:grpSpPr>
          <a:xfrm>
            <a:off x="2962710" y="29327"/>
            <a:ext cx="2952328" cy="1971150"/>
            <a:chOff x="251520" y="1059582"/>
            <a:chExt cx="2952328" cy="1971150"/>
          </a:xfrm>
        </p:grpSpPr>
        <p:sp>
          <p:nvSpPr>
            <p:cNvPr id="60" name="椭圆 59"/>
            <p:cNvSpPr/>
            <p:nvPr/>
          </p:nvSpPr>
          <p:spPr>
            <a:xfrm>
              <a:off x="251520" y="1059582"/>
              <a:ext cx="2952328" cy="1971150"/>
            </a:xfrm>
            <a:prstGeom prst="ellipse">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1012272" y="2634466"/>
              <a:ext cx="1255472" cy="369332"/>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ε-closure(I)</a:t>
              </a:r>
              <a:endParaRPr lang="zh-CN" altLang="en-US" dirty="0">
                <a:latin typeface="Times New Roman" panose="02020603050405020304" pitchFamily="18" charset="0"/>
                <a:cs typeface="Times New Roman" panose="02020603050405020304" pitchFamily="18" charset="0"/>
              </a:endParaRPr>
            </a:p>
          </p:txBody>
        </p:sp>
      </p:grpSp>
      <p:grpSp>
        <p:nvGrpSpPr>
          <p:cNvPr id="63" name="组合 62"/>
          <p:cNvGrpSpPr/>
          <p:nvPr/>
        </p:nvGrpSpPr>
        <p:grpSpPr>
          <a:xfrm>
            <a:off x="3391622" y="2872791"/>
            <a:ext cx="2077110" cy="543792"/>
            <a:chOff x="1937432" y="1855065"/>
            <a:chExt cx="2077110" cy="543792"/>
          </a:xfrm>
        </p:grpSpPr>
        <p:sp>
          <p:nvSpPr>
            <p:cNvPr id="64" name="Oval 6"/>
            <p:cNvSpPr>
              <a:spLocks noChangeArrowheads="1"/>
            </p:cNvSpPr>
            <p:nvPr/>
          </p:nvSpPr>
          <p:spPr bwMode="auto">
            <a:xfrm>
              <a:off x="2602574" y="205709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C</a:t>
              </a:r>
            </a:p>
          </p:txBody>
        </p:sp>
        <p:sp>
          <p:nvSpPr>
            <p:cNvPr id="65" name="Oval 6"/>
            <p:cNvSpPr>
              <a:spLocks noChangeArrowheads="1"/>
            </p:cNvSpPr>
            <p:nvPr/>
          </p:nvSpPr>
          <p:spPr bwMode="auto">
            <a:xfrm>
              <a:off x="3641129" y="205709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D</a:t>
              </a:r>
            </a:p>
          </p:txBody>
        </p:sp>
        <p:cxnSp>
          <p:nvCxnSpPr>
            <p:cNvPr id="66" name="AutoShape 29"/>
            <p:cNvCxnSpPr>
              <a:cxnSpLocks noChangeShapeType="1"/>
            </p:cNvCxnSpPr>
            <p:nvPr/>
          </p:nvCxnSpPr>
          <p:spPr bwMode="auto">
            <a:xfrm>
              <a:off x="1937432" y="2227977"/>
              <a:ext cx="6651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7" name="Text Box 38"/>
            <p:cNvSpPr txBox="1">
              <a:spLocks noChangeArrowheads="1"/>
            </p:cNvSpPr>
            <p:nvPr/>
          </p:nvSpPr>
          <p:spPr bwMode="auto">
            <a:xfrm>
              <a:off x="2101773" y="1855065"/>
              <a:ext cx="223659"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cxnSp>
          <p:nvCxnSpPr>
            <p:cNvPr id="68" name="AutoShape 29"/>
            <p:cNvCxnSpPr>
              <a:cxnSpLocks noChangeShapeType="1"/>
            </p:cNvCxnSpPr>
            <p:nvPr/>
          </p:nvCxnSpPr>
          <p:spPr bwMode="auto">
            <a:xfrm>
              <a:off x="2975987" y="2232311"/>
              <a:ext cx="6651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 name="Text Box 38"/>
            <p:cNvSpPr txBox="1">
              <a:spLocks noChangeArrowheads="1"/>
            </p:cNvSpPr>
            <p:nvPr/>
          </p:nvSpPr>
          <p:spPr bwMode="auto">
            <a:xfrm>
              <a:off x="3140328" y="1859399"/>
              <a:ext cx="223659"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grpSp>
      <p:grpSp>
        <p:nvGrpSpPr>
          <p:cNvPr id="70" name="组合 69"/>
          <p:cNvGrpSpPr/>
          <p:nvPr/>
        </p:nvGrpSpPr>
        <p:grpSpPr>
          <a:xfrm>
            <a:off x="3375267" y="3555165"/>
            <a:ext cx="1038555" cy="539458"/>
            <a:chOff x="1921077" y="2537439"/>
            <a:chExt cx="1038555" cy="539458"/>
          </a:xfrm>
        </p:grpSpPr>
        <p:sp>
          <p:nvSpPr>
            <p:cNvPr id="71" name="Oval 6"/>
            <p:cNvSpPr>
              <a:spLocks noChangeArrowheads="1"/>
            </p:cNvSpPr>
            <p:nvPr/>
          </p:nvSpPr>
          <p:spPr bwMode="auto">
            <a:xfrm>
              <a:off x="2586219" y="273513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E</a:t>
              </a:r>
            </a:p>
          </p:txBody>
        </p:sp>
        <p:cxnSp>
          <p:nvCxnSpPr>
            <p:cNvPr id="72" name="AutoShape 29"/>
            <p:cNvCxnSpPr>
              <a:cxnSpLocks noChangeShapeType="1"/>
            </p:cNvCxnSpPr>
            <p:nvPr/>
          </p:nvCxnSpPr>
          <p:spPr bwMode="auto">
            <a:xfrm>
              <a:off x="1921077" y="2910351"/>
              <a:ext cx="6651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 name="Text Box 38"/>
            <p:cNvSpPr txBox="1">
              <a:spLocks noChangeArrowheads="1"/>
            </p:cNvSpPr>
            <p:nvPr/>
          </p:nvSpPr>
          <p:spPr bwMode="auto">
            <a:xfrm>
              <a:off x="2085418" y="2537439"/>
              <a:ext cx="223659"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sym typeface="Symbol" pitchFamily="18" charset="2"/>
                </a:rPr>
                <a:t></a:t>
              </a:r>
              <a:endParaRPr kumimoji="1" lang="en-US" altLang="zh-CN" sz="2200" dirty="0">
                <a:latin typeface="Times New Roman" pitchFamily="18" charset="0"/>
              </a:endParaRPr>
            </a:p>
          </p:txBody>
        </p:sp>
      </p:grpSp>
      <p:sp>
        <p:nvSpPr>
          <p:cNvPr id="75" name="Oval 6"/>
          <p:cNvSpPr>
            <a:spLocks noChangeArrowheads="1"/>
          </p:cNvSpPr>
          <p:nvPr/>
        </p:nvSpPr>
        <p:spPr bwMode="auto">
          <a:xfrm>
            <a:off x="3001854" y="3132673"/>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sp>
        <p:nvSpPr>
          <p:cNvPr id="76" name="Oval 6"/>
          <p:cNvSpPr>
            <a:spLocks noChangeArrowheads="1"/>
          </p:cNvSpPr>
          <p:nvPr/>
        </p:nvSpPr>
        <p:spPr bwMode="auto">
          <a:xfrm>
            <a:off x="3001854" y="3751892"/>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B</a:t>
            </a:r>
          </a:p>
        </p:txBody>
      </p:sp>
      <p:grpSp>
        <p:nvGrpSpPr>
          <p:cNvPr id="105" name="组合 104"/>
          <p:cNvGrpSpPr/>
          <p:nvPr/>
        </p:nvGrpSpPr>
        <p:grpSpPr>
          <a:xfrm>
            <a:off x="2857838" y="2941404"/>
            <a:ext cx="720080" cy="1238803"/>
            <a:chOff x="2857838" y="2941404"/>
            <a:chExt cx="720080" cy="1238803"/>
          </a:xfrm>
        </p:grpSpPr>
        <p:sp>
          <p:nvSpPr>
            <p:cNvPr id="77" name="椭圆 76"/>
            <p:cNvSpPr/>
            <p:nvPr/>
          </p:nvSpPr>
          <p:spPr>
            <a:xfrm>
              <a:off x="2857838" y="2941404"/>
              <a:ext cx="720080" cy="1238803"/>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Box 77"/>
            <p:cNvSpPr txBox="1"/>
            <p:nvPr/>
          </p:nvSpPr>
          <p:spPr>
            <a:xfrm>
              <a:off x="2876173" y="3412904"/>
              <a:ext cx="288032"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J</a:t>
              </a:r>
              <a:endParaRPr lang="zh-CN" altLang="en-US" dirty="0">
                <a:latin typeface="Times New Roman" panose="02020603050405020304" pitchFamily="18" charset="0"/>
                <a:cs typeface="Times New Roman" panose="02020603050405020304" pitchFamily="18" charset="0"/>
              </a:endParaRPr>
            </a:p>
          </p:txBody>
        </p:sp>
      </p:grpSp>
      <p:grpSp>
        <p:nvGrpSpPr>
          <p:cNvPr id="79" name="组合 78"/>
          <p:cNvGrpSpPr/>
          <p:nvPr/>
        </p:nvGrpSpPr>
        <p:grpSpPr>
          <a:xfrm>
            <a:off x="2699792" y="2571750"/>
            <a:ext cx="2952328" cy="1971150"/>
            <a:chOff x="251520" y="1059582"/>
            <a:chExt cx="2952328" cy="1971150"/>
          </a:xfrm>
        </p:grpSpPr>
        <p:sp>
          <p:nvSpPr>
            <p:cNvPr id="80" name="椭圆 79"/>
            <p:cNvSpPr/>
            <p:nvPr/>
          </p:nvSpPr>
          <p:spPr>
            <a:xfrm>
              <a:off x="251520" y="1059582"/>
              <a:ext cx="2952328" cy="1971150"/>
            </a:xfrm>
            <a:prstGeom prst="ellipse">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1012272" y="2634466"/>
              <a:ext cx="1268296" cy="369332"/>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ε-closure(J)</a:t>
              </a:r>
              <a:endParaRPr lang="zh-CN" altLang="en-US" dirty="0">
                <a:latin typeface="Times New Roman" panose="02020603050405020304" pitchFamily="18" charset="0"/>
                <a:cs typeface="Times New Roman" panose="02020603050405020304" pitchFamily="18" charset="0"/>
              </a:endParaRPr>
            </a:p>
          </p:txBody>
        </p:sp>
      </p:grpSp>
      <p:grpSp>
        <p:nvGrpSpPr>
          <p:cNvPr id="87" name="组合 86"/>
          <p:cNvGrpSpPr/>
          <p:nvPr/>
        </p:nvGrpSpPr>
        <p:grpSpPr>
          <a:xfrm>
            <a:off x="3120756" y="398981"/>
            <a:ext cx="809954" cy="1238803"/>
            <a:chOff x="3120756" y="398981"/>
            <a:chExt cx="809954" cy="1238803"/>
          </a:xfrm>
        </p:grpSpPr>
        <p:grpSp>
          <p:nvGrpSpPr>
            <p:cNvPr id="57" name="组合 56"/>
            <p:cNvGrpSpPr/>
            <p:nvPr/>
          </p:nvGrpSpPr>
          <p:grpSpPr>
            <a:xfrm>
              <a:off x="3120756" y="398981"/>
              <a:ext cx="809954" cy="1238803"/>
              <a:chOff x="1403648" y="1923678"/>
              <a:chExt cx="809954" cy="1238803"/>
            </a:xfrm>
          </p:grpSpPr>
          <p:sp>
            <p:nvSpPr>
              <p:cNvPr id="44" name="Oval 6"/>
              <p:cNvSpPr>
                <a:spLocks noChangeArrowheads="1"/>
              </p:cNvSpPr>
              <p:nvPr/>
            </p:nvSpPr>
            <p:spPr bwMode="auto">
              <a:xfrm>
                <a:off x="1547664" y="2114947"/>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a:latin typeface="Times New Roman" pitchFamily="18" charset="0"/>
                  </a:rPr>
                  <a:t>1</a:t>
                </a:r>
              </a:p>
            </p:txBody>
          </p:sp>
          <p:sp>
            <p:nvSpPr>
              <p:cNvPr id="45" name="Oval 6"/>
              <p:cNvSpPr>
                <a:spLocks noChangeArrowheads="1"/>
              </p:cNvSpPr>
              <p:nvPr/>
            </p:nvSpPr>
            <p:spPr bwMode="auto">
              <a:xfrm>
                <a:off x="1547664" y="273416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2</a:t>
                </a:r>
              </a:p>
            </p:txBody>
          </p:sp>
          <p:sp>
            <p:nvSpPr>
              <p:cNvPr id="48" name="椭圆 47"/>
              <p:cNvSpPr/>
              <p:nvPr/>
            </p:nvSpPr>
            <p:spPr>
              <a:xfrm>
                <a:off x="1403648" y="1923678"/>
                <a:ext cx="809954" cy="1238803"/>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55"/>
              <p:cNvSpPr txBox="1"/>
              <p:nvPr/>
            </p:nvSpPr>
            <p:spPr>
              <a:xfrm>
                <a:off x="1421983" y="2422907"/>
                <a:ext cx="288032"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I</a:t>
                </a:r>
                <a:endParaRPr lang="zh-CN" altLang="en-US" dirty="0">
                  <a:latin typeface="Times New Roman" panose="02020603050405020304" pitchFamily="18" charset="0"/>
                  <a:cs typeface="Times New Roman" panose="02020603050405020304" pitchFamily="18" charset="0"/>
                </a:endParaRPr>
              </a:p>
            </p:txBody>
          </p:sp>
        </p:grpSp>
        <p:sp>
          <p:nvSpPr>
            <p:cNvPr id="82" name="Oval 8"/>
            <p:cNvSpPr>
              <a:spLocks noChangeArrowheads="1"/>
            </p:cNvSpPr>
            <p:nvPr/>
          </p:nvSpPr>
          <p:spPr bwMode="auto">
            <a:xfrm>
              <a:off x="3525401" y="911702"/>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3</a:t>
              </a:r>
            </a:p>
          </p:txBody>
        </p:sp>
      </p:grpSp>
      <p:grpSp>
        <p:nvGrpSpPr>
          <p:cNvPr id="103" name="组合 102"/>
          <p:cNvGrpSpPr/>
          <p:nvPr/>
        </p:nvGrpSpPr>
        <p:grpSpPr>
          <a:xfrm>
            <a:off x="1405211" y="2997358"/>
            <a:ext cx="1596643" cy="430762"/>
            <a:chOff x="1405211" y="2997358"/>
            <a:chExt cx="1596643" cy="430762"/>
          </a:xfrm>
        </p:grpSpPr>
        <p:cxnSp>
          <p:nvCxnSpPr>
            <p:cNvPr id="83" name="AutoShape 31"/>
            <p:cNvCxnSpPr>
              <a:cxnSpLocks noChangeShapeType="1"/>
              <a:stCxn id="91" idx="6"/>
              <a:endCxn id="75" idx="2"/>
            </p:cNvCxnSpPr>
            <p:nvPr/>
          </p:nvCxnSpPr>
          <p:spPr bwMode="auto">
            <a:xfrm flipV="1">
              <a:off x="1405211" y="3303554"/>
              <a:ext cx="1596643" cy="59757"/>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Text Box 34"/>
            <p:cNvSpPr txBox="1">
              <a:spLocks noChangeArrowheads="1"/>
            </p:cNvSpPr>
            <p:nvPr/>
          </p:nvSpPr>
          <p:spPr bwMode="auto">
            <a:xfrm>
              <a:off x="1999594" y="2997358"/>
              <a:ext cx="224631"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grpSp>
      <p:grpSp>
        <p:nvGrpSpPr>
          <p:cNvPr id="89" name="组合 88"/>
          <p:cNvGrpSpPr/>
          <p:nvPr/>
        </p:nvGrpSpPr>
        <p:grpSpPr>
          <a:xfrm>
            <a:off x="627153" y="2679709"/>
            <a:ext cx="809954" cy="1238803"/>
            <a:chOff x="3120756" y="398981"/>
            <a:chExt cx="809954" cy="1238803"/>
          </a:xfrm>
        </p:grpSpPr>
        <p:grpSp>
          <p:nvGrpSpPr>
            <p:cNvPr id="90" name="组合 89"/>
            <p:cNvGrpSpPr/>
            <p:nvPr/>
          </p:nvGrpSpPr>
          <p:grpSpPr>
            <a:xfrm>
              <a:off x="3120756" y="398981"/>
              <a:ext cx="809954" cy="1238803"/>
              <a:chOff x="1403648" y="1923678"/>
              <a:chExt cx="809954" cy="1238803"/>
            </a:xfrm>
          </p:grpSpPr>
          <p:sp>
            <p:nvSpPr>
              <p:cNvPr id="92" name="Oval 6"/>
              <p:cNvSpPr>
                <a:spLocks noChangeArrowheads="1"/>
              </p:cNvSpPr>
              <p:nvPr/>
            </p:nvSpPr>
            <p:spPr bwMode="auto">
              <a:xfrm>
                <a:off x="1547664" y="2114947"/>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X</a:t>
                </a:r>
              </a:p>
            </p:txBody>
          </p:sp>
          <p:sp>
            <p:nvSpPr>
              <p:cNvPr id="93" name="Oval 6"/>
              <p:cNvSpPr>
                <a:spLocks noChangeArrowheads="1"/>
              </p:cNvSpPr>
              <p:nvPr/>
            </p:nvSpPr>
            <p:spPr bwMode="auto">
              <a:xfrm>
                <a:off x="1547664" y="2734166"/>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Z</a:t>
                </a:r>
              </a:p>
            </p:txBody>
          </p:sp>
          <p:sp>
            <p:nvSpPr>
              <p:cNvPr id="94" name="椭圆 93"/>
              <p:cNvSpPr/>
              <p:nvPr/>
            </p:nvSpPr>
            <p:spPr>
              <a:xfrm>
                <a:off x="1403648" y="1923678"/>
                <a:ext cx="809954" cy="1238803"/>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TextBox 94"/>
              <p:cNvSpPr txBox="1"/>
              <p:nvPr/>
            </p:nvSpPr>
            <p:spPr>
              <a:xfrm>
                <a:off x="1421983" y="2422907"/>
                <a:ext cx="288032"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I</a:t>
                </a:r>
                <a:endParaRPr lang="zh-CN" altLang="en-US" dirty="0">
                  <a:latin typeface="Times New Roman" panose="02020603050405020304" pitchFamily="18" charset="0"/>
                  <a:cs typeface="Times New Roman" panose="02020603050405020304" pitchFamily="18" charset="0"/>
                </a:endParaRPr>
              </a:p>
            </p:txBody>
          </p:sp>
        </p:grpSp>
        <p:sp>
          <p:nvSpPr>
            <p:cNvPr id="91" name="Oval 8"/>
            <p:cNvSpPr>
              <a:spLocks noChangeArrowheads="1"/>
            </p:cNvSpPr>
            <p:nvPr/>
          </p:nvSpPr>
          <p:spPr bwMode="auto">
            <a:xfrm>
              <a:off x="3525401" y="911702"/>
              <a:ext cx="373413" cy="341761"/>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Y</a:t>
              </a:r>
            </a:p>
          </p:txBody>
        </p:sp>
      </p:grpSp>
      <p:grpSp>
        <p:nvGrpSpPr>
          <p:cNvPr id="104" name="组合 103"/>
          <p:cNvGrpSpPr/>
          <p:nvPr/>
        </p:nvGrpSpPr>
        <p:grpSpPr>
          <a:xfrm>
            <a:off x="1089897" y="3509140"/>
            <a:ext cx="1911957" cy="430762"/>
            <a:chOff x="1089897" y="3509140"/>
            <a:chExt cx="1911957" cy="430762"/>
          </a:xfrm>
        </p:grpSpPr>
        <p:cxnSp>
          <p:nvCxnSpPr>
            <p:cNvPr id="97" name="AutoShape 31"/>
            <p:cNvCxnSpPr>
              <a:cxnSpLocks noChangeShapeType="1"/>
              <a:stCxn id="93" idx="5"/>
              <a:endCxn id="76" idx="2"/>
            </p:cNvCxnSpPr>
            <p:nvPr/>
          </p:nvCxnSpPr>
          <p:spPr bwMode="auto">
            <a:xfrm rot="16200000" flipH="1">
              <a:off x="1975443" y="2896361"/>
              <a:ext cx="140865" cy="1911957"/>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8" name="Text Box 34"/>
            <p:cNvSpPr txBox="1">
              <a:spLocks noChangeArrowheads="1"/>
            </p:cNvSpPr>
            <p:nvPr/>
          </p:nvSpPr>
          <p:spPr bwMode="auto">
            <a:xfrm>
              <a:off x="1735649" y="3509140"/>
              <a:ext cx="224631" cy="4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200" dirty="0">
                  <a:latin typeface="Times New Roman" pitchFamily="18" charset="0"/>
                </a:rPr>
                <a:t>a</a:t>
              </a:r>
            </a:p>
          </p:txBody>
        </p:sp>
      </p:grpSp>
      <p:sp>
        <p:nvSpPr>
          <p:cNvPr id="106" name="TextBox 105"/>
          <p:cNvSpPr txBox="1"/>
          <p:nvPr/>
        </p:nvSpPr>
        <p:spPr>
          <a:xfrm>
            <a:off x="4782191" y="3595346"/>
            <a:ext cx="794684" cy="646331"/>
          </a:xfrm>
          <a:prstGeom prst="rect">
            <a:avLst/>
          </a:prstGeom>
          <a:noFill/>
        </p:spPr>
        <p:txBody>
          <a:bodyPr wrap="square" rtlCol="0">
            <a:spAutoFit/>
          </a:bodyPr>
          <a:lstStyle/>
          <a:p>
            <a:r>
              <a:rPr lang="en-US" altLang="zh-CN" sz="3600" dirty="0" err="1">
                <a:solidFill>
                  <a:srgbClr val="FF0000"/>
                </a:solidFill>
                <a:latin typeface="Times New Roman" panose="02020603050405020304" pitchFamily="18" charset="0"/>
                <a:cs typeface="Times New Roman" panose="02020603050405020304" pitchFamily="18" charset="0"/>
              </a:rPr>
              <a:t>I</a:t>
            </a:r>
            <a:r>
              <a:rPr lang="en-US" altLang="zh-CN" sz="3600" baseline="-25000" dirty="0" err="1">
                <a:solidFill>
                  <a:srgbClr val="FF0000"/>
                </a:solidFill>
                <a:latin typeface="Times New Roman" panose="02020603050405020304" pitchFamily="18" charset="0"/>
                <a:cs typeface="Times New Roman" panose="02020603050405020304" pitchFamily="18" charset="0"/>
              </a:rPr>
              <a:t>a</a:t>
            </a:r>
            <a:endParaRPr lang="zh-CN" altLang="en-US" sz="3600" baseline="-25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72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7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4"/>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7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5" grpId="0" animBg="1"/>
      <p:bldP spid="76" grpId="0" animBg="1"/>
      <p:bldP spid="10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457200" y="0"/>
            <a:ext cx="8229600" cy="685800"/>
          </a:xfrm>
        </p:spPr>
        <p:txBody>
          <a:bodyPr>
            <a:normAutofit fontScale="90000"/>
          </a:bodyPr>
          <a:lstStyle/>
          <a:p>
            <a:pPr eaLnBrk="1" hangingPunct="1"/>
            <a:r>
              <a:rPr lang="en-US" altLang="zh-CN" sz="4000" b="1" dirty="0">
                <a:ea typeface="楷体_GB2312" pitchFamily="49" charset="-122"/>
              </a:rPr>
              <a:t>NFA</a:t>
            </a:r>
            <a:r>
              <a:rPr lang="zh-CN" altLang="en-US" sz="4000" b="1" dirty="0">
                <a:ea typeface="楷体_GB2312" pitchFamily="49" charset="-122"/>
              </a:rPr>
              <a:t>的确定化</a:t>
            </a:r>
          </a:p>
        </p:txBody>
      </p:sp>
      <p:sp>
        <p:nvSpPr>
          <p:cNvPr id="50" name="Rectangle 3"/>
          <p:cNvSpPr txBox="1">
            <a:spLocks noChangeArrowheads="1"/>
          </p:cNvSpPr>
          <p:nvPr/>
        </p:nvSpPr>
        <p:spPr bwMode="auto">
          <a:xfrm>
            <a:off x="251521" y="771550"/>
            <a:ext cx="5400599" cy="4032448"/>
          </a:xfrm>
          <a:prstGeom prst="rect">
            <a:avLst/>
          </a:prstGeom>
          <a:solidFill>
            <a:schemeClr val="bg1"/>
          </a:solidFill>
          <a:ln w="28575">
            <a:solidFill>
              <a:srgbClr val="3333FF"/>
            </a:solidFill>
            <a:miter lim="800000"/>
            <a:headEnd/>
            <a:tailEn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65125" indent="-365125" eaLnBrk="1" hangingPunct="1">
              <a:spcBef>
                <a:spcPts val="0"/>
              </a:spcBef>
              <a:buClr>
                <a:srgbClr val="FF6600"/>
              </a:buClr>
              <a:buSzPct val="90000"/>
              <a:buFont typeface="Wingdings" pitchFamily="2" charset="2"/>
              <a:buChar char="v"/>
              <a:defRPr/>
            </a:pPr>
            <a:r>
              <a:rPr lang="zh-CN" altLang="en-US" sz="2200" kern="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第二步：利用子集法对</a:t>
            </a:r>
            <a:r>
              <a:rPr lang="en-US" altLang="zh-CN" sz="2200" kern="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NFA </a:t>
            </a:r>
            <a:r>
              <a:rPr lang="zh-CN" altLang="en-US" sz="2200" kern="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进行确定化</a:t>
            </a:r>
            <a:endParaRPr lang="en-US" altLang="zh-CN" sz="2200" kern="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0"/>
              </a:spcBef>
              <a:buClr>
                <a:srgbClr val="FF6600"/>
              </a:buClr>
              <a:buSzPct val="90000"/>
              <a:buNone/>
              <a:defRPr/>
            </a:pPr>
            <a:r>
              <a:rPr lang="zh-CN" altLang="en-US" sz="2100" kern="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构造状态转换表的方法</a:t>
            </a:r>
          </a:p>
          <a:p>
            <a:pPr marL="715963" lvl="1" indent="-350838" eaLnBrk="1" hangingPunct="1">
              <a:spcBef>
                <a:spcPts val="0"/>
              </a:spcBef>
              <a:buClr>
                <a:srgbClr val="FF6600"/>
              </a:buClr>
              <a:buSzPct val="90000"/>
              <a:buFont typeface="Wingdings" pitchFamily="2" charset="2"/>
              <a:buAutoNum type="arabicPeriod"/>
              <a:defRPr/>
            </a:pP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设 </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a:t>
            </a:r>
            <a:r>
              <a:rPr lang="en-US" altLang="zh-CN" sz="2100" kern="0"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a:t>
            </a:r>
            <a:r>
              <a:rPr lang="en-US" altLang="zh-CN" sz="2100" kern="0" baseline="-2500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则初始时该表有</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k+1</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列，分别为</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I</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Ia</a:t>
            </a:r>
            <a:r>
              <a:rPr lang="en-US" altLang="zh-CN" sz="2100" kern="0"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Ia</a:t>
            </a:r>
            <a:r>
              <a:rPr lang="en-US" altLang="zh-CN" sz="2100" kern="0" baseline="-2500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首行首列为</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endPar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endParaRPr>
          </a:p>
          <a:p>
            <a:pPr marL="365125" lvl="1" indent="0" eaLnBrk="1" hangingPunct="1">
              <a:spcBef>
                <a:spcPts val="0"/>
              </a:spcBef>
              <a:buClr>
                <a:srgbClr val="FF6600"/>
              </a:buClr>
              <a:buSzPct val="90000"/>
              <a:buNone/>
              <a:defRPr/>
            </a:pP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closure(X)</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为开始结点</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行数未知</a:t>
            </a:r>
            <a:endParaRPr lang="zh-CN" altLang="en-US" sz="2100" kern="0" dirty="0">
              <a:latin typeface="Times New Roman" panose="02020603050405020304" pitchFamily="18" charset="0"/>
              <a:ea typeface="宋体" panose="02010600030101010101" pitchFamily="2" charset="-122"/>
              <a:cs typeface="Times New Roman" panose="02020603050405020304" pitchFamily="18" charset="0"/>
            </a:endParaRPr>
          </a:p>
          <a:p>
            <a:pPr marL="822325" lvl="1" indent="-457200" eaLnBrk="1" hangingPunct="1">
              <a:spcBef>
                <a:spcPts val="0"/>
              </a:spcBef>
              <a:buClr>
                <a:srgbClr val="FF6600"/>
              </a:buClr>
              <a:buSzPct val="90000"/>
              <a:buFont typeface="+mj-lt"/>
              <a:buAutoNum type="arabicPeriod" startAt="2"/>
              <a:defRPr/>
            </a:pP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计算每行的值</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a:t>
            </a:r>
            <a:r>
              <a:rPr lang="en-US" altLang="zh-CN" sz="2100" kern="0" baseline="-2500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=ε-closure(move(I,</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a:t>
            </a:r>
            <a:r>
              <a:rPr lang="en-US" altLang="zh-CN" sz="2100" kern="0" baseline="-2500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a:t>
            </a:r>
          </a:p>
          <a:p>
            <a:pPr marL="715963" lvl="1" indent="-350838" eaLnBrk="1" hangingPunct="1">
              <a:spcBef>
                <a:spcPts val="0"/>
              </a:spcBef>
              <a:buClr>
                <a:srgbClr val="FF6600"/>
              </a:buClr>
              <a:buSzPct val="90000"/>
              <a:buFont typeface="Wingdings" pitchFamily="2" charset="2"/>
              <a:buAutoNum type="arabicPeriod" startAt="2"/>
              <a:defRPr/>
            </a:pP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 将新产生的</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Ia</a:t>
            </a:r>
            <a:r>
              <a:rPr lang="en-US" altLang="zh-CN" sz="2100" kern="0" baseline="-2500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集合加入到</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中作为新的一行，并求该集合</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Ia</a:t>
            </a:r>
            <a:r>
              <a:rPr lang="en-US" altLang="zh-CN" sz="2100" kern="0"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lang="en-US" altLang="zh-CN" sz="21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2100" kern="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Ia</a:t>
            </a:r>
            <a:r>
              <a:rPr lang="en-US" altLang="zh-CN" sz="2100" kern="0" baseline="-25000" dirty="0" err="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k</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，重复之，直到状态不再增加；</a:t>
            </a:r>
          </a:p>
          <a:p>
            <a:pPr marL="715963" lvl="1" indent="-350838" eaLnBrk="1" hangingPunct="1">
              <a:spcBef>
                <a:spcPts val="0"/>
              </a:spcBef>
              <a:buClr>
                <a:srgbClr val="FF6600"/>
              </a:buClr>
              <a:buSzPct val="90000"/>
              <a:buFont typeface="Wingdings" pitchFamily="2" charset="2"/>
              <a:buAutoNum type="arabicPeriod" startAt="2"/>
              <a:defRPr/>
            </a:pPr>
            <a:r>
              <a:rPr lang="zh-CN" altLang="en-US" sz="2100" kern="0" dirty="0">
                <a:solidFill>
                  <a:srgbClr val="CC3300"/>
                </a:solidFill>
                <a:latin typeface="Times New Roman" panose="02020603050405020304" pitchFamily="18" charset="0"/>
                <a:ea typeface="宋体" panose="02010600030101010101" pitchFamily="2" charset="-122"/>
                <a:cs typeface="Times New Roman" panose="02020603050405020304" pitchFamily="18" charset="0"/>
              </a:rPr>
              <a:t>初态</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就是首行首列的状态，</a:t>
            </a:r>
            <a:r>
              <a:rPr lang="zh-CN" altLang="en-US" sz="2100" kern="0" dirty="0">
                <a:solidFill>
                  <a:srgbClr val="CC3300"/>
                </a:solidFill>
                <a:latin typeface="Times New Roman" panose="02020603050405020304" pitchFamily="18" charset="0"/>
                <a:ea typeface="宋体" panose="02010600030101010101" pitchFamily="2" charset="-122"/>
                <a:cs typeface="Times New Roman" panose="02020603050405020304" pitchFamily="18" charset="0"/>
              </a:rPr>
              <a:t>终态</a:t>
            </a:r>
            <a:r>
              <a:rPr lang="zh-CN" altLang="en-US" sz="2100" kern="0" dirty="0">
                <a:latin typeface="Times New Roman" panose="02020603050405020304" pitchFamily="18" charset="0"/>
                <a:ea typeface="宋体" panose="02010600030101010101" pitchFamily="2" charset="-122"/>
                <a:cs typeface="Times New Roman" panose="02020603050405020304" pitchFamily="18" charset="0"/>
              </a:rPr>
              <a:t>是含有原终态的集合。</a:t>
            </a:r>
          </a:p>
        </p:txBody>
      </p:sp>
      <p:graphicFrame>
        <p:nvGraphicFramePr>
          <p:cNvPr id="6" name="Group 665"/>
          <p:cNvGraphicFramePr>
            <a:graphicFrameLocks noGrp="1"/>
          </p:cNvGraphicFramePr>
          <p:nvPr>
            <p:extLst>
              <p:ext uri="{D42A27DB-BD31-4B8C-83A1-F6EECF244321}">
                <p14:modId xmlns:p14="http://schemas.microsoft.com/office/powerpoint/2010/main" val="4213925701"/>
              </p:ext>
            </p:extLst>
          </p:nvPr>
        </p:nvGraphicFramePr>
        <p:xfrm>
          <a:off x="5889175" y="1772548"/>
          <a:ext cx="3077001" cy="2246476"/>
        </p:xfrm>
        <a:graphic>
          <a:graphicData uri="http://schemas.openxmlformats.org/drawingml/2006/table">
            <a:tbl>
              <a:tblPr/>
              <a:tblGrid>
                <a:gridCol w="1132785">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tblGrid>
              <a:tr h="341956">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a:t>
                      </a:r>
                    </a:p>
                  </a:txBody>
                  <a:tcPr marT="34127" marB="34127"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a:t>
                      </a:r>
                      <a:r>
                        <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a1</a:t>
                      </a: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a:t>
                      </a:r>
                      <a:r>
                        <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a2</a:t>
                      </a: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a:t>
                      </a:r>
                    </a:p>
                  </a:txBody>
                  <a:tcPr marT="34127" marB="34127"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500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5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1500" kern="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1500" kern="0" dirty="0">
                          <a:latin typeface="Times New Roman" panose="02020603050405020304" pitchFamily="18" charset="0"/>
                          <a:ea typeface="宋体" panose="02010600030101010101" pitchFamily="2" charset="-122"/>
                          <a:cs typeface="Times New Roman" panose="02020603050405020304" pitchFamily="18" charset="0"/>
                        </a:rPr>
                        <a:t>closure(X)</a:t>
                      </a:r>
                      <a:endParaRPr kumimoji="0" lang="en-US"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34127" marB="34127"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9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9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19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19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矩形 6"/>
          <p:cNvSpPr/>
          <p:nvPr/>
        </p:nvSpPr>
        <p:spPr>
          <a:xfrm>
            <a:off x="7065498" y="2166989"/>
            <a:ext cx="666195" cy="32113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8" name="矩形 7"/>
          <p:cNvSpPr/>
          <p:nvPr/>
        </p:nvSpPr>
        <p:spPr>
          <a:xfrm>
            <a:off x="5934404" y="2493924"/>
            <a:ext cx="1049205" cy="32113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9" name="矩形 8"/>
          <p:cNvSpPr/>
          <p:nvPr/>
        </p:nvSpPr>
        <p:spPr>
          <a:xfrm>
            <a:off x="7742040" y="2153910"/>
            <a:ext cx="722354" cy="321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0" name="矩形 9"/>
          <p:cNvSpPr/>
          <p:nvPr/>
        </p:nvSpPr>
        <p:spPr>
          <a:xfrm>
            <a:off x="5934404" y="2887069"/>
            <a:ext cx="1049205" cy="321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1" name="矩形 10"/>
          <p:cNvSpPr/>
          <p:nvPr/>
        </p:nvSpPr>
        <p:spPr>
          <a:xfrm>
            <a:off x="7065498" y="2493924"/>
            <a:ext cx="666195" cy="32113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2" name="矩形 11"/>
          <p:cNvSpPr/>
          <p:nvPr/>
        </p:nvSpPr>
        <p:spPr>
          <a:xfrm>
            <a:off x="7742040" y="2488126"/>
            <a:ext cx="722354" cy="321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3" name="矩形 12"/>
          <p:cNvSpPr/>
          <p:nvPr/>
        </p:nvSpPr>
        <p:spPr>
          <a:xfrm>
            <a:off x="7065498" y="2887068"/>
            <a:ext cx="666195" cy="32113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4" name="矩形 13"/>
          <p:cNvSpPr/>
          <p:nvPr/>
        </p:nvSpPr>
        <p:spPr>
          <a:xfrm>
            <a:off x="7754969" y="2887069"/>
            <a:ext cx="709425" cy="32113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5" name="矩形 14"/>
          <p:cNvSpPr/>
          <p:nvPr/>
        </p:nvSpPr>
        <p:spPr>
          <a:xfrm>
            <a:off x="5934403" y="3263715"/>
            <a:ext cx="1049205" cy="32113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6" name="矩形 15"/>
          <p:cNvSpPr/>
          <p:nvPr/>
        </p:nvSpPr>
        <p:spPr>
          <a:xfrm>
            <a:off x="8477977" y="2144857"/>
            <a:ext cx="666195" cy="32113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7" name="矩形 16"/>
          <p:cNvSpPr/>
          <p:nvPr/>
        </p:nvSpPr>
        <p:spPr>
          <a:xfrm>
            <a:off x="8477977" y="2493924"/>
            <a:ext cx="722354" cy="321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18" name="矩形 17"/>
          <p:cNvSpPr/>
          <p:nvPr/>
        </p:nvSpPr>
        <p:spPr>
          <a:xfrm>
            <a:off x="8477805" y="2887068"/>
            <a:ext cx="666195" cy="32113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Tree>
    <p:extLst>
      <p:ext uri="{BB962C8B-B14F-4D97-AF65-F5344CB8AC3E}">
        <p14:creationId xmlns:p14="http://schemas.microsoft.com/office/powerpoint/2010/main" val="1502060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
                                            <p:bg/>
                                          </p:spTgt>
                                        </p:tgtEl>
                                        <p:attrNameLst>
                                          <p:attrName>style.visibility</p:attrName>
                                        </p:attrNameLst>
                                      </p:cBhvr>
                                      <p:to>
                                        <p:strVal val="visible"/>
                                      </p:to>
                                    </p:set>
                                  </p:childTnLst>
                                </p:cTn>
                              </p:par>
                            </p:childTnLst>
                          </p:cTn>
                        </p:par>
                        <p:par>
                          <p:cTn id="7" fill="hold" nodeType="with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0">
                                            <p:txEl>
                                              <p:pRg st="2" end="2"/>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0">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
                                            <p:txEl>
                                              <p:pRg st="5" end="5"/>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uiExpand="1" build="p"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normAutofit fontScale="90000"/>
          </a:bodyPr>
          <a:lstStyle/>
          <a:p>
            <a:pPr algn="l"/>
            <a:r>
              <a:rPr lang="zh-CN" altLang="en-US" sz="3600"/>
              <a:t>例，对下面的</a:t>
            </a:r>
            <a:r>
              <a:rPr lang="en-US" altLang="zh-CN" sz="3600"/>
              <a:t>NFA</a:t>
            </a:r>
            <a:r>
              <a:rPr lang="zh-CN" altLang="zh-CN" sz="3600"/>
              <a:t>确定化</a:t>
            </a:r>
            <a:endParaRPr lang="zh-CN" altLang="en-US" sz="3600"/>
          </a:p>
        </p:txBody>
      </p:sp>
      <p:sp>
        <p:nvSpPr>
          <p:cNvPr id="68611" name="Rectangle 2"/>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endParaRPr lang="zh-CN" altLang="en-US" sz="2800"/>
          </a:p>
        </p:txBody>
      </p:sp>
      <p:graphicFrame>
        <p:nvGraphicFramePr>
          <p:cNvPr id="68612" name="对象 4"/>
          <p:cNvGraphicFramePr>
            <a:graphicFrameLocks noChangeAspect="1"/>
          </p:cNvGraphicFramePr>
          <p:nvPr>
            <p:extLst>
              <p:ext uri="{D42A27DB-BD31-4B8C-83A1-F6EECF244321}">
                <p14:modId xmlns:p14="http://schemas.microsoft.com/office/powerpoint/2010/main" val="1560238397"/>
              </p:ext>
            </p:extLst>
          </p:nvPr>
        </p:nvGraphicFramePr>
        <p:xfrm>
          <a:off x="2771800" y="1203598"/>
          <a:ext cx="5494760" cy="1593358"/>
        </p:xfrm>
        <a:graphic>
          <a:graphicData uri="http://schemas.openxmlformats.org/presentationml/2006/ole">
            <mc:AlternateContent xmlns:mc="http://schemas.openxmlformats.org/markup-compatibility/2006">
              <mc:Choice xmlns:v="urn:schemas-microsoft-com:vml" Requires="v">
                <p:oleObj spid="_x0000_s29709" name="Visio" r:id="rId3" imgW="2419377" imgH="934672" progId="Visio.Drawing.11">
                  <p:embed/>
                </p:oleObj>
              </mc:Choice>
              <mc:Fallback>
                <p:oleObj name="Visio" r:id="rId3" imgW="2419377" imgH="93467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1203598"/>
                        <a:ext cx="5494760" cy="159335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8184670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52" name="Group 629"/>
          <p:cNvGrpSpPr>
            <a:grpSpLocks/>
          </p:cNvGrpSpPr>
          <p:nvPr/>
        </p:nvGrpSpPr>
        <p:grpSpPr bwMode="auto">
          <a:xfrm>
            <a:off x="1273696" y="2714625"/>
            <a:ext cx="2362200" cy="2343150"/>
            <a:chOff x="-3" y="-3"/>
            <a:chExt cx="1662" cy="3199"/>
          </a:xfrm>
          <a:solidFill>
            <a:schemeClr val="bg1"/>
          </a:solidFill>
        </p:grpSpPr>
        <p:grpSp>
          <p:nvGrpSpPr>
            <p:cNvPr id="69664" name="Group 630"/>
            <p:cNvGrpSpPr>
              <a:grpSpLocks/>
            </p:cNvGrpSpPr>
            <p:nvPr/>
          </p:nvGrpSpPr>
          <p:grpSpPr bwMode="auto">
            <a:xfrm>
              <a:off x="0" y="0"/>
              <a:ext cx="1656" cy="3193"/>
              <a:chOff x="0" y="0"/>
              <a:chExt cx="1656" cy="3193"/>
            </a:xfrm>
            <a:grpFill/>
          </p:grpSpPr>
          <p:grpSp>
            <p:nvGrpSpPr>
              <p:cNvPr id="69666" name="Group 631"/>
              <p:cNvGrpSpPr>
                <a:grpSpLocks/>
              </p:cNvGrpSpPr>
              <p:nvPr/>
            </p:nvGrpSpPr>
            <p:grpSpPr bwMode="auto">
              <a:xfrm>
                <a:off x="0" y="0"/>
                <a:ext cx="1656" cy="452"/>
                <a:chOff x="0" y="0"/>
                <a:chExt cx="1656" cy="452"/>
              </a:xfrm>
              <a:grpFill/>
            </p:grpSpPr>
            <p:sp>
              <p:nvSpPr>
                <p:cNvPr id="69685" name="Rectangle 632"/>
                <p:cNvSpPr>
                  <a:spLocks noChangeArrowheads="1"/>
                </p:cNvSpPr>
                <p:nvPr/>
              </p:nvSpPr>
              <p:spPr bwMode="auto">
                <a:xfrm>
                  <a:off x="43" y="0"/>
                  <a:ext cx="1570" cy="452"/>
                </a:xfrm>
                <a:prstGeom prst="rect">
                  <a:avLst/>
                </a:prstGeom>
                <a:grpFill/>
                <a:ln w="9525">
                  <a:solidFill>
                    <a:srgbClr val="000000"/>
                  </a:solidFill>
                  <a:miter lim="800000"/>
                  <a:headEnd/>
                  <a:tailEnd/>
                </a:ln>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86" name="Rectangle 633"/>
                <p:cNvSpPr>
                  <a:spLocks noChangeArrowheads="1"/>
                </p:cNvSpPr>
                <p:nvPr/>
              </p:nvSpPr>
              <p:spPr bwMode="auto">
                <a:xfrm>
                  <a:off x="0" y="0"/>
                  <a:ext cx="1656" cy="452"/>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67" name="Group 634"/>
              <p:cNvGrpSpPr>
                <a:grpSpLocks/>
              </p:cNvGrpSpPr>
              <p:nvPr/>
            </p:nvGrpSpPr>
            <p:grpSpPr bwMode="auto">
              <a:xfrm>
                <a:off x="0" y="452"/>
                <a:ext cx="1656" cy="481"/>
                <a:chOff x="0" y="452"/>
                <a:chExt cx="1656" cy="481"/>
              </a:xfrm>
              <a:grpFill/>
            </p:grpSpPr>
            <p:sp>
              <p:nvSpPr>
                <p:cNvPr id="69683" name="Rectangle 635"/>
                <p:cNvSpPr>
                  <a:spLocks noChangeArrowheads="1"/>
                </p:cNvSpPr>
                <p:nvPr/>
              </p:nvSpPr>
              <p:spPr bwMode="auto">
                <a:xfrm>
                  <a:off x="43" y="452"/>
                  <a:ext cx="1570" cy="481"/>
                </a:xfrm>
                <a:prstGeom prst="rect">
                  <a:avLst/>
                </a:prstGeom>
                <a:grpFill/>
                <a:ln w="9525">
                  <a:solidFill>
                    <a:srgbClr val="000000"/>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84" name="Rectangle 636"/>
                <p:cNvSpPr>
                  <a:spLocks noChangeArrowheads="1"/>
                </p:cNvSpPr>
                <p:nvPr/>
              </p:nvSpPr>
              <p:spPr bwMode="auto">
                <a:xfrm>
                  <a:off x="0" y="452"/>
                  <a:ext cx="1656" cy="481"/>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68" name="Group 637"/>
              <p:cNvGrpSpPr>
                <a:grpSpLocks/>
              </p:cNvGrpSpPr>
              <p:nvPr/>
            </p:nvGrpSpPr>
            <p:grpSpPr bwMode="auto">
              <a:xfrm>
                <a:off x="0" y="933"/>
                <a:ext cx="1656" cy="452"/>
                <a:chOff x="0" y="933"/>
                <a:chExt cx="1656" cy="452"/>
              </a:xfrm>
              <a:grpFill/>
            </p:grpSpPr>
            <p:sp>
              <p:nvSpPr>
                <p:cNvPr id="69681" name="Rectangle 638"/>
                <p:cNvSpPr>
                  <a:spLocks noChangeArrowheads="1"/>
                </p:cNvSpPr>
                <p:nvPr/>
              </p:nvSpPr>
              <p:spPr bwMode="auto">
                <a:xfrm>
                  <a:off x="43" y="933"/>
                  <a:ext cx="1570" cy="452"/>
                </a:xfrm>
                <a:prstGeom prst="rect">
                  <a:avLst/>
                </a:prstGeom>
                <a:grpFill/>
                <a:ln w="9525">
                  <a:solidFill>
                    <a:srgbClr val="000000"/>
                  </a:solidFill>
                  <a:miter lim="800000"/>
                  <a:headEnd/>
                  <a:tailEnd/>
                </a:ln>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82" name="Rectangle 639"/>
                <p:cNvSpPr>
                  <a:spLocks noChangeArrowheads="1"/>
                </p:cNvSpPr>
                <p:nvPr/>
              </p:nvSpPr>
              <p:spPr bwMode="auto">
                <a:xfrm>
                  <a:off x="0" y="933"/>
                  <a:ext cx="1656" cy="452"/>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69" name="Group 640"/>
              <p:cNvGrpSpPr>
                <a:grpSpLocks/>
              </p:cNvGrpSpPr>
              <p:nvPr/>
            </p:nvGrpSpPr>
            <p:grpSpPr bwMode="auto">
              <a:xfrm>
                <a:off x="0" y="1385"/>
                <a:ext cx="1656" cy="452"/>
                <a:chOff x="0" y="1385"/>
                <a:chExt cx="1656" cy="452"/>
              </a:xfrm>
              <a:grpFill/>
            </p:grpSpPr>
            <p:sp>
              <p:nvSpPr>
                <p:cNvPr id="69679" name="Rectangle 641"/>
                <p:cNvSpPr>
                  <a:spLocks noChangeArrowheads="1"/>
                </p:cNvSpPr>
                <p:nvPr/>
              </p:nvSpPr>
              <p:spPr bwMode="auto">
                <a:xfrm>
                  <a:off x="43" y="1385"/>
                  <a:ext cx="1570" cy="452"/>
                </a:xfrm>
                <a:prstGeom prst="rect">
                  <a:avLst/>
                </a:prstGeom>
                <a:grpFill/>
                <a:ln w="9525">
                  <a:solidFill>
                    <a:srgbClr val="000000"/>
                  </a:solidFill>
                  <a:miter lim="800000"/>
                  <a:headEnd/>
                  <a:tailEnd/>
                </a:ln>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80" name="Rectangle 642"/>
                <p:cNvSpPr>
                  <a:spLocks noChangeArrowheads="1"/>
                </p:cNvSpPr>
                <p:nvPr/>
              </p:nvSpPr>
              <p:spPr bwMode="auto">
                <a:xfrm>
                  <a:off x="0" y="1385"/>
                  <a:ext cx="1656" cy="452"/>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70" name="Group 643"/>
              <p:cNvGrpSpPr>
                <a:grpSpLocks/>
              </p:cNvGrpSpPr>
              <p:nvPr/>
            </p:nvGrpSpPr>
            <p:grpSpPr bwMode="auto">
              <a:xfrm>
                <a:off x="0" y="1837"/>
                <a:ext cx="1656" cy="452"/>
                <a:chOff x="0" y="1837"/>
                <a:chExt cx="1656" cy="452"/>
              </a:xfrm>
              <a:grpFill/>
            </p:grpSpPr>
            <p:sp>
              <p:nvSpPr>
                <p:cNvPr id="69677" name="Rectangle 644"/>
                <p:cNvSpPr>
                  <a:spLocks noChangeArrowheads="1"/>
                </p:cNvSpPr>
                <p:nvPr/>
              </p:nvSpPr>
              <p:spPr bwMode="auto">
                <a:xfrm>
                  <a:off x="43" y="1837"/>
                  <a:ext cx="1570" cy="452"/>
                </a:xfrm>
                <a:prstGeom prst="rect">
                  <a:avLst/>
                </a:prstGeom>
                <a:grpFill/>
                <a:ln w="9525">
                  <a:solidFill>
                    <a:srgbClr val="000000"/>
                  </a:solidFill>
                  <a:miter lim="800000"/>
                  <a:headEnd/>
                  <a:tailEnd/>
                </a:ln>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78" name="Rectangle 645"/>
                <p:cNvSpPr>
                  <a:spLocks noChangeArrowheads="1"/>
                </p:cNvSpPr>
                <p:nvPr/>
              </p:nvSpPr>
              <p:spPr bwMode="auto">
                <a:xfrm>
                  <a:off x="0" y="1837"/>
                  <a:ext cx="1656" cy="452"/>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71" name="Group 646"/>
              <p:cNvGrpSpPr>
                <a:grpSpLocks/>
              </p:cNvGrpSpPr>
              <p:nvPr/>
            </p:nvGrpSpPr>
            <p:grpSpPr bwMode="auto">
              <a:xfrm>
                <a:off x="0" y="2289"/>
                <a:ext cx="1656" cy="452"/>
                <a:chOff x="0" y="2289"/>
                <a:chExt cx="1656" cy="452"/>
              </a:xfrm>
              <a:grpFill/>
            </p:grpSpPr>
            <p:sp>
              <p:nvSpPr>
                <p:cNvPr id="69675" name="Rectangle 647"/>
                <p:cNvSpPr>
                  <a:spLocks noChangeArrowheads="1"/>
                </p:cNvSpPr>
                <p:nvPr/>
              </p:nvSpPr>
              <p:spPr bwMode="auto">
                <a:xfrm>
                  <a:off x="43" y="2289"/>
                  <a:ext cx="1570" cy="452"/>
                </a:xfrm>
                <a:prstGeom prst="rect">
                  <a:avLst/>
                </a:prstGeom>
                <a:grpFill/>
                <a:ln w="9525">
                  <a:solidFill>
                    <a:srgbClr val="000000"/>
                  </a:solidFill>
                  <a:miter lim="800000"/>
                  <a:headEnd/>
                  <a:tailEnd/>
                </a:ln>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76" name="Rectangle 648"/>
                <p:cNvSpPr>
                  <a:spLocks noChangeArrowheads="1"/>
                </p:cNvSpPr>
                <p:nvPr/>
              </p:nvSpPr>
              <p:spPr bwMode="auto">
                <a:xfrm>
                  <a:off x="0" y="2289"/>
                  <a:ext cx="1656" cy="452"/>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72" name="Group 649"/>
              <p:cNvGrpSpPr>
                <a:grpSpLocks/>
              </p:cNvGrpSpPr>
              <p:nvPr/>
            </p:nvGrpSpPr>
            <p:grpSpPr bwMode="auto">
              <a:xfrm>
                <a:off x="0" y="2741"/>
                <a:ext cx="1656" cy="452"/>
                <a:chOff x="0" y="2741"/>
                <a:chExt cx="1656" cy="452"/>
              </a:xfrm>
              <a:grpFill/>
            </p:grpSpPr>
            <p:sp>
              <p:nvSpPr>
                <p:cNvPr id="69673" name="Rectangle 650"/>
                <p:cNvSpPr>
                  <a:spLocks noChangeArrowheads="1"/>
                </p:cNvSpPr>
                <p:nvPr/>
              </p:nvSpPr>
              <p:spPr bwMode="auto">
                <a:xfrm>
                  <a:off x="43" y="2741"/>
                  <a:ext cx="1570" cy="452"/>
                </a:xfrm>
                <a:prstGeom prst="rect">
                  <a:avLst/>
                </a:prstGeom>
                <a:grpFill/>
                <a:ln w="9525">
                  <a:solidFill>
                    <a:srgbClr val="000000"/>
                  </a:solidFill>
                  <a:miter lim="800000"/>
                  <a:headEnd/>
                  <a:tailEnd/>
                </a:ln>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endParaRPr lang="zh-CN" altLang="zh-CN" sz="2200">
                    <a:latin typeface="宋体" panose="02010600030101010101" pitchFamily="2" charset="-122"/>
                  </a:endParaRPr>
                </a:p>
              </p:txBody>
            </p:sp>
            <p:sp>
              <p:nvSpPr>
                <p:cNvPr id="69674" name="Rectangle 651"/>
                <p:cNvSpPr>
                  <a:spLocks noChangeArrowheads="1"/>
                </p:cNvSpPr>
                <p:nvPr/>
              </p:nvSpPr>
              <p:spPr bwMode="auto">
                <a:xfrm>
                  <a:off x="0" y="2741"/>
                  <a:ext cx="1656" cy="452"/>
                </a:xfrm>
                <a:prstGeom prst="rect">
                  <a:avLst/>
                </a:prstGeom>
                <a:grpFill/>
                <a:ln w="7">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sp>
          <p:nvSpPr>
            <p:cNvPr id="69665" name="Rectangle 652"/>
            <p:cNvSpPr>
              <a:spLocks noChangeArrowheads="1"/>
            </p:cNvSpPr>
            <p:nvPr/>
          </p:nvSpPr>
          <p:spPr bwMode="auto">
            <a:xfrm>
              <a:off x="-3" y="-3"/>
              <a:ext cx="1662" cy="3199"/>
            </a:xfrm>
            <a:prstGeom prst="rect">
              <a:avLst/>
            </a:prstGeom>
            <a:grpFill/>
            <a:ln w="9525">
              <a:solidFill>
                <a:schemeClr val="tx1"/>
              </a:solidFill>
              <a:miter lim="800000"/>
              <a:headEnd/>
              <a:tailEnd/>
            </a:ln>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sp>
        <p:nvSpPr>
          <p:cNvPr id="69634" name="Rectangle 2"/>
          <p:cNvSpPr>
            <a:spLocks noGrp="1" noChangeArrowheads="1"/>
          </p:cNvSpPr>
          <p:nvPr>
            <p:ph type="title"/>
          </p:nvPr>
        </p:nvSpPr>
        <p:spPr>
          <a:xfrm>
            <a:off x="304800" y="0"/>
            <a:ext cx="2147888" cy="445294"/>
          </a:xfrm>
        </p:spPr>
        <p:txBody>
          <a:bodyPr>
            <a:normAutofit fontScale="90000"/>
          </a:bodyPr>
          <a:lstStyle/>
          <a:p>
            <a:pPr algn="l" eaLnBrk="1" hangingPunct="1"/>
            <a:r>
              <a:rPr lang="zh-CN" altLang="en-US" sz="3600" dirty="0"/>
              <a:t>第一步</a:t>
            </a:r>
          </a:p>
        </p:txBody>
      </p:sp>
      <p:grpSp>
        <p:nvGrpSpPr>
          <p:cNvPr id="69635" name="Group 44"/>
          <p:cNvGrpSpPr>
            <a:grpSpLocks/>
          </p:cNvGrpSpPr>
          <p:nvPr/>
        </p:nvGrpSpPr>
        <p:grpSpPr bwMode="auto">
          <a:xfrm>
            <a:off x="1940129" y="98434"/>
            <a:ext cx="6580324" cy="1972605"/>
            <a:chOff x="576" y="463"/>
            <a:chExt cx="4896" cy="1379"/>
          </a:xfrm>
        </p:grpSpPr>
        <p:grpSp>
          <p:nvGrpSpPr>
            <p:cNvPr id="69796" name="Group 5"/>
            <p:cNvGrpSpPr>
              <a:grpSpLocks/>
            </p:cNvGrpSpPr>
            <p:nvPr/>
          </p:nvGrpSpPr>
          <p:grpSpPr bwMode="auto">
            <a:xfrm>
              <a:off x="768" y="463"/>
              <a:ext cx="4704" cy="1379"/>
              <a:chOff x="768" y="1759"/>
              <a:chExt cx="4704" cy="1379"/>
            </a:xfrm>
          </p:grpSpPr>
          <p:sp>
            <p:nvSpPr>
              <p:cNvPr id="69798" name="Oval 6"/>
              <p:cNvSpPr>
                <a:spLocks noChangeArrowheads="1"/>
              </p:cNvSpPr>
              <p:nvPr/>
            </p:nvSpPr>
            <p:spPr bwMode="auto">
              <a:xfrm>
                <a:off x="2928" y="278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4</a:t>
                </a:r>
              </a:p>
            </p:txBody>
          </p:sp>
          <p:grpSp>
            <p:nvGrpSpPr>
              <p:cNvPr id="69799" name="Group 7"/>
              <p:cNvGrpSpPr>
                <a:grpSpLocks/>
              </p:cNvGrpSpPr>
              <p:nvPr/>
            </p:nvGrpSpPr>
            <p:grpSpPr bwMode="auto">
              <a:xfrm>
                <a:off x="5136" y="2304"/>
                <a:ext cx="336" cy="336"/>
                <a:chOff x="3264" y="2256"/>
                <a:chExt cx="336" cy="336"/>
              </a:xfrm>
            </p:grpSpPr>
            <p:sp>
              <p:nvSpPr>
                <p:cNvPr id="69830" name="Oval 8"/>
                <p:cNvSpPr>
                  <a:spLocks noChangeArrowheads="1"/>
                </p:cNvSpPr>
                <p:nvPr/>
              </p:nvSpPr>
              <p:spPr bwMode="auto">
                <a:xfrm>
                  <a:off x="3264" y="225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9831" name="Oval 9"/>
                <p:cNvSpPr>
                  <a:spLocks noChangeArrowheads="1"/>
                </p:cNvSpPr>
                <p:nvPr/>
              </p:nvSpPr>
              <p:spPr bwMode="auto">
                <a:xfrm>
                  <a:off x="3312" y="2304"/>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000" dirty="0">
                      <a:latin typeface="Times New Roman" pitchFamily="18" charset="0"/>
                    </a:rPr>
                    <a:t>Y</a:t>
                  </a:r>
                </a:p>
              </p:txBody>
            </p:sp>
          </p:grpSp>
          <p:sp>
            <p:nvSpPr>
              <p:cNvPr id="69800" name="Oval 10"/>
              <p:cNvSpPr>
                <a:spLocks noChangeArrowheads="1"/>
              </p:cNvSpPr>
              <p:nvPr/>
            </p:nvSpPr>
            <p:spPr bwMode="auto">
              <a:xfrm>
                <a:off x="2928" y="1872"/>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3</a:t>
                </a:r>
              </a:p>
            </p:txBody>
          </p:sp>
          <p:sp>
            <p:nvSpPr>
              <p:cNvPr id="69801" name="Oval 11"/>
              <p:cNvSpPr>
                <a:spLocks noChangeArrowheads="1"/>
              </p:cNvSpPr>
              <p:nvPr/>
            </p:nvSpPr>
            <p:spPr bwMode="auto">
              <a:xfrm>
                <a:off x="3648"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5</a:t>
                </a:r>
              </a:p>
            </p:txBody>
          </p:sp>
          <p:sp>
            <p:nvSpPr>
              <p:cNvPr id="69802" name="Oval 12"/>
              <p:cNvSpPr>
                <a:spLocks noChangeArrowheads="1"/>
              </p:cNvSpPr>
              <p:nvPr/>
            </p:nvSpPr>
            <p:spPr bwMode="auto">
              <a:xfrm>
                <a:off x="4416"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6</a:t>
                </a:r>
              </a:p>
            </p:txBody>
          </p:sp>
          <p:sp>
            <p:nvSpPr>
              <p:cNvPr id="69803" name="Oval 13"/>
              <p:cNvSpPr>
                <a:spLocks noChangeArrowheads="1"/>
              </p:cNvSpPr>
              <p:nvPr/>
            </p:nvSpPr>
            <p:spPr bwMode="auto">
              <a:xfrm>
                <a:off x="2160"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2</a:t>
                </a:r>
              </a:p>
            </p:txBody>
          </p:sp>
          <p:sp>
            <p:nvSpPr>
              <p:cNvPr id="69804" name="Oval 14"/>
              <p:cNvSpPr>
                <a:spLocks noChangeArrowheads="1"/>
              </p:cNvSpPr>
              <p:nvPr/>
            </p:nvSpPr>
            <p:spPr bwMode="auto">
              <a:xfrm>
                <a:off x="1536"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1</a:t>
                </a:r>
              </a:p>
            </p:txBody>
          </p:sp>
          <p:sp>
            <p:nvSpPr>
              <p:cNvPr id="69805" name="Oval 15"/>
              <p:cNvSpPr>
                <a:spLocks noChangeArrowheads="1"/>
              </p:cNvSpPr>
              <p:nvPr/>
            </p:nvSpPr>
            <p:spPr bwMode="auto">
              <a:xfrm>
                <a:off x="768" y="23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000" dirty="0">
                    <a:latin typeface="Times New Roman" pitchFamily="18" charset="0"/>
                  </a:rPr>
                  <a:t>X</a:t>
                </a:r>
              </a:p>
            </p:txBody>
          </p:sp>
          <p:cxnSp>
            <p:nvCxnSpPr>
              <p:cNvPr id="69806" name="AutoShape 16"/>
              <p:cNvCxnSpPr>
                <a:cxnSpLocks noChangeShapeType="1"/>
                <a:stCxn id="69805" idx="6"/>
                <a:endCxn id="69804" idx="2"/>
              </p:cNvCxnSpPr>
              <p:nvPr/>
            </p:nvCxnSpPr>
            <p:spPr bwMode="auto">
              <a:xfrm>
                <a:off x="1104" y="2472"/>
                <a:ext cx="43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07" name="AutoShape 17"/>
              <p:cNvCxnSpPr>
                <a:cxnSpLocks noChangeShapeType="1"/>
                <a:stCxn id="69804" idx="3"/>
                <a:endCxn id="69804" idx="5"/>
              </p:cNvCxnSpPr>
              <p:nvPr/>
            </p:nvCxnSpPr>
            <p:spPr bwMode="auto">
              <a:xfrm rot="16200000" flipH="1">
                <a:off x="1703" y="2473"/>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08" name="AutoShape 18"/>
              <p:cNvCxnSpPr>
                <a:cxnSpLocks noChangeShapeType="1"/>
                <a:stCxn id="69804" idx="6"/>
                <a:endCxn id="69803" idx="2"/>
              </p:cNvCxnSpPr>
              <p:nvPr/>
            </p:nvCxnSpPr>
            <p:spPr bwMode="auto">
              <a:xfrm>
                <a:off x="1872" y="2472"/>
                <a:ext cx="28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09" name="AutoShape 19"/>
              <p:cNvCxnSpPr>
                <a:cxnSpLocks noChangeShapeType="1"/>
                <a:stCxn id="69803" idx="7"/>
                <a:endCxn id="69800" idx="2"/>
              </p:cNvCxnSpPr>
              <p:nvPr/>
            </p:nvCxnSpPr>
            <p:spPr bwMode="auto">
              <a:xfrm rot="-5400000">
                <a:off x="2531" y="1956"/>
                <a:ext cx="313" cy="481"/>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10" name="AutoShape 20"/>
              <p:cNvCxnSpPr>
                <a:cxnSpLocks noChangeShapeType="1"/>
                <a:stCxn id="69803" idx="5"/>
                <a:endCxn id="69798" idx="2"/>
              </p:cNvCxnSpPr>
              <p:nvPr/>
            </p:nvCxnSpPr>
            <p:spPr bwMode="auto">
              <a:xfrm rot="16200000" flipH="1">
                <a:off x="2507" y="2531"/>
                <a:ext cx="361" cy="481"/>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11" name="AutoShape 21"/>
              <p:cNvCxnSpPr>
                <a:cxnSpLocks noChangeShapeType="1"/>
                <a:stCxn id="69800" idx="6"/>
                <a:endCxn id="69801" idx="1"/>
              </p:cNvCxnSpPr>
              <p:nvPr/>
            </p:nvCxnSpPr>
            <p:spPr bwMode="auto">
              <a:xfrm>
                <a:off x="3264" y="2040"/>
                <a:ext cx="433" cy="313"/>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12" name="AutoShape 22"/>
              <p:cNvCxnSpPr>
                <a:cxnSpLocks noChangeShapeType="1"/>
                <a:stCxn id="69798" idx="6"/>
                <a:endCxn id="69801" idx="3"/>
              </p:cNvCxnSpPr>
              <p:nvPr/>
            </p:nvCxnSpPr>
            <p:spPr bwMode="auto">
              <a:xfrm flipV="1">
                <a:off x="3264" y="2591"/>
                <a:ext cx="433" cy="361"/>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13" name="AutoShape 23"/>
              <p:cNvCxnSpPr>
                <a:cxnSpLocks noChangeShapeType="1"/>
                <a:stCxn id="69801" idx="6"/>
                <a:endCxn id="69802" idx="2"/>
              </p:cNvCxnSpPr>
              <p:nvPr/>
            </p:nvCxnSpPr>
            <p:spPr bwMode="auto">
              <a:xfrm>
                <a:off x="3984" y="2472"/>
                <a:ext cx="43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14" name="AutoShape 24"/>
              <p:cNvCxnSpPr>
                <a:cxnSpLocks noChangeShapeType="1"/>
                <a:stCxn id="69802" idx="6"/>
                <a:endCxn id="69830" idx="2"/>
              </p:cNvCxnSpPr>
              <p:nvPr/>
            </p:nvCxnSpPr>
            <p:spPr bwMode="auto">
              <a:xfrm>
                <a:off x="4752" y="2472"/>
                <a:ext cx="38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15" name="AutoShape 25"/>
              <p:cNvCxnSpPr>
                <a:cxnSpLocks noChangeShapeType="1"/>
                <a:stCxn id="69804" idx="1"/>
                <a:endCxn id="69804" idx="7"/>
              </p:cNvCxnSpPr>
              <p:nvPr/>
            </p:nvCxnSpPr>
            <p:spPr bwMode="auto">
              <a:xfrm rot="5400000" flipV="1">
                <a:off x="1703" y="2235"/>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816" name="Text Box 26"/>
              <p:cNvSpPr txBox="1">
                <a:spLocks noChangeArrowheads="1"/>
              </p:cNvSpPr>
              <p:nvPr/>
            </p:nvSpPr>
            <p:spPr bwMode="auto">
              <a:xfrm>
                <a:off x="1195" y="2143"/>
                <a:ext cx="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endParaRPr kumimoji="1" lang="en-US" altLang="zh-CN" sz="2400">
                  <a:latin typeface="Times New Roman" pitchFamily="18" charset="0"/>
                </a:endParaRPr>
              </a:p>
            </p:txBody>
          </p:sp>
          <p:sp>
            <p:nvSpPr>
              <p:cNvPr id="69817" name="Text Box 27"/>
              <p:cNvSpPr txBox="1">
                <a:spLocks noChangeArrowheads="1"/>
              </p:cNvSpPr>
              <p:nvPr/>
            </p:nvSpPr>
            <p:spPr bwMode="auto">
              <a:xfrm>
                <a:off x="1915" y="2143"/>
                <a:ext cx="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endParaRPr kumimoji="1" lang="en-US" altLang="zh-CN" sz="2400">
                  <a:latin typeface="Times New Roman" pitchFamily="18" charset="0"/>
                </a:endParaRPr>
              </a:p>
            </p:txBody>
          </p:sp>
          <p:sp>
            <p:nvSpPr>
              <p:cNvPr id="69818" name="Text Box 28"/>
              <p:cNvSpPr txBox="1">
                <a:spLocks noChangeArrowheads="1"/>
              </p:cNvSpPr>
              <p:nvPr/>
            </p:nvSpPr>
            <p:spPr bwMode="auto">
              <a:xfrm>
                <a:off x="4075" y="2143"/>
                <a:ext cx="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endParaRPr kumimoji="1" lang="en-US" altLang="zh-CN" sz="2400">
                  <a:latin typeface="Times New Roman" pitchFamily="18" charset="0"/>
                </a:endParaRPr>
              </a:p>
            </p:txBody>
          </p:sp>
          <p:sp>
            <p:nvSpPr>
              <p:cNvPr id="69819" name="Text Box 29"/>
              <p:cNvSpPr txBox="1">
                <a:spLocks noChangeArrowheads="1"/>
              </p:cNvSpPr>
              <p:nvPr/>
            </p:nvSpPr>
            <p:spPr bwMode="auto">
              <a:xfrm>
                <a:off x="4842" y="2143"/>
                <a:ext cx="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endParaRPr kumimoji="1" lang="en-US" altLang="zh-CN" sz="2400">
                  <a:latin typeface="Times New Roman" pitchFamily="18" charset="0"/>
                </a:endParaRPr>
              </a:p>
            </p:txBody>
          </p:sp>
          <p:sp>
            <p:nvSpPr>
              <p:cNvPr id="69820" name="Text Box 30"/>
              <p:cNvSpPr txBox="1">
                <a:spLocks noChangeArrowheads="1"/>
              </p:cNvSpPr>
              <p:nvPr/>
            </p:nvSpPr>
            <p:spPr bwMode="auto">
              <a:xfrm>
                <a:off x="1527" y="1855"/>
                <a:ext cx="21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69821" name="Text Box 31"/>
              <p:cNvSpPr txBox="1">
                <a:spLocks noChangeArrowheads="1"/>
              </p:cNvSpPr>
              <p:nvPr/>
            </p:nvSpPr>
            <p:spPr bwMode="auto">
              <a:xfrm>
                <a:off x="3402" y="1759"/>
                <a:ext cx="21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69822" name="Text Box 32"/>
              <p:cNvSpPr txBox="1">
                <a:spLocks noChangeArrowheads="1"/>
              </p:cNvSpPr>
              <p:nvPr/>
            </p:nvSpPr>
            <p:spPr bwMode="auto">
              <a:xfrm>
                <a:off x="4506" y="1855"/>
                <a:ext cx="21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69823" name="Text Box 33"/>
              <p:cNvSpPr txBox="1">
                <a:spLocks noChangeArrowheads="1"/>
              </p:cNvSpPr>
              <p:nvPr/>
            </p:nvSpPr>
            <p:spPr bwMode="auto">
              <a:xfrm>
                <a:off x="2490" y="1759"/>
                <a:ext cx="21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cxnSp>
            <p:nvCxnSpPr>
              <p:cNvPr id="69824" name="AutoShape 34"/>
              <p:cNvCxnSpPr>
                <a:cxnSpLocks noChangeShapeType="1"/>
                <a:stCxn id="69802" idx="1"/>
                <a:endCxn id="69802" idx="7"/>
              </p:cNvCxnSpPr>
              <p:nvPr/>
            </p:nvCxnSpPr>
            <p:spPr bwMode="auto">
              <a:xfrm rot="5400000" flipV="1">
                <a:off x="4583" y="2235"/>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825" name="AutoShape 35"/>
              <p:cNvCxnSpPr>
                <a:cxnSpLocks noChangeShapeType="1"/>
                <a:stCxn id="69802" idx="3"/>
                <a:endCxn id="69802" idx="5"/>
              </p:cNvCxnSpPr>
              <p:nvPr/>
            </p:nvCxnSpPr>
            <p:spPr bwMode="auto">
              <a:xfrm rot="16200000" flipH="1">
                <a:off x="4583" y="2473"/>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826" name="Text Box 36"/>
              <p:cNvSpPr txBox="1">
                <a:spLocks noChangeArrowheads="1"/>
              </p:cNvSpPr>
              <p:nvPr/>
            </p:nvSpPr>
            <p:spPr bwMode="auto">
              <a:xfrm>
                <a:off x="1476" y="2575"/>
                <a:ext cx="22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69827" name="Text Box 37"/>
              <p:cNvSpPr txBox="1">
                <a:spLocks noChangeArrowheads="1"/>
              </p:cNvSpPr>
              <p:nvPr/>
            </p:nvSpPr>
            <p:spPr bwMode="auto">
              <a:xfrm>
                <a:off x="2490" y="2719"/>
                <a:ext cx="22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69828" name="Text Box 38"/>
              <p:cNvSpPr txBox="1">
                <a:spLocks noChangeArrowheads="1"/>
              </p:cNvSpPr>
              <p:nvPr/>
            </p:nvSpPr>
            <p:spPr bwMode="auto">
              <a:xfrm>
                <a:off x="3546" y="2671"/>
                <a:ext cx="22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69829" name="Text Box 39"/>
              <p:cNvSpPr txBox="1">
                <a:spLocks noChangeArrowheads="1"/>
              </p:cNvSpPr>
              <p:nvPr/>
            </p:nvSpPr>
            <p:spPr bwMode="auto">
              <a:xfrm>
                <a:off x="4506" y="2671"/>
                <a:ext cx="22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grpSp>
        <p:sp>
          <p:nvSpPr>
            <p:cNvPr id="69797" name="AutoShape 40"/>
            <p:cNvSpPr>
              <a:spLocks noChangeArrowheads="1"/>
            </p:cNvSpPr>
            <p:nvPr/>
          </p:nvSpPr>
          <p:spPr bwMode="auto">
            <a:xfrm>
              <a:off x="576" y="1056"/>
              <a:ext cx="192" cy="306"/>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
        <p:nvSpPr>
          <p:cNvPr id="37296" name="Rectangle 432"/>
          <p:cNvSpPr>
            <a:spLocks noChangeArrowheads="1"/>
          </p:cNvSpPr>
          <p:nvPr/>
        </p:nvSpPr>
        <p:spPr bwMode="auto">
          <a:xfrm>
            <a:off x="1259632" y="2715766"/>
            <a:ext cx="1066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{X,1,2}</a:t>
            </a:r>
            <a:r>
              <a:rPr lang="en-US" altLang="zh-CN" sz="2000" dirty="0">
                <a:latin typeface="宋体" panose="02010600030101010101" pitchFamily="2" charset="-122"/>
              </a:rPr>
              <a:t> </a:t>
            </a:r>
          </a:p>
        </p:txBody>
      </p:sp>
      <p:grpSp>
        <p:nvGrpSpPr>
          <p:cNvPr id="5" name="Group 445"/>
          <p:cNvGrpSpPr>
            <a:grpSpLocks/>
          </p:cNvGrpSpPr>
          <p:nvPr/>
        </p:nvGrpSpPr>
        <p:grpSpPr bwMode="auto">
          <a:xfrm>
            <a:off x="3633788" y="2714625"/>
            <a:ext cx="4648200" cy="342900"/>
            <a:chOff x="-3" y="-3"/>
            <a:chExt cx="3346" cy="487"/>
          </a:xfrm>
        </p:grpSpPr>
        <p:grpSp>
          <p:nvGrpSpPr>
            <p:cNvPr id="69784" name="Group 443"/>
            <p:cNvGrpSpPr>
              <a:grpSpLocks/>
            </p:cNvGrpSpPr>
            <p:nvPr/>
          </p:nvGrpSpPr>
          <p:grpSpPr bwMode="auto">
            <a:xfrm>
              <a:off x="0" y="0"/>
              <a:ext cx="3340" cy="481"/>
              <a:chOff x="0" y="0"/>
              <a:chExt cx="3340" cy="481"/>
            </a:xfrm>
          </p:grpSpPr>
          <p:grpSp>
            <p:nvGrpSpPr>
              <p:cNvPr id="69786" name="Group 438"/>
              <p:cNvGrpSpPr>
                <a:grpSpLocks/>
              </p:cNvGrpSpPr>
              <p:nvPr/>
            </p:nvGrpSpPr>
            <p:grpSpPr bwMode="auto">
              <a:xfrm>
                <a:off x="0" y="0"/>
                <a:ext cx="1670" cy="481"/>
                <a:chOff x="0" y="0"/>
                <a:chExt cx="1670" cy="481"/>
              </a:xfrm>
            </p:grpSpPr>
            <p:sp>
              <p:nvSpPr>
                <p:cNvPr id="69792" name="Rectangle 437"/>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93" name="Group 436"/>
                <p:cNvGrpSpPr>
                  <a:grpSpLocks/>
                </p:cNvGrpSpPr>
                <p:nvPr/>
              </p:nvGrpSpPr>
              <p:grpSpPr bwMode="auto">
                <a:xfrm>
                  <a:off x="0" y="0"/>
                  <a:ext cx="1670" cy="481"/>
                  <a:chOff x="0" y="0"/>
                  <a:chExt cx="1670" cy="481"/>
                </a:xfrm>
              </p:grpSpPr>
              <p:sp>
                <p:nvSpPr>
                  <p:cNvPr id="69794" name="Rectangle 433"/>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a:latin typeface="宋体" panose="02010600030101010101" pitchFamily="2" charset="-122"/>
                        <a:cs typeface="Times New Roman" pitchFamily="18" charset="0"/>
                      </a:rPr>
                      <a:t>{1,2,3}</a:t>
                    </a:r>
                  </a:p>
                  <a:p>
                    <a:pPr algn="just">
                      <a:spcBef>
                        <a:spcPct val="0"/>
                      </a:spcBef>
                      <a:buFontTx/>
                      <a:buNone/>
                    </a:pPr>
                    <a:endParaRPr lang="en-US" altLang="zh-CN" sz="2000">
                      <a:latin typeface="宋体" panose="02010600030101010101" pitchFamily="2" charset="-122"/>
                    </a:endParaRPr>
                  </a:p>
                </p:txBody>
              </p:sp>
              <p:sp>
                <p:nvSpPr>
                  <p:cNvPr id="69795" name="Rectangle 435"/>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87" name="Group 442"/>
              <p:cNvGrpSpPr>
                <a:grpSpLocks/>
              </p:cNvGrpSpPr>
              <p:nvPr/>
            </p:nvGrpSpPr>
            <p:grpSpPr bwMode="auto">
              <a:xfrm>
                <a:off x="1670" y="0"/>
                <a:ext cx="1670" cy="481"/>
                <a:chOff x="1670" y="0"/>
                <a:chExt cx="1670" cy="481"/>
              </a:xfrm>
            </p:grpSpPr>
            <p:sp>
              <p:nvSpPr>
                <p:cNvPr id="69788" name="Rectangle 441"/>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89" name="Group 440"/>
                <p:cNvGrpSpPr>
                  <a:grpSpLocks/>
                </p:cNvGrpSpPr>
                <p:nvPr/>
              </p:nvGrpSpPr>
              <p:grpSpPr bwMode="auto">
                <a:xfrm>
                  <a:off x="1670" y="0"/>
                  <a:ext cx="1670" cy="481"/>
                  <a:chOff x="1670" y="0"/>
                  <a:chExt cx="1670" cy="481"/>
                </a:xfrm>
              </p:grpSpPr>
              <p:sp>
                <p:nvSpPr>
                  <p:cNvPr id="69790" name="Rectangle 434"/>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{1,2,4}</a:t>
                    </a:r>
                  </a:p>
                  <a:p>
                    <a:pPr algn="just">
                      <a:spcBef>
                        <a:spcPct val="0"/>
                      </a:spcBef>
                      <a:buFontTx/>
                      <a:buNone/>
                    </a:pPr>
                    <a:endParaRPr lang="en-US" altLang="zh-CN" sz="2000" dirty="0">
                      <a:latin typeface="宋体" panose="02010600030101010101" pitchFamily="2" charset="-122"/>
                    </a:endParaRPr>
                  </a:p>
                </p:txBody>
              </p:sp>
              <p:sp>
                <p:nvSpPr>
                  <p:cNvPr id="69791" name="Rectangle 439"/>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85" name="Rectangle 444"/>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sp>
        <p:nvSpPr>
          <p:cNvPr id="37310" name="Rectangle 446"/>
          <p:cNvSpPr>
            <a:spLocks noChangeArrowheads="1"/>
          </p:cNvSpPr>
          <p:nvPr/>
        </p:nvSpPr>
        <p:spPr bwMode="auto">
          <a:xfrm>
            <a:off x="1261740" y="3058666"/>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{1,2,3} </a:t>
            </a:r>
            <a:endParaRPr lang="en-US" altLang="zh-CN" sz="2000" dirty="0">
              <a:latin typeface="宋体" panose="02010600030101010101" pitchFamily="2" charset="-122"/>
            </a:endParaRPr>
          </a:p>
        </p:txBody>
      </p:sp>
      <p:grpSp>
        <p:nvGrpSpPr>
          <p:cNvPr id="11" name="Group 459"/>
          <p:cNvGrpSpPr>
            <a:grpSpLocks/>
          </p:cNvGrpSpPr>
          <p:nvPr/>
        </p:nvGrpSpPr>
        <p:grpSpPr bwMode="auto">
          <a:xfrm>
            <a:off x="3633788" y="3053953"/>
            <a:ext cx="4648200" cy="346472"/>
            <a:chOff x="-3" y="-3"/>
            <a:chExt cx="3346" cy="487"/>
          </a:xfrm>
        </p:grpSpPr>
        <p:grpSp>
          <p:nvGrpSpPr>
            <p:cNvPr id="69772" name="Group 457"/>
            <p:cNvGrpSpPr>
              <a:grpSpLocks/>
            </p:cNvGrpSpPr>
            <p:nvPr/>
          </p:nvGrpSpPr>
          <p:grpSpPr bwMode="auto">
            <a:xfrm>
              <a:off x="0" y="0"/>
              <a:ext cx="3340" cy="481"/>
              <a:chOff x="0" y="0"/>
              <a:chExt cx="3340" cy="481"/>
            </a:xfrm>
          </p:grpSpPr>
          <p:grpSp>
            <p:nvGrpSpPr>
              <p:cNvPr id="69774" name="Group 452"/>
              <p:cNvGrpSpPr>
                <a:grpSpLocks/>
              </p:cNvGrpSpPr>
              <p:nvPr/>
            </p:nvGrpSpPr>
            <p:grpSpPr bwMode="auto">
              <a:xfrm>
                <a:off x="0" y="0"/>
                <a:ext cx="1670" cy="481"/>
                <a:chOff x="0" y="0"/>
                <a:chExt cx="1670" cy="481"/>
              </a:xfrm>
            </p:grpSpPr>
            <p:sp>
              <p:nvSpPr>
                <p:cNvPr id="69780" name="Rectangle 451"/>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81" name="Group 450"/>
                <p:cNvGrpSpPr>
                  <a:grpSpLocks/>
                </p:cNvGrpSpPr>
                <p:nvPr/>
              </p:nvGrpSpPr>
              <p:grpSpPr bwMode="auto">
                <a:xfrm>
                  <a:off x="0" y="0"/>
                  <a:ext cx="1670" cy="481"/>
                  <a:chOff x="0" y="0"/>
                  <a:chExt cx="1670" cy="481"/>
                </a:xfrm>
              </p:grpSpPr>
              <p:sp>
                <p:nvSpPr>
                  <p:cNvPr id="69782" name="Rectangle 447"/>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{1,2,3,5,6,Y}</a:t>
                    </a:r>
                  </a:p>
                  <a:p>
                    <a:pPr algn="just">
                      <a:spcBef>
                        <a:spcPct val="0"/>
                      </a:spcBef>
                      <a:buFontTx/>
                      <a:buNone/>
                    </a:pPr>
                    <a:endParaRPr lang="en-US" altLang="zh-CN" sz="2000" dirty="0">
                      <a:latin typeface="宋体" panose="02010600030101010101" pitchFamily="2" charset="-122"/>
                    </a:endParaRPr>
                  </a:p>
                </p:txBody>
              </p:sp>
              <p:sp>
                <p:nvSpPr>
                  <p:cNvPr id="69783" name="Rectangle 449"/>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75" name="Group 456"/>
              <p:cNvGrpSpPr>
                <a:grpSpLocks/>
              </p:cNvGrpSpPr>
              <p:nvPr/>
            </p:nvGrpSpPr>
            <p:grpSpPr bwMode="auto">
              <a:xfrm>
                <a:off x="1670" y="0"/>
                <a:ext cx="1670" cy="481"/>
                <a:chOff x="1670" y="0"/>
                <a:chExt cx="1670" cy="481"/>
              </a:xfrm>
            </p:grpSpPr>
            <p:sp>
              <p:nvSpPr>
                <p:cNvPr id="69776" name="Rectangle 455"/>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77" name="Group 454"/>
                <p:cNvGrpSpPr>
                  <a:grpSpLocks/>
                </p:cNvGrpSpPr>
                <p:nvPr/>
              </p:nvGrpSpPr>
              <p:grpSpPr bwMode="auto">
                <a:xfrm>
                  <a:off x="1670" y="0"/>
                  <a:ext cx="1670" cy="481"/>
                  <a:chOff x="1670" y="0"/>
                  <a:chExt cx="1670" cy="481"/>
                </a:xfrm>
              </p:grpSpPr>
              <p:sp>
                <p:nvSpPr>
                  <p:cNvPr id="69778" name="Rectangle 448"/>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a:latin typeface="宋体" panose="02010600030101010101" pitchFamily="2" charset="-122"/>
                        <a:cs typeface="Times New Roman" pitchFamily="18" charset="0"/>
                      </a:rPr>
                      <a:t>{1,2,4}</a:t>
                    </a:r>
                  </a:p>
                  <a:p>
                    <a:pPr algn="just">
                      <a:spcBef>
                        <a:spcPct val="0"/>
                      </a:spcBef>
                      <a:buFontTx/>
                      <a:buNone/>
                    </a:pPr>
                    <a:endParaRPr lang="en-US" altLang="zh-CN" sz="2000">
                      <a:latin typeface="宋体" panose="02010600030101010101" pitchFamily="2" charset="-122"/>
                    </a:endParaRPr>
                  </a:p>
                </p:txBody>
              </p:sp>
              <p:sp>
                <p:nvSpPr>
                  <p:cNvPr id="69779" name="Rectangle 453"/>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73" name="Rectangle 458"/>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sp>
        <p:nvSpPr>
          <p:cNvPr id="37324" name="Rectangle 460"/>
          <p:cNvSpPr>
            <a:spLocks noChangeArrowheads="1"/>
          </p:cNvSpPr>
          <p:nvPr/>
        </p:nvSpPr>
        <p:spPr bwMode="auto">
          <a:xfrm>
            <a:off x="1261740" y="3377470"/>
            <a:ext cx="1219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{1,2,4}</a:t>
            </a:r>
            <a:r>
              <a:rPr lang="en-US" altLang="zh-CN" sz="2000" dirty="0">
                <a:latin typeface="宋体" panose="02010600030101010101" pitchFamily="2" charset="-122"/>
              </a:rPr>
              <a:t> </a:t>
            </a:r>
          </a:p>
        </p:txBody>
      </p:sp>
      <p:grpSp>
        <p:nvGrpSpPr>
          <p:cNvPr id="17" name="Group 473"/>
          <p:cNvGrpSpPr>
            <a:grpSpLocks/>
          </p:cNvGrpSpPr>
          <p:nvPr/>
        </p:nvGrpSpPr>
        <p:grpSpPr bwMode="auto">
          <a:xfrm>
            <a:off x="3633788" y="3400426"/>
            <a:ext cx="4648200" cy="346472"/>
            <a:chOff x="-3" y="-3"/>
            <a:chExt cx="3346" cy="487"/>
          </a:xfrm>
        </p:grpSpPr>
        <p:grpSp>
          <p:nvGrpSpPr>
            <p:cNvPr id="69760" name="Group 471"/>
            <p:cNvGrpSpPr>
              <a:grpSpLocks/>
            </p:cNvGrpSpPr>
            <p:nvPr/>
          </p:nvGrpSpPr>
          <p:grpSpPr bwMode="auto">
            <a:xfrm>
              <a:off x="0" y="0"/>
              <a:ext cx="3340" cy="481"/>
              <a:chOff x="0" y="0"/>
              <a:chExt cx="3340" cy="481"/>
            </a:xfrm>
          </p:grpSpPr>
          <p:grpSp>
            <p:nvGrpSpPr>
              <p:cNvPr id="69762" name="Group 466"/>
              <p:cNvGrpSpPr>
                <a:grpSpLocks/>
              </p:cNvGrpSpPr>
              <p:nvPr/>
            </p:nvGrpSpPr>
            <p:grpSpPr bwMode="auto">
              <a:xfrm>
                <a:off x="0" y="0"/>
                <a:ext cx="1670" cy="481"/>
                <a:chOff x="0" y="0"/>
                <a:chExt cx="1670" cy="481"/>
              </a:xfrm>
            </p:grpSpPr>
            <p:sp>
              <p:nvSpPr>
                <p:cNvPr id="69768" name="Rectangle 465"/>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69" name="Group 464"/>
                <p:cNvGrpSpPr>
                  <a:grpSpLocks/>
                </p:cNvGrpSpPr>
                <p:nvPr/>
              </p:nvGrpSpPr>
              <p:grpSpPr bwMode="auto">
                <a:xfrm>
                  <a:off x="0" y="0"/>
                  <a:ext cx="1670" cy="481"/>
                  <a:chOff x="0" y="0"/>
                  <a:chExt cx="1670" cy="481"/>
                </a:xfrm>
              </p:grpSpPr>
              <p:sp>
                <p:nvSpPr>
                  <p:cNvPr id="69770" name="Rectangle 461"/>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{1,2,3}</a:t>
                    </a:r>
                  </a:p>
                  <a:p>
                    <a:pPr algn="just">
                      <a:spcBef>
                        <a:spcPct val="0"/>
                      </a:spcBef>
                      <a:buFontTx/>
                      <a:buNone/>
                    </a:pPr>
                    <a:endParaRPr lang="en-US" altLang="zh-CN" sz="2000" dirty="0">
                      <a:latin typeface="宋体" panose="02010600030101010101" pitchFamily="2" charset="-122"/>
                    </a:endParaRPr>
                  </a:p>
                </p:txBody>
              </p:sp>
              <p:sp>
                <p:nvSpPr>
                  <p:cNvPr id="69771" name="Rectangle 463"/>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63" name="Group 470"/>
              <p:cNvGrpSpPr>
                <a:grpSpLocks/>
              </p:cNvGrpSpPr>
              <p:nvPr/>
            </p:nvGrpSpPr>
            <p:grpSpPr bwMode="auto">
              <a:xfrm>
                <a:off x="1670" y="0"/>
                <a:ext cx="1670" cy="481"/>
                <a:chOff x="1670" y="0"/>
                <a:chExt cx="1670" cy="481"/>
              </a:xfrm>
            </p:grpSpPr>
            <p:sp>
              <p:nvSpPr>
                <p:cNvPr id="69764" name="Rectangle 469"/>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65" name="Group 468"/>
                <p:cNvGrpSpPr>
                  <a:grpSpLocks/>
                </p:cNvGrpSpPr>
                <p:nvPr/>
              </p:nvGrpSpPr>
              <p:grpSpPr bwMode="auto">
                <a:xfrm>
                  <a:off x="1670" y="0"/>
                  <a:ext cx="1670" cy="481"/>
                  <a:chOff x="1670" y="0"/>
                  <a:chExt cx="1670" cy="481"/>
                </a:xfrm>
              </p:grpSpPr>
              <p:sp>
                <p:nvSpPr>
                  <p:cNvPr id="69766" name="Rectangle 462"/>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{1,2,4,5,6,Y}</a:t>
                    </a:r>
                  </a:p>
                  <a:p>
                    <a:pPr algn="just">
                      <a:spcBef>
                        <a:spcPct val="0"/>
                      </a:spcBef>
                      <a:buFontTx/>
                      <a:buNone/>
                    </a:pPr>
                    <a:endParaRPr lang="en-US" altLang="zh-CN" sz="2000" dirty="0">
                      <a:latin typeface="宋体" panose="02010600030101010101" pitchFamily="2" charset="-122"/>
                    </a:endParaRPr>
                  </a:p>
                </p:txBody>
              </p:sp>
              <p:sp>
                <p:nvSpPr>
                  <p:cNvPr id="69767" name="Rectangle 467"/>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61" name="Rectangle 472"/>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sp>
        <p:nvSpPr>
          <p:cNvPr id="37338" name="Rectangle 474"/>
          <p:cNvSpPr>
            <a:spLocks noChangeArrowheads="1"/>
          </p:cNvSpPr>
          <p:nvPr/>
        </p:nvSpPr>
        <p:spPr bwMode="auto">
          <a:xfrm>
            <a:off x="1261740" y="3720370"/>
            <a:ext cx="2034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{1,2,3,5,6,Y}</a:t>
            </a:r>
            <a:r>
              <a:rPr lang="en-US" altLang="zh-CN" sz="2000" dirty="0">
                <a:latin typeface="宋体" panose="02010600030101010101" pitchFamily="2" charset="-122"/>
              </a:rPr>
              <a:t> </a:t>
            </a:r>
          </a:p>
        </p:txBody>
      </p:sp>
      <p:grpSp>
        <p:nvGrpSpPr>
          <p:cNvPr id="23" name="Group 487"/>
          <p:cNvGrpSpPr>
            <a:grpSpLocks/>
          </p:cNvGrpSpPr>
          <p:nvPr/>
        </p:nvGrpSpPr>
        <p:grpSpPr bwMode="auto">
          <a:xfrm>
            <a:off x="3633788" y="3714965"/>
            <a:ext cx="4648200" cy="368953"/>
            <a:chOff x="-3" y="-27"/>
            <a:chExt cx="3346" cy="524"/>
          </a:xfrm>
        </p:grpSpPr>
        <p:grpSp>
          <p:nvGrpSpPr>
            <p:cNvPr id="69748" name="Group 485"/>
            <p:cNvGrpSpPr>
              <a:grpSpLocks/>
            </p:cNvGrpSpPr>
            <p:nvPr/>
          </p:nvGrpSpPr>
          <p:grpSpPr bwMode="auto">
            <a:xfrm>
              <a:off x="0" y="-27"/>
              <a:ext cx="3340" cy="524"/>
              <a:chOff x="0" y="-27"/>
              <a:chExt cx="3340" cy="524"/>
            </a:xfrm>
          </p:grpSpPr>
          <p:grpSp>
            <p:nvGrpSpPr>
              <p:cNvPr id="69750" name="Group 480"/>
              <p:cNvGrpSpPr>
                <a:grpSpLocks/>
              </p:cNvGrpSpPr>
              <p:nvPr/>
            </p:nvGrpSpPr>
            <p:grpSpPr bwMode="auto">
              <a:xfrm>
                <a:off x="0" y="-27"/>
                <a:ext cx="1670" cy="524"/>
                <a:chOff x="0" y="-27"/>
                <a:chExt cx="1670" cy="524"/>
              </a:xfrm>
            </p:grpSpPr>
            <p:sp>
              <p:nvSpPr>
                <p:cNvPr id="69756" name="Rectangle 479"/>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57" name="Group 478"/>
                <p:cNvGrpSpPr>
                  <a:grpSpLocks/>
                </p:cNvGrpSpPr>
                <p:nvPr/>
              </p:nvGrpSpPr>
              <p:grpSpPr bwMode="auto">
                <a:xfrm>
                  <a:off x="0" y="-27"/>
                  <a:ext cx="1670" cy="524"/>
                  <a:chOff x="0" y="-27"/>
                  <a:chExt cx="1670" cy="524"/>
                </a:xfrm>
              </p:grpSpPr>
              <p:sp>
                <p:nvSpPr>
                  <p:cNvPr id="69758" name="Rectangle 475"/>
                  <p:cNvSpPr>
                    <a:spLocks noChangeArrowheads="1"/>
                  </p:cNvSpPr>
                  <p:nvPr/>
                </p:nvSpPr>
                <p:spPr bwMode="auto">
                  <a:xfrm>
                    <a:off x="43" y="-27"/>
                    <a:ext cx="1584" cy="524"/>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{1,2,3,5,6,Y}</a:t>
                    </a:r>
                  </a:p>
                  <a:p>
                    <a:pPr algn="just">
                      <a:spcBef>
                        <a:spcPct val="0"/>
                      </a:spcBef>
                      <a:buFontTx/>
                      <a:buNone/>
                    </a:pPr>
                    <a:endParaRPr lang="en-US" altLang="zh-CN" sz="2000" dirty="0">
                      <a:latin typeface="宋体" panose="02010600030101010101" pitchFamily="2" charset="-122"/>
                    </a:endParaRPr>
                  </a:p>
                </p:txBody>
              </p:sp>
              <p:sp>
                <p:nvSpPr>
                  <p:cNvPr id="69759" name="Rectangle 477"/>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51" name="Group 484"/>
              <p:cNvGrpSpPr>
                <a:grpSpLocks/>
              </p:cNvGrpSpPr>
              <p:nvPr/>
            </p:nvGrpSpPr>
            <p:grpSpPr bwMode="auto">
              <a:xfrm>
                <a:off x="1670" y="-27"/>
                <a:ext cx="1670" cy="524"/>
                <a:chOff x="1670" y="-27"/>
                <a:chExt cx="1670" cy="524"/>
              </a:xfrm>
            </p:grpSpPr>
            <p:sp>
              <p:nvSpPr>
                <p:cNvPr id="69752" name="Rectangle 483"/>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53" name="Group 482"/>
                <p:cNvGrpSpPr>
                  <a:grpSpLocks/>
                </p:cNvGrpSpPr>
                <p:nvPr/>
              </p:nvGrpSpPr>
              <p:grpSpPr bwMode="auto">
                <a:xfrm>
                  <a:off x="1670" y="-27"/>
                  <a:ext cx="1670" cy="524"/>
                  <a:chOff x="1670" y="-27"/>
                  <a:chExt cx="1670" cy="524"/>
                </a:xfrm>
              </p:grpSpPr>
              <p:sp>
                <p:nvSpPr>
                  <p:cNvPr id="69754" name="Rectangle 476"/>
                  <p:cNvSpPr>
                    <a:spLocks noChangeArrowheads="1"/>
                  </p:cNvSpPr>
                  <p:nvPr/>
                </p:nvSpPr>
                <p:spPr bwMode="auto">
                  <a:xfrm>
                    <a:off x="1713" y="-27"/>
                    <a:ext cx="1584" cy="524"/>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{1,2,4,6,Y}</a:t>
                    </a:r>
                  </a:p>
                  <a:p>
                    <a:pPr algn="just">
                      <a:spcBef>
                        <a:spcPct val="0"/>
                      </a:spcBef>
                      <a:buFontTx/>
                      <a:buNone/>
                    </a:pPr>
                    <a:endParaRPr lang="en-US" altLang="zh-CN" sz="2000" dirty="0">
                      <a:latin typeface="宋体" panose="02010600030101010101" pitchFamily="2" charset="-122"/>
                    </a:endParaRPr>
                  </a:p>
                </p:txBody>
              </p:sp>
              <p:sp>
                <p:nvSpPr>
                  <p:cNvPr id="69755" name="Rectangle 481"/>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49" name="Rectangle 486"/>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sp>
        <p:nvSpPr>
          <p:cNvPr id="37352" name="Rectangle 488"/>
          <p:cNvSpPr>
            <a:spLocks noChangeArrowheads="1"/>
          </p:cNvSpPr>
          <p:nvPr/>
        </p:nvSpPr>
        <p:spPr bwMode="auto">
          <a:xfrm>
            <a:off x="1261740" y="4063270"/>
            <a:ext cx="2057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{1,2,4,5,6,Y}</a:t>
            </a:r>
            <a:r>
              <a:rPr lang="en-US" altLang="zh-CN" sz="2000" dirty="0">
                <a:latin typeface="宋体" panose="02010600030101010101" pitchFamily="2" charset="-122"/>
              </a:rPr>
              <a:t> </a:t>
            </a:r>
          </a:p>
        </p:txBody>
      </p:sp>
      <p:grpSp>
        <p:nvGrpSpPr>
          <p:cNvPr id="29" name="Group 501"/>
          <p:cNvGrpSpPr>
            <a:grpSpLocks/>
          </p:cNvGrpSpPr>
          <p:nvPr/>
        </p:nvGrpSpPr>
        <p:grpSpPr bwMode="auto">
          <a:xfrm>
            <a:off x="3633788" y="4029050"/>
            <a:ext cx="4648200" cy="342900"/>
            <a:chOff x="-3" y="-3"/>
            <a:chExt cx="3346" cy="487"/>
          </a:xfrm>
        </p:grpSpPr>
        <p:grpSp>
          <p:nvGrpSpPr>
            <p:cNvPr id="69736" name="Group 499"/>
            <p:cNvGrpSpPr>
              <a:grpSpLocks/>
            </p:cNvGrpSpPr>
            <p:nvPr/>
          </p:nvGrpSpPr>
          <p:grpSpPr bwMode="auto">
            <a:xfrm>
              <a:off x="0" y="0"/>
              <a:ext cx="3340" cy="481"/>
              <a:chOff x="0" y="0"/>
              <a:chExt cx="3340" cy="481"/>
            </a:xfrm>
          </p:grpSpPr>
          <p:grpSp>
            <p:nvGrpSpPr>
              <p:cNvPr id="69738" name="Group 494"/>
              <p:cNvGrpSpPr>
                <a:grpSpLocks/>
              </p:cNvGrpSpPr>
              <p:nvPr/>
            </p:nvGrpSpPr>
            <p:grpSpPr bwMode="auto">
              <a:xfrm>
                <a:off x="0" y="0"/>
                <a:ext cx="1670" cy="481"/>
                <a:chOff x="0" y="0"/>
                <a:chExt cx="1670" cy="481"/>
              </a:xfrm>
            </p:grpSpPr>
            <p:sp>
              <p:nvSpPr>
                <p:cNvPr id="69744" name="Rectangle 493"/>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45" name="Group 492"/>
                <p:cNvGrpSpPr>
                  <a:grpSpLocks/>
                </p:cNvGrpSpPr>
                <p:nvPr/>
              </p:nvGrpSpPr>
              <p:grpSpPr bwMode="auto">
                <a:xfrm>
                  <a:off x="0" y="0"/>
                  <a:ext cx="1670" cy="481"/>
                  <a:chOff x="0" y="0"/>
                  <a:chExt cx="1670" cy="481"/>
                </a:xfrm>
              </p:grpSpPr>
              <p:sp>
                <p:nvSpPr>
                  <p:cNvPr id="69746" name="Rectangle 489"/>
                  <p:cNvSpPr>
                    <a:spLocks noChangeArrowheads="1"/>
                  </p:cNvSpPr>
                  <p:nvPr/>
                </p:nvSpPr>
                <p:spPr bwMode="auto">
                  <a:xfrm>
                    <a:off x="43" y="38"/>
                    <a:ext cx="1584" cy="36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{1,2,3,6,Y}</a:t>
                    </a:r>
                  </a:p>
                  <a:p>
                    <a:pPr algn="just">
                      <a:spcBef>
                        <a:spcPct val="0"/>
                      </a:spcBef>
                      <a:buFontTx/>
                      <a:buNone/>
                    </a:pPr>
                    <a:endParaRPr lang="en-US" altLang="zh-CN" sz="2000" dirty="0">
                      <a:latin typeface="宋体" panose="02010600030101010101" pitchFamily="2" charset="-122"/>
                    </a:endParaRPr>
                  </a:p>
                </p:txBody>
              </p:sp>
              <p:sp>
                <p:nvSpPr>
                  <p:cNvPr id="69747" name="Rectangle 491"/>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39" name="Group 498"/>
              <p:cNvGrpSpPr>
                <a:grpSpLocks/>
              </p:cNvGrpSpPr>
              <p:nvPr/>
            </p:nvGrpSpPr>
            <p:grpSpPr bwMode="auto">
              <a:xfrm>
                <a:off x="1670" y="0"/>
                <a:ext cx="1670" cy="481"/>
                <a:chOff x="1670" y="0"/>
                <a:chExt cx="1670" cy="481"/>
              </a:xfrm>
            </p:grpSpPr>
            <p:sp>
              <p:nvSpPr>
                <p:cNvPr id="69740" name="Rectangle 497"/>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41" name="Group 496"/>
                <p:cNvGrpSpPr>
                  <a:grpSpLocks/>
                </p:cNvGrpSpPr>
                <p:nvPr/>
              </p:nvGrpSpPr>
              <p:grpSpPr bwMode="auto">
                <a:xfrm>
                  <a:off x="1670" y="0"/>
                  <a:ext cx="1670" cy="481"/>
                  <a:chOff x="1670" y="0"/>
                  <a:chExt cx="1670" cy="481"/>
                </a:xfrm>
              </p:grpSpPr>
              <p:sp>
                <p:nvSpPr>
                  <p:cNvPr id="69742" name="Rectangle 490"/>
                  <p:cNvSpPr>
                    <a:spLocks noChangeArrowheads="1"/>
                  </p:cNvSpPr>
                  <p:nvPr/>
                </p:nvSpPr>
                <p:spPr bwMode="auto">
                  <a:xfrm>
                    <a:off x="1713" y="38"/>
                    <a:ext cx="1584" cy="36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{1,2,4,5,6,Y}</a:t>
                    </a:r>
                  </a:p>
                  <a:p>
                    <a:pPr algn="just">
                      <a:spcBef>
                        <a:spcPct val="0"/>
                      </a:spcBef>
                      <a:buFontTx/>
                      <a:buNone/>
                    </a:pPr>
                    <a:endParaRPr lang="en-US" altLang="zh-CN" sz="2000" dirty="0">
                      <a:latin typeface="宋体" panose="02010600030101010101" pitchFamily="2" charset="-122"/>
                    </a:endParaRPr>
                  </a:p>
                </p:txBody>
              </p:sp>
              <p:sp>
                <p:nvSpPr>
                  <p:cNvPr id="69743" name="Rectangle 495"/>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37" name="Rectangle 500"/>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sp>
        <p:nvSpPr>
          <p:cNvPr id="37366" name="Rectangle 502"/>
          <p:cNvSpPr>
            <a:spLocks noChangeArrowheads="1"/>
          </p:cNvSpPr>
          <p:nvPr/>
        </p:nvSpPr>
        <p:spPr bwMode="auto">
          <a:xfrm>
            <a:off x="1261740" y="4372833"/>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{1,2,4,6,Y}</a:t>
            </a:r>
            <a:r>
              <a:rPr lang="en-US" altLang="zh-CN" sz="2000" dirty="0">
                <a:latin typeface="宋体" panose="02010600030101010101" pitchFamily="2" charset="-122"/>
              </a:rPr>
              <a:t> </a:t>
            </a:r>
          </a:p>
        </p:txBody>
      </p:sp>
      <p:grpSp>
        <p:nvGrpSpPr>
          <p:cNvPr id="78852" name="Group 515"/>
          <p:cNvGrpSpPr>
            <a:grpSpLocks/>
          </p:cNvGrpSpPr>
          <p:nvPr/>
        </p:nvGrpSpPr>
        <p:grpSpPr bwMode="auto">
          <a:xfrm>
            <a:off x="3633788" y="4371975"/>
            <a:ext cx="4648200" cy="342900"/>
            <a:chOff x="-3" y="-3"/>
            <a:chExt cx="3346" cy="487"/>
          </a:xfrm>
        </p:grpSpPr>
        <p:grpSp>
          <p:nvGrpSpPr>
            <p:cNvPr id="69724" name="Group 513"/>
            <p:cNvGrpSpPr>
              <a:grpSpLocks/>
            </p:cNvGrpSpPr>
            <p:nvPr/>
          </p:nvGrpSpPr>
          <p:grpSpPr bwMode="auto">
            <a:xfrm>
              <a:off x="0" y="0"/>
              <a:ext cx="3340" cy="481"/>
              <a:chOff x="0" y="0"/>
              <a:chExt cx="3340" cy="481"/>
            </a:xfrm>
          </p:grpSpPr>
          <p:grpSp>
            <p:nvGrpSpPr>
              <p:cNvPr id="69726" name="Group 508"/>
              <p:cNvGrpSpPr>
                <a:grpSpLocks/>
              </p:cNvGrpSpPr>
              <p:nvPr/>
            </p:nvGrpSpPr>
            <p:grpSpPr bwMode="auto">
              <a:xfrm>
                <a:off x="0" y="0"/>
                <a:ext cx="1670" cy="481"/>
                <a:chOff x="0" y="0"/>
                <a:chExt cx="1670" cy="481"/>
              </a:xfrm>
            </p:grpSpPr>
            <p:sp>
              <p:nvSpPr>
                <p:cNvPr id="69732" name="Rectangle 507"/>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33" name="Group 506"/>
                <p:cNvGrpSpPr>
                  <a:grpSpLocks/>
                </p:cNvGrpSpPr>
                <p:nvPr/>
              </p:nvGrpSpPr>
              <p:grpSpPr bwMode="auto">
                <a:xfrm>
                  <a:off x="0" y="0"/>
                  <a:ext cx="1670" cy="481"/>
                  <a:chOff x="0" y="0"/>
                  <a:chExt cx="1670" cy="481"/>
                </a:xfrm>
              </p:grpSpPr>
              <p:sp>
                <p:nvSpPr>
                  <p:cNvPr id="69734" name="Rectangle 503"/>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{1,2,3,6,Y}</a:t>
                    </a:r>
                  </a:p>
                  <a:p>
                    <a:pPr algn="just">
                      <a:spcBef>
                        <a:spcPct val="0"/>
                      </a:spcBef>
                      <a:buFontTx/>
                      <a:buNone/>
                    </a:pPr>
                    <a:endParaRPr lang="en-US" altLang="zh-CN" sz="2000" dirty="0">
                      <a:latin typeface="宋体" panose="02010600030101010101" pitchFamily="2" charset="-122"/>
                    </a:endParaRPr>
                  </a:p>
                </p:txBody>
              </p:sp>
              <p:sp>
                <p:nvSpPr>
                  <p:cNvPr id="69735" name="Rectangle 505"/>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27" name="Group 512"/>
              <p:cNvGrpSpPr>
                <a:grpSpLocks/>
              </p:cNvGrpSpPr>
              <p:nvPr/>
            </p:nvGrpSpPr>
            <p:grpSpPr bwMode="auto">
              <a:xfrm>
                <a:off x="1670" y="0"/>
                <a:ext cx="1670" cy="481"/>
                <a:chOff x="1670" y="0"/>
                <a:chExt cx="1670" cy="481"/>
              </a:xfrm>
            </p:grpSpPr>
            <p:sp>
              <p:nvSpPr>
                <p:cNvPr id="69728" name="Rectangle 511"/>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29" name="Group 510"/>
                <p:cNvGrpSpPr>
                  <a:grpSpLocks/>
                </p:cNvGrpSpPr>
                <p:nvPr/>
              </p:nvGrpSpPr>
              <p:grpSpPr bwMode="auto">
                <a:xfrm>
                  <a:off x="1670" y="0"/>
                  <a:ext cx="1670" cy="481"/>
                  <a:chOff x="1670" y="0"/>
                  <a:chExt cx="1670" cy="481"/>
                </a:xfrm>
              </p:grpSpPr>
              <p:sp>
                <p:nvSpPr>
                  <p:cNvPr id="69730" name="Rectangle 504"/>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{1,2,4,5,6,Y}</a:t>
                    </a:r>
                  </a:p>
                  <a:p>
                    <a:pPr algn="just">
                      <a:spcBef>
                        <a:spcPct val="0"/>
                      </a:spcBef>
                      <a:buFontTx/>
                      <a:buNone/>
                    </a:pPr>
                    <a:endParaRPr lang="en-US" altLang="zh-CN" sz="2000" dirty="0">
                      <a:latin typeface="宋体" panose="02010600030101010101" pitchFamily="2" charset="-122"/>
                    </a:endParaRPr>
                  </a:p>
                </p:txBody>
              </p:sp>
              <p:sp>
                <p:nvSpPr>
                  <p:cNvPr id="69731" name="Rectangle 509"/>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25" name="Rectangle 514"/>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sp>
        <p:nvSpPr>
          <p:cNvPr id="37380" name="Rectangle 516"/>
          <p:cNvSpPr>
            <a:spLocks noChangeArrowheads="1"/>
          </p:cNvSpPr>
          <p:nvPr/>
        </p:nvSpPr>
        <p:spPr bwMode="auto">
          <a:xfrm>
            <a:off x="1261740" y="4691920"/>
            <a:ext cx="1676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en-US" altLang="zh-CN" sz="2000" dirty="0">
                <a:latin typeface="宋体" panose="02010600030101010101" pitchFamily="2" charset="-122"/>
                <a:cs typeface="Times New Roman" pitchFamily="18" charset="0"/>
              </a:rPr>
              <a:t>{1,2,3,6,Y}</a:t>
            </a:r>
            <a:r>
              <a:rPr lang="en-US" altLang="zh-CN" sz="2000" dirty="0">
                <a:latin typeface="宋体" panose="02010600030101010101" pitchFamily="2" charset="-122"/>
              </a:rPr>
              <a:t> </a:t>
            </a:r>
          </a:p>
        </p:txBody>
      </p:sp>
      <p:grpSp>
        <p:nvGrpSpPr>
          <p:cNvPr id="78858" name="Group 529"/>
          <p:cNvGrpSpPr>
            <a:grpSpLocks/>
          </p:cNvGrpSpPr>
          <p:nvPr/>
        </p:nvGrpSpPr>
        <p:grpSpPr bwMode="auto">
          <a:xfrm>
            <a:off x="3633788" y="4714875"/>
            <a:ext cx="4648200" cy="342900"/>
            <a:chOff x="-3" y="-3"/>
            <a:chExt cx="3346" cy="487"/>
          </a:xfrm>
        </p:grpSpPr>
        <p:grpSp>
          <p:nvGrpSpPr>
            <p:cNvPr id="69712" name="Group 527"/>
            <p:cNvGrpSpPr>
              <a:grpSpLocks/>
            </p:cNvGrpSpPr>
            <p:nvPr/>
          </p:nvGrpSpPr>
          <p:grpSpPr bwMode="auto">
            <a:xfrm>
              <a:off x="0" y="0"/>
              <a:ext cx="3340" cy="481"/>
              <a:chOff x="0" y="0"/>
              <a:chExt cx="3340" cy="481"/>
            </a:xfrm>
          </p:grpSpPr>
          <p:grpSp>
            <p:nvGrpSpPr>
              <p:cNvPr id="69714" name="Group 522"/>
              <p:cNvGrpSpPr>
                <a:grpSpLocks/>
              </p:cNvGrpSpPr>
              <p:nvPr/>
            </p:nvGrpSpPr>
            <p:grpSpPr bwMode="auto">
              <a:xfrm>
                <a:off x="0" y="0"/>
                <a:ext cx="1670" cy="481"/>
                <a:chOff x="0" y="0"/>
                <a:chExt cx="1670" cy="481"/>
              </a:xfrm>
            </p:grpSpPr>
            <p:sp>
              <p:nvSpPr>
                <p:cNvPr id="69720" name="Rectangle 521"/>
                <p:cNvSpPr>
                  <a:spLocks noChangeArrowheads="1"/>
                </p:cNvSpPr>
                <p:nvPr/>
              </p:nvSpPr>
              <p:spPr bwMode="auto">
                <a:xfrm>
                  <a:off x="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21" name="Group 520"/>
                <p:cNvGrpSpPr>
                  <a:grpSpLocks/>
                </p:cNvGrpSpPr>
                <p:nvPr/>
              </p:nvGrpSpPr>
              <p:grpSpPr bwMode="auto">
                <a:xfrm>
                  <a:off x="0" y="0"/>
                  <a:ext cx="1670" cy="481"/>
                  <a:chOff x="0" y="0"/>
                  <a:chExt cx="1670" cy="481"/>
                </a:xfrm>
              </p:grpSpPr>
              <p:sp>
                <p:nvSpPr>
                  <p:cNvPr id="69722" name="Rectangle 517"/>
                  <p:cNvSpPr>
                    <a:spLocks noChangeArrowheads="1"/>
                  </p:cNvSpPr>
                  <p:nvPr/>
                </p:nvSpPr>
                <p:spPr bwMode="auto">
                  <a:xfrm>
                    <a:off x="4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{1,2,3,5,6,Y}</a:t>
                    </a:r>
                    <a:endParaRPr lang="en-US" altLang="zh-CN" sz="2000" dirty="0">
                      <a:latin typeface="宋体" panose="02010600030101010101" pitchFamily="2" charset="-122"/>
                    </a:endParaRPr>
                  </a:p>
                </p:txBody>
              </p:sp>
              <p:sp>
                <p:nvSpPr>
                  <p:cNvPr id="69723" name="Rectangle 519"/>
                  <p:cNvSpPr>
                    <a:spLocks noChangeArrowheads="1"/>
                  </p:cNvSpPr>
                  <p:nvPr/>
                </p:nvSpPr>
                <p:spPr bwMode="auto">
                  <a:xfrm>
                    <a:off x="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nvGrpSpPr>
              <p:cNvPr id="69715" name="Group 526"/>
              <p:cNvGrpSpPr>
                <a:grpSpLocks/>
              </p:cNvGrpSpPr>
              <p:nvPr/>
            </p:nvGrpSpPr>
            <p:grpSpPr bwMode="auto">
              <a:xfrm>
                <a:off x="1670" y="0"/>
                <a:ext cx="1670" cy="481"/>
                <a:chOff x="1670" y="0"/>
                <a:chExt cx="1670" cy="481"/>
              </a:xfrm>
            </p:grpSpPr>
            <p:sp>
              <p:nvSpPr>
                <p:cNvPr id="69716" name="Rectangle 525"/>
                <p:cNvSpPr>
                  <a:spLocks noChangeArrowheads="1"/>
                </p:cNvSpPr>
                <p:nvPr/>
              </p:nvSpPr>
              <p:spPr bwMode="auto">
                <a:xfrm>
                  <a:off x="1670" y="0"/>
                  <a:ext cx="1670"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nvGrpSpPr>
                <p:cNvPr id="69717" name="Group 524"/>
                <p:cNvGrpSpPr>
                  <a:grpSpLocks/>
                </p:cNvGrpSpPr>
                <p:nvPr/>
              </p:nvGrpSpPr>
              <p:grpSpPr bwMode="auto">
                <a:xfrm>
                  <a:off x="1670" y="0"/>
                  <a:ext cx="1670" cy="481"/>
                  <a:chOff x="1670" y="0"/>
                  <a:chExt cx="1670" cy="481"/>
                </a:xfrm>
              </p:grpSpPr>
              <p:sp>
                <p:nvSpPr>
                  <p:cNvPr id="69718" name="Rectangle 518"/>
                  <p:cNvSpPr>
                    <a:spLocks noChangeArrowheads="1"/>
                  </p:cNvSpPr>
                  <p:nvPr/>
                </p:nvSpPr>
                <p:spPr bwMode="auto">
                  <a:xfrm>
                    <a:off x="1713" y="0"/>
                    <a:ext cx="1584" cy="481"/>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eaLnBrk="1" hangingPunct="1">
                      <a:spcBef>
                        <a:spcPct val="0"/>
                      </a:spcBef>
                      <a:buFontTx/>
                      <a:buNone/>
                    </a:pPr>
                    <a:r>
                      <a:rPr lang="en-US" altLang="zh-CN" sz="2000" dirty="0">
                        <a:latin typeface="宋体" panose="02010600030101010101" pitchFamily="2" charset="-122"/>
                        <a:cs typeface="Times New Roman" pitchFamily="18" charset="0"/>
                      </a:rPr>
                      <a:t>{1,2,4,6,Y}</a:t>
                    </a:r>
                  </a:p>
                  <a:p>
                    <a:pPr algn="just">
                      <a:spcBef>
                        <a:spcPct val="0"/>
                      </a:spcBef>
                      <a:buFontTx/>
                      <a:buNone/>
                    </a:pPr>
                    <a:endParaRPr lang="en-US" altLang="zh-CN" sz="2000" dirty="0">
                      <a:latin typeface="宋体" panose="02010600030101010101" pitchFamily="2" charset="-122"/>
                    </a:endParaRPr>
                  </a:p>
                </p:txBody>
              </p:sp>
              <p:sp>
                <p:nvSpPr>
                  <p:cNvPr id="69719" name="Rectangle 523"/>
                  <p:cNvSpPr>
                    <a:spLocks noChangeArrowheads="1"/>
                  </p:cNvSpPr>
                  <p:nvPr/>
                </p:nvSpPr>
                <p:spPr bwMode="auto">
                  <a:xfrm>
                    <a:off x="1670" y="0"/>
                    <a:ext cx="1670" cy="4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grpSp>
        <p:sp>
          <p:nvSpPr>
            <p:cNvPr id="69713" name="Rectangle 528"/>
            <p:cNvSpPr>
              <a:spLocks noChangeArrowheads="1"/>
            </p:cNvSpPr>
            <p:nvPr/>
          </p:nvSpPr>
          <p:spPr bwMode="auto">
            <a:xfrm>
              <a:off x="-3" y="-3"/>
              <a:ext cx="3346" cy="48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000">
                <a:latin typeface="宋体" panose="02010600030101010101" pitchFamily="2" charset="-122"/>
              </a:endParaRPr>
            </a:p>
          </p:txBody>
        </p:sp>
      </p:grpSp>
      <p:grpSp>
        <p:nvGrpSpPr>
          <p:cNvPr id="78864" name="Group 553"/>
          <p:cNvGrpSpPr>
            <a:grpSpLocks/>
          </p:cNvGrpSpPr>
          <p:nvPr/>
        </p:nvGrpSpPr>
        <p:grpSpPr bwMode="auto">
          <a:xfrm>
            <a:off x="1187625" y="2712512"/>
            <a:ext cx="2510066" cy="2343150"/>
            <a:chOff x="-3" y="-3"/>
            <a:chExt cx="1662" cy="3199"/>
          </a:xfrm>
        </p:grpSpPr>
        <p:grpSp>
          <p:nvGrpSpPr>
            <p:cNvPr id="69689" name="Group 551"/>
            <p:cNvGrpSpPr>
              <a:grpSpLocks/>
            </p:cNvGrpSpPr>
            <p:nvPr/>
          </p:nvGrpSpPr>
          <p:grpSpPr bwMode="auto">
            <a:xfrm>
              <a:off x="0" y="0"/>
              <a:ext cx="1656" cy="3193"/>
              <a:chOff x="0" y="0"/>
              <a:chExt cx="1656" cy="3193"/>
            </a:xfrm>
          </p:grpSpPr>
          <p:grpSp>
            <p:nvGrpSpPr>
              <p:cNvPr id="69691" name="Group 538"/>
              <p:cNvGrpSpPr>
                <a:grpSpLocks/>
              </p:cNvGrpSpPr>
              <p:nvPr/>
            </p:nvGrpSpPr>
            <p:grpSpPr bwMode="auto">
              <a:xfrm>
                <a:off x="0" y="0"/>
                <a:ext cx="1656" cy="452"/>
                <a:chOff x="0" y="0"/>
                <a:chExt cx="1656" cy="452"/>
              </a:xfrm>
            </p:grpSpPr>
            <p:sp>
              <p:nvSpPr>
                <p:cNvPr id="69710" name="Rectangle 530"/>
                <p:cNvSpPr>
                  <a:spLocks noChangeArrowheads="1"/>
                </p:cNvSpPr>
                <p:nvPr/>
              </p:nvSpPr>
              <p:spPr bwMode="auto">
                <a:xfrm>
                  <a:off x="43" y="0"/>
                  <a:ext cx="1570" cy="4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b="1">
                      <a:solidFill>
                        <a:srgbClr val="FF0000"/>
                      </a:solidFill>
                      <a:latin typeface="宋体" panose="02010600030101010101" pitchFamily="2" charset="-122"/>
                      <a:cs typeface="Times New Roman" pitchFamily="18" charset="0"/>
                    </a:rPr>
                    <a:t>S</a:t>
                  </a:r>
                  <a:endParaRPr lang="en-US" altLang="zh-CN" sz="2200">
                    <a:latin typeface="宋体" panose="02010600030101010101" pitchFamily="2" charset="-122"/>
                  </a:endParaRPr>
                </a:p>
              </p:txBody>
            </p:sp>
            <p:sp>
              <p:nvSpPr>
                <p:cNvPr id="69711" name="Rectangle 537"/>
                <p:cNvSpPr>
                  <a:spLocks noChangeArrowheads="1"/>
                </p:cNvSpPr>
                <p:nvPr/>
              </p:nvSpPr>
              <p:spPr bwMode="auto">
                <a:xfrm>
                  <a:off x="0" y="0"/>
                  <a:ext cx="1656" cy="452"/>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92" name="Group 540"/>
              <p:cNvGrpSpPr>
                <a:grpSpLocks/>
              </p:cNvGrpSpPr>
              <p:nvPr/>
            </p:nvGrpSpPr>
            <p:grpSpPr bwMode="auto">
              <a:xfrm>
                <a:off x="0" y="452"/>
                <a:ext cx="1656" cy="481"/>
                <a:chOff x="0" y="452"/>
                <a:chExt cx="1656" cy="481"/>
              </a:xfrm>
            </p:grpSpPr>
            <p:sp>
              <p:nvSpPr>
                <p:cNvPr id="69708" name="Rectangle 531"/>
                <p:cNvSpPr>
                  <a:spLocks noChangeArrowheads="1"/>
                </p:cNvSpPr>
                <p:nvPr/>
              </p:nvSpPr>
              <p:spPr bwMode="auto">
                <a:xfrm>
                  <a:off x="43" y="452"/>
                  <a:ext cx="1570" cy="4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dirty="0">
                      <a:solidFill>
                        <a:srgbClr val="FF0000"/>
                      </a:solidFill>
                      <a:latin typeface="宋体" panose="02010600030101010101" pitchFamily="2" charset="-122"/>
                      <a:cs typeface="Times New Roman" pitchFamily="18" charset="0"/>
                    </a:rPr>
                    <a:t>A</a:t>
                  </a:r>
                  <a:endParaRPr lang="en-US" altLang="zh-CN" sz="2200" dirty="0">
                    <a:latin typeface="宋体" panose="02010600030101010101" pitchFamily="2" charset="-122"/>
                  </a:endParaRPr>
                </a:p>
              </p:txBody>
            </p:sp>
            <p:sp>
              <p:nvSpPr>
                <p:cNvPr id="69709" name="Rectangle 539"/>
                <p:cNvSpPr>
                  <a:spLocks noChangeArrowheads="1"/>
                </p:cNvSpPr>
                <p:nvPr/>
              </p:nvSpPr>
              <p:spPr bwMode="auto">
                <a:xfrm>
                  <a:off x="0" y="452"/>
                  <a:ext cx="1656" cy="481"/>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93" name="Group 542"/>
              <p:cNvGrpSpPr>
                <a:grpSpLocks/>
              </p:cNvGrpSpPr>
              <p:nvPr/>
            </p:nvGrpSpPr>
            <p:grpSpPr bwMode="auto">
              <a:xfrm>
                <a:off x="0" y="933"/>
                <a:ext cx="1656" cy="452"/>
                <a:chOff x="0" y="933"/>
                <a:chExt cx="1656" cy="452"/>
              </a:xfrm>
            </p:grpSpPr>
            <p:sp>
              <p:nvSpPr>
                <p:cNvPr id="69706" name="Rectangle 532"/>
                <p:cNvSpPr>
                  <a:spLocks noChangeArrowheads="1"/>
                </p:cNvSpPr>
                <p:nvPr/>
              </p:nvSpPr>
              <p:spPr bwMode="auto">
                <a:xfrm>
                  <a:off x="43" y="933"/>
                  <a:ext cx="1570" cy="4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b="1" dirty="0">
                      <a:solidFill>
                        <a:srgbClr val="FF0000"/>
                      </a:solidFill>
                      <a:latin typeface="宋体" panose="02010600030101010101" pitchFamily="2" charset="-122"/>
                      <a:cs typeface="Times New Roman" pitchFamily="18" charset="0"/>
                    </a:rPr>
                    <a:t>B</a:t>
                  </a:r>
                  <a:endParaRPr lang="en-US" altLang="zh-CN" sz="2200" dirty="0">
                    <a:latin typeface="宋体" panose="02010600030101010101" pitchFamily="2" charset="-122"/>
                  </a:endParaRPr>
                </a:p>
              </p:txBody>
            </p:sp>
            <p:sp>
              <p:nvSpPr>
                <p:cNvPr id="69707" name="Rectangle 541"/>
                <p:cNvSpPr>
                  <a:spLocks noChangeArrowheads="1"/>
                </p:cNvSpPr>
                <p:nvPr/>
              </p:nvSpPr>
              <p:spPr bwMode="auto">
                <a:xfrm>
                  <a:off x="0" y="933"/>
                  <a:ext cx="1656" cy="452"/>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94" name="Group 544"/>
              <p:cNvGrpSpPr>
                <a:grpSpLocks/>
              </p:cNvGrpSpPr>
              <p:nvPr/>
            </p:nvGrpSpPr>
            <p:grpSpPr bwMode="auto">
              <a:xfrm>
                <a:off x="0" y="1385"/>
                <a:ext cx="1656" cy="452"/>
                <a:chOff x="0" y="1385"/>
                <a:chExt cx="1656" cy="452"/>
              </a:xfrm>
            </p:grpSpPr>
            <p:sp>
              <p:nvSpPr>
                <p:cNvPr id="69704" name="Rectangle 533"/>
                <p:cNvSpPr>
                  <a:spLocks noChangeArrowheads="1"/>
                </p:cNvSpPr>
                <p:nvPr/>
              </p:nvSpPr>
              <p:spPr bwMode="auto">
                <a:xfrm>
                  <a:off x="43" y="1385"/>
                  <a:ext cx="1570" cy="4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b="1">
                      <a:solidFill>
                        <a:srgbClr val="FF0000"/>
                      </a:solidFill>
                      <a:latin typeface="宋体" panose="02010600030101010101" pitchFamily="2" charset="-122"/>
                      <a:cs typeface="Times New Roman" pitchFamily="18" charset="0"/>
                    </a:rPr>
                    <a:t>C</a:t>
                  </a:r>
                  <a:endParaRPr lang="en-US" altLang="zh-CN" sz="2200">
                    <a:latin typeface="宋体" panose="02010600030101010101" pitchFamily="2" charset="-122"/>
                  </a:endParaRPr>
                </a:p>
              </p:txBody>
            </p:sp>
            <p:sp>
              <p:nvSpPr>
                <p:cNvPr id="69705" name="Rectangle 543"/>
                <p:cNvSpPr>
                  <a:spLocks noChangeArrowheads="1"/>
                </p:cNvSpPr>
                <p:nvPr/>
              </p:nvSpPr>
              <p:spPr bwMode="auto">
                <a:xfrm>
                  <a:off x="0" y="1385"/>
                  <a:ext cx="1656" cy="452"/>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95" name="Group 546"/>
              <p:cNvGrpSpPr>
                <a:grpSpLocks/>
              </p:cNvGrpSpPr>
              <p:nvPr/>
            </p:nvGrpSpPr>
            <p:grpSpPr bwMode="auto">
              <a:xfrm>
                <a:off x="0" y="1837"/>
                <a:ext cx="1656" cy="452"/>
                <a:chOff x="0" y="1837"/>
                <a:chExt cx="1656" cy="452"/>
              </a:xfrm>
            </p:grpSpPr>
            <p:sp>
              <p:nvSpPr>
                <p:cNvPr id="69702" name="Rectangle 534"/>
                <p:cNvSpPr>
                  <a:spLocks noChangeArrowheads="1"/>
                </p:cNvSpPr>
                <p:nvPr/>
              </p:nvSpPr>
              <p:spPr bwMode="auto">
                <a:xfrm>
                  <a:off x="43" y="1837"/>
                  <a:ext cx="1570" cy="4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b="1">
                      <a:solidFill>
                        <a:srgbClr val="FF0000"/>
                      </a:solidFill>
                      <a:latin typeface="宋体" panose="02010600030101010101" pitchFamily="2" charset="-122"/>
                      <a:cs typeface="Times New Roman" pitchFamily="18" charset="0"/>
                    </a:rPr>
                    <a:t>D</a:t>
                  </a:r>
                  <a:endParaRPr lang="en-US" altLang="zh-CN" sz="2200">
                    <a:latin typeface="宋体" panose="02010600030101010101" pitchFamily="2" charset="-122"/>
                  </a:endParaRPr>
                </a:p>
              </p:txBody>
            </p:sp>
            <p:sp>
              <p:nvSpPr>
                <p:cNvPr id="69703" name="Rectangle 545"/>
                <p:cNvSpPr>
                  <a:spLocks noChangeArrowheads="1"/>
                </p:cNvSpPr>
                <p:nvPr/>
              </p:nvSpPr>
              <p:spPr bwMode="auto">
                <a:xfrm>
                  <a:off x="0" y="1837"/>
                  <a:ext cx="1656" cy="452"/>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96" name="Group 548"/>
              <p:cNvGrpSpPr>
                <a:grpSpLocks/>
              </p:cNvGrpSpPr>
              <p:nvPr/>
            </p:nvGrpSpPr>
            <p:grpSpPr bwMode="auto">
              <a:xfrm>
                <a:off x="0" y="2289"/>
                <a:ext cx="1656" cy="452"/>
                <a:chOff x="0" y="2289"/>
                <a:chExt cx="1656" cy="452"/>
              </a:xfrm>
            </p:grpSpPr>
            <p:sp>
              <p:nvSpPr>
                <p:cNvPr id="69700" name="Rectangle 535"/>
                <p:cNvSpPr>
                  <a:spLocks noChangeArrowheads="1"/>
                </p:cNvSpPr>
                <p:nvPr/>
              </p:nvSpPr>
              <p:spPr bwMode="auto">
                <a:xfrm>
                  <a:off x="43" y="2289"/>
                  <a:ext cx="1570" cy="4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b="1">
                      <a:solidFill>
                        <a:srgbClr val="FF0000"/>
                      </a:solidFill>
                      <a:latin typeface="宋体" panose="02010600030101010101" pitchFamily="2" charset="-122"/>
                      <a:cs typeface="Times New Roman" pitchFamily="18" charset="0"/>
                    </a:rPr>
                    <a:t>E</a:t>
                  </a:r>
                  <a:endParaRPr lang="en-US" altLang="zh-CN" sz="2200">
                    <a:latin typeface="宋体" panose="02010600030101010101" pitchFamily="2" charset="-122"/>
                  </a:endParaRPr>
                </a:p>
              </p:txBody>
            </p:sp>
            <p:sp>
              <p:nvSpPr>
                <p:cNvPr id="69701" name="Rectangle 547"/>
                <p:cNvSpPr>
                  <a:spLocks noChangeArrowheads="1"/>
                </p:cNvSpPr>
                <p:nvPr/>
              </p:nvSpPr>
              <p:spPr bwMode="auto">
                <a:xfrm>
                  <a:off x="0" y="2289"/>
                  <a:ext cx="1656" cy="452"/>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69697" name="Group 550"/>
              <p:cNvGrpSpPr>
                <a:grpSpLocks/>
              </p:cNvGrpSpPr>
              <p:nvPr/>
            </p:nvGrpSpPr>
            <p:grpSpPr bwMode="auto">
              <a:xfrm>
                <a:off x="0" y="2741"/>
                <a:ext cx="1656" cy="452"/>
                <a:chOff x="0" y="2741"/>
                <a:chExt cx="1656" cy="452"/>
              </a:xfrm>
            </p:grpSpPr>
            <p:sp>
              <p:nvSpPr>
                <p:cNvPr id="69698" name="Rectangle 536"/>
                <p:cNvSpPr>
                  <a:spLocks noChangeArrowheads="1"/>
                </p:cNvSpPr>
                <p:nvPr/>
              </p:nvSpPr>
              <p:spPr bwMode="auto">
                <a:xfrm>
                  <a:off x="43" y="2741"/>
                  <a:ext cx="1570" cy="4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bIns="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r" eaLnBrk="1" hangingPunct="1">
                    <a:spcBef>
                      <a:spcPct val="0"/>
                    </a:spcBef>
                    <a:buFontTx/>
                    <a:buNone/>
                  </a:pPr>
                  <a:r>
                    <a:rPr lang="en-US" altLang="zh-CN" sz="2200" b="1">
                      <a:solidFill>
                        <a:srgbClr val="FF0000"/>
                      </a:solidFill>
                      <a:latin typeface="宋体" panose="02010600030101010101" pitchFamily="2" charset="-122"/>
                      <a:cs typeface="Times New Roman" pitchFamily="18" charset="0"/>
                    </a:rPr>
                    <a:t>F</a:t>
                  </a:r>
                  <a:endParaRPr lang="en-US" altLang="zh-CN" sz="2200">
                    <a:latin typeface="宋体" panose="02010600030101010101" pitchFamily="2" charset="-122"/>
                  </a:endParaRPr>
                </a:p>
              </p:txBody>
            </p:sp>
            <p:sp>
              <p:nvSpPr>
                <p:cNvPr id="69699" name="Rectangle 549"/>
                <p:cNvSpPr>
                  <a:spLocks noChangeArrowheads="1"/>
                </p:cNvSpPr>
                <p:nvPr/>
              </p:nvSpPr>
              <p:spPr bwMode="auto">
                <a:xfrm>
                  <a:off x="0" y="2741"/>
                  <a:ext cx="1656" cy="452"/>
                </a:xfrm>
                <a:prstGeom prst="rect">
                  <a:avLst/>
                </a:prstGeom>
                <a:noFill/>
                <a:ln w="7">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sp>
          <p:nvSpPr>
            <p:cNvPr id="69690" name="Rectangle 552"/>
            <p:cNvSpPr>
              <a:spLocks noChangeArrowheads="1"/>
            </p:cNvSpPr>
            <p:nvPr/>
          </p:nvSpPr>
          <p:spPr bwMode="auto">
            <a:xfrm>
              <a:off x="-3" y="-3"/>
              <a:ext cx="1662" cy="31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latin typeface="宋体" panose="02010600030101010101" pitchFamily="2" charset="-122"/>
              </a:endParaRPr>
            </a:p>
          </p:txBody>
        </p:sp>
      </p:grpSp>
      <p:grpSp>
        <p:nvGrpSpPr>
          <p:cNvPr id="78873" name="Group 628"/>
          <p:cNvGrpSpPr>
            <a:grpSpLocks/>
          </p:cNvGrpSpPr>
          <p:nvPr/>
        </p:nvGrpSpPr>
        <p:grpSpPr bwMode="auto">
          <a:xfrm>
            <a:off x="5653087" y="2743201"/>
            <a:ext cx="2994024" cy="2484768"/>
            <a:chOff x="3432" y="2040"/>
            <a:chExt cx="1886" cy="2604"/>
          </a:xfrm>
        </p:grpSpPr>
        <p:sp>
          <p:nvSpPr>
            <p:cNvPr id="69687" name="Text Box 626"/>
            <p:cNvSpPr txBox="1">
              <a:spLocks noChangeArrowheads="1"/>
            </p:cNvSpPr>
            <p:nvPr/>
          </p:nvSpPr>
          <p:spPr bwMode="auto">
            <a:xfrm>
              <a:off x="3432" y="2040"/>
              <a:ext cx="206" cy="2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ts val="0"/>
                </a:spcBef>
                <a:buFontTx/>
                <a:buNone/>
              </a:pPr>
              <a:r>
                <a:rPr lang="en-US" altLang="zh-CN" sz="2200" b="1">
                  <a:solidFill>
                    <a:srgbClr val="FF6600"/>
                  </a:solidFill>
                  <a:latin typeface="宋体" panose="02010600030101010101" pitchFamily="2" charset="-122"/>
                </a:rPr>
                <a:t>A</a:t>
              </a:r>
            </a:p>
            <a:p>
              <a:pPr algn="ctr" eaLnBrk="1" hangingPunct="1">
                <a:spcBef>
                  <a:spcPts val="0"/>
                </a:spcBef>
                <a:buFontTx/>
                <a:buNone/>
              </a:pPr>
              <a:r>
                <a:rPr lang="en-US" altLang="zh-CN" sz="2200" b="1">
                  <a:solidFill>
                    <a:srgbClr val="FF6600"/>
                  </a:solidFill>
                  <a:latin typeface="宋体" panose="02010600030101010101" pitchFamily="2" charset="-122"/>
                </a:rPr>
                <a:t>C</a:t>
              </a:r>
            </a:p>
            <a:p>
              <a:pPr algn="ctr" eaLnBrk="1" hangingPunct="1">
                <a:spcBef>
                  <a:spcPts val="0"/>
                </a:spcBef>
                <a:buFontTx/>
                <a:buNone/>
              </a:pPr>
              <a:r>
                <a:rPr lang="en-US" altLang="zh-CN" sz="2200" b="1">
                  <a:solidFill>
                    <a:srgbClr val="FF6600"/>
                  </a:solidFill>
                  <a:latin typeface="宋体" panose="02010600030101010101" pitchFamily="2" charset="-122"/>
                </a:rPr>
                <a:t>A</a:t>
              </a:r>
            </a:p>
            <a:p>
              <a:pPr algn="ctr" eaLnBrk="1" hangingPunct="1">
                <a:spcBef>
                  <a:spcPts val="0"/>
                </a:spcBef>
                <a:buFontTx/>
                <a:buNone/>
              </a:pPr>
              <a:r>
                <a:rPr lang="en-US" altLang="zh-CN" sz="2200" b="1">
                  <a:solidFill>
                    <a:srgbClr val="FF6600"/>
                  </a:solidFill>
                  <a:latin typeface="宋体" panose="02010600030101010101" pitchFamily="2" charset="-122"/>
                </a:rPr>
                <a:t>C</a:t>
              </a:r>
            </a:p>
            <a:p>
              <a:pPr algn="ctr" eaLnBrk="1" hangingPunct="1">
                <a:spcBef>
                  <a:spcPts val="0"/>
                </a:spcBef>
                <a:buFontTx/>
                <a:buNone/>
              </a:pPr>
              <a:r>
                <a:rPr lang="en-US" altLang="zh-CN" sz="2200" b="1">
                  <a:solidFill>
                    <a:srgbClr val="FF6600"/>
                  </a:solidFill>
                  <a:latin typeface="宋体" panose="02010600030101010101" pitchFamily="2" charset="-122"/>
                </a:rPr>
                <a:t>F</a:t>
              </a:r>
            </a:p>
            <a:p>
              <a:pPr algn="ctr" eaLnBrk="1" hangingPunct="1">
                <a:spcBef>
                  <a:spcPts val="0"/>
                </a:spcBef>
                <a:buFontTx/>
                <a:buNone/>
              </a:pPr>
              <a:r>
                <a:rPr lang="en-US" altLang="zh-CN" sz="2200" b="1">
                  <a:solidFill>
                    <a:srgbClr val="FF6600"/>
                  </a:solidFill>
                  <a:latin typeface="宋体" panose="02010600030101010101" pitchFamily="2" charset="-122"/>
                </a:rPr>
                <a:t>F</a:t>
              </a:r>
            </a:p>
            <a:p>
              <a:pPr algn="ctr" eaLnBrk="1" hangingPunct="1">
                <a:spcBef>
                  <a:spcPts val="0"/>
                </a:spcBef>
                <a:buFontTx/>
                <a:buNone/>
              </a:pPr>
              <a:r>
                <a:rPr lang="en-US" altLang="zh-CN" sz="2200" b="1">
                  <a:solidFill>
                    <a:srgbClr val="FF6600"/>
                  </a:solidFill>
                  <a:latin typeface="宋体" panose="02010600030101010101" pitchFamily="2" charset="-122"/>
                </a:rPr>
                <a:t>C</a:t>
              </a:r>
            </a:p>
          </p:txBody>
        </p:sp>
        <p:sp>
          <p:nvSpPr>
            <p:cNvPr id="69688" name="Text Box 627"/>
            <p:cNvSpPr txBox="1">
              <a:spLocks noChangeArrowheads="1"/>
            </p:cNvSpPr>
            <p:nvPr/>
          </p:nvSpPr>
          <p:spPr bwMode="auto">
            <a:xfrm>
              <a:off x="5112" y="2064"/>
              <a:ext cx="206" cy="2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ts val="0"/>
                </a:spcBef>
                <a:buFontTx/>
                <a:buNone/>
              </a:pPr>
              <a:r>
                <a:rPr lang="en-US" altLang="zh-CN" sz="2200" b="1">
                  <a:solidFill>
                    <a:srgbClr val="FF6600"/>
                  </a:solidFill>
                  <a:latin typeface="宋体" panose="02010600030101010101" pitchFamily="2" charset="-122"/>
                </a:rPr>
                <a:t>B</a:t>
              </a:r>
            </a:p>
            <a:p>
              <a:pPr algn="ctr" eaLnBrk="1" hangingPunct="1">
                <a:spcBef>
                  <a:spcPts val="0"/>
                </a:spcBef>
                <a:buFontTx/>
                <a:buNone/>
              </a:pPr>
              <a:r>
                <a:rPr lang="en-US" altLang="zh-CN" sz="2200" b="1">
                  <a:solidFill>
                    <a:srgbClr val="FF6600"/>
                  </a:solidFill>
                  <a:latin typeface="宋体" panose="02010600030101010101" pitchFamily="2" charset="-122"/>
                </a:rPr>
                <a:t>B</a:t>
              </a:r>
            </a:p>
            <a:p>
              <a:pPr algn="ctr" eaLnBrk="1" hangingPunct="1">
                <a:spcBef>
                  <a:spcPts val="0"/>
                </a:spcBef>
                <a:buFontTx/>
                <a:buNone/>
              </a:pPr>
              <a:r>
                <a:rPr lang="en-US" altLang="zh-CN" sz="2200" b="1">
                  <a:solidFill>
                    <a:srgbClr val="FF6600"/>
                  </a:solidFill>
                  <a:latin typeface="宋体" panose="02010600030101010101" pitchFamily="2" charset="-122"/>
                </a:rPr>
                <a:t>D</a:t>
              </a:r>
            </a:p>
            <a:p>
              <a:pPr algn="ctr" eaLnBrk="1" hangingPunct="1">
                <a:spcBef>
                  <a:spcPts val="0"/>
                </a:spcBef>
                <a:buFontTx/>
                <a:buNone/>
              </a:pPr>
              <a:r>
                <a:rPr lang="en-US" altLang="zh-CN" sz="2200" b="1">
                  <a:solidFill>
                    <a:srgbClr val="FF6600"/>
                  </a:solidFill>
                  <a:latin typeface="宋体" panose="02010600030101010101" pitchFamily="2" charset="-122"/>
                </a:rPr>
                <a:t>E</a:t>
              </a:r>
            </a:p>
            <a:p>
              <a:pPr algn="ctr" eaLnBrk="1" hangingPunct="1">
                <a:spcBef>
                  <a:spcPts val="0"/>
                </a:spcBef>
                <a:buFontTx/>
                <a:buNone/>
              </a:pPr>
              <a:r>
                <a:rPr lang="en-US" altLang="zh-CN" sz="2200" b="1">
                  <a:solidFill>
                    <a:srgbClr val="FF6600"/>
                  </a:solidFill>
                  <a:latin typeface="宋体" panose="02010600030101010101" pitchFamily="2" charset="-122"/>
                </a:rPr>
                <a:t>D</a:t>
              </a:r>
            </a:p>
            <a:p>
              <a:pPr algn="ctr" eaLnBrk="1" hangingPunct="1">
                <a:spcBef>
                  <a:spcPts val="0"/>
                </a:spcBef>
                <a:buFontTx/>
                <a:buNone/>
              </a:pPr>
              <a:r>
                <a:rPr lang="en-US" altLang="zh-CN" sz="2200" b="1">
                  <a:solidFill>
                    <a:srgbClr val="FF6600"/>
                  </a:solidFill>
                  <a:latin typeface="宋体" panose="02010600030101010101" pitchFamily="2" charset="-122"/>
                </a:rPr>
                <a:t>D</a:t>
              </a:r>
            </a:p>
            <a:p>
              <a:pPr algn="ctr" eaLnBrk="1" hangingPunct="1">
                <a:spcBef>
                  <a:spcPts val="0"/>
                </a:spcBef>
                <a:buFontTx/>
                <a:buNone/>
              </a:pPr>
              <a:r>
                <a:rPr lang="en-US" altLang="zh-CN" sz="2200" b="1">
                  <a:solidFill>
                    <a:srgbClr val="FF6600"/>
                  </a:solidFill>
                  <a:latin typeface="宋体" panose="02010600030101010101" pitchFamily="2" charset="-122"/>
                </a:rPr>
                <a:t>E</a:t>
              </a:r>
            </a:p>
          </p:txBody>
        </p:sp>
      </p:grpSp>
      <p:graphicFrame>
        <p:nvGraphicFramePr>
          <p:cNvPr id="37529" name="Group 665"/>
          <p:cNvGraphicFramePr>
            <a:graphicFrameLocks noGrp="1"/>
          </p:cNvGraphicFramePr>
          <p:nvPr>
            <p:extLst>
              <p:ext uri="{D42A27DB-BD31-4B8C-83A1-F6EECF244321}">
                <p14:modId xmlns:p14="http://schemas.microsoft.com/office/powerpoint/2010/main" val="1591429147"/>
              </p:ext>
            </p:extLst>
          </p:nvPr>
        </p:nvGraphicFramePr>
        <p:xfrm>
          <a:off x="1271588" y="2314575"/>
          <a:ext cx="7010400" cy="388294"/>
        </p:xfrm>
        <a:graphic>
          <a:graphicData uri="http://schemas.openxmlformats.org/drawingml/2006/table">
            <a:tbl>
              <a:tblPr/>
              <a:tblGrid>
                <a:gridCol w="2386012">
                  <a:extLst>
                    <a:ext uri="{9D8B030D-6E8A-4147-A177-3AD203B41FA5}">
                      <a16:colId xmlns:a16="http://schemas.microsoft.com/office/drawing/2014/main" val="20000"/>
                    </a:ext>
                  </a:extLst>
                </a:gridCol>
                <a:gridCol w="2287588">
                  <a:extLst>
                    <a:ext uri="{9D8B030D-6E8A-4147-A177-3AD203B41FA5}">
                      <a16:colId xmlns:a16="http://schemas.microsoft.com/office/drawing/2014/main" val="20001"/>
                    </a:ext>
                  </a:extLst>
                </a:gridCol>
                <a:gridCol w="2336800">
                  <a:extLst>
                    <a:ext uri="{9D8B030D-6E8A-4147-A177-3AD203B41FA5}">
                      <a16:colId xmlns:a16="http://schemas.microsoft.com/office/drawing/2014/main" val="20002"/>
                    </a:ext>
                  </a:extLst>
                </a:gridCol>
              </a:tblGrid>
              <a:tr h="388293">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a:t>
                      </a:r>
                    </a:p>
                  </a:txBody>
                  <a:tcPr marT="34127" marB="34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rPr>
                        <a:t>I</a:t>
                      </a:r>
                      <a:r>
                        <a:rPr kumimoji="0" lang="en-US" altLang="zh-CN" sz="2100" b="0" i="0" u="none" strike="noStrike" cap="none" normalizeH="0" baseline="-25000">
                          <a:ln>
                            <a:noFill/>
                          </a:ln>
                          <a:solidFill>
                            <a:schemeClr val="tx1"/>
                          </a:solidFill>
                          <a:effectLst/>
                          <a:latin typeface="Arial" panose="020B0604020202020204" pitchFamily="34" charset="0"/>
                          <a:ea typeface="宋体" panose="02010600030101010101" pitchFamily="2" charset="-122"/>
                        </a:rPr>
                        <a:t>a</a:t>
                      </a:r>
                    </a:p>
                  </a:txBody>
                  <a:tcPr marT="34127" marB="34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1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100" b="0" i="0" u="none" strike="noStrike" cap="none" normalizeH="0" baseline="-25000" dirty="0" err="1">
                          <a:ln>
                            <a:noFill/>
                          </a:ln>
                          <a:solidFill>
                            <a:schemeClr val="tx1"/>
                          </a:solidFill>
                          <a:effectLst/>
                          <a:latin typeface="Arial" panose="020B0604020202020204" pitchFamily="34" charset="0"/>
                          <a:ea typeface="宋体" panose="02010600030101010101" pitchFamily="2" charset="-122"/>
                        </a:rPr>
                        <a:t>b</a:t>
                      </a:r>
                      <a:endParaRPr kumimoji="0" lang="en-US" altLang="zh-CN" sz="21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endParaRPr>
                    </a:p>
                  </a:txBody>
                  <a:tcPr marT="34127" marB="34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0" name="Rectangle 2"/>
          <p:cNvSpPr txBox="1">
            <a:spLocks noChangeArrowheads="1"/>
          </p:cNvSpPr>
          <p:nvPr/>
        </p:nvSpPr>
        <p:spPr bwMode="auto">
          <a:xfrm>
            <a:off x="320675" y="1502569"/>
            <a:ext cx="2147888"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defRPr/>
            </a:pPr>
            <a:r>
              <a:rPr lang="zh-CN" altLang="en-US" sz="3200" b="1" dirty="0">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rPr>
              <a:t>第二步</a:t>
            </a:r>
          </a:p>
        </p:txBody>
      </p:sp>
    </p:spTree>
    <p:extLst>
      <p:ext uri="{BB962C8B-B14F-4D97-AF65-F5344CB8AC3E}">
        <p14:creationId xmlns:p14="http://schemas.microsoft.com/office/powerpoint/2010/main" val="3758758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2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73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732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733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735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2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736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7885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3738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7885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7886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78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96" grpId="0" autoUpdateAnimBg="0"/>
      <p:bldP spid="37310" grpId="0" autoUpdateAnimBg="0"/>
      <p:bldP spid="37324" grpId="0" autoUpdateAnimBg="0"/>
      <p:bldP spid="37338" grpId="0" autoUpdateAnimBg="0"/>
      <p:bldP spid="37352" grpId="0" autoUpdateAnimBg="0"/>
      <p:bldP spid="37366" grpId="0" autoUpdateAnimBg="0"/>
      <p:bldP spid="37380"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009791" y="1948338"/>
            <a:ext cx="2294431" cy="576064"/>
          </a:xfrm>
        </p:spPr>
        <p:txBody>
          <a:bodyPr>
            <a:normAutofit fontScale="90000"/>
          </a:bodyPr>
          <a:lstStyle/>
          <a:p>
            <a:pPr eaLnBrk="1" hangingPunct="1"/>
            <a:r>
              <a:rPr lang="zh-CN" altLang="en-US" dirty="0"/>
              <a:t>等价的</a:t>
            </a:r>
            <a:r>
              <a:rPr lang="en-US" altLang="zh-CN" dirty="0"/>
              <a:t>DFA</a:t>
            </a:r>
          </a:p>
        </p:txBody>
      </p:sp>
      <p:grpSp>
        <p:nvGrpSpPr>
          <p:cNvPr id="70660" name="Group 4"/>
          <p:cNvGrpSpPr>
            <a:grpSpLocks/>
          </p:cNvGrpSpPr>
          <p:nvPr/>
        </p:nvGrpSpPr>
        <p:grpSpPr bwMode="auto">
          <a:xfrm>
            <a:off x="3202224" y="2033349"/>
            <a:ext cx="5655468" cy="3090862"/>
            <a:chOff x="624" y="1054"/>
            <a:chExt cx="4772" cy="2596"/>
          </a:xfrm>
        </p:grpSpPr>
        <p:sp>
          <p:nvSpPr>
            <p:cNvPr id="70661" name="Text Box 5"/>
            <p:cNvSpPr txBox="1">
              <a:spLocks noChangeArrowheads="1"/>
            </p:cNvSpPr>
            <p:nvPr/>
          </p:nvSpPr>
          <p:spPr bwMode="auto">
            <a:xfrm>
              <a:off x="3407" y="1054"/>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grpSp>
          <p:nvGrpSpPr>
            <p:cNvPr id="70662" name="Group 6"/>
            <p:cNvGrpSpPr>
              <a:grpSpLocks/>
            </p:cNvGrpSpPr>
            <p:nvPr/>
          </p:nvGrpSpPr>
          <p:grpSpPr bwMode="auto">
            <a:xfrm>
              <a:off x="864" y="1486"/>
              <a:ext cx="4532" cy="2164"/>
              <a:chOff x="864" y="1486"/>
              <a:chExt cx="4532" cy="2164"/>
            </a:xfrm>
          </p:grpSpPr>
          <p:grpSp>
            <p:nvGrpSpPr>
              <p:cNvPr id="70672" name="Group 7"/>
              <p:cNvGrpSpPr>
                <a:grpSpLocks/>
              </p:cNvGrpSpPr>
              <p:nvPr/>
            </p:nvGrpSpPr>
            <p:grpSpPr bwMode="auto">
              <a:xfrm>
                <a:off x="3264" y="1536"/>
                <a:ext cx="432" cy="432"/>
                <a:chOff x="4320" y="2160"/>
                <a:chExt cx="432" cy="432"/>
              </a:xfrm>
            </p:grpSpPr>
            <p:sp>
              <p:nvSpPr>
                <p:cNvPr id="70708" name="Oval 8"/>
                <p:cNvSpPr>
                  <a:spLocks noChangeArrowheads="1"/>
                </p:cNvSpPr>
                <p:nvPr/>
              </p:nvSpPr>
              <p:spPr bwMode="auto">
                <a:xfrm>
                  <a:off x="4320" y="2160"/>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0709" name="Oval 9"/>
                <p:cNvSpPr>
                  <a:spLocks noChangeArrowheads="1"/>
                </p:cNvSpPr>
                <p:nvPr/>
              </p:nvSpPr>
              <p:spPr bwMode="auto">
                <a:xfrm>
                  <a:off x="4368" y="2208"/>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C</a:t>
                  </a:r>
                </a:p>
              </p:txBody>
            </p:sp>
          </p:grpSp>
          <p:grpSp>
            <p:nvGrpSpPr>
              <p:cNvPr id="70673" name="Group 10"/>
              <p:cNvGrpSpPr>
                <a:grpSpLocks/>
              </p:cNvGrpSpPr>
              <p:nvPr/>
            </p:nvGrpSpPr>
            <p:grpSpPr bwMode="auto">
              <a:xfrm>
                <a:off x="3264" y="2784"/>
                <a:ext cx="432" cy="432"/>
                <a:chOff x="3456" y="2688"/>
                <a:chExt cx="432" cy="432"/>
              </a:xfrm>
            </p:grpSpPr>
            <p:sp>
              <p:nvSpPr>
                <p:cNvPr id="70706" name="Oval 11"/>
                <p:cNvSpPr>
                  <a:spLocks noChangeArrowheads="1"/>
                </p:cNvSpPr>
                <p:nvPr/>
              </p:nvSpPr>
              <p:spPr bwMode="auto">
                <a:xfrm>
                  <a:off x="3456"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0707" name="Oval 12"/>
                <p:cNvSpPr>
                  <a:spLocks noChangeArrowheads="1"/>
                </p:cNvSpPr>
                <p:nvPr/>
              </p:nvSpPr>
              <p:spPr bwMode="auto">
                <a:xfrm>
                  <a:off x="3504"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D</a:t>
                  </a:r>
                </a:p>
              </p:txBody>
            </p:sp>
          </p:grpSp>
          <p:sp>
            <p:nvSpPr>
              <p:cNvPr id="70674" name="Oval 13"/>
              <p:cNvSpPr>
                <a:spLocks noChangeArrowheads="1"/>
              </p:cNvSpPr>
              <p:nvPr/>
            </p:nvSpPr>
            <p:spPr bwMode="auto">
              <a:xfrm>
                <a:off x="1872" y="2784"/>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0675" name="Oval 14"/>
              <p:cNvSpPr>
                <a:spLocks noChangeArrowheads="1"/>
              </p:cNvSpPr>
              <p:nvPr/>
            </p:nvSpPr>
            <p:spPr bwMode="auto">
              <a:xfrm>
                <a:off x="1872" y="1536"/>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A</a:t>
                </a:r>
              </a:p>
            </p:txBody>
          </p:sp>
          <p:grpSp>
            <p:nvGrpSpPr>
              <p:cNvPr id="70676" name="Group 15"/>
              <p:cNvGrpSpPr>
                <a:grpSpLocks/>
              </p:cNvGrpSpPr>
              <p:nvPr/>
            </p:nvGrpSpPr>
            <p:grpSpPr bwMode="auto">
              <a:xfrm>
                <a:off x="4608" y="1536"/>
                <a:ext cx="432" cy="432"/>
                <a:chOff x="3120" y="1536"/>
                <a:chExt cx="432" cy="432"/>
              </a:xfrm>
            </p:grpSpPr>
            <p:sp>
              <p:nvSpPr>
                <p:cNvPr id="70704" name="Oval 16"/>
                <p:cNvSpPr>
                  <a:spLocks noChangeArrowheads="1"/>
                </p:cNvSpPr>
                <p:nvPr/>
              </p:nvSpPr>
              <p:spPr bwMode="auto">
                <a:xfrm>
                  <a:off x="3120" y="1536"/>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0705" name="Oval 17"/>
                <p:cNvSpPr>
                  <a:spLocks noChangeArrowheads="1"/>
                </p:cNvSpPr>
                <p:nvPr/>
              </p:nvSpPr>
              <p:spPr bwMode="auto">
                <a:xfrm>
                  <a:off x="3168" y="158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E</a:t>
                  </a:r>
                </a:p>
              </p:txBody>
            </p:sp>
          </p:grpSp>
          <p:grpSp>
            <p:nvGrpSpPr>
              <p:cNvPr id="70677" name="Group 18"/>
              <p:cNvGrpSpPr>
                <a:grpSpLocks/>
              </p:cNvGrpSpPr>
              <p:nvPr/>
            </p:nvGrpSpPr>
            <p:grpSpPr bwMode="auto">
              <a:xfrm>
                <a:off x="4608" y="2784"/>
                <a:ext cx="432" cy="432"/>
                <a:chOff x="4224" y="2688"/>
                <a:chExt cx="432" cy="432"/>
              </a:xfrm>
            </p:grpSpPr>
            <p:sp>
              <p:nvSpPr>
                <p:cNvPr id="70702" name="Oval 19"/>
                <p:cNvSpPr>
                  <a:spLocks noChangeArrowheads="1"/>
                </p:cNvSpPr>
                <p:nvPr/>
              </p:nvSpPr>
              <p:spPr bwMode="auto">
                <a:xfrm>
                  <a:off x="4224"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0703" name="Oval 20"/>
                <p:cNvSpPr>
                  <a:spLocks noChangeArrowheads="1"/>
                </p:cNvSpPr>
                <p:nvPr/>
              </p:nvSpPr>
              <p:spPr bwMode="auto">
                <a:xfrm>
                  <a:off x="4272"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F</a:t>
                  </a:r>
                </a:p>
              </p:txBody>
            </p:sp>
          </p:grpSp>
          <p:sp>
            <p:nvSpPr>
              <p:cNvPr id="70678" name="Oval 21"/>
              <p:cNvSpPr>
                <a:spLocks noChangeArrowheads="1"/>
              </p:cNvSpPr>
              <p:nvPr/>
            </p:nvSpPr>
            <p:spPr bwMode="auto">
              <a:xfrm>
                <a:off x="864" y="220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S</a:t>
                </a:r>
              </a:p>
            </p:txBody>
          </p:sp>
          <p:cxnSp>
            <p:nvCxnSpPr>
              <p:cNvPr id="70679" name="AutoShape 22"/>
              <p:cNvCxnSpPr>
                <a:cxnSpLocks noChangeShapeType="1"/>
                <a:stCxn id="70678" idx="0"/>
                <a:endCxn id="70675" idx="2"/>
              </p:cNvCxnSpPr>
              <p:nvPr/>
            </p:nvCxnSpPr>
            <p:spPr bwMode="auto">
              <a:xfrm rot="-5400000">
                <a:off x="1248" y="1584"/>
                <a:ext cx="456" cy="79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0" name="AutoShape 23"/>
              <p:cNvCxnSpPr>
                <a:cxnSpLocks noChangeShapeType="1"/>
                <a:stCxn id="70678" idx="4"/>
                <a:endCxn id="70674" idx="2"/>
              </p:cNvCxnSpPr>
              <p:nvPr/>
            </p:nvCxnSpPr>
            <p:spPr bwMode="auto">
              <a:xfrm rot="16200000" flipH="1">
                <a:off x="1296" y="2424"/>
                <a:ext cx="360" cy="792"/>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1" name="AutoShape 24"/>
              <p:cNvCxnSpPr>
                <a:cxnSpLocks noChangeShapeType="1"/>
                <a:stCxn id="70674" idx="7"/>
                <a:endCxn id="70675" idx="5"/>
              </p:cNvCxnSpPr>
              <p:nvPr/>
            </p:nvCxnSpPr>
            <p:spPr bwMode="auto">
              <a:xfrm rot="-5400000">
                <a:off x="1770" y="2376"/>
                <a:ext cx="9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2" name="AutoShape 25"/>
              <p:cNvCxnSpPr>
                <a:cxnSpLocks noChangeShapeType="1"/>
                <a:stCxn id="70675" idx="3"/>
                <a:endCxn id="70674" idx="1"/>
              </p:cNvCxnSpPr>
              <p:nvPr/>
            </p:nvCxnSpPr>
            <p:spPr bwMode="auto">
              <a:xfrm rot="5400000">
                <a:off x="1464" y="2376"/>
                <a:ext cx="94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3" name="AutoShape 26"/>
              <p:cNvCxnSpPr>
                <a:cxnSpLocks noChangeShapeType="1"/>
                <a:stCxn id="70675" idx="6"/>
                <a:endCxn id="70708" idx="2"/>
              </p:cNvCxnSpPr>
              <p:nvPr/>
            </p:nvCxnSpPr>
            <p:spPr bwMode="auto">
              <a:xfrm>
                <a:off x="2304" y="1752"/>
                <a:ext cx="96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4" name="AutoShape 27"/>
              <p:cNvCxnSpPr>
                <a:cxnSpLocks noChangeShapeType="1"/>
                <a:stCxn id="70674" idx="6"/>
                <a:endCxn id="70706" idx="2"/>
              </p:cNvCxnSpPr>
              <p:nvPr/>
            </p:nvCxnSpPr>
            <p:spPr bwMode="auto">
              <a:xfrm>
                <a:off x="2304" y="3000"/>
                <a:ext cx="96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5" name="AutoShape 28"/>
              <p:cNvCxnSpPr>
                <a:cxnSpLocks noChangeShapeType="1"/>
                <a:stCxn id="70706" idx="6"/>
                <a:endCxn id="70702" idx="2"/>
              </p:cNvCxnSpPr>
              <p:nvPr/>
            </p:nvCxnSpPr>
            <p:spPr bwMode="auto">
              <a:xfrm>
                <a:off x="3696" y="3000"/>
                <a:ext cx="9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6" name="AutoShape 29"/>
              <p:cNvCxnSpPr>
                <a:cxnSpLocks noChangeShapeType="1"/>
                <a:stCxn id="70708" idx="6"/>
                <a:endCxn id="70704" idx="2"/>
              </p:cNvCxnSpPr>
              <p:nvPr/>
            </p:nvCxnSpPr>
            <p:spPr bwMode="auto">
              <a:xfrm>
                <a:off x="3696" y="1752"/>
                <a:ext cx="9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7" name="AutoShape 30"/>
              <p:cNvCxnSpPr>
                <a:cxnSpLocks noChangeShapeType="1"/>
                <a:stCxn id="70704" idx="4"/>
                <a:endCxn id="70702" idx="0"/>
              </p:cNvCxnSpPr>
              <p:nvPr/>
            </p:nvCxnSpPr>
            <p:spPr bwMode="auto">
              <a:xfrm rot="5400000">
                <a:off x="4416" y="2376"/>
                <a:ext cx="816"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8" name="AutoShape 31"/>
              <p:cNvCxnSpPr>
                <a:cxnSpLocks noChangeShapeType="1"/>
                <a:stCxn id="70702" idx="6"/>
                <a:endCxn id="70704" idx="6"/>
              </p:cNvCxnSpPr>
              <p:nvPr/>
            </p:nvCxnSpPr>
            <p:spPr bwMode="auto">
              <a:xfrm flipV="1">
                <a:off x="5040" y="1752"/>
                <a:ext cx="1" cy="1248"/>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89" name="AutoShape 32"/>
              <p:cNvCxnSpPr>
                <a:cxnSpLocks noChangeShapeType="1"/>
                <a:stCxn id="70708" idx="1"/>
                <a:endCxn id="70708" idx="7"/>
              </p:cNvCxnSpPr>
              <p:nvPr/>
            </p:nvCxnSpPr>
            <p:spPr bwMode="auto">
              <a:xfrm rot="5400000" flipH="1" flipV="1">
                <a:off x="3480" y="1447"/>
                <a:ext cx="11" cy="305"/>
              </a:xfrm>
              <a:prstGeom prst="curvedConnector3">
                <a:avLst>
                  <a:gd name="adj1" fmla="val 239311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690" name="AutoShape 33"/>
              <p:cNvCxnSpPr>
                <a:cxnSpLocks noChangeShapeType="1"/>
                <a:stCxn id="70706" idx="3"/>
                <a:endCxn id="70706" idx="5"/>
              </p:cNvCxnSpPr>
              <p:nvPr/>
            </p:nvCxnSpPr>
            <p:spPr bwMode="auto">
              <a:xfrm rot="16200000" flipH="1">
                <a:off x="3479" y="3001"/>
                <a:ext cx="1" cy="306"/>
              </a:xfrm>
              <a:prstGeom prst="curvedConnector3">
                <a:avLst>
                  <a:gd name="adj1" fmla="val 207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0691" name="Text Box 34"/>
              <p:cNvSpPr txBox="1">
                <a:spLocks noChangeArrowheads="1"/>
              </p:cNvSpPr>
              <p:nvPr/>
            </p:nvSpPr>
            <p:spPr bwMode="auto">
              <a:xfrm>
                <a:off x="5183" y="2254"/>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0692" name="Text Box 35"/>
              <p:cNvSpPr txBox="1">
                <a:spLocks noChangeArrowheads="1"/>
              </p:cNvSpPr>
              <p:nvPr/>
            </p:nvSpPr>
            <p:spPr bwMode="auto">
              <a:xfrm>
                <a:off x="1199" y="1582"/>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0693" name="Text Box 36"/>
              <p:cNvSpPr txBox="1">
                <a:spLocks noChangeArrowheads="1"/>
              </p:cNvSpPr>
              <p:nvPr/>
            </p:nvSpPr>
            <p:spPr bwMode="auto">
              <a:xfrm>
                <a:off x="2207" y="2206"/>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0694" name="Text Box 37"/>
              <p:cNvSpPr txBox="1">
                <a:spLocks noChangeArrowheads="1"/>
              </p:cNvSpPr>
              <p:nvPr/>
            </p:nvSpPr>
            <p:spPr bwMode="auto">
              <a:xfrm>
                <a:off x="2735" y="1486"/>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0695" name="Text Box 38"/>
              <p:cNvSpPr txBox="1">
                <a:spLocks noChangeArrowheads="1"/>
              </p:cNvSpPr>
              <p:nvPr/>
            </p:nvSpPr>
            <p:spPr bwMode="auto">
              <a:xfrm>
                <a:off x="4655" y="2206"/>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0696" name="Text Box 39"/>
              <p:cNvSpPr txBox="1">
                <a:spLocks noChangeArrowheads="1"/>
              </p:cNvSpPr>
              <p:nvPr/>
            </p:nvSpPr>
            <p:spPr bwMode="auto">
              <a:xfrm>
                <a:off x="4175" y="2878"/>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0697" name="Text Box 40"/>
              <p:cNvSpPr txBox="1">
                <a:spLocks noChangeArrowheads="1"/>
              </p:cNvSpPr>
              <p:nvPr/>
            </p:nvSpPr>
            <p:spPr bwMode="auto">
              <a:xfrm>
                <a:off x="1343" y="2830"/>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0698" name="Text Box 41"/>
              <p:cNvSpPr txBox="1">
                <a:spLocks noChangeArrowheads="1"/>
              </p:cNvSpPr>
              <p:nvPr/>
            </p:nvSpPr>
            <p:spPr bwMode="auto">
              <a:xfrm>
                <a:off x="1727" y="2254"/>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0699" name="Text Box 42"/>
              <p:cNvSpPr txBox="1">
                <a:spLocks noChangeArrowheads="1"/>
              </p:cNvSpPr>
              <p:nvPr/>
            </p:nvSpPr>
            <p:spPr bwMode="auto">
              <a:xfrm>
                <a:off x="2783" y="2926"/>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0700" name="Text Box 43"/>
              <p:cNvSpPr txBox="1">
                <a:spLocks noChangeArrowheads="1"/>
              </p:cNvSpPr>
              <p:nvPr/>
            </p:nvSpPr>
            <p:spPr bwMode="auto">
              <a:xfrm>
                <a:off x="4079" y="1486"/>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0701" name="Text Box 44"/>
              <p:cNvSpPr txBox="1">
                <a:spLocks noChangeArrowheads="1"/>
              </p:cNvSpPr>
              <p:nvPr/>
            </p:nvSpPr>
            <p:spPr bwMode="auto">
              <a:xfrm>
                <a:off x="3407" y="3262"/>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grpSp>
        <p:sp>
          <p:nvSpPr>
            <p:cNvPr id="70663" name="AutoShape 45"/>
            <p:cNvSpPr>
              <a:spLocks noChangeArrowheads="1"/>
            </p:cNvSpPr>
            <p:nvPr/>
          </p:nvSpPr>
          <p:spPr bwMode="auto">
            <a:xfrm>
              <a:off x="720" y="2400"/>
              <a:ext cx="48" cy="48"/>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0664" name="AutoShape 46"/>
            <p:cNvSpPr>
              <a:spLocks noChangeArrowheads="1"/>
            </p:cNvSpPr>
            <p:nvPr/>
          </p:nvSpPr>
          <p:spPr bwMode="auto">
            <a:xfrm>
              <a:off x="624" y="2315"/>
              <a:ext cx="262" cy="240"/>
            </a:xfrm>
            <a:prstGeom prst="rightArrow">
              <a:avLst>
                <a:gd name="adj1" fmla="val 50000"/>
                <a:gd name="adj2" fmla="val 27292"/>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cxnSp>
          <p:nvCxnSpPr>
            <p:cNvPr id="70665" name="AutoShape 47"/>
            <p:cNvCxnSpPr>
              <a:cxnSpLocks noChangeShapeType="1"/>
              <a:stCxn id="70703" idx="1"/>
              <a:endCxn id="70708" idx="5"/>
            </p:cNvCxnSpPr>
            <p:nvPr/>
          </p:nvCxnSpPr>
          <p:spPr bwMode="auto">
            <a:xfrm flipH="1" flipV="1">
              <a:off x="3633" y="1905"/>
              <a:ext cx="1072" cy="976"/>
            </a:xfrm>
            <a:prstGeom prst="straightConnector1">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0666" name="AutoShape 48"/>
            <p:cNvCxnSpPr>
              <a:cxnSpLocks noChangeShapeType="1"/>
              <a:endCxn id="70706" idx="7"/>
            </p:cNvCxnSpPr>
            <p:nvPr/>
          </p:nvCxnSpPr>
          <p:spPr bwMode="auto">
            <a:xfrm flipH="1">
              <a:off x="3633" y="1872"/>
              <a:ext cx="1073" cy="975"/>
            </a:xfrm>
            <a:prstGeom prst="straightConnector1">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sp>
          <p:nvSpPr>
            <p:cNvPr id="70667" name="Text Box 49"/>
            <p:cNvSpPr txBox="1">
              <a:spLocks noChangeArrowheads="1"/>
            </p:cNvSpPr>
            <p:nvPr/>
          </p:nvSpPr>
          <p:spPr bwMode="auto">
            <a:xfrm>
              <a:off x="3695" y="1966"/>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0668" name="Text Box 50"/>
            <p:cNvSpPr txBox="1">
              <a:spLocks noChangeArrowheads="1"/>
            </p:cNvSpPr>
            <p:nvPr/>
          </p:nvSpPr>
          <p:spPr bwMode="auto">
            <a:xfrm>
              <a:off x="3663" y="2353"/>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b</a:t>
              </a:r>
            </a:p>
          </p:txBody>
        </p:sp>
        <p:grpSp>
          <p:nvGrpSpPr>
            <p:cNvPr id="70669" name="Group 51"/>
            <p:cNvGrpSpPr>
              <a:grpSpLocks/>
            </p:cNvGrpSpPr>
            <p:nvPr/>
          </p:nvGrpSpPr>
          <p:grpSpPr bwMode="auto">
            <a:xfrm>
              <a:off x="4608" y="2784"/>
              <a:ext cx="432" cy="432"/>
              <a:chOff x="4224" y="2688"/>
              <a:chExt cx="432" cy="432"/>
            </a:xfrm>
          </p:grpSpPr>
          <p:sp>
            <p:nvSpPr>
              <p:cNvPr id="70670" name="Oval 52"/>
              <p:cNvSpPr>
                <a:spLocks noChangeArrowheads="1"/>
              </p:cNvSpPr>
              <p:nvPr/>
            </p:nvSpPr>
            <p:spPr bwMode="auto">
              <a:xfrm>
                <a:off x="4224"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0671" name="Oval 53"/>
              <p:cNvSpPr>
                <a:spLocks noChangeArrowheads="1"/>
              </p:cNvSpPr>
              <p:nvPr/>
            </p:nvSpPr>
            <p:spPr bwMode="auto">
              <a:xfrm>
                <a:off x="4272"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F</a:t>
                </a:r>
              </a:p>
            </p:txBody>
          </p:sp>
        </p:grpSp>
      </p:grpSp>
      <p:graphicFrame>
        <p:nvGraphicFramePr>
          <p:cNvPr id="92" name="Group 49"/>
          <p:cNvGraphicFramePr>
            <a:graphicFrameLocks noGrp="1"/>
          </p:cNvGraphicFramePr>
          <p:nvPr>
            <p:extLst>
              <p:ext uri="{D42A27DB-BD31-4B8C-83A1-F6EECF244321}">
                <p14:modId xmlns:p14="http://schemas.microsoft.com/office/powerpoint/2010/main" val="3088458406"/>
              </p:ext>
            </p:extLst>
          </p:nvPr>
        </p:nvGraphicFramePr>
        <p:xfrm>
          <a:off x="251520" y="2128072"/>
          <a:ext cx="2528664" cy="2813310"/>
        </p:xfrm>
        <a:graphic>
          <a:graphicData uri="http://schemas.openxmlformats.org/drawingml/2006/table">
            <a:tbl>
              <a:tblPr/>
              <a:tblGrid>
                <a:gridCol w="792088">
                  <a:extLst>
                    <a:ext uri="{9D8B030D-6E8A-4147-A177-3AD203B41FA5}">
                      <a16:colId xmlns:a16="http://schemas.microsoft.com/office/drawing/2014/main" val="20000"/>
                    </a:ext>
                  </a:extLst>
                </a:gridCol>
                <a:gridCol w="800472">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459440">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输入状态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3">
                        <a:lumMod val="20000"/>
                        <a:lumOff val="80000"/>
                      </a:schemeClr>
                    </a:solidFill>
                  </a:tcPr>
                </a:tc>
                <a:tc>
                  <a:txBody>
                    <a:bodyPr/>
                    <a:lstStyle/>
                    <a:p>
                      <a:pPr algn="ctr">
                        <a:spcAft>
                          <a:spcPts val="0"/>
                        </a:spcAft>
                      </a:pPr>
                      <a:r>
                        <a:rPr lang="en-US" sz="2000" kern="100" dirty="0">
                          <a:effectLst/>
                        </a:rPr>
                        <a:t>a</a:t>
                      </a:r>
                      <a:endParaRPr lang="zh-CN" sz="20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b</a:t>
                      </a:r>
                      <a:endParaRPr lang="zh-CN" sz="20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347783">
                <a:tc>
                  <a:txBody>
                    <a:bodyPr/>
                    <a:lstStyle/>
                    <a:p>
                      <a:pPr algn="ctr">
                        <a:spcAft>
                          <a:spcPts val="0"/>
                        </a:spcAft>
                      </a:pPr>
                      <a:r>
                        <a:rPr lang="en-US" sz="2000" kern="100" dirty="0">
                          <a:effectLst/>
                        </a:rPr>
                        <a:t>S</a:t>
                      </a:r>
                      <a:endParaRPr lang="zh-CN" sz="20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a:effectLst/>
                        </a:rPr>
                        <a:t>A</a:t>
                      </a:r>
                      <a:endParaRPr lang="zh-CN" sz="20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a:effectLst/>
                        </a:rPr>
                        <a:t>B</a:t>
                      </a:r>
                      <a:endParaRPr lang="zh-CN" sz="20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320753">
                <a:tc>
                  <a:txBody>
                    <a:bodyPr/>
                    <a:lstStyle/>
                    <a:p>
                      <a:pPr algn="ctr">
                        <a:spcAft>
                          <a:spcPts val="0"/>
                        </a:spcAft>
                      </a:pPr>
                      <a:r>
                        <a:rPr lang="en-US" sz="2000" kern="100" dirty="0">
                          <a:effectLst/>
                        </a:rPr>
                        <a:t>A</a:t>
                      </a:r>
                      <a:endParaRPr lang="zh-CN" sz="20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C</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a:effectLst/>
                        </a:rPr>
                        <a:t>B</a:t>
                      </a:r>
                      <a:endParaRPr lang="zh-CN" sz="20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2"/>
                  </a:ext>
                </a:extLst>
              </a:tr>
              <a:tr h="319852">
                <a:tc>
                  <a:txBody>
                    <a:bodyPr/>
                    <a:lstStyle/>
                    <a:p>
                      <a:pPr algn="ctr">
                        <a:spcAft>
                          <a:spcPts val="0"/>
                        </a:spcAft>
                      </a:pPr>
                      <a:r>
                        <a:rPr lang="en-US" sz="2000" kern="100">
                          <a:effectLst/>
                        </a:rPr>
                        <a:t>B</a:t>
                      </a:r>
                      <a:endParaRPr lang="zh-CN" sz="2000" kern="10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A</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D</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3"/>
                  </a:ext>
                </a:extLst>
              </a:tr>
              <a:tr h="319852">
                <a:tc>
                  <a:txBody>
                    <a:bodyPr/>
                    <a:lstStyle/>
                    <a:p>
                      <a:pPr algn="ctr">
                        <a:spcAft>
                          <a:spcPts val="0"/>
                        </a:spcAft>
                      </a:pPr>
                      <a:r>
                        <a:rPr lang="en-US" sz="2000" kern="100">
                          <a:effectLst/>
                        </a:rPr>
                        <a:t>C</a:t>
                      </a:r>
                      <a:endParaRPr lang="zh-CN" sz="2000" kern="10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a:effectLst/>
                        </a:rPr>
                        <a:t>C</a:t>
                      </a:r>
                      <a:endParaRPr lang="zh-CN" sz="20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E</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4"/>
                  </a:ext>
                </a:extLst>
              </a:tr>
              <a:tr h="319852">
                <a:tc>
                  <a:txBody>
                    <a:bodyPr/>
                    <a:lstStyle/>
                    <a:p>
                      <a:pPr algn="ctr">
                        <a:spcAft>
                          <a:spcPts val="0"/>
                        </a:spcAft>
                      </a:pPr>
                      <a:r>
                        <a:rPr lang="en-US" sz="2000" kern="100">
                          <a:effectLst/>
                        </a:rPr>
                        <a:t>D</a:t>
                      </a:r>
                      <a:endParaRPr lang="zh-CN" sz="2000" kern="10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a:effectLst/>
                        </a:rPr>
                        <a:t>F</a:t>
                      </a:r>
                      <a:endParaRPr lang="zh-CN" sz="20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D</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5"/>
                  </a:ext>
                </a:extLst>
              </a:tr>
              <a:tr h="319852">
                <a:tc>
                  <a:txBody>
                    <a:bodyPr/>
                    <a:lstStyle/>
                    <a:p>
                      <a:pPr algn="ctr">
                        <a:spcAft>
                          <a:spcPts val="0"/>
                        </a:spcAft>
                      </a:pPr>
                      <a:r>
                        <a:rPr lang="en-US" sz="2000" kern="100" dirty="0">
                          <a:effectLst/>
                        </a:rPr>
                        <a:t>E</a:t>
                      </a:r>
                      <a:endParaRPr lang="zh-CN" sz="20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a:effectLst/>
                        </a:rPr>
                        <a:t>F</a:t>
                      </a:r>
                      <a:endParaRPr lang="zh-CN" sz="20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D</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6"/>
                  </a:ext>
                </a:extLst>
              </a:tr>
              <a:tr h="339586">
                <a:tc>
                  <a:txBody>
                    <a:bodyPr/>
                    <a:lstStyle/>
                    <a:p>
                      <a:pPr algn="ctr">
                        <a:spcAft>
                          <a:spcPts val="0"/>
                        </a:spcAft>
                      </a:pPr>
                      <a:r>
                        <a:rPr lang="en-US" sz="2000" kern="100" dirty="0">
                          <a:effectLst/>
                        </a:rPr>
                        <a:t>F</a:t>
                      </a:r>
                      <a:endParaRPr lang="zh-CN" sz="20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C</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2000" kern="100" dirty="0">
                          <a:effectLst/>
                        </a:rPr>
                        <a:t>E</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7"/>
                  </a:ext>
                </a:extLst>
              </a:tr>
            </a:tbl>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889760747"/>
              </p:ext>
            </p:extLst>
          </p:nvPr>
        </p:nvGraphicFramePr>
        <p:xfrm>
          <a:off x="3583814" y="30118"/>
          <a:ext cx="5494338" cy="1593850"/>
        </p:xfrm>
        <a:graphic>
          <a:graphicData uri="http://schemas.openxmlformats.org/presentationml/2006/ole">
            <mc:AlternateContent xmlns:mc="http://schemas.openxmlformats.org/markup-compatibility/2006">
              <mc:Choice xmlns:v="urn:schemas-microsoft-com:vml" Requires="v">
                <p:oleObj spid="_x0000_s30733" name="Visio" r:id="rId4" imgW="2419377" imgH="934672" progId="Visio.Drawing.11">
                  <p:embed/>
                </p:oleObj>
              </mc:Choice>
              <mc:Fallback>
                <p:oleObj name="Visio" r:id="rId4" imgW="2419377" imgH="934672" progId="Visio.Drawing.11">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3814" y="30118"/>
                        <a:ext cx="549433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0643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57150"/>
            <a:ext cx="8229600" cy="857250"/>
          </a:xfrm>
        </p:spPr>
        <p:txBody>
          <a:bodyPr/>
          <a:lstStyle/>
          <a:p>
            <a:pPr eaLnBrk="1" hangingPunct="1"/>
            <a:r>
              <a:rPr lang="zh-CN" altLang="en-US" sz="4000" b="1">
                <a:ea typeface="楷体_GB2312" pitchFamily="49" charset="-122"/>
              </a:rPr>
              <a:t>练  习</a:t>
            </a:r>
          </a:p>
        </p:txBody>
      </p:sp>
      <p:sp>
        <p:nvSpPr>
          <p:cNvPr id="71683" name="Rectangle 3"/>
          <p:cNvSpPr>
            <a:spLocks noGrp="1" noChangeArrowheads="1"/>
          </p:cNvSpPr>
          <p:nvPr>
            <p:ph type="body" idx="1"/>
          </p:nvPr>
        </p:nvSpPr>
        <p:spPr>
          <a:xfrm>
            <a:off x="457200" y="1085851"/>
            <a:ext cx="8229600" cy="3394472"/>
          </a:xfrm>
        </p:spPr>
        <p:txBody>
          <a:bodyPr/>
          <a:lstStyle/>
          <a:p>
            <a:pPr eaLnBrk="1" hangingPunct="1"/>
            <a:r>
              <a:rPr lang="zh-CN" altLang="en-US"/>
              <a:t>求下述</a:t>
            </a:r>
            <a:r>
              <a:rPr lang="en-US" altLang="zh-CN"/>
              <a:t>NFA</a:t>
            </a:r>
            <a:r>
              <a:rPr lang="zh-CN" altLang="en-US"/>
              <a:t>对应的</a:t>
            </a:r>
            <a:r>
              <a:rPr lang="en-US" altLang="zh-CN"/>
              <a:t>DFA(</a:t>
            </a:r>
            <a:r>
              <a:rPr lang="zh-CN" altLang="en-US"/>
              <a:t>确定化</a:t>
            </a:r>
            <a:r>
              <a:rPr lang="en-US" altLang="zh-CN"/>
              <a:t>)</a:t>
            </a:r>
          </a:p>
        </p:txBody>
      </p:sp>
      <p:grpSp>
        <p:nvGrpSpPr>
          <p:cNvPr id="4" name="Group 95"/>
          <p:cNvGrpSpPr>
            <a:grpSpLocks/>
          </p:cNvGrpSpPr>
          <p:nvPr/>
        </p:nvGrpSpPr>
        <p:grpSpPr bwMode="auto">
          <a:xfrm>
            <a:off x="449263" y="3257549"/>
            <a:ext cx="8153400" cy="1740694"/>
            <a:chOff x="432" y="2736"/>
            <a:chExt cx="4560" cy="1462"/>
          </a:xfrm>
        </p:grpSpPr>
        <p:sp>
          <p:nvSpPr>
            <p:cNvPr id="71718" name="Oval 19"/>
            <p:cNvSpPr>
              <a:spLocks noChangeArrowheads="1"/>
            </p:cNvSpPr>
            <p:nvPr/>
          </p:nvSpPr>
          <p:spPr bwMode="auto">
            <a:xfrm>
              <a:off x="2688" y="3385"/>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1</a:t>
              </a:r>
            </a:p>
          </p:txBody>
        </p:sp>
        <p:grpSp>
          <p:nvGrpSpPr>
            <p:cNvPr id="71719" name="Group 20"/>
            <p:cNvGrpSpPr>
              <a:grpSpLocks/>
            </p:cNvGrpSpPr>
            <p:nvPr/>
          </p:nvGrpSpPr>
          <p:grpSpPr bwMode="auto">
            <a:xfrm>
              <a:off x="4272" y="3360"/>
              <a:ext cx="432" cy="432"/>
              <a:chOff x="2976" y="3456"/>
              <a:chExt cx="432" cy="432"/>
            </a:xfrm>
          </p:grpSpPr>
          <p:sp>
            <p:nvSpPr>
              <p:cNvPr id="71743" name="Oval 21"/>
              <p:cNvSpPr>
                <a:spLocks noChangeArrowheads="1"/>
              </p:cNvSpPr>
              <p:nvPr/>
            </p:nvSpPr>
            <p:spPr bwMode="auto">
              <a:xfrm>
                <a:off x="2976" y="3456"/>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1744" name="Oval 22"/>
              <p:cNvSpPr>
                <a:spLocks noChangeArrowheads="1"/>
              </p:cNvSpPr>
              <p:nvPr/>
            </p:nvSpPr>
            <p:spPr bwMode="auto">
              <a:xfrm>
                <a:off x="3024" y="35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3</a:t>
                </a:r>
              </a:p>
            </p:txBody>
          </p:sp>
        </p:grpSp>
        <p:sp>
          <p:nvSpPr>
            <p:cNvPr id="71720" name="Oval 23"/>
            <p:cNvSpPr>
              <a:spLocks noChangeArrowheads="1"/>
            </p:cNvSpPr>
            <p:nvPr/>
          </p:nvSpPr>
          <p:spPr bwMode="auto">
            <a:xfrm>
              <a:off x="1824" y="3408"/>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0</a:t>
              </a:r>
            </a:p>
          </p:txBody>
        </p:sp>
        <p:sp>
          <p:nvSpPr>
            <p:cNvPr id="71721" name="AutoShape 25"/>
            <p:cNvSpPr>
              <a:spLocks noChangeArrowheads="1"/>
            </p:cNvSpPr>
            <p:nvPr/>
          </p:nvSpPr>
          <p:spPr bwMode="auto">
            <a:xfrm>
              <a:off x="1632" y="3552"/>
              <a:ext cx="192" cy="96"/>
            </a:xfrm>
            <a:prstGeom prst="rightArrow">
              <a:avLst>
                <a:gd name="adj1" fmla="val 50000"/>
                <a:gd name="adj2" fmla="val 50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71722" name="Group 30"/>
            <p:cNvGrpSpPr>
              <a:grpSpLocks/>
            </p:cNvGrpSpPr>
            <p:nvPr/>
          </p:nvGrpSpPr>
          <p:grpSpPr bwMode="auto">
            <a:xfrm>
              <a:off x="2160" y="3341"/>
              <a:ext cx="528" cy="388"/>
              <a:chOff x="1440" y="3268"/>
              <a:chExt cx="336" cy="388"/>
            </a:xfrm>
          </p:grpSpPr>
          <p:sp>
            <p:nvSpPr>
              <p:cNvPr id="71741" name="Line 31"/>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42" name="Rectangle 32"/>
              <p:cNvSpPr>
                <a:spLocks noChangeArrowheads="1"/>
              </p:cNvSpPr>
              <p:nvPr/>
            </p:nvSpPr>
            <p:spPr bwMode="auto">
              <a:xfrm>
                <a:off x="1527" y="3268"/>
                <a:ext cx="12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1</a:t>
                </a:r>
              </a:p>
            </p:txBody>
          </p:sp>
        </p:grpSp>
        <p:sp>
          <p:nvSpPr>
            <p:cNvPr id="71723" name="Oval 33"/>
            <p:cNvSpPr>
              <a:spLocks noChangeArrowheads="1"/>
            </p:cNvSpPr>
            <p:nvPr/>
          </p:nvSpPr>
          <p:spPr bwMode="auto">
            <a:xfrm>
              <a:off x="3552" y="3408"/>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2</a:t>
              </a:r>
            </a:p>
          </p:txBody>
        </p:sp>
        <p:grpSp>
          <p:nvGrpSpPr>
            <p:cNvPr id="71724" name="Group 35"/>
            <p:cNvGrpSpPr>
              <a:grpSpLocks/>
            </p:cNvGrpSpPr>
            <p:nvPr/>
          </p:nvGrpSpPr>
          <p:grpSpPr bwMode="auto">
            <a:xfrm>
              <a:off x="3024" y="3341"/>
              <a:ext cx="576" cy="388"/>
              <a:chOff x="1440" y="3268"/>
              <a:chExt cx="336" cy="388"/>
            </a:xfrm>
          </p:grpSpPr>
          <p:sp>
            <p:nvSpPr>
              <p:cNvPr id="71739" name="Line 36"/>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40" name="Rectangle 37"/>
              <p:cNvSpPr>
                <a:spLocks noChangeArrowheads="1"/>
              </p:cNvSpPr>
              <p:nvPr/>
            </p:nvSpPr>
            <p:spPr bwMode="auto">
              <a:xfrm>
                <a:off x="1532" y="3268"/>
                <a:ext cx="11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0</a:t>
                </a:r>
              </a:p>
            </p:txBody>
          </p:sp>
        </p:grpSp>
        <p:grpSp>
          <p:nvGrpSpPr>
            <p:cNvPr id="71725" name="Group 41"/>
            <p:cNvGrpSpPr>
              <a:grpSpLocks/>
            </p:cNvGrpSpPr>
            <p:nvPr/>
          </p:nvGrpSpPr>
          <p:grpSpPr bwMode="auto">
            <a:xfrm>
              <a:off x="3936" y="3341"/>
              <a:ext cx="336" cy="388"/>
              <a:chOff x="1440" y="3268"/>
              <a:chExt cx="336" cy="388"/>
            </a:xfrm>
          </p:grpSpPr>
          <p:sp>
            <p:nvSpPr>
              <p:cNvPr id="71737" name="Line 42"/>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8" name="Rectangle 43"/>
              <p:cNvSpPr>
                <a:spLocks noChangeArrowheads="1"/>
              </p:cNvSpPr>
              <p:nvPr/>
            </p:nvSpPr>
            <p:spPr bwMode="auto">
              <a:xfrm>
                <a:off x="1493" y="3268"/>
                <a:ext cx="189"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0</a:t>
                </a:r>
              </a:p>
            </p:txBody>
          </p:sp>
        </p:grpSp>
        <p:cxnSp>
          <p:nvCxnSpPr>
            <p:cNvPr id="71726" name="AutoShape 47"/>
            <p:cNvCxnSpPr>
              <a:cxnSpLocks noChangeShapeType="1"/>
              <a:stCxn id="71718" idx="1"/>
              <a:endCxn id="71718" idx="7"/>
            </p:cNvCxnSpPr>
            <p:nvPr/>
          </p:nvCxnSpPr>
          <p:spPr bwMode="auto">
            <a:xfrm rot="5400000" flipV="1">
              <a:off x="2855" y="3316"/>
              <a:ext cx="1" cy="238"/>
            </a:xfrm>
            <a:prstGeom prst="curvedConnector3">
              <a:avLst>
                <a:gd name="adj1" fmla="val -3620001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27" name="Text Box 50"/>
            <p:cNvSpPr txBox="1">
              <a:spLocks noChangeArrowheads="1"/>
            </p:cNvSpPr>
            <p:nvPr/>
          </p:nvSpPr>
          <p:spPr bwMode="auto">
            <a:xfrm>
              <a:off x="2602" y="3168"/>
              <a:ext cx="17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1</a:t>
              </a:r>
            </a:p>
          </p:txBody>
        </p:sp>
        <p:cxnSp>
          <p:nvCxnSpPr>
            <p:cNvPr id="71728" name="AutoShape 84"/>
            <p:cNvCxnSpPr>
              <a:cxnSpLocks noChangeShapeType="1"/>
              <a:stCxn id="71720" idx="0"/>
              <a:endCxn id="71723" idx="0"/>
            </p:cNvCxnSpPr>
            <p:nvPr/>
          </p:nvCxnSpPr>
          <p:spPr bwMode="auto">
            <a:xfrm rot="5400000" flipV="1">
              <a:off x="2855" y="2545"/>
              <a:ext cx="1" cy="1728"/>
            </a:xfrm>
            <a:prstGeom prst="curvedConnector3">
              <a:avLst>
                <a:gd name="adj1" fmla="val -4220001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29" name="Text Box 85"/>
            <p:cNvSpPr txBox="1">
              <a:spLocks noChangeArrowheads="1"/>
            </p:cNvSpPr>
            <p:nvPr/>
          </p:nvSpPr>
          <p:spPr bwMode="auto">
            <a:xfrm>
              <a:off x="2592" y="2784"/>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0</a:t>
              </a:r>
            </a:p>
          </p:txBody>
        </p:sp>
        <p:cxnSp>
          <p:nvCxnSpPr>
            <p:cNvPr id="71730" name="AutoShape 86"/>
            <p:cNvCxnSpPr>
              <a:cxnSpLocks noChangeShapeType="1"/>
              <a:endCxn id="71743" idx="6"/>
            </p:cNvCxnSpPr>
            <p:nvPr/>
          </p:nvCxnSpPr>
          <p:spPr bwMode="auto">
            <a:xfrm>
              <a:off x="4416" y="3360"/>
              <a:ext cx="288" cy="216"/>
            </a:xfrm>
            <a:prstGeom prst="curvedConnector3">
              <a:avLst>
                <a:gd name="adj1" fmla="val 1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31" name="Text Box 87"/>
            <p:cNvSpPr txBox="1">
              <a:spLocks noChangeArrowheads="1"/>
            </p:cNvSpPr>
            <p:nvPr/>
          </p:nvSpPr>
          <p:spPr bwMode="auto">
            <a:xfrm>
              <a:off x="4752" y="3264"/>
              <a:ext cx="2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0</a:t>
              </a:r>
            </a:p>
          </p:txBody>
        </p:sp>
        <p:cxnSp>
          <p:nvCxnSpPr>
            <p:cNvPr id="71732" name="AutoShape 88"/>
            <p:cNvCxnSpPr>
              <a:cxnSpLocks noChangeShapeType="1"/>
              <a:stCxn id="71723" idx="3"/>
              <a:endCxn id="71718" idx="5"/>
            </p:cNvCxnSpPr>
            <p:nvPr/>
          </p:nvCxnSpPr>
          <p:spPr bwMode="auto">
            <a:xfrm rot="16200000" flipV="1">
              <a:off x="3276" y="3371"/>
              <a:ext cx="23" cy="626"/>
            </a:xfrm>
            <a:prstGeom prst="curvedConnector3">
              <a:avLst>
                <a:gd name="adj1" fmla="val -83913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33" name="Text Box 89"/>
            <p:cNvSpPr txBox="1">
              <a:spLocks noChangeArrowheads="1"/>
            </p:cNvSpPr>
            <p:nvPr/>
          </p:nvSpPr>
          <p:spPr bwMode="auto">
            <a:xfrm>
              <a:off x="3168" y="3840"/>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sp>
          <p:nvSpPr>
            <p:cNvPr id="71734" name="Text Box 91"/>
            <p:cNvSpPr txBox="1">
              <a:spLocks noChangeArrowheads="1"/>
            </p:cNvSpPr>
            <p:nvPr/>
          </p:nvSpPr>
          <p:spPr bwMode="auto">
            <a:xfrm>
              <a:off x="432" y="2736"/>
              <a:ext cx="158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zh-CN" altLang="en-US" sz="2800"/>
                <a:t>等价的</a:t>
              </a:r>
              <a:r>
                <a:rPr lang="en-US" altLang="zh-CN" sz="2800"/>
                <a:t>DFA</a:t>
              </a:r>
              <a:r>
                <a:rPr lang="zh-CN" altLang="en-US" sz="2800"/>
                <a:t>为：</a:t>
              </a:r>
            </a:p>
          </p:txBody>
        </p:sp>
        <p:cxnSp>
          <p:nvCxnSpPr>
            <p:cNvPr id="71735" name="AutoShape 93"/>
            <p:cNvCxnSpPr>
              <a:cxnSpLocks noChangeShapeType="1"/>
              <a:stCxn id="71743" idx="5"/>
              <a:endCxn id="71718" idx="4"/>
            </p:cNvCxnSpPr>
            <p:nvPr/>
          </p:nvCxnSpPr>
          <p:spPr bwMode="auto">
            <a:xfrm rot="16200000" flipV="1">
              <a:off x="3745" y="2832"/>
              <a:ext cx="8" cy="1785"/>
            </a:xfrm>
            <a:prstGeom prst="curvedConnector3">
              <a:avLst>
                <a:gd name="adj1" fmla="val -48375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36" name="Text Box 94"/>
            <p:cNvSpPr txBox="1">
              <a:spLocks noChangeArrowheads="1"/>
            </p:cNvSpPr>
            <p:nvPr/>
          </p:nvSpPr>
          <p:spPr bwMode="auto">
            <a:xfrm>
              <a:off x="3792" y="3888"/>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grpSp>
      <p:grpSp>
        <p:nvGrpSpPr>
          <p:cNvPr id="71685" name="Group 127"/>
          <p:cNvGrpSpPr>
            <a:grpSpLocks/>
          </p:cNvGrpSpPr>
          <p:nvPr/>
        </p:nvGrpSpPr>
        <p:grpSpPr bwMode="auto">
          <a:xfrm>
            <a:off x="915988" y="1869281"/>
            <a:ext cx="7391400" cy="1112044"/>
            <a:chOff x="576" y="2976"/>
            <a:chExt cx="4656" cy="934"/>
          </a:xfrm>
        </p:grpSpPr>
        <p:sp>
          <p:nvSpPr>
            <p:cNvPr id="71686" name="Oval 128"/>
            <p:cNvSpPr>
              <a:spLocks noChangeArrowheads="1"/>
            </p:cNvSpPr>
            <p:nvPr/>
          </p:nvSpPr>
          <p:spPr bwMode="auto">
            <a:xfrm>
              <a:off x="2112" y="3241"/>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2</a:t>
              </a:r>
            </a:p>
          </p:txBody>
        </p:sp>
        <p:grpSp>
          <p:nvGrpSpPr>
            <p:cNvPr id="71687" name="Group 129"/>
            <p:cNvGrpSpPr>
              <a:grpSpLocks/>
            </p:cNvGrpSpPr>
            <p:nvPr/>
          </p:nvGrpSpPr>
          <p:grpSpPr bwMode="auto">
            <a:xfrm>
              <a:off x="4800" y="3193"/>
              <a:ext cx="432" cy="432"/>
              <a:chOff x="2976" y="3456"/>
              <a:chExt cx="432" cy="432"/>
            </a:xfrm>
          </p:grpSpPr>
          <p:sp>
            <p:nvSpPr>
              <p:cNvPr id="71716" name="Oval 130"/>
              <p:cNvSpPr>
                <a:spLocks noChangeArrowheads="1"/>
              </p:cNvSpPr>
              <p:nvPr/>
            </p:nvSpPr>
            <p:spPr bwMode="auto">
              <a:xfrm>
                <a:off x="2976" y="3456"/>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1717" name="Oval 131"/>
              <p:cNvSpPr>
                <a:spLocks noChangeArrowheads="1"/>
              </p:cNvSpPr>
              <p:nvPr/>
            </p:nvSpPr>
            <p:spPr bwMode="auto">
              <a:xfrm>
                <a:off x="3024" y="3504"/>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Y</a:t>
                </a:r>
              </a:p>
            </p:txBody>
          </p:sp>
        </p:grpSp>
        <p:sp>
          <p:nvSpPr>
            <p:cNvPr id="71688" name="Oval 132"/>
            <p:cNvSpPr>
              <a:spLocks noChangeArrowheads="1"/>
            </p:cNvSpPr>
            <p:nvPr/>
          </p:nvSpPr>
          <p:spPr bwMode="auto">
            <a:xfrm>
              <a:off x="768" y="3241"/>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X</a:t>
              </a:r>
            </a:p>
          </p:txBody>
        </p:sp>
        <p:sp>
          <p:nvSpPr>
            <p:cNvPr id="71689" name="Oval 133"/>
            <p:cNvSpPr>
              <a:spLocks noChangeArrowheads="1"/>
            </p:cNvSpPr>
            <p:nvPr/>
          </p:nvSpPr>
          <p:spPr bwMode="auto">
            <a:xfrm>
              <a:off x="4128" y="3241"/>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4</a:t>
              </a:r>
            </a:p>
          </p:txBody>
        </p:sp>
        <p:sp>
          <p:nvSpPr>
            <p:cNvPr id="71690" name="AutoShape 134"/>
            <p:cNvSpPr>
              <a:spLocks noChangeArrowheads="1"/>
            </p:cNvSpPr>
            <p:nvPr/>
          </p:nvSpPr>
          <p:spPr bwMode="auto">
            <a:xfrm>
              <a:off x="576" y="3385"/>
              <a:ext cx="192" cy="96"/>
            </a:xfrm>
            <a:prstGeom prst="rightArrow">
              <a:avLst>
                <a:gd name="adj1" fmla="val 50000"/>
                <a:gd name="adj2" fmla="val 50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71691" name="Group 135"/>
            <p:cNvGrpSpPr>
              <a:grpSpLocks/>
            </p:cNvGrpSpPr>
            <p:nvPr/>
          </p:nvGrpSpPr>
          <p:grpSpPr bwMode="auto">
            <a:xfrm>
              <a:off x="1152" y="3193"/>
              <a:ext cx="336" cy="388"/>
              <a:chOff x="1440" y="3264"/>
              <a:chExt cx="336" cy="388"/>
            </a:xfrm>
          </p:grpSpPr>
          <p:sp>
            <p:nvSpPr>
              <p:cNvPr id="71714" name="Line 136"/>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5" name="Rectangle 137"/>
              <p:cNvSpPr>
                <a:spLocks noChangeArrowheads="1"/>
              </p:cNvSpPr>
              <p:nvPr/>
            </p:nvSpPr>
            <p:spPr bwMode="auto">
              <a:xfrm>
                <a:off x="1487" y="3264"/>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p>
            </p:txBody>
          </p:sp>
        </p:grpSp>
        <p:sp>
          <p:nvSpPr>
            <p:cNvPr id="71692" name="Oval 138"/>
            <p:cNvSpPr>
              <a:spLocks noChangeArrowheads="1"/>
            </p:cNvSpPr>
            <p:nvPr/>
          </p:nvSpPr>
          <p:spPr bwMode="auto">
            <a:xfrm>
              <a:off x="1440" y="3241"/>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0</a:t>
              </a:r>
            </a:p>
          </p:txBody>
        </p:sp>
        <p:grpSp>
          <p:nvGrpSpPr>
            <p:cNvPr id="71693" name="Group 139"/>
            <p:cNvGrpSpPr>
              <a:grpSpLocks/>
            </p:cNvGrpSpPr>
            <p:nvPr/>
          </p:nvGrpSpPr>
          <p:grpSpPr bwMode="auto">
            <a:xfrm>
              <a:off x="1776" y="3193"/>
              <a:ext cx="336" cy="388"/>
              <a:chOff x="1440" y="3264"/>
              <a:chExt cx="336" cy="388"/>
            </a:xfrm>
          </p:grpSpPr>
          <p:sp>
            <p:nvSpPr>
              <p:cNvPr id="71712" name="Line 140"/>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141"/>
              <p:cNvSpPr>
                <a:spLocks noChangeArrowheads="1"/>
              </p:cNvSpPr>
              <p:nvPr/>
            </p:nvSpPr>
            <p:spPr bwMode="auto">
              <a:xfrm>
                <a:off x="1487" y="3264"/>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p>
            </p:txBody>
          </p:sp>
        </p:grpSp>
        <p:sp>
          <p:nvSpPr>
            <p:cNvPr id="71694" name="Oval 142"/>
            <p:cNvSpPr>
              <a:spLocks noChangeArrowheads="1"/>
            </p:cNvSpPr>
            <p:nvPr/>
          </p:nvSpPr>
          <p:spPr bwMode="auto">
            <a:xfrm>
              <a:off x="2784" y="3241"/>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1</a:t>
              </a:r>
            </a:p>
          </p:txBody>
        </p:sp>
        <p:sp>
          <p:nvSpPr>
            <p:cNvPr id="71695" name="Oval 143"/>
            <p:cNvSpPr>
              <a:spLocks noChangeArrowheads="1"/>
            </p:cNvSpPr>
            <p:nvPr/>
          </p:nvSpPr>
          <p:spPr bwMode="auto">
            <a:xfrm>
              <a:off x="3456" y="3241"/>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3</a:t>
              </a:r>
            </a:p>
          </p:txBody>
        </p:sp>
        <p:grpSp>
          <p:nvGrpSpPr>
            <p:cNvPr id="71696" name="Group 144"/>
            <p:cNvGrpSpPr>
              <a:grpSpLocks/>
            </p:cNvGrpSpPr>
            <p:nvPr/>
          </p:nvGrpSpPr>
          <p:grpSpPr bwMode="auto">
            <a:xfrm>
              <a:off x="2448" y="3193"/>
              <a:ext cx="336" cy="388"/>
              <a:chOff x="1440" y="3264"/>
              <a:chExt cx="336" cy="388"/>
            </a:xfrm>
          </p:grpSpPr>
          <p:sp>
            <p:nvSpPr>
              <p:cNvPr id="71710" name="Line 145"/>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1" name="Rectangle 146"/>
              <p:cNvSpPr>
                <a:spLocks noChangeArrowheads="1"/>
              </p:cNvSpPr>
              <p:nvPr/>
            </p:nvSpPr>
            <p:spPr bwMode="auto">
              <a:xfrm>
                <a:off x="1487" y="3264"/>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p>
            </p:txBody>
          </p:sp>
        </p:grpSp>
        <p:grpSp>
          <p:nvGrpSpPr>
            <p:cNvPr id="71697" name="Group 147"/>
            <p:cNvGrpSpPr>
              <a:grpSpLocks/>
            </p:cNvGrpSpPr>
            <p:nvPr/>
          </p:nvGrpSpPr>
          <p:grpSpPr bwMode="auto">
            <a:xfrm>
              <a:off x="3792" y="3197"/>
              <a:ext cx="336" cy="388"/>
              <a:chOff x="1440" y="3268"/>
              <a:chExt cx="336" cy="388"/>
            </a:xfrm>
          </p:grpSpPr>
          <p:sp>
            <p:nvSpPr>
              <p:cNvPr id="71708" name="Line 148"/>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9" name="Rectangle 149"/>
              <p:cNvSpPr>
                <a:spLocks noChangeArrowheads="1"/>
              </p:cNvSpPr>
              <p:nvPr/>
            </p:nvSpPr>
            <p:spPr bwMode="auto">
              <a:xfrm>
                <a:off x="1481" y="326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0</a:t>
                </a:r>
              </a:p>
            </p:txBody>
          </p:sp>
        </p:grpSp>
        <p:grpSp>
          <p:nvGrpSpPr>
            <p:cNvPr id="71698" name="Group 150"/>
            <p:cNvGrpSpPr>
              <a:grpSpLocks/>
            </p:cNvGrpSpPr>
            <p:nvPr/>
          </p:nvGrpSpPr>
          <p:grpSpPr bwMode="auto">
            <a:xfrm>
              <a:off x="3120" y="3197"/>
              <a:ext cx="336" cy="388"/>
              <a:chOff x="1440" y="3268"/>
              <a:chExt cx="336" cy="388"/>
            </a:xfrm>
          </p:grpSpPr>
          <p:sp>
            <p:nvSpPr>
              <p:cNvPr id="71706" name="Line 151"/>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7" name="Rectangle 152"/>
              <p:cNvSpPr>
                <a:spLocks noChangeArrowheads="1"/>
              </p:cNvSpPr>
              <p:nvPr/>
            </p:nvSpPr>
            <p:spPr bwMode="auto">
              <a:xfrm>
                <a:off x="1481" y="3268"/>
                <a:ext cx="2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0</a:t>
                </a:r>
              </a:p>
            </p:txBody>
          </p:sp>
        </p:grpSp>
        <p:grpSp>
          <p:nvGrpSpPr>
            <p:cNvPr id="71699" name="Group 153"/>
            <p:cNvGrpSpPr>
              <a:grpSpLocks/>
            </p:cNvGrpSpPr>
            <p:nvPr/>
          </p:nvGrpSpPr>
          <p:grpSpPr bwMode="auto">
            <a:xfrm>
              <a:off x="4464" y="3193"/>
              <a:ext cx="336" cy="388"/>
              <a:chOff x="1440" y="3264"/>
              <a:chExt cx="336" cy="388"/>
            </a:xfrm>
          </p:grpSpPr>
          <p:sp>
            <p:nvSpPr>
              <p:cNvPr id="71704" name="Line 154"/>
              <p:cNvSpPr>
                <a:spLocks noChangeShapeType="1"/>
              </p:cNvSpPr>
              <p:nvPr/>
            </p:nvSpPr>
            <p:spPr bwMode="auto">
              <a:xfrm>
                <a:off x="1440" y="350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5" name="Rectangle 155"/>
              <p:cNvSpPr>
                <a:spLocks noChangeArrowheads="1"/>
              </p:cNvSpPr>
              <p:nvPr/>
            </p:nvSpPr>
            <p:spPr bwMode="auto">
              <a:xfrm>
                <a:off x="1487" y="3264"/>
                <a:ext cx="20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sym typeface="Symbol" pitchFamily="18" charset="2"/>
                  </a:rPr>
                  <a:t></a:t>
                </a:r>
              </a:p>
            </p:txBody>
          </p:sp>
        </p:grpSp>
        <p:cxnSp>
          <p:nvCxnSpPr>
            <p:cNvPr id="71700" name="AutoShape 156"/>
            <p:cNvCxnSpPr>
              <a:cxnSpLocks noChangeShapeType="1"/>
              <a:stCxn id="71686" idx="3"/>
              <a:endCxn id="71686" idx="5"/>
            </p:cNvCxnSpPr>
            <p:nvPr/>
          </p:nvCxnSpPr>
          <p:spPr bwMode="auto">
            <a:xfrm rot="16200000" flipH="1">
              <a:off x="2279" y="3410"/>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701" name="AutoShape 157"/>
            <p:cNvCxnSpPr>
              <a:cxnSpLocks noChangeShapeType="1"/>
              <a:stCxn id="71686" idx="1"/>
              <a:endCxn id="71686" idx="7"/>
            </p:cNvCxnSpPr>
            <p:nvPr/>
          </p:nvCxnSpPr>
          <p:spPr bwMode="auto">
            <a:xfrm rot="5400000" flipV="1">
              <a:off x="2279" y="3172"/>
              <a:ext cx="1" cy="238"/>
            </a:xfrm>
            <a:prstGeom prst="curvedConnector3">
              <a:avLst>
                <a:gd name="adj1" fmla="val -193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02" name="Text Box 158"/>
            <p:cNvSpPr txBox="1">
              <a:spLocks noChangeArrowheads="1"/>
            </p:cNvSpPr>
            <p:nvPr/>
          </p:nvSpPr>
          <p:spPr bwMode="auto">
            <a:xfrm>
              <a:off x="2063" y="2976"/>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0</a:t>
              </a:r>
            </a:p>
          </p:txBody>
        </p:sp>
        <p:sp>
          <p:nvSpPr>
            <p:cNvPr id="71703" name="Text Box 159"/>
            <p:cNvSpPr txBox="1">
              <a:spLocks noChangeArrowheads="1"/>
            </p:cNvSpPr>
            <p:nvPr/>
          </p:nvSpPr>
          <p:spPr bwMode="auto">
            <a:xfrm>
              <a:off x="2063" y="3600"/>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1</a:t>
              </a:r>
            </a:p>
          </p:txBody>
        </p:sp>
      </p:grpSp>
    </p:spTree>
    <p:extLst>
      <p:ext uri="{BB962C8B-B14F-4D97-AF65-F5344CB8AC3E}">
        <p14:creationId xmlns:p14="http://schemas.microsoft.com/office/powerpoint/2010/main" val="1160098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3648" y="1779662"/>
            <a:ext cx="5725414" cy="1569660"/>
          </a:xfrm>
          <a:prstGeom prst="rect">
            <a:avLst/>
          </a:prstGeom>
        </p:spPr>
        <p:txBody>
          <a:bodyPr wrap="none">
            <a:spAutoFit/>
          </a:bodyPr>
          <a:lstStyle/>
          <a:p>
            <a:r>
              <a:rPr kumimoji="1" lang="en-US" altLang="zh-CN" sz="4800" b="1" dirty="0">
                <a:solidFill>
                  <a:srgbClr val="CC0099"/>
                </a:solidFill>
                <a:latin typeface="Times New Roman" pitchFamily="18" charset="0"/>
                <a:ea typeface="隶书" pitchFamily="49" charset="-122"/>
              </a:rPr>
              <a:t>4</a:t>
            </a:r>
            <a:r>
              <a:rPr kumimoji="1" lang="zh-CN" altLang="zh-CN" sz="4800" b="1" dirty="0">
                <a:solidFill>
                  <a:srgbClr val="CC0099"/>
                </a:solidFill>
                <a:latin typeface="Times New Roman" pitchFamily="18" charset="0"/>
                <a:ea typeface="隶书" pitchFamily="49" charset="-122"/>
              </a:rPr>
              <a:t> 有穷自动机</a:t>
            </a:r>
            <a:endParaRPr kumimoji="1" lang="en-US" altLang="zh-CN" sz="4800" b="1" dirty="0">
              <a:solidFill>
                <a:srgbClr val="CC0099"/>
              </a:solidFill>
              <a:latin typeface="Times New Roman" pitchFamily="18" charset="0"/>
              <a:ea typeface="隶书" pitchFamily="49" charset="-122"/>
            </a:endParaRPr>
          </a:p>
          <a:p>
            <a:r>
              <a:rPr kumimoji="1" lang="en-US" altLang="zh-CN" sz="4800" b="1" dirty="0">
                <a:solidFill>
                  <a:srgbClr val="CC0099"/>
                </a:solidFill>
                <a:latin typeface="Times New Roman" pitchFamily="18" charset="0"/>
                <a:ea typeface="隶书" pitchFamily="49" charset="-122"/>
              </a:rPr>
              <a:t>    ——DFA</a:t>
            </a:r>
            <a:r>
              <a:rPr kumimoji="1" lang="zh-CN" altLang="en-US" sz="4800" b="1" dirty="0">
                <a:solidFill>
                  <a:srgbClr val="CC0099"/>
                </a:solidFill>
                <a:latin typeface="Times New Roman" pitchFamily="18" charset="0"/>
                <a:ea typeface="隶书" pitchFamily="49" charset="-122"/>
              </a:rPr>
              <a:t>的最小化</a:t>
            </a:r>
            <a:endParaRPr lang="zh-CN" altLang="en-US" sz="4800" dirty="0"/>
          </a:p>
        </p:txBody>
      </p:sp>
    </p:spTree>
    <p:extLst>
      <p:ext uri="{BB962C8B-B14F-4D97-AF65-F5344CB8AC3E}">
        <p14:creationId xmlns:p14="http://schemas.microsoft.com/office/powerpoint/2010/main" val="33994521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normAutofit fontScale="90000"/>
          </a:bodyPr>
          <a:lstStyle/>
          <a:p>
            <a:r>
              <a:rPr lang="en-US" altLang="zh-CN" sz="4000" b="1" dirty="0">
                <a:ea typeface="楷体_GB2312" pitchFamily="49" charset="-122"/>
              </a:rPr>
              <a:t>DFA</a:t>
            </a:r>
            <a:r>
              <a:rPr lang="zh-CN" altLang="en-US" sz="4000" dirty="0">
                <a:ea typeface="楷体_GB2312" pitchFamily="49" charset="-122"/>
              </a:rPr>
              <a:t>的最小化</a:t>
            </a:r>
            <a:endParaRPr lang="zh-CN" altLang="en-US" sz="4000" b="1" dirty="0">
              <a:ea typeface="楷体_GB2312" pitchFamily="49" charset="-122"/>
            </a:endParaRPr>
          </a:p>
        </p:txBody>
      </p:sp>
      <p:sp>
        <p:nvSpPr>
          <p:cNvPr id="72707" name="Rectangle 3"/>
          <p:cNvSpPr>
            <a:spLocks noGrp="1" noChangeArrowheads="1"/>
          </p:cNvSpPr>
          <p:nvPr>
            <p:ph type="body" idx="1"/>
          </p:nvPr>
        </p:nvSpPr>
        <p:spPr>
          <a:xfrm>
            <a:off x="457200" y="1263253"/>
            <a:ext cx="8229600" cy="3013472"/>
          </a:xfrm>
        </p:spPr>
        <p:txBody>
          <a:bodyPr/>
          <a:lstStyle/>
          <a:p>
            <a:pPr lvl="1" eaLnBrk="1" hangingPunct="1">
              <a:buFontTx/>
              <a:buNone/>
            </a:pPr>
            <a:r>
              <a:rPr lang="zh-CN" altLang="en-US" dirty="0">
                <a:latin typeface="宋体" pitchFamily="2" charset="-122"/>
              </a:rPr>
              <a:t>与某一</a:t>
            </a:r>
            <a:r>
              <a:rPr lang="en-US" altLang="zh-CN" dirty="0">
                <a:latin typeface="宋体" pitchFamily="2" charset="-122"/>
              </a:rPr>
              <a:t>NFA</a:t>
            </a:r>
            <a:r>
              <a:rPr lang="zh-CN" altLang="en-US" dirty="0">
                <a:latin typeface="宋体" pitchFamily="2" charset="-122"/>
              </a:rPr>
              <a:t>等价的</a:t>
            </a:r>
            <a:r>
              <a:rPr lang="en-US" altLang="zh-CN" dirty="0">
                <a:latin typeface="宋体" pitchFamily="2" charset="-122"/>
              </a:rPr>
              <a:t>DFA</a:t>
            </a:r>
            <a:r>
              <a:rPr lang="zh-CN" altLang="en-US" dirty="0">
                <a:latin typeface="宋体" pitchFamily="2" charset="-122"/>
              </a:rPr>
              <a:t>不一定唯一</a:t>
            </a:r>
            <a:r>
              <a:rPr lang="en-US" altLang="zh-CN" dirty="0">
                <a:latin typeface="宋体" pitchFamily="2" charset="-122"/>
              </a:rPr>
              <a:t>.</a:t>
            </a:r>
          </a:p>
          <a:p>
            <a:pPr lvl="1" eaLnBrk="1" hangingPunct="1">
              <a:buFontTx/>
              <a:buNone/>
            </a:pPr>
            <a:endParaRPr lang="en-US" altLang="zh-CN" dirty="0">
              <a:latin typeface="宋体" pitchFamily="2" charset="-122"/>
            </a:endParaRPr>
          </a:p>
          <a:p>
            <a:pPr lvl="1" eaLnBrk="1" hangingPunct="1">
              <a:buFontTx/>
              <a:buNone/>
            </a:pPr>
            <a:r>
              <a:rPr lang="zh-CN" altLang="en-US" dirty="0">
                <a:latin typeface="宋体" pitchFamily="2" charset="-122"/>
              </a:rPr>
              <a:t>不同的</a:t>
            </a:r>
            <a:r>
              <a:rPr lang="en-US" altLang="zh-CN" dirty="0">
                <a:latin typeface="宋体" pitchFamily="2" charset="-122"/>
              </a:rPr>
              <a:t>DFA</a:t>
            </a:r>
            <a:r>
              <a:rPr lang="zh-CN" altLang="en-US" dirty="0">
                <a:latin typeface="宋体" pitchFamily="2" charset="-122"/>
              </a:rPr>
              <a:t>识别的正规集可能是相同的</a:t>
            </a:r>
          </a:p>
          <a:p>
            <a:pPr lvl="1" eaLnBrk="1" hangingPunct="1">
              <a:buFontTx/>
              <a:buNone/>
            </a:pPr>
            <a:endParaRPr lang="zh-CN" altLang="en-US" dirty="0">
              <a:latin typeface="宋体" pitchFamily="2" charset="-122"/>
            </a:endParaRPr>
          </a:p>
          <a:p>
            <a:pPr lvl="1" eaLnBrk="1" hangingPunct="1">
              <a:buFontTx/>
              <a:buNone/>
            </a:pPr>
            <a:r>
              <a:rPr lang="zh-CN" altLang="en-US" dirty="0">
                <a:latin typeface="宋体" pitchFamily="2" charset="-122"/>
              </a:rPr>
              <a:t>每一个正规集都可以由一个状态数最少的</a:t>
            </a:r>
            <a:r>
              <a:rPr lang="en-US" altLang="zh-CN" dirty="0">
                <a:latin typeface="宋体" pitchFamily="2" charset="-122"/>
              </a:rPr>
              <a:t>DFA</a:t>
            </a:r>
            <a:r>
              <a:rPr lang="zh-CN" altLang="en-US" dirty="0">
                <a:latin typeface="宋体" pitchFamily="2" charset="-122"/>
              </a:rPr>
              <a:t>所识别，这个</a:t>
            </a:r>
            <a:r>
              <a:rPr lang="en-US" altLang="zh-CN" dirty="0">
                <a:latin typeface="宋体" pitchFamily="2" charset="-122"/>
              </a:rPr>
              <a:t>DFA</a:t>
            </a:r>
            <a:r>
              <a:rPr lang="zh-CN" altLang="en-US" dirty="0">
                <a:latin typeface="宋体" pitchFamily="2" charset="-122"/>
              </a:rPr>
              <a:t>是唯一的（因状态名不同的同构情况除外）。</a:t>
            </a:r>
          </a:p>
        </p:txBody>
      </p:sp>
    </p:spTree>
    <p:extLst>
      <p:ext uri="{BB962C8B-B14F-4D97-AF65-F5344CB8AC3E}">
        <p14:creationId xmlns:p14="http://schemas.microsoft.com/office/powerpoint/2010/main" val="997144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73063" y="1"/>
            <a:ext cx="8229600" cy="641747"/>
          </a:xfrm>
        </p:spPr>
        <p:txBody>
          <a:bodyPr>
            <a:normAutofit fontScale="90000"/>
          </a:bodyPr>
          <a:lstStyle/>
          <a:p>
            <a:pPr eaLnBrk="1" hangingPunct="1"/>
            <a:r>
              <a:rPr lang="en-US" altLang="zh-CN" sz="4000" b="1" dirty="0">
                <a:ea typeface="楷体_GB2312" pitchFamily="49" charset="-122"/>
              </a:rPr>
              <a:t>DFA</a:t>
            </a:r>
            <a:r>
              <a:rPr lang="zh-CN" altLang="en-US" sz="4000" b="1" dirty="0">
                <a:ea typeface="楷体_GB2312" pitchFamily="49" charset="-122"/>
              </a:rPr>
              <a:t>的最小化</a:t>
            </a:r>
          </a:p>
        </p:txBody>
      </p:sp>
      <p:sp>
        <p:nvSpPr>
          <p:cNvPr id="38915" name="Rectangle 3"/>
          <p:cNvSpPr>
            <a:spLocks noGrp="1" noChangeArrowheads="1"/>
          </p:cNvSpPr>
          <p:nvPr>
            <p:ph type="body" idx="1"/>
          </p:nvPr>
        </p:nvSpPr>
        <p:spPr>
          <a:xfrm>
            <a:off x="323528" y="771551"/>
            <a:ext cx="8568952" cy="1152127"/>
          </a:xfrm>
        </p:spPr>
        <p:txBody>
          <a:bodyPr>
            <a:normAutofit/>
          </a:bodyPr>
          <a:lstStyle/>
          <a:p>
            <a:pPr eaLnBrk="1" hangingPunct="1">
              <a:spcBef>
                <a:spcPts val="0"/>
              </a:spcBef>
            </a:pPr>
            <a:r>
              <a:rPr lang="en-US" altLang="zh-CN" sz="2200" b="1" dirty="0">
                <a:solidFill>
                  <a:srgbClr val="0000CC"/>
                </a:solidFill>
              </a:rPr>
              <a:t>DFA</a:t>
            </a:r>
            <a:r>
              <a:rPr lang="zh-CN" altLang="en-US" sz="2200" b="1" dirty="0">
                <a:solidFill>
                  <a:srgbClr val="0000CC"/>
                </a:solidFill>
              </a:rPr>
              <a:t>的最小化</a:t>
            </a:r>
            <a:r>
              <a:rPr lang="zh-CN" altLang="en-US" sz="2200" dirty="0"/>
              <a:t>就是寻求状态数最少的</a:t>
            </a:r>
            <a:r>
              <a:rPr lang="en-US" altLang="zh-CN" sz="2200" dirty="0"/>
              <a:t>DFA</a:t>
            </a:r>
            <a:r>
              <a:rPr lang="zh-CN" altLang="en-US" sz="2200" dirty="0"/>
              <a:t>，即：</a:t>
            </a:r>
          </a:p>
          <a:p>
            <a:pPr lvl="1" eaLnBrk="1" hangingPunct="1">
              <a:spcBef>
                <a:spcPts val="0"/>
              </a:spcBef>
            </a:pPr>
            <a:r>
              <a:rPr lang="zh-CN" altLang="en-US" dirty="0"/>
              <a:t>没有多余状态</a:t>
            </a:r>
            <a:r>
              <a:rPr lang="zh-CN" altLang="en-US" b="1" dirty="0">
                <a:solidFill>
                  <a:srgbClr val="3333FF"/>
                </a:solidFill>
              </a:rPr>
              <a:t>（消去）</a:t>
            </a:r>
          </a:p>
          <a:p>
            <a:pPr lvl="1" eaLnBrk="1" hangingPunct="1">
              <a:spcBef>
                <a:spcPts val="0"/>
              </a:spcBef>
            </a:pPr>
            <a:r>
              <a:rPr lang="zh-CN" altLang="en-US" dirty="0"/>
              <a:t>没有等价状态</a:t>
            </a:r>
            <a:r>
              <a:rPr lang="zh-CN" altLang="en-US" b="1" dirty="0">
                <a:solidFill>
                  <a:srgbClr val="3333FF"/>
                </a:solidFill>
              </a:rPr>
              <a:t>（合并）</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939496394"/>
              </p:ext>
            </p:extLst>
          </p:nvPr>
        </p:nvGraphicFramePr>
        <p:xfrm>
          <a:off x="5148064" y="2859782"/>
          <a:ext cx="3995936" cy="2135579"/>
        </p:xfrm>
        <a:graphic>
          <a:graphicData uri="http://schemas.openxmlformats.org/presentationml/2006/ole">
            <mc:AlternateContent xmlns:mc="http://schemas.openxmlformats.org/markup-compatibility/2006">
              <mc:Choice xmlns:v="urn:schemas-microsoft-com:vml" Requires="v">
                <p:oleObj spid="_x0000_s31757" name="Visio" r:id="rId4" imgW="2773680" imgH="1275533" progId="Visio.Drawing.11">
                  <p:embed/>
                </p:oleObj>
              </mc:Choice>
              <mc:Fallback>
                <p:oleObj name="Visio" r:id="rId4" imgW="2773680" imgH="1275533"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064" y="2859782"/>
                        <a:ext cx="3995936" cy="2135579"/>
                      </a:xfrm>
                      <a:prstGeom prst="rect">
                        <a:avLst/>
                      </a:prstGeom>
                      <a:noFill/>
                    </p:spPr>
                  </p:pic>
                </p:oleObj>
              </mc:Fallback>
            </mc:AlternateContent>
          </a:graphicData>
        </a:graphic>
      </p:graphicFrame>
      <p:sp>
        <p:nvSpPr>
          <p:cNvPr id="6" name="Rectangle 3"/>
          <p:cNvSpPr txBox="1">
            <a:spLocks noChangeArrowheads="1"/>
          </p:cNvSpPr>
          <p:nvPr/>
        </p:nvSpPr>
        <p:spPr>
          <a:xfrm>
            <a:off x="251520" y="2715766"/>
            <a:ext cx="5040560" cy="2232248"/>
          </a:xfrm>
          <a:prstGeom prst="rect">
            <a:avLst/>
          </a:prstGeom>
          <a:solidFill>
            <a:schemeClr val="bg1"/>
          </a:solidFill>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Bef>
                <a:spcPts val="0"/>
              </a:spcBef>
            </a:pPr>
            <a:r>
              <a:rPr kumimoji="1" lang="zh-CN" altLang="en-US" sz="2200" b="1" dirty="0">
                <a:solidFill>
                  <a:srgbClr val="0000CC"/>
                </a:solidFill>
                <a:latin typeface="Times New Roman" pitchFamily="18" charset="0"/>
              </a:rPr>
              <a:t>状态</a:t>
            </a:r>
            <a:r>
              <a:rPr kumimoji="1" lang="en-US" altLang="zh-CN" sz="2200" b="1" dirty="0">
                <a:solidFill>
                  <a:srgbClr val="0000CC"/>
                </a:solidFill>
                <a:latin typeface="Verdana" pitchFamily="34" charset="0"/>
              </a:rPr>
              <a:t>S</a:t>
            </a:r>
            <a:r>
              <a:rPr kumimoji="1" lang="zh-CN" altLang="en-US" sz="2200" b="1" dirty="0">
                <a:solidFill>
                  <a:srgbClr val="0000CC"/>
                </a:solidFill>
                <a:latin typeface="Times New Roman" pitchFamily="18" charset="0"/>
              </a:rPr>
              <a:t>和</a:t>
            </a:r>
            <a:r>
              <a:rPr kumimoji="1" lang="en-US" altLang="zh-CN" sz="2200" b="1" dirty="0">
                <a:solidFill>
                  <a:srgbClr val="0000CC"/>
                </a:solidFill>
                <a:latin typeface="Verdana" pitchFamily="34" charset="0"/>
              </a:rPr>
              <a:t>T</a:t>
            </a:r>
            <a:r>
              <a:rPr kumimoji="1" lang="zh-CN" altLang="en-US" sz="2200" b="1" dirty="0">
                <a:solidFill>
                  <a:srgbClr val="0000CC"/>
                </a:solidFill>
                <a:latin typeface="Times New Roman" pitchFamily="18" charset="0"/>
              </a:rPr>
              <a:t>等价</a:t>
            </a:r>
            <a:r>
              <a:rPr kumimoji="1" lang="zh-CN" altLang="en-US" sz="2200" b="1" dirty="0">
                <a:latin typeface="Times New Roman" pitchFamily="18" charset="0"/>
              </a:rPr>
              <a:t>的条件</a:t>
            </a:r>
            <a:endParaRPr kumimoji="1" lang="zh-CN" altLang="en-US" sz="2200" b="1" dirty="0">
              <a:latin typeface="Verdana" pitchFamily="34" charset="0"/>
            </a:endParaRPr>
          </a:p>
          <a:p>
            <a:pPr algn="just">
              <a:spcBef>
                <a:spcPts val="0"/>
              </a:spcBef>
              <a:buFontTx/>
              <a:buNone/>
            </a:pPr>
            <a:r>
              <a:rPr kumimoji="1" lang="zh-CN" altLang="en-US" sz="2200" dirty="0">
                <a:latin typeface="Times New Roman" pitchFamily="18" charset="0"/>
                <a:cs typeface="Times New Roman" pitchFamily="18" charset="0"/>
              </a:rPr>
              <a:t>  </a:t>
            </a:r>
            <a:r>
              <a:rPr kumimoji="1" lang="zh-CN" altLang="en-US" sz="2200" dirty="0">
                <a:latin typeface="Times New Roman" pitchFamily="18" charset="0"/>
              </a:rPr>
              <a:t> </a:t>
            </a:r>
            <a:r>
              <a:rPr kumimoji="1" lang="zh-CN" altLang="en-US" sz="2200" dirty="0">
                <a:latin typeface="Times New Roman" pitchFamily="18" charset="0"/>
                <a:sym typeface="Wingdings 2" pitchFamily="18" charset="2"/>
              </a:rPr>
              <a:t> </a:t>
            </a:r>
            <a:r>
              <a:rPr kumimoji="1" lang="zh-CN" altLang="en-US" sz="2200" dirty="0">
                <a:solidFill>
                  <a:srgbClr val="FF0000"/>
                </a:solidFill>
                <a:latin typeface="Times New Roman" pitchFamily="18" charset="0"/>
              </a:rPr>
              <a:t>一致性条件 </a:t>
            </a:r>
            <a:r>
              <a:rPr kumimoji="1" lang="en-US" altLang="zh-CN" sz="2200" dirty="0">
                <a:latin typeface="Times New Roman" pitchFamily="18" charset="0"/>
              </a:rPr>
              <a:t>—— </a:t>
            </a:r>
            <a:r>
              <a:rPr kumimoji="1" lang="zh-CN" altLang="en-US" sz="2200" dirty="0">
                <a:latin typeface="Times New Roman" pitchFamily="18" charset="0"/>
              </a:rPr>
              <a:t>状态</a:t>
            </a:r>
            <a:r>
              <a:rPr kumimoji="1" lang="en-US" altLang="zh-CN" sz="2200" dirty="0">
                <a:latin typeface="Verdana" pitchFamily="34" charset="0"/>
              </a:rPr>
              <a:t>S</a:t>
            </a:r>
            <a:r>
              <a:rPr kumimoji="1" lang="zh-CN" altLang="en-US" sz="2200" dirty="0">
                <a:latin typeface="Times New Roman" pitchFamily="18" charset="0"/>
              </a:rPr>
              <a:t>和</a:t>
            </a:r>
            <a:r>
              <a:rPr kumimoji="1" lang="en-US" altLang="zh-CN" sz="2200" dirty="0">
                <a:latin typeface="Verdana" pitchFamily="34" charset="0"/>
              </a:rPr>
              <a:t>T</a:t>
            </a:r>
            <a:r>
              <a:rPr kumimoji="1" lang="zh-CN" altLang="en-US" sz="2200" dirty="0">
                <a:latin typeface="Times New Roman" pitchFamily="18" charset="0"/>
              </a:rPr>
              <a:t>必须同时为可接受状态或不可接受状态。</a:t>
            </a:r>
            <a:endParaRPr kumimoji="1" lang="zh-CN" altLang="en-US" sz="2200" dirty="0">
              <a:latin typeface="Verdana" pitchFamily="34" charset="0"/>
            </a:endParaRPr>
          </a:p>
          <a:p>
            <a:pPr>
              <a:spcBef>
                <a:spcPts val="0"/>
              </a:spcBef>
              <a:buFontTx/>
              <a:buNone/>
            </a:pPr>
            <a:r>
              <a:rPr kumimoji="1" lang="zh-CN" altLang="en-US" sz="2200" dirty="0">
                <a:latin typeface="Times New Roman" pitchFamily="18" charset="0"/>
                <a:sym typeface="Wingdings 2" pitchFamily="18" charset="2"/>
              </a:rPr>
              <a:t>     </a:t>
            </a:r>
            <a:r>
              <a:rPr kumimoji="1" lang="zh-CN" altLang="en-US" sz="2200" dirty="0">
                <a:solidFill>
                  <a:srgbClr val="FF0000"/>
                </a:solidFill>
                <a:latin typeface="Times New Roman" pitchFamily="18" charset="0"/>
              </a:rPr>
              <a:t>蔓延性条件</a:t>
            </a:r>
            <a:r>
              <a:rPr kumimoji="1" lang="zh-CN" altLang="en-US" sz="2200" dirty="0">
                <a:latin typeface="Times New Roman" pitchFamily="18" charset="0"/>
              </a:rPr>
              <a:t> </a:t>
            </a:r>
            <a:r>
              <a:rPr kumimoji="1" lang="en-US" altLang="zh-CN" sz="2200" dirty="0">
                <a:latin typeface="Times New Roman" pitchFamily="18" charset="0"/>
              </a:rPr>
              <a:t>—— </a:t>
            </a:r>
            <a:r>
              <a:rPr kumimoji="1" lang="zh-CN" altLang="en-US" sz="2200" dirty="0">
                <a:latin typeface="Times New Roman" pitchFamily="18" charset="0"/>
              </a:rPr>
              <a:t>对于</a:t>
            </a:r>
            <a:r>
              <a:rPr kumimoji="1" lang="zh-CN" altLang="en-US" sz="2200" dirty="0">
                <a:solidFill>
                  <a:srgbClr val="FF0000"/>
                </a:solidFill>
                <a:latin typeface="Times New Roman" pitchFamily="18" charset="0"/>
              </a:rPr>
              <a:t>所有</a:t>
            </a:r>
            <a:r>
              <a:rPr kumimoji="1" lang="zh-CN" altLang="en-US" sz="2200" dirty="0">
                <a:latin typeface="Times New Roman" pitchFamily="18" charset="0"/>
              </a:rPr>
              <a:t>输入符号，状态</a:t>
            </a:r>
            <a:r>
              <a:rPr kumimoji="1" lang="en-US" altLang="zh-CN" sz="2200" dirty="0">
                <a:latin typeface="Verdana" pitchFamily="34" charset="0"/>
              </a:rPr>
              <a:t>S</a:t>
            </a:r>
            <a:r>
              <a:rPr kumimoji="1" lang="zh-CN" altLang="en-US" sz="2200" dirty="0">
                <a:latin typeface="Times New Roman" pitchFamily="18" charset="0"/>
              </a:rPr>
              <a:t>和状态</a:t>
            </a:r>
            <a:r>
              <a:rPr kumimoji="1" lang="en-US" altLang="zh-CN" sz="2200" dirty="0">
                <a:latin typeface="Verdana" pitchFamily="34" charset="0"/>
              </a:rPr>
              <a:t>T</a:t>
            </a:r>
            <a:r>
              <a:rPr kumimoji="1" lang="zh-CN" altLang="en-US" sz="2200" dirty="0">
                <a:latin typeface="Times New Roman" pitchFamily="18" charset="0"/>
              </a:rPr>
              <a:t>必须转换到等价的状态里。</a:t>
            </a:r>
            <a:endParaRPr lang="zh-CN" altLang="en-US" sz="2200" b="1" dirty="0">
              <a:solidFill>
                <a:srgbClr val="3333FF"/>
              </a:solidFill>
            </a:endParaRPr>
          </a:p>
        </p:txBody>
      </p:sp>
      <p:sp>
        <p:nvSpPr>
          <p:cNvPr id="7" name="Rectangle 3"/>
          <p:cNvSpPr txBox="1">
            <a:spLocks noChangeArrowheads="1"/>
          </p:cNvSpPr>
          <p:nvPr/>
        </p:nvSpPr>
        <p:spPr>
          <a:xfrm>
            <a:off x="282940" y="1851670"/>
            <a:ext cx="8568952" cy="864096"/>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pPr>
            <a:r>
              <a:rPr kumimoji="1" lang="zh-CN" altLang="en-US" sz="2200" b="1" dirty="0">
                <a:solidFill>
                  <a:srgbClr val="0000CC"/>
                </a:solidFill>
                <a:latin typeface="Times New Roman" pitchFamily="18" charset="0"/>
              </a:rPr>
              <a:t>多余状态</a:t>
            </a:r>
            <a:r>
              <a:rPr lang="zh-CN" altLang="en-US" sz="2200" dirty="0"/>
              <a:t>是指：从开始状态出发，任何输入串</a:t>
            </a:r>
            <a:r>
              <a:rPr lang="zh-CN" altLang="en-US" sz="2200" u="sng" dirty="0"/>
              <a:t>都不能到达的状态</a:t>
            </a:r>
            <a:r>
              <a:rPr lang="zh-CN" altLang="en-US" sz="2200" dirty="0"/>
              <a:t>；或者从这个状态</a:t>
            </a:r>
            <a:r>
              <a:rPr lang="zh-CN" altLang="en-US" sz="2200" u="sng" dirty="0"/>
              <a:t>没有通路到达终态</a:t>
            </a:r>
            <a:r>
              <a:rPr lang="zh-CN" altLang="en-US" sz="2200" dirty="0"/>
              <a:t>。</a:t>
            </a:r>
          </a:p>
        </p:txBody>
      </p:sp>
    </p:spTree>
    <p:extLst>
      <p:ext uri="{BB962C8B-B14F-4D97-AF65-F5344CB8AC3E}">
        <p14:creationId xmlns:p14="http://schemas.microsoft.com/office/powerpoint/2010/main" val="42205191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strips(downLeft)">
                                      <p:cBhvr>
                                        <p:cTn id="7" dur="500"/>
                                        <p:tgtEl>
                                          <p:spTgt spid="38915">
                                            <p:txEl>
                                              <p:pRg st="0" end="0"/>
                                            </p:txEl>
                                          </p:spTgt>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38915">
                                            <p:txEl>
                                              <p:pRg st="1" end="1"/>
                                            </p:txEl>
                                          </p:spTgt>
                                        </p:tgtEl>
                                        <p:attrNameLst>
                                          <p:attrName>style.visibility</p:attrName>
                                        </p:attrNameLst>
                                      </p:cBhvr>
                                      <p:to>
                                        <p:strVal val="visible"/>
                                      </p:to>
                                    </p:set>
                                    <p:animEffect transition="in" filter="strips(downLeft)">
                                      <p:cBhvr>
                                        <p:cTn id="10" dur="500"/>
                                        <p:tgtEl>
                                          <p:spTgt spid="38915">
                                            <p:txEl>
                                              <p:pRg st="1" end="1"/>
                                            </p:txEl>
                                          </p:spTgt>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38915">
                                            <p:txEl>
                                              <p:pRg st="2" end="2"/>
                                            </p:txEl>
                                          </p:spTgt>
                                        </p:tgtEl>
                                        <p:attrNameLst>
                                          <p:attrName>style.visibility</p:attrName>
                                        </p:attrNameLst>
                                      </p:cBhvr>
                                      <p:to>
                                        <p:strVal val="visible"/>
                                      </p:to>
                                    </p:set>
                                    <p:animEffect transition="in" filter="strips(downLeft)">
                                      <p:cBhvr>
                                        <p:cTn id="13" dur="500"/>
                                        <p:tgtEl>
                                          <p:spTgt spid="389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strips(downLeft)">
                                      <p:cBhvr>
                                        <p:cTn id="18" dur="5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strips(downLeft)">
                                      <p:cBhvr>
                                        <p:cTn id="23" dur="500"/>
                                        <p:tgtEl>
                                          <p:spTgt spid="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grpId="0"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strips(downLeft)">
                                      <p:cBhvr>
                                        <p:cTn id="28" dur="500"/>
                                        <p:tgtEl>
                                          <p:spTgt spid="6">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strips(downLeft)">
                                      <p:cBhvr>
                                        <p:cTn id="33"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autoUpdateAnimBg="0"/>
      <p:bldP spid="6" grpId="0" build="p" autoUpdateAnimBg="0"/>
      <p:bldP spid="7"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251520" y="0"/>
            <a:ext cx="7772400" cy="857250"/>
          </a:xfrm>
        </p:spPr>
        <p:txBody>
          <a:bodyPr/>
          <a:lstStyle/>
          <a:p>
            <a:pPr eaLnBrk="1" hangingPunct="1"/>
            <a:r>
              <a:rPr lang="en-US" altLang="zh-CN" sz="4000" b="1" dirty="0">
                <a:ea typeface="楷体_GB2312" pitchFamily="49" charset="-122"/>
              </a:rPr>
              <a:t>DFA</a:t>
            </a:r>
            <a:r>
              <a:rPr lang="zh-CN" altLang="en-US" sz="4000" b="1" dirty="0">
                <a:ea typeface="楷体_GB2312" pitchFamily="49" charset="-122"/>
              </a:rPr>
              <a:t>的最小化的方法</a:t>
            </a:r>
            <a:r>
              <a:rPr lang="en-US" altLang="zh-CN" sz="4000" b="1" dirty="0">
                <a:ea typeface="楷体_GB2312" pitchFamily="49" charset="-122"/>
              </a:rPr>
              <a:t>——</a:t>
            </a:r>
            <a:r>
              <a:rPr lang="zh-CN" altLang="en-US" sz="4000" b="1" dirty="0">
                <a:ea typeface="楷体_GB2312" pitchFamily="49" charset="-122"/>
              </a:rPr>
              <a:t>分割法</a:t>
            </a:r>
          </a:p>
        </p:txBody>
      </p:sp>
      <p:sp>
        <p:nvSpPr>
          <p:cNvPr id="74755" name="Rectangle 3"/>
          <p:cNvSpPr>
            <a:spLocks noGrp="1" noChangeArrowheads="1"/>
          </p:cNvSpPr>
          <p:nvPr>
            <p:ph type="body" idx="1"/>
          </p:nvPr>
        </p:nvSpPr>
        <p:spPr>
          <a:xfrm>
            <a:off x="641350" y="1041798"/>
            <a:ext cx="7773988" cy="3892153"/>
          </a:xfrm>
        </p:spPr>
        <p:txBody>
          <a:bodyPr/>
          <a:lstStyle/>
          <a:p>
            <a:pPr marL="533400" indent="-533400" eaLnBrk="1" hangingPunct="1"/>
            <a:r>
              <a:rPr lang="zh-CN" altLang="en-US" sz="3000" dirty="0">
                <a:solidFill>
                  <a:srgbClr val="0000CC"/>
                </a:solidFill>
              </a:rPr>
              <a:t>分割法的核心</a:t>
            </a:r>
          </a:p>
          <a:p>
            <a:pPr marL="914400" lvl="1" indent="-457200" eaLnBrk="1" hangingPunct="1"/>
            <a:r>
              <a:rPr lang="zh-CN" altLang="en-US" dirty="0"/>
              <a:t>把</a:t>
            </a:r>
            <a:r>
              <a:rPr lang="en-US" altLang="zh-CN" dirty="0"/>
              <a:t>DFA</a:t>
            </a:r>
            <a:r>
              <a:rPr lang="zh-CN" altLang="en-US" dirty="0"/>
              <a:t>的全部状态划分成一些互不相交的子集，使得</a:t>
            </a:r>
            <a:r>
              <a:rPr lang="zh-CN" altLang="en-US" u="sng" dirty="0"/>
              <a:t>任何不同的两子集的状态都是可区分的</a:t>
            </a:r>
            <a:r>
              <a:rPr lang="zh-CN" altLang="en-US" dirty="0"/>
              <a:t>（不等价），而</a:t>
            </a:r>
            <a:r>
              <a:rPr lang="zh-CN" altLang="en-US" u="sng" dirty="0"/>
              <a:t>同一子集中的任何两个状态都是等价的</a:t>
            </a:r>
            <a:r>
              <a:rPr lang="en-US" altLang="zh-CN" dirty="0"/>
              <a:t>.</a:t>
            </a:r>
            <a:endParaRPr kumimoji="1" lang="en-US" altLang="zh-CN" dirty="0">
              <a:latin typeface="Times New Roman" pitchFamily="18" charset="0"/>
            </a:endParaRPr>
          </a:p>
        </p:txBody>
      </p:sp>
    </p:spTree>
    <p:extLst>
      <p:ext uri="{BB962C8B-B14F-4D97-AF65-F5344CB8AC3E}">
        <p14:creationId xmlns:p14="http://schemas.microsoft.com/office/powerpoint/2010/main" val="5878805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07504" y="16798"/>
            <a:ext cx="8229600" cy="576064"/>
          </a:xfrm>
        </p:spPr>
        <p:txBody>
          <a:bodyPr>
            <a:normAutofit fontScale="90000"/>
          </a:bodyPr>
          <a:lstStyle/>
          <a:p>
            <a:r>
              <a:rPr kumimoji="1" lang="zh-CN" altLang="en-US" dirty="0">
                <a:solidFill>
                  <a:srgbClr val="0000CC"/>
                </a:solidFill>
                <a:latin typeface="Times New Roman" pitchFamily="18" charset="0"/>
              </a:rPr>
              <a:t>分割法算法</a:t>
            </a:r>
            <a:endParaRPr lang="zh-CN" altLang="zh-CN" dirty="0"/>
          </a:p>
        </p:txBody>
      </p:sp>
      <p:sp>
        <p:nvSpPr>
          <p:cNvPr id="75779" name="Rectangle 3"/>
          <p:cNvSpPr>
            <a:spLocks noGrp="1" noChangeArrowheads="1"/>
          </p:cNvSpPr>
          <p:nvPr>
            <p:ph type="body" idx="1"/>
          </p:nvPr>
        </p:nvSpPr>
        <p:spPr>
          <a:xfrm>
            <a:off x="251520" y="627534"/>
            <a:ext cx="5544616" cy="4515966"/>
          </a:xfrm>
          <a:solidFill>
            <a:schemeClr val="bg1"/>
          </a:solidFill>
          <a:ln w="38100">
            <a:solidFill>
              <a:srgbClr val="3333FF"/>
            </a:solidFill>
            <a:miter lim="800000"/>
            <a:headEnd/>
            <a:tailEnd/>
          </a:ln>
        </p:spPr>
        <p:txBody>
          <a:bodyPr>
            <a:noAutofit/>
          </a:bodyPr>
          <a:lstStyle/>
          <a:p>
            <a:pPr>
              <a:spcBef>
                <a:spcPts val="0"/>
              </a:spcBef>
            </a:pPr>
            <a:r>
              <a:rPr lang="zh-CN" altLang="zh-CN" sz="2100" dirty="0"/>
              <a:t>假定在一个集合中的状态都是等价的。首先将</a:t>
            </a:r>
            <a:r>
              <a:rPr lang="en-US" altLang="zh-CN" sz="2100" dirty="0"/>
              <a:t>DFA</a:t>
            </a:r>
            <a:r>
              <a:rPr lang="zh-CN" altLang="zh-CN" sz="2100" dirty="0"/>
              <a:t>的所有状态放在一个集合</a:t>
            </a:r>
            <a:r>
              <a:rPr lang="en-US" altLang="zh-CN" sz="2100" dirty="0"/>
              <a:t>I</a:t>
            </a:r>
            <a:r>
              <a:rPr lang="zh-CN" altLang="zh-CN" sz="2100" dirty="0"/>
              <a:t>中。</a:t>
            </a:r>
            <a:endParaRPr lang="en-US" altLang="zh-CN" sz="2100" dirty="0"/>
          </a:p>
          <a:p>
            <a:pPr>
              <a:spcBef>
                <a:spcPts val="0"/>
              </a:spcBef>
            </a:pPr>
            <a:r>
              <a:rPr kumimoji="1" lang="zh-CN" altLang="en-US" sz="2100" dirty="0"/>
              <a:t>对集合</a:t>
            </a:r>
            <a:r>
              <a:rPr kumimoji="1" lang="en-US" altLang="zh-CN" sz="2100" dirty="0"/>
              <a:t>I</a:t>
            </a:r>
            <a:r>
              <a:rPr kumimoji="1" lang="zh-CN" altLang="en-US" sz="2100" dirty="0"/>
              <a:t>做划分</a:t>
            </a:r>
            <a:r>
              <a:rPr kumimoji="1" lang="en-US" altLang="zh-CN" sz="2100" dirty="0"/>
              <a:t>П0</a:t>
            </a:r>
            <a:r>
              <a:rPr kumimoji="1" lang="zh-CN" altLang="en-US" sz="2100" dirty="0"/>
              <a:t>：将所有状态分成两个子集</a:t>
            </a:r>
            <a:r>
              <a:rPr kumimoji="1" lang="en-US" altLang="zh-CN" sz="2100" dirty="0"/>
              <a:t>——</a:t>
            </a:r>
            <a:r>
              <a:rPr kumimoji="1" lang="zh-CN" altLang="en-US" sz="2100" dirty="0">
                <a:solidFill>
                  <a:srgbClr val="CC3300"/>
                </a:solidFill>
              </a:rPr>
              <a:t>非终态集</a:t>
            </a:r>
            <a:r>
              <a:rPr kumimoji="1" lang="en-US" altLang="zh-CN" sz="2100" dirty="0">
                <a:solidFill>
                  <a:srgbClr val="CC3300"/>
                </a:solidFill>
              </a:rPr>
              <a:t>I0</a:t>
            </a:r>
            <a:r>
              <a:rPr kumimoji="1" lang="zh-CN" altLang="en-US" sz="2100" dirty="0"/>
              <a:t>和</a:t>
            </a:r>
            <a:r>
              <a:rPr kumimoji="1" lang="zh-CN" altLang="en-US" sz="2100" dirty="0">
                <a:solidFill>
                  <a:srgbClr val="CC3300"/>
                </a:solidFill>
              </a:rPr>
              <a:t>终态集</a:t>
            </a:r>
            <a:r>
              <a:rPr kumimoji="1" lang="en-US" altLang="zh-CN" sz="2100" dirty="0">
                <a:solidFill>
                  <a:srgbClr val="CC3300"/>
                </a:solidFill>
              </a:rPr>
              <a:t>I1</a:t>
            </a:r>
            <a:r>
              <a:rPr kumimoji="1" lang="zh-CN" altLang="en-US" sz="2100" dirty="0">
                <a:solidFill>
                  <a:srgbClr val="CC3300"/>
                </a:solidFill>
              </a:rPr>
              <a:t>；</a:t>
            </a:r>
          </a:p>
          <a:p>
            <a:pPr>
              <a:spcBef>
                <a:spcPts val="0"/>
              </a:spcBef>
            </a:pPr>
            <a:r>
              <a:rPr kumimoji="1" lang="zh-CN" altLang="en-US" sz="2100" dirty="0"/>
              <a:t>运用判定状态</a:t>
            </a:r>
            <a:r>
              <a:rPr kumimoji="1" lang="zh-CN" altLang="en-US" sz="2100" dirty="0">
                <a:solidFill>
                  <a:srgbClr val="CC3300"/>
                </a:solidFill>
              </a:rPr>
              <a:t>是否可区分的原则，</a:t>
            </a:r>
            <a:r>
              <a:rPr kumimoji="1" lang="zh-CN" altLang="en-US" sz="2100" dirty="0"/>
              <a:t>对划分</a:t>
            </a:r>
            <a:r>
              <a:rPr kumimoji="1" lang="en-US" altLang="zh-CN" sz="2100" dirty="0"/>
              <a:t>П0</a:t>
            </a:r>
            <a:r>
              <a:rPr kumimoji="1" lang="zh-CN" altLang="en-US" sz="2100" dirty="0"/>
              <a:t>中的每个子集进行检查，若发现在某个子集中，某个状态与其它状态不等价，将其做进一步的划分</a:t>
            </a:r>
            <a:r>
              <a:rPr kumimoji="1" lang="en-US" altLang="zh-CN" sz="2100" dirty="0"/>
              <a:t>П1</a:t>
            </a:r>
            <a:r>
              <a:rPr kumimoji="1" lang="zh-CN" altLang="en-US" sz="2100" dirty="0"/>
              <a:t>，又得到一个新的状态子集，如果子集中的状态无法区分，则放在同一子集中；重复这一过程；</a:t>
            </a:r>
          </a:p>
          <a:p>
            <a:pPr>
              <a:spcBef>
                <a:spcPts val="0"/>
              </a:spcBef>
            </a:pPr>
            <a:r>
              <a:rPr kumimoji="1" lang="zh-CN" altLang="en-US" sz="2100" dirty="0"/>
              <a:t>最后，从每个子集中选出一个状态做代表，即可构成最小化的</a:t>
            </a:r>
            <a:r>
              <a:rPr kumimoji="1" lang="en-US" altLang="zh-CN" sz="2100" dirty="0"/>
              <a:t>DFA</a:t>
            </a:r>
            <a:r>
              <a:rPr kumimoji="1" lang="zh-CN" altLang="en-US" sz="2100" dirty="0"/>
              <a:t>；</a:t>
            </a:r>
          </a:p>
          <a:p>
            <a:pPr>
              <a:spcBef>
                <a:spcPts val="0"/>
              </a:spcBef>
            </a:pPr>
            <a:r>
              <a:rPr kumimoji="1" lang="zh-CN" altLang="en-US" sz="2100" dirty="0"/>
              <a:t>含有原来初态的子集仍为</a:t>
            </a:r>
            <a:r>
              <a:rPr kumimoji="1" lang="zh-CN" altLang="en-US" sz="2100" dirty="0">
                <a:solidFill>
                  <a:srgbClr val="CC3300"/>
                </a:solidFill>
              </a:rPr>
              <a:t>初态</a:t>
            </a:r>
            <a:r>
              <a:rPr kumimoji="1" lang="zh-CN" altLang="en-US" sz="2100" dirty="0"/>
              <a:t>，各终态的子集仍为</a:t>
            </a:r>
            <a:r>
              <a:rPr kumimoji="1" lang="zh-CN" altLang="en-US" sz="2100" dirty="0">
                <a:solidFill>
                  <a:srgbClr val="CC3300"/>
                </a:solidFill>
              </a:rPr>
              <a:t>终态。</a:t>
            </a:r>
            <a:endParaRPr lang="zh-CN" altLang="en-US" sz="2100" dirty="0"/>
          </a:p>
        </p:txBody>
      </p:sp>
      <p:sp>
        <p:nvSpPr>
          <p:cNvPr id="3" name="椭圆 2"/>
          <p:cNvSpPr/>
          <p:nvPr/>
        </p:nvSpPr>
        <p:spPr>
          <a:xfrm>
            <a:off x="6660232" y="424282"/>
            <a:ext cx="1656184" cy="51339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所有状态</a:t>
            </a:r>
            <a:r>
              <a:rPr lang="en-US" altLang="zh-CN" dirty="0">
                <a:solidFill>
                  <a:schemeClr val="tx1"/>
                </a:solidFill>
              </a:rPr>
              <a:t>I</a:t>
            </a:r>
            <a:endParaRPr lang="zh-CN" altLang="en-US" dirty="0">
              <a:solidFill>
                <a:schemeClr val="tx1"/>
              </a:solidFill>
            </a:endParaRPr>
          </a:p>
        </p:txBody>
      </p:sp>
      <p:sp>
        <p:nvSpPr>
          <p:cNvPr id="7" name="椭圆 6"/>
          <p:cNvSpPr/>
          <p:nvPr/>
        </p:nvSpPr>
        <p:spPr>
          <a:xfrm>
            <a:off x="6207596" y="1298074"/>
            <a:ext cx="1273696" cy="73380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非终结状态</a:t>
            </a:r>
            <a:r>
              <a:rPr lang="en-US" altLang="zh-CN" dirty="0">
                <a:solidFill>
                  <a:schemeClr val="tx1"/>
                </a:solidFill>
              </a:rPr>
              <a:t>I</a:t>
            </a:r>
            <a:r>
              <a:rPr lang="en-US" altLang="zh-CN" baseline="-25000" dirty="0">
                <a:solidFill>
                  <a:schemeClr val="tx1"/>
                </a:solidFill>
              </a:rPr>
              <a:t>0</a:t>
            </a:r>
            <a:endParaRPr lang="zh-CN" altLang="en-US" baseline="-25000" dirty="0">
              <a:solidFill>
                <a:schemeClr val="tx1"/>
              </a:solidFill>
            </a:endParaRPr>
          </a:p>
        </p:txBody>
      </p:sp>
      <p:sp>
        <p:nvSpPr>
          <p:cNvPr id="8" name="椭圆 7"/>
          <p:cNvSpPr/>
          <p:nvPr/>
        </p:nvSpPr>
        <p:spPr>
          <a:xfrm>
            <a:off x="7740352" y="1298074"/>
            <a:ext cx="1296144" cy="73380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终结</a:t>
            </a:r>
            <a:endParaRPr lang="en-US" altLang="zh-CN" dirty="0">
              <a:solidFill>
                <a:schemeClr val="tx1"/>
              </a:solidFill>
            </a:endParaRPr>
          </a:p>
          <a:p>
            <a:pPr algn="ctr"/>
            <a:r>
              <a:rPr lang="zh-CN" altLang="en-US" dirty="0">
                <a:solidFill>
                  <a:schemeClr val="tx1"/>
                </a:solidFill>
              </a:rPr>
              <a:t>状态</a:t>
            </a:r>
            <a:r>
              <a:rPr lang="en-US" altLang="zh-CN" dirty="0">
                <a:solidFill>
                  <a:schemeClr val="tx1"/>
                </a:solidFill>
              </a:rPr>
              <a:t>I</a:t>
            </a:r>
            <a:r>
              <a:rPr lang="en-US" altLang="zh-CN" baseline="-25000" dirty="0">
                <a:solidFill>
                  <a:schemeClr val="tx1"/>
                </a:solidFill>
              </a:rPr>
              <a:t>1</a:t>
            </a:r>
            <a:endParaRPr lang="zh-CN" altLang="en-US" baseline="-25000" dirty="0">
              <a:solidFill>
                <a:schemeClr val="tx1"/>
              </a:solidFill>
            </a:endParaRPr>
          </a:p>
        </p:txBody>
      </p:sp>
      <p:cxnSp>
        <p:nvCxnSpPr>
          <p:cNvPr id="6" name="直接箭头连接符 5"/>
          <p:cNvCxnSpPr>
            <a:stCxn id="3" idx="4"/>
            <a:endCxn id="7" idx="0"/>
          </p:cNvCxnSpPr>
          <p:nvPr/>
        </p:nvCxnSpPr>
        <p:spPr>
          <a:xfrm flipH="1">
            <a:off x="6844444" y="937672"/>
            <a:ext cx="643880" cy="360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3" idx="4"/>
            <a:endCxn id="8" idx="0"/>
          </p:cNvCxnSpPr>
          <p:nvPr/>
        </p:nvCxnSpPr>
        <p:spPr>
          <a:xfrm>
            <a:off x="7488324" y="937672"/>
            <a:ext cx="900100" cy="360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7311902" y="1026790"/>
            <a:ext cx="500458" cy="369332"/>
          </a:xfrm>
          <a:prstGeom prst="rect">
            <a:avLst/>
          </a:prstGeom>
        </p:spPr>
        <p:txBody>
          <a:bodyPr wrap="none">
            <a:spAutoFit/>
          </a:bodyPr>
          <a:lstStyle/>
          <a:p>
            <a:r>
              <a:rPr kumimoji="1" lang="en-US" altLang="zh-CN" dirty="0"/>
              <a:t>П0</a:t>
            </a:r>
            <a:endParaRPr lang="zh-CN" altLang="en-US" dirty="0"/>
          </a:p>
        </p:txBody>
      </p:sp>
      <p:sp>
        <p:nvSpPr>
          <p:cNvPr id="20" name="椭圆 19"/>
          <p:cNvSpPr/>
          <p:nvPr/>
        </p:nvSpPr>
        <p:spPr>
          <a:xfrm>
            <a:off x="6084168" y="2428096"/>
            <a:ext cx="677044" cy="517778"/>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r>
              <a:rPr lang="en-US" altLang="zh-CN" baseline="-25000" dirty="0">
                <a:solidFill>
                  <a:schemeClr val="tx1"/>
                </a:solidFill>
              </a:rPr>
              <a:t>01</a:t>
            </a:r>
            <a:endParaRPr lang="zh-CN" altLang="en-US" baseline="-25000" dirty="0">
              <a:solidFill>
                <a:schemeClr val="tx1"/>
              </a:solidFill>
            </a:endParaRPr>
          </a:p>
        </p:txBody>
      </p:sp>
      <p:sp>
        <p:nvSpPr>
          <p:cNvPr id="21" name="椭圆 20"/>
          <p:cNvSpPr/>
          <p:nvPr/>
        </p:nvSpPr>
        <p:spPr>
          <a:xfrm>
            <a:off x="7020272" y="2428096"/>
            <a:ext cx="720080" cy="517778"/>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r>
              <a:rPr lang="en-US" altLang="zh-CN" baseline="-25000" dirty="0">
                <a:solidFill>
                  <a:schemeClr val="tx1"/>
                </a:solidFill>
              </a:rPr>
              <a:t>02</a:t>
            </a:r>
          </a:p>
        </p:txBody>
      </p:sp>
      <p:cxnSp>
        <p:nvCxnSpPr>
          <p:cNvPr id="22" name="直接箭头连接符 21"/>
          <p:cNvCxnSpPr>
            <a:endCxn id="20" idx="0"/>
          </p:cNvCxnSpPr>
          <p:nvPr/>
        </p:nvCxnSpPr>
        <p:spPr>
          <a:xfrm flipH="1">
            <a:off x="6422690" y="2067694"/>
            <a:ext cx="345554" cy="360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21" idx="0"/>
          </p:cNvCxnSpPr>
          <p:nvPr/>
        </p:nvCxnSpPr>
        <p:spPr>
          <a:xfrm>
            <a:off x="6768244" y="2067694"/>
            <a:ext cx="612068" cy="360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591822" y="2156812"/>
            <a:ext cx="500458" cy="369332"/>
          </a:xfrm>
          <a:prstGeom prst="rect">
            <a:avLst/>
          </a:prstGeom>
        </p:spPr>
        <p:txBody>
          <a:bodyPr wrap="none">
            <a:spAutoFit/>
          </a:bodyPr>
          <a:lstStyle/>
          <a:p>
            <a:r>
              <a:rPr kumimoji="1" lang="en-US" altLang="zh-CN" dirty="0"/>
              <a:t>П1</a:t>
            </a:r>
            <a:endParaRPr lang="zh-CN" altLang="en-US" dirty="0"/>
          </a:p>
        </p:txBody>
      </p:sp>
      <p:sp>
        <p:nvSpPr>
          <p:cNvPr id="37" name="椭圆 36"/>
          <p:cNvSpPr/>
          <p:nvPr/>
        </p:nvSpPr>
        <p:spPr>
          <a:xfrm>
            <a:off x="6660232" y="3280350"/>
            <a:ext cx="776358" cy="517778"/>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r>
              <a:rPr lang="en-US" altLang="zh-CN" baseline="-25000" dirty="0">
                <a:solidFill>
                  <a:schemeClr val="tx1"/>
                </a:solidFill>
              </a:rPr>
              <a:t>021</a:t>
            </a:r>
            <a:endParaRPr lang="zh-CN" altLang="en-US" baseline="-25000" dirty="0">
              <a:solidFill>
                <a:schemeClr val="tx1"/>
              </a:solidFill>
            </a:endParaRPr>
          </a:p>
        </p:txBody>
      </p:sp>
      <p:sp>
        <p:nvSpPr>
          <p:cNvPr id="38" name="椭圆 37"/>
          <p:cNvSpPr/>
          <p:nvPr/>
        </p:nvSpPr>
        <p:spPr>
          <a:xfrm>
            <a:off x="7695650" y="3280350"/>
            <a:ext cx="836790" cy="517778"/>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r>
              <a:rPr lang="en-US" altLang="zh-CN" baseline="-25000" dirty="0">
                <a:solidFill>
                  <a:schemeClr val="tx1"/>
                </a:solidFill>
              </a:rPr>
              <a:t>022</a:t>
            </a:r>
          </a:p>
        </p:txBody>
      </p:sp>
      <p:cxnSp>
        <p:nvCxnSpPr>
          <p:cNvPr id="39" name="直接箭头连接符 38"/>
          <p:cNvCxnSpPr>
            <a:endCxn id="37" idx="0"/>
          </p:cNvCxnSpPr>
          <p:nvPr/>
        </p:nvCxnSpPr>
        <p:spPr>
          <a:xfrm flipH="1">
            <a:off x="7048411" y="2919948"/>
            <a:ext cx="395212" cy="360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38" idx="0"/>
          </p:cNvCxnSpPr>
          <p:nvPr/>
        </p:nvCxnSpPr>
        <p:spPr>
          <a:xfrm>
            <a:off x="7443622" y="2919948"/>
            <a:ext cx="670423" cy="360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7267200" y="3009066"/>
            <a:ext cx="500458" cy="369332"/>
          </a:xfrm>
          <a:prstGeom prst="rect">
            <a:avLst/>
          </a:prstGeom>
        </p:spPr>
        <p:txBody>
          <a:bodyPr wrap="none">
            <a:spAutoFit/>
          </a:bodyPr>
          <a:lstStyle/>
          <a:p>
            <a:r>
              <a:rPr kumimoji="1" lang="en-US" altLang="zh-CN" dirty="0"/>
              <a:t>П2</a:t>
            </a:r>
            <a:endParaRPr lang="zh-CN" altLang="en-US" dirty="0"/>
          </a:p>
        </p:txBody>
      </p:sp>
      <p:sp>
        <p:nvSpPr>
          <p:cNvPr id="75783" name="TextBox 75782"/>
          <p:cNvSpPr txBox="1"/>
          <p:nvPr/>
        </p:nvSpPr>
        <p:spPr>
          <a:xfrm>
            <a:off x="7050163" y="3831034"/>
            <a:ext cx="1482277" cy="584775"/>
          </a:xfrm>
          <a:prstGeom prst="rect">
            <a:avLst/>
          </a:prstGeom>
          <a:noFill/>
        </p:spPr>
        <p:txBody>
          <a:bodyPr wrap="square" rtlCol="0">
            <a:spAutoFit/>
          </a:bodyPr>
          <a:lstStyle/>
          <a:p>
            <a:r>
              <a:rPr lang="en-US" altLang="zh-CN" sz="3200" dirty="0"/>
              <a:t>………</a:t>
            </a:r>
            <a:endParaRPr lang="zh-CN" altLang="en-US" sz="3200" dirty="0"/>
          </a:p>
        </p:txBody>
      </p:sp>
      <p:sp>
        <p:nvSpPr>
          <p:cNvPr id="75784" name="椭圆 75783"/>
          <p:cNvSpPr/>
          <p:nvPr/>
        </p:nvSpPr>
        <p:spPr>
          <a:xfrm>
            <a:off x="8316416" y="3378399"/>
            <a:ext cx="72008" cy="8042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88841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5779">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5779">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5779">
                                            <p:txEl>
                                              <p:pRg st="2" end="2"/>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4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578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75779">
                                            <p:txEl>
                                              <p:pRg st="3" end="3"/>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7578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57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uiExpand="1" build="p" animBg="1"/>
      <p:bldP spid="3" grpId="0" animBg="1"/>
      <p:bldP spid="7" grpId="0" animBg="1"/>
      <p:bldP spid="8" grpId="0" animBg="1"/>
      <p:bldP spid="17" grpId="0"/>
      <p:bldP spid="20" grpId="0" animBg="1"/>
      <p:bldP spid="21" grpId="0" animBg="1"/>
      <p:bldP spid="24" grpId="0"/>
      <p:bldP spid="37" grpId="0" animBg="1"/>
      <p:bldP spid="38" grpId="0" animBg="1"/>
      <p:bldP spid="41" grpId="0"/>
      <p:bldP spid="75783" grpId="0"/>
      <p:bldP spid="7578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9"/>
          <p:cNvSpPr>
            <a:spLocks noChangeArrowheads="1"/>
          </p:cNvSpPr>
          <p:nvPr/>
        </p:nvSpPr>
        <p:spPr bwMode="auto">
          <a:xfrm>
            <a:off x="455193" y="304800"/>
            <a:ext cx="3067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zh-CN" altLang="en-US" sz="2800" b="1" dirty="0">
                <a:solidFill>
                  <a:srgbClr val="0000CC"/>
                </a:solidFill>
              </a:rPr>
              <a:t>例：求最小化</a:t>
            </a:r>
            <a:r>
              <a:rPr lang="en-US" altLang="zh-CN" sz="2800" b="1" dirty="0">
                <a:solidFill>
                  <a:srgbClr val="0000CC"/>
                </a:solidFill>
              </a:rPr>
              <a:t>DFA</a:t>
            </a:r>
          </a:p>
        </p:txBody>
      </p:sp>
      <p:sp>
        <p:nvSpPr>
          <p:cNvPr id="76803" name="Rectangle 81"/>
          <p:cNvSpPr>
            <a:spLocks noChangeArrowheads="1"/>
          </p:cNvSpPr>
          <p:nvPr/>
        </p:nvSpPr>
        <p:spPr bwMode="auto">
          <a:xfrm>
            <a:off x="4329760" y="1606481"/>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9" name="Group 85"/>
          <p:cNvGrpSpPr>
            <a:grpSpLocks/>
          </p:cNvGrpSpPr>
          <p:nvPr/>
        </p:nvGrpSpPr>
        <p:grpSpPr bwMode="auto">
          <a:xfrm>
            <a:off x="5264150" y="2547938"/>
            <a:ext cx="3659188" cy="1906191"/>
            <a:chOff x="3316" y="2140"/>
            <a:chExt cx="2305" cy="1601"/>
          </a:xfrm>
        </p:grpSpPr>
        <p:grpSp>
          <p:nvGrpSpPr>
            <p:cNvPr id="76807" name="Group 2"/>
            <p:cNvGrpSpPr>
              <a:grpSpLocks/>
            </p:cNvGrpSpPr>
            <p:nvPr/>
          </p:nvGrpSpPr>
          <p:grpSpPr bwMode="auto">
            <a:xfrm>
              <a:off x="3622" y="2140"/>
              <a:ext cx="1999" cy="1601"/>
              <a:chOff x="2976" y="2768"/>
              <a:chExt cx="1628" cy="1342"/>
            </a:xfrm>
          </p:grpSpPr>
          <p:grpSp>
            <p:nvGrpSpPr>
              <p:cNvPr id="76809" name="Group 3"/>
              <p:cNvGrpSpPr>
                <a:grpSpLocks/>
              </p:cNvGrpSpPr>
              <p:nvPr/>
            </p:nvGrpSpPr>
            <p:grpSpPr bwMode="auto">
              <a:xfrm>
                <a:off x="4356" y="3540"/>
                <a:ext cx="248" cy="262"/>
                <a:chOff x="3456" y="2688"/>
                <a:chExt cx="432" cy="432"/>
              </a:xfrm>
            </p:grpSpPr>
            <p:sp>
              <p:nvSpPr>
                <p:cNvPr id="76828" name="Oval 4"/>
                <p:cNvSpPr>
                  <a:spLocks noChangeArrowheads="1"/>
                </p:cNvSpPr>
                <p:nvPr/>
              </p:nvSpPr>
              <p:spPr bwMode="auto">
                <a:xfrm>
                  <a:off x="3456" y="2688"/>
                  <a:ext cx="432" cy="43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6829" name="Oval 5"/>
                <p:cNvSpPr>
                  <a:spLocks noChangeArrowheads="1"/>
                </p:cNvSpPr>
                <p:nvPr/>
              </p:nvSpPr>
              <p:spPr bwMode="auto">
                <a:xfrm>
                  <a:off x="3504" y="2736"/>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Times New Roman" pitchFamily="18" charset="0"/>
                    </a:rPr>
                    <a:t>C</a:t>
                  </a:r>
                </a:p>
              </p:txBody>
            </p:sp>
          </p:grpSp>
          <p:sp>
            <p:nvSpPr>
              <p:cNvPr id="76810" name="Oval 6"/>
              <p:cNvSpPr>
                <a:spLocks noChangeArrowheads="1"/>
              </p:cNvSpPr>
              <p:nvPr/>
            </p:nvSpPr>
            <p:spPr bwMode="auto">
              <a:xfrm>
                <a:off x="3555" y="3540"/>
                <a:ext cx="249" cy="2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6811" name="Oval 7"/>
              <p:cNvSpPr>
                <a:spLocks noChangeArrowheads="1"/>
              </p:cNvSpPr>
              <p:nvPr/>
            </p:nvSpPr>
            <p:spPr bwMode="auto">
              <a:xfrm>
                <a:off x="3555" y="2784"/>
                <a:ext cx="249" cy="2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6812" name="Oval 8"/>
              <p:cNvSpPr>
                <a:spLocks noChangeArrowheads="1"/>
              </p:cNvSpPr>
              <p:nvPr/>
            </p:nvSpPr>
            <p:spPr bwMode="auto">
              <a:xfrm>
                <a:off x="2976" y="3191"/>
                <a:ext cx="248" cy="2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S</a:t>
                </a:r>
              </a:p>
            </p:txBody>
          </p:sp>
          <p:cxnSp>
            <p:nvCxnSpPr>
              <p:cNvPr id="76813" name="AutoShape 9"/>
              <p:cNvCxnSpPr>
                <a:cxnSpLocks noChangeShapeType="1"/>
                <a:stCxn id="76812" idx="0"/>
                <a:endCxn id="76811" idx="2"/>
              </p:cNvCxnSpPr>
              <p:nvPr/>
            </p:nvCxnSpPr>
            <p:spPr bwMode="auto">
              <a:xfrm rot="-5400000">
                <a:off x="3190" y="2825"/>
                <a:ext cx="276" cy="4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6814" name="AutoShape 10"/>
              <p:cNvCxnSpPr>
                <a:cxnSpLocks noChangeShapeType="1"/>
                <a:stCxn id="76812" idx="4"/>
                <a:endCxn id="76810" idx="2"/>
              </p:cNvCxnSpPr>
              <p:nvPr/>
            </p:nvCxnSpPr>
            <p:spPr bwMode="auto">
              <a:xfrm rot="16200000" flipH="1">
                <a:off x="3219" y="3334"/>
                <a:ext cx="218" cy="4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6815" name="AutoShape 11"/>
              <p:cNvCxnSpPr>
                <a:cxnSpLocks noChangeShapeType="1"/>
                <a:stCxn id="76810" idx="7"/>
                <a:endCxn id="76811" idx="5"/>
              </p:cNvCxnSpPr>
              <p:nvPr/>
            </p:nvCxnSpPr>
            <p:spPr bwMode="auto">
              <a:xfrm rot="-5400000">
                <a:off x="3483" y="3293"/>
                <a:ext cx="57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6816" name="AutoShape 12"/>
              <p:cNvCxnSpPr>
                <a:cxnSpLocks noChangeShapeType="1"/>
                <a:stCxn id="76811" idx="3"/>
                <a:endCxn id="76810" idx="1"/>
              </p:cNvCxnSpPr>
              <p:nvPr/>
            </p:nvCxnSpPr>
            <p:spPr bwMode="auto">
              <a:xfrm rot="5400000">
                <a:off x="3307" y="3293"/>
                <a:ext cx="57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6817" name="AutoShape 13"/>
              <p:cNvCxnSpPr>
                <a:cxnSpLocks noChangeShapeType="1"/>
                <a:stCxn id="76810" idx="6"/>
                <a:endCxn id="76828" idx="2"/>
              </p:cNvCxnSpPr>
              <p:nvPr/>
            </p:nvCxnSpPr>
            <p:spPr bwMode="auto">
              <a:xfrm>
                <a:off x="3804" y="3671"/>
                <a:ext cx="55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6818" name="AutoShape 14"/>
              <p:cNvCxnSpPr>
                <a:cxnSpLocks noChangeShapeType="1"/>
                <a:stCxn id="76828" idx="3"/>
                <a:endCxn id="76828" idx="5"/>
              </p:cNvCxnSpPr>
              <p:nvPr/>
            </p:nvCxnSpPr>
            <p:spPr bwMode="auto">
              <a:xfrm rot="16200000" flipH="1">
                <a:off x="4479" y="3676"/>
                <a:ext cx="1" cy="176"/>
              </a:xfrm>
              <a:prstGeom prst="curvedConnector3">
                <a:avLst>
                  <a:gd name="adj1" fmla="val 2070000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6819" name="Text Box 15"/>
              <p:cNvSpPr txBox="1">
                <a:spLocks noChangeArrowheads="1"/>
              </p:cNvSpPr>
              <p:nvPr/>
            </p:nvSpPr>
            <p:spPr bwMode="auto">
              <a:xfrm>
                <a:off x="3145" y="2768"/>
                <a:ext cx="165"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6820" name="Text Box 16"/>
              <p:cNvSpPr txBox="1">
                <a:spLocks noChangeArrowheads="1"/>
              </p:cNvSpPr>
              <p:nvPr/>
            </p:nvSpPr>
            <p:spPr bwMode="auto">
              <a:xfrm>
                <a:off x="3726" y="3144"/>
                <a:ext cx="165"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6821" name="Text Box 17"/>
              <p:cNvSpPr txBox="1">
                <a:spLocks noChangeArrowheads="1"/>
              </p:cNvSpPr>
              <p:nvPr/>
            </p:nvSpPr>
            <p:spPr bwMode="auto">
              <a:xfrm>
                <a:off x="4051" y="2949"/>
                <a:ext cx="165"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6822" name="Text Box 18"/>
              <p:cNvSpPr txBox="1">
                <a:spLocks noChangeArrowheads="1"/>
              </p:cNvSpPr>
              <p:nvPr/>
            </p:nvSpPr>
            <p:spPr bwMode="auto">
              <a:xfrm>
                <a:off x="3226" y="3524"/>
                <a:ext cx="174"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6823" name="Text Box 19"/>
              <p:cNvSpPr txBox="1">
                <a:spLocks noChangeArrowheads="1"/>
              </p:cNvSpPr>
              <p:nvPr/>
            </p:nvSpPr>
            <p:spPr bwMode="auto">
              <a:xfrm>
                <a:off x="3447" y="3174"/>
                <a:ext cx="174"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6824" name="Text Box 20"/>
              <p:cNvSpPr txBox="1">
                <a:spLocks noChangeArrowheads="1"/>
              </p:cNvSpPr>
              <p:nvPr/>
            </p:nvSpPr>
            <p:spPr bwMode="auto">
              <a:xfrm>
                <a:off x="4056" y="3582"/>
                <a:ext cx="174"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6825" name="Text Box 21"/>
              <p:cNvSpPr txBox="1">
                <a:spLocks noChangeArrowheads="1"/>
              </p:cNvSpPr>
              <p:nvPr/>
            </p:nvSpPr>
            <p:spPr bwMode="auto">
              <a:xfrm>
                <a:off x="4412" y="3785"/>
                <a:ext cx="174"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b</a:t>
                </a:r>
              </a:p>
            </p:txBody>
          </p:sp>
          <p:sp>
            <p:nvSpPr>
              <p:cNvPr id="76826" name="Text Box 22"/>
              <p:cNvSpPr txBox="1">
                <a:spLocks noChangeArrowheads="1"/>
              </p:cNvSpPr>
              <p:nvPr/>
            </p:nvSpPr>
            <p:spPr bwMode="auto">
              <a:xfrm>
                <a:off x="4271" y="3774"/>
                <a:ext cx="204"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Times New Roman" pitchFamily="18" charset="0"/>
                  </a:rPr>
                  <a:t>a,</a:t>
                </a:r>
              </a:p>
            </p:txBody>
          </p:sp>
          <p:sp>
            <p:nvSpPr>
              <p:cNvPr id="76827" name="Line 23"/>
              <p:cNvSpPr>
                <a:spLocks noChangeShapeType="1"/>
              </p:cNvSpPr>
              <p:nvPr/>
            </p:nvSpPr>
            <p:spPr bwMode="auto">
              <a:xfrm>
                <a:off x="3792" y="2976"/>
                <a:ext cx="576"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6808" name="AutoShape 83"/>
            <p:cNvSpPr>
              <a:spLocks noChangeArrowheads="1"/>
            </p:cNvSpPr>
            <p:nvPr/>
          </p:nvSpPr>
          <p:spPr bwMode="auto">
            <a:xfrm>
              <a:off x="3316" y="2740"/>
              <a:ext cx="312" cy="132"/>
            </a:xfrm>
            <a:prstGeom prst="rightArrow">
              <a:avLst>
                <a:gd name="adj1" fmla="val 50000"/>
                <a:gd name="adj2" fmla="val 59091"/>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
        <p:nvSpPr>
          <p:cNvPr id="3" name="TextBox 2"/>
          <p:cNvSpPr txBox="1"/>
          <p:nvPr/>
        </p:nvSpPr>
        <p:spPr>
          <a:xfrm>
            <a:off x="749717" y="1208732"/>
            <a:ext cx="3348559" cy="43088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altLang="zh-CN" sz="2200" dirty="0"/>
              <a:t>{S</a:t>
            </a:r>
            <a:r>
              <a:rPr lang="zh-CN" altLang="en-US" sz="2200" dirty="0"/>
              <a:t>，</a:t>
            </a:r>
            <a:r>
              <a:rPr lang="en-US" altLang="zh-CN" sz="2200" dirty="0"/>
              <a:t>A</a:t>
            </a:r>
            <a:r>
              <a:rPr lang="zh-CN" altLang="en-US" sz="2200" dirty="0"/>
              <a:t>，</a:t>
            </a:r>
            <a:r>
              <a:rPr lang="en-US" altLang="zh-CN" sz="2200" dirty="0"/>
              <a:t>B</a:t>
            </a:r>
            <a:r>
              <a:rPr lang="zh-CN" altLang="en-US" sz="2200" dirty="0"/>
              <a:t>，</a:t>
            </a:r>
            <a:r>
              <a:rPr lang="en-US" altLang="zh-CN" sz="2200" dirty="0"/>
              <a:t>C</a:t>
            </a:r>
            <a:r>
              <a:rPr lang="zh-CN" altLang="en-US" sz="2200" dirty="0"/>
              <a:t>，</a:t>
            </a:r>
            <a:r>
              <a:rPr lang="en-US" altLang="zh-CN" sz="2200" dirty="0"/>
              <a:t>D</a:t>
            </a:r>
            <a:r>
              <a:rPr lang="zh-CN" altLang="en-US" sz="2200" dirty="0"/>
              <a:t>，</a:t>
            </a:r>
            <a:r>
              <a:rPr lang="en-US" altLang="zh-CN" sz="2200" dirty="0"/>
              <a:t>E</a:t>
            </a:r>
            <a:r>
              <a:rPr lang="zh-CN" altLang="en-US" sz="2200" dirty="0"/>
              <a:t>，</a:t>
            </a:r>
            <a:r>
              <a:rPr lang="en-US" altLang="zh-CN" sz="2200" dirty="0"/>
              <a:t>F}</a:t>
            </a:r>
            <a:endParaRPr lang="zh-CN" altLang="en-US" sz="2200" dirty="0"/>
          </a:p>
        </p:txBody>
      </p:sp>
      <p:cxnSp>
        <p:nvCxnSpPr>
          <p:cNvPr id="5" name="直接箭头连接符 4"/>
          <p:cNvCxnSpPr>
            <a:stCxn id="3" idx="2"/>
          </p:cNvCxnSpPr>
          <p:nvPr/>
        </p:nvCxnSpPr>
        <p:spPr>
          <a:xfrm>
            <a:off x="2423997" y="1639619"/>
            <a:ext cx="0" cy="477432"/>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5496" y="2212871"/>
            <a:ext cx="876447" cy="430887"/>
          </a:xfrm>
          <a:prstGeom prst="rect">
            <a:avLst/>
          </a:prstGeom>
          <a:noFill/>
        </p:spPr>
        <p:txBody>
          <a:bodyPr wrap="square" rtlCol="0">
            <a:spAutoFit/>
          </a:bodyPr>
          <a:lstStyle/>
          <a:p>
            <a:r>
              <a:rPr lang="az-Cyrl-AZ" altLang="zh-CN" sz="2200" dirty="0"/>
              <a:t>П</a:t>
            </a:r>
            <a:r>
              <a:rPr lang="en-US" altLang="zh-CN" sz="2200" dirty="0"/>
              <a:t>0</a:t>
            </a:r>
            <a:r>
              <a:rPr lang="zh-CN" altLang="en-US" sz="2200" dirty="0"/>
              <a:t>：</a:t>
            </a:r>
          </a:p>
        </p:txBody>
      </p:sp>
      <p:sp>
        <p:nvSpPr>
          <p:cNvPr id="80" name="TextBox 79"/>
          <p:cNvSpPr txBox="1"/>
          <p:nvPr/>
        </p:nvSpPr>
        <p:spPr>
          <a:xfrm>
            <a:off x="971600" y="2193940"/>
            <a:ext cx="1506310" cy="43088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{S</a:t>
            </a:r>
            <a:r>
              <a:rPr lang="zh-CN" altLang="en-US" sz="2200" dirty="0"/>
              <a:t>，</a:t>
            </a:r>
            <a:r>
              <a:rPr lang="en-US" altLang="zh-CN" sz="2200" dirty="0"/>
              <a:t>A</a:t>
            </a:r>
            <a:r>
              <a:rPr lang="zh-CN" altLang="en-US" sz="2200" dirty="0"/>
              <a:t>，</a:t>
            </a:r>
            <a:r>
              <a:rPr lang="en-US" altLang="zh-CN" sz="2200" dirty="0"/>
              <a:t>B}</a:t>
            </a:r>
            <a:endParaRPr lang="zh-CN" altLang="en-US" sz="2200" dirty="0"/>
          </a:p>
        </p:txBody>
      </p:sp>
      <p:cxnSp>
        <p:nvCxnSpPr>
          <p:cNvPr id="81" name="直接箭头连接符 80"/>
          <p:cNvCxnSpPr/>
          <p:nvPr/>
        </p:nvCxnSpPr>
        <p:spPr>
          <a:xfrm>
            <a:off x="1469799" y="2624827"/>
            <a:ext cx="1" cy="641838"/>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35496" y="3291830"/>
            <a:ext cx="876447" cy="430887"/>
          </a:xfrm>
          <a:prstGeom prst="rect">
            <a:avLst/>
          </a:prstGeom>
          <a:noFill/>
        </p:spPr>
        <p:txBody>
          <a:bodyPr wrap="square" rtlCol="0">
            <a:spAutoFit/>
          </a:bodyPr>
          <a:lstStyle/>
          <a:p>
            <a:r>
              <a:rPr lang="az-Cyrl-AZ" altLang="zh-CN" sz="2200" dirty="0"/>
              <a:t>П</a:t>
            </a:r>
            <a:r>
              <a:rPr lang="en-US" altLang="zh-CN" sz="2200" dirty="0"/>
              <a:t>1</a:t>
            </a:r>
            <a:r>
              <a:rPr lang="zh-CN" altLang="en-US" sz="2200" dirty="0"/>
              <a:t>：</a:t>
            </a:r>
          </a:p>
        </p:txBody>
      </p:sp>
      <p:sp>
        <p:nvSpPr>
          <p:cNvPr id="83" name="TextBox 82"/>
          <p:cNvSpPr txBox="1"/>
          <p:nvPr/>
        </p:nvSpPr>
        <p:spPr>
          <a:xfrm>
            <a:off x="911943" y="3308200"/>
            <a:ext cx="567277" cy="43088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200" dirty="0"/>
              <a:t>{A}</a:t>
            </a:r>
            <a:endParaRPr lang="zh-CN" altLang="en-US" sz="2200" dirty="0"/>
          </a:p>
        </p:txBody>
      </p:sp>
      <p:sp>
        <p:nvSpPr>
          <p:cNvPr id="84" name="TextBox 83"/>
          <p:cNvSpPr txBox="1"/>
          <p:nvPr/>
        </p:nvSpPr>
        <p:spPr>
          <a:xfrm>
            <a:off x="2477910" y="2193940"/>
            <a:ext cx="1948623" cy="43088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2200" dirty="0"/>
              <a:t>{C</a:t>
            </a:r>
            <a:r>
              <a:rPr lang="zh-CN" altLang="en-US" sz="2200" dirty="0"/>
              <a:t>，</a:t>
            </a:r>
            <a:r>
              <a:rPr lang="en-US" altLang="zh-CN" sz="2200" dirty="0"/>
              <a:t>D</a:t>
            </a:r>
            <a:r>
              <a:rPr lang="zh-CN" altLang="en-US" sz="2200" dirty="0"/>
              <a:t>，</a:t>
            </a:r>
            <a:r>
              <a:rPr lang="en-US" altLang="zh-CN" sz="2200" dirty="0"/>
              <a:t>E</a:t>
            </a:r>
            <a:r>
              <a:rPr lang="zh-CN" altLang="en-US" sz="2200" dirty="0"/>
              <a:t>，</a:t>
            </a:r>
            <a:r>
              <a:rPr lang="en-US" altLang="zh-CN" sz="2200" dirty="0"/>
              <a:t>F}</a:t>
            </a:r>
            <a:endParaRPr lang="zh-CN" altLang="en-US" sz="2200" dirty="0"/>
          </a:p>
        </p:txBody>
      </p:sp>
      <p:sp>
        <p:nvSpPr>
          <p:cNvPr id="89" name="TextBox 88"/>
          <p:cNvSpPr txBox="1"/>
          <p:nvPr/>
        </p:nvSpPr>
        <p:spPr>
          <a:xfrm>
            <a:off x="2477910" y="3308200"/>
            <a:ext cx="1948623" cy="43088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2200" dirty="0"/>
              <a:t>{C</a:t>
            </a:r>
            <a:r>
              <a:rPr lang="zh-CN" altLang="en-US" sz="2200" dirty="0"/>
              <a:t>，</a:t>
            </a:r>
            <a:r>
              <a:rPr lang="en-US" altLang="zh-CN" sz="2200" dirty="0"/>
              <a:t>D</a:t>
            </a:r>
            <a:r>
              <a:rPr lang="zh-CN" altLang="en-US" sz="2200" dirty="0"/>
              <a:t>，</a:t>
            </a:r>
            <a:r>
              <a:rPr lang="en-US" altLang="zh-CN" sz="2200" dirty="0"/>
              <a:t>E</a:t>
            </a:r>
            <a:r>
              <a:rPr lang="zh-CN" altLang="en-US" sz="2200" dirty="0"/>
              <a:t>，</a:t>
            </a:r>
            <a:r>
              <a:rPr lang="en-US" altLang="zh-CN" sz="2200" dirty="0"/>
              <a:t>F}</a:t>
            </a:r>
            <a:endParaRPr lang="zh-CN" altLang="en-US" sz="2200" dirty="0"/>
          </a:p>
        </p:txBody>
      </p:sp>
      <p:sp>
        <p:nvSpPr>
          <p:cNvPr id="90" name="TextBox 89"/>
          <p:cNvSpPr txBox="1"/>
          <p:nvPr/>
        </p:nvSpPr>
        <p:spPr>
          <a:xfrm>
            <a:off x="1503172" y="3308200"/>
            <a:ext cx="936104" cy="43088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{S</a:t>
            </a:r>
            <a:r>
              <a:rPr lang="zh-CN" altLang="en-US" sz="2200" dirty="0"/>
              <a:t>，</a:t>
            </a:r>
            <a:r>
              <a:rPr lang="en-US" altLang="zh-CN" sz="2200" dirty="0"/>
              <a:t>B}</a:t>
            </a:r>
            <a:endParaRPr lang="zh-CN" altLang="en-US" sz="2200" dirty="0"/>
          </a:p>
        </p:txBody>
      </p:sp>
      <p:sp>
        <p:nvSpPr>
          <p:cNvPr id="91" name="TextBox 90"/>
          <p:cNvSpPr txBox="1"/>
          <p:nvPr/>
        </p:nvSpPr>
        <p:spPr>
          <a:xfrm>
            <a:off x="35496" y="4419683"/>
            <a:ext cx="876447" cy="430887"/>
          </a:xfrm>
          <a:prstGeom prst="rect">
            <a:avLst/>
          </a:prstGeom>
          <a:solidFill>
            <a:schemeClr val="bg1"/>
          </a:solidFill>
        </p:spPr>
        <p:txBody>
          <a:bodyPr wrap="square" rtlCol="0">
            <a:spAutoFit/>
          </a:bodyPr>
          <a:lstStyle/>
          <a:p>
            <a:r>
              <a:rPr lang="az-Cyrl-AZ" altLang="zh-CN" sz="2200" dirty="0"/>
              <a:t>П</a:t>
            </a:r>
            <a:r>
              <a:rPr lang="en-US" altLang="zh-CN" sz="2200" dirty="0"/>
              <a:t>2</a:t>
            </a:r>
            <a:r>
              <a:rPr lang="zh-CN" altLang="en-US" sz="2200" dirty="0"/>
              <a:t>：</a:t>
            </a:r>
          </a:p>
        </p:txBody>
      </p:sp>
      <p:sp>
        <p:nvSpPr>
          <p:cNvPr id="92" name="TextBox 91"/>
          <p:cNvSpPr txBox="1"/>
          <p:nvPr/>
        </p:nvSpPr>
        <p:spPr>
          <a:xfrm>
            <a:off x="821726" y="4436053"/>
            <a:ext cx="567277" cy="43088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200" dirty="0"/>
              <a:t>{A}</a:t>
            </a:r>
            <a:endParaRPr lang="zh-CN" altLang="en-US" sz="2200" dirty="0"/>
          </a:p>
        </p:txBody>
      </p:sp>
      <p:sp>
        <p:nvSpPr>
          <p:cNvPr id="93" name="TextBox 92"/>
          <p:cNvSpPr txBox="1"/>
          <p:nvPr/>
        </p:nvSpPr>
        <p:spPr>
          <a:xfrm>
            <a:off x="2495819" y="4436053"/>
            <a:ext cx="1948623" cy="43088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2200" dirty="0"/>
              <a:t>{C</a:t>
            </a:r>
            <a:r>
              <a:rPr lang="zh-CN" altLang="en-US" sz="2200" dirty="0"/>
              <a:t>，</a:t>
            </a:r>
            <a:r>
              <a:rPr lang="en-US" altLang="zh-CN" sz="2200" dirty="0"/>
              <a:t>D</a:t>
            </a:r>
            <a:r>
              <a:rPr lang="zh-CN" altLang="en-US" sz="2200" dirty="0"/>
              <a:t>，</a:t>
            </a:r>
            <a:r>
              <a:rPr lang="en-US" altLang="zh-CN" sz="2200" dirty="0"/>
              <a:t>E</a:t>
            </a:r>
            <a:r>
              <a:rPr lang="zh-CN" altLang="en-US" sz="2200" dirty="0"/>
              <a:t>，</a:t>
            </a:r>
            <a:r>
              <a:rPr lang="en-US" altLang="zh-CN" sz="2200" dirty="0"/>
              <a:t>F}</a:t>
            </a:r>
            <a:endParaRPr lang="zh-CN" altLang="en-US" sz="2200" dirty="0"/>
          </a:p>
        </p:txBody>
      </p:sp>
      <p:sp>
        <p:nvSpPr>
          <p:cNvPr id="94" name="TextBox 93"/>
          <p:cNvSpPr txBox="1"/>
          <p:nvPr/>
        </p:nvSpPr>
        <p:spPr>
          <a:xfrm>
            <a:off x="1973854" y="4436053"/>
            <a:ext cx="483331" cy="43088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{B}</a:t>
            </a:r>
            <a:endParaRPr lang="zh-CN" altLang="en-US" sz="2200" dirty="0"/>
          </a:p>
        </p:txBody>
      </p:sp>
      <p:sp>
        <p:nvSpPr>
          <p:cNvPr id="95" name="TextBox 94"/>
          <p:cNvSpPr txBox="1"/>
          <p:nvPr/>
        </p:nvSpPr>
        <p:spPr>
          <a:xfrm>
            <a:off x="1443163" y="4436053"/>
            <a:ext cx="512782" cy="430887"/>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{S}</a:t>
            </a:r>
            <a:endParaRPr lang="zh-CN" altLang="en-US" sz="2200" dirty="0"/>
          </a:p>
        </p:txBody>
      </p:sp>
      <p:cxnSp>
        <p:nvCxnSpPr>
          <p:cNvPr id="96" name="直接箭头连接符 95"/>
          <p:cNvCxnSpPr/>
          <p:nvPr/>
        </p:nvCxnSpPr>
        <p:spPr>
          <a:xfrm>
            <a:off x="1973854" y="3733231"/>
            <a:ext cx="1" cy="686452"/>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505839" y="1707654"/>
            <a:ext cx="2492351" cy="369332"/>
          </a:xfrm>
          <a:prstGeom prst="rect">
            <a:avLst/>
          </a:prstGeom>
          <a:noFill/>
        </p:spPr>
        <p:txBody>
          <a:bodyPr wrap="square" rtlCol="0">
            <a:spAutoFit/>
          </a:bodyPr>
          <a:lstStyle/>
          <a:p>
            <a:r>
              <a:rPr lang="zh-CN" altLang="en-US" dirty="0"/>
              <a:t>根据终态和非终态划分</a:t>
            </a:r>
          </a:p>
        </p:txBody>
      </p:sp>
      <p:sp>
        <p:nvSpPr>
          <p:cNvPr id="98" name="TextBox 97"/>
          <p:cNvSpPr txBox="1"/>
          <p:nvPr/>
        </p:nvSpPr>
        <p:spPr>
          <a:xfrm>
            <a:off x="1644324" y="2670862"/>
            <a:ext cx="2730736" cy="646331"/>
          </a:xfrm>
          <a:prstGeom prst="rect">
            <a:avLst/>
          </a:prstGeom>
          <a:noFill/>
        </p:spPr>
        <p:txBody>
          <a:bodyPr wrap="square" rtlCol="0">
            <a:spAutoFit/>
          </a:bodyPr>
          <a:lstStyle/>
          <a:p>
            <a:r>
              <a:rPr lang="en-US" altLang="zh-CN" dirty="0"/>
              <a:t>δ(</a:t>
            </a:r>
            <a:r>
              <a:rPr lang="en-US" altLang="zh-CN" dirty="0" err="1"/>
              <a:t>A,a</a:t>
            </a:r>
            <a:r>
              <a:rPr lang="en-US" altLang="zh-CN" dirty="0"/>
              <a:t>) = C, </a:t>
            </a:r>
          </a:p>
          <a:p>
            <a:r>
              <a:rPr lang="en-US" altLang="zh-CN" dirty="0"/>
              <a:t>δ(</a:t>
            </a:r>
            <a:r>
              <a:rPr lang="en-US" altLang="zh-CN" dirty="0" err="1"/>
              <a:t>S,a</a:t>
            </a:r>
            <a:r>
              <a:rPr lang="en-US" altLang="zh-CN" dirty="0"/>
              <a:t>) = A, δ(</a:t>
            </a:r>
            <a:r>
              <a:rPr lang="en-US" altLang="zh-CN" dirty="0" err="1"/>
              <a:t>B,a</a:t>
            </a:r>
            <a:r>
              <a:rPr lang="en-US" altLang="zh-CN" dirty="0"/>
              <a:t>) = A</a:t>
            </a:r>
            <a:endParaRPr lang="zh-CN" altLang="en-US" dirty="0"/>
          </a:p>
        </p:txBody>
      </p:sp>
      <p:sp>
        <p:nvSpPr>
          <p:cNvPr id="101" name="TextBox 100"/>
          <p:cNvSpPr txBox="1"/>
          <p:nvPr/>
        </p:nvSpPr>
        <p:spPr>
          <a:xfrm>
            <a:off x="2148380" y="3797627"/>
            <a:ext cx="1603634" cy="646331"/>
          </a:xfrm>
          <a:prstGeom prst="rect">
            <a:avLst/>
          </a:prstGeom>
          <a:noFill/>
        </p:spPr>
        <p:txBody>
          <a:bodyPr wrap="square" rtlCol="0">
            <a:spAutoFit/>
          </a:bodyPr>
          <a:lstStyle/>
          <a:p>
            <a:r>
              <a:rPr lang="en-US" altLang="zh-CN" dirty="0"/>
              <a:t>δ(</a:t>
            </a:r>
            <a:r>
              <a:rPr lang="en-US" altLang="zh-CN" dirty="0" err="1"/>
              <a:t>S,b</a:t>
            </a:r>
            <a:r>
              <a:rPr lang="en-US" altLang="zh-CN" dirty="0"/>
              <a:t>) = B, </a:t>
            </a:r>
          </a:p>
          <a:p>
            <a:r>
              <a:rPr lang="en-US" altLang="zh-CN" dirty="0"/>
              <a:t>δ(</a:t>
            </a:r>
            <a:r>
              <a:rPr lang="en-US" altLang="zh-CN" dirty="0" err="1"/>
              <a:t>B,b</a:t>
            </a:r>
            <a:r>
              <a:rPr lang="en-US" altLang="zh-CN" dirty="0"/>
              <a:t>) = D</a:t>
            </a:r>
            <a:endParaRPr lang="zh-CN" altLang="en-US" dirty="0"/>
          </a:p>
        </p:txBody>
      </p:sp>
      <p:graphicFrame>
        <p:nvGraphicFramePr>
          <p:cNvPr id="18" name="对象 17"/>
          <p:cNvGraphicFramePr>
            <a:graphicFrameLocks noChangeAspect="1"/>
          </p:cNvGraphicFramePr>
          <p:nvPr>
            <p:extLst>
              <p:ext uri="{D42A27DB-BD31-4B8C-83A1-F6EECF244321}">
                <p14:modId xmlns:p14="http://schemas.microsoft.com/office/powerpoint/2010/main" val="2455767700"/>
              </p:ext>
            </p:extLst>
          </p:nvPr>
        </p:nvGraphicFramePr>
        <p:xfrm>
          <a:off x="4592655" y="-92546"/>
          <a:ext cx="4542393" cy="2429107"/>
        </p:xfrm>
        <a:graphic>
          <a:graphicData uri="http://schemas.openxmlformats.org/presentationml/2006/ole">
            <mc:AlternateContent xmlns:mc="http://schemas.openxmlformats.org/markup-compatibility/2006">
              <mc:Choice xmlns:v="urn:schemas-microsoft-com:vml" Requires="v">
                <p:oleObj spid="_x0000_s32781" name="Visio" r:id="rId4" imgW="2773680" imgH="1275533" progId="Visio.Drawing.11">
                  <p:embed/>
                </p:oleObj>
              </mc:Choice>
              <mc:Fallback>
                <p:oleObj name="Visio" r:id="rId4" imgW="2773680" imgH="1275533" progId="Visio.Drawing.11">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655" y="-92546"/>
                        <a:ext cx="4542393" cy="242910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74858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par>
                                <p:cTn id="12" presetID="22" presetClass="entr" presetSubtype="1"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1"/>
                                        </p:tgtEl>
                                        <p:attrNameLst>
                                          <p:attrName>style.visibility</p:attrName>
                                        </p:attrNameLst>
                                      </p:cBhvr>
                                      <p:to>
                                        <p:strVal val="visible"/>
                                      </p:to>
                                    </p:set>
                                    <p:animEffect transition="in" filter="wipe(up)">
                                      <p:cBhvr>
                                        <p:cTn id="27" dur="500"/>
                                        <p:tgtEl>
                                          <p:spTgt spid="81"/>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wipe(up)">
                                      <p:cBhvr>
                                        <p:cTn id="30" dur="500"/>
                                        <p:tgtEl>
                                          <p:spTgt spid="9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6"/>
                                        </p:tgtEl>
                                        <p:attrNameLst>
                                          <p:attrName>style.visibility</p:attrName>
                                        </p:attrNameLst>
                                      </p:cBhvr>
                                      <p:to>
                                        <p:strVal val="visible"/>
                                      </p:to>
                                    </p:set>
                                    <p:animEffect transition="in" filter="wipe(up)">
                                      <p:cBhvr>
                                        <p:cTn id="49" dur="500"/>
                                        <p:tgtEl>
                                          <p:spTgt spid="96"/>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101"/>
                                        </p:tgtEl>
                                        <p:attrNameLst>
                                          <p:attrName>style.visibility</p:attrName>
                                        </p:attrNameLst>
                                      </p:cBhvr>
                                      <p:to>
                                        <p:strVal val="visible"/>
                                      </p:to>
                                    </p:set>
                                    <p:animEffect transition="in" filter="wipe(up)">
                                      <p:cBhvr>
                                        <p:cTn id="52" dur="500"/>
                                        <p:tgtEl>
                                          <p:spTgt spid="10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80" grpId="0" animBg="1"/>
      <p:bldP spid="82" grpId="0"/>
      <p:bldP spid="83" grpId="0" animBg="1"/>
      <p:bldP spid="84" grpId="0" animBg="1"/>
      <p:bldP spid="89" grpId="0" animBg="1"/>
      <p:bldP spid="90" grpId="0" animBg="1"/>
      <p:bldP spid="91" grpId="0" animBg="1"/>
      <p:bldP spid="92" grpId="0" animBg="1"/>
      <p:bldP spid="93" grpId="0" animBg="1"/>
      <p:bldP spid="94" grpId="0" animBg="1"/>
      <p:bldP spid="95" grpId="0" animBg="1"/>
      <p:bldP spid="12" grpId="0"/>
      <p:bldP spid="98" grpId="0"/>
      <p:bldP spid="10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normAutofit fontScale="90000"/>
          </a:bodyPr>
          <a:lstStyle/>
          <a:p>
            <a:pPr eaLnBrk="1" hangingPunct="1"/>
            <a:endParaRPr lang="zh-CN" altLang="zh-CN"/>
          </a:p>
        </p:txBody>
      </p:sp>
      <p:sp>
        <p:nvSpPr>
          <p:cNvPr id="77827" name="Rectangle 3"/>
          <p:cNvSpPr>
            <a:spLocks noGrp="1" noChangeArrowheads="1"/>
          </p:cNvSpPr>
          <p:nvPr>
            <p:ph type="body" idx="1"/>
          </p:nvPr>
        </p:nvSpPr>
        <p:spPr>
          <a:xfrm>
            <a:off x="457200" y="1200150"/>
            <a:ext cx="8229600" cy="628650"/>
          </a:xfrm>
        </p:spPr>
        <p:txBody>
          <a:bodyPr/>
          <a:lstStyle/>
          <a:p>
            <a:pPr eaLnBrk="1" hangingPunct="1"/>
            <a:r>
              <a:rPr lang="zh-CN" altLang="en-US"/>
              <a:t>合并状态注意：</a:t>
            </a:r>
          </a:p>
        </p:txBody>
      </p:sp>
      <p:grpSp>
        <p:nvGrpSpPr>
          <p:cNvPr id="2" name="Group 4"/>
          <p:cNvGrpSpPr>
            <a:grpSpLocks/>
          </p:cNvGrpSpPr>
          <p:nvPr/>
        </p:nvGrpSpPr>
        <p:grpSpPr bwMode="auto">
          <a:xfrm>
            <a:off x="533400" y="1771650"/>
            <a:ext cx="8001000" cy="2495550"/>
            <a:chOff x="-3" y="-3"/>
            <a:chExt cx="5939" cy="812"/>
          </a:xfrm>
        </p:grpSpPr>
        <p:grpSp>
          <p:nvGrpSpPr>
            <p:cNvPr id="77829" name="Group 5"/>
            <p:cNvGrpSpPr>
              <a:grpSpLocks/>
            </p:cNvGrpSpPr>
            <p:nvPr/>
          </p:nvGrpSpPr>
          <p:grpSpPr bwMode="auto">
            <a:xfrm>
              <a:off x="0" y="0"/>
              <a:ext cx="5933" cy="806"/>
              <a:chOff x="0" y="0"/>
              <a:chExt cx="5933" cy="806"/>
            </a:xfrm>
          </p:grpSpPr>
          <p:grpSp>
            <p:nvGrpSpPr>
              <p:cNvPr id="77831" name="Group 6"/>
              <p:cNvGrpSpPr>
                <a:grpSpLocks/>
              </p:cNvGrpSpPr>
              <p:nvPr/>
            </p:nvGrpSpPr>
            <p:grpSpPr bwMode="auto">
              <a:xfrm>
                <a:off x="0" y="0"/>
                <a:ext cx="5933" cy="403"/>
                <a:chOff x="0" y="0"/>
                <a:chExt cx="5933" cy="403"/>
              </a:xfrm>
            </p:grpSpPr>
            <p:sp>
              <p:nvSpPr>
                <p:cNvPr id="77835" name="Rectangle 7"/>
                <p:cNvSpPr>
                  <a:spLocks noChangeArrowheads="1"/>
                </p:cNvSpPr>
                <p:nvPr/>
              </p:nvSpPr>
              <p:spPr bwMode="auto">
                <a:xfrm>
                  <a:off x="0" y="0"/>
                  <a:ext cx="593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200" dirty="0">
                      <a:latin typeface="宋体" pitchFamily="2" charset="-122"/>
                    </a:rPr>
                    <a:t>a</a:t>
                  </a:r>
                  <a:r>
                    <a:rPr kumimoji="1" lang="zh-CN" altLang="en-US" sz="2200" dirty="0">
                      <a:latin typeface="宋体" pitchFamily="2" charset="-122"/>
                    </a:rPr>
                    <a:t>、由于一个子集中，各状态等价，故只需将原进入该子集中各状态的弧都改为进入所选的状态，子集中各状态射出的弧均改为从该状态射出。</a:t>
                  </a:r>
                  <a:endParaRPr kumimoji="1" lang="zh-CN" altLang="en-US" sz="2200" dirty="0">
                    <a:latin typeface="Times New Roman" pitchFamily="18" charset="0"/>
                  </a:endParaRPr>
                </a:p>
              </p:txBody>
            </p:sp>
            <p:sp>
              <p:nvSpPr>
                <p:cNvPr id="77836" name="Rectangle 8"/>
                <p:cNvSpPr>
                  <a:spLocks noChangeArrowheads="1"/>
                </p:cNvSpPr>
                <p:nvPr/>
              </p:nvSpPr>
              <p:spPr bwMode="auto">
                <a:xfrm>
                  <a:off x="0" y="0"/>
                  <a:ext cx="593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grpSp>
            <p:nvGrpSpPr>
              <p:cNvPr id="77832" name="Group 9"/>
              <p:cNvGrpSpPr>
                <a:grpSpLocks/>
              </p:cNvGrpSpPr>
              <p:nvPr/>
            </p:nvGrpSpPr>
            <p:grpSpPr bwMode="auto">
              <a:xfrm>
                <a:off x="0" y="403"/>
                <a:ext cx="5933" cy="403"/>
                <a:chOff x="0" y="403"/>
                <a:chExt cx="5933" cy="403"/>
              </a:xfrm>
            </p:grpSpPr>
            <p:sp>
              <p:nvSpPr>
                <p:cNvPr id="77833" name="Rectangle 10"/>
                <p:cNvSpPr>
                  <a:spLocks noChangeArrowheads="1"/>
                </p:cNvSpPr>
                <p:nvPr/>
              </p:nvSpPr>
              <p:spPr bwMode="auto">
                <a:xfrm>
                  <a:off x="0" y="403"/>
                  <a:ext cx="593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en-US" altLang="zh-CN" sz="2200">
                      <a:latin typeface="宋体" pitchFamily="2" charset="-122"/>
                    </a:rPr>
                    <a:t>b</a:t>
                  </a:r>
                  <a:r>
                    <a:rPr kumimoji="1" lang="zh-CN" altLang="en-US" sz="2200">
                      <a:latin typeface="宋体" pitchFamily="2" charset="-122"/>
                    </a:rPr>
                    <a:t>、含有原来初态的子集仍为初态，含原终态的子集仍为终态</a:t>
                  </a:r>
                  <a:endParaRPr kumimoji="1" lang="zh-CN" altLang="en-US" sz="2200">
                    <a:latin typeface="宋体" pitchFamily="2" charset="-122"/>
                    <a:cs typeface="Times New Roman" pitchFamily="18" charset="0"/>
                  </a:endParaRPr>
                </a:p>
                <a:p>
                  <a:pPr>
                    <a:spcBef>
                      <a:spcPct val="0"/>
                    </a:spcBef>
                    <a:buFontTx/>
                    <a:buNone/>
                  </a:pPr>
                  <a:endParaRPr kumimoji="1" lang="en-US" altLang="zh-CN" sz="2200">
                    <a:latin typeface="Times New Roman" pitchFamily="18" charset="0"/>
                  </a:endParaRPr>
                </a:p>
              </p:txBody>
            </p:sp>
            <p:sp>
              <p:nvSpPr>
                <p:cNvPr id="77834" name="Rectangle 11"/>
                <p:cNvSpPr>
                  <a:spLocks noChangeArrowheads="1"/>
                </p:cNvSpPr>
                <p:nvPr/>
              </p:nvSpPr>
              <p:spPr bwMode="auto">
                <a:xfrm>
                  <a:off x="0" y="403"/>
                  <a:ext cx="593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grpSp>
        <p:sp>
          <p:nvSpPr>
            <p:cNvPr id="77830" name="Rectangle 12"/>
            <p:cNvSpPr>
              <a:spLocks noChangeArrowheads="1"/>
            </p:cNvSpPr>
            <p:nvPr/>
          </p:nvSpPr>
          <p:spPr bwMode="auto">
            <a:xfrm>
              <a:off x="-3" y="-3"/>
              <a:ext cx="5939" cy="81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200"/>
            </a:p>
          </p:txBody>
        </p:sp>
      </p:grpSp>
    </p:spTree>
    <p:extLst>
      <p:ext uri="{BB962C8B-B14F-4D97-AF65-F5344CB8AC3E}">
        <p14:creationId xmlns:p14="http://schemas.microsoft.com/office/powerpoint/2010/main" val="3305468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205978"/>
            <a:ext cx="8229600" cy="594122"/>
          </a:xfrm>
        </p:spPr>
        <p:txBody>
          <a:bodyPr>
            <a:normAutofit fontScale="90000"/>
          </a:bodyPr>
          <a:lstStyle/>
          <a:p>
            <a:pPr eaLnBrk="1" hangingPunct="1"/>
            <a:r>
              <a:rPr lang="zh-CN" altLang="en-US" sz="4000" b="1">
                <a:ea typeface="楷体_GB2312" pitchFamily="49" charset="-122"/>
              </a:rPr>
              <a:t>练 习</a:t>
            </a:r>
          </a:p>
        </p:txBody>
      </p:sp>
      <p:sp>
        <p:nvSpPr>
          <p:cNvPr id="78851" name="Rectangle 3"/>
          <p:cNvSpPr>
            <a:spLocks noGrp="1" noChangeArrowheads="1"/>
          </p:cNvSpPr>
          <p:nvPr>
            <p:ph type="body" idx="1"/>
          </p:nvPr>
        </p:nvSpPr>
        <p:spPr>
          <a:xfrm>
            <a:off x="533400" y="1028700"/>
            <a:ext cx="8229600" cy="571500"/>
          </a:xfrm>
        </p:spPr>
        <p:txBody>
          <a:bodyPr/>
          <a:lstStyle/>
          <a:p>
            <a:pPr eaLnBrk="1" hangingPunct="1"/>
            <a:r>
              <a:rPr lang="zh-CN" altLang="en-US"/>
              <a:t>最小化下述</a:t>
            </a:r>
            <a:r>
              <a:rPr lang="en-US" altLang="zh-CN"/>
              <a:t>DFA</a:t>
            </a:r>
          </a:p>
        </p:txBody>
      </p:sp>
      <p:grpSp>
        <p:nvGrpSpPr>
          <p:cNvPr id="78852" name="Group 4"/>
          <p:cNvGrpSpPr>
            <a:grpSpLocks/>
          </p:cNvGrpSpPr>
          <p:nvPr/>
        </p:nvGrpSpPr>
        <p:grpSpPr bwMode="auto">
          <a:xfrm>
            <a:off x="990600" y="2057400"/>
            <a:ext cx="3505200" cy="1932385"/>
            <a:chOff x="672" y="1353"/>
            <a:chExt cx="2208" cy="1623"/>
          </a:xfrm>
        </p:grpSpPr>
        <p:grpSp>
          <p:nvGrpSpPr>
            <p:cNvPr id="78865" name="Group 5"/>
            <p:cNvGrpSpPr>
              <a:grpSpLocks/>
            </p:cNvGrpSpPr>
            <p:nvPr/>
          </p:nvGrpSpPr>
          <p:grpSpPr bwMode="auto">
            <a:xfrm>
              <a:off x="1008" y="1872"/>
              <a:ext cx="336" cy="336"/>
              <a:chOff x="1008" y="1872"/>
              <a:chExt cx="336" cy="336"/>
            </a:xfrm>
          </p:grpSpPr>
          <p:sp>
            <p:nvSpPr>
              <p:cNvPr id="78881" name="Oval 6"/>
              <p:cNvSpPr>
                <a:spLocks noChangeArrowheads="1"/>
              </p:cNvSpPr>
              <p:nvPr/>
            </p:nvSpPr>
            <p:spPr bwMode="auto">
              <a:xfrm>
                <a:off x="1008" y="1872"/>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8882" name="Oval 7"/>
              <p:cNvSpPr>
                <a:spLocks noChangeArrowheads="1"/>
              </p:cNvSpPr>
              <p:nvPr/>
            </p:nvSpPr>
            <p:spPr bwMode="auto">
              <a:xfrm>
                <a:off x="1056" y="1920"/>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0</a:t>
                </a:r>
              </a:p>
            </p:txBody>
          </p:sp>
        </p:grpSp>
        <p:sp>
          <p:nvSpPr>
            <p:cNvPr id="78866" name="Oval 8"/>
            <p:cNvSpPr>
              <a:spLocks noChangeArrowheads="1"/>
            </p:cNvSpPr>
            <p:nvPr/>
          </p:nvSpPr>
          <p:spPr bwMode="auto">
            <a:xfrm>
              <a:off x="2256" y="273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2</a:t>
              </a:r>
            </a:p>
          </p:txBody>
        </p:sp>
        <p:grpSp>
          <p:nvGrpSpPr>
            <p:cNvPr id="78867" name="Group 9"/>
            <p:cNvGrpSpPr>
              <a:grpSpLocks/>
            </p:cNvGrpSpPr>
            <p:nvPr/>
          </p:nvGrpSpPr>
          <p:grpSpPr bwMode="auto">
            <a:xfrm>
              <a:off x="2160" y="1728"/>
              <a:ext cx="336" cy="336"/>
              <a:chOff x="2160" y="1728"/>
              <a:chExt cx="336" cy="336"/>
            </a:xfrm>
          </p:grpSpPr>
          <p:sp>
            <p:nvSpPr>
              <p:cNvPr id="78879" name="Oval 10"/>
              <p:cNvSpPr>
                <a:spLocks noChangeArrowheads="1"/>
              </p:cNvSpPr>
              <p:nvPr/>
            </p:nvSpPr>
            <p:spPr bwMode="auto">
              <a:xfrm>
                <a:off x="2160" y="1728"/>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8880" name="Oval 11"/>
              <p:cNvSpPr>
                <a:spLocks noChangeArrowheads="1"/>
              </p:cNvSpPr>
              <p:nvPr/>
            </p:nvSpPr>
            <p:spPr bwMode="auto">
              <a:xfrm>
                <a:off x="2208" y="177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1</a:t>
                </a:r>
              </a:p>
            </p:txBody>
          </p:sp>
        </p:grpSp>
        <p:sp>
          <p:nvSpPr>
            <p:cNvPr id="78868" name="AutoShape 12"/>
            <p:cNvSpPr>
              <a:spLocks noChangeArrowheads="1"/>
            </p:cNvSpPr>
            <p:nvPr/>
          </p:nvSpPr>
          <p:spPr bwMode="auto">
            <a:xfrm>
              <a:off x="672" y="1968"/>
              <a:ext cx="336" cy="144"/>
            </a:xfrm>
            <a:prstGeom prst="rightArrow">
              <a:avLst>
                <a:gd name="adj1" fmla="val 50000"/>
                <a:gd name="adj2" fmla="val 58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8869" name="Line 13"/>
            <p:cNvSpPr>
              <a:spLocks noChangeShapeType="1"/>
            </p:cNvSpPr>
            <p:nvPr/>
          </p:nvSpPr>
          <p:spPr bwMode="auto">
            <a:xfrm flipV="1">
              <a:off x="1344" y="1872"/>
              <a:ext cx="81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70" name="Line 14"/>
            <p:cNvSpPr>
              <a:spLocks noChangeShapeType="1"/>
            </p:cNvSpPr>
            <p:nvPr/>
          </p:nvSpPr>
          <p:spPr bwMode="auto">
            <a:xfrm>
              <a:off x="2352" y="2064"/>
              <a:ext cx="0"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71" name="Line 15"/>
            <p:cNvSpPr>
              <a:spLocks noChangeShapeType="1"/>
            </p:cNvSpPr>
            <p:nvPr/>
          </p:nvSpPr>
          <p:spPr bwMode="auto">
            <a:xfrm>
              <a:off x="1296" y="2160"/>
              <a:ext cx="100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72" name="Freeform 16"/>
            <p:cNvSpPr>
              <a:spLocks/>
            </p:cNvSpPr>
            <p:nvPr/>
          </p:nvSpPr>
          <p:spPr bwMode="auto">
            <a:xfrm>
              <a:off x="2448" y="1968"/>
              <a:ext cx="167" cy="816"/>
            </a:xfrm>
            <a:custGeom>
              <a:avLst/>
              <a:gdLst>
                <a:gd name="T0" fmla="*/ 0 w 215"/>
                <a:gd name="T1" fmla="*/ 375 h 912"/>
                <a:gd name="T2" fmla="*/ 29 w 215"/>
                <a:gd name="T3" fmla="*/ 186 h 912"/>
                <a:gd name="T4" fmla="*/ 1 w 215"/>
                <a:gd name="T5" fmla="*/ 0 h 912"/>
                <a:gd name="T6" fmla="*/ 0 60000 65536"/>
                <a:gd name="T7" fmla="*/ 0 60000 65536"/>
                <a:gd name="T8" fmla="*/ 0 60000 65536"/>
                <a:gd name="T9" fmla="*/ 0 w 215"/>
                <a:gd name="T10" fmla="*/ 0 h 912"/>
                <a:gd name="T11" fmla="*/ 215 w 215"/>
                <a:gd name="T12" fmla="*/ 912 h 912"/>
              </a:gdLst>
              <a:ahLst/>
              <a:cxnLst>
                <a:cxn ang="T6">
                  <a:pos x="T0" y="T1"/>
                </a:cxn>
                <a:cxn ang="T7">
                  <a:pos x="T2" y="T3"/>
                </a:cxn>
                <a:cxn ang="T8">
                  <a:pos x="T4" y="T5"/>
                </a:cxn>
              </a:cxnLst>
              <a:rect l="T9" t="T10" r="T11" b="T12"/>
              <a:pathLst>
                <a:path w="215" h="912">
                  <a:moveTo>
                    <a:pt x="0" y="912"/>
                  </a:moveTo>
                  <a:cubicBezTo>
                    <a:pt x="36" y="836"/>
                    <a:pt x="215" y="606"/>
                    <a:pt x="215" y="454"/>
                  </a:cubicBezTo>
                  <a:cubicBezTo>
                    <a:pt x="215" y="302"/>
                    <a:pt x="46" y="95"/>
                    <a:pt x="1"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3" name="Freeform 17"/>
            <p:cNvSpPr>
              <a:spLocks/>
            </p:cNvSpPr>
            <p:nvPr/>
          </p:nvSpPr>
          <p:spPr bwMode="auto">
            <a:xfrm>
              <a:off x="2180" y="1440"/>
              <a:ext cx="308" cy="329"/>
            </a:xfrm>
            <a:custGeom>
              <a:avLst/>
              <a:gdLst>
                <a:gd name="T0" fmla="*/ 35 w 308"/>
                <a:gd name="T1" fmla="*/ 31 h 460"/>
                <a:gd name="T2" fmla="*/ 15 w 308"/>
                <a:gd name="T3" fmla="*/ 12 h 460"/>
                <a:gd name="T4" fmla="*/ 124 w 308"/>
                <a:gd name="T5" fmla="*/ 1 h 460"/>
                <a:gd name="T6" fmla="*/ 283 w 308"/>
                <a:gd name="T7" fmla="*/ 11 h 460"/>
                <a:gd name="T8" fmla="*/ 273 w 308"/>
                <a:gd name="T9" fmla="*/ 31 h 460"/>
                <a:gd name="T10" fmla="*/ 0 60000 65536"/>
                <a:gd name="T11" fmla="*/ 0 60000 65536"/>
                <a:gd name="T12" fmla="*/ 0 60000 65536"/>
                <a:gd name="T13" fmla="*/ 0 60000 65536"/>
                <a:gd name="T14" fmla="*/ 0 60000 65536"/>
                <a:gd name="T15" fmla="*/ 0 w 308"/>
                <a:gd name="T16" fmla="*/ 0 h 460"/>
                <a:gd name="T17" fmla="*/ 308 w 308"/>
                <a:gd name="T18" fmla="*/ 460 h 460"/>
              </a:gdLst>
              <a:ahLst/>
              <a:cxnLst>
                <a:cxn ang="T10">
                  <a:pos x="T0" y="T1"/>
                </a:cxn>
                <a:cxn ang="T11">
                  <a:pos x="T2" y="T3"/>
                </a:cxn>
                <a:cxn ang="T12">
                  <a:pos x="T4" y="T5"/>
                </a:cxn>
                <a:cxn ang="T13">
                  <a:pos x="T6" y="T7"/>
                </a:cxn>
                <a:cxn ang="T14">
                  <a:pos x="T8" y="T9"/>
                </a:cxn>
              </a:cxnLst>
              <a:rect l="T15" t="T16" r="T17" b="T18"/>
              <a:pathLst>
                <a:path w="308" h="460">
                  <a:moveTo>
                    <a:pt x="35" y="449"/>
                  </a:moveTo>
                  <a:cubicBezTo>
                    <a:pt x="32" y="404"/>
                    <a:pt x="0" y="255"/>
                    <a:pt x="15" y="181"/>
                  </a:cubicBezTo>
                  <a:cubicBezTo>
                    <a:pt x="30" y="107"/>
                    <a:pt x="79" y="4"/>
                    <a:pt x="124" y="2"/>
                  </a:cubicBezTo>
                  <a:cubicBezTo>
                    <a:pt x="169" y="0"/>
                    <a:pt x="258" y="95"/>
                    <a:pt x="283" y="171"/>
                  </a:cubicBezTo>
                  <a:cubicBezTo>
                    <a:pt x="308" y="247"/>
                    <a:pt x="275" y="400"/>
                    <a:pt x="273" y="46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4" name="Text Box 18"/>
            <p:cNvSpPr txBox="1">
              <a:spLocks noChangeArrowheads="1"/>
            </p:cNvSpPr>
            <p:nvPr/>
          </p:nvSpPr>
          <p:spPr bwMode="auto">
            <a:xfrm>
              <a:off x="1536" y="1728"/>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a</a:t>
              </a:r>
            </a:p>
          </p:txBody>
        </p:sp>
        <p:sp>
          <p:nvSpPr>
            <p:cNvPr id="78875" name="Text Box 19"/>
            <p:cNvSpPr txBox="1">
              <a:spLocks noChangeArrowheads="1"/>
            </p:cNvSpPr>
            <p:nvPr/>
          </p:nvSpPr>
          <p:spPr bwMode="auto">
            <a:xfrm>
              <a:off x="1536" y="2409"/>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b</a:t>
              </a:r>
            </a:p>
          </p:txBody>
        </p:sp>
        <p:sp>
          <p:nvSpPr>
            <p:cNvPr id="78876" name="Text Box 20"/>
            <p:cNvSpPr txBox="1">
              <a:spLocks noChangeArrowheads="1"/>
            </p:cNvSpPr>
            <p:nvPr/>
          </p:nvSpPr>
          <p:spPr bwMode="auto">
            <a:xfrm>
              <a:off x="2064" y="2160"/>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b</a:t>
              </a:r>
            </a:p>
          </p:txBody>
        </p:sp>
        <p:sp>
          <p:nvSpPr>
            <p:cNvPr id="78877" name="Text Box 21"/>
            <p:cNvSpPr txBox="1">
              <a:spLocks noChangeArrowheads="1"/>
            </p:cNvSpPr>
            <p:nvPr/>
          </p:nvSpPr>
          <p:spPr bwMode="auto">
            <a:xfrm>
              <a:off x="2496" y="2256"/>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a</a:t>
              </a:r>
            </a:p>
          </p:txBody>
        </p:sp>
        <p:sp>
          <p:nvSpPr>
            <p:cNvPr id="78878" name="Text Box 22"/>
            <p:cNvSpPr txBox="1">
              <a:spLocks noChangeArrowheads="1"/>
            </p:cNvSpPr>
            <p:nvPr/>
          </p:nvSpPr>
          <p:spPr bwMode="auto">
            <a:xfrm>
              <a:off x="1968" y="1353"/>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a</a:t>
              </a:r>
            </a:p>
          </p:txBody>
        </p:sp>
      </p:grpSp>
      <p:grpSp>
        <p:nvGrpSpPr>
          <p:cNvPr id="5" name="Group 23"/>
          <p:cNvGrpSpPr>
            <a:grpSpLocks/>
          </p:cNvGrpSpPr>
          <p:nvPr/>
        </p:nvGrpSpPr>
        <p:grpSpPr bwMode="auto">
          <a:xfrm>
            <a:off x="6172200" y="2182415"/>
            <a:ext cx="2362200" cy="1512093"/>
            <a:chOff x="3456" y="1824"/>
            <a:chExt cx="1488" cy="1270"/>
          </a:xfrm>
        </p:grpSpPr>
        <p:grpSp>
          <p:nvGrpSpPr>
            <p:cNvPr id="78854" name="Group 24"/>
            <p:cNvGrpSpPr>
              <a:grpSpLocks/>
            </p:cNvGrpSpPr>
            <p:nvPr/>
          </p:nvGrpSpPr>
          <p:grpSpPr bwMode="auto">
            <a:xfrm>
              <a:off x="3792" y="2199"/>
              <a:ext cx="336" cy="336"/>
              <a:chOff x="1008" y="1872"/>
              <a:chExt cx="336" cy="336"/>
            </a:xfrm>
          </p:grpSpPr>
          <p:sp>
            <p:nvSpPr>
              <p:cNvPr id="78863" name="Oval 25"/>
              <p:cNvSpPr>
                <a:spLocks noChangeArrowheads="1"/>
              </p:cNvSpPr>
              <p:nvPr/>
            </p:nvSpPr>
            <p:spPr bwMode="auto">
              <a:xfrm>
                <a:off x="1008" y="1872"/>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8864" name="Oval 26"/>
              <p:cNvSpPr>
                <a:spLocks noChangeArrowheads="1"/>
              </p:cNvSpPr>
              <p:nvPr/>
            </p:nvSpPr>
            <p:spPr bwMode="auto">
              <a:xfrm>
                <a:off x="1056" y="1920"/>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0</a:t>
                </a:r>
              </a:p>
            </p:txBody>
          </p:sp>
        </p:grpSp>
        <p:sp>
          <p:nvSpPr>
            <p:cNvPr id="78855" name="Oval 27"/>
            <p:cNvSpPr>
              <a:spLocks noChangeArrowheads="1"/>
            </p:cNvSpPr>
            <p:nvPr/>
          </p:nvSpPr>
          <p:spPr bwMode="auto">
            <a:xfrm>
              <a:off x="4704" y="225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1</a:t>
              </a:r>
            </a:p>
          </p:txBody>
        </p:sp>
        <p:sp>
          <p:nvSpPr>
            <p:cNvPr id="78856" name="AutoShape 28"/>
            <p:cNvSpPr>
              <a:spLocks noChangeArrowheads="1"/>
            </p:cNvSpPr>
            <p:nvPr/>
          </p:nvSpPr>
          <p:spPr bwMode="auto">
            <a:xfrm>
              <a:off x="3456" y="2295"/>
              <a:ext cx="336" cy="144"/>
            </a:xfrm>
            <a:prstGeom prst="rightArrow">
              <a:avLst>
                <a:gd name="adj1" fmla="val 50000"/>
                <a:gd name="adj2" fmla="val 58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8857" name="Text Box 29"/>
            <p:cNvSpPr txBox="1">
              <a:spLocks noChangeArrowheads="1"/>
            </p:cNvSpPr>
            <p:nvPr/>
          </p:nvSpPr>
          <p:spPr bwMode="auto">
            <a:xfrm>
              <a:off x="4272" y="2160"/>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b</a:t>
              </a:r>
            </a:p>
          </p:txBody>
        </p:sp>
        <p:sp>
          <p:nvSpPr>
            <p:cNvPr id="78858" name="Line 30"/>
            <p:cNvSpPr>
              <a:spLocks noChangeShapeType="1"/>
            </p:cNvSpPr>
            <p:nvPr/>
          </p:nvSpPr>
          <p:spPr bwMode="auto">
            <a:xfrm>
              <a:off x="4128" y="2352"/>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59" name="Freeform 31"/>
            <p:cNvSpPr>
              <a:spLocks/>
            </p:cNvSpPr>
            <p:nvPr/>
          </p:nvSpPr>
          <p:spPr bwMode="auto">
            <a:xfrm>
              <a:off x="4032" y="1998"/>
              <a:ext cx="864" cy="258"/>
            </a:xfrm>
            <a:custGeom>
              <a:avLst/>
              <a:gdLst>
                <a:gd name="T0" fmla="*/ 864 w 864"/>
                <a:gd name="T1" fmla="*/ 258 h 258"/>
                <a:gd name="T2" fmla="*/ 387 w 864"/>
                <a:gd name="T3" fmla="*/ 8 h 258"/>
                <a:gd name="T4" fmla="*/ 0 w 864"/>
                <a:gd name="T5" fmla="*/ 210 h 258"/>
                <a:gd name="T6" fmla="*/ 0 60000 65536"/>
                <a:gd name="T7" fmla="*/ 0 60000 65536"/>
                <a:gd name="T8" fmla="*/ 0 60000 65536"/>
                <a:gd name="T9" fmla="*/ 0 w 864"/>
                <a:gd name="T10" fmla="*/ 0 h 258"/>
                <a:gd name="T11" fmla="*/ 864 w 864"/>
                <a:gd name="T12" fmla="*/ 258 h 258"/>
              </a:gdLst>
              <a:ahLst/>
              <a:cxnLst>
                <a:cxn ang="T6">
                  <a:pos x="T0" y="T1"/>
                </a:cxn>
                <a:cxn ang="T7">
                  <a:pos x="T2" y="T3"/>
                </a:cxn>
                <a:cxn ang="T8">
                  <a:pos x="T4" y="T5"/>
                </a:cxn>
              </a:cxnLst>
              <a:rect l="T9" t="T10" r="T11" b="T12"/>
              <a:pathLst>
                <a:path w="864" h="258">
                  <a:moveTo>
                    <a:pt x="864" y="258"/>
                  </a:moveTo>
                  <a:cubicBezTo>
                    <a:pt x="784" y="216"/>
                    <a:pt x="531" y="16"/>
                    <a:pt x="387" y="8"/>
                  </a:cubicBezTo>
                  <a:cubicBezTo>
                    <a:pt x="243" y="0"/>
                    <a:pt x="81" y="168"/>
                    <a:pt x="0" y="21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0" name="Freeform 32"/>
            <p:cNvSpPr>
              <a:spLocks/>
            </p:cNvSpPr>
            <p:nvPr/>
          </p:nvSpPr>
          <p:spPr bwMode="auto">
            <a:xfrm>
              <a:off x="3819" y="2463"/>
              <a:ext cx="301" cy="404"/>
            </a:xfrm>
            <a:custGeom>
              <a:avLst/>
              <a:gdLst>
                <a:gd name="T0" fmla="*/ 21 w 301"/>
                <a:gd name="T1" fmla="*/ 33 h 404"/>
                <a:gd name="T2" fmla="*/ 24 w 301"/>
                <a:gd name="T3" fmla="*/ 298 h 404"/>
                <a:gd name="T4" fmla="*/ 163 w 301"/>
                <a:gd name="T5" fmla="*/ 397 h 404"/>
                <a:gd name="T6" fmla="*/ 283 w 301"/>
                <a:gd name="T7" fmla="*/ 258 h 404"/>
                <a:gd name="T8" fmla="*/ 273 w 301"/>
                <a:gd name="T9" fmla="*/ 0 h 404"/>
                <a:gd name="T10" fmla="*/ 0 60000 65536"/>
                <a:gd name="T11" fmla="*/ 0 60000 65536"/>
                <a:gd name="T12" fmla="*/ 0 60000 65536"/>
                <a:gd name="T13" fmla="*/ 0 60000 65536"/>
                <a:gd name="T14" fmla="*/ 0 60000 65536"/>
                <a:gd name="T15" fmla="*/ 0 w 301"/>
                <a:gd name="T16" fmla="*/ 0 h 404"/>
                <a:gd name="T17" fmla="*/ 301 w 301"/>
                <a:gd name="T18" fmla="*/ 404 h 404"/>
              </a:gdLst>
              <a:ahLst/>
              <a:cxnLst>
                <a:cxn ang="T10">
                  <a:pos x="T0" y="T1"/>
                </a:cxn>
                <a:cxn ang="T11">
                  <a:pos x="T2" y="T3"/>
                </a:cxn>
                <a:cxn ang="T12">
                  <a:pos x="T4" y="T5"/>
                </a:cxn>
                <a:cxn ang="T13">
                  <a:pos x="T6" y="T7"/>
                </a:cxn>
                <a:cxn ang="T14">
                  <a:pos x="T8" y="T9"/>
                </a:cxn>
              </a:cxnLst>
              <a:rect l="T15" t="T16" r="T17" b="T18"/>
              <a:pathLst>
                <a:path w="301" h="404">
                  <a:moveTo>
                    <a:pt x="21" y="33"/>
                  </a:moveTo>
                  <a:cubicBezTo>
                    <a:pt x="21" y="77"/>
                    <a:pt x="0" y="237"/>
                    <a:pt x="24" y="298"/>
                  </a:cubicBezTo>
                  <a:cubicBezTo>
                    <a:pt x="48" y="359"/>
                    <a:pt x="120" y="404"/>
                    <a:pt x="163" y="397"/>
                  </a:cubicBezTo>
                  <a:cubicBezTo>
                    <a:pt x="206" y="390"/>
                    <a:pt x="265" y="324"/>
                    <a:pt x="283" y="258"/>
                  </a:cubicBezTo>
                  <a:cubicBezTo>
                    <a:pt x="301" y="192"/>
                    <a:pt x="275" y="54"/>
                    <a:pt x="273"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1" name="Text Box 33"/>
            <p:cNvSpPr txBox="1">
              <a:spLocks noChangeArrowheads="1"/>
            </p:cNvSpPr>
            <p:nvPr/>
          </p:nvSpPr>
          <p:spPr bwMode="auto">
            <a:xfrm>
              <a:off x="4272" y="1824"/>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a</a:t>
              </a:r>
            </a:p>
          </p:txBody>
        </p:sp>
        <p:sp>
          <p:nvSpPr>
            <p:cNvPr id="78862" name="Text Box 34"/>
            <p:cNvSpPr txBox="1">
              <a:spLocks noChangeArrowheads="1"/>
            </p:cNvSpPr>
            <p:nvPr/>
          </p:nvSpPr>
          <p:spPr bwMode="auto">
            <a:xfrm>
              <a:off x="3792" y="2784"/>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a</a:t>
              </a:r>
            </a:p>
          </p:txBody>
        </p:sp>
      </p:grpSp>
    </p:spTree>
    <p:extLst>
      <p:ext uri="{BB962C8B-B14F-4D97-AF65-F5344CB8AC3E}">
        <p14:creationId xmlns:p14="http://schemas.microsoft.com/office/powerpoint/2010/main" val="2664642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x-none" altLang="zh-CN" b="1" dirty="0"/>
              <a:t>正则表达式与有穷自动机的等价性</a:t>
            </a:r>
            <a:endParaRPr lang="zh-CN" altLang="zh-CN" b="1" dirty="0"/>
          </a:p>
          <a:p>
            <a:endParaRPr lang="zh-CN" altLang="en-US" dirty="0"/>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14101687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endParaRPr lang="zh-CN" altLang="en-US"/>
          </a:p>
        </p:txBody>
      </p:sp>
      <p:sp>
        <p:nvSpPr>
          <p:cNvPr id="4" name="Rectangle 2"/>
          <p:cNvSpPr>
            <a:spLocks noGrp="1" noChangeArrowheads="1"/>
          </p:cNvSpPr>
          <p:nvPr>
            <p:ph idx="1"/>
          </p:nvPr>
        </p:nvSpPr>
        <p:spPr/>
        <p:txBody>
          <a:bodyPr>
            <a:noAutofit/>
          </a:bodyPr>
          <a:lstStyle/>
          <a:p>
            <a:r>
              <a:rPr lang="zh-CN" altLang="en-US" sz="2800" dirty="0">
                <a:solidFill>
                  <a:srgbClr val="0000CC"/>
                </a:solidFill>
              </a:rPr>
              <a:t>正规集的描述工具及其相互间的关系</a:t>
            </a:r>
            <a:endParaRPr kumimoji="1" lang="zh-CN" altLang="zh-CN" sz="2800" b="1" dirty="0">
              <a:solidFill>
                <a:srgbClr val="CC0099"/>
              </a:solidFill>
              <a:latin typeface="Times New Roman" pitchFamily="18" charset="0"/>
            </a:endParaRPr>
          </a:p>
        </p:txBody>
      </p:sp>
    </p:spTree>
    <p:extLst>
      <p:ext uri="{BB962C8B-B14F-4D97-AF65-F5344CB8AC3E}">
        <p14:creationId xmlns:p14="http://schemas.microsoft.com/office/powerpoint/2010/main" val="5838917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1923678"/>
            <a:ext cx="8287846" cy="707886"/>
          </a:xfrm>
          <a:prstGeom prst="rect">
            <a:avLst/>
          </a:prstGeom>
        </p:spPr>
        <p:txBody>
          <a:bodyPr wrap="none">
            <a:spAutoFit/>
          </a:bodyPr>
          <a:lstStyle/>
          <a:p>
            <a:r>
              <a:rPr kumimoji="1" lang="en-US" altLang="zh-CN" sz="4000" b="1" dirty="0">
                <a:solidFill>
                  <a:srgbClr val="CC0099"/>
                </a:solidFill>
                <a:latin typeface="Times New Roman" pitchFamily="18" charset="0"/>
                <a:ea typeface="隶书" pitchFamily="49" charset="-122"/>
              </a:rPr>
              <a:t>5</a:t>
            </a:r>
            <a:r>
              <a:rPr kumimoji="1" lang="zh-CN" altLang="zh-CN" sz="4000" b="1" dirty="0">
                <a:solidFill>
                  <a:srgbClr val="CC0099"/>
                </a:solidFill>
                <a:latin typeface="Times New Roman" pitchFamily="18" charset="0"/>
                <a:ea typeface="隶书" pitchFamily="49" charset="-122"/>
              </a:rPr>
              <a:t> </a:t>
            </a:r>
            <a:r>
              <a:rPr kumimoji="1" lang="x-none" altLang="zh-CN" sz="4000" b="1" dirty="0">
                <a:solidFill>
                  <a:srgbClr val="CC0099"/>
                </a:solidFill>
                <a:latin typeface="Times New Roman" pitchFamily="18" charset="0"/>
                <a:ea typeface="隶书" pitchFamily="49" charset="-122"/>
              </a:rPr>
              <a:t>正则表达式与有穷自动机的等价性</a:t>
            </a:r>
            <a:endParaRPr kumimoji="1" lang="zh-CN" altLang="zh-CN" sz="4000" b="1" dirty="0">
              <a:solidFill>
                <a:srgbClr val="CC0099"/>
              </a:solidFill>
              <a:latin typeface="Times New Roman" pitchFamily="18" charset="0"/>
              <a:ea typeface="隶书" pitchFamily="49" charset="-122"/>
            </a:endParaRPr>
          </a:p>
        </p:txBody>
      </p:sp>
    </p:spTree>
    <p:extLst>
      <p:ext uri="{BB962C8B-B14F-4D97-AF65-F5344CB8AC3E}">
        <p14:creationId xmlns:p14="http://schemas.microsoft.com/office/powerpoint/2010/main" val="2561241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06149" y="2529832"/>
            <a:ext cx="1258154" cy="430887"/>
          </a:xfrm>
          <a:prstGeom prst="rect">
            <a:avLst/>
          </a:prstGeom>
          <a:noFill/>
          <a:ln>
            <a:solidFill>
              <a:schemeClr val="tx1"/>
            </a:solidFill>
          </a:ln>
        </p:spPr>
        <p:txBody>
          <a:bodyPr wrap="square" rtlCol="0">
            <a:spAutoFit/>
          </a:bodyPr>
          <a:lstStyle/>
          <a:p>
            <a:pPr algn="ctr"/>
            <a:r>
              <a:rPr lang="zh-CN" altLang="en-US" sz="2200" dirty="0"/>
              <a:t>正规集</a:t>
            </a:r>
          </a:p>
        </p:txBody>
      </p:sp>
      <p:cxnSp>
        <p:nvCxnSpPr>
          <p:cNvPr id="4" name="直接箭头连接符 3"/>
          <p:cNvCxnSpPr>
            <a:stCxn id="2" idx="0"/>
            <a:endCxn id="5" idx="2"/>
          </p:cNvCxnSpPr>
          <p:nvPr/>
        </p:nvCxnSpPr>
        <p:spPr>
          <a:xfrm flipH="1" flipV="1">
            <a:off x="2255611" y="1980296"/>
            <a:ext cx="779615" cy="549536"/>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549529" y="1272410"/>
            <a:ext cx="1412164" cy="707886"/>
          </a:xfrm>
          <a:prstGeom prst="rect">
            <a:avLst/>
          </a:prstGeom>
          <a:noFill/>
        </p:spPr>
        <p:txBody>
          <a:bodyPr wrap="square" rtlCol="0">
            <a:spAutoFit/>
          </a:bodyPr>
          <a:lstStyle/>
          <a:p>
            <a:r>
              <a:rPr lang="zh-CN" altLang="en-US" sz="2000" dirty="0"/>
              <a:t>某语言的单词集合</a:t>
            </a:r>
          </a:p>
        </p:txBody>
      </p:sp>
      <p:sp>
        <p:nvSpPr>
          <p:cNvPr id="8" name="TextBox 7"/>
          <p:cNvSpPr txBox="1"/>
          <p:nvPr/>
        </p:nvSpPr>
        <p:spPr>
          <a:xfrm>
            <a:off x="958135" y="3787755"/>
            <a:ext cx="1777143" cy="430887"/>
          </a:xfrm>
          <a:prstGeom prst="rect">
            <a:avLst/>
          </a:prstGeom>
          <a:noFill/>
          <a:ln>
            <a:solidFill>
              <a:schemeClr val="tx1"/>
            </a:solidFill>
          </a:ln>
        </p:spPr>
        <p:txBody>
          <a:bodyPr wrap="square" rtlCol="0">
            <a:spAutoFit/>
          </a:bodyPr>
          <a:lstStyle/>
          <a:p>
            <a:r>
              <a:rPr lang="zh-CN" altLang="en-US" sz="2200" dirty="0"/>
              <a:t>正则表达式</a:t>
            </a:r>
          </a:p>
        </p:txBody>
      </p:sp>
      <p:cxnSp>
        <p:nvCxnSpPr>
          <p:cNvPr id="7" name="直接箭头连接符 6"/>
          <p:cNvCxnSpPr>
            <a:stCxn id="2" idx="2"/>
            <a:endCxn id="8" idx="0"/>
          </p:cNvCxnSpPr>
          <p:nvPr/>
        </p:nvCxnSpPr>
        <p:spPr>
          <a:xfrm flipH="1">
            <a:off x="1846707" y="2960719"/>
            <a:ext cx="1188519" cy="827036"/>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926661" y="4434666"/>
            <a:ext cx="1756600" cy="369332"/>
          </a:xfrm>
          <a:prstGeom prst="rect">
            <a:avLst/>
          </a:prstGeom>
          <a:ln>
            <a:noFill/>
          </a:ln>
        </p:spPr>
        <p:txBody>
          <a:bodyPr wrap="square">
            <a:spAutoFit/>
          </a:bodyPr>
          <a:lstStyle/>
          <a:p>
            <a:r>
              <a:rPr lang="zh-CN" altLang="en-US" dirty="0"/>
              <a:t>有穷自动机</a:t>
            </a:r>
            <a:r>
              <a:rPr lang="en-US" altLang="zh-CN" dirty="0"/>
              <a:t>FA</a:t>
            </a:r>
            <a:endParaRPr lang="zh-CN" altLang="en-US" dirty="0"/>
          </a:p>
        </p:txBody>
      </p:sp>
      <p:cxnSp>
        <p:nvCxnSpPr>
          <p:cNvPr id="19" name="直接箭头连接符 18"/>
          <p:cNvCxnSpPr/>
          <p:nvPr/>
        </p:nvCxnSpPr>
        <p:spPr>
          <a:xfrm flipH="1" flipV="1">
            <a:off x="3658505" y="2991498"/>
            <a:ext cx="1145250" cy="467877"/>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3"/>
            <a:endCxn id="17" idx="1"/>
          </p:cNvCxnSpPr>
          <p:nvPr/>
        </p:nvCxnSpPr>
        <p:spPr>
          <a:xfrm>
            <a:off x="2735278" y="4003199"/>
            <a:ext cx="2263158" cy="0"/>
          </a:xfrm>
          <a:prstGeom prst="straightConnector1">
            <a:avLst/>
          </a:prstGeom>
          <a:ln w="57150">
            <a:solidFill>
              <a:srgbClr val="0000FF"/>
            </a:solidFill>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cxnSpLocks/>
            <a:stCxn id="49" idx="2"/>
          </p:cNvCxnSpPr>
          <p:nvPr/>
        </p:nvCxnSpPr>
        <p:spPr>
          <a:xfrm>
            <a:off x="5729739" y="513135"/>
            <a:ext cx="0" cy="2378046"/>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15" name="Text Box 6"/>
          <p:cNvSpPr txBox="1">
            <a:spLocks noChangeArrowheads="1"/>
          </p:cNvSpPr>
          <p:nvPr/>
        </p:nvSpPr>
        <p:spPr bwMode="auto">
          <a:xfrm>
            <a:off x="4998438" y="1821433"/>
            <a:ext cx="1742196" cy="430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zh-CN" altLang="en-US" sz="2200" dirty="0"/>
              <a:t>最小的</a:t>
            </a:r>
            <a:r>
              <a:rPr lang="en-US" altLang="zh-CN" sz="2200" dirty="0"/>
              <a:t>DFA</a:t>
            </a:r>
          </a:p>
        </p:txBody>
      </p:sp>
      <p:sp>
        <p:nvSpPr>
          <p:cNvPr id="17" name="Text Box 7"/>
          <p:cNvSpPr txBox="1">
            <a:spLocks noChangeArrowheads="1"/>
          </p:cNvSpPr>
          <p:nvPr/>
        </p:nvSpPr>
        <p:spPr bwMode="auto">
          <a:xfrm>
            <a:off x="4998436" y="3787755"/>
            <a:ext cx="1169937" cy="430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2200" dirty="0"/>
              <a:t>NFA</a:t>
            </a:r>
          </a:p>
        </p:txBody>
      </p:sp>
      <p:sp>
        <p:nvSpPr>
          <p:cNvPr id="18" name="Text Box 8"/>
          <p:cNvSpPr txBox="1">
            <a:spLocks noChangeArrowheads="1"/>
          </p:cNvSpPr>
          <p:nvPr/>
        </p:nvSpPr>
        <p:spPr bwMode="auto">
          <a:xfrm>
            <a:off x="4998437" y="2915551"/>
            <a:ext cx="1169937" cy="430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2200" dirty="0"/>
              <a:t>DFA</a:t>
            </a:r>
          </a:p>
        </p:txBody>
      </p:sp>
      <p:sp>
        <p:nvSpPr>
          <p:cNvPr id="13" name="矩形 12"/>
          <p:cNvSpPr/>
          <p:nvPr/>
        </p:nvSpPr>
        <p:spPr>
          <a:xfrm>
            <a:off x="4803755" y="1626353"/>
            <a:ext cx="2057310" cy="317764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6" name="表格 45"/>
          <p:cNvGraphicFramePr>
            <a:graphicFrameLocks noGrp="1"/>
          </p:cNvGraphicFramePr>
          <p:nvPr>
            <p:extLst>
              <p:ext uri="{D42A27DB-BD31-4B8C-83A1-F6EECF244321}">
                <p14:modId xmlns:p14="http://schemas.microsoft.com/office/powerpoint/2010/main" val="497641697"/>
              </p:ext>
            </p:extLst>
          </p:nvPr>
        </p:nvGraphicFramePr>
        <p:xfrm>
          <a:off x="7020272" y="339501"/>
          <a:ext cx="2097232" cy="2072640"/>
        </p:xfrm>
        <a:graphic>
          <a:graphicData uri="http://schemas.openxmlformats.org/drawingml/2006/table">
            <a:tbl>
              <a:tblPr firstRow="1" firstCol="1" bandRow="1">
                <a:tableStyleId>{5C22544A-7EE6-4342-B048-85BDC9FD1C3A}</a:tableStyleId>
              </a:tblPr>
              <a:tblGrid>
                <a:gridCol w="2097232">
                  <a:extLst>
                    <a:ext uri="{9D8B030D-6E8A-4147-A177-3AD203B41FA5}">
                      <a16:colId xmlns:a16="http://schemas.microsoft.com/office/drawing/2014/main" val="20000"/>
                    </a:ext>
                  </a:extLst>
                </a:gridCol>
              </a:tblGrid>
              <a:tr h="2002227">
                <a:tc>
                  <a:txBody>
                    <a:bodyPr/>
                    <a:lstStyle/>
                    <a:p>
                      <a:pPr algn="just">
                        <a:spcAft>
                          <a:spcPts val="0"/>
                        </a:spcAft>
                      </a:pPr>
                      <a:r>
                        <a:rPr lang="zh-CN" sz="1600" b="1" kern="100" dirty="0">
                          <a:solidFill>
                            <a:srgbClr val="FF0000"/>
                          </a:solidFill>
                          <a:effectLst/>
                        </a:rPr>
                        <a:t>算法</a:t>
                      </a:r>
                      <a:r>
                        <a:rPr lang="en-US" sz="1600" b="1" kern="100" dirty="0">
                          <a:solidFill>
                            <a:srgbClr val="FF0000"/>
                          </a:solidFill>
                          <a:effectLst/>
                        </a:rPr>
                        <a:t>2.1  DFA</a:t>
                      </a:r>
                      <a:r>
                        <a:rPr lang="zh-CN" sz="1600" b="1" kern="100" dirty="0">
                          <a:solidFill>
                            <a:srgbClr val="FF0000"/>
                          </a:solidFill>
                          <a:effectLst/>
                        </a:rPr>
                        <a:t>模拟</a:t>
                      </a:r>
                      <a:r>
                        <a:rPr lang="zh-CN" sz="1000" b="0" kern="100" dirty="0">
                          <a:solidFill>
                            <a:schemeClr val="tx1"/>
                          </a:solidFill>
                          <a:effectLst/>
                        </a:rPr>
                        <a:t>，</a:t>
                      </a:r>
                      <a:r>
                        <a:rPr lang="zh-CN" sz="800" b="0" kern="100" dirty="0">
                          <a:solidFill>
                            <a:schemeClr val="tx1"/>
                          </a:solidFill>
                          <a:effectLst/>
                        </a:rPr>
                        <a:t>判断</a:t>
                      </a:r>
                      <a:r>
                        <a:rPr lang="en-US" sz="800" b="0" kern="100" dirty="0">
                          <a:solidFill>
                            <a:schemeClr val="tx1"/>
                          </a:solidFill>
                          <a:effectLst/>
                        </a:rPr>
                        <a:t>DFA</a:t>
                      </a:r>
                      <a:r>
                        <a:rPr lang="zh-CN" sz="800" b="0" kern="100" dirty="0">
                          <a:solidFill>
                            <a:schemeClr val="tx1"/>
                          </a:solidFill>
                          <a:effectLst/>
                        </a:rPr>
                        <a:t>是否能识别一个输入符号串</a:t>
                      </a:r>
                    </a:p>
                    <a:p>
                      <a:pPr indent="266700" algn="just">
                        <a:spcAft>
                          <a:spcPts val="0"/>
                        </a:spcAft>
                      </a:pPr>
                      <a:r>
                        <a:rPr lang="zh-CN" sz="800" b="0" kern="100" dirty="0">
                          <a:solidFill>
                            <a:schemeClr val="tx1"/>
                          </a:solidFill>
                          <a:effectLst/>
                        </a:rPr>
                        <a:t>输入：一个以</a:t>
                      </a:r>
                      <a:r>
                        <a:rPr lang="en-US" sz="800" b="0" kern="100" dirty="0" err="1">
                          <a:solidFill>
                            <a:schemeClr val="tx1"/>
                          </a:solidFill>
                          <a:effectLst/>
                        </a:rPr>
                        <a:t>eof</a:t>
                      </a:r>
                      <a:r>
                        <a:rPr lang="zh-CN" sz="800" b="0" kern="100" dirty="0">
                          <a:solidFill>
                            <a:schemeClr val="tx1"/>
                          </a:solidFill>
                          <a:effectLst/>
                        </a:rPr>
                        <a:t>结尾的字符串</a:t>
                      </a:r>
                      <a:r>
                        <a:rPr lang="en-US" sz="800" b="0" kern="100" dirty="0">
                          <a:solidFill>
                            <a:schemeClr val="tx1"/>
                          </a:solidFill>
                          <a:effectLst/>
                        </a:rPr>
                        <a:t>x</a:t>
                      </a:r>
                      <a:r>
                        <a:rPr lang="zh-CN" sz="800" b="0" kern="100" dirty="0">
                          <a:solidFill>
                            <a:schemeClr val="tx1"/>
                          </a:solidFill>
                          <a:effectLst/>
                        </a:rPr>
                        <a:t>，一个</a:t>
                      </a:r>
                      <a:r>
                        <a:rPr lang="en-US" sz="800" b="0" kern="100" dirty="0">
                          <a:solidFill>
                            <a:schemeClr val="tx1"/>
                          </a:solidFill>
                          <a:effectLst/>
                        </a:rPr>
                        <a:t>DFA D</a:t>
                      </a:r>
                      <a:r>
                        <a:rPr lang="zh-CN" sz="800" b="0" kern="100" dirty="0">
                          <a:solidFill>
                            <a:schemeClr val="tx1"/>
                          </a:solidFill>
                          <a:effectLst/>
                        </a:rPr>
                        <a:t>，</a:t>
                      </a:r>
                      <a:r>
                        <a:rPr lang="en-US" sz="800" b="0" kern="100" dirty="0">
                          <a:solidFill>
                            <a:schemeClr val="tx1"/>
                          </a:solidFill>
                          <a:effectLst/>
                        </a:rPr>
                        <a:t>D</a:t>
                      </a:r>
                      <a:r>
                        <a:rPr lang="zh-CN" sz="800" b="0" kern="100" dirty="0">
                          <a:solidFill>
                            <a:schemeClr val="tx1"/>
                          </a:solidFill>
                          <a:effectLst/>
                        </a:rPr>
                        <a:t>的初始状态为</a:t>
                      </a:r>
                      <a:r>
                        <a:rPr lang="en-US" sz="800" b="0" kern="100" dirty="0">
                          <a:solidFill>
                            <a:schemeClr val="tx1"/>
                          </a:solidFill>
                          <a:effectLst/>
                        </a:rPr>
                        <a:t>s</a:t>
                      </a:r>
                      <a:r>
                        <a:rPr lang="en-US" sz="800" b="0" kern="100" baseline="-25000" dirty="0">
                          <a:solidFill>
                            <a:schemeClr val="tx1"/>
                          </a:solidFill>
                          <a:effectLst/>
                        </a:rPr>
                        <a:t>0</a:t>
                      </a:r>
                      <a:r>
                        <a:rPr lang="zh-CN" sz="800" b="0" kern="100" dirty="0">
                          <a:solidFill>
                            <a:schemeClr val="tx1"/>
                          </a:solidFill>
                          <a:effectLst/>
                        </a:rPr>
                        <a:t>，终结状态集为</a:t>
                      </a:r>
                      <a:r>
                        <a:rPr lang="en-US" sz="800" b="0" kern="100" dirty="0">
                          <a:solidFill>
                            <a:schemeClr val="tx1"/>
                          </a:solidFill>
                          <a:effectLst/>
                        </a:rPr>
                        <a:t>F</a:t>
                      </a:r>
                      <a:r>
                        <a:rPr lang="zh-CN" sz="800" b="0" kern="100" dirty="0">
                          <a:solidFill>
                            <a:schemeClr val="tx1"/>
                          </a:solidFill>
                          <a:effectLst/>
                        </a:rPr>
                        <a:t>，转换函数为</a:t>
                      </a:r>
                      <a:r>
                        <a:rPr lang="fr-FR" sz="800" b="0" kern="100" dirty="0">
                          <a:solidFill>
                            <a:schemeClr val="tx1"/>
                          </a:solidFill>
                          <a:effectLst/>
                          <a:sym typeface="Symbol"/>
                        </a:rPr>
                        <a:t></a:t>
                      </a:r>
                      <a:endParaRPr lang="zh-CN" sz="800" b="0" kern="100" dirty="0">
                        <a:solidFill>
                          <a:schemeClr val="tx1"/>
                        </a:solidFill>
                        <a:effectLst/>
                      </a:endParaRPr>
                    </a:p>
                    <a:p>
                      <a:pPr indent="266700" algn="just">
                        <a:spcAft>
                          <a:spcPts val="0"/>
                        </a:spcAft>
                      </a:pPr>
                      <a:r>
                        <a:rPr lang="zh-CN" sz="800" b="0" kern="100" dirty="0">
                          <a:solidFill>
                            <a:schemeClr val="tx1"/>
                          </a:solidFill>
                          <a:effectLst/>
                        </a:rPr>
                        <a:t>输出：如果</a:t>
                      </a:r>
                      <a:r>
                        <a:rPr lang="fr-FR" sz="800" b="0" kern="100" dirty="0">
                          <a:solidFill>
                            <a:schemeClr val="tx1"/>
                          </a:solidFill>
                          <a:effectLst/>
                        </a:rPr>
                        <a:t>D</a:t>
                      </a:r>
                      <a:r>
                        <a:rPr lang="zh-CN" sz="800" b="0" kern="100" dirty="0">
                          <a:solidFill>
                            <a:schemeClr val="tx1"/>
                          </a:solidFill>
                          <a:effectLst/>
                        </a:rPr>
                        <a:t>能识别符号串</a:t>
                      </a:r>
                      <a:r>
                        <a:rPr lang="fr-FR" sz="800" b="0" kern="100" dirty="0">
                          <a:solidFill>
                            <a:schemeClr val="tx1"/>
                          </a:solidFill>
                          <a:effectLst/>
                        </a:rPr>
                        <a:t>x</a:t>
                      </a:r>
                      <a:r>
                        <a:rPr lang="zh-CN" sz="800" b="0" kern="100" dirty="0">
                          <a:solidFill>
                            <a:schemeClr val="tx1"/>
                          </a:solidFill>
                          <a:effectLst/>
                        </a:rPr>
                        <a:t>。输出“</a:t>
                      </a:r>
                      <a:r>
                        <a:rPr lang="fr-FR" sz="800" b="0" kern="100" dirty="0">
                          <a:solidFill>
                            <a:schemeClr val="tx1"/>
                          </a:solidFill>
                          <a:effectLst/>
                        </a:rPr>
                        <a:t>yes</a:t>
                      </a:r>
                      <a:r>
                        <a:rPr lang="zh-CN" sz="800" b="0" kern="100" dirty="0">
                          <a:solidFill>
                            <a:schemeClr val="tx1"/>
                          </a:solidFill>
                          <a:effectLst/>
                        </a:rPr>
                        <a:t>”，否则输出“</a:t>
                      </a:r>
                      <a:r>
                        <a:rPr lang="fr-FR" sz="800" b="0" kern="100" dirty="0">
                          <a:solidFill>
                            <a:schemeClr val="tx1"/>
                          </a:solidFill>
                          <a:effectLst/>
                        </a:rPr>
                        <a:t>no</a:t>
                      </a:r>
                      <a:r>
                        <a:rPr lang="zh-CN" sz="800" b="0" kern="100" dirty="0">
                          <a:solidFill>
                            <a:schemeClr val="tx1"/>
                          </a:solidFill>
                          <a:effectLst/>
                        </a:rPr>
                        <a:t>”</a:t>
                      </a:r>
                    </a:p>
                    <a:p>
                      <a:pPr indent="266700" algn="just">
                        <a:spcAft>
                          <a:spcPts val="0"/>
                        </a:spcAft>
                      </a:pPr>
                      <a:r>
                        <a:rPr lang="zh-CN" sz="800" b="0" kern="100" dirty="0">
                          <a:solidFill>
                            <a:schemeClr val="tx1"/>
                          </a:solidFill>
                          <a:effectLst/>
                        </a:rPr>
                        <a:t>步骤：</a:t>
                      </a:r>
                    </a:p>
                    <a:p>
                      <a:pPr indent="457200" algn="just">
                        <a:spcAft>
                          <a:spcPts val="0"/>
                        </a:spcAft>
                      </a:pPr>
                      <a:r>
                        <a:rPr lang="en-US" sz="800" b="0" kern="100" dirty="0">
                          <a:solidFill>
                            <a:schemeClr val="tx1"/>
                          </a:solidFill>
                          <a:effectLst/>
                        </a:rPr>
                        <a:t>s=s</a:t>
                      </a:r>
                      <a:r>
                        <a:rPr lang="en-US" sz="800" b="0" kern="100" baseline="-25000" dirty="0">
                          <a:solidFill>
                            <a:schemeClr val="tx1"/>
                          </a:solidFill>
                          <a:effectLst/>
                        </a:rPr>
                        <a:t>0</a:t>
                      </a:r>
                      <a:r>
                        <a:rPr lang="zh-CN" sz="800" b="0" kern="100" dirty="0">
                          <a:solidFill>
                            <a:schemeClr val="tx1"/>
                          </a:solidFill>
                          <a:effectLst/>
                        </a:rPr>
                        <a:t>；</a:t>
                      </a:r>
                    </a:p>
                    <a:p>
                      <a:pPr indent="457200" algn="just">
                        <a:spcAft>
                          <a:spcPts val="0"/>
                        </a:spcAft>
                      </a:pPr>
                      <a:r>
                        <a:rPr lang="en-US" sz="800" b="0" kern="100" dirty="0">
                          <a:solidFill>
                            <a:schemeClr val="tx1"/>
                          </a:solidFill>
                          <a:effectLst/>
                        </a:rPr>
                        <a:t>c= </a:t>
                      </a:r>
                      <a:r>
                        <a:rPr lang="en-US" sz="800" b="0" kern="100" dirty="0" err="1">
                          <a:solidFill>
                            <a:schemeClr val="tx1"/>
                          </a:solidFill>
                          <a:effectLst/>
                        </a:rPr>
                        <a:t>GetNextChar</a:t>
                      </a:r>
                      <a:r>
                        <a:rPr lang="en-US" sz="800" b="0" kern="100" dirty="0">
                          <a:solidFill>
                            <a:schemeClr val="tx1"/>
                          </a:solidFill>
                          <a:effectLst/>
                        </a:rPr>
                        <a:t> ();</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while(c != </a:t>
                      </a:r>
                      <a:r>
                        <a:rPr lang="en-US" sz="800" b="0" kern="100" dirty="0" err="1">
                          <a:solidFill>
                            <a:schemeClr val="tx1"/>
                          </a:solidFill>
                          <a:effectLst/>
                        </a:rPr>
                        <a:t>eof</a:t>
                      </a:r>
                      <a:r>
                        <a:rPr lang="en-US" sz="800" b="0" kern="100" dirty="0">
                          <a:solidFill>
                            <a:schemeClr val="tx1"/>
                          </a:solidFill>
                          <a:effectLst/>
                        </a:rPr>
                        <a:t>) {</a:t>
                      </a:r>
                      <a:endParaRPr lang="zh-CN" sz="800" b="0" kern="100" dirty="0">
                        <a:solidFill>
                          <a:schemeClr val="tx1"/>
                        </a:solidFill>
                        <a:effectLst/>
                      </a:endParaRPr>
                    </a:p>
                    <a:p>
                      <a:pPr indent="266700" algn="just">
                        <a:spcAft>
                          <a:spcPts val="0"/>
                        </a:spcAft>
                      </a:pPr>
                      <a:r>
                        <a:rPr lang="en-US" sz="800" b="0" kern="100" dirty="0">
                          <a:solidFill>
                            <a:schemeClr val="tx1"/>
                          </a:solidFill>
                          <a:effectLst/>
                        </a:rPr>
                        <a:t>       </a:t>
                      </a:r>
                      <a:r>
                        <a:rPr lang="en-US" sz="800" b="1" kern="100" dirty="0">
                          <a:solidFill>
                            <a:srgbClr val="FF0000"/>
                          </a:solidFill>
                          <a:effectLst/>
                        </a:rPr>
                        <a:t>s = </a:t>
                      </a:r>
                      <a:r>
                        <a:rPr lang="fr-FR" sz="800" b="1" kern="100" dirty="0">
                          <a:solidFill>
                            <a:srgbClr val="FF0000"/>
                          </a:solidFill>
                          <a:effectLst/>
                          <a:sym typeface="Symbol"/>
                        </a:rPr>
                        <a:t></a:t>
                      </a:r>
                      <a:r>
                        <a:rPr lang="pt-PT" sz="800" b="1" kern="100" dirty="0">
                          <a:solidFill>
                            <a:srgbClr val="FF0000"/>
                          </a:solidFill>
                          <a:effectLst/>
                        </a:rPr>
                        <a:t>(s,c);</a:t>
                      </a:r>
                      <a:endParaRPr lang="zh-CN" sz="800" b="1" kern="100" dirty="0">
                        <a:solidFill>
                          <a:srgbClr val="FF0000"/>
                        </a:solidFill>
                        <a:effectLst/>
                      </a:endParaRPr>
                    </a:p>
                    <a:p>
                      <a:pPr indent="266700" algn="just">
                        <a:spcAft>
                          <a:spcPts val="0"/>
                        </a:spcAft>
                      </a:pPr>
                      <a:r>
                        <a:rPr lang="en-US" sz="800" b="0" kern="100" dirty="0">
                          <a:solidFill>
                            <a:schemeClr val="tx1"/>
                          </a:solidFill>
                          <a:effectLst/>
                        </a:rPr>
                        <a:t>       c= </a:t>
                      </a:r>
                      <a:r>
                        <a:rPr lang="en-US" sz="800" b="0" kern="100" dirty="0" err="1">
                          <a:solidFill>
                            <a:schemeClr val="tx1"/>
                          </a:solidFill>
                          <a:effectLst/>
                        </a:rPr>
                        <a:t>GetNextChar</a:t>
                      </a:r>
                      <a:r>
                        <a:rPr lang="en-US" sz="800" b="0" kern="100" dirty="0">
                          <a:solidFill>
                            <a:schemeClr val="tx1"/>
                          </a:solidFill>
                          <a:effectLst/>
                        </a:rPr>
                        <a:t> ();</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if( s </a:t>
                      </a:r>
                      <a:r>
                        <a:rPr lang="zh-CN" sz="800" b="0" kern="100" dirty="0">
                          <a:solidFill>
                            <a:schemeClr val="tx1"/>
                          </a:solidFill>
                          <a:effectLst/>
                        </a:rPr>
                        <a:t>在</a:t>
                      </a:r>
                      <a:r>
                        <a:rPr lang="en-US" sz="800" b="0" kern="100" dirty="0">
                          <a:solidFill>
                            <a:schemeClr val="tx1"/>
                          </a:solidFill>
                          <a:effectLst/>
                        </a:rPr>
                        <a:t>F</a:t>
                      </a:r>
                      <a:r>
                        <a:rPr lang="zh-CN" sz="800" b="0" kern="100" dirty="0">
                          <a:solidFill>
                            <a:schemeClr val="tx1"/>
                          </a:solidFill>
                          <a:effectLst/>
                        </a:rPr>
                        <a:t>中</a:t>
                      </a:r>
                      <a:r>
                        <a:rPr lang="en-US" sz="800" b="0" kern="100" dirty="0">
                          <a:solidFill>
                            <a:schemeClr val="tx1"/>
                          </a:solidFill>
                          <a:effectLst/>
                        </a:rPr>
                        <a:t>) return </a:t>
                      </a:r>
                      <a:r>
                        <a:rPr lang="zh-CN" sz="800" b="0" kern="100" dirty="0">
                          <a:solidFill>
                            <a:schemeClr val="tx1"/>
                          </a:solidFill>
                          <a:effectLst/>
                        </a:rPr>
                        <a:t>“</a:t>
                      </a:r>
                      <a:r>
                        <a:rPr lang="en-US" sz="800" b="0" kern="100" dirty="0">
                          <a:solidFill>
                            <a:schemeClr val="tx1"/>
                          </a:solidFill>
                          <a:effectLst/>
                        </a:rPr>
                        <a:t>yes</a:t>
                      </a:r>
                      <a:r>
                        <a:rPr lang="zh-CN" sz="800" b="0" kern="100" dirty="0">
                          <a:solidFill>
                            <a:schemeClr val="tx1"/>
                          </a:solidFill>
                          <a:effectLst/>
                        </a:rPr>
                        <a:t>”</a:t>
                      </a:r>
                      <a:r>
                        <a:rPr lang="en-US" sz="800" b="0" kern="100" dirty="0">
                          <a:solidFill>
                            <a:schemeClr val="tx1"/>
                          </a:solidFill>
                          <a:effectLst/>
                        </a:rPr>
                        <a:t>;</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else return </a:t>
                      </a:r>
                      <a:r>
                        <a:rPr lang="zh-CN" sz="800" b="0" kern="100" dirty="0">
                          <a:solidFill>
                            <a:schemeClr val="tx1"/>
                          </a:solidFill>
                          <a:effectLst/>
                        </a:rPr>
                        <a:t>“</a:t>
                      </a:r>
                      <a:r>
                        <a:rPr lang="en-US" sz="800" b="0" kern="100" dirty="0">
                          <a:solidFill>
                            <a:schemeClr val="tx1"/>
                          </a:solidFill>
                          <a:effectLst/>
                        </a:rPr>
                        <a:t>no</a:t>
                      </a:r>
                      <a:r>
                        <a:rPr lang="zh-CN" sz="800" b="0" kern="100" dirty="0">
                          <a:solidFill>
                            <a:schemeClr val="tx1"/>
                          </a:solidFill>
                          <a:effectLst/>
                        </a:rPr>
                        <a:t>”</a:t>
                      </a:r>
                      <a:r>
                        <a:rPr lang="en-US" sz="800" b="0" kern="100" dirty="0">
                          <a:solidFill>
                            <a:schemeClr val="tx1"/>
                          </a:solidFill>
                          <a:effectLst/>
                        </a:rPr>
                        <a:t>;</a:t>
                      </a:r>
                      <a:endParaRPr lang="zh-CN" sz="800" b="0" kern="100" dirty="0">
                        <a:solidFill>
                          <a:schemeClr val="tx1"/>
                        </a:solidFill>
                        <a:effectLst/>
                        <a:latin typeface="Times New Roman"/>
                        <a:ea typeface="宋体"/>
                      </a:endParaRPr>
                    </a:p>
                  </a:txBody>
                  <a:tcPr marL="68583" marR="685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bl>
          </a:graphicData>
        </a:graphic>
      </p:graphicFrame>
      <p:cxnSp>
        <p:nvCxnSpPr>
          <p:cNvPr id="47" name="直接箭头连接符 46"/>
          <p:cNvCxnSpPr/>
          <p:nvPr/>
        </p:nvCxnSpPr>
        <p:spPr>
          <a:xfrm flipV="1">
            <a:off x="6222573" y="2310406"/>
            <a:ext cx="1229747" cy="681092"/>
          </a:xfrm>
          <a:prstGeom prst="straightConnector1">
            <a:avLst/>
          </a:prstGeom>
          <a:ln w="571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743265" y="1821433"/>
            <a:ext cx="277007" cy="350475"/>
          </a:xfrm>
          <a:prstGeom prst="straightConnector1">
            <a:avLst/>
          </a:prstGeom>
          <a:ln w="571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V="1">
            <a:off x="5502491" y="3346438"/>
            <a:ext cx="2" cy="45118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H="1">
            <a:off x="5790525" y="3346438"/>
            <a:ext cx="1" cy="441317"/>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18" idx="0"/>
          </p:cNvCxnSpPr>
          <p:nvPr/>
        </p:nvCxnSpPr>
        <p:spPr>
          <a:xfrm flipV="1">
            <a:off x="5583406" y="2252320"/>
            <a:ext cx="0" cy="663231"/>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15" idx="1"/>
          </p:cNvCxnSpPr>
          <p:nvPr/>
        </p:nvCxnSpPr>
        <p:spPr>
          <a:xfrm flipH="1">
            <a:off x="3664305" y="2036877"/>
            <a:ext cx="1334133" cy="547058"/>
          </a:xfrm>
          <a:prstGeom prst="straightConnector1">
            <a:avLst/>
          </a:prstGeom>
          <a:ln w="57150">
            <a:solidFill>
              <a:srgbClr val="00B0F0"/>
            </a:solidFill>
            <a:prstDash val="sysDash"/>
            <a:tailEnd type="arrow"/>
          </a:ln>
        </p:spPr>
        <p:style>
          <a:lnRef idx="1">
            <a:schemeClr val="accent1"/>
          </a:lnRef>
          <a:fillRef idx="0">
            <a:schemeClr val="accent1"/>
          </a:fillRef>
          <a:effectRef idx="0">
            <a:schemeClr val="accent1"/>
          </a:effectRef>
          <a:fontRef idx="minor">
            <a:schemeClr val="tx1"/>
          </a:fontRef>
        </p:style>
      </p:cxnSp>
      <p:graphicFrame>
        <p:nvGraphicFramePr>
          <p:cNvPr id="81" name="表格 80"/>
          <p:cNvGraphicFramePr>
            <a:graphicFrameLocks noGrp="1"/>
          </p:cNvGraphicFramePr>
          <p:nvPr>
            <p:extLst>
              <p:ext uri="{D42A27DB-BD31-4B8C-83A1-F6EECF244321}">
                <p14:modId xmlns:p14="http://schemas.microsoft.com/office/powerpoint/2010/main" val="2558094706"/>
              </p:ext>
            </p:extLst>
          </p:nvPr>
        </p:nvGraphicFramePr>
        <p:xfrm>
          <a:off x="0" y="208307"/>
          <a:ext cx="1530702" cy="2571036"/>
        </p:xfrm>
        <a:graphic>
          <a:graphicData uri="http://schemas.openxmlformats.org/drawingml/2006/table">
            <a:tbl>
              <a:tblPr firstRow="1" firstCol="1" bandRow="1">
                <a:tableStyleId>{5C22544A-7EE6-4342-B048-85BDC9FD1C3A}</a:tableStyleId>
              </a:tblPr>
              <a:tblGrid>
                <a:gridCol w="16255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gridCol w="162550">
                  <a:extLst>
                    <a:ext uri="{9D8B030D-6E8A-4147-A177-3AD203B41FA5}">
                      <a16:colId xmlns:a16="http://schemas.microsoft.com/office/drawing/2014/main" val="20003"/>
                    </a:ext>
                  </a:extLst>
                </a:gridCol>
                <a:gridCol w="269498">
                  <a:extLst>
                    <a:ext uri="{9D8B030D-6E8A-4147-A177-3AD203B41FA5}">
                      <a16:colId xmlns:a16="http://schemas.microsoft.com/office/drawing/2014/main" val="20004"/>
                    </a:ext>
                  </a:extLst>
                </a:gridCol>
                <a:gridCol w="288032">
                  <a:extLst>
                    <a:ext uri="{9D8B030D-6E8A-4147-A177-3AD203B41FA5}">
                      <a16:colId xmlns:a16="http://schemas.microsoft.com/office/drawing/2014/main" val="20005"/>
                    </a:ext>
                  </a:extLst>
                </a:gridCol>
              </a:tblGrid>
              <a:tr h="107916">
                <a:tc>
                  <a:txBody>
                    <a:bodyPr/>
                    <a:lstStyle/>
                    <a:p>
                      <a:pPr algn="ctr">
                        <a:spcAft>
                          <a:spcPts val="0"/>
                        </a:spcAft>
                      </a:pPr>
                      <a:r>
                        <a:rPr lang="zh-CN" sz="500" kern="100" dirty="0">
                          <a:solidFill>
                            <a:schemeClr val="tx1"/>
                          </a:solidFill>
                          <a:effectLst/>
                          <a:latin typeface="+mn-ea"/>
                          <a:ea typeface="+mn-ea"/>
                        </a:rPr>
                        <a:t>类别</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单词</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编码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类别</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单词</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编码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07916">
                <a:tc rowSpan="13">
                  <a:txBody>
                    <a:bodyPr/>
                    <a:lstStyle/>
                    <a:p>
                      <a:pPr algn="ctr">
                        <a:spcAft>
                          <a:spcPts val="0"/>
                        </a:spcAft>
                      </a:pPr>
                      <a:r>
                        <a:rPr lang="zh-CN" sz="500" kern="100" dirty="0">
                          <a:solidFill>
                            <a:schemeClr val="tx1"/>
                          </a:solidFill>
                          <a:effectLst/>
                          <a:latin typeface="+mn-ea"/>
                          <a:ea typeface="+mn-ea"/>
                        </a:rPr>
                        <a:t>关键字</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a:solidFill>
                            <a:schemeClr val="tx1"/>
                          </a:solidFill>
                          <a:effectLst/>
                          <a:latin typeface="+mn-ea"/>
                          <a:ea typeface="+mn-ea"/>
                        </a:rPr>
                        <a:t>char</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19">
                  <a:txBody>
                    <a:bodyPr/>
                    <a:lstStyle/>
                    <a:p>
                      <a:pPr algn="ctr">
                        <a:spcAft>
                          <a:spcPts val="0"/>
                        </a:spcAft>
                      </a:pPr>
                      <a:r>
                        <a:rPr lang="zh-CN" sz="500" b="1" kern="100" dirty="0">
                          <a:solidFill>
                            <a:schemeClr val="tx1"/>
                          </a:solidFill>
                          <a:effectLst/>
                          <a:latin typeface="+mn-ea"/>
                          <a:ea typeface="+mn-ea"/>
                        </a:rPr>
                        <a:t>运算符</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int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float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break</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const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105</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205</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return</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106</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206</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void</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107</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207</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continue</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108</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208</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do</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109</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209</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while</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if</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&lt;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else</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&lt;=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for</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&gt;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107916">
                <a:tc rowSpan="4">
                  <a:txBody>
                    <a:bodyPr/>
                    <a:lstStyle/>
                    <a:p>
                      <a:pPr algn="ctr">
                        <a:spcAft>
                          <a:spcPts val="0"/>
                        </a:spcAft>
                      </a:pPr>
                      <a:r>
                        <a:rPr lang="zh-CN" sz="500" kern="100">
                          <a:solidFill>
                            <a:schemeClr val="tx1"/>
                          </a:solidFill>
                          <a:effectLst/>
                          <a:latin typeface="+mn-ea"/>
                          <a:ea typeface="+mn-ea"/>
                        </a:rPr>
                        <a:t>界符</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&gt;=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215</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216</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&amp;&amp;</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217</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07916">
                <a:tc rowSpan="5">
                  <a:txBody>
                    <a:bodyPr/>
                    <a:lstStyle/>
                    <a:p>
                      <a:pPr algn="ctr">
                        <a:spcAft>
                          <a:spcPts val="0"/>
                        </a:spcAft>
                      </a:pPr>
                      <a:r>
                        <a:rPr lang="zh-CN" sz="500" kern="100">
                          <a:solidFill>
                            <a:schemeClr val="tx1"/>
                          </a:solidFill>
                          <a:effectLst/>
                          <a:latin typeface="+mn-ea"/>
                          <a:ea typeface="+mn-ea"/>
                        </a:rPr>
                        <a:t>单词类别</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zh-CN" sz="500" kern="100">
                          <a:solidFill>
                            <a:schemeClr val="tx1"/>
                          </a:solidFill>
                          <a:effectLst/>
                          <a:latin typeface="+mn-ea"/>
                          <a:ea typeface="+mn-ea"/>
                        </a:rPr>
                        <a:t>整数</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400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218</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107916">
                <a:tc vMerge="1">
                  <a:txBody>
                    <a:bodyPr/>
                    <a:lstStyle/>
                    <a:p>
                      <a:endParaRPr lang="zh-CN" altLang="en-US"/>
                    </a:p>
                  </a:txBody>
                  <a:tcPr/>
                </a:tc>
                <a:tc>
                  <a:txBody>
                    <a:bodyPr/>
                    <a:lstStyle/>
                    <a:p>
                      <a:pPr algn="l">
                        <a:spcAft>
                          <a:spcPts val="0"/>
                        </a:spcAft>
                      </a:pPr>
                      <a:r>
                        <a:rPr lang="zh-CN" sz="500" kern="100">
                          <a:solidFill>
                            <a:schemeClr val="tx1"/>
                          </a:solidFill>
                          <a:effectLst/>
                          <a:latin typeface="+mn-ea"/>
                          <a:ea typeface="+mn-ea"/>
                        </a:rPr>
                        <a:t>字符</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500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219</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107916">
                <a:tc vMerge="1">
                  <a:txBody>
                    <a:bodyPr/>
                    <a:lstStyle/>
                    <a:p>
                      <a:endParaRPr lang="zh-CN" altLang="en-US"/>
                    </a:p>
                  </a:txBody>
                  <a:tcPr/>
                </a:tc>
                <a:tc>
                  <a:txBody>
                    <a:bodyPr/>
                    <a:lstStyle/>
                    <a:p>
                      <a:pPr algn="l">
                        <a:spcAft>
                          <a:spcPts val="0"/>
                        </a:spcAft>
                      </a:pPr>
                      <a:r>
                        <a:rPr lang="zh-CN" sz="500" kern="100">
                          <a:solidFill>
                            <a:schemeClr val="tx1"/>
                          </a:solidFill>
                          <a:effectLst/>
                          <a:latin typeface="+mn-ea"/>
                          <a:ea typeface="+mn-ea"/>
                        </a:rPr>
                        <a:t>字符串</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600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220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r h="107916">
                <a:tc vMerge="1">
                  <a:txBody>
                    <a:bodyPr/>
                    <a:lstStyle/>
                    <a:p>
                      <a:endParaRPr lang="zh-CN" altLang="en-US"/>
                    </a:p>
                  </a:txBody>
                  <a:tcPr/>
                </a:tc>
                <a:tc>
                  <a:txBody>
                    <a:bodyPr/>
                    <a:lstStyle/>
                    <a:p>
                      <a:pPr algn="l">
                        <a:spcAft>
                          <a:spcPts val="0"/>
                        </a:spcAft>
                      </a:pPr>
                      <a:r>
                        <a:rPr lang="zh-CN" sz="500" kern="100">
                          <a:solidFill>
                            <a:schemeClr val="tx1"/>
                          </a:solidFill>
                          <a:effectLst/>
                          <a:latin typeface="+mn-ea"/>
                          <a:ea typeface="+mn-ea"/>
                        </a:rPr>
                        <a:t>标识符</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700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1"/>
                  </a:ext>
                </a:extLst>
              </a:tr>
              <a:tr h="107916">
                <a:tc vMerge="1">
                  <a:txBody>
                    <a:bodyPr/>
                    <a:lstStyle/>
                    <a:p>
                      <a:endParaRPr lang="zh-CN" altLang="en-US"/>
                    </a:p>
                  </a:txBody>
                  <a:tcPr/>
                </a:tc>
                <a:tc>
                  <a:txBody>
                    <a:bodyPr/>
                    <a:lstStyle/>
                    <a:p>
                      <a:pPr algn="l">
                        <a:spcAft>
                          <a:spcPts val="0"/>
                        </a:spcAft>
                      </a:pPr>
                      <a:r>
                        <a:rPr lang="zh-CN" sz="500" kern="100" dirty="0">
                          <a:solidFill>
                            <a:schemeClr val="tx1"/>
                          </a:solidFill>
                          <a:effectLst/>
                          <a:latin typeface="+mn-ea"/>
                          <a:ea typeface="+mn-ea"/>
                        </a:rPr>
                        <a:t>实数</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800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dirty="0">
                          <a:solidFill>
                            <a:schemeClr val="tx1"/>
                          </a:solidFill>
                          <a:effectLst/>
                          <a:latin typeface="+mn-ea"/>
                          <a:ea typeface="+mn-ea"/>
                        </a:rPr>
                        <a:t> </a:t>
                      </a:r>
                      <a:endParaRPr lang="zh-CN" sz="5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2"/>
                  </a:ext>
                </a:extLst>
              </a:tr>
            </a:tbl>
          </a:graphicData>
        </a:graphic>
      </p:graphicFrame>
      <p:sp>
        <p:nvSpPr>
          <p:cNvPr id="41" name="TextBox 40"/>
          <p:cNvSpPr txBox="1"/>
          <p:nvPr/>
        </p:nvSpPr>
        <p:spPr>
          <a:xfrm>
            <a:off x="42770" y="3622156"/>
            <a:ext cx="813172" cy="1569660"/>
          </a:xfrm>
          <a:prstGeom prst="rect">
            <a:avLst/>
          </a:prstGeom>
          <a:solidFill>
            <a:schemeClr val="bg1"/>
          </a:solidFill>
          <a:ln>
            <a:solidFill>
              <a:schemeClr val="tx1"/>
            </a:solidFill>
          </a:ln>
        </p:spPr>
        <p:txBody>
          <a:bodyPr wrap="square" rtlCol="0">
            <a:spAutoFit/>
          </a:bodyPr>
          <a:lstStyle/>
          <a:p>
            <a:r>
              <a:rPr lang="en-US" altLang="zh-CN" sz="1200" dirty="0"/>
              <a:t>DO</a:t>
            </a:r>
          </a:p>
          <a:p>
            <a:r>
              <a:rPr lang="en-US" altLang="zh-CN" sz="1200" dirty="0"/>
              <a:t>IF</a:t>
            </a:r>
          </a:p>
          <a:p>
            <a:r>
              <a:rPr lang="en-US" altLang="zh-CN" sz="1200" dirty="0"/>
              <a:t>WHILE</a:t>
            </a:r>
          </a:p>
          <a:p>
            <a:r>
              <a:rPr lang="en-US" altLang="zh-CN" sz="1200" dirty="0"/>
              <a:t>L(L|D)*</a:t>
            </a:r>
          </a:p>
          <a:p>
            <a:r>
              <a:rPr lang="en-US" altLang="zh-CN" sz="1200" dirty="0"/>
              <a:t>DD*</a:t>
            </a:r>
          </a:p>
          <a:p>
            <a:r>
              <a:rPr lang="en-US" altLang="zh-CN" sz="1200" dirty="0"/>
              <a:t>+</a:t>
            </a:r>
          </a:p>
          <a:p>
            <a:r>
              <a:rPr lang="en-US" altLang="zh-CN" sz="1200" dirty="0"/>
              <a:t>_</a:t>
            </a:r>
          </a:p>
          <a:p>
            <a:r>
              <a:rPr lang="en-US" altLang="zh-CN" sz="1200" dirty="0"/>
              <a:t>……</a:t>
            </a:r>
            <a:endParaRPr lang="zh-CN" altLang="en-US" sz="1200" dirty="0"/>
          </a:p>
        </p:txBody>
      </p:sp>
      <p:graphicFrame>
        <p:nvGraphicFramePr>
          <p:cNvPr id="29" name="Group 49"/>
          <p:cNvGraphicFramePr>
            <a:graphicFrameLocks noGrp="1"/>
          </p:cNvGraphicFramePr>
          <p:nvPr>
            <p:extLst>
              <p:ext uri="{D42A27DB-BD31-4B8C-83A1-F6EECF244321}">
                <p14:modId xmlns:p14="http://schemas.microsoft.com/office/powerpoint/2010/main" val="31933213"/>
              </p:ext>
            </p:extLst>
          </p:nvPr>
        </p:nvGraphicFramePr>
        <p:xfrm>
          <a:off x="7956376" y="2519154"/>
          <a:ext cx="1161709" cy="1348740"/>
        </p:xfrm>
        <a:graphic>
          <a:graphicData uri="http://schemas.openxmlformats.org/drawingml/2006/table">
            <a:tbl>
              <a:tblPr/>
              <a:tblGrid>
                <a:gridCol w="657653">
                  <a:extLst>
                    <a:ext uri="{9D8B030D-6E8A-4147-A177-3AD203B41FA5}">
                      <a16:colId xmlns:a16="http://schemas.microsoft.com/office/drawing/2014/main" val="20000"/>
                    </a:ext>
                  </a:extLst>
                </a:gridCol>
                <a:gridCol w="210047">
                  <a:extLst>
                    <a:ext uri="{9D8B030D-6E8A-4147-A177-3AD203B41FA5}">
                      <a16:colId xmlns:a16="http://schemas.microsoft.com/office/drawing/2014/main" val="20001"/>
                    </a:ext>
                  </a:extLst>
                </a:gridCol>
                <a:gridCol w="294009">
                  <a:extLst>
                    <a:ext uri="{9D8B030D-6E8A-4147-A177-3AD203B41FA5}">
                      <a16:colId xmlns:a16="http://schemas.microsoft.com/office/drawing/2014/main" val="20002"/>
                    </a:ext>
                  </a:extLst>
                </a:gridCol>
              </a:tblGrid>
              <a:tr h="217602">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输入状态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3">
                        <a:lumMod val="20000"/>
                        <a:lumOff val="80000"/>
                      </a:schemeClr>
                    </a:solidFill>
                  </a:tcPr>
                </a:tc>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164718">
                <a:tc>
                  <a:txBody>
                    <a:bodyPr/>
                    <a:lstStyle/>
                    <a:p>
                      <a:pPr algn="ctr">
                        <a:spcAft>
                          <a:spcPts val="0"/>
                        </a:spcAft>
                      </a:pPr>
                      <a:r>
                        <a:rPr lang="en-US" sz="1200" kern="100" dirty="0">
                          <a:effectLst/>
                        </a:rPr>
                        <a:t>S</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A</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B</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151916">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C</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B</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2"/>
                  </a:ext>
                </a:extLst>
              </a:tr>
              <a:tr h="151489">
                <a:tc>
                  <a:txBody>
                    <a:bodyPr/>
                    <a:lstStyle/>
                    <a:p>
                      <a:pPr algn="ctr">
                        <a:spcAft>
                          <a:spcPts val="0"/>
                        </a:spcAft>
                      </a:pPr>
                      <a:r>
                        <a:rPr lang="en-US" sz="1200" kern="100">
                          <a:effectLst/>
                        </a:rPr>
                        <a:t>B</a:t>
                      </a:r>
                      <a:endParaRPr lang="zh-CN" sz="1200" kern="10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D</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3"/>
                  </a:ext>
                </a:extLst>
              </a:tr>
              <a:tr h="151489">
                <a:tc>
                  <a:txBody>
                    <a:bodyPr/>
                    <a:lstStyle/>
                    <a:p>
                      <a:pPr algn="ctr">
                        <a:spcAft>
                          <a:spcPts val="0"/>
                        </a:spcAft>
                      </a:pPr>
                      <a:r>
                        <a:rPr lang="en-US" sz="1200" kern="100" dirty="0">
                          <a:effectLst/>
                        </a:rPr>
                        <a:t>C</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C</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E</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4"/>
                  </a:ext>
                </a:extLst>
              </a:tr>
              <a:tr h="151489">
                <a:tc>
                  <a:txBody>
                    <a:bodyPr/>
                    <a:lstStyle/>
                    <a:p>
                      <a:pPr algn="ctr">
                        <a:spcAft>
                          <a:spcPts val="0"/>
                        </a:spcAft>
                      </a:pPr>
                      <a:r>
                        <a:rPr lang="en-US" altLang="zh-CN" sz="1200" kern="100" dirty="0">
                          <a:effectLst/>
                          <a:latin typeface="+mn-lt"/>
                          <a:ea typeface="+mn-ea"/>
                        </a:rPr>
                        <a:t>…</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5"/>
                  </a:ext>
                </a:extLst>
              </a:tr>
            </a:tbl>
          </a:graphicData>
        </a:graphic>
      </p:graphicFrame>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855" y="72008"/>
            <a:ext cx="1828899" cy="113159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cxnSp>
        <p:nvCxnSpPr>
          <p:cNvPr id="33" name="直接箭头连接符 32"/>
          <p:cNvCxnSpPr>
            <a:stCxn id="36866" idx="2"/>
          </p:cNvCxnSpPr>
          <p:nvPr/>
        </p:nvCxnSpPr>
        <p:spPr>
          <a:xfrm flipH="1">
            <a:off x="2749855" y="1203598"/>
            <a:ext cx="914450" cy="422755"/>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5" idx="2"/>
          </p:cNvCxnSpPr>
          <p:nvPr/>
        </p:nvCxnSpPr>
        <p:spPr>
          <a:xfrm>
            <a:off x="5869536" y="2252320"/>
            <a:ext cx="0" cy="663231"/>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8" idx="1"/>
          </p:cNvCxnSpPr>
          <p:nvPr/>
        </p:nvCxnSpPr>
        <p:spPr>
          <a:xfrm flipH="1" flipV="1">
            <a:off x="3658505" y="2715780"/>
            <a:ext cx="1339932" cy="415215"/>
          </a:xfrm>
          <a:prstGeom prst="straightConnector1">
            <a:avLst/>
          </a:prstGeom>
          <a:ln w="57150">
            <a:solidFill>
              <a:srgbClr val="00B0F0"/>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H="1">
            <a:off x="4578754" y="507095"/>
            <a:ext cx="1004652" cy="326351"/>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48064" y="51470"/>
            <a:ext cx="1163349" cy="461665"/>
          </a:xfrm>
          <a:prstGeom prst="rect">
            <a:avLst/>
          </a:prstGeom>
          <a:noFill/>
        </p:spPr>
        <p:txBody>
          <a:bodyPr wrap="square" rtlCol="0">
            <a:spAutoFit/>
          </a:bodyPr>
          <a:lstStyle/>
          <a:p>
            <a:r>
              <a:rPr lang="zh-CN" altLang="en-US" sz="2400" dirty="0">
                <a:solidFill>
                  <a:srgbClr val="CC00FF"/>
                </a:solidFill>
              </a:rPr>
              <a:t>符号串</a:t>
            </a:r>
          </a:p>
        </p:txBody>
      </p:sp>
      <p:cxnSp>
        <p:nvCxnSpPr>
          <p:cNvPr id="50" name="直接箭头连接符 49"/>
          <p:cNvCxnSpPr/>
          <p:nvPr/>
        </p:nvCxnSpPr>
        <p:spPr>
          <a:xfrm>
            <a:off x="5869536" y="513135"/>
            <a:ext cx="1150736" cy="652702"/>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29" idx="1"/>
            <a:endCxn id="18" idx="3"/>
          </p:cNvCxnSpPr>
          <p:nvPr/>
        </p:nvCxnSpPr>
        <p:spPr>
          <a:xfrm flipH="1" flipV="1">
            <a:off x="6168374" y="3130995"/>
            <a:ext cx="1788002" cy="62529"/>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E720B437-B0C6-2C54-7E7D-EEA718851870}"/>
              </a:ext>
            </a:extLst>
          </p:cNvPr>
          <p:cNvSpPr txBox="1"/>
          <p:nvPr/>
        </p:nvSpPr>
        <p:spPr>
          <a:xfrm>
            <a:off x="3673158" y="3982404"/>
            <a:ext cx="648072" cy="584775"/>
          </a:xfrm>
          <a:prstGeom prst="rect">
            <a:avLst/>
          </a:prstGeom>
          <a:noFill/>
        </p:spPr>
        <p:txBody>
          <a:bodyPr wrap="square" rtlCol="0">
            <a:spAutoFit/>
          </a:bodyPr>
          <a:lstStyle/>
          <a:p>
            <a:r>
              <a:rPr lang="zh-CN" altLang="en-US" sz="3200" b="1" dirty="0">
                <a:solidFill>
                  <a:srgbClr val="FF0000"/>
                </a:solidFill>
              </a:rPr>
              <a:t>？</a:t>
            </a:r>
          </a:p>
        </p:txBody>
      </p:sp>
    </p:spTree>
    <p:extLst>
      <p:ext uri="{BB962C8B-B14F-4D97-AF65-F5344CB8AC3E}">
        <p14:creationId xmlns:p14="http://schemas.microsoft.com/office/powerpoint/2010/main" val="7063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8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up)">
                                      <p:cBhvr>
                                        <p:cTn id="25" dur="10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circle(in)">
                                      <p:cBhvr>
                                        <p:cTn id="41" dur="20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up)">
                                      <p:cBhvr>
                                        <p:cTn id="46" dur="10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down)">
                                      <p:cBhvr>
                                        <p:cTn id="57" dur="10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43"/>
                                        </p:tgtEl>
                                        <p:attrNameLst>
                                          <p:attrName>style.visibility</p:attrName>
                                        </p:attrNameLst>
                                      </p:cBhvr>
                                      <p:to>
                                        <p:strVal val="visible"/>
                                      </p:to>
                                    </p:set>
                                    <p:animEffect transition="in" filter="wipe(down)">
                                      <p:cBhvr>
                                        <p:cTn id="70" dur="1000"/>
                                        <p:tgtEl>
                                          <p:spTgt spid="4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wipe(up)">
                                      <p:cBhvr>
                                        <p:cTn id="75" dur="1000"/>
                                        <p:tgtEl>
                                          <p:spTgt spid="47"/>
                                        </p:tgtEl>
                                      </p:cBhvr>
                                    </p:animEffect>
                                  </p:childTnLst>
                                </p:cTn>
                              </p:par>
                              <p:par>
                                <p:cTn id="76" presetID="6" presetClass="entr" presetSubtype="16" fill="hold" nodeType="withEffect">
                                  <p:stCondLst>
                                    <p:cond delay="0"/>
                                  </p:stCondLst>
                                  <p:childTnLst>
                                    <p:set>
                                      <p:cBhvr>
                                        <p:cTn id="77" dur="1" fill="hold">
                                          <p:stCondLst>
                                            <p:cond delay="0"/>
                                          </p:stCondLst>
                                        </p:cTn>
                                        <p:tgtEl>
                                          <p:spTgt spid="67"/>
                                        </p:tgtEl>
                                        <p:attrNameLst>
                                          <p:attrName>style.visibility</p:attrName>
                                        </p:attrNameLst>
                                      </p:cBhvr>
                                      <p:to>
                                        <p:strVal val="visible"/>
                                      </p:to>
                                    </p:set>
                                    <p:animEffect transition="in" filter="circle(in)">
                                      <p:cBhvr>
                                        <p:cTn id="78" dur="2000"/>
                                        <p:tgtEl>
                                          <p:spTgt spid="67"/>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nodeType="afterEffect">
                                  <p:stCondLst>
                                    <p:cond delay="0"/>
                                  </p:stCondLst>
                                  <p:childTnLst>
                                    <p:set>
                                      <p:cBhvr>
                                        <p:cTn id="85" dur="1" fill="hold">
                                          <p:stCondLst>
                                            <p:cond delay="0"/>
                                          </p:stCondLst>
                                        </p:cTn>
                                        <p:tgtEl>
                                          <p:spTgt spid="29"/>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nodeType="clickEffect">
                                  <p:stCondLst>
                                    <p:cond delay="0"/>
                                  </p:stCondLst>
                                  <p:childTnLst>
                                    <p:set>
                                      <p:cBhvr>
                                        <p:cTn id="89" dur="1" fill="hold">
                                          <p:stCondLst>
                                            <p:cond delay="0"/>
                                          </p:stCondLst>
                                        </p:cTn>
                                        <p:tgtEl>
                                          <p:spTgt spid="24"/>
                                        </p:tgtEl>
                                        <p:attrNameLst>
                                          <p:attrName>style.visibility</p:attrName>
                                        </p:attrNameLst>
                                      </p:cBhvr>
                                      <p:to>
                                        <p:strVal val="hidden"/>
                                      </p:to>
                                    </p:set>
                                  </p:childTnLst>
                                </p:cTn>
                              </p:par>
                            </p:childTnLst>
                          </p:cTn>
                        </p:par>
                        <p:par>
                          <p:cTn id="90" fill="hold">
                            <p:stCondLst>
                              <p:cond delay="0"/>
                            </p:stCondLst>
                            <p:childTnLst>
                              <p:par>
                                <p:cTn id="91" presetID="1" presetClass="entr" presetSubtype="0" fill="hold" nodeType="after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69"/>
                                        </p:tgtEl>
                                        <p:attrNameLst>
                                          <p:attrName>style.visibility</p:attrName>
                                        </p:attrNameLst>
                                      </p:cBhvr>
                                      <p:to>
                                        <p:strVal val="visible"/>
                                      </p:to>
                                    </p:set>
                                    <p:animEffect transition="in" filter="wipe(down)">
                                      <p:cBhvr>
                                        <p:cTn id="97" dur="1000"/>
                                        <p:tgtEl>
                                          <p:spTgt spid="69"/>
                                        </p:tgtEl>
                                      </p:cBhvr>
                                    </p:animEffect>
                                  </p:childTnLst>
                                </p:cTn>
                              </p:par>
                            </p:childTnLst>
                          </p:cTn>
                        </p:par>
                        <p:par>
                          <p:cTn id="98" fill="hold">
                            <p:stCondLst>
                              <p:cond delay="1000"/>
                            </p:stCondLst>
                            <p:childTnLst>
                              <p:par>
                                <p:cTn id="99" presetID="1" presetClass="entr" presetSubtype="0" fill="hold" grpId="0" nodeType="afterEffect">
                                  <p:stCondLst>
                                    <p:cond delay="0"/>
                                  </p:stCondLst>
                                  <p:childTnLst>
                                    <p:set>
                                      <p:cBhvr>
                                        <p:cTn id="100" dur="1" fill="hold">
                                          <p:stCondLst>
                                            <p:cond delay="0"/>
                                          </p:stCondLst>
                                        </p:cTn>
                                        <p:tgtEl>
                                          <p:spTgt spid="1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wipe(down)">
                                      <p:cBhvr>
                                        <p:cTn id="105" dur="1000"/>
                                        <p:tgtEl>
                                          <p:spTgt spid="3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60"/>
                                        </p:tgtEl>
                                        <p:attrNameLst>
                                          <p:attrName>style.visibility</p:attrName>
                                        </p:attrNameLst>
                                      </p:cBhvr>
                                      <p:to>
                                        <p:strVal val="visible"/>
                                      </p:to>
                                    </p:set>
                                    <p:animEffect transition="in" filter="wipe(up)">
                                      <p:cBhvr>
                                        <p:cTn id="110" dur="1000"/>
                                        <p:tgtEl>
                                          <p:spTgt spid="60"/>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2" fill="hold" nodeType="clickEffect">
                                  <p:stCondLst>
                                    <p:cond delay="0"/>
                                  </p:stCondLst>
                                  <p:childTnLst>
                                    <p:set>
                                      <p:cBhvr>
                                        <p:cTn id="114" dur="1" fill="hold">
                                          <p:stCondLst>
                                            <p:cond delay="0"/>
                                          </p:stCondLst>
                                        </p:cTn>
                                        <p:tgtEl>
                                          <p:spTgt spid="78"/>
                                        </p:tgtEl>
                                        <p:attrNameLst>
                                          <p:attrName>style.visibility</p:attrName>
                                        </p:attrNameLst>
                                      </p:cBhvr>
                                      <p:to>
                                        <p:strVal val="visible"/>
                                      </p:to>
                                    </p:set>
                                    <p:animEffect transition="in" filter="wipe(right)">
                                      <p:cBhvr>
                                        <p:cTn id="115" dur="1000"/>
                                        <p:tgtEl>
                                          <p:spTgt spid="78"/>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1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63"/>
                                        </p:tgtEl>
                                        <p:attrNameLst>
                                          <p:attrName>style.visibility</p:attrName>
                                        </p:attrNameLst>
                                      </p:cBhvr>
                                      <p:to>
                                        <p:strVal val="visible"/>
                                      </p:to>
                                    </p:set>
                                    <p:animEffect transition="in" filter="wipe(down)">
                                      <p:cBhvr>
                                        <p:cTn id="124" dur="1000"/>
                                        <p:tgtEl>
                                          <p:spTgt spid="63"/>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65"/>
                                        </p:tgtEl>
                                        <p:attrNameLst>
                                          <p:attrName>style.visibility</p:attrName>
                                        </p:attrNameLst>
                                      </p:cBhvr>
                                      <p:to>
                                        <p:strVal val="visible"/>
                                      </p:to>
                                    </p:set>
                                    <p:animEffect transition="in" filter="wipe(down)">
                                      <p:cBhvr>
                                        <p:cTn id="129" dur="1000"/>
                                        <p:tgtEl>
                                          <p:spTgt spid="65"/>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22"/>
                                        </p:tgtEl>
                                        <p:attrNameLst>
                                          <p:attrName>style.visibility</p:attrName>
                                        </p:attrNameLst>
                                      </p:cBhvr>
                                      <p:to>
                                        <p:strVal val="visible"/>
                                      </p:to>
                                    </p:set>
                                    <p:animEffect transition="in" filter="wipe(left)">
                                      <p:cBhvr>
                                        <p:cTn id="134"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8" grpId="0" animBg="1"/>
      <p:bldP spid="16" grpId="0"/>
      <p:bldP spid="15" grpId="0" animBg="1"/>
      <p:bldP spid="17" grpId="0" animBg="1"/>
      <p:bldP spid="18" grpId="0" animBg="1"/>
      <p:bldP spid="13" grpId="0" animBg="1"/>
      <p:bldP spid="41" grpId="0" animBg="1"/>
      <p:bldP spid="4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220663" y="205978"/>
            <a:ext cx="8642350" cy="708422"/>
          </a:xfrm>
        </p:spPr>
        <p:txBody>
          <a:bodyPr/>
          <a:lstStyle/>
          <a:p>
            <a:pPr eaLnBrk="1" hangingPunct="1"/>
            <a:r>
              <a:rPr kumimoji="1" lang="en-US" altLang="zh-CN" b="1" dirty="0">
                <a:solidFill>
                  <a:srgbClr val="CC0099"/>
                </a:solidFill>
                <a:latin typeface="Times New Roman" pitchFamily="18" charset="0"/>
                <a:ea typeface="隶书" pitchFamily="49" charset="-122"/>
              </a:rPr>
              <a:t>2.5.5</a:t>
            </a:r>
            <a:r>
              <a:rPr kumimoji="1" lang="zh-CN" altLang="en-US" b="1" dirty="0">
                <a:solidFill>
                  <a:srgbClr val="CC0099"/>
                </a:solidFill>
                <a:latin typeface="Times New Roman" pitchFamily="18" charset="0"/>
                <a:ea typeface="隶书" pitchFamily="49" charset="-122"/>
              </a:rPr>
              <a:t>正则表达式与</a:t>
            </a:r>
            <a:r>
              <a:rPr kumimoji="1" lang="en-US" altLang="zh-CN" b="1" dirty="0">
                <a:solidFill>
                  <a:srgbClr val="CC0099"/>
                </a:solidFill>
                <a:latin typeface="Times New Roman" pitchFamily="18" charset="0"/>
                <a:ea typeface="隶书" pitchFamily="49" charset="-122"/>
              </a:rPr>
              <a:t>NFA</a:t>
            </a:r>
            <a:r>
              <a:rPr kumimoji="1" lang="zh-CN" altLang="en-US" b="1" dirty="0">
                <a:solidFill>
                  <a:srgbClr val="CC0099"/>
                </a:solidFill>
                <a:latin typeface="Times New Roman" pitchFamily="18" charset="0"/>
                <a:ea typeface="隶书" pitchFamily="49" charset="-122"/>
              </a:rPr>
              <a:t>的等价性</a:t>
            </a:r>
          </a:p>
        </p:txBody>
      </p:sp>
      <p:sp>
        <p:nvSpPr>
          <p:cNvPr id="80899" name="Rectangle 3"/>
          <p:cNvSpPr>
            <a:spLocks noGrp="1" noChangeArrowheads="1"/>
          </p:cNvSpPr>
          <p:nvPr>
            <p:ph type="body" idx="1"/>
          </p:nvPr>
        </p:nvSpPr>
        <p:spPr>
          <a:xfrm>
            <a:off x="683568" y="1275606"/>
            <a:ext cx="7560840" cy="3314700"/>
          </a:xfrm>
        </p:spPr>
        <p:txBody>
          <a:bodyPr>
            <a:normAutofit/>
          </a:bodyPr>
          <a:lstStyle/>
          <a:p>
            <a:pPr>
              <a:spcBef>
                <a:spcPct val="50000"/>
              </a:spcBef>
            </a:pPr>
            <a:r>
              <a:rPr kumimoji="1" lang="zh-CN" altLang="en-US" dirty="0">
                <a:latin typeface="Times New Roman" pitchFamily="18" charset="0"/>
              </a:rPr>
              <a:t>正则表达式和有穷自动机是等价的</a:t>
            </a:r>
            <a:endParaRPr kumimoji="1" lang="en-US" altLang="zh-CN" dirty="0">
              <a:latin typeface="Times New Roman" pitchFamily="18" charset="0"/>
            </a:endParaRPr>
          </a:p>
          <a:p>
            <a:pPr>
              <a:spcBef>
                <a:spcPct val="50000"/>
              </a:spcBef>
            </a:pPr>
            <a:r>
              <a:rPr kumimoji="1" lang="zh-CN" altLang="en-US" dirty="0">
                <a:latin typeface="Times New Roman" pitchFamily="18" charset="0"/>
              </a:rPr>
              <a:t>由以下两点表现</a:t>
            </a:r>
            <a:r>
              <a:rPr kumimoji="1" lang="zh-CN" altLang="en-US" dirty="0">
                <a:latin typeface="Verdana" pitchFamily="34" charset="0"/>
              </a:rPr>
              <a:t> ：</a:t>
            </a:r>
          </a:p>
          <a:p>
            <a:pPr lvl="1" algn="just">
              <a:spcBef>
                <a:spcPct val="50000"/>
              </a:spcBef>
            </a:pPr>
            <a:r>
              <a:rPr kumimoji="1" lang="zh-CN" altLang="en-US" sz="2000" dirty="0">
                <a:latin typeface="Times New Roman" pitchFamily="18" charset="0"/>
              </a:rPr>
              <a:t> 对于</a:t>
            </a:r>
            <a:r>
              <a:rPr kumimoji="1" lang="en-US" altLang="zh-CN" sz="2000" dirty="0">
                <a:latin typeface="Verdana" pitchFamily="34" charset="0"/>
              </a:rPr>
              <a:t>Σ</a:t>
            </a:r>
            <a:r>
              <a:rPr kumimoji="1" lang="zh-CN" altLang="en-US" sz="2000" dirty="0">
                <a:latin typeface="Times New Roman" pitchFamily="18" charset="0"/>
              </a:rPr>
              <a:t>上的</a:t>
            </a:r>
            <a:r>
              <a:rPr kumimoji="1" lang="en-US" altLang="zh-CN" sz="2000" dirty="0">
                <a:latin typeface="Verdana" pitchFamily="34" charset="0"/>
              </a:rPr>
              <a:t>NFA M</a:t>
            </a:r>
            <a:r>
              <a:rPr kumimoji="1" lang="zh-CN" altLang="en-US" sz="2000" dirty="0">
                <a:latin typeface="Times New Roman" pitchFamily="18" charset="0"/>
              </a:rPr>
              <a:t>，可以构造一个</a:t>
            </a:r>
            <a:r>
              <a:rPr kumimoji="1" lang="en-US" altLang="zh-CN" sz="2000" dirty="0">
                <a:latin typeface="Verdana" pitchFamily="34" charset="0"/>
              </a:rPr>
              <a:t>Σ</a:t>
            </a:r>
            <a:r>
              <a:rPr kumimoji="1" lang="zh-CN" altLang="en-US" sz="2000" dirty="0">
                <a:latin typeface="Times New Roman" pitchFamily="18" charset="0"/>
              </a:rPr>
              <a:t>上的正则式</a:t>
            </a:r>
            <a:r>
              <a:rPr kumimoji="1" lang="en-US" altLang="zh-CN" sz="2000" dirty="0">
                <a:latin typeface="Verdana" pitchFamily="34" charset="0"/>
              </a:rPr>
              <a:t>R</a:t>
            </a:r>
            <a:r>
              <a:rPr kumimoji="1" lang="zh-CN" altLang="en-US" sz="2000" dirty="0">
                <a:latin typeface="Times New Roman" pitchFamily="18" charset="0"/>
              </a:rPr>
              <a:t>，使得</a:t>
            </a:r>
            <a:r>
              <a:rPr kumimoji="1" lang="en-US" altLang="zh-CN" sz="2000" dirty="0">
                <a:latin typeface="Verdana" pitchFamily="34" charset="0"/>
              </a:rPr>
              <a:t>L(R)=L(M)</a:t>
            </a:r>
            <a:r>
              <a:rPr kumimoji="1" lang="zh-CN" altLang="en-US" sz="2000" dirty="0">
                <a:latin typeface="Times New Roman" pitchFamily="18" charset="0"/>
              </a:rPr>
              <a:t>。</a:t>
            </a:r>
            <a:endParaRPr kumimoji="1" lang="zh-CN" altLang="en-US" sz="2000" dirty="0">
              <a:latin typeface="Verdana" pitchFamily="34" charset="0"/>
            </a:endParaRPr>
          </a:p>
          <a:p>
            <a:pPr lvl="1">
              <a:spcBef>
                <a:spcPct val="50000"/>
              </a:spcBef>
            </a:pPr>
            <a:r>
              <a:rPr kumimoji="1" lang="zh-CN" altLang="en-US" sz="2000" dirty="0">
                <a:latin typeface="Times New Roman" pitchFamily="18" charset="0"/>
              </a:rPr>
              <a:t> 对于</a:t>
            </a:r>
            <a:r>
              <a:rPr kumimoji="1" lang="en-US" altLang="zh-CN" sz="2000" dirty="0">
                <a:latin typeface="Verdana" pitchFamily="34" charset="0"/>
              </a:rPr>
              <a:t>Σ</a:t>
            </a:r>
            <a:r>
              <a:rPr kumimoji="1" lang="zh-CN" altLang="en-US" sz="2000" dirty="0">
                <a:latin typeface="Verdana" pitchFamily="34" charset="0"/>
              </a:rPr>
              <a:t>上的每个正则式</a:t>
            </a:r>
            <a:r>
              <a:rPr kumimoji="1" lang="en-US" altLang="zh-CN" sz="2000" dirty="0">
                <a:latin typeface="Verdana" pitchFamily="34" charset="0"/>
              </a:rPr>
              <a:t>R</a:t>
            </a:r>
            <a:r>
              <a:rPr kumimoji="1" lang="zh-CN" altLang="en-US" sz="2000" dirty="0">
                <a:latin typeface="Verdana" pitchFamily="34" charset="0"/>
              </a:rPr>
              <a:t>，可以构造一个</a:t>
            </a:r>
            <a:r>
              <a:rPr kumimoji="1" lang="en-US" altLang="zh-CN" sz="2000" dirty="0">
                <a:latin typeface="Verdana" pitchFamily="34" charset="0"/>
              </a:rPr>
              <a:t>Σ</a:t>
            </a:r>
            <a:r>
              <a:rPr kumimoji="1" lang="zh-CN" altLang="en-US" sz="2000" dirty="0">
                <a:latin typeface="Verdana" pitchFamily="34" charset="0"/>
              </a:rPr>
              <a:t>上的</a:t>
            </a:r>
            <a:r>
              <a:rPr kumimoji="1" lang="en-US" altLang="zh-CN" sz="2000" dirty="0">
                <a:latin typeface="Verdana" pitchFamily="34" charset="0"/>
              </a:rPr>
              <a:t>NFA M</a:t>
            </a:r>
            <a:r>
              <a:rPr kumimoji="1" lang="zh-CN" altLang="en-US" sz="2000" dirty="0">
                <a:latin typeface="Verdana" pitchFamily="34" charset="0"/>
              </a:rPr>
              <a:t>，使得</a:t>
            </a:r>
            <a:r>
              <a:rPr kumimoji="1" lang="en-US" altLang="zh-CN" sz="2000" dirty="0">
                <a:latin typeface="Verdana" pitchFamily="34" charset="0"/>
              </a:rPr>
              <a:t>L(M)=L(R)</a:t>
            </a:r>
            <a:r>
              <a:rPr kumimoji="1" lang="zh-CN" altLang="en-US" sz="2000" dirty="0">
                <a:latin typeface="Verdana" pitchFamily="34" charset="0"/>
              </a:rPr>
              <a:t>。</a:t>
            </a:r>
          </a:p>
        </p:txBody>
      </p:sp>
    </p:spTree>
    <p:extLst>
      <p:ext uri="{BB962C8B-B14F-4D97-AF65-F5344CB8AC3E}">
        <p14:creationId xmlns:p14="http://schemas.microsoft.com/office/powerpoint/2010/main" val="368705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uiExpand="1"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1923678"/>
            <a:ext cx="8287846" cy="1323439"/>
          </a:xfrm>
          <a:prstGeom prst="rect">
            <a:avLst/>
          </a:prstGeom>
        </p:spPr>
        <p:txBody>
          <a:bodyPr wrap="none">
            <a:spAutoFit/>
          </a:bodyPr>
          <a:lstStyle/>
          <a:p>
            <a:r>
              <a:rPr kumimoji="1" lang="en-US" altLang="zh-CN" sz="4000" b="1" dirty="0">
                <a:solidFill>
                  <a:srgbClr val="CC0099"/>
                </a:solidFill>
                <a:latin typeface="Times New Roman" pitchFamily="18" charset="0"/>
                <a:ea typeface="隶书" pitchFamily="49" charset="-122"/>
              </a:rPr>
              <a:t>5</a:t>
            </a:r>
            <a:r>
              <a:rPr kumimoji="1" lang="zh-CN" altLang="zh-CN" sz="4000" b="1" dirty="0">
                <a:solidFill>
                  <a:srgbClr val="CC0099"/>
                </a:solidFill>
                <a:latin typeface="Times New Roman" pitchFamily="18" charset="0"/>
                <a:ea typeface="隶书" pitchFamily="49" charset="-122"/>
              </a:rPr>
              <a:t> </a:t>
            </a:r>
            <a:r>
              <a:rPr kumimoji="1" lang="x-none" altLang="zh-CN" sz="4000" b="1" dirty="0">
                <a:solidFill>
                  <a:srgbClr val="CC0099"/>
                </a:solidFill>
                <a:latin typeface="Times New Roman" pitchFamily="18" charset="0"/>
                <a:ea typeface="隶书" pitchFamily="49" charset="-122"/>
              </a:rPr>
              <a:t>正则表达式与有穷自动机的等价性</a:t>
            </a:r>
            <a:endParaRPr kumimoji="1" lang="en-US" altLang="zh-CN" sz="4000" b="1" dirty="0">
              <a:solidFill>
                <a:srgbClr val="CC0099"/>
              </a:solidFill>
              <a:latin typeface="Times New Roman" pitchFamily="18" charset="0"/>
              <a:ea typeface="隶书" pitchFamily="49" charset="-122"/>
            </a:endParaRPr>
          </a:p>
          <a:p>
            <a:r>
              <a:rPr kumimoji="1" lang="en-US" altLang="zh-CN" sz="4000" b="1" dirty="0">
                <a:solidFill>
                  <a:srgbClr val="CC0099"/>
                </a:solidFill>
                <a:latin typeface="Times New Roman" pitchFamily="18" charset="0"/>
                <a:ea typeface="隶书" pitchFamily="49" charset="-122"/>
              </a:rPr>
              <a:t>——NFA</a:t>
            </a:r>
            <a:r>
              <a:rPr kumimoji="1" lang="en-US" altLang="zh-CN" sz="4000" b="1" dirty="0">
                <a:solidFill>
                  <a:srgbClr val="CC0099"/>
                </a:solidFill>
                <a:latin typeface="Times New Roman" pitchFamily="18" charset="0"/>
                <a:ea typeface="隶书" pitchFamily="49" charset="-122"/>
                <a:sym typeface="Wingdings" panose="05000000000000000000" pitchFamily="2" charset="2"/>
              </a:rPr>
              <a:t></a:t>
            </a:r>
            <a:r>
              <a:rPr kumimoji="1" lang="zh-CN" altLang="en-US" sz="4000" b="1" dirty="0">
                <a:solidFill>
                  <a:srgbClr val="CC0099"/>
                </a:solidFill>
                <a:latin typeface="Times New Roman" pitchFamily="18" charset="0"/>
                <a:ea typeface="隶书" pitchFamily="49" charset="-122"/>
                <a:sym typeface="Wingdings" panose="05000000000000000000" pitchFamily="2" charset="2"/>
              </a:rPr>
              <a:t>正则表达式</a:t>
            </a:r>
            <a:endParaRPr kumimoji="1" lang="zh-CN" altLang="zh-CN" sz="4000" b="1" dirty="0">
              <a:solidFill>
                <a:srgbClr val="CC0099"/>
              </a:solidFill>
              <a:latin typeface="Times New Roman" pitchFamily="18" charset="0"/>
              <a:ea typeface="隶书" pitchFamily="49" charset="-122"/>
            </a:endParaRPr>
          </a:p>
        </p:txBody>
      </p:sp>
    </p:spTree>
    <p:extLst>
      <p:ext uri="{BB962C8B-B14F-4D97-AF65-F5344CB8AC3E}">
        <p14:creationId xmlns:p14="http://schemas.microsoft.com/office/powerpoint/2010/main" val="23679021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idx="1"/>
          </p:nvPr>
        </p:nvSpPr>
        <p:spPr>
          <a:xfrm>
            <a:off x="467544" y="843558"/>
            <a:ext cx="8489825" cy="2658268"/>
          </a:xfrm>
          <a:solidFill>
            <a:schemeClr val="bg1"/>
          </a:solidFill>
          <a:ln w="28575">
            <a:solidFill>
              <a:srgbClr val="3333FF"/>
            </a:solidFill>
            <a:miter lim="800000"/>
            <a:headEnd/>
            <a:tailEnd/>
          </a:ln>
        </p:spPr>
        <p:txBody>
          <a:bodyPr>
            <a:normAutofit lnSpcReduction="10000"/>
          </a:bodyPr>
          <a:lstStyle/>
          <a:p>
            <a:pPr marL="109728" indent="0">
              <a:spcBef>
                <a:spcPts val="0"/>
              </a:spcBef>
              <a:buNone/>
            </a:pPr>
            <a:r>
              <a:rPr kumimoji="1" lang="zh-CN" altLang="en-US" b="1" dirty="0">
                <a:solidFill>
                  <a:srgbClr val="0000CC"/>
                </a:solidFill>
                <a:latin typeface="Verdana" pitchFamily="34" charset="0"/>
              </a:rPr>
              <a:t>思路：</a:t>
            </a:r>
          </a:p>
          <a:p>
            <a:pPr eaLnBrk="1" hangingPunct="1">
              <a:spcBef>
                <a:spcPts val="0"/>
              </a:spcBef>
            </a:pPr>
            <a:r>
              <a:rPr kumimoji="1" lang="zh-CN" altLang="en-US" sz="2200" dirty="0">
                <a:latin typeface="Times New Roman" panose="02020603050405020304" pitchFamily="18" charset="0"/>
                <a:cs typeface="Times New Roman" panose="02020603050405020304" pitchFamily="18" charset="0"/>
              </a:rPr>
              <a:t>将状态转换图的概念拓广，每一条弧用一个正则表达式作标记。</a:t>
            </a:r>
          </a:p>
          <a:p>
            <a:pPr eaLnBrk="1" hangingPunct="1">
              <a:spcBef>
                <a:spcPts val="0"/>
              </a:spcBef>
              <a:buFontTx/>
              <a:buNone/>
            </a:pPr>
            <a:r>
              <a:rPr kumimoji="1" lang="zh-CN" altLang="en-US" b="1" dirty="0">
                <a:solidFill>
                  <a:srgbClr val="0000CC"/>
                </a:solidFill>
                <a:latin typeface="Verdana" pitchFamily="34" charset="0"/>
              </a:rPr>
              <a:t>方法：</a:t>
            </a:r>
          </a:p>
          <a:p>
            <a:pPr eaLnBrk="1" hangingPunct="1">
              <a:spcBef>
                <a:spcPts val="0"/>
              </a:spcBef>
            </a:pPr>
            <a:r>
              <a:rPr lang="zh-CN" altLang="en-US" sz="2200" dirty="0">
                <a:latin typeface="Times New Roman" panose="02020603050405020304" pitchFamily="18" charset="0"/>
                <a:cs typeface="Times New Roman" panose="02020603050405020304" pitchFamily="18" charset="0"/>
              </a:rPr>
              <a:t>增加结点</a:t>
            </a:r>
            <a:r>
              <a:rPr lang="en-US" altLang="zh-CN" sz="2200" dirty="0">
                <a:latin typeface="Times New Roman" panose="02020603050405020304" pitchFamily="18" charset="0"/>
                <a:cs typeface="Times New Roman" panose="02020603050405020304" pitchFamily="18" charset="0"/>
              </a:rPr>
              <a:t>X,Y,</a:t>
            </a:r>
            <a:r>
              <a:rPr lang="zh-CN" altLang="en-US" sz="2200" dirty="0">
                <a:latin typeface="Times New Roman" panose="02020603050405020304" pitchFamily="18" charset="0"/>
                <a:cs typeface="Times New Roman" panose="02020603050405020304" pitchFamily="18" charset="0"/>
              </a:rPr>
              <a:t>使之成为新的唯一的初态和终态。从</a:t>
            </a:r>
            <a:r>
              <a:rPr lang="en-US" altLang="zh-CN" sz="2200" dirty="0">
                <a:latin typeface="Times New Roman" panose="02020603050405020304" pitchFamily="18" charset="0"/>
                <a:cs typeface="Times New Roman" panose="02020603050405020304" pitchFamily="18" charset="0"/>
              </a:rPr>
              <a:t>X</a:t>
            </a:r>
            <a:r>
              <a:rPr lang="zh-CN" altLang="en-US" sz="2200" dirty="0">
                <a:latin typeface="Times New Roman" panose="02020603050405020304" pitchFamily="18" charset="0"/>
                <a:cs typeface="Times New Roman" panose="02020603050405020304" pitchFamily="18" charset="0"/>
              </a:rPr>
              <a:t>引</a:t>
            </a:r>
            <a:r>
              <a:rPr lang="en-US" altLang="zh-CN" sz="2200" b="1" dirty="0">
                <a:solidFill>
                  <a:srgbClr val="0000CC"/>
                </a:solidFill>
                <a:latin typeface="Times New Roman" panose="02020603050405020304" pitchFamily="18" charset="0"/>
                <a:ea typeface="方正舒体" pitchFamily="2" charset="-122"/>
                <a:cs typeface="Times New Roman" panose="02020603050405020304" pitchFamily="18" charset="0"/>
              </a:rPr>
              <a:t>ε</a:t>
            </a:r>
            <a:r>
              <a:rPr lang="zh-CN" altLang="en-US" sz="2200" dirty="0">
                <a:latin typeface="Times New Roman" panose="02020603050405020304" pitchFamily="18" charset="0"/>
                <a:cs typeface="Times New Roman" panose="02020603050405020304" pitchFamily="18" charset="0"/>
              </a:rPr>
              <a:t>弧到原初态结点</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从原终态结点引</a:t>
            </a:r>
            <a:r>
              <a:rPr lang="en-US" altLang="zh-CN" sz="2200" b="1" dirty="0">
                <a:solidFill>
                  <a:srgbClr val="0000CC"/>
                </a:solidFill>
                <a:latin typeface="Times New Roman" panose="02020603050405020304" pitchFamily="18" charset="0"/>
                <a:ea typeface="方正舒体" pitchFamily="2" charset="-122"/>
                <a:cs typeface="Times New Roman" panose="02020603050405020304" pitchFamily="18" charset="0"/>
              </a:rPr>
              <a:t>ε</a:t>
            </a:r>
            <a:r>
              <a:rPr lang="zh-CN" altLang="en-US" sz="2200" dirty="0">
                <a:latin typeface="Times New Roman" panose="02020603050405020304" pitchFamily="18" charset="0"/>
                <a:cs typeface="Times New Roman" panose="02020603050405020304" pitchFamily="18" charset="0"/>
              </a:rPr>
              <a:t>弧到</a:t>
            </a:r>
            <a:r>
              <a:rPr lang="en-US" altLang="zh-CN" sz="2200" dirty="0">
                <a:latin typeface="Times New Roman" panose="02020603050405020304" pitchFamily="18" charset="0"/>
                <a:cs typeface="Times New Roman" panose="02020603050405020304" pitchFamily="18" charset="0"/>
              </a:rPr>
              <a:t>Y</a:t>
            </a:r>
            <a:r>
              <a:rPr lang="zh-CN" altLang="en-US" sz="2200" dirty="0">
                <a:latin typeface="Times New Roman" panose="02020603050405020304" pitchFamily="18" charset="0"/>
                <a:cs typeface="Times New Roman" panose="02020603050405020304" pitchFamily="18" charset="0"/>
              </a:rPr>
              <a:t>结点。</a:t>
            </a:r>
          </a:p>
          <a:p>
            <a:pPr eaLnBrk="1" hangingPunct="1">
              <a:spcBef>
                <a:spcPts val="0"/>
              </a:spcBef>
            </a:pPr>
            <a:r>
              <a:rPr lang="zh-CN" altLang="en-US" sz="2200" dirty="0">
                <a:latin typeface="Times New Roman" panose="02020603050405020304" pitchFamily="18" charset="0"/>
                <a:cs typeface="Times New Roman" panose="02020603050405020304" pitchFamily="18" charset="0"/>
              </a:rPr>
              <a:t>利用如下的规则消去新的状态图中的所有结点，直至只剩下</a:t>
            </a:r>
            <a:r>
              <a:rPr lang="en-US" altLang="zh-CN" sz="2200" dirty="0">
                <a:latin typeface="Times New Roman" panose="02020603050405020304" pitchFamily="18" charset="0"/>
                <a:cs typeface="Times New Roman" panose="02020603050405020304" pitchFamily="18" charset="0"/>
              </a:rPr>
              <a:t>X,Y</a:t>
            </a:r>
            <a:r>
              <a:rPr lang="zh-CN" altLang="en-US" sz="2200" dirty="0">
                <a:latin typeface="Times New Roman" panose="02020603050405020304" pitchFamily="18" charset="0"/>
                <a:cs typeface="Times New Roman" panose="02020603050405020304" pitchFamily="18" charset="0"/>
              </a:rPr>
              <a:t>结点。</a:t>
            </a:r>
          </a:p>
          <a:p>
            <a:pPr eaLnBrk="1" hangingPunct="1">
              <a:spcBef>
                <a:spcPts val="0"/>
              </a:spcBef>
            </a:pPr>
            <a:r>
              <a:rPr lang="zh-CN" altLang="en-US" sz="2200" dirty="0">
                <a:latin typeface="Times New Roman" panose="02020603050405020304" pitchFamily="18" charset="0"/>
                <a:cs typeface="Times New Roman" panose="02020603050405020304" pitchFamily="18" charset="0"/>
              </a:rPr>
              <a:t>最后得到从</a:t>
            </a:r>
            <a:r>
              <a:rPr lang="en-US" altLang="zh-CN" sz="2200" dirty="0">
                <a:latin typeface="Times New Roman" panose="02020603050405020304" pitchFamily="18" charset="0"/>
                <a:cs typeface="Times New Roman" panose="02020603050405020304" pitchFamily="18" charset="0"/>
              </a:rPr>
              <a:t>X</a:t>
            </a:r>
            <a:r>
              <a:rPr lang="zh-CN" altLang="en-US" sz="2200" dirty="0">
                <a:latin typeface="Times New Roman" panose="02020603050405020304" pitchFamily="18" charset="0"/>
                <a:cs typeface="Times New Roman" panose="02020603050405020304" pitchFamily="18" charset="0"/>
              </a:rPr>
              <a:t>到</a:t>
            </a:r>
            <a:r>
              <a:rPr lang="en-US" altLang="zh-CN" sz="2200" dirty="0">
                <a:latin typeface="Times New Roman" panose="02020603050405020304" pitchFamily="18" charset="0"/>
                <a:cs typeface="Times New Roman" panose="02020603050405020304" pitchFamily="18" charset="0"/>
              </a:rPr>
              <a:t>Y</a:t>
            </a:r>
            <a:r>
              <a:rPr lang="zh-CN" altLang="en-US" sz="2200" dirty="0">
                <a:latin typeface="Times New Roman" panose="02020603050405020304" pitchFamily="18" charset="0"/>
                <a:cs typeface="Times New Roman" panose="02020603050405020304" pitchFamily="18" charset="0"/>
              </a:rPr>
              <a:t>弧上的正则表达式。</a:t>
            </a:r>
          </a:p>
        </p:txBody>
      </p:sp>
      <p:sp>
        <p:nvSpPr>
          <p:cNvPr id="81923" name="Rectangle 52"/>
          <p:cNvSpPr>
            <a:spLocks noChangeArrowheads="1"/>
          </p:cNvSpPr>
          <p:nvPr/>
        </p:nvSpPr>
        <p:spPr bwMode="auto">
          <a:xfrm>
            <a:off x="179512" y="13335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r>
              <a:rPr lang="zh-CN" altLang="en-US" dirty="0">
                <a:solidFill>
                  <a:srgbClr val="0000CC"/>
                </a:solidFill>
              </a:rPr>
              <a:t>对任一个</a:t>
            </a:r>
            <a:r>
              <a:rPr lang="en-US" altLang="zh-CN" dirty="0">
                <a:solidFill>
                  <a:srgbClr val="0000CC"/>
                </a:solidFill>
              </a:rPr>
              <a:t>NFA M</a:t>
            </a:r>
            <a:r>
              <a:rPr lang="en-US" altLang="zh-CN" dirty="0">
                <a:solidFill>
                  <a:srgbClr val="0000CC"/>
                </a:solidFill>
                <a:sym typeface="Wingdings" pitchFamily="2" charset="2"/>
              </a:rPr>
              <a:t></a:t>
            </a:r>
            <a:r>
              <a:rPr lang="zh-CN" altLang="en-US" dirty="0">
                <a:solidFill>
                  <a:srgbClr val="0000CC"/>
                </a:solidFill>
              </a:rPr>
              <a:t>正则表达式</a:t>
            </a:r>
            <a:r>
              <a:rPr lang="en-US" altLang="zh-CN" dirty="0">
                <a:solidFill>
                  <a:srgbClr val="0000CC"/>
                </a:solidFill>
              </a:rPr>
              <a:t>R </a:t>
            </a:r>
            <a:endParaRPr lang="en-US" altLang="zh-CN" dirty="0">
              <a:solidFill>
                <a:srgbClr val="0000CC"/>
              </a:solidFill>
              <a:sym typeface="Wingdings" pitchFamily="2" charset="2"/>
            </a:endParaRPr>
          </a:p>
        </p:txBody>
      </p:sp>
      <p:grpSp>
        <p:nvGrpSpPr>
          <p:cNvPr id="223" name="组合 222"/>
          <p:cNvGrpSpPr/>
          <p:nvPr/>
        </p:nvGrpSpPr>
        <p:grpSpPr>
          <a:xfrm>
            <a:off x="3538596" y="3562186"/>
            <a:ext cx="2933912" cy="1457836"/>
            <a:chOff x="2394172" y="2054664"/>
            <a:chExt cx="2933912" cy="1457836"/>
          </a:xfrm>
        </p:grpSpPr>
        <p:sp>
          <p:nvSpPr>
            <p:cNvPr id="224" name="椭圆 223"/>
            <p:cNvSpPr/>
            <p:nvPr/>
          </p:nvSpPr>
          <p:spPr>
            <a:xfrm>
              <a:off x="2771800" y="213970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a:off x="2771800" y="249974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p:cNvSpPr/>
            <p:nvPr/>
          </p:nvSpPr>
          <p:spPr>
            <a:xfrm>
              <a:off x="2771800" y="321982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7" name="TextBox 226"/>
            <p:cNvSpPr txBox="1"/>
            <p:nvPr/>
          </p:nvSpPr>
          <p:spPr>
            <a:xfrm>
              <a:off x="2394172" y="2067694"/>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sp>
          <p:nvSpPr>
            <p:cNvPr id="228" name="TextBox 227"/>
            <p:cNvSpPr txBox="1"/>
            <p:nvPr/>
          </p:nvSpPr>
          <p:spPr>
            <a:xfrm>
              <a:off x="2394172" y="2427734"/>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sp>
          <p:nvSpPr>
            <p:cNvPr id="229" name="TextBox 228"/>
            <p:cNvSpPr txBox="1"/>
            <p:nvPr/>
          </p:nvSpPr>
          <p:spPr>
            <a:xfrm>
              <a:off x="2394172" y="3143168"/>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cxnSp>
          <p:nvCxnSpPr>
            <p:cNvPr id="230" name="直接箭头连接符 229"/>
            <p:cNvCxnSpPr>
              <a:stCxn id="224" idx="6"/>
            </p:cNvCxnSpPr>
            <p:nvPr/>
          </p:nvCxnSpPr>
          <p:spPr>
            <a:xfrm>
              <a:off x="2987824" y="2247714"/>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1" name="直接箭头连接符 230"/>
            <p:cNvCxnSpPr>
              <a:stCxn id="225" idx="6"/>
            </p:cNvCxnSpPr>
            <p:nvPr/>
          </p:nvCxnSpPr>
          <p:spPr>
            <a:xfrm>
              <a:off x="2987824" y="2607754"/>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2" name="直接箭头连接符 231"/>
            <p:cNvCxnSpPr>
              <a:stCxn id="226" idx="6"/>
            </p:cNvCxnSpPr>
            <p:nvPr/>
          </p:nvCxnSpPr>
          <p:spPr>
            <a:xfrm>
              <a:off x="2987824" y="3327834"/>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3705454" y="2569566"/>
              <a:ext cx="648072" cy="369332"/>
            </a:xfrm>
            <a:prstGeom prst="rect">
              <a:avLst/>
            </a:prstGeom>
            <a:noFill/>
          </p:spPr>
          <p:txBody>
            <a:bodyPr wrap="square" rtlCol="0">
              <a:spAutoFit/>
            </a:bodyPr>
            <a:lstStyle/>
            <a:p>
              <a:r>
                <a:rPr lang="en-US" altLang="zh-CN" dirty="0"/>
                <a:t>……</a:t>
              </a:r>
              <a:endParaRPr lang="zh-CN" altLang="en-US" dirty="0"/>
            </a:p>
          </p:txBody>
        </p:sp>
        <p:cxnSp>
          <p:nvCxnSpPr>
            <p:cNvPr id="234" name="直接箭头连接符 233"/>
            <p:cNvCxnSpPr/>
            <p:nvPr/>
          </p:nvCxnSpPr>
          <p:spPr>
            <a:xfrm>
              <a:off x="4572000" y="2211710"/>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5" name="直接箭头连接符 234"/>
            <p:cNvCxnSpPr/>
            <p:nvPr/>
          </p:nvCxnSpPr>
          <p:spPr>
            <a:xfrm>
              <a:off x="4572000" y="2571750"/>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6" name="直接箭头连接符 235"/>
            <p:cNvCxnSpPr/>
            <p:nvPr/>
          </p:nvCxnSpPr>
          <p:spPr>
            <a:xfrm>
              <a:off x="4572000" y="3291830"/>
              <a:ext cx="43204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7" name="椭圆 236"/>
            <p:cNvSpPr/>
            <p:nvPr/>
          </p:nvSpPr>
          <p:spPr>
            <a:xfrm>
              <a:off x="5041774" y="210369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p:cNvSpPr/>
            <p:nvPr/>
          </p:nvSpPr>
          <p:spPr>
            <a:xfrm>
              <a:off x="5041774" y="246373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椭圆 238"/>
            <p:cNvSpPr/>
            <p:nvPr/>
          </p:nvSpPr>
          <p:spPr>
            <a:xfrm>
              <a:off x="5041774" y="318381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p:cNvSpPr/>
            <p:nvPr/>
          </p:nvSpPr>
          <p:spPr>
            <a:xfrm>
              <a:off x="4992821" y="3143168"/>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椭圆 240"/>
            <p:cNvSpPr/>
            <p:nvPr/>
          </p:nvSpPr>
          <p:spPr>
            <a:xfrm>
              <a:off x="4988256" y="2427734"/>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p:cNvSpPr/>
            <p:nvPr/>
          </p:nvSpPr>
          <p:spPr>
            <a:xfrm>
              <a:off x="5004048" y="2054664"/>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3" name="直接箭头连接符 242"/>
            <p:cNvCxnSpPr/>
            <p:nvPr/>
          </p:nvCxnSpPr>
          <p:spPr>
            <a:xfrm flipV="1">
              <a:off x="4537319" y="2679762"/>
              <a:ext cx="501410" cy="14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4" name="直接箭头连接符 243"/>
            <p:cNvCxnSpPr>
              <a:endCxn id="240" idx="1"/>
            </p:cNvCxnSpPr>
            <p:nvPr/>
          </p:nvCxnSpPr>
          <p:spPr>
            <a:xfrm>
              <a:off x="4572000" y="3084495"/>
              <a:ext cx="466795" cy="1027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5" name="直接箭头连接符 244"/>
            <p:cNvCxnSpPr>
              <a:stCxn id="225" idx="5"/>
            </p:cNvCxnSpPr>
            <p:nvPr/>
          </p:nvCxnSpPr>
          <p:spPr>
            <a:xfrm>
              <a:off x="2956188" y="2684130"/>
              <a:ext cx="463684" cy="1445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6" name="TextBox 245"/>
            <p:cNvSpPr txBox="1"/>
            <p:nvPr/>
          </p:nvSpPr>
          <p:spPr>
            <a:xfrm>
              <a:off x="2525934" y="2812186"/>
              <a:ext cx="648072" cy="369332"/>
            </a:xfrm>
            <a:prstGeom prst="rect">
              <a:avLst/>
            </a:prstGeom>
            <a:noFill/>
          </p:spPr>
          <p:txBody>
            <a:bodyPr wrap="square" rtlCol="0">
              <a:spAutoFit/>
            </a:bodyPr>
            <a:lstStyle/>
            <a:p>
              <a:r>
                <a:rPr lang="en-US" altLang="zh-CN" dirty="0"/>
                <a:t>……</a:t>
              </a:r>
              <a:endParaRPr lang="zh-CN" altLang="en-US" dirty="0"/>
            </a:p>
          </p:txBody>
        </p:sp>
        <p:sp>
          <p:nvSpPr>
            <p:cNvPr id="247" name="TextBox 246"/>
            <p:cNvSpPr txBox="1"/>
            <p:nvPr/>
          </p:nvSpPr>
          <p:spPr>
            <a:xfrm>
              <a:off x="4680012" y="2715766"/>
              <a:ext cx="648072" cy="369332"/>
            </a:xfrm>
            <a:prstGeom prst="rect">
              <a:avLst/>
            </a:prstGeom>
            <a:noFill/>
          </p:spPr>
          <p:txBody>
            <a:bodyPr wrap="square" rtlCol="0">
              <a:spAutoFit/>
            </a:bodyPr>
            <a:lstStyle/>
            <a:p>
              <a:r>
                <a:rPr lang="en-US" altLang="zh-CN" dirty="0"/>
                <a:t>……</a:t>
              </a:r>
              <a:endParaRPr lang="zh-CN" altLang="en-US" dirty="0"/>
            </a:p>
          </p:txBody>
        </p:sp>
      </p:grpSp>
      <p:grpSp>
        <p:nvGrpSpPr>
          <p:cNvPr id="248" name="组合 247"/>
          <p:cNvGrpSpPr/>
          <p:nvPr/>
        </p:nvGrpSpPr>
        <p:grpSpPr>
          <a:xfrm>
            <a:off x="7380312" y="4070888"/>
            <a:ext cx="313930" cy="301062"/>
            <a:chOff x="6205820" y="2565235"/>
            <a:chExt cx="313930" cy="301062"/>
          </a:xfrm>
        </p:grpSpPr>
        <p:sp>
          <p:nvSpPr>
            <p:cNvPr id="249" name="椭圆 248"/>
            <p:cNvSpPr/>
            <p:nvPr/>
          </p:nvSpPr>
          <p:spPr>
            <a:xfrm>
              <a:off x="6254773" y="2605885"/>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00FF"/>
                  </a:solidFill>
                  <a:latin typeface="Times New Roman" panose="02020603050405020304" pitchFamily="18" charset="0"/>
                  <a:cs typeface="Times New Roman" panose="02020603050405020304" pitchFamily="18" charset="0"/>
                </a:rPr>
                <a:t>Y</a:t>
              </a:r>
              <a:endParaRPr lang="zh-CN" altLang="en-US" sz="1600" dirty="0">
                <a:solidFill>
                  <a:srgbClr val="0000FF"/>
                </a:solidFill>
                <a:latin typeface="Times New Roman" panose="02020603050405020304" pitchFamily="18" charset="0"/>
                <a:cs typeface="Times New Roman" panose="02020603050405020304" pitchFamily="18" charset="0"/>
              </a:endParaRPr>
            </a:p>
          </p:txBody>
        </p:sp>
        <p:sp>
          <p:nvSpPr>
            <p:cNvPr id="250" name="椭圆 249"/>
            <p:cNvSpPr/>
            <p:nvPr/>
          </p:nvSpPr>
          <p:spPr>
            <a:xfrm>
              <a:off x="6205820" y="2565235"/>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1" name="组合 250"/>
          <p:cNvGrpSpPr/>
          <p:nvPr/>
        </p:nvGrpSpPr>
        <p:grpSpPr>
          <a:xfrm>
            <a:off x="2267744" y="4051652"/>
            <a:ext cx="593652" cy="369332"/>
            <a:chOff x="1170036" y="2490450"/>
            <a:chExt cx="593652" cy="369332"/>
          </a:xfrm>
        </p:grpSpPr>
        <p:sp>
          <p:nvSpPr>
            <p:cNvPr id="252" name="TextBox 251"/>
            <p:cNvSpPr txBox="1"/>
            <p:nvPr/>
          </p:nvSpPr>
          <p:spPr>
            <a:xfrm>
              <a:off x="1170036" y="2490450"/>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sp>
          <p:nvSpPr>
            <p:cNvPr id="253" name="椭圆 252"/>
            <p:cNvSpPr/>
            <p:nvPr/>
          </p:nvSpPr>
          <p:spPr>
            <a:xfrm>
              <a:off x="1547664" y="256245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00FF"/>
                  </a:solidFill>
                  <a:latin typeface="Times New Roman" panose="02020603050405020304" pitchFamily="18" charset="0"/>
                  <a:cs typeface="Times New Roman" panose="02020603050405020304" pitchFamily="18" charset="0"/>
                </a:rPr>
                <a:t>X</a:t>
              </a:r>
              <a:endParaRPr lang="zh-CN" altLang="en-US" sz="1600" dirty="0">
                <a:solidFill>
                  <a:srgbClr val="0000FF"/>
                </a:solidFill>
                <a:latin typeface="Times New Roman" panose="02020603050405020304" pitchFamily="18" charset="0"/>
                <a:cs typeface="Times New Roman" panose="02020603050405020304" pitchFamily="18" charset="0"/>
              </a:endParaRPr>
            </a:p>
          </p:txBody>
        </p:sp>
      </p:grpSp>
      <p:grpSp>
        <p:nvGrpSpPr>
          <p:cNvPr id="264" name="组合 263"/>
          <p:cNvGrpSpPr/>
          <p:nvPr/>
        </p:nvGrpSpPr>
        <p:grpSpPr>
          <a:xfrm>
            <a:off x="3540924" y="3562186"/>
            <a:ext cx="2933912" cy="1457836"/>
            <a:chOff x="2394172" y="2054664"/>
            <a:chExt cx="2933912" cy="1457836"/>
          </a:xfrm>
          <a:solidFill>
            <a:schemeClr val="bg1"/>
          </a:solidFill>
        </p:grpSpPr>
        <p:sp>
          <p:nvSpPr>
            <p:cNvPr id="265" name="TextBox 264"/>
            <p:cNvSpPr txBox="1"/>
            <p:nvPr/>
          </p:nvSpPr>
          <p:spPr>
            <a:xfrm>
              <a:off x="4680012" y="2715766"/>
              <a:ext cx="648072" cy="369332"/>
            </a:xfrm>
            <a:prstGeom prst="rect">
              <a:avLst/>
            </a:prstGeom>
            <a:grpFill/>
          </p:spPr>
          <p:txBody>
            <a:bodyPr wrap="square" rtlCol="0">
              <a:spAutoFit/>
            </a:bodyPr>
            <a:lstStyle/>
            <a:p>
              <a:r>
                <a:rPr lang="en-US" altLang="zh-CN" dirty="0"/>
                <a:t>……</a:t>
              </a:r>
              <a:endParaRPr lang="zh-CN" altLang="en-US" dirty="0"/>
            </a:p>
          </p:txBody>
        </p:sp>
        <p:sp>
          <p:nvSpPr>
            <p:cNvPr id="266" name="TextBox 265"/>
            <p:cNvSpPr txBox="1"/>
            <p:nvPr/>
          </p:nvSpPr>
          <p:spPr>
            <a:xfrm>
              <a:off x="2394172" y="2067694"/>
              <a:ext cx="504056" cy="369332"/>
            </a:xfrm>
            <a:prstGeom prst="rect">
              <a:avLst/>
            </a:prstGeom>
            <a:grp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267" name="TextBox 266"/>
            <p:cNvSpPr txBox="1"/>
            <p:nvPr/>
          </p:nvSpPr>
          <p:spPr>
            <a:xfrm>
              <a:off x="2394172" y="2427734"/>
              <a:ext cx="504056" cy="369332"/>
            </a:xfrm>
            <a:prstGeom prst="rect">
              <a:avLst/>
            </a:prstGeom>
            <a:grp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268" name="TextBox 267"/>
            <p:cNvSpPr txBox="1"/>
            <p:nvPr/>
          </p:nvSpPr>
          <p:spPr>
            <a:xfrm>
              <a:off x="2394172" y="3143168"/>
              <a:ext cx="504056" cy="369332"/>
            </a:xfrm>
            <a:prstGeom prst="rect">
              <a:avLst/>
            </a:prstGeom>
            <a:grp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269" name="椭圆 268"/>
            <p:cNvSpPr/>
            <p:nvPr/>
          </p:nvSpPr>
          <p:spPr>
            <a:xfrm>
              <a:off x="2771800" y="2139702"/>
              <a:ext cx="216024" cy="216024"/>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椭圆 269"/>
            <p:cNvSpPr/>
            <p:nvPr/>
          </p:nvSpPr>
          <p:spPr>
            <a:xfrm>
              <a:off x="2771800" y="2499742"/>
              <a:ext cx="216024" cy="216024"/>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椭圆 270"/>
            <p:cNvSpPr/>
            <p:nvPr/>
          </p:nvSpPr>
          <p:spPr>
            <a:xfrm>
              <a:off x="2771800" y="3219822"/>
              <a:ext cx="216024" cy="216024"/>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2" name="直接箭头连接符 271"/>
            <p:cNvCxnSpPr>
              <a:stCxn id="269" idx="6"/>
            </p:cNvCxnSpPr>
            <p:nvPr/>
          </p:nvCxnSpPr>
          <p:spPr>
            <a:xfrm>
              <a:off x="2987824" y="2247714"/>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3" name="直接箭头连接符 272"/>
            <p:cNvCxnSpPr>
              <a:stCxn id="270" idx="6"/>
            </p:cNvCxnSpPr>
            <p:nvPr/>
          </p:nvCxnSpPr>
          <p:spPr>
            <a:xfrm>
              <a:off x="2987824" y="2607754"/>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4" name="直接箭头连接符 273"/>
            <p:cNvCxnSpPr>
              <a:stCxn id="271" idx="6"/>
            </p:cNvCxnSpPr>
            <p:nvPr/>
          </p:nvCxnSpPr>
          <p:spPr>
            <a:xfrm>
              <a:off x="2987824" y="3327834"/>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5" name="TextBox 274"/>
            <p:cNvSpPr txBox="1"/>
            <p:nvPr/>
          </p:nvSpPr>
          <p:spPr>
            <a:xfrm>
              <a:off x="3705454" y="2569566"/>
              <a:ext cx="648072" cy="369332"/>
            </a:xfrm>
            <a:prstGeom prst="rect">
              <a:avLst/>
            </a:prstGeom>
            <a:grpFill/>
          </p:spPr>
          <p:txBody>
            <a:bodyPr wrap="square" rtlCol="0">
              <a:spAutoFit/>
            </a:bodyPr>
            <a:lstStyle/>
            <a:p>
              <a:r>
                <a:rPr lang="en-US" altLang="zh-CN" dirty="0"/>
                <a:t>……</a:t>
              </a:r>
              <a:endParaRPr lang="zh-CN" altLang="en-US" dirty="0"/>
            </a:p>
          </p:txBody>
        </p:sp>
        <p:cxnSp>
          <p:nvCxnSpPr>
            <p:cNvPr id="276" name="直接箭头连接符 275"/>
            <p:cNvCxnSpPr/>
            <p:nvPr/>
          </p:nvCxnSpPr>
          <p:spPr>
            <a:xfrm>
              <a:off x="4572000" y="2211710"/>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7" name="直接箭头连接符 276"/>
            <p:cNvCxnSpPr/>
            <p:nvPr/>
          </p:nvCxnSpPr>
          <p:spPr>
            <a:xfrm>
              <a:off x="4572000" y="2571750"/>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8" name="直接箭头连接符 277"/>
            <p:cNvCxnSpPr/>
            <p:nvPr/>
          </p:nvCxnSpPr>
          <p:spPr>
            <a:xfrm>
              <a:off x="4572000" y="3291830"/>
              <a:ext cx="432048" cy="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9" name="椭圆 278"/>
            <p:cNvSpPr/>
            <p:nvPr/>
          </p:nvSpPr>
          <p:spPr>
            <a:xfrm>
              <a:off x="4992821" y="3143168"/>
              <a:ext cx="313930" cy="301062"/>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椭圆 279"/>
            <p:cNvSpPr/>
            <p:nvPr/>
          </p:nvSpPr>
          <p:spPr>
            <a:xfrm>
              <a:off x="4988256" y="2427734"/>
              <a:ext cx="313930" cy="301062"/>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1" name="椭圆 280"/>
            <p:cNvSpPr/>
            <p:nvPr/>
          </p:nvSpPr>
          <p:spPr>
            <a:xfrm>
              <a:off x="5004048" y="2054664"/>
              <a:ext cx="313930" cy="301062"/>
            </a:xfrm>
            <a:prstGeom prst="ellipse">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2" name="直接箭头连接符 281"/>
            <p:cNvCxnSpPr/>
            <p:nvPr/>
          </p:nvCxnSpPr>
          <p:spPr>
            <a:xfrm flipV="1">
              <a:off x="4537319" y="2679762"/>
              <a:ext cx="501410" cy="148940"/>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3" name="直接箭头连接符 282"/>
            <p:cNvCxnSpPr>
              <a:endCxn id="279" idx="1"/>
            </p:cNvCxnSpPr>
            <p:nvPr/>
          </p:nvCxnSpPr>
          <p:spPr>
            <a:xfrm>
              <a:off x="4572000" y="3084495"/>
              <a:ext cx="466795" cy="102763"/>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4" name="直接箭头连接符 283"/>
            <p:cNvCxnSpPr>
              <a:stCxn id="270" idx="5"/>
            </p:cNvCxnSpPr>
            <p:nvPr/>
          </p:nvCxnSpPr>
          <p:spPr>
            <a:xfrm>
              <a:off x="2956188" y="2684130"/>
              <a:ext cx="463684" cy="144572"/>
            </a:xfrm>
            <a:prstGeom prst="straightConnector1">
              <a:avLst/>
            </a:prstGeom>
            <a:grpFill/>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5" name="TextBox 284"/>
            <p:cNvSpPr txBox="1"/>
            <p:nvPr/>
          </p:nvSpPr>
          <p:spPr>
            <a:xfrm>
              <a:off x="2525934" y="2812186"/>
              <a:ext cx="648072" cy="369332"/>
            </a:xfrm>
            <a:prstGeom prst="rect">
              <a:avLst/>
            </a:prstGeom>
            <a:grpFill/>
          </p:spPr>
          <p:txBody>
            <a:bodyPr wrap="square" rtlCol="0">
              <a:spAutoFit/>
            </a:bodyPr>
            <a:lstStyle/>
            <a:p>
              <a:r>
                <a:rPr lang="en-US" altLang="zh-CN" dirty="0"/>
                <a:t>……</a:t>
              </a:r>
              <a:endParaRPr lang="zh-CN" altLang="en-US" dirty="0"/>
            </a:p>
          </p:txBody>
        </p:sp>
      </p:grpSp>
      <p:grpSp>
        <p:nvGrpSpPr>
          <p:cNvPr id="213" name="组合 212"/>
          <p:cNvGrpSpPr/>
          <p:nvPr/>
        </p:nvGrpSpPr>
        <p:grpSpPr>
          <a:xfrm>
            <a:off x="2829760" y="3740919"/>
            <a:ext cx="1074031" cy="1110570"/>
            <a:chOff x="1697769" y="2211710"/>
            <a:chExt cx="1074031" cy="1110570"/>
          </a:xfrm>
        </p:grpSpPr>
        <p:grpSp>
          <p:nvGrpSpPr>
            <p:cNvPr id="214" name="组合 213"/>
            <p:cNvGrpSpPr/>
            <p:nvPr/>
          </p:nvGrpSpPr>
          <p:grpSpPr>
            <a:xfrm>
              <a:off x="1697769" y="2211710"/>
              <a:ext cx="1074031" cy="414377"/>
              <a:chOff x="1697769" y="2211710"/>
              <a:chExt cx="1074031" cy="414377"/>
            </a:xfrm>
          </p:grpSpPr>
          <p:cxnSp>
            <p:nvCxnSpPr>
              <p:cNvPr id="221" name="直接箭头连接符 220"/>
              <p:cNvCxnSpPr>
                <a:stCxn id="253" idx="7"/>
              </p:cNvCxnSpPr>
              <p:nvPr/>
            </p:nvCxnSpPr>
            <p:spPr>
              <a:xfrm flipV="1">
                <a:off x="1697769" y="2252361"/>
                <a:ext cx="1074031" cy="373726"/>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22" name="TextBox 221"/>
              <p:cNvSpPr txBox="1"/>
              <p:nvPr/>
            </p:nvSpPr>
            <p:spPr>
              <a:xfrm>
                <a:off x="1932850" y="2211710"/>
                <a:ext cx="288032" cy="369332"/>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cs typeface="Times New Roman" panose="02020603050405020304" pitchFamily="18" charset="0"/>
                  </a:rPr>
                  <a:t>ε</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grpSp>
          <p:nvGrpSpPr>
            <p:cNvPr id="215" name="组合 214"/>
            <p:cNvGrpSpPr/>
            <p:nvPr/>
          </p:nvGrpSpPr>
          <p:grpSpPr>
            <a:xfrm>
              <a:off x="1729405" y="2571750"/>
              <a:ext cx="1042395" cy="369332"/>
              <a:chOff x="1729405" y="2571750"/>
              <a:chExt cx="1042395" cy="369332"/>
            </a:xfrm>
          </p:grpSpPr>
          <p:cxnSp>
            <p:nvCxnSpPr>
              <p:cNvPr id="219" name="直接箭头连接符 218"/>
              <p:cNvCxnSpPr/>
              <p:nvPr/>
            </p:nvCxnSpPr>
            <p:spPr>
              <a:xfrm flipV="1">
                <a:off x="1729405" y="2649995"/>
                <a:ext cx="1042395" cy="70103"/>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20" name="TextBox 219"/>
              <p:cNvSpPr txBox="1"/>
              <p:nvPr/>
            </p:nvSpPr>
            <p:spPr>
              <a:xfrm>
                <a:off x="2021580" y="2571750"/>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nvGrpSpPr>
            <p:cNvPr id="216" name="组合 215"/>
            <p:cNvGrpSpPr/>
            <p:nvPr/>
          </p:nvGrpSpPr>
          <p:grpSpPr>
            <a:xfrm>
              <a:off x="1697769" y="2778839"/>
              <a:ext cx="1074031" cy="543441"/>
              <a:chOff x="1697769" y="2778839"/>
              <a:chExt cx="1074031" cy="543441"/>
            </a:xfrm>
          </p:grpSpPr>
          <p:cxnSp>
            <p:nvCxnSpPr>
              <p:cNvPr id="217" name="直接箭头连接符 216"/>
              <p:cNvCxnSpPr>
                <a:stCxn id="253" idx="5"/>
              </p:cNvCxnSpPr>
              <p:nvPr/>
            </p:nvCxnSpPr>
            <p:spPr>
              <a:xfrm>
                <a:off x="1697769" y="2778839"/>
                <a:ext cx="1074031" cy="543441"/>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18" name="TextBox 217"/>
              <p:cNvSpPr txBox="1"/>
              <p:nvPr/>
            </p:nvSpPr>
            <p:spPr>
              <a:xfrm>
                <a:off x="2046631" y="2947605"/>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grpSp>
        <p:nvGrpSpPr>
          <p:cNvPr id="254" name="组合 253"/>
          <p:cNvGrpSpPr/>
          <p:nvPr/>
        </p:nvGrpSpPr>
        <p:grpSpPr>
          <a:xfrm>
            <a:off x="6418916" y="3543773"/>
            <a:ext cx="1007370" cy="1224136"/>
            <a:chOff x="5272004" y="2067694"/>
            <a:chExt cx="1007370" cy="1224136"/>
          </a:xfrm>
        </p:grpSpPr>
        <p:grpSp>
          <p:nvGrpSpPr>
            <p:cNvPr id="255" name="组合 254"/>
            <p:cNvGrpSpPr/>
            <p:nvPr/>
          </p:nvGrpSpPr>
          <p:grpSpPr>
            <a:xfrm>
              <a:off x="5272004" y="2067694"/>
              <a:ext cx="1007370" cy="571205"/>
              <a:chOff x="1758372" y="2446612"/>
              <a:chExt cx="1007370" cy="571205"/>
            </a:xfrm>
          </p:grpSpPr>
          <p:cxnSp>
            <p:nvCxnSpPr>
              <p:cNvPr id="262" name="直接箭头连接符 261"/>
              <p:cNvCxnSpPr>
                <a:endCxn id="250" idx="1"/>
              </p:cNvCxnSpPr>
              <p:nvPr/>
            </p:nvCxnSpPr>
            <p:spPr>
              <a:xfrm>
                <a:off x="1758372" y="2690554"/>
                <a:ext cx="1007370" cy="327263"/>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63" name="TextBox 262"/>
              <p:cNvSpPr txBox="1"/>
              <p:nvPr/>
            </p:nvSpPr>
            <p:spPr>
              <a:xfrm>
                <a:off x="2066480" y="2446612"/>
                <a:ext cx="288032" cy="369332"/>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cs typeface="Times New Roman" panose="02020603050405020304" pitchFamily="18" charset="0"/>
                  </a:rPr>
                  <a:t>ε</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grpSp>
          <p:nvGrpSpPr>
            <p:cNvPr id="256" name="组合 255"/>
            <p:cNvGrpSpPr/>
            <p:nvPr/>
          </p:nvGrpSpPr>
          <p:grpSpPr>
            <a:xfrm>
              <a:off x="5299698" y="2562458"/>
              <a:ext cx="933702" cy="369332"/>
              <a:chOff x="1668445" y="2735055"/>
              <a:chExt cx="933702" cy="369332"/>
            </a:xfrm>
          </p:grpSpPr>
          <p:cxnSp>
            <p:nvCxnSpPr>
              <p:cNvPr id="260" name="直接箭头连接符 259"/>
              <p:cNvCxnSpPr>
                <a:stCxn id="241" idx="6"/>
                <a:endCxn id="250" idx="2"/>
              </p:cNvCxnSpPr>
              <p:nvPr/>
            </p:nvCxnSpPr>
            <p:spPr>
              <a:xfrm>
                <a:off x="1668445" y="2782305"/>
                <a:ext cx="933702" cy="135632"/>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a:off x="1955803" y="2735055"/>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nvGrpSpPr>
            <p:cNvPr id="257" name="组合 256"/>
            <p:cNvGrpSpPr/>
            <p:nvPr/>
          </p:nvGrpSpPr>
          <p:grpSpPr>
            <a:xfrm>
              <a:off x="5306751" y="2822207"/>
              <a:ext cx="945043" cy="469623"/>
              <a:chOff x="1655676" y="2335859"/>
              <a:chExt cx="945043" cy="469623"/>
            </a:xfrm>
          </p:grpSpPr>
          <p:cxnSp>
            <p:nvCxnSpPr>
              <p:cNvPr id="258" name="直接箭头连接符 257"/>
              <p:cNvCxnSpPr/>
              <p:nvPr/>
            </p:nvCxnSpPr>
            <p:spPr>
              <a:xfrm flipV="1">
                <a:off x="1655676" y="2335859"/>
                <a:ext cx="945043" cy="442623"/>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073053" y="2436150"/>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sp>
        <p:nvSpPr>
          <p:cNvPr id="81929" name="TextBox 81928"/>
          <p:cNvSpPr txBox="1"/>
          <p:nvPr/>
        </p:nvSpPr>
        <p:spPr>
          <a:xfrm>
            <a:off x="4828863" y="3694261"/>
            <a:ext cx="607233" cy="461665"/>
          </a:xfrm>
          <a:prstGeom prst="rect">
            <a:avLst/>
          </a:prstGeom>
          <a:noFill/>
        </p:spPr>
        <p:txBody>
          <a:bodyPr wrap="square" rtlCol="0">
            <a:spAutoFit/>
          </a:bodyPr>
          <a:lstStyle/>
          <a:p>
            <a:r>
              <a:rPr lang="en-US" altLang="zh-CN" sz="2400" b="1" dirty="0">
                <a:solidFill>
                  <a:srgbClr val="FF0000"/>
                </a:solidFill>
              </a:rPr>
              <a:t>R</a:t>
            </a:r>
            <a:endParaRPr lang="zh-CN" altLang="en-US" sz="2400" b="1" dirty="0">
              <a:solidFill>
                <a:srgbClr val="FF0000"/>
              </a:solidFill>
            </a:endParaRPr>
          </a:p>
        </p:txBody>
      </p:sp>
      <p:sp>
        <p:nvSpPr>
          <p:cNvPr id="81932" name="任意多边形 81931"/>
          <p:cNvSpPr/>
          <p:nvPr/>
        </p:nvSpPr>
        <p:spPr>
          <a:xfrm>
            <a:off x="2787667" y="3611220"/>
            <a:ext cx="4611039" cy="579400"/>
          </a:xfrm>
          <a:custGeom>
            <a:avLst/>
            <a:gdLst>
              <a:gd name="connsiteX0" fmla="*/ 0 w 4541520"/>
              <a:gd name="connsiteY0" fmla="*/ 731548 h 807748"/>
              <a:gd name="connsiteX1" fmla="*/ 792480 w 4541520"/>
              <a:gd name="connsiteY1" fmla="*/ 28 h 807748"/>
              <a:gd name="connsiteX2" fmla="*/ 1905000 w 4541520"/>
              <a:gd name="connsiteY2" fmla="*/ 701068 h 807748"/>
              <a:gd name="connsiteX3" fmla="*/ 3246120 w 4541520"/>
              <a:gd name="connsiteY3" fmla="*/ 182908 h 807748"/>
              <a:gd name="connsiteX4" fmla="*/ 4541520 w 4541520"/>
              <a:gd name="connsiteY4" fmla="*/ 807748 h 807748"/>
              <a:gd name="connsiteX5" fmla="*/ 4541520 w 4541520"/>
              <a:gd name="connsiteY5" fmla="*/ 807748 h 80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1520" h="807748">
                <a:moveTo>
                  <a:pt x="0" y="731548"/>
                </a:moveTo>
                <a:cubicBezTo>
                  <a:pt x="237490" y="368328"/>
                  <a:pt x="474980" y="5108"/>
                  <a:pt x="792480" y="28"/>
                </a:cubicBezTo>
                <a:cubicBezTo>
                  <a:pt x="1109980" y="-5052"/>
                  <a:pt x="1496060" y="670588"/>
                  <a:pt x="1905000" y="701068"/>
                </a:cubicBezTo>
                <a:cubicBezTo>
                  <a:pt x="2313940" y="731548"/>
                  <a:pt x="2806700" y="165128"/>
                  <a:pt x="3246120" y="182908"/>
                </a:cubicBezTo>
                <a:cubicBezTo>
                  <a:pt x="3685540" y="200688"/>
                  <a:pt x="4541520" y="807748"/>
                  <a:pt x="4541520" y="807748"/>
                </a:cubicBezTo>
                <a:lnTo>
                  <a:pt x="4541520" y="807748"/>
                </a:ln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286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192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22">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81922">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1922">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1922">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5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4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1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5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6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1922">
                                            <p:txEl>
                                              <p:pRg st="4" end="4"/>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8193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81922">
                                            <p:txEl>
                                              <p:pRg st="5" end="5"/>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819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uiExpand="1" build="p" animBg="1"/>
      <p:bldP spid="81929" grpId="0"/>
      <p:bldP spid="81932"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4"/>
          <p:cNvSpPr txBox="1">
            <a:spLocks noChangeArrowheads="1"/>
          </p:cNvSpPr>
          <p:nvPr/>
        </p:nvSpPr>
        <p:spPr bwMode="auto">
          <a:xfrm>
            <a:off x="419100" y="1014413"/>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a:t>
            </a:r>
          </a:p>
        </p:txBody>
      </p:sp>
      <p:grpSp>
        <p:nvGrpSpPr>
          <p:cNvPr id="82947" name="Group 5"/>
          <p:cNvGrpSpPr>
            <a:grpSpLocks/>
          </p:cNvGrpSpPr>
          <p:nvPr/>
        </p:nvGrpSpPr>
        <p:grpSpPr bwMode="auto">
          <a:xfrm>
            <a:off x="1371600" y="813197"/>
            <a:ext cx="2514600" cy="558403"/>
            <a:chOff x="768" y="203"/>
            <a:chExt cx="1584" cy="469"/>
          </a:xfrm>
        </p:grpSpPr>
        <p:sp>
          <p:nvSpPr>
            <p:cNvPr id="82982" name="Oval 6"/>
            <p:cNvSpPr>
              <a:spLocks noChangeArrowheads="1"/>
            </p:cNvSpPr>
            <p:nvPr/>
          </p:nvSpPr>
          <p:spPr bwMode="auto">
            <a:xfrm>
              <a:off x="768" y="384"/>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1</a:t>
              </a:r>
            </a:p>
          </p:txBody>
        </p:sp>
        <p:sp>
          <p:nvSpPr>
            <p:cNvPr id="82983" name="Oval 7"/>
            <p:cNvSpPr>
              <a:spLocks noChangeArrowheads="1"/>
            </p:cNvSpPr>
            <p:nvPr/>
          </p:nvSpPr>
          <p:spPr bwMode="auto">
            <a:xfrm>
              <a:off x="1440" y="384"/>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2</a:t>
              </a:r>
            </a:p>
          </p:txBody>
        </p:sp>
        <p:sp>
          <p:nvSpPr>
            <p:cNvPr id="82984" name="Oval 8"/>
            <p:cNvSpPr>
              <a:spLocks noChangeArrowheads="1"/>
            </p:cNvSpPr>
            <p:nvPr/>
          </p:nvSpPr>
          <p:spPr bwMode="auto">
            <a:xfrm>
              <a:off x="2112" y="384"/>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3</a:t>
              </a:r>
            </a:p>
          </p:txBody>
        </p:sp>
        <p:sp>
          <p:nvSpPr>
            <p:cNvPr id="82985" name="Line 9"/>
            <p:cNvSpPr>
              <a:spLocks noChangeShapeType="1"/>
            </p:cNvSpPr>
            <p:nvPr/>
          </p:nvSpPr>
          <p:spPr bwMode="auto">
            <a:xfrm>
              <a:off x="1008" y="528"/>
              <a:ext cx="4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86" name="Line 10"/>
            <p:cNvSpPr>
              <a:spLocks noChangeShapeType="1"/>
            </p:cNvSpPr>
            <p:nvPr/>
          </p:nvSpPr>
          <p:spPr bwMode="auto">
            <a:xfrm>
              <a:off x="1680" y="528"/>
              <a:ext cx="384"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87" name="Text Box 11"/>
            <p:cNvSpPr txBox="1">
              <a:spLocks noChangeArrowheads="1"/>
            </p:cNvSpPr>
            <p:nvPr/>
          </p:nvSpPr>
          <p:spPr bwMode="auto">
            <a:xfrm>
              <a:off x="1056" y="203"/>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rPr>
                <a:t>R1</a:t>
              </a:r>
            </a:p>
          </p:txBody>
        </p:sp>
        <p:sp>
          <p:nvSpPr>
            <p:cNvPr id="82988" name="Text Box 12"/>
            <p:cNvSpPr txBox="1">
              <a:spLocks noChangeArrowheads="1"/>
            </p:cNvSpPr>
            <p:nvPr/>
          </p:nvSpPr>
          <p:spPr bwMode="auto">
            <a:xfrm>
              <a:off x="1680" y="203"/>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R2</a:t>
              </a:r>
            </a:p>
          </p:txBody>
        </p:sp>
      </p:grpSp>
      <p:grpSp>
        <p:nvGrpSpPr>
          <p:cNvPr id="3" name="组合 2"/>
          <p:cNvGrpSpPr/>
          <p:nvPr/>
        </p:nvGrpSpPr>
        <p:grpSpPr>
          <a:xfrm>
            <a:off x="5791200" y="813941"/>
            <a:ext cx="2514600" cy="571947"/>
            <a:chOff x="5791200" y="813941"/>
            <a:chExt cx="2514600" cy="571947"/>
          </a:xfrm>
        </p:grpSpPr>
        <p:sp>
          <p:nvSpPr>
            <p:cNvPr id="82948" name="Oval 13"/>
            <p:cNvSpPr>
              <a:spLocks noChangeArrowheads="1"/>
            </p:cNvSpPr>
            <p:nvPr/>
          </p:nvSpPr>
          <p:spPr bwMode="auto">
            <a:xfrm>
              <a:off x="5791200" y="1042988"/>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1</a:t>
              </a:r>
            </a:p>
          </p:txBody>
        </p:sp>
        <p:sp>
          <p:nvSpPr>
            <p:cNvPr id="82949" name="Oval 14"/>
            <p:cNvSpPr>
              <a:spLocks noChangeArrowheads="1"/>
            </p:cNvSpPr>
            <p:nvPr/>
          </p:nvSpPr>
          <p:spPr bwMode="auto">
            <a:xfrm>
              <a:off x="7924800" y="1014413"/>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3</a:t>
              </a:r>
            </a:p>
          </p:txBody>
        </p:sp>
        <p:sp>
          <p:nvSpPr>
            <p:cNvPr id="82950" name="Line 15"/>
            <p:cNvSpPr>
              <a:spLocks noChangeShapeType="1"/>
            </p:cNvSpPr>
            <p:nvPr/>
          </p:nvSpPr>
          <p:spPr bwMode="auto">
            <a:xfrm>
              <a:off x="6172200" y="1200150"/>
              <a:ext cx="1752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51" name="Text Box 16"/>
            <p:cNvSpPr txBox="1">
              <a:spLocks noChangeArrowheads="1"/>
            </p:cNvSpPr>
            <p:nvPr/>
          </p:nvSpPr>
          <p:spPr bwMode="auto">
            <a:xfrm>
              <a:off x="6477000" y="813941"/>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rPr>
                <a:t>R1R2</a:t>
              </a:r>
            </a:p>
          </p:txBody>
        </p:sp>
      </p:grpSp>
      <p:sp>
        <p:nvSpPr>
          <p:cNvPr id="82952" name="Text Box 17"/>
          <p:cNvSpPr txBox="1">
            <a:spLocks noChangeArrowheads="1"/>
          </p:cNvSpPr>
          <p:nvPr/>
        </p:nvSpPr>
        <p:spPr bwMode="auto">
          <a:xfrm>
            <a:off x="457200" y="2286000"/>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a:latin typeface="Verdana" pitchFamily="34" charset="0"/>
              </a:rPr>
              <a:t>b.</a:t>
            </a:r>
          </a:p>
        </p:txBody>
      </p:sp>
      <p:grpSp>
        <p:nvGrpSpPr>
          <p:cNvPr id="82953" name="Group 18"/>
          <p:cNvGrpSpPr>
            <a:grpSpLocks/>
          </p:cNvGrpSpPr>
          <p:nvPr/>
        </p:nvGrpSpPr>
        <p:grpSpPr bwMode="auto">
          <a:xfrm>
            <a:off x="1447800" y="1821657"/>
            <a:ext cx="2133600" cy="1440657"/>
            <a:chOff x="816" y="714"/>
            <a:chExt cx="1344" cy="1210"/>
          </a:xfrm>
        </p:grpSpPr>
        <p:sp>
          <p:nvSpPr>
            <p:cNvPr id="82976" name="Oval 19"/>
            <p:cNvSpPr>
              <a:spLocks noChangeArrowheads="1"/>
            </p:cNvSpPr>
            <p:nvPr/>
          </p:nvSpPr>
          <p:spPr bwMode="auto">
            <a:xfrm>
              <a:off x="816" y="1152"/>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1</a:t>
              </a:r>
            </a:p>
          </p:txBody>
        </p:sp>
        <p:sp>
          <p:nvSpPr>
            <p:cNvPr id="82977" name="Oval 20"/>
            <p:cNvSpPr>
              <a:spLocks noChangeArrowheads="1"/>
            </p:cNvSpPr>
            <p:nvPr/>
          </p:nvSpPr>
          <p:spPr bwMode="auto">
            <a:xfrm>
              <a:off x="1920" y="1152"/>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2</a:t>
              </a:r>
            </a:p>
          </p:txBody>
        </p:sp>
        <p:sp>
          <p:nvSpPr>
            <p:cNvPr id="82978" name="Freeform 21"/>
            <p:cNvSpPr>
              <a:spLocks/>
            </p:cNvSpPr>
            <p:nvPr/>
          </p:nvSpPr>
          <p:spPr bwMode="auto">
            <a:xfrm>
              <a:off x="972" y="1056"/>
              <a:ext cx="960" cy="156"/>
            </a:xfrm>
            <a:custGeom>
              <a:avLst/>
              <a:gdLst>
                <a:gd name="T0" fmla="*/ 0 w 960"/>
                <a:gd name="T1" fmla="*/ 96 h 156"/>
                <a:gd name="T2" fmla="*/ 216 w 960"/>
                <a:gd name="T3" fmla="*/ 24 h 156"/>
                <a:gd name="T4" fmla="*/ 336 w 960"/>
                <a:gd name="T5" fmla="*/ 0 h 156"/>
                <a:gd name="T6" fmla="*/ 576 w 960"/>
                <a:gd name="T7" fmla="*/ 12 h 156"/>
                <a:gd name="T8" fmla="*/ 696 w 960"/>
                <a:gd name="T9" fmla="*/ 48 h 156"/>
                <a:gd name="T10" fmla="*/ 828 w 960"/>
                <a:gd name="T11" fmla="*/ 84 h 156"/>
                <a:gd name="T12" fmla="*/ 960 w 960"/>
                <a:gd name="T13" fmla="*/ 156 h 156"/>
                <a:gd name="T14" fmla="*/ 0 60000 65536"/>
                <a:gd name="T15" fmla="*/ 0 60000 65536"/>
                <a:gd name="T16" fmla="*/ 0 60000 65536"/>
                <a:gd name="T17" fmla="*/ 0 60000 65536"/>
                <a:gd name="T18" fmla="*/ 0 60000 65536"/>
                <a:gd name="T19" fmla="*/ 0 60000 65536"/>
                <a:gd name="T20" fmla="*/ 0 60000 65536"/>
                <a:gd name="T21" fmla="*/ 0 w 960"/>
                <a:gd name="T22" fmla="*/ 0 h 156"/>
                <a:gd name="T23" fmla="*/ 960 w 960"/>
                <a:gd name="T24" fmla="*/ 156 h 1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156">
                  <a:moveTo>
                    <a:pt x="0" y="96"/>
                  </a:moveTo>
                  <a:cubicBezTo>
                    <a:pt x="69" y="73"/>
                    <a:pt x="144" y="38"/>
                    <a:pt x="216" y="24"/>
                  </a:cubicBezTo>
                  <a:cubicBezTo>
                    <a:pt x="256" y="16"/>
                    <a:pt x="336" y="0"/>
                    <a:pt x="336" y="0"/>
                  </a:cubicBezTo>
                  <a:cubicBezTo>
                    <a:pt x="416" y="4"/>
                    <a:pt x="496" y="5"/>
                    <a:pt x="576" y="12"/>
                  </a:cubicBezTo>
                  <a:cubicBezTo>
                    <a:pt x="605" y="14"/>
                    <a:pt x="676" y="43"/>
                    <a:pt x="696" y="48"/>
                  </a:cubicBezTo>
                  <a:cubicBezTo>
                    <a:pt x="740" y="59"/>
                    <a:pt x="788" y="62"/>
                    <a:pt x="828" y="84"/>
                  </a:cubicBezTo>
                  <a:cubicBezTo>
                    <a:pt x="878" y="112"/>
                    <a:pt x="911" y="131"/>
                    <a:pt x="960" y="156"/>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2979" name="Freeform 22"/>
            <p:cNvSpPr>
              <a:spLocks/>
            </p:cNvSpPr>
            <p:nvPr/>
          </p:nvSpPr>
          <p:spPr bwMode="auto">
            <a:xfrm>
              <a:off x="1020" y="1432"/>
              <a:ext cx="952" cy="164"/>
            </a:xfrm>
            <a:custGeom>
              <a:avLst/>
              <a:gdLst>
                <a:gd name="T0" fmla="*/ 0 w 952"/>
                <a:gd name="T1" fmla="*/ 20 h 164"/>
                <a:gd name="T2" fmla="*/ 48 w 952"/>
                <a:gd name="T3" fmla="*/ 32 h 164"/>
                <a:gd name="T4" fmla="*/ 60 w 952"/>
                <a:gd name="T5" fmla="*/ 80 h 164"/>
                <a:gd name="T6" fmla="*/ 132 w 952"/>
                <a:gd name="T7" fmla="*/ 104 h 164"/>
                <a:gd name="T8" fmla="*/ 216 w 952"/>
                <a:gd name="T9" fmla="*/ 128 h 164"/>
                <a:gd name="T10" fmla="*/ 408 w 952"/>
                <a:gd name="T11" fmla="*/ 164 h 164"/>
                <a:gd name="T12" fmla="*/ 672 w 952"/>
                <a:gd name="T13" fmla="*/ 152 h 164"/>
                <a:gd name="T14" fmla="*/ 888 w 952"/>
                <a:gd name="T15" fmla="*/ 68 h 164"/>
                <a:gd name="T16" fmla="*/ 912 w 952"/>
                <a:gd name="T17" fmla="*/ 32 h 164"/>
                <a:gd name="T18" fmla="*/ 948 w 952"/>
                <a:gd name="T19" fmla="*/ 8 h 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52"/>
                <a:gd name="T31" fmla="*/ 0 h 164"/>
                <a:gd name="T32" fmla="*/ 952 w 952"/>
                <a:gd name="T33" fmla="*/ 164 h 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52" h="164">
                  <a:moveTo>
                    <a:pt x="0" y="20"/>
                  </a:moveTo>
                  <a:cubicBezTo>
                    <a:pt x="12" y="28"/>
                    <a:pt x="35" y="26"/>
                    <a:pt x="48" y="32"/>
                  </a:cubicBezTo>
                  <a:cubicBezTo>
                    <a:pt x="59" y="38"/>
                    <a:pt x="49" y="74"/>
                    <a:pt x="60" y="80"/>
                  </a:cubicBezTo>
                  <a:cubicBezTo>
                    <a:pt x="85" y="94"/>
                    <a:pt x="108" y="88"/>
                    <a:pt x="132" y="104"/>
                  </a:cubicBezTo>
                  <a:cubicBezTo>
                    <a:pt x="153" y="118"/>
                    <a:pt x="192" y="120"/>
                    <a:pt x="216" y="128"/>
                  </a:cubicBezTo>
                  <a:cubicBezTo>
                    <a:pt x="278" y="149"/>
                    <a:pt x="344" y="153"/>
                    <a:pt x="408" y="164"/>
                  </a:cubicBezTo>
                  <a:cubicBezTo>
                    <a:pt x="496" y="160"/>
                    <a:pt x="584" y="161"/>
                    <a:pt x="672" y="152"/>
                  </a:cubicBezTo>
                  <a:cubicBezTo>
                    <a:pt x="751" y="144"/>
                    <a:pt x="816" y="92"/>
                    <a:pt x="888" y="68"/>
                  </a:cubicBezTo>
                  <a:cubicBezTo>
                    <a:pt x="896" y="56"/>
                    <a:pt x="901" y="41"/>
                    <a:pt x="912" y="32"/>
                  </a:cubicBezTo>
                  <a:cubicBezTo>
                    <a:pt x="952" y="0"/>
                    <a:pt x="948" y="39"/>
                    <a:pt x="948" y="8"/>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2980" name="Text Box 23"/>
            <p:cNvSpPr txBox="1">
              <a:spLocks noChangeArrowheads="1"/>
            </p:cNvSpPr>
            <p:nvPr/>
          </p:nvSpPr>
          <p:spPr bwMode="auto">
            <a:xfrm>
              <a:off x="1248" y="714"/>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R1</a:t>
              </a:r>
            </a:p>
          </p:txBody>
        </p:sp>
        <p:sp>
          <p:nvSpPr>
            <p:cNvPr id="82981" name="Text Box 24"/>
            <p:cNvSpPr txBox="1">
              <a:spLocks noChangeArrowheads="1"/>
            </p:cNvSpPr>
            <p:nvPr/>
          </p:nvSpPr>
          <p:spPr bwMode="auto">
            <a:xfrm>
              <a:off x="1296" y="1536"/>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a:latin typeface="Verdana" pitchFamily="34" charset="0"/>
                </a:rPr>
                <a:t>R2</a:t>
              </a:r>
            </a:p>
          </p:txBody>
        </p:sp>
      </p:grpSp>
      <p:grpSp>
        <p:nvGrpSpPr>
          <p:cNvPr id="82954" name="Group 25"/>
          <p:cNvGrpSpPr>
            <a:grpSpLocks/>
          </p:cNvGrpSpPr>
          <p:nvPr/>
        </p:nvGrpSpPr>
        <p:grpSpPr bwMode="auto">
          <a:xfrm>
            <a:off x="5791200" y="2139554"/>
            <a:ext cx="2514600" cy="603647"/>
            <a:chOff x="3552" y="933"/>
            <a:chExt cx="1584" cy="507"/>
          </a:xfrm>
        </p:grpSpPr>
        <p:sp>
          <p:nvSpPr>
            <p:cNvPr id="82972" name="Oval 26"/>
            <p:cNvSpPr>
              <a:spLocks noChangeArrowheads="1"/>
            </p:cNvSpPr>
            <p:nvPr/>
          </p:nvSpPr>
          <p:spPr bwMode="auto">
            <a:xfrm>
              <a:off x="4896" y="1152"/>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2</a:t>
              </a:r>
            </a:p>
          </p:txBody>
        </p:sp>
        <p:sp>
          <p:nvSpPr>
            <p:cNvPr id="82973" name="Oval 27"/>
            <p:cNvSpPr>
              <a:spLocks noChangeArrowheads="1"/>
            </p:cNvSpPr>
            <p:nvPr/>
          </p:nvSpPr>
          <p:spPr bwMode="auto">
            <a:xfrm>
              <a:off x="3552" y="1152"/>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1</a:t>
              </a:r>
            </a:p>
          </p:txBody>
        </p:sp>
        <p:sp>
          <p:nvSpPr>
            <p:cNvPr id="82974" name="Line 28"/>
            <p:cNvSpPr>
              <a:spLocks noChangeShapeType="1"/>
            </p:cNvSpPr>
            <p:nvPr/>
          </p:nvSpPr>
          <p:spPr bwMode="auto">
            <a:xfrm>
              <a:off x="3792" y="1296"/>
              <a:ext cx="1104"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75" name="Text Box 29"/>
            <p:cNvSpPr txBox="1">
              <a:spLocks noChangeArrowheads="1"/>
            </p:cNvSpPr>
            <p:nvPr/>
          </p:nvSpPr>
          <p:spPr bwMode="auto">
            <a:xfrm>
              <a:off x="3888" y="933"/>
              <a:ext cx="81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rPr>
                <a:t>R1|R2</a:t>
              </a:r>
            </a:p>
          </p:txBody>
        </p:sp>
      </p:grpSp>
      <p:sp>
        <p:nvSpPr>
          <p:cNvPr id="82955" name="Text Box 34"/>
          <p:cNvSpPr txBox="1">
            <a:spLocks noChangeArrowheads="1"/>
          </p:cNvSpPr>
          <p:nvPr/>
        </p:nvSpPr>
        <p:spPr bwMode="auto">
          <a:xfrm>
            <a:off x="4514850" y="985837"/>
            <a:ext cx="60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dirty="0">
                <a:latin typeface="Verdana" pitchFamily="34" charset="0"/>
                <a:sym typeface="Symbol" pitchFamily="18" charset="2"/>
              </a:rPr>
              <a:t></a:t>
            </a:r>
            <a:endParaRPr kumimoji="1" lang="en-US" altLang="zh-CN" dirty="0">
              <a:latin typeface="Verdana" pitchFamily="34" charset="0"/>
            </a:endParaRPr>
          </a:p>
        </p:txBody>
      </p:sp>
      <p:sp>
        <p:nvSpPr>
          <p:cNvPr id="82956" name="Text Box 35"/>
          <p:cNvSpPr txBox="1">
            <a:spLocks noChangeArrowheads="1"/>
          </p:cNvSpPr>
          <p:nvPr/>
        </p:nvSpPr>
        <p:spPr bwMode="auto">
          <a:xfrm>
            <a:off x="4495800" y="2286000"/>
            <a:ext cx="60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a:latin typeface="Verdana" pitchFamily="34" charset="0"/>
                <a:sym typeface="Symbol" pitchFamily="18" charset="2"/>
              </a:rPr>
              <a:t></a:t>
            </a:r>
            <a:endParaRPr kumimoji="1" lang="en-US" altLang="zh-CN">
              <a:latin typeface="Verdana" pitchFamily="34" charset="0"/>
            </a:endParaRPr>
          </a:p>
        </p:txBody>
      </p:sp>
      <p:sp>
        <p:nvSpPr>
          <p:cNvPr id="82957" name="Text Box 37"/>
          <p:cNvSpPr txBox="1">
            <a:spLocks noChangeArrowheads="1"/>
          </p:cNvSpPr>
          <p:nvPr/>
        </p:nvSpPr>
        <p:spPr bwMode="auto">
          <a:xfrm>
            <a:off x="457200" y="3886200"/>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a:latin typeface="Verdana" pitchFamily="34" charset="0"/>
              </a:rPr>
              <a:t>c.</a:t>
            </a:r>
          </a:p>
        </p:txBody>
      </p:sp>
      <p:grpSp>
        <p:nvGrpSpPr>
          <p:cNvPr id="2" name="组合 1"/>
          <p:cNvGrpSpPr/>
          <p:nvPr/>
        </p:nvGrpSpPr>
        <p:grpSpPr>
          <a:xfrm>
            <a:off x="1219200" y="3507854"/>
            <a:ext cx="2895600" cy="1006996"/>
            <a:chOff x="1219200" y="3507854"/>
            <a:chExt cx="2895600" cy="1006996"/>
          </a:xfrm>
        </p:grpSpPr>
        <p:sp>
          <p:nvSpPr>
            <p:cNvPr id="82958" name="Oval 38"/>
            <p:cNvSpPr>
              <a:spLocks noChangeArrowheads="1"/>
            </p:cNvSpPr>
            <p:nvPr/>
          </p:nvSpPr>
          <p:spPr bwMode="auto">
            <a:xfrm>
              <a:off x="3733800" y="4171950"/>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3</a:t>
              </a:r>
            </a:p>
          </p:txBody>
        </p:sp>
        <p:sp>
          <p:nvSpPr>
            <p:cNvPr id="82959" name="Oval 39"/>
            <p:cNvSpPr>
              <a:spLocks noChangeArrowheads="1"/>
            </p:cNvSpPr>
            <p:nvPr/>
          </p:nvSpPr>
          <p:spPr bwMode="auto">
            <a:xfrm>
              <a:off x="2362200" y="4171950"/>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2</a:t>
              </a:r>
            </a:p>
          </p:txBody>
        </p:sp>
        <p:sp>
          <p:nvSpPr>
            <p:cNvPr id="82960" name="Oval 40"/>
            <p:cNvSpPr>
              <a:spLocks noChangeArrowheads="1"/>
            </p:cNvSpPr>
            <p:nvPr/>
          </p:nvSpPr>
          <p:spPr bwMode="auto">
            <a:xfrm>
              <a:off x="1219200" y="4171950"/>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1</a:t>
              </a:r>
            </a:p>
          </p:txBody>
        </p:sp>
        <p:sp>
          <p:nvSpPr>
            <p:cNvPr id="82961" name="Line 41"/>
            <p:cNvSpPr>
              <a:spLocks noChangeShapeType="1"/>
            </p:cNvSpPr>
            <p:nvPr/>
          </p:nvSpPr>
          <p:spPr bwMode="auto">
            <a:xfrm>
              <a:off x="1600200" y="43434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62" name="Line 42"/>
            <p:cNvSpPr>
              <a:spLocks noChangeShapeType="1"/>
            </p:cNvSpPr>
            <p:nvPr/>
          </p:nvSpPr>
          <p:spPr bwMode="auto">
            <a:xfrm>
              <a:off x="2743200" y="4343400"/>
              <a:ext cx="990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63" name="Freeform 43"/>
            <p:cNvSpPr>
              <a:spLocks/>
            </p:cNvSpPr>
            <p:nvPr/>
          </p:nvSpPr>
          <p:spPr bwMode="auto">
            <a:xfrm>
              <a:off x="2389188" y="3886200"/>
              <a:ext cx="487362" cy="314325"/>
            </a:xfrm>
            <a:custGeom>
              <a:avLst/>
              <a:gdLst>
                <a:gd name="T0" fmla="*/ 2147483647 w 307"/>
                <a:gd name="T1" fmla="*/ 2147483647 h 264"/>
                <a:gd name="T2" fmla="*/ 2147483647 w 307"/>
                <a:gd name="T3" fmla="*/ 2147483647 h 264"/>
                <a:gd name="T4" fmla="*/ 2147483647 w 307"/>
                <a:gd name="T5" fmla="*/ 2147483647 h 264"/>
                <a:gd name="T6" fmla="*/ 2147483647 w 307"/>
                <a:gd name="T7" fmla="*/ 0 h 264"/>
                <a:gd name="T8" fmla="*/ 2147483647 w 307"/>
                <a:gd name="T9" fmla="*/ 2147483647 h 264"/>
                <a:gd name="T10" fmla="*/ 2147483647 w 307"/>
                <a:gd name="T11" fmla="*/ 2147483647 h 264"/>
                <a:gd name="T12" fmla="*/ 2147483647 w 307"/>
                <a:gd name="T13" fmla="*/ 2147483647 h 264"/>
                <a:gd name="T14" fmla="*/ 0 60000 65536"/>
                <a:gd name="T15" fmla="*/ 0 60000 65536"/>
                <a:gd name="T16" fmla="*/ 0 60000 65536"/>
                <a:gd name="T17" fmla="*/ 0 60000 65536"/>
                <a:gd name="T18" fmla="*/ 0 60000 65536"/>
                <a:gd name="T19" fmla="*/ 0 60000 65536"/>
                <a:gd name="T20" fmla="*/ 0 60000 65536"/>
                <a:gd name="T21" fmla="*/ 0 w 307"/>
                <a:gd name="T22" fmla="*/ 0 h 264"/>
                <a:gd name="T23" fmla="*/ 307 w 307"/>
                <a:gd name="T24" fmla="*/ 264 h 2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7" h="264">
                  <a:moveTo>
                    <a:pt x="31" y="228"/>
                  </a:moveTo>
                  <a:cubicBezTo>
                    <a:pt x="3" y="143"/>
                    <a:pt x="0" y="171"/>
                    <a:pt x="19" y="84"/>
                  </a:cubicBezTo>
                  <a:cubicBezTo>
                    <a:pt x="22" y="72"/>
                    <a:pt x="23" y="58"/>
                    <a:pt x="31" y="48"/>
                  </a:cubicBezTo>
                  <a:cubicBezTo>
                    <a:pt x="58" y="15"/>
                    <a:pt x="114" y="12"/>
                    <a:pt x="151" y="0"/>
                  </a:cubicBezTo>
                  <a:cubicBezTo>
                    <a:pt x="191" y="7"/>
                    <a:pt x="230" y="3"/>
                    <a:pt x="259" y="36"/>
                  </a:cubicBezTo>
                  <a:cubicBezTo>
                    <a:pt x="278" y="58"/>
                    <a:pt x="307" y="108"/>
                    <a:pt x="307" y="108"/>
                  </a:cubicBezTo>
                  <a:cubicBezTo>
                    <a:pt x="282" y="184"/>
                    <a:pt x="301" y="264"/>
                    <a:pt x="199" y="264"/>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2964" name="Text Box 44"/>
            <p:cNvSpPr txBox="1">
              <a:spLocks noChangeArrowheads="1"/>
            </p:cNvSpPr>
            <p:nvPr/>
          </p:nvSpPr>
          <p:spPr bwMode="auto">
            <a:xfrm>
              <a:off x="1676400" y="3939902"/>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R1</a:t>
              </a:r>
            </a:p>
          </p:txBody>
        </p:sp>
        <p:sp>
          <p:nvSpPr>
            <p:cNvPr id="82965" name="Text Box 45"/>
            <p:cNvSpPr txBox="1">
              <a:spLocks noChangeArrowheads="1"/>
            </p:cNvSpPr>
            <p:nvPr/>
          </p:nvSpPr>
          <p:spPr bwMode="auto">
            <a:xfrm>
              <a:off x="2362200" y="3507854"/>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R2</a:t>
              </a:r>
            </a:p>
          </p:txBody>
        </p:sp>
        <p:sp>
          <p:nvSpPr>
            <p:cNvPr id="82966" name="Text Box 46"/>
            <p:cNvSpPr txBox="1">
              <a:spLocks noChangeArrowheads="1"/>
            </p:cNvSpPr>
            <p:nvPr/>
          </p:nvSpPr>
          <p:spPr bwMode="auto">
            <a:xfrm>
              <a:off x="2819400" y="3939902"/>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R3</a:t>
              </a:r>
            </a:p>
          </p:txBody>
        </p:sp>
      </p:grpSp>
      <p:sp>
        <p:nvSpPr>
          <p:cNvPr id="82967" name="Text Box 47"/>
          <p:cNvSpPr txBox="1">
            <a:spLocks noChangeArrowheads="1"/>
          </p:cNvSpPr>
          <p:nvPr/>
        </p:nvSpPr>
        <p:spPr bwMode="auto">
          <a:xfrm>
            <a:off x="4572000" y="4057650"/>
            <a:ext cx="60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a:latin typeface="Verdana" pitchFamily="34" charset="0"/>
                <a:sym typeface="Symbol" pitchFamily="18" charset="2"/>
              </a:rPr>
              <a:t></a:t>
            </a:r>
            <a:endParaRPr kumimoji="1" lang="en-US" altLang="zh-CN">
              <a:latin typeface="Verdana" pitchFamily="34" charset="0"/>
            </a:endParaRPr>
          </a:p>
        </p:txBody>
      </p:sp>
      <p:grpSp>
        <p:nvGrpSpPr>
          <p:cNvPr id="4" name="组合 3"/>
          <p:cNvGrpSpPr/>
          <p:nvPr/>
        </p:nvGrpSpPr>
        <p:grpSpPr>
          <a:xfrm>
            <a:off x="5638800" y="3939902"/>
            <a:ext cx="2743200" cy="574948"/>
            <a:chOff x="5638800" y="3939902"/>
            <a:chExt cx="2743200" cy="574948"/>
          </a:xfrm>
        </p:grpSpPr>
        <p:sp>
          <p:nvSpPr>
            <p:cNvPr id="82968" name="Oval 48"/>
            <p:cNvSpPr>
              <a:spLocks noChangeArrowheads="1"/>
            </p:cNvSpPr>
            <p:nvPr/>
          </p:nvSpPr>
          <p:spPr bwMode="auto">
            <a:xfrm>
              <a:off x="8001000" y="4171950"/>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3</a:t>
              </a:r>
            </a:p>
          </p:txBody>
        </p:sp>
        <p:sp>
          <p:nvSpPr>
            <p:cNvPr id="82969" name="Oval 49"/>
            <p:cNvSpPr>
              <a:spLocks noChangeArrowheads="1"/>
            </p:cNvSpPr>
            <p:nvPr/>
          </p:nvSpPr>
          <p:spPr bwMode="auto">
            <a:xfrm>
              <a:off x="5638800" y="4171950"/>
              <a:ext cx="381000" cy="34290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1</a:t>
              </a:r>
            </a:p>
          </p:txBody>
        </p:sp>
        <p:sp>
          <p:nvSpPr>
            <p:cNvPr id="82970" name="Line 50"/>
            <p:cNvSpPr>
              <a:spLocks noChangeShapeType="1"/>
            </p:cNvSpPr>
            <p:nvPr/>
          </p:nvSpPr>
          <p:spPr bwMode="auto">
            <a:xfrm>
              <a:off x="6019800" y="4343400"/>
              <a:ext cx="1981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971" name="Text Box 51"/>
            <p:cNvSpPr txBox="1">
              <a:spLocks noChangeArrowheads="1"/>
            </p:cNvSpPr>
            <p:nvPr/>
          </p:nvSpPr>
          <p:spPr bwMode="auto">
            <a:xfrm>
              <a:off x="6324600" y="3939902"/>
              <a:ext cx="1676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rPr>
                <a:t>R1R2</a:t>
              </a:r>
              <a:r>
                <a:rPr kumimoji="1" lang="en-US" altLang="zh-CN" sz="2400" baseline="30000" dirty="0">
                  <a:latin typeface="Verdana" pitchFamily="34" charset="0"/>
                </a:rPr>
                <a:t>*</a:t>
              </a:r>
              <a:r>
                <a:rPr kumimoji="1" lang="en-US" altLang="zh-CN" sz="2400" dirty="0">
                  <a:latin typeface="Verdana" pitchFamily="34" charset="0"/>
                </a:rPr>
                <a:t>R3</a:t>
              </a:r>
            </a:p>
          </p:txBody>
        </p:sp>
      </p:grpSp>
    </p:spTree>
    <p:extLst>
      <p:ext uri="{BB962C8B-B14F-4D97-AF65-F5344CB8AC3E}">
        <p14:creationId xmlns:p14="http://schemas.microsoft.com/office/powerpoint/2010/main" val="220553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295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29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295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295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295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2957"/>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2967"/>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52" grpId="0"/>
      <p:bldP spid="82955" grpId="0"/>
      <p:bldP spid="82956" grpId="0"/>
      <p:bldP spid="82957" grpId="0"/>
      <p:bldP spid="8296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type="body" idx="1"/>
          </p:nvPr>
        </p:nvSpPr>
        <p:spPr>
          <a:xfrm>
            <a:off x="304800" y="171450"/>
            <a:ext cx="4380080" cy="857250"/>
          </a:xfrm>
        </p:spPr>
        <p:txBody>
          <a:bodyPr>
            <a:noAutofit/>
          </a:bodyPr>
          <a:lstStyle/>
          <a:p>
            <a:pPr eaLnBrk="1" hangingPunct="1">
              <a:lnSpc>
                <a:spcPct val="90000"/>
              </a:lnSpc>
              <a:spcBef>
                <a:spcPct val="50000"/>
              </a:spcBef>
              <a:buFontTx/>
              <a:buNone/>
            </a:pPr>
            <a:r>
              <a:rPr kumimoji="1" lang="zh-CN" altLang="en-US" sz="2200" b="1" dirty="0">
                <a:solidFill>
                  <a:srgbClr val="0000CC"/>
                </a:solidFill>
                <a:latin typeface="Verdana" pitchFamily="34" charset="0"/>
              </a:rPr>
              <a:t>例</a:t>
            </a:r>
            <a:r>
              <a:rPr kumimoji="1" lang="en-US" altLang="zh-CN" sz="2200" b="1" dirty="0">
                <a:solidFill>
                  <a:srgbClr val="0000CC"/>
                </a:solidFill>
                <a:latin typeface="Verdana" pitchFamily="34" charset="0"/>
              </a:rPr>
              <a:t>: L(</a:t>
            </a:r>
            <a:r>
              <a:rPr kumimoji="1" lang="en-US" altLang="zh-CN" sz="2200" b="1" dirty="0">
                <a:solidFill>
                  <a:srgbClr val="0000CC"/>
                </a:solidFill>
                <a:latin typeface="Verdana" pitchFamily="34" charset="0"/>
                <a:sym typeface="Wingdings" pitchFamily="2" charset="2"/>
              </a:rPr>
              <a:t>M)</a:t>
            </a:r>
            <a:r>
              <a:rPr kumimoji="1" lang="zh-CN" altLang="en-US" sz="2200" b="1" dirty="0">
                <a:solidFill>
                  <a:srgbClr val="0000CC"/>
                </a:solidFill>
                <a:latin typeface="Verdana" pitchFamily="34" charset="0"/>
                <a:sym typeface="Wingdings" pitchFamily="2" charset="2"/>
              </a:rPr>
              <a:t>如右图：</a:t>
            </a:r>
          </a:p>
          <a:p>
            <a:pPr eaLnBrk="1" hangingPunct="1">
              <a:lnSpc>
                <a:spcPct val="90000"/>
              </a:lnSpc>
              <a:spcBef>
                <a:spcPct val="50000"/>
              </a:spcBef>
              <a:buFontTx/>
              <a:buNone/>
            </a:pPr>
            <a:r>
              <a:rPr kumimoji="1" lang="zh-CN" altLang="en-US" sz="2200" b="1" dirty="0">
                <a:solidFill>
                  <a:srgbClr val="0000CC"/>
                </a:solidFill>
                <a:latin typeface="Verdana" pitchFamily="34" charset="0"/>
                <a:sym typeface="Wingdings" pitchFamily="2" charset="2"/>
              </a:rPr>
              <a:t>求正规式</a:t>
            </a:r>
            <a:r>
              <a:rPr kumimoji="1" lang="en-US" altLang="zh-CN" sz="2200" b="1" dirty="0">
                <a:solidFill>
                  <a:srgbClr val="0000CC"/>
                </a:solidFill>
                <a:latin typeface="Verdana" pitchFamily="34" charset="0"/>
                <a:sym typeface="Wingdings" pitchFamily="2" charset="2"/>
              </a:rPr>
              <a:t>R</a:t>
            </a:r>
            <a:r>
              <a:rPr kumimoji="1" lang="zh-CN" altLang="en-US" sz="2200" b="1" dirty="0">
                <a:solidFill>
                  <a:srgbClr val="0000CC"/>
                </a:solidFill>
                <a:latin typeface="Verdana" pitchFamily="34" charset="0"/>
                <a:sym typeface="Wingdings" pitchFamily="2" charset="2"/>
              </a:rPr>
              <a:t>，使</a:t>
            </a:r>
            <a:r>
              <a:rPr kumimoji="1" lang="en-US" altLang="zh-CN" sz="2200" b="1" dirty="0">
                <a:solidFill>
                  <a:srgbClr val="0000CC"/>
                </a:solidFill>
                <a:latin typeface="Verdana" pitchFamily="34" charset="0"/>
                <a:sym typeface="Wingdings" pitchFamily="2" charset="2"/>
              </a:rPr>
              <a:t>L(R)=L(M).</a:t>
            </a:r>
            <a:endParaRPr lang="en-US" altLang="zh-CN" sz="2200" b="1" dirty="0">
              <a:solidFill>
                <a:srgbClr val="0000CC"/>
              </a:solidFill>
            </a:endParaRPr>
          </a:p>
        </p:txBody>
      </p:sp>
      <p:sp>
        <p:nvSpPr>
          <p:cNvPr id="69690" name="Text Box 58"/>
          <p:cNvSpPr txBox="1">
            <a:spLocks noChangeArrowheads="1"/>
          </p:cNvSpPr>
          <p:nvPr/>
        </p:nvSpPr>
        <p:spPr bwMode="auto">
          <a:xfrm>
            <a:off x="5676900" y="3361223"/>
            <a:ext cx="31242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zh-CN" altLang="en-US" sz="2200" b="1" dirty="0">
                <a:solidFill>
                  <a:srgbClr val="0000CC"/>
                </a:solidFill>
                <a:latin typeface="Verdana" pitchFamily="34" charset="0"/>
              </a:rPr>
              <a:t>因此：</a:t>
            </a:r>
          </a:p>
          <a:p>
            <a:pPr eaLnBrk="1" hangingPunct="1">
              <a:spcBef>
                <a:spcPct val="50000"/>
              </a:spcBef>
              <a:buFontTx/>
              <a:buNone/>
            </a:pPr>
            <a:r>
              <a:rPr kumimoji="1" lang="en-US" altLang="zh-CN" sz="2200" b="1" dirty="0">
                <a:solidFill>
                  <a:srgbClr val="0000CC"/>
                </a:solidFill>
                <a:latin typeface="Verdana" pitchFamily="34" charset="0"/>
              </a:rPr>
              <a:t>L(R)= (</a:t>
            </a:r>
            <a:r>
              <a:rPr kumimoji="1" lang="en-US" altLang="zh-CN" sz="2200" b="1" dirty="0" err="1">
                <a:solidFill>
                  <a:srgbClr val="0000CC"/>
                </a:solidFill>
                <a:latin typeface="Verdana" pitchFamily="34" charset="0"/>
              </a:rPr>
              <a:t>a|b</a:t>
            </a:r>
            <a:r>
              <a:rPr kumimoji="1" lang="en-US" altLang="zh-CN" sz="2200" b="1" dirty="0">
                <a:solidFill>
                  <a:srgbClr val="0000CC"/>
                </a:solidFill>
                <a:latin typeface="Verdana" pitchFamily="34" charset="0"/>
              </a:rPr>
              <a:t>)(</a:t>
            </a:r>
            <a:r>
              <a:rPr kumimoji="1" lang="en-US" altLang="zh-CN" sz="2200" b="1" dirty="0" err="1">
                <a:solidFill>
                  <a:srgbClr val="0000CC"/>
                </a:solidFill>
                <a:latin typeface="Verdana" pitchFamily="34" charset="0"/>
              </a:rPr>
              <a:t>a|b</a:t>
            </a:r>
            <a:r>
              <a:rPr kumimoji="1" lang="en-US" altLang="zh-CN" sz="2200" b="1" dirty="0">
                <a:solidFill>
                  <a:srgbClr val="0000CC"/>
                </a:solidFill>
                <a:latin typeface="Verdana" pitchFamily="34" charset="0"/>
              </a:rPr>
              <a:t>)</a:t>
            </a:r>
            <a:r>
              <a:rPr kumimoji="1" lang="en-US" altLang="zh-CN" sz="2200" b="1" baseline="30000" dirty="0">
                <a:solidFill>
                  <a:srgbClr val="0000CC"/>
                </a:solidFill>
                <a:latin typeface="Verdana" pitchFamily="34" charset="0"/>
              </a:rPr>
              <a:t>*</a:t>
            </a:r>
          </a:p>
        </p:txBody>
      </p:sp>
      <p:grpSp>
        <p:nvGrpSpPr>
          <p:cNvPr id="83973" name="Group 74"/>
          <p:cNvGrpSpPr>
            <a:grpSpLocks/>
          </p:cNvGrpSpPr>
          <p:nvPr/>
        </p:nvGrpSpPr>
        <p:grpSpPr bwMode="auto">
          <a:xfrm>
            <a:off x="5219700" y="-92595"/>
            <a:ext cx="3581400" cy="1487092"/>
            <a:chOff x="3360" y="3"/>
            <a:chExt cx="2256" cy="1249"/>
          </a:xfrm>
        </p:grpSpPr>
        <p:sp>
          <p:nvSpPr>
            <p:cNvPr id="84015" name="Oval 73"/>
            <p:cNvSpPr>
              <a:spLocks noChangeArrowheads="1"/>
            </p:cNvSpPr>
            <p:nvPr/>
          </p:nvSpPr>
          <p:spPr bwMode="auto">
            <a:xfrm>
              <a:off x="4608" y="432"/>
              <a:ext cx="336" cy="384"/>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endParaRPr lang="zh-CN" altLang="zh-CN" sz="2400">
                <a:latin typeface="Verdana" pitchFamily="34" charset="0"/>
              </a:endParaRPr>
            </a:p>
          </p:txBody>
        </p:sp>
        <p:sp>
          <p:nvSpPr>
            <p:cNvPr id="84016" name="Oval 8"/>
            <p:cNvSpPr>
              <a:spLocks noChangeArrowheads="1"/>
            </p:cNvSpPr>
            <p:nvPr/>
          </p:nvSpPr>
          <p:spPr bwMode="auto">
            <a:xfrm>
              <a:off x="3552" y="480"/>
              <a:ext cx="204"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zh-CN" altLang="en-US" sz="2400" dirty="0">
                  <a:latin typeface="Verdana" pitchFamily="34" charset="0"/>
                </a:rPr>
                <a:t>－</a:t>
              </a:r>
            </a:p>
          </p:txBody>
        </p:sp>
        <p:sp>
          <p:nvSpPr>
            <p:cNvPr id="84017" name="Oval 9"/>
            <p:cNvSpPr>
              <a:spLocks noChangeArrowheads="1"/>
            </p:cNvSpPr>
            <p:nvPr/>
          </p:nvSpPr>
          <p:spPr bwMode="auto">
            <a:xfrm>
              <a:off x="4656" y="480"/>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zh-CN" altLang="en-US" sz="2400">
                  <a:latin typeface="Verdana" pitchFamily="34" charset="0"/>
                </a:rPr>
                <a:t>＋</a:t>
              </a:r>
            </a:p>
          </p:txBody>
        </p:sp>
        <p:sp>
          <p:nvSpPr>
            <p:cNvPr id="84018" name="Freeform 10"/>
            <p:cNvSpPr>
              <a:spLocks/>
            </p:cNvSpPr>
            <p:nvPr/>
          </p:nvSpPr>
          <p:spPr bwMode="auto">
            <a:xfrm>
              <a:off x="3678" y="366"/>
              <a:ext cx="985" cy="144"/>
            </a:xfrm>
            <a:custGeom>
              <a:avLst/>
              <a:gdLst>
                <a:gd name="T0" fmla="*/ 0 w 960"/>
                <a:gd name="T1" fmla="*/ 96 h 156"/>
                <a:gd name="T2" fmla="*/ 216 w 960"/>
                <a:gd name="T3" fmla="*/ 24 h 156"/>
                <a:gd name="T4" fmla="*/ 336 w 960"/>
                <a:gd name="T5" fmla="*/ 0 h 156"/>
                <a:gd name="T6" fmla="*/ 576 w 960"/>
                <a:gd name="T7" fmla="*/ 12 h 156"/>
                <a:gd name="T8" fmla="*/ 696 w 960"/>
                <a:gd name="T9" fmla="*/ 48 h 156"/>
                <a:gd name="T10" fmla="*/ 828 w 960"/>
                <a:gd name="T11" fmla="*/ 84 h 156"/>
                <a:gd name="T12" fmla="*/ 960 w 960"/>
                <a:gd name="T13" fmla="*/ 156 h 156"/>
                <a:gd name="T14" fmla="*/ 0 60000 65536"/>
                <a:gd name="T15" fmla="*/ 0 60000 65536"/>
                <a:gd name="T16" fmla="*/ 0 60000 65536"/>
                <a:gd name="T17" fmla="*/ 0 60000 65536"/>
                <a:gd name="T18" fmla="*/ 0 60000 65536"/>
                <a:gd name="T19" fmla="*/ 0 60000 65536"/>
                <a:gd name="T20" fmla="*/ 0 60000 65536"/>
                <a:gd name="T21" fmla="*/ 0 w 960"/>
                <a:gd name="T22" fmla="*/ 0 h 156"/>
                <a:gd name="T23" fmla="*/ 960 w 960"/>
                <a:gd name="T24" fmla="*/ 156 h 1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156">
                  <a:moveTo>
                    <a:pt x="0" y="96"/>
                  </a:moveTo>
                  <a:cubicBezTo>
                    <a:pt x="69" y="73"/>
                    <a:pt x="144" y="38"/>
                    <a:pt x="216" y="24"/>
                  </a:cubicBezTo>
                  <a:cubicBezTo>
                    <a:pt x="256" y="16"/>
                    <a:pt x="336" y="0"/>
                    <a:pt x="336" y="0"/>
                  </a:cubicBezTo>
                  <a:cubicBezTo>
                    <a:pt x="416" y="4"/>
                    <a:pt x="496" y="5"/>
                    <a:pt x="576" y="12"/>
                  </a:cubicBezTo>
                  <a:cubicBezTo>
                    <a:pt x="605" y="14"/>
                    <a:pt x="676" y="43"/>
                    <a:pt x="696" y="48"/>
                  </a:cubicBezTo>
                  <a:cubicBezTo>
                    <a:pt x="740" y="59"/>
                    <a:pt x="788" y="62"/>
                    <a:pt x="828" y="84"/>
                  </a:cubicBezTo>
                  <a:cubicBezTo>
                    <a:pt x="878" y="112"/>
                    <a:pt x="911" y="131"/>
                    <a:pt x="960" y="156"/>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4019" name="Freeform 11"/>
            <p:cNvSpPr>
              <a:spLocks/>
            </p:cNvSpPr>
            <p:nvPr/>
          </p:nvSpPr>
          <p:spPr bwMode="auto">
            <a:xfrm>
              <a:off x="3691" y="768"/>
              <a:ext cx="985" cy="96"/>
            </a:xfrm>
            <a:custGeom>
              <a:avLst/>
              <a:gdLst>
                <a:gd name="T0" fmla="*/ 0 w 952"/>
                <a:gd name="T1" fmla="*/ 20 h 164"/>
                <a:gd name="T2" fmla="*/ 48 w 952"/>
                <a:gd name="T3" fmla="*/ 32 h 164"/>
                <a:gd name="T4" fmla="*/ 60 w 952"/>
                <a:gd name="T5" fmla="*/ 80 h 164"/>
                <a:gd name="T6" fmla="*/ 132 w 952"/>
                <a:gd name="T7" fmla="*/ 104 h 164"/>
                <a:gd name="T8" fmla="*/ 216 w 952"/>
                <a:gd name="T9" fmla="*/ 128 h 164"/>
                <a:gd name="T10" fmla="*/ 408 w 952"/>
                <a:gd name="T11" fmla="*/ 164 h 164"/>
                <a:gd name="T12" fmla="*/ 672 w 952"/>
                <a:gd name="T13" fmla="*/ 152 h 164"/>
                <a:gd name="T14" fmla="*/ 888 w 952"/>
                <a:gd name="T15" fmla="*/ 68 h 164"/>
                <a:gd name="T16" fmla="*/ 912 w 952"/>
                <a:gd name="T17" fmla="*/ 32 h 164"/>
                <a:gd name="T18" fmla="*/ 948 w 952"/>
                <a:gd name="T19" fmla="*/ 8 h 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52"/>
                <a:gd name="T31" fmla="*/ 0 h 164"/>
                <a:gd name="T32" fmla="*/ 952 w 952"/>
                <a:gd name="T33" fmla="*/ 164 h 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52" h="164">
                  <a:moveTo>
                    <a:pt x="0" y="20"/>
                  </a:moveTo>
                  <a:cubicBezTo>
                    <a:pt x="12" y="28"/>
                    <a:pt x="35" y="26"/>
                    <a:pt x="48" y="32"/>
                  </a:cubicBezTo>
                  <a:cubicBezTo>
                    <a:pt x="59" y="38"/>
                    <a:pt x="49" y="74"/>
                    <a:pt x="60" y="80"/>
                  </a:cubicBezTo>
                  <a:cubicBezTo>
                    <a:pt x="85" y="94"/>
                    <a:pt x="108" y="88"/>
                    <a:pt x="132" y="104"/>
                  </a:cubicBezTo>
                  <a:cubicBezTo>
                    <a:pt x="153" y="118"/>
                    <a:pt x="192" y="120"/>
                    <a:pt x="216" y="128"/>
                  </a:cubicBezTo>
                  <a:cubicBezTo>
                    <a:pt x="278" y="149"/>
                    <a:pt x="344" y="153"/>
                    <a:pt x="408" y="164"/>
                  </a:cubicBezTo>
                  <a:cubicBezTo>
                    <a:pt x="496" y="160"/>
                    <a:pt x="584" y="161"/>
                    <a:pt x="672" y="152"/>
                  </a:cubicBezTo>
                  <a:cubicBezTo>
                    <a:pt x="751" y="144"/>
                    <a:pt x="816" y="92"/>
                    <a:pt x="888" y="68"/>
                  </a:cubicBezTo>
                  <a:cubicBezTo>
                    <a:pt x="896" y="56"/>
                    <a:pt x="901" y="41"/>
                    <a:pt x="912" y="32"/>
                  </a:cubicBezTo>
                  <a:cubicBezTo>
                    <a:pt x="952" y="0"/>
                    <a:pt x="948" y="39"/>
                    <a:pt x="948" y="8"/>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4020" name="Text Box 12"/>
            <p:cNvSpPr txBox="1">
              <a:spLocks noChangeArrowheads="1"/>
            </p:cNvSpPr>
            <p:nvPr/>
          </p:nvSpPr>
          <p:spPr bwMode="auto">
            <a:xfrm>
              <a:off x="4041" y="3"/>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a</a:t>
              </a:r>
            </a:p>
          </p:txBody>
        </p:sp>
        <p:sp>
          <p:nvSpPr>
            <p:cNvPr id="84021" name="Text Box 13"/>
            <p:cNvSpPr txBox="1">
              <a:spLocks noChangeArrowheads="1"/>
            </p:cNvSpPr>
            <p:nvPr/>
          </p:nvSpPr>
          <p:spPr bwMode="auto">
            <a:xfrm>
              <a:off x="4032" y="864"/>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a:latin typeface="Verdana" pitchFamily="34" charset="0"/>
                </a:rPr>
                <a:t>b</a:t>
              </a:r>
            </a:p>
          </p:txBody>
        </p:sp>
        <p:grpSp>
          <p:nvGrpSpPr>
            <p:cNvPr id="84022" name="Group 14"/>
            <p:cNvGrpSpPr>
              <a:grpSpLocks/>
            </p:cNvGrpSpPr>
            <p:nvPr/>
          </p:nvGrpSpPr>
          <p:grpSpPr bwMode="auto">
            <a:xfrm>
              <a:off x="4920" y="432"/>
              <a:ext cx="696" cy="388"/>
              <a:chOff x="4344" y="576"/>
              <a:chExt cx="696" cy="388"/>
            </a:xfrm>
          </p:grpSpPr>
          <p:sp>
            <p:nvSpPr>
              <p:cNvPr id="84024" name="Freeform 15"/>
              <p:cNvSpPr>
                <a:spLocks/>
              </p:cNvSpPr>
              <p:nvPr/>
            </p:nvSpPr>
            <p:spPr bwMode="auto">
              <a:xfrm>
                <a:off x="4344" y="602"/>
                <a:ext cx="235" cy="299"/>
              </a:xfrm>
              <a:custGeom>
                <a:avLst/>
                <a:gdLst>
                  <a:gd name="T0" fmla="*/ 0 w 235"/>
                  <a:gd name="T1" fmla="*/ 34 h 299"/>
                  <a:gd name="T2" fmla="*/ 156 w 235"/>
                  <a:gd name="T3" fmla="*/ 34 h 299"/>
                  <a:gd name="T4" fmla="*/ 204 w 235"/>
                  <a:gd name="T5" fmla="*/ 106 h 299"/>
                  <a:gd name="T6" fmla="*/ 204 w 235"/>
                  <a:gd name="T7" fmla="*/ 262 h 299"/>
                  <a:gd name="T8" fmla="*/ 132 w 235"/>
                  <a:gd name="T9" fmla="*/ 286 h 299"/>
                  <a:gd name="T10" fmla="*/ 96 w 235"/>
                  <a:gd name="T11" fmla="*/ 298 h 299"/>
                  <a:gd name="T12" fmla="*/ 24 w 235"/>
                  <a:gd name="T13" fmla="*/ 262 h 299"/>
                  <a:gd name="T14" fmla="*/ 0 60000 65536"/>
                  <a:gd name="T15" fmla="*/ 0 60000 65536"/>
                  <a:gd name="T16" fmla="*/ 0 60000 65536"/>
                  <a:gd name="T17" fmla="*/ 0 60000 65536"/>
                  <a:gd name="T18" fmla="*/ 0 60000 65536"/>
                  <a:gd name="T19" fmla="*/ 0 60000 65536"/>
                  <a:gd name="T20" fmla="*/ 0 60000 65536"/>
                  <a:gd name="T21" fmla="*/ 0 w 235"/>
                  <a:gd name="T22" fmla="*/ 0 h 299"/>
                  <a:gd name="T23" fmla="*/ 235 w 235"/>
                  <a:gd name="T24" fmla="*/ 299 h 29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5" h="299">
                    <a:moveTo>
                      <a:pt x="0" y="34"/>
                    </a:moveTo>
                    <a:cubicBezTo>
                      <a:pt x="54" y="16"/>
                      <a:pt x="87" y="0"/>
                      <a:pt x="156" y="34"/>
                    </a:cubicBezTo>
                    <a:cubicBezTo>
                      <a:pt x="182" y="47"/>
                      <a:pt x="204" y="106"/>
                      <a:pt x="204" y="106"/>
                    </a:cubicBezTo>
                    <a:cubicBezTo>
                      <a:pt x="225" y="190"/>
                      <a:pt x="235" y="170"/>
                      <a:pt x="204" y="262"/>
                    </a:cubicBezTo>
                    <a:cubicBezTo>
                      <a:pt x="196" y="286"/>
                      <a:pt x="156" y="278"/>
                      <a:pt x="132" y="286"/>
                    </a:cubicBezTo>
                    <a:cubicBezTo>
                      <a:pt x="120" y="290"/>
                      <a:pt x="96" y="298"/>
                      <a:pt x="96" y="298"/>
                    </a:cubicBezTo>
                    <a:cubicBezTo>
                      <a:pt x="20" y="273"/>
                      <a:pt x="24" y="299"/>
                      <a:pt x="24" y="262"/>
                    </a:cubicBezTo>
                  </a:path>
                </a:pathLst>
              </a:custGeom>
              <a:noFill/>
              <a:ln w="381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4025" name="Text Box 16"/>
              <p:cNvSpPr txBox="1">
                <a:spLocks noChangeArrowheads="1"/>
              </p:cNvSpPr>
              <p:nvPr/>
            </p:nvSpPr>
            <p:spPr bwMode="auto">
              <a:xfrm>
                <a:off x="4560" y="576"/>
                <a:ext cx="48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a,b</a:t>
                </a:r>
              </a:p>
            </p:txBody>
          </p:sp>
        </p:grpSp>
        <p:sp>
          <p:nvSpPr>
            <p:cNvPr id="84023" name="AutoShape 62"/>
            <p:cNvSpPr>
              <a:spLocks noChangeArrowheads="1"/>
            </p:cNvSpPr>
            <p:nvPr/>
          </p:nvSpPr>
          <p:spPr bwMode="auto">
            <a:xfrm>
              <a:off x="3360" y="528"/>
              <a:ext cx="192" cy="144"/>
            </a:xfrm>
            <a:prstGeom prst="rightArrow">
              <a:avLst>
                <a:gd name="adj1" fmla="val 50000"/>
                <a:gd name="adj2" fmla="val 33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4" name="Group 72"/>
          <p:cNvGrpSpPr>
            <a:grpSpLocks/>
          </p:cNvGrpSpPr>
          <p:nvPr/>
        </p:nvGrpSpPr>
        <p:grpSpPr bwMode="auto">
          <a:xfrm>
            <a:off x="544482" y="1243744"/>
            <a:ext cx="4415023" cy="1427561"/>
            <a:chOff x="967" y="1097"/>
            <a:chExt cx="3088" cy="1199"/>
          </a:xfrm>
        </p:grpSpPr>
        <p:sp>
          <p:nvSpPr>
            <p:cNvPr id="83998" name="Oval 18"/>
            <p:cNvSpPr>
              <a:spLocks noChangeArrowheads="1"/>
            </p:cNvSpPr>
            <p:nvPr/>
          </p:nvSpPr>
          <p:spPr bwMode="auto">
            <a:xfrm>
              <a:off x="1844" y="1536"/>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dirty="0">
                  <a:latin typeface="Verdana" pitchFamily="34" charset="0"/>
                </a:rPr>
                <a:t>-</a:t>
              </a:r>
            </a:p>
          </p:txBody>
        </p:sp>
        <p:sp>
          <p:nvSpPr>
            <p:cNvPr id="83999" name="Oval 19"/>
            <p:cNvSpPr>
              <a:spLocks noChangeArrowheads="1"/>
            </p:cNvSpPr>
            <p:nvPr/>
          </p:nvSpPr>
          <p:spPr bwMode="auto">
            <a:xfrm>
              <a:off x="2760" y="1536"/>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a:latin typeface="Verdana" pitchFamily="34" charset="0"/>
                </a:rPr>
                <a:t>+</a:t>
              </a:r>
            </a:p>
          </p:txBody>
        </p:sp>
        <p:sp>
          <p:nvSpPr>
            <p:cNvPr id="84000" name="Freeform 20"/>
            <p:cNvSpPr>
              <a:spLocks/>
            </p:cNvSpPr>
            <p:nvPr/>
          </p:nvSpPr>
          <p:spPr bwMode="auto">
            <a:xfrm>
              <a:off x="2014" y="1440"/>
              <a:ext cx="758" cy="146"/>
            </a:xfrm>
            <a:custGeom>
              <a:avLst/>
              <a:gdLst>
                <a:gd name="T0" fmla="*/ 0 w 960"/>
                <a:gd name="T1" fmla="*/ 96 h 156"/>
                <a:gd name="T2" fmla="*/ 216 w 960"/>
                <a:gd name="T3" fmla="*/ 24 h 156"/>
                <a:gd name="T4" fmla="*/ 336 w 960"/>
                <a:gd name="T5" fmla="*/ 0 h 156"/>
                <a:gd name="T6" fmla="*/ 576 w 960"/>
                <a:gd name="T7" fmla="*/ 12 h 156"/>
                <a:gd name="T8" fmla="*/ 696 w 960"/>
                <a:gd name="T9" fmla="*/ 48 h 156"/>
                <a:gd name="T10" fmla="*/ 828 w 960"/>
                <a:gd name="T11" fmla="*/ 84 h 156"/>
                <a:gd name="T12" fmla="*/ 960 w 960"/>
                <a:gd name="T13" fmla="*/ 156 h 156"/>
                <a:gd name="T14" fmla="*/ 0 60000 65536"/>
                <a:gd name="T15" fmla="*/ 0 60000 65536"/>
                <a:gd name="T16" fmla="*/ 0 60000 65536"/>
                <a:gd name="T17" fmla="*/ 0 60000 65536"/>
                <a:gd name="T18" fmla="*/ 0 60000 65536"/>
                <a:gd name="T19" fmla="*/ 0 60000 65536"/>
                <a:gd name="T20" fmla="*/ 0 60000 65536"/>
                <a:gd name="T21" fmla="*/ 0 w 960"/>
                <a:gd name="T22" fmla="*/ 0 h 156"/>
                <a:gd name="T23" fmla="*/ 960 w 960"/>
                <a:gd name="T24" fmla="*/ 156 h 1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156">
                  <a:moveTo>
                    <a:pt x="0" y="96"/>
                  </a:moveTo>
                  <a:cubicBezTo>
                    <a:pt x="69" y="73"/>
                    <a:pt x="144" y="38"/>
                    <a:pt x="216" y="24"/>
                  </a:cubicBezTo>
                  <a:cubicBezTo>
                    <a:pt x="256" y="16"/>
                    <a:pt x="336" y="0"/>
                    <a:pt x="336" y="0"/>
                  </a:cubicBezTo>
                  <a:cubicBezTo>
                    <a:pt x="416" y="4"/>
                    <a:pt x="496" y="5"/>
                    <a:pt x="576" y="12"/>
                  </a:cubicBezTo>
                  <a:cubicBezTo>
                    <a:pt x="605" y="14"/>
                    <a:pt x="676" y="43"/>
                    <a:pt x="696" y="48"/>
                  </a:cubicBezTo>
                  <a:cubicBezTo>
                    <a:pt x="740" y="59"/>
                    <a:pt x="788" y="62"/>
                    <a:pt x="828" y="84"/>
                  </a:cubicBezTo>
                  <a:cubicBezTo>
                    <a:pt x="878" y="112"/>
                    <a:pt x="911" y="131"/>
                    <a:pt x="960" y="156"/>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4001" name="Freeform 21"/>
            <p:cNvSpPr>
              <a:spLocks/>
            </p:cNvSpPr>
            <p:nvPr/>
          </p:nvSpPr>
          <p:spPr bwMode="auto">
            <a:xfrm>
              <a:off x="2042" y="1780"/>
              <a:ext cx="770" cy="173"/>
            </a:xfrm>
            <a:custGeom>
              <a:avLst/>
              <a:gdLst>
                <a:gd name="T0" fmla="*/ 0 w 952"/>
                <a:gd name="T1" fmla="*/ 20 h 164"/>
                <a:gd name="T2" fmla="*/ 48 w 952"/>
                <a:gd name="T3" fmla="*/ 32 h 164"/>
                <a:gd name="T4" fmla="*/ 60 w 952"/>
                <a:gd name="T5" fmla="*/ 80 h 164"/>
                <a:gd name="T6" fmla="*/ 132 w 952"/>
                <a:gd name="T7" fmla="*/ 104 h 164"/>
                <a:gd name="T8" fmla="*/ 216 w 952"/>
                <a:gd name="T9" fmla="*/ 128 h 164"/>
                <a:gd name="T10" fmla="*/ 408 w 952"/>
                <a:gd name="T11" fmla="*/ 164 h 164"/>
                <a:gd name="T12" fmla="*/ 672 w 952"/>
                <a:gd name="T13" fmla="*/ 152 h 164"/>
                <a:gd name="T14" fmla="*/ 888 w 952"/>
                <a:gd name="T15" fmla="*/ 68 h 164"/>
                <a:gd name="T16" fmla="*/ 912 w 952"/>
                <a:gd name="T17" fmla="*/ 32 h 164"/>
                <a:gd name="T18" fmla="*/ 948 w 952"/>
                <a:gd name="T19" fmla="*/ 8 h 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52"/>
                <a:gd name="T31" fmla="*/ 0 h 164"/>
                <a:gd name="T32" fmla="*/ 952 w 952"/>
                <a:gd name="T33" fmla="*/ 164 h 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52" h="164">
                  <a:moveTo>
                    <a:pt x="0" y="20"/>
                  </a:moveTo>
                  <a:cubicBezTo>
                    <a:pt x="12" y="28"/>
                    <a:pt x="35" y="26"/>
                    <a:pt x="48" y="32"/>
                  </a:cubicBezTo>
                  <a:cubicBezTo>
                    <a:pt x="59" y="38"/>
                    <a:pt x="49" y="74"/>
                    <a:pt x="60" y="80"/>
                  </a:cubicBezTo>
                  <a:cubicBezTo>
                    <a:pt x="85" y="94"/>
                    <a:pt x="108" y="88"/>
                    <a:pt x="132" y="104"/>
                  </a:cubicBezTo>
                  <a:cubicBezTo>
                    <a:pt x="153" y="118"/>
                    <a:pt x="192" y="120"/>
                    <a:pt x="216" y="128"/>
                  </a:cubicBezTo>
                  <a:cubicBezTo>
                    <a:pt x="278" y="149"/>
                    <a:pt x="344" y="153"/>
                    <a:pt x="408" y="164"/>
                  </a:cubicBezTo>
                  <a:cubicBezTo>
                    <a:pt x="496" y="160"/>
                    <a:pt x="584" y="161"/>
                    <a:pt x="672" y="152"/>
                  </a:cubicBezTo>
                  <a:cubicBezTo>
                    <a:pt x="751" y="144"/>
                    <a:pt x="816" y="92"/>
                    <a:pt x="888" y="68"/>
                  </a:cubicBezTo>
                  <a:cubicBezTo>
                    <a:pt x="896" y="56"/>
                    <a:pt x="901" y="41"/>
                    <a:pt x="912" y="32"/>
                  </a:cubicBezTo>
                  <a:cubicBezTo>
                    <a:pt x="952" y="0"/>
                    <a:pt x="948" y="39"/>
                    <a:pt x="948" y="8"/>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4002" name="Text Box 22"/>
            <p:cNvSpPr txBox="1">
              <a:spLocks noChangeArrowheads="1"/>
            </p:cNvSpPr>
            <p:nvPr/>
          </p:nvSpPr>
          <p:spPr bwMode="auto">
            <a:xfrm>
              <a:off x="2244" y="1097"/>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a</a:t>
              </a:r>
            </a:p>
          </p:txBody>
        </p:sp>
        <p:sp>
          <p:nvSpPr>
            <p:cNvPr id="84003" name="Text Box 23"/>
            <p:cNvSpPr txBox="1">
              <a:spLocks noChangeArrowheads="1"/>
            </p:cNvSpPr>
            <p:nvPr/>
          </p:nvSpPr>
          <p:spPr bwMode="auto">
            <a:xfrm>
              <a:off x="2244" y="1908"/>
              <a:ext cx="4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en-US" altLang="zh-CN" sz="2400" dirty="0">
                  <a:latin typeface="Verdana" pitchFamily="34" charset="0"/>
                </a:rPr>
                <a:t>b</a:t>
              </a:r>
            </a:p>
          </p:txBody>
        </p:sp>
        <p:sp>
          <p:nvSpPr>
            <p:cNvPr id="84004" name="Text Box 24"/>
            <p:cNvSpPr txBox="1">
              <a:spLocks noChangeArrowheads="1"/>
            </p:cNvSpPr>
            <p:nvPr/>
          </p:nvSpPr>
          <p:spPr bwMode="auto">
            <a:xfrm>
              <a:off x="3045" y="1198"/>
              <a:ext cx="48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err="1">
                  <a:latin typeface="Verdana" pitchFamily="34" charset="0"/>
                </a:rPr>
                <a:t>a,b</a:t>
              </a:r>
              <a:endParaRPr kumimoji="1" lang="en-US" altLang="zh-CN" sz="2400" dirty="0">
                <a:latin typeface="Verdana" pitchFamily="34" charset="0"/>
              </a:endParaRPr>
            </a:p>
          </p:txBody>
        </p:sp>
        <p:sp>
          <p:nvSpPr>
            <p:cNvPr id="84005" name="Oval 27"/>
            <p:cNvSpPr>
              <a:spLocks noChangeArrowheads="1"/>
            </p:cNvSpPr>
            <p:nvPr/>
          </p:nvSpPr>
          <p:spPr bwMode="auto">
            <a:xfrm>
              <a:off x="1168" y="1536"/>
              <a:ext cx="248"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x</a:t>
              </a:r>
            </a:p>
          </p:txBody>
        </p:sp>
        <p:grpSp>
          <p:nvGrpSpPr>
            <p:cNvPr id="84006" name="Group 28"/>
            <p:cNvGrpSpPr>
              <a:grpSpLocks/>
            </p:cNvGrpSpPr>
            <p:nvPr/>
          </p:nvGrpSpPr>
          <p:grpSpPr bwMode="auto">
            <a:xfrm>
              <a:off x="3746" y="1440"/>
              <a:ext cx="309" cy="379"/>
              <a:chOff x="50" y="1488"/>
              <a:chExt cx="309" cy="379"/>
            </a:xfrm>
          </p:grpSpPr>
          <p:sp>
            <p:nvSpPr>
              <p:cNvPr id="84013" name="Oval 29"/>
              <p:cNvSpPr>
                <a:spLocks noChangeArrowheads="1"/>
              </p:cNvSpPr>
              <p:nvPr/>
            </p:nvSpPr>
            <p:spPr bwMode="auto">
              <a:xfrm>
                <a:off x="50" y="1488"/>
                <a:ext cx="309" cy="379"/>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4014" name="Oval 30"/>
              <p:cNvSpPr>
                <a:spLocks noChangeArrowheads="1"/>
              </p:cNvSpPr>
              <p:nvPr/>
            </p:nvSpPr>
            <p:spPr bwMode="auto">
              <a:xfrm>
                <a:off x="103" y="1548"/>
                <a:ext cx="192"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y</a:t>
                </a:r>
              </a:p>
            </p:txBody>
          </p:sp>
        </p:grpSp>
        <p:sp>
          <p:nvSpPr>
            <p:cNvPr id="84007" name="Line 31"/>
            <p:cNvSpPr>
              <a:spLocks noChangeShapeType="1"/>
            </p:cNvSpPr>
            <p:nvPr/>
          </p:nvSpPr>
          <p:spPr bwMode="auto">
            <a:xfrm>
              <a:off x="1426" y="1680"/>
              <a:ext cx="41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08" name="Line 32"/>
            <p:cNvSpPr>
              <a:spLocks noChangeShapeType="1"/>
            </p:cNvSpPr>
            <p:nvPr/>
          </p:nvSpPr>
          <p:spPr bwMode="auto">
            <a:xfrm flipV="1">
              <a:off x="2991" y="1656"/>
              <a:ext cx="761" cy="2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09" name="Freeform 33"/>
            <p:cNvSpPr>
              <a:spLocks/>
            </p:cNvSpPr>
            <p:nvPr/>
          </p:nvSpPr>
          <p:spPr bwMode="auto">
            <a:xfrm>
              <a:off x="2832" y="1424"/>
              <a:ext cx="240" cy="184"/>
            </a:xfrm>
            <a:custGeom>
              <a:avLst/>
              <a:gdLst>
                <a:gd name="T0" fmla="*/ 0 w 240"/>
                <a:gd name="T1" fmla="*/ 100 h 184"/>
                <a:gd name="T2" fmla="*/ 24 w 240"/>
                <a:gd name="T3" fmla="*/ 28 h 184"/>
                <a:gd name="T4" fmla="*/ 96 w 240"/>
                <a:gd name="T5" fmla="*/ 4 h 184"/>
                <a:gd name="T6" fmla="*/ 192 w 240"/>
                <a:gd name="T7" fmla="*/ 16 h 184"/>
                <a:gd name="T8" fmla="*/ 240 w 240"/>
                <a:gd name="T9" fmla="*/ 88 h 184"/>
                <a:gd name="T10" fmla="*/ 168 w 240"/>
                <a:gd name="T11" fmla="*/ 184 h 184"/>
                <a:gd name="T12" fmla="*/ 0 60000 65536"/>
                <a:gd name="T13" fmla="*/ 0 60000 65536"/>
                <a:gd name="T14" fmla="*/ 0 60000 65536"/>
                <a:gd name="T15" fmla="*/ 0 60000 65536"/>
                <a:gd name="T16" fmla="*/ 0 60000 65536"/>
                <a:gd name="T17" fmla="*/ 0 60000 65536"/>
                <a:gd name="T18" fmla="*/ 0 w 240"/>
                <a:gd name="T19" fmla="*/ 0 h 184"/>
                <a:gd name="T20" fmla="*/ 240 w 240"/>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240" h="184">
                  <a:moveTo>
                    <a:pt x="0" y="100"/>
                  </a:moveTo>
                  <a:cubicBezTo>
                    <a:pt x="8" y="76"/>
                    <a:pt x="16" y="52"/>
                    <a:pt x="24" y="28"/>
                  </a:cubicBezTo>
                  <a:cubicBezTo>
                    <a:pt x="32" y="4"/>
                    <a:pt x="96" y="4"/>
                    <a:pt x="96" y="4"/>
                  </a:cubicBezTo>
                  <a:cubicBezTo>
                    <a:pt x="128" y="8"/>
                    <a:pt x="164" y="0"/>
                    <a:pt x="192" y="16"/>
                  </a:cubicBezTo>
                  <a:cubicBezTo>
                    <a:pt x="217" y="31"/>
                    <a:pt x="240" y="88"/>
                    <a:pt x="240" y="88"/>
                  </a:cubicBezTo>
                  <a:cubicBezTo>
                    <a:pt x="230" y="147"/>
                    <a:pt x="234" y="184"/>
                    <a:pt x="168" y="184"/>
                  </a:cubicBezTo>
                </a:path>
              </a:pathLst>
            </a:custGeom>
            <a:noFill/>
            <a:ln w="381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4010" name="Text Box 34"/>
            <p:cNvSpPr txBox="1">
              <a:spLocks noChangeArrowheads="1"/>
            </p:cNvSpPr>
            <p:nvPr/>
          </p:nvSpPr>
          <p:spPr bwMode="auto">
            <a:xfrm>
              <a:off x="1534" y="1319"/>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sym typeface="Symbol" pitchFamily="18" charset="2"/>
                </a:rPr>
                <a:t></a:t>
              </a:r>
              <a:endParaRPr kumimoji="1" lang="en-US" altLang="zh-CN" sz="2400" dirty="0">
                <a:latin typeface="Verdana" pitchFamily="34" charset="0"/>
              </a:endParaRPr>
            </a:p>
          </p:txBody>
        </p:sp>
        <p:sp>
          <p:nvSpPr>
            <p:cNvPr id="84011" name="Text Box 35"/>
            <p:cNvSpPr txBox="1">
              <a:spLocks noChangeArrowheads="1"/>
            </p:cNvSpPr>
            <p:nvPr/>
          </p:nvSpPr>
          <p:spPr bwMode="auto">
            <a:xfrm>
              <a:off x="3444" y="1561"/>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sym typeface="Symbol" pitchFamily="18" charset="2"/>
                </a:rPr>
                <a:t></a:t>
              </a:r>
              <a:endParaRPr kumimoji="1" lang="en-US" altLang="zh-CN" sz="2400" dirty="0">
                <a:latin typeface="Verdana" pitchFamily="34" charset="0"/>
              </a:endParaRPr>
            </a:p>
          </p:txBody>
        </p:sp>
        <p:sp>
          <p:nvSpPr>
            <p:cNvPr id="84012" name="AutoShape 66"/>
            <p:cNvSpPr>
              <a:spLocks noChangeArrowheads="1"/>
            </p:cNvSpPr>
            <p:nvPr/>
          </p:nvSpPr>
          <p:spPr bwMode="auto">
            <a:xfrm>
              <a:off x="967" y="1608"/>
              <a:ext cx="192" cy="144"/>
            </a:xfrm>
            <a:prstGeom prst="rightArrow">
              <a:avLst>
                <a:gd name="adj1" fmla="val 50000"/>
                <a:gd name="adj2" fmla="val 33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6" name="Group 70"/>
          <p:cNvGrpSpPr>
            <a:grpSpLocks/>
          </p:cNvGrpSpPr>
          <p:nvPr/>
        </p:nvGrpSpPr>
        <p:grpSpPr bwMode="auto">
          <a:xfrm>
            <a:off x="539552" y="2280780"/>
            <a:ext cx="3913188" cy="1058465"/>
            <a:chOff x="549" y="2264"/>
            <a:chExt cx="2465" cy="889"/>
          </a:xfrm>
        </p:grpSpPr>
        <p:sp>
          <p:nvSpPr>
            <p:cNvPr id="83984" name="Oval 4"/>
            <p:cNvSpPr>
              <a:spLocks noChangeArrowheads="1"/>
            </p:cNvSpPr>
            <p:nvPr/>
          </p:nvSpPr>
          <p:spPr bwMode="auto">
            <a:xfrm>
              <a:off x="2726" y="2769"/>
              <a:ext cx="288" cy="384"/>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3985" name="Oval 36"/>
            <p:cNvSpPr>
              <a:spLocks noChangeArrowheads="1"/>
            </p:cNvSpPr>
            <p:nvPr/>
          </p:nvSpPr>
          <p:spPr bwMode="auto">
            <a:xfrm>
              <a:off x="1340" y="2817"/>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a:t>
              </a:r>
              <a:endParaRPr kumimoji="1" lang="zh-CN" altLang="zh-CN" sz="2400" dirty="0">
                <a:latin typeface="Verdana" pitchFamily="34" charset="0"/>
              </a:endParaRPr>
            </a:p>
          </p:txBody>
        </p:sp>
        <p:sp>
          <p:nvSpPr>
            <p:cNvPr id="83986" name="Oval 37"/>
            <p:cNvSpPr>
              <a:spLocks noChangeArrowheads="1"/>
            </p:cNvSpPr>
            <p:nvPr/>
          </p:nvSpPr>
          <p:spPr bwMode="auto">
            <a:xfrm>
              <a:off x="2012" y="2817"/>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a:t>
              </a:r>
              <a:endParaRPr kumimoji="1" lang="zh-CN" altLang="zh-CN" sz="2400" dirty="0">
                <a:latin typeface="Verdana" pitchFamily="34" charset="0"/>
              </a:endParaRPr>
            </a:p>
          </p:txBody>
        </p:sp>
        <p:sp>
          <p:nvSpPr>
            <p:cNvPr id="83987" name="Oval 38"/>
            <p:cNvSpPr>
              <a:spLocks noChangeArrowheads="1"/>
            </p:cNvSpPr>
            <p:nvPr/>
          </p:nvSpPr>
          <p:spPr bwMode="auto">
            <a:xfrm>
              <a:off x="2774" y="2817"/>
              <a:ext cx="206"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y</a:t>
              </a:r>
            </a:p>
          </p:txBody>
        </p:sp>
        <p:sp>
          <p:nvSpPr>
            <p:cNvPr id="83988" name="Line 39"/>
            <p:cNvSpPr>
              <a:spLocks noChangeShapeType="1"/>
            </p:cNvSpPr>
            <p:nvPr/>
          </p:nvSpPr>
          <p:spPr bwMode="auto">
            <a:xfrm>
              <a:off x="1580" y="2961"/>
              <a:ext cx="4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89" name="Line 40"/>
            <p:cNvSpPr>
              <a:spLocks noChangeShapeType="1"/>
            </p:cNvSpPr>
            <p:nvPr/>
          </p:nvSpPr>
          <p:spPr bwMode="auto">
            <a:xfrm>
              <a:off x="2252" y="2961"/>
              <a:ext cx="476" cy="1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90" name="Text Box 41"/>
            <p:cNvSpPr txBox="1">
              <a:spLocks noChangeArrowheads="1"/>
            </p:cNvSpPr>
            <p:nvPr/>
          </p:nvSpPr>
          <p:spPr bwMode="auto">
            <a:xfrm>
              <a:off x="1568" y="2637"/>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a|b</a:t>
              </a:r>
            </a:p>
          </p:txBody>
        </p:sp>
        <p:sp>
          <p:nvSpPr>
            <p:cNvPr id="83991" name="Line 45"/>
            <p:cNvSpPr>
              <a:spLocks noChangeShapeType="1"/>
            </p:cNvSpPr>
            <p:nvPr/>
          </p:nvSpPr>
          <p:spPr bwMode="auto">
            <a:xfrm>
              <a:off x="812" y="2961"/>
              <a:ext cx="52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92" name="Text Box 46"/>
            <p:cNvSpPr txBox="1">
              <a:spLocks noChangeArrowheads="1"/>
            </p:cNvSpPr>
            <p:nvPr/>
          </p:nvSpPr>
          <p:spPr bwMode="auto">
            <a:xfrm>
              <a:off x="1029" y="2628"/>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sym typeface="Symbol" pitchFamily="18" charset="2"/>
                </a:rPr>
                <a:t></a:t>
              </a:r>
              <a:endParaRPr kumimoji="1" lang="en-US" altLang="zh-CN" sz="2400" dirty="0">
                <a:latin typeface="Verdana" pitchFamily="34" charset="0"/>
              </a:endParaRPr>
            </a:p>
          </p:txBody>
        </p:sp>
        <p:sp>
          <p:nvSpPr>
            <p:cNvPr id="83993" name="Text Box 47"/>
            <p:cNvSpPr txBox="1">
              <a:spLocks noChangeArrowheads="1"/>
            </p:cNvSpPr>
            <p:nvPr/>
          </p:nvSpPr>
          <p:spPr bwMode="auto">
            <a:xfrm>
              <a:off x="2363" y="2628"/>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sym typeface="Symbol" pitchFamily="18" charset="2"/>
                </a:rPr>
                <a:t></a:t>
              </a:r>
              <a:endParaRPr kumimoji="1" lang="en-US" altLang="zh-CN" sz="2400" dirty="0">
                <a:latin typeface="Verdana" pitchFamily="34" charset="0"/>
              </a:endParaRPr>
            </a:p>
          </p:txBody>
        </p:sp>
        <p:sp>
          <p:nvSpPr>
            <p:cNvPr id="83994" name="Freeform 48"/>
            <p:cNvSpPr>
              <a:spLocks/>
            </p:cNvSpPr>
            <p:nvPr/>
          </p:nvSpPr>
          <p:spPr bwMode="auto">
            <a:xfrm>
              <a:off x="2016" y="2592"/>
              <a:ext cx="309" cy="261"/>
            </a:xfrm>
            <a:custGeom>
              <a:avLst/>
              <a:gdLst>
                <a:gd name="T0" fmla="*/ 44 w 309"/>
                <a:gd name="T1" fmla="*/ 225 h 261"/>
                <a:gd name="T2" fmla="*/ 56 w 309"/>
                <a:gd name="T3" fmla="*/ 189 h 261"/>
                <a:gd name="T4" fmla="*/ 68 w 309"/>
                <a:gd name="T5" fmla="*/ 45 h 261"/>
                <a:gd name="T6" fmla="*/ 104 w 309"/>
                <a:gd name="T7" fmla="*/ 21 h 261"/>
                <a:gd name="T8" fmla="*/ 308 w 309"/>
                <a:gd name="T9" fmla="*/ 93 h 261"/>
                <a:gd name="T10" fmla="*/ 296 w 309"/>
                <a:gd name="T11" fmla="*/ 225 h 261"/>
                <a:gd name="T12" fmla="*/ 224 w 309"/>
                <a:gd name="T13" fmla="*/ 261 h 261"/>
                <a:gd name="T14" fmla="*/ 0 60000 65536"/>
                <a:gd name="T15" fmla="*/ 0 60000 65536"/>
                <a:gd name="T16" fmla="*/ 0 60000 65536"/>
                <a:gd name="T17" fmla="*/ 0 60000 65536"/>
                <a:gd name="T18" fmla="*/ 0 60000 65536"/>
                <a:gd name="T19" fmla="*/ 0 60000 65536"/>
                <a:gd name="T20" fmla="*/ 0 60000 65536"/>
                <a:gd name="T21" fmla="*/ 0 w 309"/>
                <a:gd name="T22" fmla="*/ 0 h 261"/>
                <a:gd name="T23" fmla="*/ 309 w 309"/>
                <a:gd name="T24" fmla="*/ 261 h 2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261">
                  <a:moveTo>
                    <a:pt x="44" y="225"/>
                  </a:moveTo>
                  <a:cubicBezTo>
                    <a:pt x="48" y="213"/>
                    <a:pt x="56" y="202"/>
                    <a:pt x="56" y="189"/>
                  </a:cubicBezTo>
                  <a:cubicBezTo>
                    <a:pt x="56" y="142"/>
                    <a:pt x="0" y="90"/>
                    <a:pt x="68" y="45"/>
                  </a:cubicBezTo>
                  <a:cubicBezTo>
                    <a:pt x="80" y="37"/>
                    <a:pt x="92" y="29"/>
                    <a:pt x="104" y="21"/>
                  </a:cubicBezTo>
                  <a:cubicBezTo>
                    <a:pt x="202" y="29"/>
                    <a:pt x="277" y="0"/>
                    <a:pt x="308" y="93"/>
                  </a:cubicBezTo>
                  <a:cubicBezTo>
                    <a:pt x="304" y="137"/>
                    <a:pt x="309" y="183"/>
                    <a:pt x="296" y="225"/>
                  </a:cubicBezTo>
                  <a:cubicBezTo>
                    <a:pt x="288" y="251"/>
                    <a:pt x="224" y="261"/>
                    <a:pt x="224" y="261"/>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3995" name="Text Box 49"/>
            <p:cNvSpPr txBox="1">
              <a:spLocks noChangeArrowheads="1"/>
            </p:cNvSpPr>
            <p:nvPr/>
          </p:nvSpPr>
          <p:spPr bwMode="auto">
            <a:xfrm>
              <a:off x="2012" y="2264"/>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err="1">
                  <a:latin typeface="Verdana" pitchFamily="34" charset="0"/>
                </a:rPr>
                <a:t>a|b</a:t>
              </a:r>
              <a:endParaRPr kumimoji="1" lang="en-US" altLang="zh-CN" sz="2400" dirty="0">
                <a:latin typeface="Verdana" pitchFamily="34" charset="0"/>
              </a:endParaRPr>
            </a:p>
          </p:txBody>
        </p:sp>
        <p:sp>
          <p:nvSpPr>
            <p:cNvPr id="83996" name="Oval 64"/>
            <p:cNvSpPr>
              <a:spLocks noChangeArrowheads="1"/>
            </p:cNvSpPr>
            <p:nvPr/>
          </p:nvSpPr>
          <p:spPr bwMode="auto">
            <a:xfrm>
              <a:off x="740" y="2832"/>
              <a:ext cx="247" cy="291"/>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x</a:t>
              </a:r>
            </a:p>
          </p:txBody>
        </p:sp>
        <p:sp>
          <p:nvSpPr>
            <p:cNvPr id="83997" name="AutoShape 67"/>
            <p:cNvSpPr>
              <a:spLocks noChangeArrowheads="1"/>
            </p:cNvSpPr>
            <p:nvPr/>
          </p:nvSpPr>
          <p:spPr bwMode="auto">
            <a:xfrm>
              <a:off x="549" y="2906"/>
              <a:ext cx="192" cy="144"/>
            </a:xfrm>
            <a:prstGeom prst="rightArrow">
              <a:avLst>
                <a:gd name="adj1" fmla="val 50000"/>
                <a:gd name="adj2" fmla="val 33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7" name="Group 71"/>
          <p:cNvGrpSpPr>
            <a:grpSpLocks/>
          </p:cNvGrpSpPr>
          <p:nvPr/>
        </p:nvGrpSpPr>
        <p:grpSpPr bwMode="auto">
          <a:xfrm>
            <a:off x="5593028" y="2274624"/>
            <a:ext cx="3198813" cy="571500"/>
            <a:chOff x="673" y="3456"/>
            <a:chExt cx="2015" cy="480"/>
          </a:xfrm>
        </p:grpSpPr>
        <p:grpSp>
          <p:nvGrpSpPr>
            <p:cNvPr id="83977" name="Group 50"/>
            <p:cNvGrpSpPr>
              <a:grpSpLocks/>
            </p:cNvGrpSpPr>
            <p:nvPr/>
          </p:nvGrpSpPr>
          <p:grpSpPr bwMode="auto">
            <a:xfrm>
              <a:off x="2448" y="3600"/>
              <a:ext cx="240" cy="336"/>
              <a:chOff x="504" y="1536"/>
              <a:chExt cx="240" cy="336"/>
            </a:xfrm>
          </p:grpSpPr>
          <p:sp>
            <p:nvSpPr>
              <p:cNvPr id="83982" name="Oval 51"/>
              <p:cNvSpPr>
                <a:spLocks noChangeArrowheads="1"/>
              </p:cNvSpPr>
              <p:nvPr/>
            </p:nvSpPr>
            <p:spPr bwMode="auto">
              <a:xfrm>
                <a:off x="504" y="1536"/>
                <a:ext cx="240" cy="336"/>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3983" name="Oval 52"/>
              <p:cNvSpPr>
                <a:spLocks noChangeArrowheads="1"/>
              </p:cNvSpPr>
              <p:nvPr/>
            </p:nvSpPr>
            <p:spPr bwMode="auto">
              <a:xfrm>
                <a:off x="528" y="1584"/>
                <a:ext cx="192"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grpSp>
        <p:sp>
          <p:nvSpPr>
            <p:cNvPr id="83978" name="Line 56"/>
            <p:cNvSpPr>
              <a:spLocks noChangeShapeType="1"/>
            </p:cNvSpPr>
            <p:nvPr/>
          </p:nvSpPr>
          <p:spPr bwMode="auto">
            <a:xfrm>
              <a:off x="816" y="3792"/>
              <a:ext cx="16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79" name="Text Box 57"/>
            <p:cNvSpPr txBox="1">
              <a:spLocks noChangeArrowheads="1"/>
            </p:cNvSpPr>
            <p:nvPr/>
          </p:nvSpPr>
          <p:spPr bwMode="auto">
            <a:xfrm>
              <a:off x="1183" y="3456"/>
              <a:ext cx="134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rPr>
                <a:t>(</a:t>
              </a:r>
              <a:r>
                <a:rPr kumimoji="1" lang="en-US" altLang="zh-CN" sz="2400" dirty="0" err="1">
                  <a:latin typeface="Verdana" pitchFamily="34" charset="0"/>
                </a:rPr>
                <a:t>a|b</a:t>
              </a:r>
              <a:r>
                <a:rPr kumimoji="1" lang="en-US" altLang="zh-CN" sz="2400" dirty="0">
                  <a:latin typeface="Verdana" pitchFamily="34" charset="0"/>
                </a:rPr>
                <a:t>)(</a:t>
              </a:r>
              <a:r>
                <a:rPr kumimoji="1" lang="en-US" altLang="zh-CN" sz="2400" dirty="0" err="1">
                  <a:latin typeface="Verdana" pitchFamily="34" charset="0"/>
                </a:rPr>
                <a:t>a|b</a:t>
              </a:r>
              <a:r>
                <a:rPr kumimoji="1" lang="en-US" altLang="zh-CN" sz="2400" dirty="0">
                  <a:latin typeface="Verdana" pitchFamily="34" charset="0"/>
                </a:rPr>
                <a:t>)</a:t>
              </a:r>
              <a:r>
                <a:rPr kumimoji="1" lang="en-US" altLang="zh-CN" sz="2400" baseline="30000" dirty="0">
                  <a:latin typeface="Verdana" pitchFamily="34" charset="0"/>
                </a:rPr>
                <a:t>*</a:t>
              </a:r>
            </a:p>
          </p:txBody>
        </p:sp>
        <p:sp>
          <p:nvSpPr>
            <p:cNvPr id="83980" name="Oval 65"/>
            <p:cNvSpPr>
              <a:spLocks noChangeArrowheads="1"/>
            </p:cNvSpPr>
            <p:nvPr/>
          </p:nvSpPr>
          <p:spPr bwMode="auto">
            <a:xfrm>
              <a:off x="883" y="3648"/>
              <a:ext cx="193"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x</a:t>
              </a:r>
            </a:p>
          </p:txBody>
        </p:sp>
        <p:sp>
          <p:nvSpPr>
            <p:cNvPr id="83981" name="AutoShape 68"/>
            <p:cNvSpPr>
              <a:spLocks noChangeArrowheads="1"/>
            </p:cNvSpPr>
            <p:nvPr/>
          </p:nvSpPr>
          <p:spPr bwMode="auto">
            <a:xfrm>
              <a:off x="673" y="3706"/>
              <a:ext cx="192" cy="144"/>
            </a:xfrm>
            <a:prstGeom prst="rightArrow">
              <a:avLst>
                <a:gd name="adj1" fmla="val 50000"/>
                <a:gd name="adj2" fmla="val 33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58" name="Group 70"/>
          <p:cNvGrpSpPr>
            <a:grpSpLocks/>
          </p:cNvGrpSpPr>
          <p:nvPr/>
        </p:nvGrpSpPr>
        <p:grpSpPr bwMode="auto">
          <a:xfrm>
            <a:off x="543209" y="3584123"/>
            <a:ext cx="4030663" cy="628651"/>
            <a:chOff x="961" y="2625"/>
            <a:chExt cx="2539" cy="528"/>
          </a:xfrm>
        </p:grpSpPr>
        <p:sp>
          <p:nvSpPr>
            <p:cNvPr id="59" name="Oval 4"/>
            <p:cNvSpPr>
              <a:spLocks noChangeArrowheads="1"/>
            </p:cNvSpPr>
            <p:nvPr/>
          </p:nvSpPr>
          <p:spPr bwMode="auto">
            <a:xfrm>
              <a:off x="3212" y="2769"/>
              <a:ext cx="288" cy="384"/>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60" name="Oval 36"/>
            <p:cNvSpPr>
              <a:spLocks noChangeArrowheads="1"/>
            </p:cNvSpPr>
            <p:nvPr/>
          </p:nvSpPr>
          <p:spPr bwMode="auto">
            <a:xfrm>
              <a:off x="1771" y="2817"/>
              <a:ext cx="240"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a:t>
              </a:r>
              <a:endParaRPr kumimoji="1" lang="zh-CN" altLang="zh-CN" sz="2400" dirty="0">
                <a:latin typeface="Verdana" pitchFamily="34" charset="0"/>
              </a:endParaRPr>
            </a:p>
          </p:txBody>
        </p:sp>
        <p:sp>
          <p:nvSpPr>
            <p:cNvPr id="62" name="Oval 38"/>
            <p:cNvSpPr>
              <a:spLocks noChangeArrowheads="1"/>
            </p:cNvSpPr>
            <p:nvPr/>
          </p:nvSpPr>
          <p:spPr bwMode="auto">
            <a:xfrm>
              <a:off x="3260" y="2817"/>
              <a:ext cx="206"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y</a:t>
              </a:r>
            </a:p>
          </p:txBody>
        </p:sp>
        <p:sp>
          <p:nvSpPr>
            <p:cNvPr id="64" name="Line 40"/>
            <p:cNvSpPr>
              <a:spLocks noChangeShapeType="1"/>
            </p:cNvSpPr>
            <p:nvPr/>
          </p:nvSpPr>
          <p:spPr bwMode="auto">
            <a:xfrm>
              <a:off x="2038" y="2953"/>
              <a:ext cx="1174" cy="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5" name="Text Box 41"/>
            <p:cNvSpPr txBox="1">
              <a:spLocks noChangeArrowheads="1"/>
            </p:cNvSpPr>
            <p:nvPr/>
          </p:nvSpPr>
          <p:spPr bwMode="auto">
            <a:xfrm>
              <a:off x="2038" y="2625"/>
              <a:ext cx="1379"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50000"/>
                </a:spcBef>
                <a:buNone/>
              </a:pPr>
              <a:r>
                <a:rPr kumimoji="1" lang="en-US" altLang="zh-CN" sz="2200" dirty="0">
                  <a:latin typeface="Verdana" pitchFamily="34" charset="0"/>
                </a:rPr>
                <a:t>(</a:t>
              </a:r>
              <a:r>
                <a:rPr kumimoji="1" lang="en-US" altLang="zh-CN" sz="2200" dirty="0" err="1">
                  <a:latin typeface="Verdana" pitchFamily="34" charset="0"/>
                </a:rPr>
                <a:t>a|b</a:t>
              </a:r>
              <a:r>
                <a:rPr kumimoji="1" lang="en-US" altLang="zh-CN" sz="2200" dirty="0">
                  <a:latin typeface="Verdana" pitchFamily="34" charset="0"/>
                </a:rPr>
                <a:t>)(</a:t>
              </a:r>
              <a:r>
                <a:rPr kumimoji="1" lang="en-US" altLang="zh-CN" sz="2200" dirty="0" err="1">
                  <a:latin typeface="Verdana" pitchFamily="34" charset="0"/>
                </a:rPr>
                <a:t>a|b</a:t>
              </a:r>
              <a:r>
                <a:rPr kumimoji="1" lang="en-US" altLang="zh-CN" sz="2200" dirty="0">
                  <a:latin typeface="Verdana" pitchFamily="34" charset="0"/>
                </a:rPr>
                <a:t>)*</a:t>
              </a:r>
            </a:p>
          </p:txBody>
        </p:sp>
        <p:sp>
          <p:nvSpPr>
            <p:cNvPr id="66" name="Line 45"/>
            <p:cNvSpPr>
              <a:spLocks noChangeShapeType="1"/>
            </p:cNvSpPr>
            <p:nvPr/>
          </p:nvSpPr>
          <p:spPr bwMode="auto">
            <a:xfrm>
              <a:off x="1243" y="2961"/>
              <a:ext cx="52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 name="Text Box 46"/>
            <p:cNvSpPr txBox="1">
              <a:spLocks noChangeArrowheads="1"/>
            </p:cNvSpPr>
            <p:nvPr/>
          </p:nvSpPr>
          <p:spPr bwMode="auto">
            <a:xfrm>
              <a:off x="1471" y="2631"/>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Verdana" pitchFamily="34" charset="0"/>
                  <a:sym typeface="Symbol" pitchFamily="18" charset="2"/>
                </a:rPr>
                <a:t></a:t>
              </a:r>
              <a:endParaRPr kumimoji="1" lang="en-US" altLang="zh-CN" sz="2400" dirty="0">
                <a:latin typeface="Verdana" pitchFamily="34" charset="0"/>
              </a:endParaRPr>
            </a:p>
          </p:txBody>
        </p:sp>
        <p:sp>
          <p:nvSpPr>
            <p:cNvPr id="71" name="Oval 64"/>
            <p:cNvSpPr>
              <a:spLocks noChangeArrowheads="1"/>
            </p:cNvSpPr>
            <p:nvPr/>
          </p:nvSpPr>
          <p:spPr bwMode="auto">
            <a:xfrm>
              <a:off x="1153" y="2832"/>
              <a:ext cx="247" cy="291"/>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x</a:t>
              </a:r>
            </a:p>
          </p:txBody>
        </p:sp>
        <p:sp>
          <p:nvSpPr>
            <p:cNvPr id="72" name="AutoShape 67"/>
            <p:cNvSpPr>
              <a:spLocks noChangeArrowheads="1"/>
            </p:cNvSpPr>
            <p:nvPr/>
          </p:nvSpPr>
          <p:spPr bwMode="auto">
            <a:xfrm>
              <a:off x="961" y="2881"/>
              <a:ext cx="192" cy="144"/>
            </a:xfrm>
            <a:prstGeom prst="rightArrow">
              <a:avLst>
                <a:gd name="adj1" fmla="val 50000"/>
                <a:gd name="adj2" fmla="val 3333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spTree>
    <p:extLst>
      <p:ext uri="{BB962C8B-B14F-4D97-AF65-F5344CB8AC3E}">
        <p14:creationId xmlns:p14="http://schemas.microsoft.com/office/powerpoint/2010/main" val="2939837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12"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downLeft)">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12"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strips(downLeft)">
                                      <p:cBhvr>
                                        <p:cTn id="16" dur="5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strips(downLeft)">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9690"/>
                                        </p:tgtEl>
                                        <p:attrNameLst>
                                          <p:attrName>style.visibility</p:attrName>
                                        </p:attrNameLst>
                                      </p:cBhvr>
                                      <p:to>
                                        <p:strVal val="visible"/>
                                      </p:to>
                                    </p:set>
                                    <p:anim calcmode="lin" valueType="num">
                                      <p:cBhvr additive="base">
                                        <p:cTn id="26" dur="500" fill="hold"/>
                                        <p:tgtEl>
                                          <p:spTgt spid="69690"/>
                                        </p:tgtEl>
                                        <p:attrNameLst>
                                          <p:attrName>ppt_x</p:attrName>
                                        </p:attrNameLst>
                                      </p:cBhvr>
                                      <p:tavLst>
                                        <p:tav tm="0">
                                          <p:val>
                                            <p:strVal val="#ppt_x"/>
                                          </p:val>
                                        </p:tav>
                                        <p:tav tm="100000">
                                          <p:val>
                                            <p:strVal val="#ppt_x"/>
                                          </p:val>
                                        </p:tav>
                                      </p:tavLst>
                                    </p:anim>
                                    <p:anim calcmode="lin" valueType="num">
                                      <p:cBhvr additive="base">
                                        <p:cTn id="27" dur="500" fill="hold"/>
                                        <p:tgtEl>
                                          <p:spTgt spid="696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90"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457200" y="0"/>
            <a:ext cx="8229600" cy="457200"/>
          </a:xfrm>
        </p:spPr>
        <p:txBody>
          <a:bodyPr>
            <a:normAutofit fontScale="90000"/>
          </a:bodyPr>
          <a:lstStyle/>
          <a:p>
            <a:pPr eaLnBrk="1" hangingPunct="1"/>
            <a:r>
              <a:rPr lang="zh-CN" altLang="en-US" sz="4000" b="1">
                <a:ea typeface="楷体_GB2312" pitchFamily="49" charset="-122"/>
              </a:rPr>
              <a:t>练 习</a:t>
            </a:r>
          </a:p>
        </p:txBody>
      </p:sp>
      <p:sp>
        <p:nvSpPr>
          <p:cNvPr id="84995" name="Rectangle 3"/>
          <p:cNvSpPr>
            <a:spLocks noGrp="1" noChangeArrowheads="1"/>
          </p:cNvSpPr>
          <p:nvPr>
            <p:ph type="body" idx="1"/>
          </p:nvPr>
        </p:nvSpPr>
        <p:spPr>
          <a:xfrm>
            <a:off x="762000" y="571500"/>
            <a:ext cx="6477000" cy="457200"/>
          </a:xfrm>
        </p:spPr>
        <p:txBody>
          <a:bodyPr>
            <a:normAutofit fontScale="92500" lnSpcReduction="10000"/>
          </a:bodyPr>
          <a:lstStyle/>
          <a:p>
            <a:pPr eaLnBrk="1" hangingPunct="1">
              <a:buFontTx/>
              <a:buNone/>
            </a:pPr>
            <a:r>
              <a:rPr lang="zh-CN" altLang="en-US" sz="2800" b="1">
                <a:solidFill>
                  <a:srgbClr val="0000CC"/>
                </a:solidFill>
              </a:rPr>
              <a:t>求下述有穷自动机对应的正则表达式</a:t>
            </a:r>
          </a:p>
        </p:txBody>
      </p:sp>
      <p:sp>
        <p:nvSpPr>
          <p:cNvPr id="123919" name="Text Box 15"/>
          <p:cNvSpPr txBox="1">
            <a:spLocks noChangeArrowheads="1"/>
          </p:cNvSpPr>
          <p:nvPr/>
        </p:nvSpPr>
        <p:spPr bwMode="auto">
          <a:xfrm>
            <a:off x="5943600" y="4743450"/>
            <a:ext cx="312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400" b="1">
                <a:solidFill>
                  <a:srgbClr val="0000CC"/>
                </a:solidFill>
                <a:latin typeface="Verdana" pitchFamily="34" charset="0"/>
              </a:rPr>
              <a:t>L(R) =(a|b)</a:t>
            </a:r>
            <a:r>
              <a:rPr kumimoji="1" lang="en-US" altLang="zh-CN" sz="2400" b="1" baseline="30000">
                <a:solidFill>
                  <a:srgbClr val="0000CC"/>
                </a:solidFill>
                <a:latin typeface="Verdana" pitchFamily="34" charset="0"/>
              </a:rPr>
              <a:t>*</a:t>
            </a:r>
            <a:r>
              <a:rPr kumimoji="1" lang="en-US" altLang="zh-CN" sz="2400" b="1">
                <a:solidFill>
                  <a:srgbClr val="0000CC"/>
                </a:solidFill>
                <a:latin typeface="Verdana" pitchFamily="34" charset="0"/>
              </a:rPr>
              <a:t>abb</a:t>
            </a:r>
          </a:p>
        </p:txBody>
      </p:sp>
      <p:grpSp>
        <p:nvGrpSpPr>
          <p:cNvPr id="84997" name="Group 16"/>
          <p:cNvGrpSpPr>
            <a:grpSpLocks/>
          </p:cNvGrpSpPr>
          <p:nvPr/>
        </p:nvGrpSpPr>
        <p:grpSpPr bwMode="auto">
          <a:xfrm>
            <a:off x="1371601" y="971552"/>
            <a:ext cx="5986463" cy="1033463"/>
            <a:chOff x="816" y="3408"/>
            <a:chExt cx="3771" cy="868"/>
          </a:xfrm>
        </p:grpSpPr>
        <p:sp>
          <p:nvSpPr>
            <p:cNvPr id="85039" name="Oval 17"/>
            <p:cNvSpPr>
              <a:spLocks noChangeArrowheads="1"/>
            </p:cNvSpPr>
            <p:nvPr/>
          </p:nvSpPr>
          <p:spPr bwMode="auto">
            <a:xfrm>
              <a:off x="1152" y="3756"/>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40" name="Text Box 18"/>
            <p:cNvSpPr txBox="1">
              <a:spLocks noChangeArrowheads="1"/>
            </p:cNvSpPr>
            <p:nvPr/>
          </p:nvSpPr>
          <p:spPr bwMode="auto">
            <a:xfrm>
              <a:off x="816" y="3696"/>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t>
              </a:r>
            </a:p>
          </p:txBody>
        </p:sp>
        <p:grpSp>
          <p:nvGrpSpPr>
            <p:cNvPr id="85041" name="Group 19"/>
            <p:cNvGrpSpPr>
              <a:grpSpLocks/>
            </p:cNvGrpSpPr>
            <p:nvPr/>
          </p:nvGrpSpPr>
          <p:grpSpPr bwMode="auto">
            <a:xfrm>
              <a:off x="4320" y="3648"/>
              <a:ext cx="267" cy="288"/>
              <a:chOff x="3732" y="3516"/>
              <a:chExt cx="267" cy="288"/>
            </a:xfrm>
          </p:grpSpPr>
          <p:sp>
            <p:nvSpPr>
              <p:cNvPr id="85054" name="Oval 20"/>
              <p:cNvSpPr>
                <a:spLocks noChangeArrowheads="1"/>
              </p:cNvSpPr>
              <p:nvPr/>
            </p:nvSpPr>
            <p:spPr bwMode="auto">
              <a:xfrm>
                <a:off x="3732" y="3516"/>
                <a:ext cx="267"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55" name="Oval 21"/>
              <p:cNvSpPr>
                <a:spLocks noChangeArrowheads="1"/>
              </p:cNvSpPr>
              <p:nvPr/>
            </p:nvSpPr>
            <p:spPr bwMode="auto">
              <a:xfrm>
                <a:off x="3762" y="3564"/>
                <a:ext cx="178"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grpSp>
        <p:sp>
          <p:nvSpPr>
            <p:cNvPr id="85042" name="Freeform 22"/>
            <p:cNvSpPr>
              <a:spLocks/>
            </p:cNvSpPr>
            <p:nvPr/>
          </p:nvSpPr>
          <p:spPr bwMode="auto">
            <a:xfrm>
              <a:off x="1104" y="3924"/>
              <a:ext cx="288" cy="240"/>
            </a:xfrm>
            <a:custGeom>
              <a:avLst/>
              <a:gdLst>
                <a:gd name="T0" fmla="*/ 8 w 402"/>
                <a:gd name="T1" fmla="*/ 0 h 324"/>
                <a:gd name="T2" fmla="*/ 2 w 402"/>
                <a:gd name="T3" fmla="*/ 7 h 324"/>
                <a:gd name="T4" fmla="*/ 1 w 402"/>
                <a:gd name="T5" fmla="*/ 22 h 324"/>
                <a:gd name="T6" fmla="*/ 2 w 402"/>
                <a:gd name="T7" fmla="*/ 24 h 324"/>
                <a:gd name="T8" fmla="*/ 10 w 402"/>
                <a:gd name="T9" fmla="*/ 30 h 324"/>
                <a:gd name="T10" fmla="*/ 18 w 402"/>
                <a:gd name="T11" fmla="*/ 29 h 324"/>
                <a:gd name="T12" fmla="*/ 23 w 402"/>
                <a:gd name="T13" fmla="*/ 26 h 324"/>
                <a:gd name="T14" fmla="*/ 27 w 402"/>
                <a:gd name="T15" fmla="*/ 16 h 324"/>
                <a:gd name="T16" fmla="*/ 21 w 402"/>
                <a:gd name="T17" fmla="*/ 0 h 3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324"/>
                <a:gd name="T29" fmla="*/ 402 w 402"/>
                <a:gd name="T30" fmla="*/ 324 h 3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324">
                  <a:moveTo>
                    <a:pt x="116" y="0"/>
                  </a:moveTo>
                  <a:cubicBezTo>
                    <a:pt x="97" y="58"/>
                    <a:pt x="83" y="38"/>
                    <a:pt x="32" y="72"/>
                  </a:cubicBezTo>
                  <a:cubicBezTo>
                    <a:pt x="1" y="164"/>
                    <a:pt x="0" y="132"/>
                    <a:pt x="20" y="240"/>
                  </a:cubicBezTo>
                  <a:cubicBezTo>
                    <a:pt x="22" y="252"/>
                    <a:pt x="22" y="269"/>
                    <a:pt x="32" y="276"/>
                  </a:cubicBezTo>
                  <a:cubicBezTo>
                    <a:pt x="64" y="299"/>
                    <a:pt x="107" y="302"/>
                    <a:pt x="140" y="324"/>
                  </a:cubicBezTo>
                  <a:cubicBezTo>
                    <a:pt x="180" y="320"/>
                    <a:pt x="220" y="319"/>
                    <a:pt x="260" y="312"/>
                  </a:cubicBezTo>
                  <a:cubicBezTo>
                    <a:pt x="285" y="307"/>
                    <a:pt x="332" y="288"/>
                    <a:pt x="332" y="288"/>
                  </a:cubicBezTo>
                  <a:cubicBezTo>
                    <a:pt x="387" y="205"/>
                    <a:pt x="371" y="243"/>
                    <a:pt x="392" y="180"/>
                  </a:cubicBezTo>
                  <a:cubicBezTo>
                    <a:pt x="384" y="92"/>
                    <a:pt x="402" y="0"/>
                    <a:pt x="296" y="0"/>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5043" name="Text Box 23"/>
            <p:cNvSpPr txBox="1">
              <a:spLocks noChangeArrowheads="1"/>
            </p:cNvSpPr>
            <p:nvPr/>
          </p:nvSpPr>
          <p:spPr bwMode="auto">
            <a:xfrm>
              <a:off x="1344" y="3888"/>
              <a:ext cx="48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a:t>
              </a:r>
            </a:p>
          </p:txBody>
        </p:sp>
        <p:sp>
          <p:nvSpPr>
            <p:cNvPr id="85044" name="Text Box 24"/>
            <p:cNvSpPr txBox="1">
              <a:spLocks noChangeArrowheads="1"/>
            </p:cNvSpPr>
            <p:nvPr/>
          </p:nvSpPr>
          <p:spPr bwMode="auto">
            <a:xfrm>
              <a:off x="1056" y="3408"/>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b</a:t>
              </a:r>
            </a:p>
          </p:txBody>
        </p:sp>
        <p:sp>
          <p:nvSpPr>
            <p:cNvPr id="85045" name="Freeform 25"/>
            <p:cNvSpPr>
              <a:spLocks/>
            </p:cNvSpPr>
            <p:nvPr/>
          </p:nvSpPr>
          <p:spPr bwMode="auto">
            <a:xfrm>
              <a:off x="1167" y="3612"/>
              <a:ext cx="225" cy="168"/>
            </a:xfrm>
            <a:custGeom>
              <a:avLst/>
              <a:gdLst>
                <a:gd name="T0" fmla="*/ 9 w 225"/>
                <a:gd name="T1" fmla="*/ 156 h 168"/>
                <a:gd name="T2" fmla="*/ 93 w 225"/>
                <a:gd name="T3" fmla="*/ 0 h 168"/>
                <a:gd name="T4" fmla="*/ 225 w 225"/>
                <a:gd name="T5" fmla="*/ 84 h 168"/>
                <a:gd name="T6" fmla="*/ 165 w 225"/>
                <a:gd name="T7" fmla="*/ 168 h 168"/>
                <a:gd name="T8" fmla="*/ 0 60000 65536"/>
                <a:gd name="T9" fmla="*/ 0 60000 65536"/>
                <a:gd name="T10" fmla="*/ 0 60000 65536"/>
                <a:gd name="T11" fmla="*/ 0 60000 65536"/>
                <a:gd name="T12" fmla="*/ 0 w 225"/>
                <a:gd name="T13" fmla="*/ 0 h 168"/>
                <a:gd name="T14" fmla="*/ 225 w 225"/>
                <a:gd name="T15" fmla="*/ 168 h 168"/>
              </a:gdLst>
              <a:ahLst/>
              <a:cxnLst>
                <a:cxn ang="T8">
                  <a:pos x="T0" y="T1"/>
                </a:cxn>
                <a:cxn ang="T9">
                  <a:pos x="T2" y="T3"/>
                </a:cxn>
                <a:cxn ang="T10">
                  <a:pos x="T4" y="T5"/>
                </a:cxn>
                <a:cxn ang="T11">
                  <a:pos x="T6" y="T7"/>
                </a:cxn>
              </a:cxnLst>
              <a:rect l="T12" t="T13" r="T14" b="T15"/>
              <a:pathLst>
                <a:path w="225" h="168">
                  <a:moveTo>
                    <a:pt x="9" y="156"/>
                  </a:moveTo>
                  <a:cubicBezTo>
                    <a:pt x="21" y="40"/>
                    <a:pt x="0" y="31"/>
                    <a:pt x="93" y="0"/>
                  </a:cubicBezTo>
                  <a:cubicBezTo>
                    <a:pt x="172" y="11"/>
                    <a:pt x="200" y="8"/>
                    <a:pt x="225" y="84"/>
                  </a:cubicBezTo>
                  <a:cubicBezTo>
                    <a:pt x="212" y="123"/>
                    <a:pt x="203" y="149"/>
                    <a:pt x="165" y="168"/>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5046" name="Oval 26"/>
            <p:cNvSpPr>
              <a:spLocks noChangeArrowheads="1"/>
            </p:cNvSpPr>
            <p:nvPr/>
          </p:nvSpPr>
          <p:spPr bwMode="auto">
            <a:xfrm>
              <a:off x="2544" y="3744"/>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47" name="Oval 27"/>
            <p:cNvSpPr>
              <a:spLocks noChangeArrowheads="1"/>
            </p:cNvSpPr>
            <p:nvPr/>
          </p:nvSpPr>
          <p:spPr bwMode="auto">
            <a:xfrm>
              <a:off x="3408" y="3696"/>
              <a:ext cx="192"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48" name="Line 28"/>
            <p:cNvSpPr>
              <a:spLocks noChangeShapeType="1"/>
            </p:cNvSpPr>
            <p:nvPr/>
          </p:nvSpPr>
          <p:spPr bwMode="auto">
            <a:xfrm>
              <a:off x="1344" y="3840"/>
              <a:ext cx="1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49" name="Line 29"/>
            <p:cNvSpPr>
              <a:spLocks noChangeShapeType="1"/>
            </p:cNvSpPr>
            <p:nvPr/>
          </p:nvSpPr>
          <p:spPr bwMode="auto">
            <a:xfrm>
              <a:off x="2736" y="3840"/>
              <a:ext cx="67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50" name="Line 30"/>
            <p:cNvSpPr>
              <a:spLocks noChangeShapeType="1"/>
            </p:cNvSpPr>
            <p:nvPr/>
          </p:nvSpPr>
          <p:spPr bwMode="auto">
            <a:xfrm>
              <a:off x="3600" y="3828"/>
              <a:ext cx="72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51" name="Text Box 31"/>
            <p:cNvSpPr txBox="1">
              <a:spLocks noChangeArrowheads="1"/>
            </p:cNvSpPr>
            <p:nvPr/>
          </p:nvSpPr>
          <p:spPr bwMode="auto">
            <a:xfrm>
              <a:off x="1824" y="3552"/>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a:t>
              </a:r>
              <a:endParaRPr kumimoji="1" lang="en-US" altLang="zh-CN" sz="2400">
                <a:latin typeface="Verdana" pitchFamily="34" charset="0"/>
              </a:endParaRPr>
            </a:p>
          </p:txBody>
        </p:sp>
        <p:sp>
          <p:nvSpPr>
            <p:cNvPr id="85052" name="Text Box 32"/>
            <p:cNvSpPr txBox="1">
              <a:spLocks noChangeArrowheads="1"/>
            </p:cNvSpPr>
            <p:nvPr/>
          </p:nvSpPr>
          <p:spPr bwMode="auto">
            <a:xfrm>
              <a:off x="2928" y="3552"/>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b</a:t>
              </a:r>
              <a:endParaRPr kumimoji="1" lang="en-US" altLang="zh-CN" sz="2400">
                <a:latin typeface="Verdana" pitchFamily="34" charset="0"/>
              </a:endParaRPr>
            </a:p>
          </p:txBody>
        </p:sp>
        <p:sp>
          <p:nvSpPr>
            <p:cNvPr id="85053" name="Text Box 33"/>
            <p:cNvSpPr txBox="1">
              <a:spLocks noChangeArrowheads="1"/>
            </p:cNvSpPr>
            <p:nvPr/>
          </p:nvSpPr>
          <p:spPr bwMode="auto">
            <a:xfrm>
              <a:off x="3792" y="3552"/>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b</a:t>
              </a:r>
              <a:endParaRPr kumimoji="1" lang="en-US" altLang="zh-CN" sz="2400">
                <a:latin typeface="Verdana" pitchFamily="34" charset="0"/>
              </a:endParaRPr>
            </a:p>
          </p:txBody>
        </p:sp>
      </p:grpSp>
      <p:grpSp>
        <p:nvGrpSpPr>
          <p:cNvPr id="4" name="Group 34"/>
          <p:cNvGrpSpPr>
            <a:grpSpLocks/>
          </p:cNvGrpSpPr>
          <p:nvPr/>
        </p:nvGrpSpPr>
        <p:grpSpPr bwMode="auto">
          <a:xfrm>
            <a:off x="1181100" y="3543300"/>
            <a:ext cx="4610100" cy="619125"/>
            <a:chOff x="756" y="720"/>
            <a:chExt cx="2904" cy="520"/>
          </a:xfrm>
        </p:grpSpPr>
        <p:sp>
          <p:nvSpPr>
            <p:cNvPr id="85030" name="Oval 35"/>
            <p:cNvSpPr>
              <a:spLocks noChangeArrowheads="1"/>
            </p:cNvSpPr>
            <p:nvPr/>
          </p:nvSpPr>
          <p:spPr bwMode="auto">
            <a:xfrm>
              <a:off x="1008" y="912"/>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x</a:t>
              </a:r>
            </a:p>
          </p:txBody>
        </p:sp>
        <p:sp>
          <p:nvSpPr>
            <p:cNvPr id="85031" name="Oval 36"/>
            <p:cNvSpPr>
              <a:spLocks noChangeArrowheads="1"/>
            </p:cNvSpPr>
            <p:nvPr/>
          </p:nvSpPr>
          <p:spPr bwMode="auto">
            <a:xfrm>
              <a:off x="2160" y="912"/>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32" name="Oval 37"/>
            <p:cNvSpPr>
              <a:spLocks noChangeArrowheads="1"/>
            </p:cNvSpPr>
            <p:nvPr/>
          </p:nvSpPr>
          <p:spPr bwMode="auto">
            <a:xfrm>
              <a:off x="3372" y="864"/>
              <a:ext cx="288"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33" name="Oval 38"/>
            <p:cNvSpPr>
              <a:spLocks noChangeArrowheads="1"/>
            </p:cNvSpPr>
            <p:nvPr/>
          </p:nvSpPr>
          <p:spPr bwMode="auto">
            <a:xfrm>
              <a:off x="3408" y="912"/>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sp>
          <p:nvSpPr>
            <p:cNvPr id="85034" name="Line 39"/>
            <p:cNvSpPr>
              <a:spLocks noChangeShapeType="1"/>
            </p:cNvSpPr>
            <p:nvPr/>
          </p:nvSpPr>
          <p:spPr bwMode="auto">
            <a:xfrm>
              <a:off x="1200" y="1008"/>
              <a:ext cx="96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35" name="Line 40"/>
            <p:cNvSpPr>
              <a:spLocks noChangeShapeType="1"/>
            </p:cNvSpPr>
            <p:nvPr/>
          </p:nvSpPr>
          <p:spPr bwMode="auto">
            <a:xfrm>
              <a:off x="2352" y="1008"/>
              <a:ext cx="100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36" name="Text Box 41"/>
            <p:cNvSpPr txBox="1">
              <a:spLocks noChangeArrowheads="1"/>
            </p:cNvSpPr>
            <p:nvPr/>
          </p:nvSpPr>
          <p:spPr bwMode="auto">
            <a:xfrm>
              <a:off x="756" y="852"/>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t>
              </a:r>
            </a:p>
          </p:txBody>
        </p:sp>
        <p:sp>
          <p:nvSpPr>
            <p:cNvPr id="85037" name="Text Box 42"/>
            <p:cNvSpPr txBox="1">
              <a:spLocks noChangeArrowheads="1"/>
            </p:cNvSpPr>
            <p:nvPr/>
          </p:nvSpPr>
          <p:spPr bwMode="auto">
            <a:xfrm>
              <a:off x="1284" y="720"/>
              <a:ext cx="81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(a|b)</a:t>
              </a:r>
              <a:r>
                <a:rPr kumimoji="1" lang="en-US" altLang="zh-CN" sz="2400" baseline="30000">
                  <a:latin typeface="Verdana" pitchFamily="34" charset="0"/>
                </a:rPr>
                <a:t>*</a:t>
              </a:r>
              <a:r>
                <a:rPr kumimoji="1" lang="en-US" altLang="zh-CN" sz="2400">
                  <a:latin typeface="Verdana" pitchFamily="34" charset="0"/>
                </a:rPr>
                <a:t>a</a:t>
              </a:r>
            </a:p>
          </p:txBody>
        </p:sp>
        <p:sp>
          <p:nvSpPr>
            <p:cNvPr id="85038" name="Text Box 43"/>
            <p:cNvSpPr txBox="1">
              <a:spLocks noChangeArrowheads="1"/>
            </p:cNvSpPr>
            <p:nvPr/>
          </p:nvSpPr>
          <p:spPr bwMode="auto">
            <a:xfrm>
              <a:off x="2496" y="720"/>
              <a:ext cx="81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bb</a:t>
              </a:r>
              <a:endParaRPr kumimoji="1" lang="en-US" altLang="zh-CN" sz="2400" baseline="30000">
                <a:latin typeface="Verdana" pitchFamily="34" charset="0"/>
              </a:endParaRPr>
            </a:p>
          </p:txBody>
        </p:sp>
      </p:grpSp>
      <p:grpSp>
        <p:nvGrpSpPr>
          <p:cNvPr id="5" name="Group 120"/>
          <p:cNvGrpSpPr>
            <a:grpSpLocks/>
          </p:cNvGrpSpPr>
          <p:nvPr/>
        </p:nvGrpSpPr>
        <p:grpSpPr bwMode="auto">
          <a:xfrm>
            <a:off x="1143001" y="2028826"/>
            <a:ext cx="6215063" cy="1347788"/>
            <a:chOff x="720" y="1584"/>
            <a:chExt cx="3915" cy="1132"/>
          </a:xfrm>
        </p:grpSpPr>
        <p:sp>
          <p:nvSpPr>
            <p:cNvPr id="85007" name="Text Box 93"/>
            <p:cNvSpPr txBox="1">
              <a:spLocks noChangeArrowheads="1"/>
            </p:cNvSpPr>
            <p:nvPr/>
          </p:nvSpPr>
          <p:spPr bwMode="auto">
            <a:xfrm>
              <a:off x="1776" y="1584"/>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b</a:t>
              </a:r>
            </a:p>
          </p:txBody>
        </p:sp>
        <p:sp>
          <p:nvSpPr>
            <p:cNvPr id="85008" name="Oval 81"/>
            <p:cNvSpPr>
              <a:spLocks noChangeArrowheads="1"/>
            </p:cNvSpPr>
            <p:nvPr/>
          </p:nvSpPr>
          <p:spPr bwMode="auto">
            <a:xfrm>
              <a:off x="972" y="1980"/>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x</a:t>
              </a:r>
            </a:p>
          </p:txBody>
        </p:sp>
        <p:sp>
          <p:nvSpPr>
            <p:cNvPr id="85009" name="Oval 82"/>
            <p:cNvSpPr>
              <a:spLocks noChangeArrowheads="1"/>
            </p:cNvSpPr>
            <p:nvPr/>
          </p:nvSpPr>
          <p:spPr bwMode="auto">
            <a:xfrm>
              <a:off x="1776" y="1980"/>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10" name="Line 83"/>
            <p:cNvSpPr>
              <a:spLocks noChangeShapeType="1"/>
            </p:cNvSpPr>
            <p:nvPr/>
          </p:nvSpPr>
          <p:spPr bwMode="auto">
            <a:xfrm>
              <a:off x="1164" y="2076"/>
              <a:ext cx="61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11" name="Text Box 84"/>
            <p:cNvSpPr txBox="1">
              <a:spLocks noChangeArrowheads="1"/>
            </p:cNvSpPr>
            <p:nvPr/>
          </p:nvSpPr>
          <p:spPr bwMode="auto">
            <a:xfrm>
              <a:off x="720" y="1920"/>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t>
              </a:r>
            </a:p>
          </p:txBody>
        </p:sp>
        <p:grpSp>
          <p:nvGrpSpPr>
            <p:cNvPr id="85012" name="Group 85"/>
            <p:cNvGrpSpPr>
              <a:grpSpLocks/>
            </p:cNvGrpSpPr>
            <p:nvPr/>
          </p:nvGrpSpPr>
          <p:grpSpPr bwMode="auto">
            <a:xfrm>
              <a:off x="4368" y="1920"/>
              <a:ext cx="267" cy="288"/>
              <a:chOff x="3732" y="3516"/>
              <a:chExt cx="267" cy="288"/>
            </a:xfrm>
          </p:grpSpPr>
          <p:sp>
            <p:nvSpPr>
              <p:cNvPr id="85028" name="Oval 86"/>
              <p:cNvSpPr>
                <a:spLocks noChangeArrowheads="1"/>
              </p:cNvSpPr>
              <p:nvPr/>
            </p:nvSpPr>
            <p:spPr bwMode="auto">
              <a:xfrm>
                <a:off x="3732" y="3516"/>
                <a:ext cx="267"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29" name="Oval 87"/>
              <p:cNvSpPr>
                <a:spLocks noChangeArrowheads="1"/>
              </p:cNvSpPr>
              <p:nvPr/>
            </p:nvSpPr>
            <p:spPr bwMode="auto">
              <a:xfrm>
                <a:off x="3762" y="3564"/>
                <a:ext cx="178"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grpSp>
        <p:sp>
          <p:nvSpPr>
            <p:cNvPr id="85013" name="Text Box 89"/>
            <p:cNvSpPr txBox="1">
              <a:spLocks noChangeArrowheads="1"/>
            </p:cNvSpPr>
            <p:nvPr/>
          </p:nvSpPr>
          <p:spPr bwMode="auto">
            <a:xfrm>
              <a:off x="1308" y="1812"/>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t>
              </a:r>
              <a:endParaRPr kumimoji="1" lang="en-US" altLang="zh-CN" sz="2400">
                <a:latin typeface="Verdana" pitchFamily="34" charset="0"/>
              </a:endParaRPr>
            </a:p>
          </p:txBody>
        </p:sp>
        <p:sp>
          <p:nvSpPr>
            <p:cNvPr id="85014" name="Freeform 91"/>
            <p:cNvSpPr>
              <a:spLocks/>
            </p:cNvSpPr>
            <p:nvPr/>
          </p:nvSpPr>
          <p:spPr bwMode="auto">
            <a:xfrm>
              <a:off x="1728" y="2148"/>
              <a:ext cx="288" cy="240"/>
            </a:xfrm>
            <a:custGeom>
              <a:avLst/>
              <a:gdLst>
                <a:gd name="T0" fmla="*/ 8 w 402"/>
                <a:gd name="T1" fmla="*/ 0 h 324"/>
                <a:gd name="T2" fmla="*/ 2 w 402"/>
                <a:gd name="T3" fmla="*/ 7 h 324"/>
                <a:gd name="T4" fmla="*/ 1 w 402"/>
                <a:gd name="T5" fmla="*/ 22 h 324"/>
                <a:gd name="T6" fmla="*/ 2 w 402"/>
                <a:gd name="T7" fmla="*/ 24 h 324"/>
                <a:gd name="T8" fmla="*/ 10 w 402"/>
                <a:gd name="T9" fmla="*/ 30 h 324"/>
                <a:gd name="T10" fmla="*/ 18 w 402"/>
                <a:gd name="T11" fmla="*/ 29 h 324"/>
                <a:gd name="T12" fmla="*/ 23 w 402"/>
                <a:gd name="T13" fmla="*/ 26 h 324"/>
                <a:gd name="T14" fmla="*/ 27 w 402"/>
                <a:gd name="T15" fmla="*/ 16 h 324"/>
                <a:gd name="T16" fmla="*/ 21 w 402"/>
                <a:gd name="T17" fmla="*/ 0 h 3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324"/>
                <a:gd name="T29" fmla="*/ 402 w 402"/>
                <a:gd name="T30" fmla="*/ 324 h 3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324">
                  <a:moveTo>
                    <a:pt x="116" y="0"/>
                  </a:moveTo>
                  <a:cubicBezTo>
                    <a:pt x="97" y="58"/>
                    <a:pt x="83" y="38"/>
                    <a:pt x="32" y="72"/>
                  </a:cubicBezTo>
                  <a:cubicBezTo>
                    <a:pt x="1" y="164"/>
                    <a:pt x="0" y="132"/>
                    <a:pt x="20" y="240"/>
                  </a:cubicBezTo>
                  <a:cubicBezTo>
                    <a:pt x="22" y="252"/>
                    <a:pt x="22" y="269"/>
                    <a:pt x="32" y="276"/>
                  </a:cubicBezTo>
                  <a:cubicBezTo>
                    <a:pt x="64" y="299"/>
                    <a:pt x="107" y="302"/>
                    <a:pt x="140" y="324"/>
                  </a:cubicBezTo>
                  <a:cubicBezTo>
                    <a:pt x="180" y="320"/>
                    <a:pt x="220" y="319"/>
                    <a:pt x="260" y="312"/>
                  </a:cubicBezTo>
                  <a:cubicBezTo>
                    <a:pt x="285" y="307"/>
                    <a:pt x="332" y="288"/>
                    <a:pt x="332" y="288"/>
                  </a:cubicBezTo>
                  <a:cubicBezTo>
                    <a:pt x="387" y="205"/>
                    <a:pt x="371" y="243"/>
                    <a:pt x="392" y="180"/>
                  </a:cubicBezTo>
                  <a:cubicBezTo>
                    <a:pt x="384" y="92"/>
                    <a:pt x="402" y="0"/>
                    <a:pt x="296" y="0"/>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5015" name="Text Box 92"/>
            <p:cNvSpPr txBox="1">
              <a:spLocks noChangeArrowheads="1"/>
            </p:cNvSpPr>
            <p:nvPr/>
          </p:nvSpPr>
          <p:spPr bwMode="auto">
            <a:xfrm>
              <a:off x="1680" y="2328"/>
              <a:ext cx="48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a:t>
              </a:r>
            </a:p>
          </p:txBody>
        </p:sp>
        <p:sp>
          <p:nvSpPr>
            <p:cNvPr id="85016" name="Freeform 94"/>
            <p:cNvSpPr>
              <a:spLocks/>
            </p:cNvSpPr>
            <p:nvPr/>
          </p:nvSpPr>
          <p:spPr bwMode="auto">
            <a:xfrm>
              <a:off x="1791" y="1836"/>
              <a:ext cx="225" cy="168"/>
            </a:xfrm>
            <a:custGeom>
              <a:avLst/>
              <a:gdLst>
                <a:gd name="T0" fmla="*/ 9 w 225"/>
                <a:gd name="T1" fmla="*/ 156 h 168"/>
                <a:gd name="T2" fmla="*/ 93 w 225"/>
                <a:gd name="T3" fmla="*/ 0 h 168"/>
                <a:gd name="T4" fmla="*/ 225 w 225"/>
                <a:gd name="T5" fmla="*/ 84 h 168"/>
                <a:gd name="T6" fmla="*/ 165 w 225"/>
                <a:gd name="T7" fmla="*/ 168 h 168"/>
                <a:gd name="T8" fmla="*/ 0 60000 65536"/>
                <a:gd name="T9" fmla="*/ 0 60000 65536"/>
                <a:gd name="T10" fmla="*/ 0 60000 65536"/>
                <a:gd name="T11" fmla="*/ 0 60000 65536"/>
                <a:gd name="T12" fmla="*/ 0 w 225"/>
                <a:gd name="T13" fmla="*/ 0 h 168"/>
                <a:gd name="T14" fmla="*/ 225 w 225"/>
                <a:gd name="T15" fmla="*/ 168 h 168"/>
              </a:gdLst>
              <a:ahLst/>
              <a:cxnLst>
                <a:cxn ang="T8">
                  <a:pos x="T0" y="T1"/>
                </a:cxn>
                <a:cxn ang="T9">
                  <a:pos x="T2" y="T3"/>
                </a:cxn>
                <a:cxn ang="T10">
                  <a:pos x="T4" y="T5"/>
                </a:cxn>
                <a:cxn ang="T11">
                  <a:pos x="T6" y="T7"/>
                </a:cxn>
              </a:cxnLst>
              <a:rect l="T12" t="T13" r="T14" b="T15"/>
              <a:pathLst>
                <a:path w="225" h="168">
                  <a:moveTo>
                    <a:pt x="9" y="156"/>
                  </a:moveTo>
                  <a:cubicBezTo>
                    <a:pt x="21" y="40"/>
                    <a:pt x="0" y="31"/>
                    <a:pt x="93" y="0"/>
                  </a:cubicBezTo>
                  <a:cubicBezTo>
                    <a:pt x="172" y="11"/>
                    <a:pt x="200" y="8"/>
                    <a:pt x="225" y="84"/>
                  </a:cubicBezTo>
                  <a:cubicBezTo>
                    <a:pt x="212" y="123"/>
                    <a:pt x="203" y="149"/>
                    <a:pt x="165" y="168"/>
                  </a:cubicBezTo>
                </a:path>
              </a:pathLst>
            </a:custGeom>
            <a:noFill/>
            <a:ln w="28575"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5017" name="Oval 96"/>
            <p:cNvSpPr>
              <a:spLocks noChangeArrowheads="1"/>
            </p:cNvSpPr>
            <p:nvPr/>
          </p:nvSpPr>
          <p:spPr bwMode="auto">
            <a:xfrm>
              <a:off x="2544" y="1968"/>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18" name="Oval 97"/>
            <p:cNvSpPr>
              <a:spLocks noChangeArrowheads="1"/>
            </p:cNvSpPr>
            <p:nvPr/>
          </p:nvSpPr>
          <p:spPr bwMode="auto">
            <a:xfrm>
              <a:off x="3120" y="1968"/>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19" name="Line 98"/>
            <p:cNvSpPr>
              <a:spLocks noChangeShapeType="1"/>
            </p:cNvSpPr>
            <p:nvPr/>
          </p:nvSpPr>
          <p:spPr bwMode="auto">
            <a:xfrm>
              <a:off x="1968" y="2064"/>
              <a:ext cx="57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20" name="Line 99"/>
            <p:cNvSpPr>
              <a:spLocks noChangeShapeType="1"/>
            </p:cNvSpPr>
            <p:nvPr/>
          </p:nvSpPr>
          <p:spPr bwMode="auto">
            <a:xfrm>
              <a:off x="2736" y="2064"/>
              <a:ext cx="384"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21" name="Line 100"/>
            <p:cNvSpPr>
              <a:spLocks noChangeShapeType="1"/>
            </p:cNvSpPr>
            <p:nvPr/>
          </p:nvSpPr>
          <p:spPr bwMode="auto">
            <a:xfrm>
              <a:off x="3312" y="2064"/>
              <a:ext cx="4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22" name="Text Box 101"/>
            <p:cNvSpPr txBox="1">
              <a:spLocks noChangeArrowheads="1"/>
            </p:cNvSpPr>
            <p:nvPr/>
          </p:nvSpPr>
          <p:spPr bwMode="auto">
            <a:xfrm>
              <a:off x="2112" y="1824"/>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a:t>
              </a:r>
              <a:endParaRPr kumimoji="1" lang="en-US" altLang="zh-CN" sz="2400">
                <a:latin typeface="Verdana" pitchFamily="34" charset="0"/>
              </a:endParaRPr>
            </a:p>
          </p:txBody>
        </p:sp>
        <p:sp>
          <p:nvSpPr>
            <p:cNvPr id="85023" name="Text Box 102"/>
            <p:cNvSpPr txBox="1">
              <a:spLocks noChangeArrowheads="1"/>
            </p:cNvSpPr>
            <p:nvPr/>
          </p:nvSpPr>
          <p:spPr bwMode="auto">
            <a:xfrm>
              <a:off x="2784" y="1824"/>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b</a:t>
              </a:r>
              <a:endParaRPr kumimoji="1" lang="en-US" altLang="zh-CN" sz="2400">
                <a:latin typeface="Verdana" pitchFamily="34" charset="0"/>
              </a:endParaRPr>
            </a:p>
          </p:txBody>
        </p:sp>
        <p:sp>
          <p:nvSpPr>
            <p:cNvPr id="85024" name="Text Box 103"/>
            <p:cNvSpPr txBox="1">
              <a:spLocks noChangeArrowheads="1"/>
            </p:cNvSpPr>
            <p:nvPr/>
          </p:nvSpPr>
          <p:spPr bwMode="auto">
            <a:xfrm>
              <a:off x="3456" y="1824"/>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b</a:t>
              </a:r>
              <a:endParaRPr kumimoji="1" lang="en-US" altLang="zh-CN" sz="2400">
                <a:latin typeface="Verdana" pitchFamily="34" charset="0"/>
              </a:endParaRPr>
            </a:p>
          </p:txBody>
        </p:sp>
        <p:sp>
          <p:nvSpPr>
            <p:cNvPr id="85025" name="Oval 104"/>
            <p:cNvSpPr>
              <a:spLocks noChangeArrowheads="1"/>
            </p:cNvSpPr>
            <p:nvPr/>
          </p:nvSpPr>
          <p:spPr bwMode="auto">
            <a:xfrm>
              <a:off x="3744" y="1968"/>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26" name="Line 105"/>
            <p:cNvSpPr>
              <a:spLocks noChangeShapeType="1"/>
            </p:cNvSpPr>
            <p:nvPr/>
          </p:nvSpPr>
          <p:spPr bwMode="auto">
            <a:xfrm>
              <a:off x="3936" y="2064"/>
              <a:ext cx="4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27" name="Text Box 107"/>
            <p:cNvSpPr txBox="1">
              <a:spLocks noChangeArrowheads="1"/>
            </p:cNvSpPr>
            <p:nvPr/>
          </p:nvSpPr>
          <p:spPr bwMode="auto">
            <a:xfrm>
              <a:off x="4080" y="1776"/>
              <a:ext cx="2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t>
              </a:r>
              <a:endParaRPr kumimoji="1" lang="en-US" altLang="zh-CN" sz="2400">
                <a:latin typeface="Verdana" pitchFamily="34" charset="0"/>
              </a:endParaRPr>
            </a:p>
          </p:txBody>
        </p:sp>
      </p:grpSp>
      <p:grpSp>
        <p:nvGrpSpPr>
          <p:cNvPr id="7" name="Group 121"/>
          <p:cNvGrpSpPr>
            <a:grpSpLocks/>
          </p:cNvGrpSpPr>
          <p:nvPr/>
        </p:nvGrpSpPr>
        <p:grpSpPr bwMode="auto">
          <a:xfrm>
            <a:off x="1219200" y="4514850"/>
            <a:ext cx="3429000" cy="619125"/>
            <a:chOff x="768" y="3600"/>
            <a:chExt cx="2160" cy="520"/>
          </a:xfrm>
        </p:grpSpPr>
        <p:sp>
          <p:nvSpPr>
            <p:cNvPr id="85001" name="Oval 111"/>
            <p:cNvSpPr>
              <a:spLocks noChangeArrowheads="1"/>
            </p:cNvSpPr>
            <p:nvPr/>
          </p:nvSpPr>
          <p:spPr bwMode="auto">
            <a:xfrm>
              <a:off x="1020" y="3792"/>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x</a:t>
              </a:r>
            </a:p>
          </p:txBody>
        </p:sp>
        <p:sp>
          <p:nvSpPr>
            <p:cNvPr id="85002" name="Oval 113"/>
            <p:cNvSpPr>
              <a:spLocks noChangeArrowheads="1"/>
            </p:cNvSpPr>
            <p:nvPr/>
          </p:nvSpPr>
          <p:spPr bwMode="auto">
            <a:xfrm>
              <a:off x="2640" y="3744"/>
              <a:ext cx="288" cy="288"/>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5003" name="Oval 114"/>
            <p:cNvSpPr>
              <a:spLocks noChangeArrowheads="1"/>
            </p:cNvSpPr>
            <p:nvPr/>
          </p:nvSpPr>
          <p:spPr bwMode="auto">
            <a:xfrm>
              <a:off x="2676" y="3792"/>
              <a:ext cx="192" cy="192"/>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sp>
          <p:nvSpPr>
            <p:cNvPr id="85004" name="Line 115"/>
            <p:cNvSpPr>
              <a:spLocks noChangeShapeType="1"/>
            </p:cNvSpPr>
            <p:nvPr/>
          </p:nvSpPr>
          <p:spPr bwMode="auto">
            <a:xfrm>
              <a:off x="1212" y="3888"/>
              <a:ext cx="142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005" name="Text Box 117"/>
            <p:cNvSpPr txBox="1">
              <a:spLocks noChangeArrowheads="1"/>
            </p:cNvSpPr>
            <p:nvPr/>
          </p:nvSpPr>
          <p:spPr bwMode="auto">
            <a:xfrm>
              <a:off x="768" y="3732"/>
              <a:ext cx="33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sym typeface="Symbol" pitchFamily="18" charset="2"/>
                </a:rPr>
                <a:t></a:t>
              </a:r>
            </a:p>
          </p:txBody>
        </p:sp>
        <p:sp>
          <p:nvSpPr>
            <p:cNvPr id="85006" name="Text Box 118"/>
            <p:cNvSpPr txBox="1">
              <a:spLocks noChangeArrowheads="1"/>
            </p:cNvSpPr>
            <p:nvPr/>
          </p:nvSpPr>
          <p:spPr bwMode="auto">
            <a:xfrm>
              <a:off x="1296" y="3600"/>
              <a:ext cx="120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400">
                  <a:latin typeface="Verdana" pitchFamily="34" charset="0"/>
                </a:rPr>
                <a:t>(a|b)</a:t>
              </a:r>
              <a:r>
                <a:rPr kumimoji="1" lang="en-US" altLang="zh-CN" sz="2400" baseline="30000">
                  <a:latin typeface="Verdana" pitchFamily="34" charset="0"/>
                </a:rPr>
                <a:t>* </a:t>
              </a:r>
              <a:r>
                <a:rPr kumimoji="1" lang="en-US" altLang="zh-CN" sz="2400">
                  <a:latin typeface="Verdana" pitchFamily="34" charset="0"/>
                </a:rPr>
                <a:t>abb</a:t>
              </a:r>
            </a:p>
          </p:txBody>
        </p:sp>
      </p:grpSp>
    </p:spTree>
    <p:extLst>
      <p:ext uri="{BB962C8B-B14F-4D97-AF65-F5344CB8AC3E}">
        <p14:creationId xmlns:p14="http://schemas.microsoft.com/office/powerpoint/2010/main" val="1649795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3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9"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1923678"/>
            <a:ext cx="8287846" cy="1323439"/>
          </a:xfrm>
          <a:prstGeom prst="rect">
            <a:avLst/>
          </a:prstGeom>
        </p:spPr>
        <p:txBody>
          <a:bodyPr wrap="none">
            <a:spAutoFit/>
          </a:bodyPr>
          <a:lstStyle/>
          <a:p>
            <a:r>
              <a:rPr kumimoji="1" lang="en-US" altLang="zh-CN" sz="4000" b="1" dirty="0">
                <a:solidFill>
                  <a:srgbClr val="CC0099"/>
                </a:solidFill>
                <a:latin typeface="Times New Roman" pitchFamily="18" charset="0"/>
                <a:ea typeface="隶书" pitchFamily="49" charset="-122"/>
              </a:rPr>
              <a:t>5</a:t>
            </a:r>
            <a:r>
              <a:rPr kumimoji="1" lang="zh-CN" altLang="zh-CN" sz="4000" b="1" dirty="0">
                <a:solidFill>
                  <a:srgbClr val="CC0099"/>
                </a:solidFill>
                <a:latin typeface="Times New Roman" pitchFamily="18" charset="0"/>
                <a:ea typeface="隶书" pitchFamily="49" charset="-122"/>
              </a:rPr>
              <a:t> </a:t>
            </a:r>
            <a:r>
              <a:rPr kumimoji="1" lang="x-none" altLang="zh-CN" sz="4000" b="1" dirty="0">
                <a:solidFill>
                  <a:srgbClr val="CC0099"/>
                </a:solidFill>
                <a:latin typeface="Times New Roman" pitchFamily="18" charset="0"/>
                <a:ea typeface="隶书" pitchFamily="49" charset="-122"/>
              </a:rPr>
              <a:t>正则表达式与有穷自动机的等价性</a:t>
            </a:r>
            <a:endParaRPr kumimoji="1" lang="en-US" altLang="zh-CN" sz="4000" b="1" dirty="0">
              <a:solidFill>
                <a:srgbClr val="CC0099"/>
              </a:solidFill>
              <a:latin typeface="Times New Roman" pitchFamily="18" charset="0"/>
              <a:ea typeface="隶书" pitchFamily="49" charset="-122"/>
            </a:endParaRPr>
          </a:p>
          <a:p>
            <a:r>
              <a:rPr kumimoji="1" lang="en-US" altLang="zh-CN" sz="4000" b="1" dirty="0">
                <a:solidFill>
                  <a:srgbClr val="CC0099"/>
                </a:solidFill>
                <a:latin typeface="Times New Roman" pitchFamily="18" charset="0"/>
                <a:ea typeface="隶书" pitchFamily="49" charset="-122"/>
              </a:rPr>
              <a:t>——</a:t>
            </a:r>
            <a:r>
              <a:rPr kumimoji="1" lang="zh-CN" altLang="en-US" sz="4000" b="1" dirty="0">
                <a:solidFill>
                  <a:srgbClr val="CC0099"/>
                </a:solidFill>
                <a:latin typeface="Times New Roman" pitchFamily="18" charset="0"/>
                <a:ea typeface="隶书" pitchFamily="49" charset="-122"/>
                <a:sym typeface="Wingdings" panose="05000000000000000000" pitchFamily="2" charset="2"/>
              </a:rPr>
              <a:t>正则表达式</a:t>
            </a:r>
            <a:r>
              <a:rPr kumimoji="1" lang="en-US" altLang="zh-CN" sz="4000" b="1" dirty="0">
                <a:solidFill>
                  <a:srgbClr val="CC0099"/>
                </a:solidFill>
                <a:latin typeface="Times New Roman" pitchFamily="18" charset="0"/>
                <a:ea typeface="隶书" pitchFamily="49" charset="-122"/>
                <a:sym typeface="Wingdings" panose="05000000000000000000" pitchFamily="2" charset="2"/>
              </a:rPr>
              <a:t></a:t>
            </a:r>
            <a:r>
              <a:rPr kumimoji="1" lang="en-US" altLang="zh-CN" sz="4000" b="1" dirty="0">
                <a:solidFill>
                  <a:srgbClr val="CC0099"/>
                </a:solidFill>
                <a:latin typeface="Times New Roman" pitchFamily="18" charset="0"/>
                <a:ea typeface="隶书" pitchFamily="49" charset="-122"/>
              </a:rPr>
              <a:t>NFA</a:t>
            </a:r>
            <a:endParaRPr kumimoji="1" lang="zh-CN" altLang="zh-CN" sz="4000" b="1" dirty="0">
              <a:solidFill>
                <a:srgbClr val="CC0099"/>
              </a:solidFill>
              <a:latin typeface="Times New Roman" pitchFamily="18" charset="0"/>
              <a:ea typeface="隶书" pitchFamily="49" charset="-122"/>
            </a:endParaRPr>
          </a:p>
        </p:txBody>
      </p:sp>
    </p:spTree>
    <p:extLst>
      <p:ext uri="{BB962C8B-B14F-4D97-AF65-F5344CB8AC3E}">
        <p14:creationId xmlns:p14="http://schemas.microsoft.com/office/powerpoint/2010/main" val="33990657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3"/>
          <p:cNvSpPr txBox="1">
            <a:spLocks noChangeArrowheads="1"/>
          </p:cNvSpPr>
          <p:nvPr/>
        </p:nvSpPr>
        <p:spPr bwMode="auto">
          <a:xfrm>
            <a:off x="62260" y="771550"/>
            <a:ext cx="2349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zh-CN" altLang="en-US" sz="2800" b="1">
                <a:solidFill>
                  <a:srgbClr val="0000CC"/>
                </a:solidFill>
                <a:latin typeface="Verdana" pitchFamily="34" charset="0"/>
              </a:rPr>
              <a:t>方法</a:t>
            </a:r>
            <a:r>
              <a:rPr kumimoji="1" lang="zh-CN" altLang="en-US" sz="2800">
                <a:latin typeface="Verdana" pitchFamily="34" charset="0"/>
              </a:rPr>
              <a:t>如下：</a:t>
            </a:r>
            <a:endParaRPr kumimoji="1" lang="zh-CN" altLang="en-US" sz="2800">
              <a:sym typeface="Symbol" pitchFamily="18" charset="2"/>
            </a:endParaRPr>
          </a:p>
        </p:txBody>
      </p:sp>
      <p:sp>
        <p:nvSpPr>
          <p:cNvPr id="86019" name="Rectangle 35"/>
          <p:cNvSpPr>
            <a:spLocks noChangeArrowheads="1"/>
          </p:cNvSpPr>
          <p:nvPr/>
        </p:nvSpPr>
        <p:spPr bwMode="auto">
          <a:xfrm>
            <a:off x="62260" y="195486"/>
            <a:ext cx="87058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r>
              <a:rPr lang="zh-CN" altLang="en-US" sz="2800" dirty="0">
                <a:solidFill>
                  <a:srgbClr val="0000CC"/>
                </a:solidFill>
              </a:rPr>
              <a:t>正则表达式</a:t>
            </a:r>
            <a:r>
              <a:rPr lang="en-US" altLang="zh-CN" sz="2800" dirty="0">
                <a:solidFill>
                  <a:srgbClr val="0000CC"/>
                </a:solidFill>
              </a:rPr>
              <a:t>R</a:t>
            </a:r>
            <a:r>
              <a:rPr lang="en-US" altLang="zh-CN" sz="2800" dirty="0">
                <a:solidFill>
                  <a:srgbClr val="0000CC"/>
                </a:solidFill>
                <a:sym typeface="Wingdings" pitchFamily="2" charset="2"/>
              </a:rPr>
              <a:t></a:t>
            </a:r>
            <a:r>
              <a:rPr lang="zh-CN" altLang="en-US" sz="2800" dirty="0">
                <a:solidFill>
                  <a:srgbClr val="0000CC"/>
                </a:solidFill>
                <a:sym typeface="Wingdings" pitchFamily="2" charset="2"/>
              </a:rPr>
              <a:t>有穷自动机</a:t>
            </a:r>
            <a:r>
              <a:rPr lang="en-US" altLang="zh-CN" sz="2800" dirty="0">
                <a:solidFill>
                  <a:srgbClr val="0000CC"/>
                </a:solidFill>
                <a:sym typeface="Symbol" pitchFamily="18" charset="2"/>
              </a:rPr>
              <a:t>NFA </a:t>
            </a:r>
            <a:r>
              <a:rPr lang="en-US" altLang="zh-CN" sz="2800" dirty="0">
                <a:solidFill>
                  <a:srgbClr val="0000CC"/>
                </a:solidFill>
              </a:rPr>
              <a:t>M</a:t>
            </a:r>
            <a:r>
              <a:rPr lang="zh-CN" altLang="zh-CN" sz="2400" dirty="0">
                <a:solidFill>
                  <a:srgbClr val="FF0000"/>
                </a:solidFill>
              </a:rPr>
              <a:t>（</a:t>
            </a:r>
            <a:r>
              <a:rPr lang="en-US" altLang="zh-CN" sz="2400" dirty="0">
                <a:solidFill>
                  <a:srgbClr val="FF0000"/>
                </a:solidFill>
              </a:rPr>
              <a:t>Thompson</a:t>
            </a:r>
            <a:r>
              <a:rPr lang="zh-CN" altLang="zh-CN" sz="2400" dirty="0">
                <a:solidFill>
                  <a:srgbClr val="FF0000"/>
                </a:solidFill>
              </a:rPr>
              <a:t>算法）</a:t>
            </a:r>
            <a:endParaRPr kumimoji="1" lang="en-US" altLang="zh-CN" sz="2400" dirty="0">
              <a:solidFill>
                <a:srgbClr val="FF0000"/>
              </a:solidFill>
              <a:sym typeface="Symbol" pitchFamily="18" charset="2"/>
            </a:endParaRPr>
          </a:p>
        </p:txBody>
      </p:sp>
      <p:sp>
        <p:nvSpPr>
          <p:cNvPr id="72746" name="Rectangle 42"/>
          <p:cNvSpPr>
            <a:spLocks noChangeArrowheads="1"/>
          </p:cNvSpPr>
          <p:nvPr/>
        </p:nvSpPr>
        <p:spPr bwMode="auto">
          <a:xfrm>
            <a:off x="284163" y="3254599"/>
            <a:ext cx="8578850" cy="769441"/>
          </a:xfrm>
          <a:prstGeom prst="rect">
            <a:avLst/>
          </a:prstGeom>
          <a:solidFill>
            <a:schemeClr val="bg1"/>
          </a:solidFill>
          <a:ln w="28575">
            <a:solidFill>
              <a:srgbClr val="3333FF"/>
            </a:solidFill>
            <a:miter lim="800000"/>
            <a:headEnd/>
            <a:tailEnd/>
          </a:ln>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200" dirty="0">
                <a:latin typeface="Verdana" pitchFamily="34" charset="0"/>
                <a:sym typeface="Wingdings" pitchFamily="2" charset="2"/>
              </a:rPr>
              <a:t> </a:t>
            </a:r>
            <a:r>
              <a:rPr kumimoji="1" lang="en-US" altLang="zh-CN" sz="2200" dirty="0" err="1">
                <a:latin typeface="Verdana" pitchFamily="34" charset="0"/>
                <a:sym typeface="Wingdings" pitchFamily="2" charset="2"/>
              </a:rPr>
              <a:t>s,t</a:t>
            </a:r>
            <a:r>
              <a:rPr kumimoji="1" lang="zh-CN" altLang="en-US" sz="2200" dirty="0">
                <a:latin typeface="Verdana" pitchFamily="34" charset="0"/>
                <a:sym typeface="Wingdings" pitchFamily="2" charset="2"/>
              </a:rPr>
              <a:t>是正则表达式，相应</a:t>
            </a:r>
            <a:r>
              <a:rPr kumimoji="1" lang="en-US" altLang="zh-CN" sz="2200" dirty="0">
                <a:latin typeface="Verdana" pitchFamily="34" charset="0"/>
                <a:sym typeface="Wingdings" pitchFamily="2" charset="2"/>
              </a:rPr>
              <a:t>NFA</a:t>
            </a:r>
            <a:r>
              <a:rPr kumimoji="1" lang="zh-CN" altLang="en-US" sz="2200" dirty="0">
                <a:latin typeface="Verdana" pitchFamily="34" charset="0"/>
                <a:sym typeface="Wingdings" pitchFamily="2" charset="2"/>
              </a:rPr>
              <a:t>为</a:t>
            </a:r>
            <a:r>
              <a:rPr kumimoji="1" lang="en-US" altLang="zh-CN" sz="2200" dirty="0">
                <a:latin typeface="Verdana" pitchFamily="34" charset="0"/>
                <a:sym typeface="Wingdings" pitchFamily="2" charset="2"/>
              </a:rPr>
              <a:t>N(s),N(t)</a:t>
            </a:r>
            <a:r>
              <a:rPr kumimoji="1" lang="zh-CN" altLang="en-US" sz="2200" dirty="0">
                <a:latin typeface="Verdana" pitchFamily="34" charset="0"/>
                <a:sym typeface="Wingdings" pitchFamily="2" charset="2"/>
              </a:rPr>
              <a:t>，则正则表达式</a:t>
            </a:r>
            <a:r>
              <a:rPr kumimoji="1" lang="en-US" altLang="zh-CN" sz="2200" dirty="0">
                <a:latin typeface="Verdana" pitchFamily="34" charset="0"/>
                <a:sym typeface="Wingdings" pitchFamily="2" charset="2"/>
              </a:rPr>
              <a:t>R=</a:t>
            </a:r>
            <a:r>
              <a:rPr kumimoji="1" lang="en-US" altLang="zh-CN" sz="2200" dirty="0" err="1">
                <a:solidFill>
                  <a:srgbClr val="FF0000"/>
                </a:solidFill>
                <a:latin typeface="Verdana" pitchFamily="34" charset="0"/>
                <a:sym typeface="Wingdings" pitchFamily="2" charset="2"/>
              </a:rPr>
              <a:t>s|t</a:t>
            </a:r>
            <a:r>
              <a:rPr kumimoji="1" lang="zh-CN" altLang="en-US" sz="2200" dirty="0">
                <a:latin typeface="Verdana" pitchFamily="34" charset="0"/>
                <a:sym typeface="Wingdings" pitchFamily="2" charset="2"/>
              </a:rPr>
              <a:t>，构造</a:t>
            </a:r>
            <a:r>
              <a:rPr kumimoji="1" lang="en-US" altLang="zh-CN" sz="2200" dirty="0">
                <a:latin typeface="Verdana" pitchFamily="34" charset="0"/>
                <a:sym typeface="Wingdings" pitchFamily="2" charset="2"/>
              </a:rPr>
              <a:t>NFA(R) </a:t>
            </a:r>
            <a:r>
              <a:rPr kumimoji="1" lang="zh-CN" altLang="en-US" sz="2200" dirty="0">
                <a:latin typeface="Verdana" pitchFamily="34" charset="0"/>
                <a:sym typeface="Wingdings" pitchFamily="2" charset="2"/>
              </a:rPr>
              <a:t>为：</a:t>
            </a:r>
          </a:p>
        </p:txBody>
      </p:sp>
      <p:sp>
        <p:nvSpPr>
          <p:cNvPr id="72747" name="Rectangle 43"/>
          <p:cNvSpPr>
            <a:spLocks noChangeArrowheads="1"/>
          </p:cNvSpPr>
          <p:nvPr/>
        </p:nvSpPr>
        <p:spPr bwMode="auto">
          <a:xfrm>
            <a:off x="284163" y="2671193"/>
            <a:ext cx="5708650" cy="430887"/>
          </a:xfrm>
          <a:prstGeom prst="rect">
            <a:avLst/>
          </a:prstGeom>
          <a:solidFill>
            <a:schemeClr val="bg1"/>
          </a:solidFill>
          <a:ln w="28575">
            <a:solidFill>
              <a:srgbClr val="3333FF"/>
            </a:solidFill>
            <a:miter lim="800000"/>
            <a:headEnd/>
            <a:tailEnd/>
          </a:ln>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200" dirty="0">
                <a:latin typeface="Verdana" pitchFamily="34" charset="0"/>
                <a:sym typeface="Wingdings" pitchFamily="2" charset="2"/>
              </a:rPr>
              <a:t> </a:t>
            </a:r>
            <a:r>
              <a:rPr kumimoji="1" lang="zh-CN" altLang="en-US" sz="2200" dirty="0">
                <a:latin typeface="Verdana" pitchFamily="34" charset="0"/>
                <a:sym typeface="Wingdings" pitchFamily="2" charset="2"/>
              </a:rPr>
              <a:t>对应正则表达式</a:t>
            </a:r>
            <a:r>
              <a:rPr kumimoji="1" lang="en-US" altLang="zh-CN" sz="2200" dirty="0">
                <a:solidFill>
                  <a:srgbClr val="FF0000"/>
                </a:solidFill>
                <a:latin typeface="Verdana" pitchFamily="34" charset="0"/>
                <a:sym typeface="Wingdings" pitchFamily="2" charset="2"/>
              </a:rPr>
              <a:t>a</a:t>
            </a:r>
            <a:r>
              <a:rPr kumimoji="1" lang="zh-CN" altLang="en-US" sz="2200" dirty="0">
                <a:latin typeface="Verdana" pitchFamily="34" charset="0"/>
                <a:sym typeface="Wingdings" pitchFamily="2" charset="2"/>
              </a:rPr>
              <a:t>，构造</a:t>
            </a:r>
            <a:r>
              <a:rPr kumimoji="1" lang="en-US" altLang="zh-CN" sz="2200" dirty="0">
                <a:latin typeface="Verdana" pitchFamily="34" charset="0"/>
                <a:sym typeface="Wingdings" pitchFamily="2" charset="2"/>
              </a:rPr>
              <a:t>NFA</a:t>
            </a:r>
            <a:r>
              <a:rPr kumimoji="1" lang="zh-CN" altLang="en-US" sz="2200" dirty="0">
                <a:latin typeface="Verdana" pitchFamily="34" charset="0"/>
                <a:sym typeface="Wingdings" pitchFamily="2" charset="2"/>
              </a:rPr>
              <a:t>为：</a:t>
            </a:r>
            <a:endParaRPr kumimoji="1" lang="zh-CN" altLang="en-US" sz="2200" dirty="0">
              <a:latin typeface="Verdana" pitchFamily="34" charset="0"/>
              <a:sym typeface="Symbol" pitchFamily="18" charset="2"/>
            </a:endParaRPr>
          </a:p>
        </p:txBody>
      </p:sp>
      <p:sp>
        <p:nvSpPr>
          <p:cNvPr id="72748" name="Rectangle 44"/>
          <p:cNvSpPr>
            <a:spLocks noChangeArrowheads="1"/>
          </p:cNvSpPr>
          <p:nvPr/>
        </p:nvSpPr>
        <p:spPr bwMode="auto">
          <a:xfrm>
            <a:off x="284163" y="2052266"/>
            <a:ext cx="5467350" cy="430887"/>
          </a:xfrm>
          <a:prstGeom prst="rect">
            <a:avLst/>
          </a:prstGeom>
          <a:solidFill>
            <a:schemeClr val="bg1"/>
          </a:solidFill>
          <a:ln w="28575">
            <a:solidFill>
              <a:srgbClr val="3333FF"/>
            </a:solidFill>
            <a:miter lim="800000"/>
            <a:headEnd/>
            <a:tailEnd/>
          </a:ln>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200" dirty="0">
                <a:latin typeface="Verdana" pitchFamily="34" charset="0"/>
                <a:sym typeface="Wingdings" pitchFamily="2" charset="2"/>
              </a:rPr>
              <a:t> </a:t>
            </a:r>
            <a:r>
              <a:rPr kumimoji="1" lang="zh-CN" altLang="en-US" sz="2200" dirty="0">
                <a:latin typeface="Verdana" pitchFamily="34" charset="0"/>
                <a:sym typeface="Wingdings" pitchFamily="2" charset="2"/>
              </a:rPr>
              <a:t>对应正则表达式</a:t>
            </a:r>
            <a:r>
              <a:rPr kumimoji="1" lang="zh-CN" altLang="en-US" sz="2200" dirty="0">
                <a:solidFill>
                  <a:srgbClr val="FF0000"/>
                </a:solidFill>
                <a:latin typeface="Verdana" pitchFamily="34" charset="0"/>
                <a:sym typeface="Symbol" pitchFamily="18" charset="2"/>
              </a:rPr>
              <a:t></a:t>
            </a:r>
            <a:r>
              <a:rPr kumimoji="1" lang="zh-CN" altLang="en-US" sz="2200" dirty="0">
                <a:latin typeface="Verdana" pitchFamily="34" charset="0"/>
                <a:sym typeface="Symbol" pitchFamily="18" charset="2"/>
              </a:rPr>
              <a:t>，构造</a:t>
            </a:r>
            <a:r>
              <a:rPr kumimoji="1" lang="en-US" altLang="zh-CN" sz="2200" dirty="0">
                <a:latin typeface="Verdana" pitchFamily="34" charset="0"/>
                <a:sym typeface="Symbol" pitchFamily="18" charset="2"/>
              </a:rPr>
              <a:t>NFA</a:t>
            </a:r>
            <a:r>
              <a:rPr kumimoji="1" lang="zh-CN" altLang="en-US" sz="2200" dirty="0">
                <a:latin typeface="Verdana" pitchFamily="34" charset="0"/>
                <a:sym typeface="Symbol" pitchFamily="18" charset="2"/>
              </a:rPr>
              <a:t>为：</a:t>
            </a:r>
          </a:p>
        </p:txBody>
      </p:sp>
      <p:sp>
        <p:nvSpPr>
          <p:cNvPr id="72749" name="Rectangle 45"/>
          <p:cNvSpPr>
            <a:spLocks noChangeArrowheads="1"/>
          </p:cNvSpPr>
          <p:nvPr/>
        </p:nvSpPr>
        <p:spPr bwMode="auto">
          <a:xfrm>
            <a:off x="284163" y="1414291"/>
            <a:ext cx="4940300" cy="430887"/>
          </a:xfrm>
          <a:prstGeom prst="rect">
            <a:avLst/>
          </a:prstGeom>
          <a:solidFill>
            <a:schemeClr val="bg1"/>
          </a:solidFill>
          <a:ln w="28575">
            <a:solidFill>
              <a:srgbClr val="3333FF"/>
            </a:solidFill>
            <a:miter lim="800000"/>
            <a:headEnd/>
            <a:tailEnd/>
          </a:ln>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200" dirty="0">
                <a:latin typeface="Verdana" pitchFamily="34" charset="0"/>
                <a:sym typeface="Wingdings" pitchFamily="2" charset="2"/>
              </a:rPr>
              <a:t> </a:t>
            </a:r>
            <a:r>
              <a:rPr kumimoji="1" lang="zh-CN" altLang="en-US" sz="2200" dirty="0">
                <a:latin typeface="Verdana" pitchFamily="34" charset="0"/>
                <a:sym typeface="Wingdings" pitchFamily="2" charset="2"/>
              </a:rPr>
              <a:t>正则表达式</a:t>
            </a:r>
            <a:r>
              <a:rPr kumimoji="1" lang="zh-CN" altLang="en-US" sz="2200" dirty="0">
                <a:solidFill>
                  <a:srgbClr val="FF0000"/>
                </a:solidFill>
                <a:latin typeface="Verdana" pitchFamily="34" charset="0"/>
                <a:sym typeface="Symbol" pitchFamily="18" charset="2"/>
              </a:rPr>
              <a:t></a:t>
            </a:r>
            <a:r>
              <a:rPr kumimoji="1" lang="zh-CN" altLang="en-US" sz="2200" dirty="0">
                <a:latin typeface="Verdana" pitchFamily="34" charset="0"/>
                <a:sym typeface="Symbol" pitchFamily="18" charset="2"/>
              </a:rPr>
              <a:t>，构造</a:t>
            </a:r>
            <a:r>
              <a:rPr kumimoji="1" lang="en-US" altLang="zh-CN" sz="2200" dirty="0">
                <a:latin typeface="Verdana" pitchFamily="34" charset="0"/>
                <a:sym typeface="Symbol" pitchFamily="18" charset="2"/>
              </a:rPr>
              <a:t>NFA</a:t>
            </a:r>
            <a:r>
              <a:rPr kumimoji="1" lang="zh-CN" altLang="en-US" sz="2200" dirty="0">
                <a:latin typeface="Verdana" pitchFamily="34" charset="0"/>
                <a:sym typeface="Symbol" pitchFamily="18" charset="2"/>
              </a:rPr>
              <a:t>为：</a:t>
            </a:r>
            <a:endParaRPr kumimoji="1" lang="zh-CN" altLang="en-US" sz="2200" dirty="0">
              <a:latin typeface="Verdana" pitchFamily="34" charset="0"/>
              <a:sym typeface="Wingdings" pitchFamily="2" charset="2"/>
            </a:endParaRPr>
          </a:p>
        </p:txBody>
      </p:sp>
      <p:sp>
        <p:nvSpPr>
          <p:cNvPr id="86024" name="Rectangle 47"/>
          <p:cNvSpPr>
            <a:spLocks noChangeArrowheads="1"/>
          </p:cNvSpPr>
          <p:nvPr/>
        </p:nvSpPr>
        <p:spPr bwMode="auto">
          <a:xfrm>
            <a:off x="4479634" y="1559874"/>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2" name="Group 49"/>
          <p:cNvGrpSpPr>
            <a:grpSpLocks/>
          </p:cNvGrpSpPr>
          <p:nvPr/>
        </p:nvGrpSpPr>
        <p:grpSpPr bwMode="auto">
          <a:xfrm>
            <a:off x="6205540" y="1276177"/>
            <a:ext cx="2297113" cy="522684"/>
            <a:chOff x="3909" y="1324"/>
            <a:chExt cx="1447" cy="439"/>
          </a:xfrm>
        </p:grpSpPr>
        <p:sp>
          <p:nvSpPr>
            <p:cNvPr id="86042" name="Oval 4"/>
            <p:cNvSpPr>
              <a:spLocks noChangeArrowheads="1"/>
            </p:cNvSpPr>
            <p:nvPr/>
          </p:nvSpPr>
          <p:spPr bwMode="auto">
            <a:xfrm>
              <a:off x="4204" y="1440"/>
              <a:ext cx="240"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x</a:t>
              </a:r>
            </a:p>
          </p:txBody>
        </p:sp>
        <p:sp>
          <p:nvSpPr>
            <p:cNvPr id="86043" name="Oval 5"/>
            <p:cNvSpPr>
              <a:spLocks noChangeArrowheads="1"/>
            </p:cNvSpPr>
            <p:nvPr/>
          </p:nvSpPr>
          <p:spPr bwMode="auto">
            <a:xfrm>
              <a:off x="5020" y="1392"/>
              <a:ext cx="336" cy="336"/>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6044" name="Oval 6"/>
            <p:cNvSpPr>
              <a:spLocks noChangeArrowheads="1"/>
            </p:cNvSpPr>
            <p:nvPr/>
          </p:nvSpPr>
          <p:spPr bwMode="auto">
            <a:xfrm>
              <a:off x="5068" y="1440"/>
              <a:ext cx="240"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sp>
          <p:nvSpPr>
            <p:cNvPr id="86045" name="Rectangle 48"/>
            <p:cNvSpPr>
              <a:spLocks noChangeArrowheads="1"/>
            </p:cNvSpPr>
            <p:nvPr/>
          </p:nvSpPr>
          <p:spPr bwMode="auto">
            <a:xfrm>
              <a:off x="3909" y="1324"/>
              <a:ext cx="33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sym typeface="Symbol" pitchFamily="18" charset="2"/>
                </a:rPr>
                <a:t></a:t>
              </a:r>
            </a:p>
          </p:txBody>
        </p:sp>
      </p:grpSp>
      <p:grpSp>
        <p:nvGrpSpPr>
          <p:cNvPr id="3" name="Group 51"/>
          <p:cNvGrpSpPr>
            <a:grpSpLocks/>
          </p:cNvGrpSpPr>
          <p:nvPr/>
        </p:nvGrpSpPr>
        <p:grpSpPr bwMode="auto">
          <a:xfrm>
            <a:off x="6146799" y="1779614"/>
            <a:ext cx="2260599" cy="738189"/>
            <a:chOff x="3973" y="1643"/>
            <a:chExt cx="1424" cy="620"/>
          </a:xfrm>
        </p:grpSpPr>
        <p:sp>
          <p:nvSpPr>
            <p:cNvPr id="86036" name="Oval 8"/>
            <p:cNvSpPr>
              <a:spLocks noChangeArrowheads="1"/>
            </p:cNvSpPr>
            <p:nvPr/>
          </p:nvSpPr>
          <p:spPr bwMode="auto">
            <a:xfrm>
              <a:off x="5061" y="1872"/>
              <a:ext cx="336" cy="336"/>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6037" name="Oval 10"/>
            <p:cNvSpPr>
              <a:spLocks noChangeArrowheads="1"/>
            </p:cNvSpPr>
            <p:nvPr/>
          </p:nvSpPr>
          <p:spPr bwMode="auto">
            <a:xfrm>
              <a:off x="4245" y="1920"/>
              <a:ext cx="240"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x</a:t>
              </a:r>
            </a:p>
          </p:txBody>
        </p:sp>
        <p:sp>
          <p:nvSpPr>
            <p:cNvPr id="86038" name="Oval 11"/>
            <p:cNvSpPr>
              <a:spLocks noChangeArrowheads="1"/>
            </p:cNvSpPr>
            <p:nvPr/>
          </p:nvSpPr>
          <p:spPr bwMode="auto">
            <a:xfrm>
              <a:off x="5109" y="1920"/>
              <a:ext cx="240"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sp>
          <p:nvSpPr>
            <p:cNvPr id="86039" name="Line 12"/>
            <p:cNvSpPr>
              <a:spLocks noChangeShapeType="1"/>
            </p:cNvSpPr>
            <p:nvPr/>
          </p:nvSpPr>
          <p:spPr bwMode="auto">
            <a:xfrm>
              <a:off x="4485" y="2040"/>
              <a:ext cx="57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6040" name="Text Box 13"/>
            <p:cNvSpPr txBox="1">
              <a:spLocks noChangeArrowheads="1"/>
            </p:cNvSpPr>
            <p:nvPr/>
          </p:nvSpPr>
          <p:spPr bwMode="auto">
            <a:xfrm>
              <a:off x="4643" y="1643"/>
              <a:ext cx="28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800" dirty="0">
                  <a:latin typeface="Verdana" pitchFamily="34" charset="0"/>
                  <a:sym typeface="Symbol" pitchFamily="18" charset="2"/>
                </a:rPr>
                <a:t></a:t>
              </a:r>
            </a:p>
          </p:txBody>
        </p:sp>
        <p:sp>
          <p:nvSpPr>
            <p:cNvPr id="86041" name="Rectangle 50"/>
            <p:cNvSpPr>
              <a:spLocks noChangeArrowheads="1"/>
            </p:cNvSpPr>
            <p:nvPr/>
          </p:nvSpPr>
          <p:spPr bwMode="auto">
            <a:xfrm>
              <a:off x="3973" y="1824"/>
              <a:ext cx="33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sym typeface="Symbol" pitchFamily="18" charset="2"/>
                </a:rPr>
                <a:t></a:t>
              </a:r>
            </a:p>
          </p:txBody>
        </p:sp>
      </p:grpSp>
      <p:grpSp>
        <p:nvGrpSpPr>
          <p:cNvPr id="4" name="Group 53"/>
          <p:cNvGrpSpPr>
            <a:grpSpLocks/>
          </p:cNvGrpSpPr>
          <p:nvPr/>
        </p:nvGrpSpPr>
        <p:grpSpPr bwMode="auto">
          <a:xfrm>
            <a:off x="6181724" y="2355725"/>
            <a:ext cx="2305049" cy="738186"/>
            <a:chOff x="3884" y="2160"/>
            <a:chExt cx="1452" cy="620"/>
          </a:xfrm>
        </p:grpSpPr>
        <p:sp>
          <p:nvSpPr>
            <p:cNvPr id="86029" name="Oval 14"/>
            <p:cNvSpPr>
              <a:spLocks noChangeArrowheads="1"/>
            </p:cNvSpPr>
            <p:nvPr/>
          </p:nvSpPr>
          <p:spPr bwMode="auto">
            <a:xfrm>
              <a:off x="5000" y="2385"/>
              <a:ext cx="336" cy="336"/>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86030" name="Group 15"/>
            <p:cNvGrpSpPr>
              <a:grpSpLocks/>
            </p:cNvGrpSpPr>
            <p:nvPr/>
          </p:nvGrpSpPr>
          <p:grpSpPr bwMode="auto">
            <a:xfrm>
              <a:off x="4184" y="2160"/>
              <a:ext cx="1104" cy="525"/>
              <a:chOff x="3696" y="1635"/>
              <a:chExt cx="1104" cy="525"/>
            </a:xfrm>
          </p:grpSpPr>
          <p:sp>
            <p:nvSpPr>
              <p:cNvPr id="86032" name="Oval 16"/>
              <p:cNvSpPr>
                <a:spLocks noChangeArrowheads="1"/>
              </p:cNvSpPr>
              <p:nvPr/>
            </p:nvSpPr>
            <p:spPr bwMode="auto">
              <a:xfrm>
                <a:off x="3696" y="1920"/>
                <a:ext cx="240"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dirty="0">
                    <a:latin typeface="Verdana" pitchFamily="34" charset="0"/>
                  </a:rPr>
                  <a:t>x</a:t>
                </a:r>
              </a:p>
            </p:txBody>
          </p:sp>
          <p:sp>
            <p:nvSpPr>
              <p:cNvPr id="86033" name="Oval 17"/>
              <p:cNvSpPr>
                <a:spLocks noChangeArrowheads="1"/>
              </p:cNvSpPr>
              <p:nvPr/>
            </p:nvSpPr>
            <p:spPr bwMode="auto">
              <a:xfrm>
                <a:off x="4560" y="1920"/>
                <a:ext cx="240" cy="240"/>
              </a:xfrm>
              <a:prstGeom prst="ellipse">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rPr>
                  <a:t>y</a:t>
                </a:r>
              </a:p>
            </p:txBody>
          </p:sp>
          <p:sp>
            <p:nvSpPr>
              <p:cNvPr id="86034" name="Line 18"/>
              <p:cNvSpPr>
                <a:spLocks noChangeShapeType="1"/>
              </p:cNvSpPr>
              <p:nvPr/>
            </p:nvSpPr>
            <p:spPr bwMode="auto">
              <a:xfrm>
                <a:off x="3936" y="2040"/>
                <a:ext cx="57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6035" name="Text Box 19"/>
              <p:cNvSpPr txBox="1">
                <a:spLocks noChangeArrowheads="1"/>
              </p:cNvSpPr>
              <p:nvPr/>
            </p:nvSpPr>
            <p:spPr bwMode="auto">
              <a:xfrm>
                <a:off x="4080" y="1635"/>
                <a:ext cx="28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800" dirty="0">
                    <a:latin typeface="Verdana" pitchFamily="34" charset="0"/>
                    <a:sym typeface="Symbol" pitchFamily="18" charset="2"/>
                  </a:rPr>
                  <a:t>a</a:t>
                </a:r>
              </a:p>
            </p:txBody>
          </p:sp>
        </p:grpSp>
        <p:sp>
          <p:nvSpPr>
            <p:cNvPr id="86031" name="Rectangle 52"/>
            <p:cNvSpPr>
              <a:spLocks noChangeArrowheads="1"/>
            </p:cNvSpPr>
            <p:nvPr/>
          </p:nvSpPr>
          <p:spPr bwMode="auto">
            <a:xfrm>
              <a:off x="3884" y="2341"/>
              <a:ext cx="33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sym typeface="Symbol" pitchFamily="18" charset="2"/>
                </a:rPr>
                <a:t></a:t>
              </a:r>
            </a:p>
          </p:txBody>
        </p:sp>
      </p:grpSp>
      <p:grpSp>
        <p:nvGrpSpPr>
          <p:cNvPr id="27" name="组合 26"/>
          <p:cNvGrpSpPr/>
          <p:nvPr/>
        </p:nvGrpSpPr>
        <p:grpSpPr>
          <a:xfrm>
            <a:off x="5430676" y="3795886"/>
            <a:ext cx="2491791" cy="681562"/>
            <a:chOff x="5430676" y="3795886"/>
            <a:chExt cx="2491791" cy="681562"/>
          </a:xfrm>
        </p:grpSpPr>
        <p:sp>
          <p:nvSpPr>
            <p:cNvPr id="7" name="椭圆 6"/>
            <p:cNvSpPr/>
            <p:nvPr/>
          </p:nvSpPr>
          <p:spPr>
            <a:xfrm>
              <a:off x="5430676" y="3795886"/>
              <a:ext cx="2491791" cy="68156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703168" y="3995786"/>
              <a:ext cx="288032" cy="288032"/>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7359352" y="3995786"/>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6363167" y="3968094"/>
              <a:ext cx="873129" cy="369332"/>
            </a:xfrm>
            <a:prstGeom prst="rect">
              <a:avLst/>
            </a:prstGeom>
            <a:noFill/>
          </p:spPr>
          <p:txBody>
            <a:bodyPr wrap="square" rtlCol="0">
              <a:spAutoFit/>
            </a:bodyPr>
            <a:lstStyle/>
            <a:p>
              <a:r>
                <a:rPr lang="en-US" altLang="zh-CN" dirty="0"/>
                <a:t>……</a:t>
              </a:r>
              <a:endParaRPr lang="zh-CN" altLang="en-US" dirty="0"/>
            </a:p>
          </p:txBody>
        </p:sp>
        <p:sp>
          <p:nvSpPr>
            <p:cNvPr id="11" name="TextBox 10"/>
            <p:cNvSpPr txBox="1"/>
            <p:nvPr/>
          </p:nvSpPr>
          <p:spPr>
            <a:xfrm>
              <a:off x="6363167" y="3804850"/>
              <a:ext cx="864095" cy="369332"/>
            </a:xfrm>
            <a:prstGeom prst="rect">
              <a:avLst/>
            </a:prstGeom>
            <a:noFill/>
          </p:spPr>
          <p:txBody>
            <a:bodyPr wrap="square" rtlCol="0">
              <a:spAutoFit/>
            </a:bodyPr>
            <a:lstStyle/>
            <a:p>
              <a:r>
                <a:rPr lang="en-US" altLang="zh-CN" dirty="0"/>
                <a:t>N(s)</a:t>
              </a:r>
              <a:endParaRPr lang="zh-CN" altLang="en-US" dirty="0"/>
            </a:p>
          </p:txBody>
        </p:sp>
      </p:grpSp>
      <p:sp>
        <p:nvSpPr>
          <p:cNvPr id="6" name="TextBox 5"/>
          <p:cNvSpPr txBox="1"/>
          <p:nvPr/>
        </p:nvSpPr>
        <p:spPr>
          <a:xfrm>
            <a:off x="5092948" y="3995786"/>
            <a:ext cx="819473" cy="369332"/>
          </a:xfrm>
          <a:prstGeom prst="rect">
            <a:avLst/>
          </a:prstGeom>
          <a:noFill/>
        </p:spPr>
        <p:txBody>
          <a:bodyPr wrap="square" rtlCol="0">
            <a:spAutoFit/>
          </a:bodyPr>
          <a:lstStyle/>
          <a:p>
            <a:r>
              <a:rPr lang="en-US" altLang="zh-CN" dirty="0"/>
              <a:t>==&gt;</a:t>
            </a:r>
            <a:endParaRPr lang="zh-CN" altLang="en-US" dirty="0"/>
          </a:p>
        </p:txBody>
      </p:sp>
      <p:sp>
        <p:nvSpPr>
          <p:cNvPr id="35" name="TextBox 34"/>
          <p:cNvSpPr txBox="1"/>
          <p:nvPr/>
        </p:nvSpPr>
        <p:spPr>
          <a:xfrm>
            <a:off x="5076056" y="4705602"/>
            <a:ext cx="819473" cy="369332"/>
          </a:xfrm>
          <a:prstGeom prst="rect">
            <a:avLst/>
          </a:prstGeom>
          <a:noFill/>
        </p:spPr>
        <p:txBody>
          <a:bodyPr wrap="square" rtlCol="0">
            <a:spAutoFit/>
          </a:bodyPr>
          <a:lstStyle/>
          <a:p>
            <a:r>
              <a:rPr lang="en-US" altLang="zh-CN" dirty="0"/>
              <a:t>==&gt;</a:t>
            </a:r>
            <a:endParaRPr lang="zh-CN" altLang="en-US" dirty="0"/>
          </a:p>
        </p:txBody>
      </p:sp>
      <p:grpSp>
        <p:nvGrpSpPr>
          <p:cNvPr id="28" name="组合 27"/>
          <p:cNvGrpSpPr/>
          <p:nvPr/>
        </p:nvGrpSpPr>
        <p:grpSpPr>
          <a:xfrm>
            <a:off x="5392577" y="4515966"/>
            <a:ext cx="2491791" cy="681562"/>
            <a:chOff x="5392577" y="4515966"/>
            <a:chExt cx="2491791" cy="681562"/>
          </a:xfrm>
        </p:grpSpPr>
        <p:sp>
          <p:nvSpPr>
            <p:cNvPr id="32" name="椭圆 31"/>
            <p:cNvSpPr/>
            <p:nvPr/>
          </p:nvSpPr>
          <p:spPr>
            <a:xfrm>
              <a:off x="5741218" y="4727996"/>
              <a:ext cx="288032" cy="288032"/>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7380287" y="4746252"/>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5392577" y="4515966"/>
              <a:ext cx="2491791" cy="68156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Box 41"/>
            <p:cNvSpPr txBox="1"/>
            <p:nvPr/>
          </p:nvSpPr>
          <p:spPr>
            <a:xfrm>
              <a:off x="6343644" y="4746252"/>
              <a:ext cx="873129" cy="369332"/>
            </a:xfrm>
            <a:prstGeom prst="rect">
              <a:avLst/>
            </a:prstGeom>
            <a:noFill/>
          </p:spPr>
          <p:txBody>
            <a:bodyPr wrap="square" rtlCol="0">
              <a:spAutoFit/>
            </a:bodyPr>
            <a:lstStyle/>
            <a:p>
              <a:r>
                <a:rPr lang="en-US" altLang="zh-CN" dirty="0"/>
                <a:t>……</a:t>
              </a:r>
              <a:endParaRPr lang="zh-CN" altLang="en-US" dirty="0"/>
            </a:p>
          </p:txBody>
        </p:sp>
        <p:sp>
          <p:nvSpPr>
            <p:cNvPr id="43" name="TextBox 42"/>
            <p:cNvSpPr txBox="1"/>
            <p:nvPr/>
          </p:nvSpPr>
          <p:spPr>
            <a:xfrm>
              <a:off x="6343644" y="4583008"/>
              <a:ext cx="864095" cy="369332"/>
            </a:xfrm>
            <a:prstGeom prst="rect">
              <a:avLst/>
            </a:prstGeom>
            <a:noFill/>
          </p:spPr>
          <p:txBody>
            <a:bodyPr wrap="square" rtlCol="0">
              <a:spAutoFit/>
            </a:bodyPr>
            <a:lstStyle/>
            <a:p>
              <a:r>
                <a:rPr lang="en-US" altLang="zh-CN" dirty="0"/>
                <a:t>N(t)</a:t>
              </a:r>
              <a:endParaRPr lang="zh-CN" altLang="en-US" dirty="0"/>
            </a:p>
          </p:txBody>
        </p:sp>
      </p:grpSp>
      <p:grpSp>
        <p:nvGrpSpPr>
          <p:cNvPr id="46" name="组合 45"/>
          <p:cNvGrpSpPr/>
          <p:nvPr/>
        </p:nvGrpSpPr>
        <p:grpSpPr>
          <a:xfrm>
            <a:off x="8706048" y="4223129"/>
            <a:ext cx="313930" cy="301062"/>
            <a:chOff x="6205820" y="2565235"/>
            <a:chExt cx="313930" cy="301062"/>
          </a:xfrm>
        </p:grpSpPr>
        <p:sp>
          <p:nvSpPr>
            <p:cNvPr id="47" name="椭圆 46"/>
            <p:cNvSpPr/>
            <p:nvPr/>
          </p:nvSpPr>
          <p:spPr>
            <a:xfrm>
              <a:off x="6254773" y="2605885"/>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00FF"/>
                  </a:solidFill>
                  <a:latin typeface="Times New Roman" panose="02020603050405020304" pitchFamily="18" charset="0"/>
                  <a:cs typeface="Times New Roman" panose="02020603050405020304" pitchFamily="18" charset="0"/>
                </a:rPr>
                <a:t>Y</a:t>
              </a:r>
              <a:endParaRPr lang="zh-CN" altLang="en-US" sz="1600" dirty="0">
                <a:solidFill>
                  <a:srgbClr val="0000FF"/>
                </a:solidFill>
                <a:latin typeface="Times New Roman" panose="02020603050405020304" pitchFamily="18" charset="0"/>
                <a:cs typeface="Times New Roman" panose="02020603050405020304" pitchFamily="18" charset="0"/>
              </a:endParaRPr>
            </a:p>
          </p:txBody>
        </p:sp>
        <p:sp>
          <p:nvSpPr>
            <p:cNvPr id="48" name="椭圆 47"/>
            <p:cNvSpPr/>
            <p:nvPr/>
          </p:nvSpPr>
          <p:spPr>
            <a:xfrm>
              <a:off x="6205820" y="2565235"/>
              <a:ext cx="313930" cy="30106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4182808" y="4307176"/>
            <a:ext cx="593652" cy="369332"/>
            <a:chOff x="1170036" y="2490450"/>
            <a:chExt cx="593652" cy="369332"/>
          </a:xfrm>
        </p:grpSpPr>
        <p:sp>
          <p:nvSpPr>
            <p:cNvPr id="50" name="TextBox 49"/>
            <p:cNvSpPr txBox="1"/>
            <p:nvPr/>
          </p:nvSpPr>
          <p:spPr>
            <a:xfrm>
              <a:off x="1170036" y="2490450"/>
              <a:ext cx="50405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=&gt;</a:t>
              </a:r>
              <a:endParaRPr lang="zh-CN" altLang="en-US" dirty="0">
                <a:latin typeface="Times New Roman" panose="02020603050405020304" pitchFamily="18" charset="0"/>
                <a:cs typeface="Times New Roman" panose="02020603050405020304" pitchFamily="18" charset="0"/>
              </a:endParaRPr>
            </a:p>
          </p:txBody>
        </p:sp>
        <p:sp>
          <p:nvSpPr>
            <p:cNvPr id="51" name="椭圆 50"/>
            <p:cNvSpPr/>
            <p:nvPr/>
          </p:nvSpPr>
          <p:spPr>
            <a:xfrm>
              <a:off x="1547664" y="2562458"/>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00FF"/>
                  </a:solidFill>
                  <a:latin typeface="Times New Roman" panose="02020603050405020304" pitchFamily="18" charset="0"/>
                  <a:cs typeface="Times New Roman" panose="02020603050405020304" pitchFamily="18" charset="0"/>
                </a:rPr>
                <a:t>X</a:t>
              </a:r>
              <a:endParaRPr lang="zh-CN" altLang="en-US" sz="1600" dirty="0">
                <a:solidFill>
                  <a:srgbClr val="0000FF"/>
                </a:solidFill>
                <a:latin typeface="Times New Roman" panose="02020603050405020304" pitchFamily="18" charset="0"/>
                <a:cs typeface="Times New Roman" panose="02020603050405020304" pitchFamily="18" charset="0"/>
              </a:endParaRPr>
            </a:p>
          </p:txBody>
        </p:sp>
      </p:grpSp>
      <p:grpSp>
        <p:nvGrpSpPr>
          <p:cNvPr id="52" name="组合 51"/>
          <p:cNvGrpSpPr/>
          <p:nvPr/>
        </p:nvGrpSpPr>
        <p:grpSpPr>
          <a:xfrm>
            <a:off x="4720820" y="4011910"/>
            <a:ext cx="1020398" cy="907736"/>
            <a:chOff x="2076866" y="2455240"/>
            <a:chExt cx="1020398" cy="907736"/>
          </a:xfrm>
        </p:grpSpPr>
        <p:grpSp>
          <p:nvGrpSpPr>
            <p:cNvPr id="54" name="组合 53"/>
            <p:cNvGrpSpPr/>
            <p:nvPr/>
          </p:nvGrpSpPr>
          <p:grpSpPr>
            <a:xfrm>
              <a:off x="2132506" y="2455240"/>
              <a:ext cx="926708" cy="475286"/>
              <a:chOff x="2132506" y="2455240"/>
              <a:chExt cx="926708" cy="475286"/>
            </a:xfrm>
          </p:grpSpPr>
          <p:cxnSp>
            <p:nvCxnSpPr>
              <p:cNvPr id="58" name="直接箭头连接符 57"/>
              <p:cNvCxnSpPr>
                <a:stCxn id="51" idx="6"/>
              </p:cNvCxnSpPr>
              <p:nvPr/>
            </p:nvCxnSpPr>
            <p:spPr>
              <a:xfrm flipV="1">
                <a:off x="2132506" y="2630616"/>
                <a:ext cx="926708" cy="29991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2432102" y="2455240"/>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nvGrpSpPr>
            <p:cNvPr id="55" name="组合 54"/>
            <p:cNvGrpSpPr/>
            <p:nvPr/>
          </p:nvGrpSpPr>
          <p:grpSpPr>
            <a:xfrm>
              <a:off x="2076866" y="2958636"/>
              <a:ext cx="1020398" cy="404340"/>
              <a:chOff x="2076866" y="2958636"/>
              <a:chExt cx="1020398" cy="404340"/>
            </a:xfrm>
          </p:grpSpPr>
          <p:cxnSp>
            <p:nvCxnSpPr>
              <p:cNvPr id="56" name="直接箭头连接符 55"/>
              <p:cNvCxnSpPr/>
              <p:nvPr/>
            </p:nvCxnSpPr>
            <p:spPr>
              <a:xfrm>
                <a:off x="2076866" y="2958636"/>
                <a:ext cx="1020398" cy="341441"/>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375425" y="2993644"/>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grpSp>
        <p:nvGrpSpPr>
          <p:cNvPr id="62" name="组合 61"/>
          <p:cNvGrpSpPr/>
          <p:nvPr/>
        </p:nvGrpSpPr>
        <p:grpSpPr>
          <a:xfrm>
            <a:off x="7647384" y="3939902"/>
            <a:ext cx="1088889" cy="970452"/>
            <a:chOff x="5162905" y="2321378"/>
            <a:chExt cx="1088889" cy="970452"/>
          </a:xfrm>
        </p:grpSpPr>
        <p:cxnSp>
          <p:nvCxnSpPr>
            <p:cNvPr id="70" name="直接箭头连接符 69"/>
            <p:cNvCxnSpPr>
              <a:stCxn id="31" idx="6"/>
              <a:endCxn id="48" idx="2"/>
            </p:cNvCxnSpPr>
            <p:nvPr/>
          </p:nvCxnSpPr>
          <p:spPr>
            <a:xfrm>
              <a:off x="5162905" y="2521278"/>
              <a:ext cx="1058664" cy="233858"/>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5595132" y="2321378"/>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nvGrpSpPr>
            <p:cNvPr id="65" name="组合 64"/>
            <p:cNvGrpSpPr/>
            <p:nvPr/>
          </p:nvGrpSpPr>
          <p:grpSpPr>
            <a:xfrm>
              <a:off x="5183840" y="2822208"/>
              <a:ext cx="1067954" cy="469622"/>
              <a:chOff x="1532765" y="2335860"/>
              <a:chExt cx="1067954" cy="469622"/>
            </a:xfrm>
          </p:grpSpPr>
          <p:cxnSp>
            <p:nvCxnSpPr>
              <p:cNvPr id="66" name="直接箭头连接符 65"/>
              <p:cNvCxnSpPr>
                <a:stCxn id="33" idx="6"/>
              </p:cNvCxnSpPr>
              <p:nvPr/>
            </p:nvCxnSpPr>
            <p:spPr>
              <a:xfrm flipV="1">
                <a:off x="1532765" y="2335860"/>
                <a:ext cx="1067954" cy="449536"/>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1964838" y="2436150"/>
                <a:ext cx="216024" cy="369332"/>
              </a:xfrm>
              <a:prstGeom prst="rect">
                <a:avLst/>
              </a:prstGeom>
              <a:noFill/>
            </p:spPr>
            <p:txBody>
              <a:bodyPr wrap="square" rtlCol="0">
                <a:spAutoFit/>
              </a:bodyPr>
              <a:lstStyle/>
              <a:p>
                <a:r>
                  <a:rPr lang="en-US" altLang="zh-CN" dirty="0">
                    <a:solidFill>
                      <a:srgbClr val="0000CC"/>
                    </a:solidFill>
                    <a:latin typeface="Times New Roman" panose="02020603050405020304" pitchFamily="18" charset="0"/>
                    <a:cs typeface="Times New Roman" panose="02020603050405020304" pitchFamily="18" charset="0"/>
                  </a:rPr>
                  <a:t>ε</a:t>
                </a:r>
                <a:endParaRPr lang="zh-CN" altLang="en-US" dirty="0">
                  <a:latin typeface="Times New Roman" panose="02020603050405020304" pitchFamily="18" charset="0"/>
                  <a:cs typeface="Times New Roman" panose="02020603050405020304" pitchFamily="18" charset="0"/>
                </a:endParaRPr>
              </a:p>
            </p:txBody>
          </p:sp>
        </p:grpSp>
      </p:grpSp>
      <p:sp>
        <p:nvSpPr>
          <p:cNvPr id="264" name="椭圆 263"/>
          <p:cNvSpPr/>
          <p:nvPr/>
        </p:nvSpPr>
        <p:spPr>
          <a:xfrm>
            <a:off x="7320230" y="3939902"/>
            <a:ext cx="420122" cy="397024"/>
          </a:xfrm>
          <a:prstGeom prst="ellipse">
            <a:avLst/>
          </a:prstGeom>
          <a:ln w="190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66" name="椭圆 265"/>
          <p:cNvSpPr/>
          <p:nvPr/>
        </p:nvSpPr>
        <p:spPr>
          <a:xfrm>
            <a:off x="7304652" y="4686026"/>
            <a:ext cx="420122" cy="397024"/>
          </a:xfrm>
          <a:prstGeom prst="ellipse">
            <a:avLst/>
          </a:prstGeom>
          <a:ln w="190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extLst>
      <p:ext uri="{BB962C8B-B14F-4D97-AF65-F5344CB8AC3E}">
        <p14:creationId xmlns:p14="http://schemas.microsoft.com/office/powerpoint/2010/main" val="1001557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7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274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27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35"/>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6"/>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2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46" grpId="0" animBg="1" autoUpdateAnimBg="0"/>
      <p:bldP spid="72747" grpId="0" animBg="1" autoUpdateAnimBg="0"/>
      <p:bldP spid="72748" grpId="0" animBg="1" autoUpdateAnimBg="0"/>
      <p:bldP spid="72749" grpId="0" animBg="1" autoUpdateAnimBg="0"/>
      <p:bldP spid="6" grpId="0"/>
      <p:bldP spid="6" grpId="1"/>
      <p:bldP spid="35" grpId="0"/>
      <p:bldP spid="35" grpId="1"/>
      <p:bldP spid="264" grpId="0" animBg="1"/>
      <p:bldP spid="26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4"/>
          <p:cNvSpPr txBox="1">
            <a:spLocks noChangeArrowheads="1"/>
          </p:cNvSpPr>
          <p:nvPr/>
        </p:nvSpPr>
        <p:spPr bwMode="auto">
          <a:xfrm>
            <a:off x="304801" y="342900"/>
            <a:ext cx="8208963" cy="769441"/>
          </a:xfrm>
          <a:prstGeom prst="rect">
            <a:avLst/>
          </a:prstGeom>
          <a:solidFill>
            <a:schemeClr val="bg1"/>
          </a:solidFill>
          <a:ln w="28575">
            <a:solidFill>
              <a:srgbClr val="3333FF"/>
            </a:solidFill>
            <a:miter lim="800000"/>
            <a:headEnd/>
            <a:tailEnd/>
          </a:ln>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200" dirty="0">
                <a:latin typeface="Verdana" pitchFamily="34" charset="0"/>
                <a:sym typeface="Wingdings 2" pitchFamily="18" charset="2"/>
              </a:rPr>
              <a:t> </a:t>
            </a:r>
            <a:r>
              <a:rPr kumimoji="1" lang="en-US" altLang="zh-CN" sz="2200" dirty="0" err="1">
                <a:latin typeface="Verdana" pitchFamily="34" charset="0"/>
                <a:sym typeface="Wingdings" pitchFamily="2" charset="2"/>
              </a:rPr>
              <a:t>s,t</a:t>
            </a:r>
            <a:r>
              <a:rPr kumimoji="1" lang="zh-CN" altLang="en-US" sz="2200" dirty="0">
                <a:latin typeface="Verdana" pitchFamily="34" charset="0"/>
                <a:sym typeface="Wingdings" pitchFamily="2" charset="2"/>
              </a:rPr>
              <a:t>是正则表达式，相应</a:t>
            </a:r>
            <a:r>
              <a:rPr kumimoji="1" lang="en-US" altLang="zh-CN" sz="2200" dirty="0">
                <a:latin typeface="Verdana" pitchFamily="34" charset="0"/>
                <a:sym typeface="Wingdings" pitchFamily="2" charset="2"/>
              </a:rPr>
              <a:t>NFA</a:t>
            </a:r>
            <a:r>
              <a:rPr kumimoji="1" lang="zh-CN" altLang="en-US" sz="2200" dirty="0">
                <a:latin typeface="Verdana" pitchFamily="34" charset="0"/>
                <a:sym typeface="Wingdings" pitchFamily="2" charset="2"/>
              </a:rPr>
              <a:t>为</a:t>
            </a:r>
            <a:r>
              <a:rPr kumimoji="1" lang="en-US" altLang="zh-CN" sz="2200" dirty="0">
                <a:latin typeface="Verdana" pitchFamily="34" charset="0"/>
                <a:sym typeface="Wingdings" pitchFamily="2" charset="2"/>
              </a:rPr>
              <a:t>N(s),N(t)</a:t>
            </a:r>
            <a:r>
              <a:rPr kumimoji="1" lang="zh-CN" altLang="en-US" sz="2200" dirty="0">
                <a:latin typeface="Verdana" pitchFamily="34" charset="0"/>
                <a:sym typeface="Wingdings" pitchFamily="2" charset="2"/>
              </a:rPr>
              <a:t>，则正则表达式</a:t>
            </a:r>
            <a:r>
              <a:rPr kumimoji="1" lang="en-US" altLang="zh-CN" sz="2200" dirty="0">
                <a:latin typeface="Verdana" pitchFamily="34" charset="0"/>
                <a:sym typeface="Wingdings" pitchFamily="2" charset="2"/>
              </a:rPr>
              <a:t>R=</a:t>
            </a:r>
            <a:r>
              <a:rPr kumimoji="1" lang="en-US" altLang="zh-CN" sz="2200" dirty="0" err="1">
                <a:solidFill>
                  <a:srgbClr val="FF0000"/>
                </a:solidFill>
                <a:latin typeface="Verdana" pitchFamily="34" charset="0"/>
                <a:sym typeface="Wingdings" pitchFamily="2" charset="2"/>
              </a:rPr>
              <a:t>st</a:t>
            </a:r>
            <a:r>
              <a:rPr kumimoji="1" lang="zh-CN" altLang="en-US" sz="2200" dirty="0">
                <a:latin typeface="Verdana" pitchFamily="34" charset="0"/>
                <a:sym typeface="Wingdings" pitchFamily="2" charset="2"/>
              </a:rPr>
              <a:t>，构造</a:t>
            </a:r>
            <a:r>
              <a:rPr kumimoji="1" lang="en-US" altLang="zh-CN" sz="2200" dirty="0">
                <a:latin typeface="Verdana" pitchFamily="34" charset="0"/>
                <a:sym typeface="Wingdings" pitchFamily="2" charset="2"/>
              </a:rPr>
              <a:t>NFA(R) </a:t>
            </a:r>
            <a:r>
              <a:rPr kumimoji="1" lang="zh-CN" altLang="en-US" sz="2200" dirty="0">
                <a:latin typeface="Verdana" pitchFamily="34" charset="0"/>
                <a:sym typeface="Wingdings" pitchFamily="2" charset="2"/>
              </a:rPr>
              <a:t>为：</a:t>
            </a:r>
            <a:endParaRPr kumimoji="1" lang="zh-CN" altLang="en-US" sz="2200" dirty="0">
              <a:latin typeface="Verdana" pitchFamily="34" charset="0"/>
              <a:sym typeface="Wingdings 2" pitchFamily="18" charset="2"/>
            </a:endParaRPr>
          </a:p>
        </p:txBody>
      </p:sp>
      <p:sp>
        <p:nvSpPr>
          <p:cNvPr id="73742" name="Text Box 14"/>
          <p:cNvSpPr txBox="1">
            <a:spLocks noChangeArrowheads="1"/>
          </p:cNvSpPr>
          <p:nvPr/>
        </p:nvSpPr>
        <p:spPr bwMode="auto">
          <a:xfrm>
            <a:off x="457200" y="2514600"/>
            <a:ext cx="8096250" cy="769441"/>
          </a:xfrm>
          <a:prstGeom prst="rect">
            <a:avLst/>
          </a:prstGeom>
          <a:solidFill>
            <a:schemeClr val="bg1"/>
          </a:solidFill>
          <a:ln w="28575">
            <a:solidFill>
              <a:srgbClr val="3333FF"/>
            </a:solidFill>
            <a:miter lim="800000"/>
            <a:headEnd/>
            <a:tailEnd/>
          </a:ln>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200" dirty="0">
                <a:latin typeface="Verdana" pitchFamily="34" charset="0"/>
                <a:sym typeface="Wingdings 2" pitchFamily="18" charset="2"/>
              </a:rPr>
              <a:t> </a:t>
            </a:r>
            <a:r>
              <a:rPr kumimoji="1" lang="en-US" altLang="zh-CN" sz="2200" dirty="0">
                <a:latin typeface="Verdana" pitchFamily="34" charset="0"/>
              </a:rPr>
              <a:t>s</a:t>
            </a:r>
            <a:r>
              <a:rPr kumimoji="1" lang="zh-CN" altLang="en-US" sz="2200" dirty="0">
                <a:latin typeface="Verdana" pitchFamily="34" charset="0"/>
              </a:rPr>
              <a:t>是正则表达式，相应</a:t>
            </a:r>
            <a:r>
              <a:rPr kumimoji="1" lang="en-US" altLang="zh-CN" sz="2200" dirty="0">
                <a:latin typeface="Verdana" pitchFamily="34" charset="0"/>
              </a:rPr>
              <a:t>NFA</a:t>
            </a:r>
            <a:r>
              <a:rPr kumimoji="1" lang="zh-CN" altLang="en-US" sz="2200" dirty="0">
                <a:latin typeface="Verdana" pitchFamily="34" charset="0"/>
              </a:rPr>
              <a:t>为</a:t>
            </a:r>
            <a:r>
              <a:rPr kumimoji="1" lang="en-US" altLang="zh-CN" sz="2200" dirty="0">
                <a:latin typeface="Verdana" pitchFamily="34" charset="0"/>
              </a:rPr>
              <a:t>N(s) </a:t>
            </a:r>
            <a:r>
              <a:rPr kumimoji="1" lang="zh-CN" altLang="en-US" sz="2200" dirty="0">
                <a:latin typeface="Verdana" pitchFamily="34" charset="0"/>
              </a:rPr>
              <a:t>，则正则表达式</a:t>
            </a:r>
            <a:r>
              <a:rPr kumimoji="1" lang="en-US" altLang="zh-CN" sz="2200" dirty="0">
                <a:latin typeface="Verdana" pitchFamily="34" charset="0"/>
              </a:rPr>
              <a:t>R=</a:t>
            </a:r>
            <a:r>
              <a:rPr kumimoji="1" lang="en-US" altLang="zh-CN" sz="2200" dirty="0">
                <a:solidFill>
                  <a:srgbClr val="FF0000"/>
                </a:solidFill>
                <a:latin typeface="Verdana" pitchFamily="34" charset="0"/>
              </a:rPr>
              <a:t>s</a:t>
            </a:r>
            <a:r>
              <a:rPr kumimoji="1" lang="en-US" altLang="zh-CN" sz="2200" baseline="30000" dirty="0">
                <a:solidFill>
                  <a:srgbClr val="FF0000"/>
                </a:solidFill>
                <a:latin typeface="Verdana" pitchFamily="34" charset="0"/>
              </a:rPr>
              <a:t>*</a:t>
            </a:r>
            <a:r>
              <a:rPr kumimoji="1" lang="zh-CN" altLang="en-US" sz="2200" dirty="0">
                <a:latin typeface="Verdana" pitchFamily="34" charset="0"/>
              </a:rPr>
              <a:t>，构造</a:t>
            </a:r>
            <a:r>
              <a:rPr kumimoji="1" lang="en-US" altLang="zh-CN" sz="2200" dirty="0">
                <a:latin typeface="Verdana" pitchFamily="34" charset="0"/>
              </a:rPr>
              <a:t>NFA(R) </a:t>
            </a:r>
            <a:r>
              <a:rPr kumimoji="1" lang="zh-CN" altLang="en-US" sz="2200" dirty="0">
                <a:latin typeface="Verdana" pitchFamily="34" charset="0"/>
              </a:rPr>
              <a:t>为：</a:t>
            </a:r>
          </a:p>
        </p:txBody>
      </p:sp>
      <p:sp>
        <p:nvSpPr>
          <p:cNvPr id="87044" name="Rectangle 40"/>
          <p:cNvSpPr>
            <a:spLocks noChangeArrowheads="1"/>
          </p:cNvSpPr>
          <p:nvPr/>
        </p:nvSpPr>
        <p:spPr bwMode="auto">
          <a:xfrm>
            <a:off x="4479634" y="2035106"/>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7046" name="Rectangle 42"/>
          <p:cNvSpPr>
            <a:spLocks noChangeArrowheads="1"/>
          </p:cNvSpPr>
          <p:nvPr/>
        </p:nvSpPr>
        <p:spPr bwMode="auto">
          <a:xfrm>
            <a:off x="4479634" y="1888659"/>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9" name="组合 8"/>
          <p:cNvGrpSpPr/>
          <p:nvPr/>
        </p:nvGrpSpPr>
        <p:grpSpPr>
          <a:xfrm>
            <a:off x="1591091" y="1314124"/>
            <a:ext cx="2808312" cy="681562"/>
            <a:chOff x="4075775" y="1203598"/>
            <a:chExt cx="2808312" cy="681562"/>
          </a:xfrm>
        </p:grpSpPr>
        <p:sp>
          <p:nvSpPr>
            <p:cNvPr id="10" name="椭圆 9"/>
            <p:cNvSpPr/>
            <p:nvPr/>
          </p:nvSpPr>
          <p:spPr>
            <a:xfrm>
              <a:off x="4740937" y="1415628"/>
              <a:ext cx="288032" cy="288032"/>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6380006" y="1433884"/>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p:cNvSpPr/>
            <p:nvPr/>
          </p:nvSpPr>
          <p:spPr>
            <a:xfrm>
              <a:off x="4392296" y="1203598"/>
              <a:ext cx="2491791" cy="68156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TextBox 12"/>
            <p:cNvSpPr txBox="1"/>
            <p:nvPr/>
          </p:nvSpPr>
          <p:spPr>
            <a:xfrm>
              <a:off x="5343363" y="1433884"/>
              <a:ext cx="873129" cy="369332"/>
            </a:xfrm>
            <a:prstGeom prst="rect">
              <a:avLst/>
            </a:prstGeom>
            <a:noFill/>
          </p:spPr>
          <p:txBody>
            <a:bodyPr wrap="square" rtlCol="0">
              <a:spAutoFit/>
            </a:bodyPr>
            <a:lstStyle/>
            <a:p>
              <a:r>
                <a:rPr lang="en-US" altLang="zh-CN" dirty="0"/>
                <a:t>……</a:t>
              </a:r>
              <a:endParaRPr lang="zh-CN" altLang="en-US" dirty="0"/>
            </a:p>
          </p:txBody>
        </p:sp>
        <p:sp>
          <p:nvSpPr>
            <p:cNvPr id="14" name="TextBox 13"/>
            <p:cNvSpPr txBox="1"/>
            <p:nvPr/>
          </p:nvSpPr>
          <p:spPr>
            <a:xfrm>
              <a:off x="5343363" y="1270640"/>
              <a:ext cx="864095" cy="369332"/>
            </a:xfrm>
            <a:prstGeom prst="rect">
              <a:avLst/>
            </a:prstGeom>
            <a:noFill/>
          </p:spPr>
          <p:txBody>
            <a:bodyPr wrap="square" rtlCol="0">
              <a:spAutoFit/>
            </a:bodyPr>
            <a:lstStyle/>
            <a:p>
              <a:r>
                <a:rPr lang="en-US" altLang="zh-CN" dirty="0"/>
                <a:t>N(s)</a:t>
              </a:r>
              <a:endParaRPr lang="zh-CN" altLang="en-US" dirty="0"/>
            </a:p>
          </p:txBody>
        </p:sp>
        <p:sp>
          <p:nvSpPr>
            <p:cNvPr id="15" name="TextBox 14"/>
            <p:cNvSpPr txBox="1"/>
            <p:nvPr/>
          </p:nvSpPr>
          <p:spPr>
            <a:xfrm>
              <a:off x="4075775" y="1393234"/>
              <a:ext cx="819473" cy="369332"/>
            </a:xfrm>
            <a:prstGeom prst="rect">
              <a:avLst/>
            </a:prstGeom>
            <a:noFill/>
          </p:spPr>
          <p:txBody>
            <a:bodyPr wrap="square" rtlCol="0">
              <a:spAutoFit/>
            </a:bodyPr>
            <a:lstStyle/>
            <a:p>
              <a:r>
                <a:rPr lang="en-US" altLang="zh-CN" dirty="0"/>
                <a:t>==&gt;</a:t>
              </a:r>
              <a:endParaRPr lang="zh-CN" altLang="en-US" dirty="0"/>
            </a:p>
          </p:txBody>
        </p:sp>
      </p:grpSp>
      <p:grpSp>
        <p:nvGrpSpPr>
          <p:cNvPr id="16" name="组合 15"/>
          <p:cNvGrpSpPr/>
          <p:nvPr/>
        </p:nvGrpSpPr>
        <p:grpSpPr>
          <a:xfrm>
            <a:off x="5134110" y="1260675"/>
            <a:ext cx="2808312" cy="681562"/>
            <a:chOff x="4075775" y="1203598"/>
            <a:chExt cx="2808312" cy="681562"/>
          </a:xfrm>
        </p:grpSpPr>
        <p:sp>
          <p:nvSpPr>
            <p:cNvPr id="17" name="椭圆 16"/>
            <p:cNvSpPr/>
            <p:nvPr/>
          </p:nvSpPr>
          <p:spPr>
            <a:xfrm>
              <a:off x="4740937" y="1415628"/>
              <a:ext cx="288032" cy="288032"/>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椭圆 17"/>
            <p:cNvSpPr/>
            <p:nvPr/>
          </p:nvSpPr>
          <p:spPr>
            <a:xfrm>
              <a:off x="6380006" y="1433884"/>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4392296" y="1203598"/>
              <a:ext cx="2491791" cy="68156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TextBox 19"/>
            <p:cNvSpPr txBox="1"/>
            <p:nvPr/>
          </p:nvSpPr>
          <p:spPr>
            <a:xfrm>
              <a:off x="5343363" y="1433884"/>
              <a:ext cx="873129" cy="369332"/>
            </a:xfrm>
            <a:prstGeom prst="rect">
              <a:avLst/>
            </a:prstGeom>
            <a:noFill/>
          </p:spPr>
          <p:txBody>
            <a:bodyPr wrap="square" rtlCol="0">
              <a:spAutoFit/>
            </a:bodyPr>
            <a:lstStyle/>
            <a:p>
              <a:r>
                <a:rPr lang="en-US" altLang="zh-CN" dirty="0"/>
                <a:t>……</a:t>
              </a:r>
              <a:endParaRPr lang="zh-CN" altLang="en-US" dirty="0"/>
            </a:p>
          </p:txBody>
        </p:sp>
        <p:sp>
          <p:nvSpPr>
            <p:cNvPr id="21" name="TextBox 20"/>
            <p:cNvSpPr txBox="1"/>
            <p:nvPr/>
          </p:nvSpPr>
          <p:spPr>
            <a:xfrm>
              <a:off x="5343363" y="1270640"/>
              <a:ext cx="864095" cy="369332"/>
            </a:xfrm>
            <a:prstGeom prst="rect">
              <a:avLst/>
            </a:prstGeom>
            <a:noFill/>
          </p:spPr>
          <p:txBody>
            <a:bodyPr wrap="square" rtlCol="0">
              <a:spAutoFit/>
            </a:bodyPr>
            <a:lstStyle/>
            <a:p>
              <a:r>
                <a:rPr lang="en-US" altLang="zh-CN" dirty="0"/>
                <a:t>N(t)</a:t>
              </a:r>
              <a:endParaRPr lang="zh-CN" altLang="en-US" dirty="0"/>
            </a:p>
          </p:txBody>
        </p:sp>
        <p:sp>
          <p:nvSpPr>
            <p:cNvPr id="22" name="TextBox 21"/>
            <p:cNvSpPr txBox="1"/>
            <p:nvPr/>
          </p:nvSpPr>
          <p:spPr>
            <a:xfrm>
              <a:off x="4075775" y="1393234"/>
              <a:ext cx="819473" cy="369332"/>
            </a:xfrm>
            <a:prstGeom prst="rect">
              <a:avLst/>
            </a:prstGeom>
            <a:noFill/>
          </p:spPr>
          <p:txBody>
            <a:bodyPr wrap="square" rtlCol="0">
              <a:spAutoFit/>
            </a:bodyPr>
            <a:lstStyle/>
            <a:p>
              <a:r>
                <a:rPr lang="en-US" altLang="zh-CN" dirty="0"/>
                <a:t>==&gt;</a:t>
              </a:r>
              <a:endParaRPr lang="zh-CN" altLang="en-US" dirty="0"/>
            </a:p>
          </p:txBody>
        </p:sp>
      </p:grpSp>
      <p:grpSp>
        <p:nvGrpSpPr>
          <p:cNvPr id="23" name="组合 22"/>
          <p:cNvGrpSpPr/>
          <p:nvPr/>
        </p:nvGrpSpPr>
        <p:grpSpPr>
          <a:xfrm>
            <a:off x="3275856" y="1386132"/>
            <a:ext cx="2808312" cy="681562"/>
            <a:chOff x="4075775" y="1203598"/>
            <a:chExt cx="2808312" cy="681562"/>
          </a:xfrm>
        </p:grpSpPr>
        <p:sp>
          <p:nvSpPr>
            <p:cNvPr id="24" name="椭圆 23"/>
            <p:cNvSpPr/>
            <p:nvPr/>
          </p:nvSpPr>
          <p:spPr>
            <a:xfrm>
              <a:off x="4695241" y="1346945"/>
              <a:ext cx="333728" cy="356715"/>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椭圆 24"/>
            <p:cNvSpPr/>
            <p:nvPr/>
          </p:nvSpPr>
          <p:spPr>
            <a:xfrm>
              <a:off x="6380006" y="1433884"/>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椭圆 25"/>
            <p:cNvSpPr/>
            <p:nvPr/>
          </p:nvSpPr>
          <p:spPr>
            <a:xfrm>
              <a:off x="4392296" y="1203598"/>
              <a:ext cx="2491791" cy="68156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TextBox 26"/>
            <p:cNvSpPr txBox="1"/>
            <p:nvPr/>
          </p:nvSpPr>
          <p:spPr>
            <a:xfrm>
              <a:off x="5343363" y="1433884"/>
              <a:ext cx="873129" cy="369332"/>
            </a:xfrm>
            <a:prstGeom prst="rect">
              <a:avLst/>
            </a:prstGeom>
            <a:noFill/>
          </p:spPr>
          <p:txBody>
            <a:bodyPr wrap="square" rtlCol="0">
              <a:spAutoFit/>
            </a:bodyPr>
            <a:lstStyle/>
            <a:p>
              <a:r>
                <a:rPr lang="en-US" altLang="zh-CN" dirty="0"/>
                <a:t>……</a:t>
              </a:r>
              <a:endParaRPr lang="zh-CN" altLang="en-US" dirty="0"/>
            </a:p>
          </p:txBody>
        </p:sp>
        <p:sp>
          <p:nvSpPr>
            <p:cNvPr id="28" name="TextBox 27"/>
            <p:cNvSpPr txBox="1"/>
            <p:nvPr/>
          </p:nvSpPr>
          <p:spPr>
            <a:xfrm>
              <a:off x="5343363" y="1270640"/>
              <a:ext cx="864095" cy="369332"/>
            </a:xfrm>
            <a:prstGeom prst="rect">
              <a:avLst/>
            </a:prstGeom>
            <a:noFill/>
          </p:spPr>
          <p:txBody>
            <a:bodyPr wrap="square" rtlCol="0">
              <a:spAutoFit/>
            </a:bodyPr>
            <a:lstStyle/>
            <a:p>
              <a:r>
                <a:rPr lang="en-US" altLang="zh-CN" dirty="0"/>
                <a:t>N(t)</a:t>
              </a:r>
              <a:endParaRPr lang="zh-CN" altLang="en-US" dirty="0"/>
            </a:p>
          </p:txBody>
        </p:sp>
        <p:sp>
          <p:nvSpPr>
            <p:cNvPr id="29" name="TextBox 28"/>
            <p:cNvSpPr txBox="1"/>
            <p:nvPr/>
          </p:nvSpPr>
          <p:spPr>
            <a:xfrm>
              <a:off x="4075775" y="1393234"/>
              <a:ext cx="819473" cy="369332"/>
            </a:xfrm>
            <a:prstGeom prst="rect">
              <a:avLst/>
            </a:prstGeom>
            <a:noFill/>
          </p:spPr>
          <p:txBody>
            <a:bodyPr wrap="square" rtlCol="0">
              <a:spAutoFit/>
            </a:bodyPr>
            <a:lstStyle/>
            <a:p>
              <a:r>
                <a:rPr lang="en-US" altLang="zh-CN" dirty="0">
                  <a:solidFill>
                    <a:schemeClr val="bg1"/>
                  </a:solidFill>
                </a:rPr>
                <a:t>==&gt;</a:t>
              </a:r>
              <a:endParaRPr lang="zh-CN" altLang="en-US" dirty="0">
                <a:solidFill>
                  <a:schemeClr val="bg1"/>
                </a:solidFill>
              </a:endParaRPr>
            </a:p>
          </p:txBody>
        </p:sp>
      </p:grpSp>
      <p:grpSp>
        <p:nvGrpSpPr>
          <p:cNvPr id="6" name="组合 5"/>
          <p:cNvGrpSpPr/>
          <p:nvPr/>
        </p:nvGrpSpPr>
        <p:grpSpPr>
          <a:xfrm>
            <a:off x="4077893" y="3688019"/>
            <a:ext cx="2491791" cy="681562"/>
            <a:chOff x="4077893" y="3688019"/>
            <a:chExt cx="2491791" cy="681562"/>
          </a:xfrm>
        </p:grpSpPr>
        <p:sp>
          <p:nvSpPr>
            <p:cNvPr id="30" name="椭圆 29"/>
            <p:cNvSpPr/>
            <p:nvPr/>
          </p:nvSpPr>
          <p:spPr>
            <a:xfrm>
              <a:off x="4426534" y="3900049"/>
              <a:ext cx="288032" cy="288032"/>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p:cNvSpPr/>
            <p:nvPr/>
          </p:nvSpPr>
          <p:spPr>
            <a:xfrm>
              <a:off x="6065603" y="3918305"/>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椭圆 31"/>
            <p:cNvSpPr/>
            <p:nvPr/>
          </p:nvSpPr>
          <p:spPr>
            <a:xfrm>
              <a:off x="4077893" y="3688019"/>
              <a:ext cx="2491791" cy="68156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TextBox 32"/>
            <p:cNvSpPr txBox="1"/>
            <p:nvPr/>
          </p:nvSpPr>
          <p:spPr>
            <a:xfrm>
              <a:off x="5028960" y="3918305"/>
              <a:ext cx="873129" cy="369332"/>
            </a:xfrm>
            <a:prstGeom prst="rect">
              <a:avLst/>
            </a:prstGeom>
            <a:noFill/>
          </p:spPr>
          <p:txBody>
            <a:bodyPr wrap="square" rtlCol="0">
              <a:spAutoFit/>
            </a:bodyPr>
            <a:lstStyle/>
            <a:p>
              <a:r>
                <a:rPr lang="en-US" altLang="zh-CN" dirty="0"/>
                <a:t>……</a:t>
              </a:r>
              <a:endParaRPr lang="zh-CN" altLang="en-US" dirty="0"/>
            </a:p>
          </p:txBody>
        </p:sp>
        <p:sp>
          <p:nvSpPr>
            <p:cNvPr id="34" name="TextBox 33"/>
            <p:cNvSpPr txBox="1"/>
            <p:nvPr/>
          </p:nvSpPr>
          <p:spPr>
            <a:xfrm>
              <a:off x="5028960" y="3755061"/>
              <a:ext cx="864095" cy="369332"/>
            </a:xfrm>
            <a:prstGeom prst="rect">
              <a:avLst/>
            </a:prstGeom>
            <a:noFill/>
          </p:spPr>
          <p:txBody>
            <a:bodyPr wrap="square" rtlCol="0">
              <a:spAutoFit/>
            </a:bodyPr>
            <a:lstStyle/>
            <a:p>
              <a:r>
                <a:rPr lang="en-US" altLang="zh-CN" dirty="0"/>
                <a:t>N(s)</a:t>
              </a:r>
              <a:endParaRPr lang="zh-CN" altLang="en-US" dirty="0"/>
            </a:p>
          </p:txBody>
        </p:sp>
      </p:grpSp>
      <p:sp>
        <p:nvSpPr>
          <p:cNvPr id="35" name="TextBox 34"/>
          <p:cNvSpPr txBox="1"/>
          <p:nvPr/>
        </p:nvSpPr>
        <p:spPr>
          <a:xfrm>
            <a:off x="3761372" y="3877655"/>
            <a:ext cx="819473" cy="369332"/>
          </a:xfrm>
          <a:prstGeom prst="rect">
            <a:avLst/>
          </a:prstGeom>
          <a:noFill/>
        </p:spPr>
        <p:txBody>
          <a:bodyPr wrap="square" rtlCol="0">
            <a:spAutoFit/>
          </a:bodyPr>
          <a:lstStyle/>
          <a:p>
            <a:r>
              <a:rPr lang="en-US" altLang="zh-CN" dirty="0"/>
              <a:t>==&gt;</a:t>
            </a:r>
            <a:endParaRPr lang="zh-CN" altLang="en-US" dirty="0"/>
          </a:p>
        </p:txBody>
      </p:sp>
      <p:grpSp>
        <p:nvGrpSpPr>
          <p:cNvPr id="5" name="组合 4"/>
          <p:cNvGrpSpPr/>
          <p:nvPr/>
        </p:nvGrpSpPr>
        <p:grpSpPr>
          <a:xfrm>
            <a:off x="2437271" y="3900049"/>
            <a:ext cx="953194" cy="369332"/>
            <a:chOff x="2437271" y="3900049"/>
            <a:chExt cx="953194" cy="369332"/>
          </a:xfrm>
        </p:grpSpPr>
        <p:sp>
          <p:nvSpPr>
            <p:cNvPr id="36" name="椭圆 35"/>
            <p:cNvSpPr/>
            <p:nvPr/>
          </p:nvSpPr>
          <p:spPr>
            <a:xfrm>
              <a:off x="3102433" y="3922443"/>
              <a:ext cx="288032" cy="288032"/>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zh-CN" altLang="en-US" dirty="0">
                <a:solidFill>
                  <a:schemeClr val="tx1"/>
                </a:solidFill>
              </a:endParaRPr>
            </a:p>
          </p:txBody>
        </p:sp>
        <p:sp>
          <p:nvSpPr>
            <p:cNvPr id="37" name="TextBox 36"/>
            <p:cNvSpPr txBox="1"/>
            <p:nvPr/>
          </p:nvSpPr>
          <p:spPr>
            <a:xfrm>
              <a:off x="2437271" y="3900049"/>
              <a:ext cx="819473" cy="369332"/>
            </a:xfrm>
            <a:prstGeom prst="rect">
              <a:avLst/>
            </a:prstGeom>
            <a:noFill/>
          </p:spPr>
          <p:txBody>
            <a:bodyPr wrap="square" rtlCol="0">
              <a:spAutoFit/>
            </a:bodyPr>
            <a:lstStyle/>
            <a:p>
              <a:r>
                <a:rPr lang="en-US" altLang="zh-CN" dirty="0"/>
                <a:t>==&gt;</a:t>
              </a:r>
              <a:endParaRPr lang="zh-CN" altLang="en-US" dirty="0"/>
            </a:p>
          </p:txBody>
        </p:sp>
      </p:grpSp>
      <p:sp>
        <p:nvSpPr>
          <p:cNvPr id="38" name="椭圆 37"/>
          <p:cNvSpPr/>
          <p:nvPr/>
        </p:nvSpPr>
        <p:spPr>
          <a:xfrm>
            <a:off x="7528724" y="3958955"/>
            <a:ext cx="288032" cy="288032"/>
          </a:xfrm>
          <a:prstGeom prst="ellipse">
            <a:avLst/>
          </a:prstGeom>
          <a:ln w="762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Y</a:t>
            </a:r>
            <a:endParaRPr lang="zh-CN" altLang="en-US" dirty="0">
              <a:solidFill>
                <a:schemeClr val="tx1"/>
              </a:solidFill>
            </a:endParaRPr>
          </a:p>
        </p:txBody>
      </p:sp>
      <p:sp>
        <p:nvSpPr>
          <p:cNvPr id="39" name="椭圆 38"/>
          <p:cNvSpPr/>
          <p:nvPr/>
        </p:nvSpPr>
        <p:spPr>
          <a:xfrm>
            <a:off x="6014287" y="3891400"/>
            <a:ext cx="360040" cy="377981"/>
          </a:xfrm>
          <a:prstGeom prst="ellipse">
            <a:avLst/>
          </a:prstGeom>
          <a:ln w="28575"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40" name="组合 39"/>
          <p:cNvGrpSpPr/>
          <p:nvPr/>
        </p:nvGrpSpPr>
        <p:grpSpPr>
          <a:xfrm>
            <a:off x="3390465" y="3622805"/>
            <a:ext cx="1036069" cy="522685"/>
            <a:chOff x="2954021" y="1347614"/>
            <a:chExt cx="1036069" cy="522685"/>
          </a:xfrm>
        </p:grpSpPr>
        <p:cxnSp>
          <p:nvCxnSpPr>
            <p:cNvPr id="41" name="直接箭头连接符 40"/>
            <p:cNvCxnSpPr/>
            <p:nvPr/>
          </p:nvCxnSpPr>
          <p:spPr>
            <a:xfrm flipV="1">
              <a:off x="2954021" y="1782992"/>
              <a:ext cx="1036069" cy="4138"/>
            </a:xfrm>
            <a:prstGeom prst="straightConnector1">
              <a:avLst/>
            </a:prstGeom>
            <a:ln w="28575">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42" name="Text Box 13"/>
            <p:cNvSpPr txBox="1">
              <a:spLocks noChangeArrowheads="1"/>
            </p:cNvSpPr>
            <p:nvPr/>
          </p:nvSpPr>
          <p:spPr bwMode="auto">
            <a:xfrm>
              <a:off x="3178696" y="1347614"/>
              <a:ext cx="457200" cy="52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43" name="组合 42"/>
          <p:cNvGrpSpPr/>
          <p:nvPr/>
        </p:nvGrpSpPr>
        <p:grpSpPr>
          <a:xfrm>
            <a:off x="6353635" y="3614048"/>
            <a:ext cx="1175089" cy="522685"/>
            <a:chOff x="5917191" y="1338857"/>
            <a:chExt cx="1175089" cy="522685"/>
          </a:xfrm>
        </p:grpSpPr>
        <p:cxnSp>
          <p:nvCxnSpPr>
            <p:cNvPr id="44" name="直接箭头连接符 43"/>
            <p:cNvCxnSpPr>
              <a:stCxn id="31" idx="6"/>
            </p:cNvCxnSpPr>
            <p:nvPr/>
          </p:nvCxnSpPr>
          <p:spPr>
            <a:xfrm>
              <a:off x="5917191" y="1787130"/>
              <a:ext cx="1175089" cy="36512"/>
            </a:xfrm>
            <a:prstGeom prst="straightConnector1">
              <a:avLst/>
            </a:prstGeom>
            <a:ln w="28575">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45" name="Text Box 13"/>
            <p:cNvSpPr txBox="1">
              <a:spLocks noChangeArrowheads="1"/>
            </p:cNvSpPr>
            <p:nvPr/>
          </p:nvSpPr>
          <p:spPr bwMode="auto">
            <a:xfrm>
              <a:off x="6276135" y="1338857"/>
              <a:ext cx="457200" cy="52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46" name="组合 45"/>
          <p:cNvGrpSpPr/>
          <p:nvPr/>
        </p:nvGrpSpPr>
        <p:grpSpPr>
          <a:xfrm>
            <a:off x="4536957" y="3039244"/>
            <a:ext cx="1657350" cy="828650"/>
            <a:chOff x="4100513" y="771550"/>
            <a:chExt cx="1657350" cy="828650"/>
          </a:xfrm>
        </p:grpSpPr>
        <p:sp>
          <p:nvSpPr>
            <p:cNvPr id="47" name="任意多边形 46"/>
            <p:cNvSpPr/>
            <p:nvPr/>
          </p:nvSpPr>
          <p:spPr>
            <a:xfrm>
              <a:off x="4100513" y="1171570"/>
              <a:ext cx="1657350" cy="428630"/>
            </a:xfrm>
            <a:custGeom>
              <a:avLst/>
              <a:gdLst>
                <a:gd name="connsiteX0" fmla="*/ 1657350 w 1657350"/>
                <a:gd name="connsiteY0" fmla="*/ 842973 h 857260"/>
                <a:gd name="connsiteX1" fmla="*/ 1143000 w 1657350"/>
                <a:gd name="connsiteY1" fmla="*/ 10 h 857260"/>
                <a:gd name="connsiteX2" fmla="*/ 0 w 1657350"/>
                <a:gd name="connsiteY2" fmla="*/ 857260 h 857260"/>
                <a:gd name="connsiteX3" fmla="*/ 0 w 1657350"/>
                <a:gd name="connsiteY3" fmla="*/ 857260 h 857260"/>
              </a:gdLst>
              <a:ahLst/>
              <a:cxnLst>
                <a:cxn ang="0">
                  <a:pos x="connsiteX0" y="connsiteY0"/>
                </a:cxn>
                <a:cxn ang="0">
                  <a:pos x="connsiteX1" y="connsiteY1"/>
                </a:cxn>
                <a:cxn ang="0">
                  <a:pos x="connsiteX2" y="connsiteY2"/>
                </a:cxn>
                <a:cxn ang="0">
                  <a:pos x="connsiteX3" y="connsiteY3"/>
                </a:cxn>
              </a:cxnLst>
              <a:rect l="l" t="t" r="r" b="b"/>
              <a:pathLst>
                <a:path w="1657350" h="857260">
                  <a:moveTo>
                    <a:pt x="1657350" y="842973"/>
                  </a:moveTo>
                  <a:cubicBezTo>
                    <a:pt x="1538287" y="420301"/>
                    <a:pt x="1419225" y="-2371"/>
                    <a:pt x="1143000" y="10"/>
                  </a:cubicBezTo>
                  <a:cubicBezTo>
                    <a:pt x="866775" y="2391"/>
                    <a:pt x="0" y="857260"/>
                    <a:pt x="0" y="857260"/>
                  </a:cubicBezTo>
                  <a:lnTo>
                    <a:pt x="0" y="857260"/>
                  </a:lnTo>
                </a:path>
              </a:pathLst>
            </a:custGeom>
            <a:noFill/>
            <a:ln w="28575">
              <a:solidFill>
                <a:srgbClr val="CC00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 Box 13"/>
            <p:cNvSpPr txBox="1">
              <a:spLocks noChangeArrowheads="1"/>
            </p:cNvSpPr>
            <p:nvPr/>
          </p:nvSpPr>
          <p:spPr bwMode="auto">
            <a:xfrm>
              <a:off x="4700588" y="771550"/>
              <a:ext cx="457200" cy="52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49" name="组合 48"/>
          <p:cNvGrpSpPr/>
          <p:nvPr/>
        </p:nvGrpSpPr>
        <p:grpSpPr>
          <a:xfrm>
            <a:off x="3336807" y="4189716"/>
            <a:ext cx="4257675" cy="668349"/>
            <a:chOff x="2900363" y="1914525"/>
            <a:chExt cx="4257675" cy="668349"/>
          </a:xfrm>
        </p:grpSpPr>
        <p:sp>
          <p:nvSpPr>
            <p:cNvPr id="50" name="任意多边形 49"/>
            <p:cNvSpPr/>
            <p:nvPr/>
          </p:nvSpPr>
          <p:spPr>
            <a:xfrm>
              <a:off x="2900363" y="1914525"/>
              <a:ext cx="4257675" cy="441201"/>
            </a:xfrm>
            <a:custGeom>
              <a:avLst/>
              <a:gdLst>
                <a:gd name="connsiteX0" fmla="*/ 0 w 4257675"/>
                <a:gd name="connsiteY0" fmla="*/ 0 h 643201"/>
                <a:gd name="connsiteX1" fmla="*/ 1885950 w 4257675"/>
                <a:gd name="connsiteY1" fmla="*/ 642938 h 643201"/>
                <a:gd name="connsiteX2" fmla="*/ 4257675 w 4257675"/>
                <a:gd name="connsiteY2" fmla="*/ 85725 h 643201"/>
                <a:gd name="connsiteX3" fmla="*/ 4257675 w 4257675"/>
                <a:gd name="connsiteY3" fmla="*/ 85725 h 643201"/>
              </a:gdLst>
              <a:ahLst/>
              <a:cxnLst>
                <a:cxn ang="0">
                  <a:pos x="connsiteX0" y="connsiteY0"/>
                </a:cxn>
                <a:cxn ang="0">
                  <a:pos x="connsiteX1" y="connsiteY1"/>
                </a:cxn>
                <a:cxn ang="0">
                  <a:pos x="connsiteX2" y="connsiteY2"/>
                </a:cxn>
                <a:cxn ang="0">
                  <a:pos x="connsiteX3" y="connsiteY3"/>
                </a:cxn>
              </a:cxnLst>
              <a:rect l="l" t="t" r="r" b="b"/>
              <a:pathLst>
                <a:path w="4257675" h="643201">
                  <a:moveTo>
                    <a:pt x="0" y="0"/>
                  </a:moveTo>
                  <a:cubicBezTo>
                    <a:pt x="588169" y="314325"/>
                    <a:pt x="1176338" y="628651"/>
                    <a:pt x="1885950" y="642938"/>
                  </a:cubicBezTo>
                  <a:cubicBezTo>
                    <a:pt x="2595562" y="657225"/>
                    <a:pt x="4257675" y="85725"/>
                    <a:pt x="4257675" y="85725"/>
                  </a:cubicBezTo>
                  <a:lnTo>
                    <a:pt x="4257675" y="85725"/>
                  </a:lnTo>
                </a:path>
              </a:pathLst>
            </a:custGeom>
            <a:noFill/>
            <a:ln w="28575">
              <a:solidFill>
                <a:srgbClr val="CC00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Text Box 13"/>
            <p:cNvSpPr txBox="1">
              <a:spLocks noChangeArrowheads="1"/>
            </p:cNvSpPr>
            <p:nvPr/>
          </p:nvSpPr>
          <p:spPr bwMode="auto">
            <a:xfrm>
              <a:off x="3687201" y="2060189"/>
              <a:ext cx="457200" cy="52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kumimoji="1" lang="en-US" altLang="zh-CN" sz="2800" dirty="0">
                  <a:latin typeface="Verdana" pitchFamily="34" charset="0"/>
                  <a:sym typeface="Symbol" pitchFamily="18" charset="2"/>
                </a:rPr>
                <a:t></a:t>
              </a:r>
            </a:p>
          </p:txBody>
        </p:sp>
      </p:grpSp>
    </p:spTree>
    <p:extLst>
      <p:ext uri="{BB962C8B-B14F-4D97-AF65-F5344CB8AC3E}">
        <p14:creationId xmlns:p14="http://schemas.microsoft.com/office/powerpoint/2010/main" val="897703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childTnLst>
                          </p:cTn>
                        </p:par>
                        <p:par>
                          <p:cTn id="15" fill="hold">
                            <p:stCondLst>
                              <p:cond delay="0"/>
                            </p:stCondLst>
                            <p:childTnLst>
                              <p:par>
                                <p:cTn id="16" presetID="22" presetClass="entr" presetSubtype="2" fill="hold"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right)">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37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35"/>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2" grpId="0" animBg="1" autoUpdateAnimBg="0"/>
      <p:bldP spid="35" grpId="0"/>
      <p:bldP spid="35" grpId="1"/>
      <p:bldP spid="38" grpId="0" animBg="1"/>
      <p:bldP spid="3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54732" y="195486"/>
            <a:ext cx="8229600" cy="479822"/>
          </a:xfrm>
        </p:spPr>
        <p:txBody>
          <a:bodyPr>
            <a:normAutofit fontScale="90000"/>
          </a:bodyPr>
          <a:lstStyle/>
          <a:p>
            <a:r>
              <a:rPr lang="zh-CN" altLang="en-US" dirty="0"/>
              <a:t>例：构造正则表达式</a:t>
            </a:r>
            <a:r>
              <a:rPr lang="en-US" altLang="zh-CN" dirty="0"/>
              <a:t>01</a:t>
            </a:r>
            <a:r>
              <a:rPr lang="en-US" altLang="zh-CN" baseline="30000" dirty="0"/>
              <a:t>*</a:t>
            </a:r>
            <a:r>
              <a:rPr lang="en-US" altLang="zh-CN" dirty="0"/>
              <a:t>|1</a:t>
            </a:r>
            <a:r>
              <a:rPr lang="zh-CN" altLang="en-US" dirty="0"/>
              <a:t>的</a:t>
            </a:r>
            <a:r>
              <a:rPr lang="en-US" altLang="zh-CN" dirty="0"/>
              <a:t>NFA</a:t>
            </a:r>
            <a:endParaRPr lang="en-US" altLang="zh-CN" sz="3600" dirty="0"/>
          </a:p>
        </p:txBody>
      </p:sp>
      <p:sp>
        <p:nvSpPr>
          <p:cNvPr id="89097" name="Text Box 9"/>
          <p:cNvSpPr txBox="1">
            <a:spLocks noChangeArrowheads="1"/>
          </p:cNvSpPr>
          <p:nvPr/>
        </p:nvSpPr>
        <p:spPr bwMode="auto">
          <a:xfrm>
            <a:off x="930156" y="1028700"/>
            <a:ext cx="27051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800" dirty="0"/>
              <a:t>R = 1</a:t>
            </a:r>
            <a:r>
              <a:rPr lang="zh-CN" altLang="en-US" sz="2800" dirty="0"/>
              <a:t>的</a:t>
            </a:r>
            <a:r>
              <a:rPr lang="en-US" altLang="zh-CN" sz="2800" dirty="0"/>
              <a:t>NFA: </a:t>
            </a:r>
          </a:p>
        </p:txBody>
      </p:sp>
      <p:sp>
        <p:nvSpPr>
          <p:cNvPr id="89098" name="Text Box 10"/>
          <p:cNvSpPr txBox="1">
            <a:spLocks noChangeArrowheads="1"/>
          </p:cNvSpPr>
          <p:nvPr/>
        </p:nvSpPr>
        <p:spPr bwMode="auto">
          <a:xfrm>
            <a:off x="930156" y="2057400"/>
            <a:ext cx="27051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800" dirty="0"/>
              <a:t>R = 1*</a:t>
            </a:r>
            <a:r>
              <a:rPr lang="zh-CN" altLang="en-US" sz="2800" dirty="0"/>
              <a:t>的</a:t>
            </a:r>
            <a:r>
              <a:rPr lang="en-US" altLang="zh-CN" sz="2800" dirty="0"/>
              <a:t>NFA: </a:t>
            </a:r>
          </a:p>
        </p:txBody>
      </p:sp>
      <p:sp>
        <p:nvSpPr>
          <p:cNvPr id="89137" name="Text Box 49"/>
          <p:cNvSpPr txBox="1">
            <a:spLocks noChangeArrowheads="1"/>
          </p:cNvSpPr>
          <p:nvPr/>
        </p:nvSpPr>
        <p:spPr bwMode="auto">
          <a:xfrm>
            <a:off x="930156" y="3143250"/>
            <a:ext cx="30657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800" dirty="0"/>
              <a:t>R = 01*</a:t>
            </a:r>
            <a:r>
              <a:rPr lang="zh-CN" altLang="en-US" sz="2800" dirty="0"/>
              <a:t>的</a:t>
            </a:r>
            <a:r>
              <a:rPr lang="en-US" altLang="zh-CN" sz="2800" dirty="0"/>
              <a:t>NFA: </a:t>
            </a:r>
          </a:p>
        </p:txBody>
      </p:sp>
      <p:grpSp>
        <p:nvGrpSpPr>
          <p:cNvPr id="2" name="Group 65"/>
          <p:cNvGrpSpPr>
            <a:grpSpLocks/>
          </p:cNvGrpSpPr>
          <p:nvPr/>
        </p:nvGrpSpPr>
        <p:grpSpPr bwMode="auto">
          <a:xfrm>
            <a:off x="4191000" y="857250"/>
            <a:ext cx="2362200" cy="514350"/>
            <a:chOff x="2640" y="720"/>
            <a:chExt cx="1488" cy="432"/>
          </a:xfrm>
        </p:grpSpPr>
        <p:sp>
          <p:nvSpPr>
            <p:cNvPr id="88117" name="Oval 23"/>
            <p:cNvSpPr>
              <a:spLocks noChangeArrowheads="1"/>
            </p:cNvSpPr>
            <p:nvPr/>
          </p:nvSpPr>
          <p:spPr bwMode="auto">
            <a:xfrm>
              <a:off x="3696" y="768"/>
              <a:ext cx="432" cy="384"/>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8118" name="Oval 4"/>
            <p:cNvSpPr>
              <a:spLocks noChangeArrowheads="1"/>
            </p:cNvSpPr>
            <p:nvPr/>
          </p:nvSpPr>
          <p:spPr bwMode="auto">
            <a:xfrm>
              <a:off x="2928" y="816"/>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q0</a:t>
              </a:r>
            </a:p>
          </p:txBody>
        </p:sp>
        <p:sp>
          <p:nvSpPr>
            <p:cNvPr id="88119" name="Oval 5"/>
            <p:cNvSpPr>
              <a:spLocks noChangeArrowheads="1"/>
            </p:cNvSpPr>
            <p:nvPr/>
          </p:nvSpPr>
          <p:spPr bwMode="auto">
            <a:xfrm>
              <a:off x="3744" y="816"/>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q1</a:t>
              </a:r>
            </a:p>
          </p:txBody>
        </p:sp>
        <p:sp>
          <p:nvSpPr>
            <p:cNvPr id="88120" name="Line 6"/>
            <p:cNvSpPr>
              <a:spLocks noChangeShapeType="1"/>
            </p:cNvSpPr>
            <p:nvPr/>
          </p:nvSpPr>
          <p:spPr bwMode="auto">
            <a:xfrm>
              <a:off x="3264" y="960"/>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121" name="Text Box 8"/>
            <p:cNvSpPr txBox="1">
              <a:spLocks noChangeArrowheads="1"/>
            </p:cNvSpPr>
            <p:nvPr/>
          </p:nvSpPr>
          <p:spPr bwMode="auto">
            <a:xfrm>
              <a:off x="3312" y="720"/>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sp>
          <p:nvSpPr>
            <p:cNvPr id="88122" name="AutoShape 51"/>
            <p:cNvSpPr>
              <a:spLocks noChangeArrowheads="1"/>
            </p:cNvSpPr>
            <p:nvPr/>
          </p:nvSpPr>
          <p:spPr bwMode="auto">
            <a:xfrm>
              <a:off x="2640" y="912"/>
              <a:ext cx="288" cy="96"/>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3" name="Group 68"/>
          <p:cNvGrpSpPr>
            <a:grpSpLocks/>
          </p:cNvGrpSpPr>
          <p:nvPr/>
        </p:nvGrpSpPr>
        <p:grpSpPr bwMode="auto">
          <a:xfrm>
            <a:off x="5715000" y="2135982"/>
            <a:ext cx="1828800" cy="389335"/>
            <a:chOff x="3600" y="1794"/>
            <a:chExt cx="1152" cy="327"/>
          </a:xfrm>
        </p:grpSpPr>
        <p:sp>
          <p:nvSpPr>
            <p:cNvPr id="88113" name="Oval 12"/>
            <p:cNvSpPr>
              <a:spLocks noChangeArrowheads="1"/>
            </p:cNvSpPr>
            <p:nvPr/>
          </p:nvSpPr>
          <p:spPr bwMode="auto">
            <a:xfrm>
              <a:off x="3600" y="1833"/>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q0</a:t>
              </a:r>
            </a:p>
          </p:txBody>
        </p:sp>
        <p:sp>
          <p:nvSpPr>
            <p:cNvPr id="88114" name="Oval 13"/>
            <p:cNvSpPr>
              <a:spLocks noChangeArrowheads="1"/>
            </p:cNvSpPr>
            <p:nvPr/>
          </p:nvSpPr>
          <p:spPr bwMode="auto">
            <a:xfrm>
              <a:off x="4416" y="1833"/>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q1</a:t>
              </a:r>
            </a:p>
          </p:txBody>
        </p:sp>
        <p:sp>
          <p:nvSpPr>
            <p:cNvPr id="88115" name="Line 14"/>
            <p:cNvSpPr>
              <a:spLocks noChangeShapeType="1"/>
            </p:cNvSpPr>
            <p:nvPr/>
          </p:nvSpPr>
          <p:spPr bwMode="auto">
            <a:xfrm>
              <a:off x="3936" y="197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116" name="Text Box 15"/>
            <p:cNvSpPr txBox="1">
              <a:spLocks noChangeArrowheads="1"/>
            </p:cNvSpPr>
            <p:nvPr/>
          </p:nvSpPr>
          <p:spPr bwMode="auto">
            <a:xfrm>
              <a:off x="3984" y="1794"/>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grpSp>
      <p:grpSp>
        <p:nvGrpSpPr>
          <p:cNvPr id="10" name="组合 9"/>
          <p:cNvGrpSpPr/>
          <p:nvPr/>
        </p:nvGrpSpPr>
        <p:grpSpPr>
          <a:xfrm>
            <a:off x="8153400" y="2068116"/>
            <a:ext cx="685800" cy="457200"/>
            <a:chOff x="8153400" y="2068116"/>
            <a:chExt cx="685800" cy="457200"/>
          </a:xfrm>
        </p:grpSpPr>
        <p:sp>
          <p:nvSpPr>
            <p:cNvPr id="88101" name="Oval 25"/>
            <p:cNvSpPr>
              <a:spLocks noChangeArrowheads="1"/>
            </p:cNvSpPr>
            <p:nvPr/>
          </p:nvSpPr>
          <p:spPr bwMode="auto">
            <a:xfrm>
              <a:off x="8153400" y="2068116"/>
              <a:ext cx="6858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8103" name="Oval 17"/>
            <p:cNvSpPr>
              <a:spLocks noChangeArrowheads="1"/>
            </p:cNvSpPr>
            <p:nvPr/>
          </p:nvSpPr>
          <p:spPr bwMode="auto">
            <a:xfrm>
              <a:off x="8229600" y="2125266"/>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q3</a:t>
              </a:r>
            </a:p>
          </p:txBody>
        </p:sp>
      </p:grpSp>
      <p:grpSp>
        <p:nvGrpSpPr>
          <p:cNvPr id="12" name="组合 11"/>
          <p:cNvGrpSpPr/>
          <p:nvPr/>
        </p:nvGrpSpPr>
        <p:grpSpPr>
          <a:xfrm>
            <a:off x="5257800" y="1923678"/>
            <a:ext cx="457200" cy="522684"/>
            <a:chOff x="5257800" y="1923678"/>
            <a:chExt cx="457200" cy="522684"/>
          </a:xfrm>
        </p:grpSpPr>
        <p:sp>
          <p:nvSpPr>
            <p:cNvPr id="88104" name="Line 18"/>
            <p:cNvSpPr>
              <a:spLocks noChangeShapeType="1"/>
            </p:cNvSpPr>
            <p:nvPr/>
          </p:nvSpPr>
          <p:spPr bwMode="auto">
            <a:xfrm>
              <a:off x="5257800" y="2353866"/>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106" name="Rectangle 20"/>
            <p:cNvSpPr>
              <a:spLocks noChangeArrowheads="1"/>
            </p:cNvSpPr>
            <p:nvPr/>
          </p:nvSpPr>
          <p:spPr bwMode="auto">
            <a:xfrm>
              <a:off x="5332413" y="1923678"/>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grpSp>
      <p:grpSp>
        <p:nvGrpSpPr>
          <p:cNvPr id="13" name="组合 12"/>
          <p:cNvGrpSpPr/>
          <p:nvPr/>
        </p:nvGrpSpPr>
        <p:grpSpPr>
          <a:xfrm>
            <a:off x="7543800" y="1923678"/>
            <a:ext cx="609600" cy="522684"/>
            <a:chOff x="7543800" y="1923678"/>
            <a:chExt cx="609600" cy="522684"/>
          </a:xfrm>
        </p:grpSpPr>
        <p:sp>
          <p:nvSpPr>
            <p:cNvPr id="88105" name="Line 19"/>
            <p:cNvSpPr>
              <a:spLocks noChangeShapeType="1"/>
            </p:cNvSpPr>
            <p:nvPr/>
          </p:nvSpPr>
          <p:spPr bwMode="auto">
            <a:xfrm>
              <a:off x="7543800" y="2353866"/>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107" name="Rectangle 21"/>
            <p:cNvSpPr>
              <a:spLocks noChangeArrowheads="1"/>
            </p:cNvSpPr>
            <p:nvPr/>
          </p:nvSpPr>
          <p:spPr bwMode="auto">
            <a:xfrm>
              <a:off x="7583488" y="1923678"/>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14" name="组合 13"/>
          <p:cNvGrpSpPr/>
          <p:nvPr/>
        </p:nvGrpSpPr>
        <p:grpSpPr>
          <a:xfrm>
            <a:off x="6019800" y="1491630"/>
            <a:ext cx="1295400" cy="690786"/>
            <a:chOff x="6019800" y="1491630"/>
            <a:chExt cx="1295400" cy="690786"/>
          </a:xfrm>
        </p:grpSpPr>
        <p:sp>
          <p:nvSpPr>
            <p:cNvPr id="88108" name="Freeform 27"/>
            <p:cNvSpPr>
              <a:spLocks/>
            </p:cNvSpPr>
            <p:nvPr/>
          </p:nvSpPr>
          <p:spPr bwMode="auto">
            <a:xfrm>
              <a:off x="6019800" y="1953816"/>
              <a:ext cx="1295400" cy="228600"/>
            </a:xfrm>
            <a:custGeom>
              <a:avLst/>
              <a:gdLst>
                <a:gd name="T0" fmla="*/ 816 w 816"/>
                <a:gd name="T1" fmla="*/ 549 h 165"/>
                <a:gd name="T2" fmla="*/ 420 w 816"/>
                <a:gd name="T3" fmla="*/ 0 h 165"/>
                <a:gd name="T4" fmla="*/ 0 w 816"/>
                <a:gd name="T5" fmla="*/ 552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09" name="Rectangle 28"/>
            <p:cNvSpPr>
              <a:spLocks noChangeArrowheads="1"/>
            </p:cNvSpPr>
            <p:nvPr/>
          </p:nvSpPr>
          <p:spPr bwMode="auto">
            <a:xfrm>
              <a:off x="6475413" y="1491630"/>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11" name="组合 10"/>
          <p:cNvGrpSpPr/>
          <p:nvPr/>
        </p:nvGrpSpPr>
        <p:grpSpPr>
          <a:xfrm>
            <a:off x="5029200" y="2525316"/>
            <a:ext cx="3352800" cy="636984"/>
            <a:chOff x="5029200" y="2525316"/>
            <a:chExt cx="3352800" cy="636984"/>
          </a:xfrm>
        </p:grpSpPr>
        <p:sp>
          <p:nvSpPr>
            <p:cNvPr id="88110" name="Freeform 30"/>
            <p:cNvSpPr>
              <a:spLocks/>
            </p:cNvSpPr>
            <p:nvPr/>
          </p:nvSpPr>
          <p:spPr bwMode="auto">
            <a:xfrm flipH="1" flipV="1">
              <a:off x="5029200" y="2525316"/>
              <a:ext cx="3352800" cy="228600"/>
            </a:xfrm>
            <a:custGeom>
              <a:avLst/>
              <a:gdLst>
                <a:gd name="T0" fmla="*/ 1643188 w 816"/>
                <a:gd name="T1" fmla="*/ 549 h 165"/>
                <a:gd name="T2" fmla="*/ 845683 w 816"/>
                <a:gd name="T3" fmla="*/ 0 h 165"/>
                <a:gd name="T4" fmla="*/ 0 w 816"/>
                <a:gd name="T5" fmla="*/ 552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11" name="Rectangle 31"/>
            <p:cNvSpPr>
              <a:spLocks noChangeArrowheads="1"/>
            </p:cNvSpPr>
            <p:nvPr/>
          </p:nvSpPr>
          <p:spPr bwMode="auto">
            <a:xfrm>
              <a:off x="6475413" y="2639616"/>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8" name="组合 7"/>
          <p:cNvGrpSpPr/>
          <p:nvPr/>
        </p:nvGrpSpPr>
        <p:grpSpPr>
          <a:xfrm>
            <a:off x="4267200" y="2182416"/>
            <a:ext cx="990600" cy="342900"/>
            <a:chOff x="4267200" y="2182416"/>
            <a:chExt cx="990600" cy="342900"/>
          </a:xfrm>
        </p:grpSpPr>
        <p:sp>
          <p:nvSpPr>
            <p:cNvPr id="88102" name="Oval 16"/>
            <p:cNvSpPr>
              <a:spLocks noChangeArrowheads="1"/>
            </p:cNvSpPr>
            <p:nvPr/>
          </p:nvSpPr>
          <p:spPr bwMode="auto">
            <a:xfrm>
              <a:off x="4724400" y="2182416"/>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q2</a:t>
              </a:r>
            </a:p>
          </p:txBody>
        </p:sp>
        <p:sp>
          <p:nvSpPr>
            <p:cNvPr id="88112" name="AutoShape 52"/>
            <p:cNvSpPr>
              <a:spLocks noChangeArrowheads="1"/>
            </p:cNvSpPr>
            <p:nvPr/>
          </p:nvSpPr>
          <p:spPr bwMode="auto">
            <a:xfrm>
              <a:off x="4267200" y="2343150"/>
              <a:ext cx="457200" cy="1143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7" name="Group 84"/>
          <p:cNvGrpSpPr>
            <a:grpSpLocks/>
          </p:cNvGrpSpPr>
          <p:nvPr/>
        </p:nvGrpSpPr>
        <p:grpSpPr bwMode="auto">
          <a:xfrm>
            <a:off x="1733550" y="3939779"/>
            <a:ext cx="2305050" cy="457200"/>
            <a:chOff x="1092" y="3309"/>
            <a:chExt cx="1452" cy="384"/>
          </a:xfrm>
        </p:grpSpPr>
        <p:grpSp>
          <p:nvGrpSpPr>
            <p:cNvPr id="88080" name="Group 70"/>
            <p:cNvGrpSpPr>
              <a:grpSpLocks/>
            </p:cNvGrpSpPr>
            <p:nvPr/>
          </p:nvGrpSpPr>
          <p:grpSpPr bwMode="auto">
            <a:xfrm>
              <a:off x="1440" y="3309"/>
              <a:ext cx="1104" cy="384"/>
              <a:chOff x="1440" y="3273"/>
              <a:chExt cx="1104" cy="384"/>
            </a:xfrm>
          </p:grpSpPr>
          <p:sp>
            <p:nvSpPr>
              <p:cNvPr id="88082" name="Oval 55"/>
              <p:cNvSpPr>
                <a:spLocks noChangeArrowheads="1"/>
              </p:cNvSpPr>
              <p:nvPr/>
            </p:nvSpPr>
            <p:spPr bwMode="auto">
              <a:xfrm>
                <a:off x="1440" y="3369"/>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q4</a:t>
                </a:r>
              </a:p>
            </p:txBody>
          </p:sp>
          <p:sp>
            <p:nvSpPr>
              <p:cNvPr id="88083" name="Oval 56"/>
              <p:cNvSpPr>
                <a:spLocks noChangeArrowheads="1"/>
              </p:cNvSpPr>
              <p:nvPr/>
            </p:nvSpPr>
            <p:spPr bwMode="auto">
              <a:xfrm>
                <a:off x="2208" y="3369"/>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q5</a:t>
                </a:r>
              </a:p>
            </p:txBody>
          </p:sp>
          <p:sp>
            <p:nvSpPr>
              <p:cNvPr id="88084" name="Line 57"/>
              <p:cNvSpPr>
                <a:spLocks noChangeShapeType="1"/>
              </p:cNvSpPr>
              <p:nvPr/>
            </p:nvSpPr>
            <p:spPr bwMode="auto">
              <a:xfrm>
                <a:off x="1776" y="3513"/>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5" name="Text Box 58"/>
              <p:cNvSpPr txBox="1">
                <a:spLocks noChangeArrowheads="1"/>
              </p:cNvSpPr>
              <p:nvPr/>
            </p:nvSpPr>
            <p:spPr bwMode="auto">
              <a:xfrm>
                <a:off x="1776" y="3273"/>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0</a:t>
                </a:r>
              </a:p>
            </p:txBody>
          </p:sp>
        </p:grpSp>
        <p:sp>
          <p:nvSpPr>
            <p:cNvPr id="88081" name="AutoShape 83"/>
            <p:cNvSpPr>
              <a:spLocks noChangeArrowheads="1"/>
            </p:cNvSpPr>
            <p:nvPr/>
          </p:nvSpPr>
          <p:spPr bwMode="auto">
            <a:xfrm>
              <a:off x="1092" y="3504"/>
              <a:ext cx="348" cy="96"/>
            </a:xfrm>
            <a:prstGeom prst="rightArrow">
              <a:avLst>
                <a:gd name="adj1" fmla="val 50000"/>
                <a:gd name="adj2" fmla="val 9062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grpSp>
        <p:nvGrpSpPr>
          <p:cNvPr id="9" name="Group 82"/>
          <p:cNvGrpSpPr>
            <a:grpSpLocks/>
          </p:cNvGrpSpPr>
          <p:nvPr/>
        </p:nvGrpSpPr>
        <p:grpSpPr bwMode="auto">
          <a:xfrm>
            <a:off x="2819882" y="3939902"/>
            <a:ext cx="1752119" cy="485775"/>
            <a:chOff x="1685" y="3816"/>
            <a:chExt cx="1183" cy="408"/>
          </a:xfrm>
        </p:grpSpPr>
        <p:sp>
          <p:nvSpPr>
            <p:cNvPr id="88077" name="Rectangle 80"/>
            <p:cNvSpPr>
              <a:spLocks noChangeArrowheads="1"/>
            </p:cNvSpPr>
            <p:nvPr/>
          </p:nvSpPr>
          <p:spPr bwMode="auto">
            <a:xfrm>
              <a:off x="1704" y="3816"/>
              <a:ext cx="1164" cy="4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8078" name="Line 77"/>
            <p:cNvSpPr>
              <a:spLocks noChangeShapeType="1"/>
            </p:cNvSpPr>
            <p:nvPr/>
          </p:nvSpPr>
          <p:spPr bwMode="auto">
            <a:xfrm flipV="1">
              <a:off x="1685" y="4086"/>
              <a:ext cx="113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9" name="Text Box 78"/>
            <p:cNvSpPr txBox="1">
              <a:spLocks noChangeArrowheads="1"/>
            </p:cNvSpPr>
            <p:nvPr/>
          </p:nvSpPr>
          <p:spPr bwMode="auto">
            <a:xfrm>
              <a:off x="2075" y="3837"/>
              <a:ext cx="36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0</a:t>
              </a:r>
            </a:p>
          </p:txBody>
        </p:sp>
      </p:grpSp>
      <p:grpSp>
        <p:nvGrpSpPr>
          <p:cNvPr id="15" name="组合 14"/>
          <p:cNvGrpSpPr/>
          <p:nvPr/>
        </p:nvGrpSpPr>
        <p:grpSpPr>
          <a:xfrm>
            <a:off x="4495800" y="3363518"/>
            <a:ext cx="4114800" cy="1670670"/>
            <a:chOff x="4799013" y="3392427"/>
            <a:chExt cx="4114800" cy="1670670"/>
          </a:xfrm>
        </p:grpSpPr>
        <p:grpSp>
          <p:nvGrpSpPr>
            <p:cNvPr id="65" name="Group 68"/>
            <p:cNvGrpSpPr>
              <a:grpSpLocks/>
            </p:cNvGrpSpPr>
            <p:nvPr/>
          </p:nvGrpSpPr>
          <p:grpSpPr bwMode="auto">
            <a:xfrm>
              <a:off x="5789613" y="4036779"/>
              <a:ext cx="1828800" cy="389335"/>
              <a:chOff x="3600" y="1794"/>
              <a:chExt cx="1152" cy="327"/>
            </a:xfrm>
          </p:grpSpPr>
          <p:sp>
            <p:nvSpPr>
              <p:cNvPr id="66" name="Oval 12"/>
              <p:cNvSpPr>
                <a:spLocks noChangeArrowheads="1"/>
              </p:cNvSpPr>
              <p:nvPr/>
            </p:nvSpPr>
            <p:spPr bwMode="auto">
              <a:xfrm>
                <a:off x="3600" y="1833"/>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q0</a:t>
                </a:r>
              </a:p>
            </p:txBody>
          </p:sp>
          <p:sp>
            <p:nvSpPr>
              <p:cNvPr id="67" name="Oval 13"/>
              <p:cNvSpPr>
                <a:spLocks noChangeArrowheads="1"/>
              </p:cNvSpPr>
              <p:nvPr/>
            </p:nvSpPr>
            <p:spPr bwMode="auto">
              <a:xfrm>
                <a:off x="4416" y="1833"/>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q1</a:t>
                </a:r>
              </a:p>
            </p:txBody>
          </p:sp>
          <p:sp>
            <p:nvSpPr>
              <p:cNvPr id="68" name="Line 14"/>
              <p:cNvSpPr>
                <a:spLocks noChangeShapeType="1"/>
              </p:cNvSpPr>
              <p:nvPr/>
            </p:nvSpPr>
            <p:spPr bwMode="auto">
              <a:xfrm>
                <a:off x="3936" y="197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Text Box 15"/>
              <p:cNvSpPr txBox="1">
                <a:spLocks noChangeArrowheads="1"/>
              </p:cNvSpPr>
              <p:nvPr/>
            </p:nvSpPr>
            <p:spPr bwMode="auto">
              <a:xfrm>
                <a:off x="3984" y="1794"/>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grpSp>
        <p:grpSp>
          <p:nvGrpSpPr>
            <p:cNvPr id="70" name="组合 69"/>
            <p:cNvGrpSpPr/>
            <p:nvPr/>
          </p:nvGrpSpPr>
          <p:grpSpPr>
            <a:xfrm>
              <a:off x="8228013" y="3968913"/>
              <a:ext cx="685800" cy="457200"/>
              <a:chOff x="8153400" y="2068116"/>
              <a:chExt cx="685800" cy="457200"/>
            </a:xfrm>
          </p:grpSpPr>
          <p:sp>
            <p:nvSpPr>
              <p:cNvPr id="71" name="Oval 25"/>
              <p:cNvSpPr>
                <a:spLocks noChangeArrowheads="1"/>
              </p:cNvSpPr>
              <p:nvPr/>
            </p:nvSpPr>
            <p:spPr bwMode="auto">
              <a:xfrm>
                <a:off x="8153400" y="2068116"/>
                <a:ext cx="6858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2" name="Oval 17"/>
              <p:cNvSpPr>
                <a:spLocks noChangeArrowheads="1"/>
              </p:cNvSpPr>
              <p:nvPr/>
            </p:nvSpPr>
            <p:spPr bwMode="auto">
              <a:xfrm>
                <a:off x="8229600" y="2125266"/>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q3</a:t>
                </a:r>
              </a:p>
            </p:txBody>
          </p:sp>
        </p:grpSp>
        <p:grpSp>
          <p:nvGrpSpPr>
            <p:cNvPr id="73" name="组合 72"/>
            <p:cNvGrpSpPr/>
            <p:nvPr/>
          </p:nvGrpSpPr>
          <p:grpSpPr>
            <a:xfrm>
              <a:off x="5332413" y="3824475"/>
              <a:ext cx="457200" cy="522684"/>
              <a:chOff x="5257800" y="1923678"/>
              <a:chExt cx="457200" cy="522684"/>
            </a:xfrm>
          </p:grpSpPr>
          <p:sp>
            <p:nvSpPr>
              <p:cNvPr id="74" name="Line 18"/>
              <p:cNvSpPr>
                <a:spLocks noChangeShapeType="1"/>
              </p:cNvSpPr>
              <p:nvPr/>
            </p:nvSpPr>
            <p:spPr bwMode="auto">
              <a:xfrm>
                <a:off x="5257800" y="2353866"/>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Rectangle 20"/>
              <p:cNvSpPr>
                <a:spLocks noChangeArrowheads="1"/>
              </p:cNvSpPr>
              <p:nvPr/>
            </p:nvSpPr>
            <p:spPr bwMode="auto">
              <a:xfrm>
                <a:off x="5332413" y="1923678"/>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grpSp>
        <p:grpSp>
          <p:nvGrpSpPr>
            <p:cNvPr id="76" name="组合 75"/>
            <p:cNvGrpSpPr/>
            <p:nvPr/>
          </p:nvGrpSpPr>
          <p:grpSpPr>
            <a:xfrm>
              <a:off x="7618413" y="3824475"/>
              <a:ext cx="609600" cy="522684"/>
              <a:chOff x="7543800" y="1923678"/>
              <a:chExt cx="609600" cy="522684"/>
            </a:xfrm>
          </p:grpSpPr>
          <p:sp>
            <p:nvSpPr>
              <p:cNvPr id="77" name="Line 19"/>
              <p:cNvSpPr>
                <a:spLocks noChangeShapeType="1"/>
              </p:cNvSpPr>
              <p:nvPr/>
            </p:nvSpPr>
            <p:spPr bwMode="auto">
              <a:xfrm>
                <a:off x="7543800" y="2353866"/>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Rectangle 21"/>
              <p:cNvSpPr>
                <a:spLocks noChangeArrowheads="1"/>
              </p:cNvSpPr>
              <p:nvPr/>
            </p:nvSpPr>
            <p:spPr bwMode="auto">
              <a:xfrm>
                <a:off x="7583488" y="1923678"/>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79" name="组合 78"/>
            <p:cNvGrpSpPr/>
            <p:nvPr/>
          </p:nvGrpSpPr>
          <p:grpSpPr>
            <a:xfrm>
              <a:off x="6094413" y="3392427"/>
              <a:ext cx="1295400" cy="690786"/>
              <a:chOff x="6019800" y="1491630"/>
              <a:chExt cx="1295400" cy="690786"/>
            </a:xfrm>
          </p:grpSpPr>
          <p:sp>
            <p:nvSpPr>
              <p:cNvPr id="80" name="Freeform 27"/>
              <p:cNvSpPr>
                <a:spLocks/>
              </p:cNvSpPr>
              <p:nvPr/>
            </p:nvSpPr>
            <p:spPr bwMode="auto">
              <a:xfrm>
                <a:off x="6019800" y="1953816"/>
                <a:ext cx="1295400" cy="228600"/>
              </a:xfrm>
              <a:custGeom>
                <a:avLst/>
                <a:gdLst>
                  <a:gd name="T0" fmla="*/ 816 w 816"/>
                  <a:gd name="T1" fmla="*/ 549 h 165"/>
                  <a:gd name="T2" fmla="*/ 420 w 816"/>
                  <a:gd name="T3" fmla="*/ 0 h 165"/>
                  <a:gd name="T4" fmla="*/ 0 w 816"/>
                  <a:gd name="T5" fmla="*/ 552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Rectangle 28"/>
              <p:cNvSpPr>
                <a:spLocks noChangeArrowheads="1"/>
              </p:cNvSpPr>
              <p:nvPr/>
            </p:nvSpPr>
            <p:spPr bwMode="auto">
              <a:xfrm>
                <a:off x="6475413" y="1491630"/>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82" name="组合 81"/>
            <p:cNvGrpSpPr/>
            <p:nvPr/>
          </p:nvGrpSpPr>
          <p:grpSpPr>
            <a:xfrm>
              <a:off x="5103813" y="4426113"/>
              <a:ext cx="3352800" cy="636984"/>
              <a:chOff x="5029200" y="2525316"/>
              <a:chExt cx="3352800" cy="636984"/>
            </a:xfrm>
          </p:grpSpPr>
          <p:sp>
            <p:nvSpPr>
              <p:cNvPr id="83" name="Freeform 30"/>
              <p:cNvSpPr>
                <a:spLocks/>
              </p:cNvSpPr>
              <p:nvPr/>
            </p:nvSpPr>
            <p:spPr bwMode="auto">
              <a:xfrm flipH="1" flipV="1">
                <a:off x="5029200" y="2525316"/>
                <a:ext cx="3352800" cy="228600"/>
              </a:xfrm>
              <a:custGeom>
                <a:avLst/>
                <a:gdLst>
                  <a:gd name="T0" fmla="*/ 1643188 w 816"/>
                  <a:gd name="T1" fmla="*/ 549 h 165"/>
                  <a:gd name="T2" fmla="*/ 845683 w 816"/>
                  <a:gd name="T3" fmla="*/ 0 h 165"/>
                  <a:gd name="T4" fmla="*/ 0 w 816"/>
                  <a:gd name="T5" fmla="*/ 552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 name="Rectangle 31"/>
              <p:cNvSpPr>
                <a:spLocks noChangeArrowheads="1"/>
              </p:cNvSpPr>
              <p:nvPr/>
            </p:nvSpPr>
            <p:spPr bwMode="auto">
              <a:xfrm>
                <a:off x="6475413" y="2639616"/>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sp>
          <p:nvSpPr>
            <p:cNvPr id="86" name="Oval 16"/>
            <p:cNvSpPr>
              <a:spLocks noChangeArrowheads="1"/>
            </p:cNvSpPr>
            <p:nvPr/>
          </p:nvSpPr>
          <p:spPr bwMode="auto">
            <a:xfrm>
              <a:off x="4799013" y="4083213"/>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q2</a:t>
              </a:r>
            </a:p>
          </p:txBody>
        </p:sp>
      </p:grpSp>
    </p:spTree>
    <p:extLst>
      <p:ext uri="{BB962C8B-B14F-4D97-AF65-F5344CB8AC3E}">
        <p14:creationId xmlns:p14="http://schemas.microsoft.com/office/powerpoint/2010/main" val="3820041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0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909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8913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2" presetClass="entr" presetSubtype="8"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slide(fromLeft)">
                                      <p:cBhvr>
                                        <p:cTn id="5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7" grpId="0" autoUpdateAnimBg="0"/>
      <p:bldP spid="89098" grpId="0" autoUpdateAnimBg="0"/>
      <p:bldP spid="89137"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Oval 25"/>
          <p:cNvSpPr>
            <a:spLocks noChangeArrowheads="1"/>
          </p:cNvSpPr>
          <p:nvPr/>
        </p:nvSpPr>
        <p:spPr bwMode="auto">
          <a:xfrm>
            <a:off x="4901888" y="1923678"/>
            <a:ext cx="575692" cy="4000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9090" name="Rectangle 2"/>
          <p:cNvSpPr>
            <a:spLocks noGrp="1" noChangeArrowheads="1"/>
          </p:cNvSpPr>
          <p:nvPr>
            <p:ph type="title"/>
          </p:nvPr>
        </p:nvSpPr>
        <p:spPr>
          <a:xfrm>
            <a:off x="457200" y="205978"/>
            <a:ext cx="8229600" cy="194072"/>
          </a:xfrm>
        </p:spPr>
        <p:txBody>
          <a:bodyPr>
            <a:normAutofit fontScale="90000"/>
          </a:bodyPr>
          <a:lstStyle/>
          <a:p>
            <a:pPr eaLnBrk="1" hangingPunct="1"/>
            <a:endParaRPr lang="zh-CN" altLang="zh-CN"/>
          </a:p>
        </p:txBody>
      </p:sp>
      <p:sp>
        <p:nvSpPr>
          <p:cNvPr id="89092" name="Text Box 4"/>
          <p:cNvSpPr txBox="1">
            <a:spLocks noChangeArrowheads="1"/>
          </p:cNvSpPr>
          <p:nvPr/>
        </p:nvSpPr>
        <p:spPr bwMode="auto">
          <a:xfrm>
            <a:off x="609600" y="742950"/>
            <a:ext cx="464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2800" dirty="0"/>
              <a:t>R = 01* | 1</a:t>
            </a:r>
            <a:r>
              <a:rPr lang="zh-CN" altLang="en-US" sz="2800" dirty="0"/>
              <a:t>的</a:t>
            </a:r>
            <a:r>
              <a:rPr lang="en-US" altLang="zh-CN" sz="2800" dirty="0"/>
              <a:t>NFA: </a:t>
            </a:r>
          </a:p>
        </p:txBody>
      </p:sp>
      <p:grpSp>
        <p:nvGrpSpPr>
          <p:cNvPr id="5" name="Group 80"/>
          <p:cNvGrpSpPr>
            <a:grpSpLocks/>
          </p:cNvGrpSpPr>
          <p:nvPr/>
        </p:nvGrpSpPr>
        <p:grpSpPr bwMode="auto">
          <a:xfrm>
            <a:off x="3505200" y="1828800"/>
            <a:ext cx="1895475" cy="457200"/>
            <a:chOff x="2208" y="1536"/>
            <a:chExt cx="1194" cy="384"/>
          </a:xfrm>
        </p:grpSpPr>
        <p:sp>
          <p:nvSpPr>
            <p:cNvPr id="89114" name="Oval 29"/>
            <p:cNvSpPr>
              <a:spLocks noChangeArrowheads="1"/>
            </p:cNvSpPr>
            <p:nvPr/>
          </p:nvSpPr>
          <p:spPr bwMode="auto">
            <a:xfrm>
              <a:off x="2208" y="1632"/>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q6</a:t>
              </a:r>
            </a:p>
          </p:txBody>
        </p:sp>
        <p:sp>
          <p:nvSpPr>
            <p:cNvPr id="89115" name="Oval 30"/>
            <p:cNvSpPr>
              <a:spLocks noChangeArrowheads="1"/>
            </p:cNvSpPr>
            <p:nvPr/>
          </p:nvSpPr>
          <p:spPr bwMode="auto">
            <a:xfrm>
              <a:off x="3120" y="1661"/>
              <a:ext cx="282" cy="259"/>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q7</a:t>
              </a:r>
            </a:p>
          </p:txBody>
        </p:sp>
        <p:sp>
          <p:nvSpPr>
            <p:cNvPr id="89116" name="Line 31"/>
            <p:cNvSpPr>
              <a:spLocks noChangeShapeType="1"/>
            </p:cNvSpPr>
            <p:nvPr/>
          </p:nvSpPr>
          <p:spPr bwMode="auto">
            <a:xfrm>
              <a:off x="2544" y="1776"/>
              <a:ext cx="544" cy="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17" name="Text Box 32"/>
            <p:cNvSpPr txBox="1">
              <a:spLocks noChangeArrowheads="1"/>
            </p:cNvSpPr>
            <p:nvPr/>
          </p:nvSpPr>
          <p:spPr bwMode="auto">
            <a:xfrm>
              <a:off x="2592" y="1536"/>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grpSp>
      <p:grpSp>
        <p:nvGrpSpPr>
          <p:cNvPr id="13" name="组合 12"/>
          <p:cNvGrpSpPr/>
          <p:nvPr/>
        </p:nvGrpSpPr>
        <p:grpSpPr>
          <a:xfrm>
            <a:off x="8266253" y="2618606"/>
            <a:ext cx="685800" cy="457200"/>
            <a:chOff x="8153400" y="2057399"/>
            <a:chExt cx="685800" cy="457200"/>
          </a:xfrm>
        </p:grpSpPr>
        <p:sp>
          <p:nvSpPr>
            <p:cNvPr id="89103" name="Oval 34"/>
            <p:cNvSpPr>
              <a:spLocks noChangeArrowheads="1"/>
            </p:cNvSpPr>
            <p:nvPr/>
          </p:nvSpPr>
          <p:spPr bwMode="auto">
            <a:xfrm>
              <a:off x="8153400" y="2057399"/>
              <a:ext cx="6858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9104" name="Oval 35"/>
            <p:cNvSpPr>
              <a:spLocks noChangeArrowheads="1"/>
            </p:cNvSpPr>
            <p:nvPr/>
          </p:nvSpPr>
          <p:spPr bwMode="auto">
            <a:xfrm>
              <a:off x="8229600" y="2114549"/>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Y</a:t>
              </a:r>
            </a:p>
          </p:txBody>
        </p:sp>
      </p:grpSp>
      <p:grpSp>
        <p:nvGrpSpPr>
          <p:cNvPr id="11" name="组合 10"/>
          <p:cNvGrpSpPr/>
          <p:nvPr/>
        </p:nvGrpSpPr>
        <p:grpSpPr>
          <a:xfrm>
            <a:off x="457200" y="2570262"/>
            <a:ext cx="990600" cy="342900"/>
            <a:chOff x="457200" y="2570262"/>
            <a:chExt cx="990600" cy="342900"/>
          </a:xfrm>
        </p:grpSpPr>
        <p:sp>
          <p:nvSpPr>
            <p:cNvPr id="89102" name="AutoShape 25"/>
            <p:cNvSpPr>
              <a:spLocks noChangeArrowheads="1"/>
            </p:cNvSpPr>
            <p:nvPr/>
          </p:nvSpPr>
          <p:spPr bwMode="auto">
            <a:xfrm>
              <a:off x="457200" y="2684562"/>
              <a:ext cx="457200" cy="1143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9105" name="Oval 36"/>
            <p:cNvSpPr>
              <a:spLocks noChangeArrowheads="1"/>
            </p:cNvSpPr>
            <p:nvPr/>
          </p:nvSpPr>
          <p:spPr bwMode="auto">
            <a:xfrm>
              <a:off x="914400" y="2570262"/>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X</a:t>
              </a:r>
            </a:p>
          </p:txBody>
        </p:sp>
      </p:grpSp>
      <p:grpSp>
        <p:nvGrpSpPr>
          <p:cNvPr id="12" name="组合 11"/>
          <p:cNvGrpSpPr/>
          <p:nvPr/>
        </p:nvGrpSpPr>
        <p:grpSpPr>
          <a:xfrm>
            <a:off x="1447800" y="1977058"/>
            <a:ext cx="2057400" cy="697979"/>
            <a:chOff x="1447800" y="1977058"/>
            <a:chExt cx="2057400" cy="697979"/>
          </a:xfrm>
        </p:grpSpPr>
        <p:sp>
          <p:nvSpPr>
            <p:cNvPr id="89107" name="Line 38"/>
            <p:cNvSpPr>
              <a:spLocks noChangeShapeType="1"/>
            </p:cNvSpPr>
            <p:nvPr/>
          </p:nvSpPr>
          <p:spPr bwMode="auto">
            <a:xfrm flipV="1">
              <a:off x="1447800" y="2171698"/>
              <a:ext cx="2057400" cy="5033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10" name="Text Box 44"/>
            <p:cNvSpPr txBox="1">
              <a:spLocks noChangeArrowheads="1"/>
            </p:cNvSpPr>
            <p:nvPr/>
          </p:nvSpPr>
          <p:spPr bwMode="auto">
            <a:xfrm>
              <a:off x="2209800" y="1977058"/>
              <a:ext cx="533400"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10" name="组合 9"/>
          <p:cNvGrpSpPr/>
          <p:nvPr/>
        </p:nvGrpSpPr>
        <p:grpSpPr>
          <a:xfrm>
            <a:off x="1331640" y="2753249"/>
            <a:ext cx="983640" cy="522684"/>
            <a:chOff x="1331640" y="2753249"/>
            <a:chExt cx="983640" cy="522684"/>
          </a:xfrm>
        </p:grpSpPr>
        <p:sp>
          <p:nvSpPr>
            <p:cNvPr id="89106" name="Line 37"/>
            <p:cNvSpPr>
              <a:spLocks noChangeShapeType="1"/>
            </p:cNvSpPr>
            <p:nvPr/>
          </p:nvSpPr>
          <p:spPr bwMode="auto">
            <a:xfrm>
              <a:off x="1402466" y="2796985"/>
              <a:ext cx="912814" cy="4045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11" name="Text Box 45"/>
            <p:cNvSpPr txBox="1">
              <a:spLocks noChangeArrowheads="1"/>
            </p:cNvSpPr>
            <p:nvPr/>
          </p:nvSpPr>
          <p:spPr bwMode="auto">
            <a:xfrm>
              <a:off x="1331640" y="2753249"/>
              <a:ext cx="533400"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14" name="组合 13"/>
          <p:cNvGrpSpPr/>
          <p:nvPr/>
        </p:nvGrpSpPr>
        <p:grpSpPr>
          <a:xfrm>
            <a:off x="5562600" y="1943100"/>
            <a:ext cx="2719740" cy="741461"/>
            <a:chOff x="5562600" y="1943100"/>
            <a:chExt cx="2719740" cy="741461"/>
          </a:xfrm>
        </p:grpSpPr>
        <p:sp>
          <p:nvSpPr>
            <p:cNvPr id="89108" name="Line 39"/>
            <p:cNvSpPr>
              <a:spLocks noChangeShapeType="1"/>
            </p:cNvSpPr>
            <p:nvPr/>
          </p:nvSpPr>
          <p:spPr bwMode="auto">
            <a:xfrm>
              <a:off x="5562600" y="2127647"/>
              <a:ext cx="2719740" cy="5569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12" name="Text Box 46"/>
            <p:cNvSpPr txBox="1">
              <a:spLocks noChangeArrowheads="1"/>
            </p:cNvSpPr>
            <p:nvPr/>
          </p:nvSpPr>
          <p:spPr bwMode="auto">
            <a:xfrm>
              <a:off x="6464473" y="1943100"/>
              <a:ext cx="533400"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15" name="组合 14"/>
          <p:cNvGrpSpPr/>
          <p:nvPr/>
        </p:nvGrpSpPr>
        <p:grpSpPr>
          <a:xfrm>
            <a:off x="7649280" y="2931790"/>
            <a:ext cx="732720" cy="522684"/>
            <a:chOff x="7649280" y="2931790"/>
            <a:chExt cx="732720" cy="522684"/>
          </a:xfrm>
        </p:grpSpPr>
        <p:sp>
          <p:nvSpPr>
            <p:cNvPr id="89109" name="Line 40"/>
            <p:cNvSpPr>
              <a:spLocks noChangeShapeType="1"/>
            </p:cNvSpPr>
            <p:nvPr/>
          </p:nvSpPr>
          <p:spPr bwMode="auto">
            <a:xfrm flipV="1">
              <a:off x="7649280" y="3023850"/>
              <a:ext cx="732720" cy="1949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13" name="Text Box 47"/>
            <p:cNvSpPr txBox="1">
              <a:spLocks noChangeArrowheads="1"/>
            </p:cNvSpPr>
            <p:nvPr/>
          </p:nvSpPr>
          <p:spPr bwMode="auto">
            <a:xfrm>
              <a:off x="7748940" y="2931790"/>
              <a:ext cx="533400"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800" dirty="0">
                  <a:latin typeface="Verdana" pitchFamily="34" charset="0"/>
                  <a:sym typeface="Symbol" pitchFamily="18" charset="2"/>
                </a:rPr>
                <a:t></a:t>
              </a:r>
            </a:p>
          </p:txBody>
        </p:sp>
      </p:grpSp>
      <p:grpSp>
        <p:nvGrpSpPr>
          <p:cNvPr id="9" name="组合 8"/>
          <p:cNvGrpSpPr/>
          <p:nvPr/>
        </p:nvGrpSpPr>
        <p:grpSpPr>
          <a:xfrm>
            <a:off x="2315280" y="2413696"/>
            <a:ext cx="5334000" cy="1670670"/>
            <a:chOff x="2315280" y="2413696"/>
            <a:chExt cx="5334000" cy="1670670"/>
          </a:xfrm>
        </p:grpSpPr>
        <p:grpSp>
          <p:nvGrpSpPr>
            <p:cNvPr id="49" name="Group 70"/>
            <p:cNvGrpSpPr>
              <a:grpSpLocks/>
            </p:cNvGrpSpPr>
            <p:nvPr/>
          </p:nvGrpSpPr>
          <p:grpSpPr bwMode="auto">
            <a:xfrm>
              <a:off x="2315280" y="2977678"/>
              <a:ext cx="1219200" cy="457200"/>
              <a:chOff x="1440" y="3273"/>
              <a:chExt cx="768" cy="384"/>
            </a:xfrm>
          </p:grpSpPr>
          <p:sp>
            <p:nvSpPr>
              <p:cNvPr id="51" name="Oval 55"/>
              <p:cNvSpPr>
                <a:spLocks noChangeArrowheads="1"/>
              </p:cNvSpPr>
              <p:nvPr/>
            </p:nvSpPr>
            <p:spPr bwMode="auto">
              <a:xfrm>
                <a:off x="1440" y="3369"/>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q4</a:t>
                </a:r>
              </a:p>
            </p:txBody>
          </p:sp>
          <p:sp>
            <p:nvSpPr>
              <p:cNvPr id="53" name="Line 57"/>
              <p:cNvSpPr>
                <a:spLocks noChangeShapeType="1"/>
              </p:cNvSpPr>
              <p:nvPr/>
            </p:nvSpPr>
            <p:spPr bwMode="auto">
              <a:xfrm>
                <a:off x="1776" y="3513"/>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Text Box 58"/>
              <p:cNvSpPr txBox="1">
                <a:spLocks noChangeArrowheads="1"/>
              </p:cNvSpPr>
              <p:nvPr/>
            </p:nvSpPr>
            <p:spPr bwMode="auto">
              <a:xfrm>
                <a:off x="1776" y="3273"/>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0</a:t>
                </a:r>
              </a:p>
            </p:txBody>
          </p:sp>
        </p:grpSp>
        <p:grpSp>
          <p:nvGrpSpPr>
            <p:cNvPr id="59" name="组合 58"/>
            <p:cNvGrpSpPr/>
            <p:nvPr/>
          </p:nvGrpSpPr>
          <p:grpSpPr>
            <a:xfrm>
              <a:off x="3534480" y="2413696"/>
              <a:ext cx="4114800" cy="1670670"/>
              <a:chOff x="4799013" y="3392427"/>
              <a:chExt cx="4114800" cy="1670670"/>
            </a:xfrm>
          </p:grpSpPr>
          <p:grpSp>
            <p:nvGrpSpPr>
              <p:cNvPr id="60" name="Group 68"/>
              <p:cNvGrpSpPr>
                <a:grpSpLocks/>
              </p:cNvGrpSpPr>
              <p:nvPr/>
            </p:nvGrpSpPr>
            <p:grpSpPr bwMode="auto">
              <a:xfrm>
                <a:off x="5789613" y="4036779"/>
                <a:ext cx="1828800" cy="389335"/>
                <a:chOff x="3600" y="1794"/>
                <a:chExt cx="1152" cy="327"/>
              </a:xfrm>
            </p:grpSpPr>
            <p:sp>
              <p:nvSpPr>
                <p:cNvPr id="77" name="Oval 12"/>
                <p:cNvSpPr>
                  <a:spLocks noChangeArrowheads="1"/>
                </p:cNvSpPr>
                <p:nvPr/>
              </p:nvSpPr>
              <p:spPr bwMode="auto">
                <a:xfrm>
                  <a:off x="3600" y="1833"/>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q0</a:t>
                  </a:r>
                </a:p>
              </p:txBody>
            </p:sp>
            <p:sp>
              <p:nvSpPr>
                <p:cNvPr id="78" name="Oval 13"/>
                <p:cNvSpPr>
                  <a:spLocks noChangeArrowheads="1"/>
                </p:cNvSpPr>
                <p:nvPr/>
              </p:nvSpPr>
              <p:spPr bwMode="auto">
                <a:xfrm>
                  <a:off x="4416" y="1833"/>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q1</a:t>
                  </a:r>
                </a:p>
              </p:txBody>
            </p:sp>
            <p:sp>
              <p:nvSpPr>
                <p:cNvPr id="79" name="Line 14"/>
                <p:cNvSpPr>
                  <a:spLocks noChangeShapeType="1"/>
                </p:cNvSpPr>
                <p:nvPr/>
              </p:nvSpPr>
              <p:spPr bwMode="auto">
                <a:xfrm>
                  <a:off x="3936" y="197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Text Box 15"/>
                <p:cNvSpPr txBox="1">
                  <a:spLocks noChangeArrowheads="1"/>
                </p:cNvSpPr>
                <p:nvPr/>
              </p:nvSpPr>
              <p:spPr bwMode="auto">
                <a:xfrm>
                  <a:off x="3984" y="1794"/>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1</a:t>
                  </a:r>
                </a:p>
              </p:txBody>
            </p:sp>
          </p:grpSp>
          <p:grpSp>
            <p:nvGrpSpPr>
              <p:cNvPr id="61" name="组合 60"/>
              <p:cNvGrpSpPr/>
              <p:nvPr/>
            </p:nvGrpSpPr>
            <p:grpSpPr>
              <a:xfrm>
                <a:off x="8228013" y="3968913"/>
                <a:ext cx="685800" cy="457200"/>
                <a:chOff x="8153400" y="2068116"/>
                <a:chExt cx="685800" cy="457200"/>
              </a:xfrm>
            </p:grpSpPr>
            <p:sp>
              <p:nvSpPr>
                <p:cNvPr id="75" name="Oval 25"/>
                <p:cNvSpPr>
                  <a:spLocks noChangeArrowheads="1"/>
                </p:cNvSpPr>
                <p:nvPr/>
              </p:nvSpPr>
              <p:spPr bwMode="auto">
                <a:xfrm>
                  <a:off x="8153400" y="2068116"/>
                  <a:ext cx="685800"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76" name="Oval 17"/>
                <p:cNvSpPr>
                  <a:spLocks noChangeArrowheads="1"/>
                </p:cNvSpPr>
                <p:nvPr/>
              </p:nvSpPr>
              <p:spPr bwMode="auto">
                <a:xfrm>
                  <a:off x="8229600" y="2125266"/>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q3</a:t>
                  </a:r>
                </a:p>
              </p:txBody>
            </p:sp>
          </p:grpSp>
          <p:grpSp>
            <p:nvGrpSpPr>
              <p:cNvPr id="62" name="组合 61"/>
              <p:cNvGrpSpPr/>
              <p:nvPr/>
            </p:nvGrpSpPr>
            <p:grpSpPr>
              <a:xfrm>
                <a:off x="5332413" y="3824475"/>
                <a:ext cx="457200" cy="522684"/>
                <a:chOff x="5257800" y="1923678"/>
                <a:chExt cx="457200" cy="522684"/>
              </a:xfrm>
            </p:grpSpPr>
            <p:sp>
              <p:nvSpPr>
                <p:cNvPr id="73" name="Line 18"/>
                <p:cNvSpPr>
                  <a:spLocks noChangeShapeType="1"/>
                </p:cNvSpPr>
                <p:nvPr/>
              </p:nvSpPr>
              <p:spPr bwMode="auto">
                <a:xfrm>
                  <a:off x="5257800" y="2353866"/>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Rectangle 20"/>
                <p:cNvSpPr>
                  <a:spLocks noChangeArrowheads="1"/>
                </p:cNvSpPr>
                <p:nvPr/>
              </p:nvSpPr>
              <p:spPr bwMode="auto">
                <a:xfrm>
                  <a:off x="5332413" y="1923678"/>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grpSp>
          <p:grpSp>
            <p:nvGrpSpPr>
              <p:cNvPr id="63" name="组合 62"/>
              <p:cNvGrpSpPr/>
              <p:nvPr/>
            </p:nvGrpSpPr>
            <p:grpSpPr>
              <a:xfrm>
                <a:off x="7618413" y="3824475"/>
                <a:ext cx="609600" cy="522684"/>
                <a:chOff x="7543800" y="1923678"/>
                <a:chExt cx="609600" cy="522684"/>
              </a:xfrm>
            </p:grpSpPr>
            <p:sp>
              <p:nvSpPr>
                <p:cNvPr id="71" name="Line 19"/>
                <p:cNvSpPr>
                  <a:spLocks noChangeShapeType="1"/>
                </p:cNvSpPr>
                <p:nvPr/>
              </p:nvSpPr>
              <p:spPr bwMode="auto">
                <a:xfrm>
                  <a:off x="7543800" y="2353866"/>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Rectangle 21"/>
                <p:cNvSpPr>
                  <a:spLocks noChangeArrowheads="1"/>
                </p:cNvSpPr>
                <p:nvPr/>
              </p:nvSpPr>
              <p:spPr bwMode="auto">
                <a:xfrm>
                  <a:off x="7583488" y="1923678"/>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64" name="组合 63"/>
              <p:cNvGrpSpPr/>
              <p:nvPr/>
            </p:nvGrpSpPr>
            <p:grpSpPr>
              <a:xfrm>
                <a:off x="6094413" y="3392427"/>
                <a:ext cx="1295400" cy="690786"/>
                <a:chOff x="6019800" y="1491630"/>
                <a:chExt cx="1295400" cy="690786"/>
              </a:xfrm>
            </p:grpSpPr>
            <p:sp>
              <p:nvSpPr>
                <p:cNvPr id="69" name="Freeform 27"/>
                <p:cNvSpPr>
                  <a:spLocks/>
                </p:cNvSpPr>
                <p:nvPr/>
              </p:nvSpPr>
              <p:spPr bwMode="auto">
                <a:xfrm>
                  <a:off x="6019800" y="1953816"/>
                  <a:ext cx="1295400" cy="228600"/>
                </a:xfrm>
                <a:custGeom>
                  <a:avLst/>
                  <a:gdLst>
                    <a:gd name="T0" fmla="*/ 816 w 816"/>
                    <a:gd name="T1" fmla="*/ 549 h 165"/>
                    <a:gd name="T2" fmla="*/ 420 w 816"/>
                    <a:gd name="T3" fmla="*/ 0 h 165"/>
                    <a:gd name="T4" fmla="*/ 0 w 816"/>
                    <a:gd name="T5" fmla="*/ 552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 name="Rectangle 28"/>
                <p:cNvSpPr>
                  <a:spLocks noChangeArrowheads="1"/>
                </p:cNvSpPr>
                <p:nvPr/>
              </p:nvSpPr>
              <p:spPr bwMode="auto">
                <a:xfrm>
                  <a:off x="6475413" y="1491630"/>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grpSp>
            <p:nvGrpSpPr>
              <p:cNvPr id="65" name="组合 64"/>
              <p:cNvGrpSpPr/>
              <p:nvPr/>
            </p:nvGrpSpPr>
            <p:grpSpPr>
              <a:xfrm>
                <a:off x="5103813" y="4426113"/>
                <a:ext cx="3352800" cy="636984"/>
                <a:chOff x="5029200" y="2525316"/>
                <a:chExt cx="3352800" cy="636984"/>
              </a:xfrm>
            </p:grpSpPr>
            <p:sp>
              <p:nvSpPr>
                <p:cNvPr id="67" name="Freeform 30"/>
                <p:cNvSpPr>
                  <a:spLocks/>
                </p:cNvSpPr>
                <p:nvPr/>
              </p:nvSpPr>
              <p:spPr bwMode="auto">
                <a:xfrm flipH="1" flipV="1">
                  <a:off x="5029200" y="2525316"/>
                  <a:ext cx="3352800" cy="228600"/>
                </a:xfrm>
                <a:custGeom>
                  <a:avLst/>
                  <a:gdLst>
                    <a:gd name="T0" fmla="*/ 1643188 w 816"/>
                    <a:gd name="T1" fmla="*/ 549 h 165"/>
                    <a:gd name="T2" fmla="*/ 845683 w 816"/>
                    <a:gd name="T3" fmla="*/ 0 h 165"/>
                    <a:gd name="T4" fmla="*/ 0 w 816"/>
                    <a:gd name="T5" fmla="*/ 552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 name="Rectangle 31"/>
                <p:cNvSpPr>
                  <a:spLocks noChangeArrowheads="1"/>
                </p:cNvSpPr>
                <p:nvPr/>
              </p:nvSpPr>
              <p:spPr bwMode="auto">
                <a:xfrm>
                  <a:off x="6475413" y="2639616"/>
                  <a:ext cx="341313" cy="52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dirty="0">
                      <a:latin typeface="Verdana" pitchFamily="34" charset="0"/>
                      <a:sym typeface="Symbol" pitchFamily="18" charset="2"/>
                    </a:rPr>
                    <a:t></a:t>
                  </a:r>
                </a:p>
              </p:txBody>
            </p:sp>
          </p:grpSp>
          <p:sp>
            <p:nvSpPr>
              <p:cNvPr id="66" name="Oval 16"/>
              <p:cNvSpPr>
                <a:spLocks noChangeArrowheads="1"/>
              </p:cNvSpPr>
              <p:nvPr/>
            </p:nvSpPr>
            <p:spPr bwMode="auto">
              <a:xfrm>
                <a:off x="4799013" y="4083213"/>
                <a:ext cx="533400" cy="342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q2</a:t>
                </a:r>
              </a:p>
            </p:txBody>
          </p:sp>
        </p:grpSp>
      </p:grpSp>
      <p:sp>
        <p:nvSpPr>
          <p:cNvPr id="81" name="AutoShape 83"/>
          <p:cNvSpPr>
            <a:spLocks noChangeArrowheads="1"/>
          </p:cNvSpPr>
          <p:nvPr/>
        </p:nvSpPr>
        <p:spPr bwMode="auto">
          <a:xfrm>
            <a:off x="1756941" y="3201497"/>
            <a:ext cx="552450" cy="114300"/>
          </a:xfrm>
          <a:prstGeom prst="rightArrow">
            <a:avLst>
              <a:gd name="adj1" fmla="val 50000"/>
              <a:gd name="adj2" fmla="val 9062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83" name="Oval 25"/>
          <p:cNvSpPr>
            <a:spLocks noChangeArrowheads="1"/>
          </p:cNvSpPr>
          <p:nvPr/>
        </p:nvSpPr>
        <p:spPr bwMode="auto">
          <a:xfrm>
            <a:off x="6963480" y="2988323"/>
            <a:ext cx="680979" cy="457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q3</a:t>
            </a:r>
            <a:endParaRPr lang="zh-CN" altLang="en-US" sz="1800" dirty="0"/>
          </a:p>
        </p:txBody>
      </p:sp>
      <p:sp>
        <p:nvSpPr>
          <p:cNvPr id="92" name="Oval 25"/>
          <p:cNvSpPr>
            <a:spLocks noChangeArrowheads="1"/>
          </p:cNvSpPr>
          <p:nvPr/>
        </p:nvSpPr>
        <p:spPr bwMode="auto">
          <a:xfrm>
            <a:off x="4901889" y="1923678"/>
            <a:ext cx="606216" cy="4000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dirty="0"/>
              <a:t>q7</a:t>
            </a:r>
            <a:endParaRPr lang="zh-CN" altLang="en-US" sz="1800" dirty="0"/>
          </a:p>
        </p:txBody>
      </p:sp>
      <p:sp>
        <p:nvSpPr>
          <p:cNvPr id="93" name="AutoShape 83"/>
          <p:cNvSpPr>
            <a:spLocks noChangeArrowheads="1"/>
          </p:cNvSpPr>
          <p:nvPr/>
        </p:nvSpPr>
        <p:spPr bwMode="auto">
          <a:xfrm>
            <a:off x="2982030" y="2025402"/>
            <a:ext cx="552450" cy="114300"/>
          </a:xfrm>
          <a:prstGeom prst="rightArrow">
            <a:avLst>
              <a:gd name="adj1" fmla="val 50000"/>
              <a:gd name="adj2" fmla="val 9062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Tree>
    <p:extLst>
      <p:ext uri="{BB962C8B-B14F-4D97-AF65-F5344CB8AC3E}">
        <p14:creationId xmlns:p14="http://schemas.microsoft.com/office/powerpoint/2010/main" val="3542543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93"/>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81"/>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81" grpId="0" animBg="1"/>
      <p:bldP spid="81" grpId="1" animBg="1"/>
      <p:bldP spid="83" grpId="0" animBg="1"/>
      <p:bldP spid="92" grpId="0" animBg="1"/>
      <p:bldP spid="93" grpId="0" animBg="1"/>
      <p:bldP spid="93" grpId="1"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990600" y="0"/>
            <a:ext cx="7391400" cy="742950"/>
          </a:xfrm>
        </p:spPr>
        <p:txBody>
          <a:bodyPr/>
          <a:lstStyle/>
          <a:p>
            <a:pPr eaLnBrk="1" hangingPunct="1"/>
            <a:r>
              <a:rPr lang="zh-CN" altLang="en-US" sz="4000" b="1">
                <a:ea typeface="楷体_GB2312" pitchFamily="49" charset="-122"/>
              </a:rPr>
              <a:t>练习</a:t>
            </a:r>
          </a:p>
        </p:txBody>
      </p:sp>
      <p:sp>
        <p:nvSpPr>
          <p:cNvPr id="75932" name="AutoShape 156"/>
          <p:cNvSpPr>
            <a:spLocks noChangeArrowheads="1"/>
          </p:cNvSpPr>
          <p:nvPr/>
        </p:nvSpPr>
        <p:spPr bwMode="auto">
          <a:xfrm>
            <a:off x="838200" y="2514600"/>
            <a:ext cx="457200" cy="1143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nvGrpSpPr>
          <p:cNvPr id="2" name="Group 196"/>
          <p:cNvGrpSpPr>
            <a:grpSpLocks/>
          </p:cNvGrpSpPr>
          <p:nvPr/>
        </p:nvGrpSpPr>
        <p:grpSpPr bwMode="auto">
          <a:xfrm>
            <a:off x="5429250" y="2300288"/>
            <a:ext cx="1447800" cy="467916"/>
            <a:chOff x="2352" y="3399"/>
            <a:chExt cx="912" cy="393"/>
          </a:xfrm>
        </p:grpSpPr>
        <p:sp>
          <p:nvSpPr>
            <p:cNvPr id="90177" name="Oval 144"/>
            <p:cNvSpPr>
              <a:spLocks noChangeArrowheads="1"/>
            </p:cNvSpPr>
            <p:nvPr/>
          </p:nvSpPr>
          <p:spPr bwMode="auto">
            <a:xfrm>
              <a:off x="2352" y="3504"/>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78" name="Oval 152"/>
            <p:cNvSpPr>
              <a:spLocks noChangeArrowheads="1"/>
            </p:cNvSpPr>
            <p:nvPr/>
          </p:nvSpPr>
          <p:spPr bwMode="auto">
            <a:xfrm>
              <a:off x="2928" y="3495"/>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79" name="Line 157"/>
            <p:cNvSpPr>
              <a:spLocks noChangeShapeType="1"/>
            </p:cNvSpPr>
            <p:nvPr/>
          </p:nvSpPr>
          <p:spPr bwMode="auto">
            <a:xfrm>
              <a:off x="2688" y="3639"/>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80" name="Text Box 158"/>
            <p:cNvSpPr txBox="1">
              <a:spLocks noChangeArrowheads="1"/>
            </p:cNvSpPr>
            <p:nvPr/>
          </p:nvSpPr>
          <p:spPr bwMode="auto">
            <a:xfrm>
              <a:off x="2688" y="3399"/>
              <a:ext cx="24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400">
                  <a:latin typeface="Verdana" pitchFamily="34" charset="0"/>
                  <a:sym typeface="Symbol" pitchFamily="18" charset="2"/>
                </a:rPr>
                <a:t>a</a:t>
              </a:r>
            </a:p>
          </p:txBody>
        </p:sp>
      </p:grpSp>
      <p:grpSp>
        <p:nvGrpSpPr>
          <p:cNvPr id="3" name="Group 216"/>
          <p:cNvGrpSpPr>
            <a:grpSpLocks/>
          </p:cNvGrpSpPr>
          <p:nvPr/>
        </p:nvGrpSpPr>
        <p:grpSpPr bwMode="auto">
          <a:xfrm>
            <a:off x="2960689" y="2178841"/>
            <a:ext cx="1387475" cy="369093"/>
            <a:chOff x="1865" y="1686"/>
            <a:chExt cx="874" cy="310"/>
          </a:xfrm>
        </p:grpSpPr>
        <p:sp>
          <p:nvSpPr>
            <p:cNvPr id="90173" name="Oval 174"/>
            <p:cNvSpPr>
              <a:spLocks noChangeArrowheads="1"/>
            </p:cNvSpPr>
            <p:nvPr/>
          </p:nvSpPr>
          <p:spPr bwMode="auto">
            <a:xfrm>
              <a:off x="1865" y="1729"/>
              <a:ext cx="306" cy="2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74" name="Oval 175"/>
            <p:cNvSpPr>
              <a:spLocks noChangeArrowheads="1"/>
            </p:cNvSpPr>
            <p:nvPr/>
          </p:nvSpPr>
          <p:spPr bwMode="auto">
            <a:xfrm>
              <a:off x="2433" y="1729"/>
              <a:ext cx="306" cy="2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75" name="Line 176"/>
            <p:cNvSpPr>
              <a:spLocks noChangeShapeType="1"/>
            </p:cNvSpPr>
            <p:nvPr/>
          </p:nvSpPr>
          <p:spPr bwMode="auto">
            <a:xfrm>
              <a:off x="2171" y="1861"/>
              <a:ext cx="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76" name="Text Box 177"/>
            <p:cNvSpPr txBox="1">
              <a:spLocks noChangeArrowheads="1"/>
            </p:cNvSpPr>
            <p:nvPr/>
          </p:nvSpPr>
          <p:spPr bwMode="auto">
            <a:xfrm>
              <a:off x="2127" y="1686"/>
              <a:ext cx="30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a</a:t>
              </a:r>
            </a:p>
          </p:txBody>
        </p:sp>
      </p:grpSp>
      <p:grpSp>
        <p:nvGrpSpPr>
          <p:cNvPr id="4" name="Group 229"/>
          <p:cNvGrpSpPr>
            <a:grpSpLocks/>
          </p:cNvGrpSpPr>
          <p:nvPr/>
        </p:nvGrpSpPr>
        <p:grpSpPr bwMode="auto">
          <a:xfrm>
            <a:off x="2127251" y="2126456"/>
            <a:ext cx="3052763" cy="834629"/>
            <a:chOff x="1340" y="1642"/>
            <a:chExt cx="1923" cy="701"/>
          </a:xfrm>
        </p:grpSpPr>
        <p:sp>
          <p:nvSpPr>
            <p:cNvPr id="90163" name="Oval 143"/>
            <p:cNvSpPr>
              <a:spLocks noChangeArrowheads="1"/>
            </p:cNvSpPr>
            <p:nvPr/>
          </p:nvSpPr>
          <p:spPr bwMode="auto">
            <a:xfrm>
              <a:off x="1340" y="1904"/>
              <a:ext cx="306" cy="2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64" name="Line 145"/>
            <p:cNvSpPr>
              <a:spLocks noChangeShapeType="1"/>
            </p:cNvSpPr>
            <p:nvPr/>
          </p:nvSpPr>
          <p:spPr bwMode="auto">
            <a:xfrm>
              <a:off x="1646" y="2123"/>
              <a:ext cx="219"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65" name="Line 146"/>
            <p:cNvSpPr>
              <a:spLocks noChangeShapeType="1"/>
            </p:cNvSpPr>
            <p:nvPr/>
          </p:nvSpPr>
          <p:spPr bwMode="auto">
            <a:xfrm flipV="1">
              <a:off x="2739" y="2123"/>
              <a:ext cx="262"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66" name="Rectangle 147"/>
            <p:cNvSpPr>
              <a:spLocks noChangeArrowheads="1"/>
            </p:cNvSpPr>
            <p:nvPr/>
          </p:nvSpPr>
          <p:spPr bwMode="auto">
            <a:xfrm>
              <a:off x="1680" y="1904"/>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sp>
          <p:nvSpPr>
            <p:cNvPr id="90167" name="Rectangle 148"/>
            <p:cNvSpPr>
              <a:spLocks noChangeArrowheads="1"/>
            </p:cNvSpPr>
            <p:nvPr/>
          </p:nvSpPr>
          <p:spPr bwMode="auto">
            <a:xfrm>
              <a:off x="2729" y="1904"/>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sp>
          <p:nvSpPr>
            <p:cNvPr id="90168" name="Oval 178"/>
            <p:cNvSpPr>
              <a:spLocks noChangeArrowheads="1"/>
            </p:cNvSpPr>
            <p:nvPr/>
          </p:nvSpPr>
          <p:spPr bwMode="auto">
            <a:xfrm>
              <a:off x="2957" y="1904"/>
              <a:ext cx="306" cy="2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69" name="Rectangle 179"/>
            <p:cNvSpPr>
              <a:spLocks noChangeArrowheads="1"/>
            </p:cNvSpPr>
            <p:nvPr/>
          </p:nvSpPr>
          <p:spPr bwMode="auto">
            <a:xfrm>
              <a:off x="1592" y="1642"/>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sp>
          <p:nvSpPr>
            <p:cNvPr id="90170" name="Rectangle 180"/>
            <p:cNvSpPr>
              <a:spLocks noChangeArrowheads="1"/>
            </p:cNvSpPr>
            <p:nvPr/>
          </p:nvSpPr>
          <p:spPr bwMode="auto">
            <a:xfrm>
              <a:off x="2783" y="1642"/>
              <a:ext cx="19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sp>
          <p:nvSpPr>
            <p:cNvPr id="90171" name="Line 181"/>
            <p:cNvSpPr>
              <a:spLocks noChangeShapeType="1"/>
            </p:cNvSpPr>
            <p:nvPr/>
          </p:nvSpPr>
          <p:spPr bwMode="auto">
            <a:xfrm flipV="1">
              <a:off x="1646" y="1861"/>
              <a:ext cx="219" cy="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72" name="Line 182"/>
            <p:cNvSpPr>
              <a:spLocks noChangeShapeType="1"/>
            </p:cNvSpPr>
            <p:nvPr/>
          </p:nvSpPr>
          <p:spPr bwMode="auto">
            <a:xfrm>
              <a:off x="2739" y="1861"/>
              <a:ext cx="218" cy="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17"/>
          <p:cNvGrpSpPr>
            <a:grpSpLocks/>
          </p:cNvGrpSpPr>
          <p:nvPr/>
        </p:nvGrpSpPr>
        <p:grpSpPr bwMode="auto">
          <a:xfrm>
            <a:off x="2960689" y="2614610"/>
            <a:ext cx="1387475" cy="369093"/>
            <a:chOff x="1865" y="2052"/>
            <a:chExt cx="874" cy="310"/>
          </a:xfrm>
        </p:grpSpPr>
        <p:sp>
          <p:nvSpPr>
            <p:cNvPr id="90159" name="Oval 139"/>
            <p:cNvSpPr>
              <a:spLocks noChangeArrowheads="1"/>
            </p:cNvSpPr>
            <p:nvPr/>
          </p:nvSpPr>
          <p:spPr bwMode="auto">
            <a:xfrm>
              <a:off x="1865" y="2088"/>
              <a:ext cx="306" cy="2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60" name="Oval 140"/>
            <p:cNvSpPr>
              <a:spLocks noChangeArrowheads="1"/>
            </p:cNvSpPr>
            <p:nvPr/>
          </p:nvSpPr>
          <p:spPr bwMode="auto">
            <a:xfrm>
              <a:off x="2433" y="2088"/>
              <a:ext cx="306" cy="2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61" name="Text Box 142"/>
            <p:cNvSpPr txBox="1">
              <a:spLocks noChangeArrowheads="1"/>
            </p:cNvSpPr>
            <p:nvPr/>
          </p:nvSpPr>
          <p:spPr bwMode="auto">
            <a:xfrm>
              <a:off x="2214" y="2052"/>
              <a:ext cx="17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1800"/>
                <a:t>b</a:t>
              </a:r>
            </a:p>
          </p:txBody>
        </p:sp>
        <p:sp>
          <p:nvSpPr>
            <p:cNvPr id="90162" name="Line 183"/>
            <p:cNvSpPr>
              <a:spLocks noChangeShapeType="1"/>
            </p:cNvSpPr>
            <p:nvPr/>
          </p:nvSpPr>
          <p:spPr bwMode="auto">
            <a:xfrm>
              <a:off x="2171" y="2254"/>
              <a:ext cx="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30"/>
          <p:cNvGrpSpPr>
            <a:grpSpLocks/>
          </p:cNvGrpSpPr>
          <p:nvPr/>
        </p:nvGrpSpPr>
        <p:grpSpPr bwMode="auto">
          <a:xfrm>
            <a:off x="1295400" y="1657350"/>
            <a:ext cx="4648200" cy="1939529"/>
            <a:chOff x="816" y="1248"/>
            <a:chExt cx="2928" cy="1629"/>
          </a:xfrm>
        </p:grpSpPr>
        <p:sp>
          <p:nvSpPr>
            <p:cNvPr id="90149" name="Rectangle 138"/>
            <p:cNvSpPr>
              <a:spLocks noChangeArrowheads="1"/>
            </p:cNvSpPr>
            <p:nvPr/>
          </p:nvSpPr>
          <p:spPr bwMode="auto">
            <a:xfrm>
              <a:off x="1986" y="1248"/>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sp>
          <p:nvSpPr>
            <p:cNvPr id="90150" name="Freeform 149"/>
            <p:cNvSpPr>
              <a:spLocks/>
            </p:cNvSpPr>
            <p:nvPr/>
          </p:nvSpPr>
          <p:spPr bwMode="auto">
            <a:xfrm>
              <a:off x="1472" y="1467"/>
              <a:ext cx="1660" cy="437"/>
            </a:xfrm>
            <a:custGeom>
              <a:avLst/>
              <a:gdLst>
                <a:gd name="T0" fmla="*/ 239368 w 816"/>
                <a:gd name="T1" fmla="*/ 396521 h 165"/>
                <a:gd name="T2" fmla="*/ 123127 w 816"/>
                <a:gd name="T3" fmla="*/ 0 h 165"/>
                <a:gd name="T4" fmla="*/ 0 w 816"/>
                <a:gd name="T5" fmla="*/ 399270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51" name="Freeform 150"/>
            <p:cNvSpPr>
              <a:spLocks/>
            </p:cNvSpPr>
            <p:nvPr/>
          </p:nvSpPr>
          <p:spPr bwMode="auto">
            <a:xfrm flipH="1" flipV="1">
              <a:off x="1035" y="2167"/>
              <a:ext cx="2534" cy="350"/>
            </a:xfrm>
            <a:custGeom>
              <a:avLst/>
              <a:gdLst>
                <a:gd name="T0" fmla="*/ 7056824 w 816"/>
                <a:gd name="T1" fmla="*/ 67215 h 165"/>
                <a:gd name="T2" fmla="*/ 3631216 w 816"/>
                <a:gd name="T3" fmla="*/ 0 h 165"/>
                <a:gd name="T4" fmla="*/ 0 w 816"/>
                <a:gd name="T5" fmla="*/ 67605 h 165"/>
                <a:gd name="T6" fmla="*/ 0 60000 65536"/>
                <a:gd name="T7" fmla="*/ 0 60000 65536"/>
                <a:gd name="T8" fmla="*/ 0 60000 65536"/>
                <a:gd name="T9" fmla="*/ 0 w 816"/>
                <a:gd name="T10" fmla="*/ 0 h 165"/>
                <a:gd name="T11" fmla="*/ 816 w 816"/>
                <a:gd name="T12" fmla="*/ 165 h 165"/>
              </a:gdLst>
              <a:ahLst/>
              <a:cxnLst>
                <a:cxn ang="T6">
                  <a:pos x="T0" y="T1"/>
                </a:cxn>
                <a:cxn ang="T7">
                  <a:pos x="T2" y="T3"/>
                </a:cxn>
                <a:cxn ang="T8">
                  <a:pos x="T4" y="T5"/>
                </a:cxn>
              </a:cxnLst>
              <a:rect l="T9" t="T10" r="T11" b="T12"/>
              <a:pathLst>
                <a:path w="816" h="165">
                  <a:moveTo>
                    <a:pt x="816" y="164"/>
                  </a:moveTo>
                  <a:cubicBezTo>
                    <a:pt x="750" y="137"/>
                    <a:pt x="556" y="0"/>
                    <a:pt x="420" y="0"/>
                  </a:cubicBezTo>
                  <a:cubicBezTo>
                    <a:pt x="284" y="0"/>
                    <a:pt x="87" y="131"/>
                    <a:pt x="0" y="165"/>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52" name="Rectangle 151"/>
            <p:cNvSpPr>
              <a:spLocks noChangeArrowheads="1"/>
            </p:cNvSpPr>
            <p:nvPr/>
          </p:nvSpPr>
          <p:spPr bwMode="auto">
            <a:xfrm>
              <a:off x="2117" y="2438"/>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800">
                  <a:latin typeface="Verdana" pitchFamily="34" charset="0"/>
                  <a:sym typeface="Symbol" pitchFamily="18" charset="2"/>
                </a:rPr>
                <a:t></a:t>
              </a:r>
            </a:p>
          </p:txBody>
        </p:sp>
        <p:sp>
          <p:nvSpPr>
            <p:cNvPr id="90153" name="Oval 184"/>
            <p:cNvSpPr>
              <a:spLocks noChangeArrowheads="1"/>
            </p:cNvSpPr>
            <p:nvPr/>
          </p:nvSpPr>
          <p:spPr bwMode="auto">
            <a:xfrm>
              <a:off x="816" y="1904"/>
              <a:ext cx="306" cy="2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lang="en-US" altLang="zh-CN" sz="1800"/>
                <a:t>q0</a:t>
              </a:r>
            </a:p>
          </p:txBody>
        </p:sp>
        <p:sp>
          <p:nvSpPr>
            <p:cNvPr id="90154" name="Oval 185"/>
            <p:cNvSpPr>
              <a:spLocks noChangeArrowheads="1"/>
            </p:cNvSpPr>
            <p:nvPr/>
          </p:nvSpPr>
          <p:spPr bwMode="auto">
            <a:xfrm>
              <a:off x="3438" y="1904"/>
              <a:ext cx="306" cy="2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55" name="Text Box 186"/>
            <p:cNvSpPr txBox="1">
              <a:spLocks noChangeArrowheads="1"/>
            </p:cNvSpPr>
            <p:nvPr/>
          </p:nvSpPr>
          <p:spPr bwMode="auto">
            <a:xfrm>
              <a:off x="1166" y="1738"/>
              <a:ext cx="21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800">
                  <a:latin typeface="Verdana" pitchFamily="34" charset="0"/>
                  <a:sym typeface="Symbol" pitchFamily="18" charset="2"/>
                </a:rPr>
                <a:t></a:t>
              </a:r>
            </a:p>
          </p:txBody>
        </p:sp>
        <p:sp>
          <p:nvSpPr>
            <p:cNvPr id="90156" name="Line 187"/>
            <p:cNvSpPr>
              <a:spLocks noChangeShapeType="1"/>
            </p:cNvSpPr>
            <p:nvPr/>
          </p:nvSpPr>
          <p:spPr bwMode="auto">
            <a:xfrm>
              <a:off x="1122" y="2036"/>
              <a:ext cx="21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57" name="Text Box 188"/>
            <p:cNvSpPr txBox="1">
              <a:spLocks noChangeArrowheads="1"/>
            </p:cNvSpPr>
            <p:nvPr/>
          </p:nvSpPr>
          <p:spPr bwMode="auto">
            <a:xfrm>
              <a:off x="3263" y="1729"/>
              <a:ext cx="21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800">
                  <a:latin typeface="Verdana" pitchFamily="34" charset="0"/>
                  <a:sym typeface="Symbol" pitchFamily="18" charset="2"/>
                </a:rPr>
                <a:t></a:t>
              </a:r>
            </a:p>
          </p:txBody>
        </p:sp>
        <p:sp>
          <p:nvSpPr>
            <p:cNvPr id="90158" name="Line 189"/>
            <p:cNvSpPr>
              <a:spLocks noChangeShapeType="1"/>
            </p:cNvSpPr>
            <p:nvPr/>
          </p:nvSpPr>
          <p:spPr bwMode="auto">
            <a:xfrm>
              <a:off x="3220" y="2027"/>
              <a:ext cx="21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197"/>
          <p:cNvGrpSpPr>
            <a:grpSpLocks/>
          </p:cNvGrpSpPr>
          <p:nvPr/>
        </p:nvGrpSpPr>
        <p:grpSpPr bwMode="auto">
          <a:xfrm>
            <a:off x="6381750" y="2300288"/>
            <a:ext cx="1447800" cy="467916"/>
            <a:chOff x="3648" y="3399"/>
            <a:chExt cx="912" cy="393"/>
          </a:xfrm>
        </p:grpSpPr>
        <p:sp>
          <p:nvSpPr>
            <p:cNvPr id="90145" name="Oval 192"/>
            <p:cNvSpPr>
              <a:spLocks noChangeArrowheads="1"/>
            </p:cNvSpPr>
            <p:nvPr/>
          </p:nvSpPr>
          <p:spPr bwMode="auto">
            <a:xfrm>
              <a:off x="3648" y="3504"/>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46" name="Oval 193"/>
            <p:cNvSpPr>
              <a:spLocks noChangeArrowheads="1"/>
            </p:cNvSpPr>
            <p:nvPr/>
          </p:nvSpPr>
          <p:spPr bwMode="auto">
            <a:xfrm>
              <a:off x="4224" y="3495"/>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47" name="Line 194"/>
            <p:cNvSpPr>
              <a:spLocks noChangeShapeType="1"/>
            </p:cNvSpPr>
            <p:nvPr/>
          </p:nvSpPr>
          <p:spPr bwMode="auto">
            <a:xfrm>
              <a:off x="3984" y="3639"/>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48" name="Text Box 195"/>
            <p:cNvSpPr txBox="1">
              <a:spLocks noChangeArrowheads="1"/>
            </p:cNvSpPr>
            <p:nvPr/>
          </p:nvSpPr>
          <p:spPr bwMode="auto">
            <a:xfrm>
              <a:off x="3984" y="3399"/>
              <a:ext cx="24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400">
                  <a:latin typeface="Verdana" pitchFamily="34" charset="0"/>
                  <a:sym typeface="Symbol" pitchFamily="18" charset="2"/>
                </a:rPr>
                <a:t>b</a:t>
              </a:r>
            </a:p>
          </p:txBody>
        </p:sp>
      </p:grpSp>
      <p:grpSp>
        <p:nvGrpSpPr>
          <p:cNvPr id="8" name="Group 204"/>
          <p:cNvGrpSpPr>
            <a:grpSpLocks/>
          </p:cNvGrpSpPr>
          <p:nvPr/>
        </p:nvGrpSpPr>
        <p:grpSpPr bwMode="auto">
          <a:xfrm>
            <a:off x="7296150" y="2286000"/>
            <a:ext cx="1447800" cy="514350"/>
            <a:chOff x="4272" y="3264"/>
            <a:chExt cx="912" cy="432"/>
          </a:xfrm>
        </p:grpSpPr>
        <p:sp>
          <p:nvSpPr>
            <p:cNvPr id="90140" name="Oval 199"/>
            <p:cNvSpPr>
              <a:spLocks noChangeArrowheads="1"/>
            </p:cNvSpPr>
            <p:nvPr/>
          </p:nvSpPr>
          <p:spPr bwMode="auto">
            <a:xfrm>
              <a:off x="4272" y="3369"/>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41" name="Oval 200"/>
            <p:cNvSpPr>
              <a:spLocks noChangeArrowheads="1"/>
            </p:cNvSpPr>
            <p:nvPr/>
          </p:nvSpPr>
          <p:spPr bwMode="auto">
            <a:xfrm>
              <a:off x="4848" y="3360"/>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42" name="Line 201"/>
            <p:cNvSpPr>
              <a:spLocks noChangeShapeType="1"/>
            </p:cNvSpPr>
            <p:nvPr/>
          </p:nvSpPr>
          <p:spPr bwMode="auto">
            <a:xfrm>
              <a:off x="4608" y="3504"/>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43" name="Text Box 202"/>
            <p:cNvSpPr txBox="1">
              <a:spLocks noChangeArrowheads="1"/>
            </p:cNvSpPr>
            <p:nvPr/>
          </p:nvSpPr>
          <p:spPr bwMode="auto">
            <a:xfrm>
              <a:off x="4608" y="3264"/>
              <a:ext cx="24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sym typeface="Symbol" pitchFamily="18" charset="2"/>
                </a:rPr>
                <a:t>b</a:t>
              </a:r>
            </a:p>
          </p:txBody>
        </p:sp>
        <p:sp>
          <p:nvSpPr>
            <p:cNvPr id="90144" name="Oval 203"/>
            <p:cNvSpPr>
              <a:spLocks noChangeArrowheads="1"/>
            </p:cNvSpPr>
            <p:nvPr/>
          </p:nvSpPr>
          <p:spPr bwMode="auto">
            <a:xfrm>
              <a:off x="4896" y="3408"/>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grpSp>
      <p:sp>
        <p:nvSpPr>
          <p:cNvPr id="90123" name="Rectangle 231"/>
          <p:cNvSpPr>
            <a:spLocks noChangeArrowheads="1"/>
          </p:cNvSpPr>
          <p:nvPr/>
        </p:nvSpPr>
        <p:spPr bwMode="auto">
          <a:xfrm>
            <a:off x="76200" y="964406"/>
            <a:ext cx="9067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kumimoji="1" lang="zh-CN" altLang="en-US" sz="2400" b="1" dirty="0">
                <a:solidFill>
                  <a:srgbClr val="0000CC"/>
                </a:solidFill>
                <a:latin typeface="Verdana" pitchFamily="34" charset="0"/>
              </a:rPr>
              <a:t>假定有正则表达式</a:t>
            </a:r>
            <a:r>
              <a:rPr kumimoji="1" lang="en-US" altLang="zh-CN" sz="2400" b="1" dirty="0">
                <a:solidFill>
                  <a:srgbClr val="0000CC"/>
                </a:solidFill>
                <a:latin typeface="Verdana" pitchFamily="34" charset="0"/>
              </a:rPr>
              <a:t>L(R) =(</a:t>
            </a:r>
            <a:r>
              <a:rPr kumimoji="1" lang="en-US" altLang="zh-CN" sz="2400" b="1" dirty="0" err="1">
                <a:solidFill>
                  <a:srgbClr val="0000CC"/>
                </a:solidFill>
                <a:latin typeface="Verdana" pitchFamily="34" charset="0"/>
              </a:rPr>
              <a:t>a|b</a:t>
            </a:r>
            <a:r>
              <a:rPr kumimoji="1" lang="en-US" altLang="zh-CN" sz="2400" b="1" dirty="0">
                <a:solidFill>
                  <a:srgbClr val="0000CC"/>
                </a:solidFill>
                <a:latin typeface="Verdana" pitchFamily="34" charset="0"/>
              </a:rPr>
              <a:t>)</a:t>
            </a:r>
            <a:r>
              <a:rPr kumimoji="1" lang="en-US" altLang="zh-CN" sz="2400" b="1" baseline="30000" dirty="0">
                <a:solidFill>
                  <a:srgbClr val="0000CC"/>
                </a:solidFill>
                <a:latin typeface="Verdana" pitchFamily="34" charset="0"/>
              </a:rPr>
              <a:t>*</a:t>
            </a:r>
            <a:r>
              <a:rPr kumimoji="1" lang="en-US" altLang="zh-CN" sz="2400" b="1" dirty="0" err="1">
                <a:solidFill>
                  <a:srgbClr val="0000CC"/>
                </a:solidFill>
                <a:latin typeface="Verdana" pitchFamily="34" charset="0"/>
              </a:rPr>
              <a:t>abb</a:t>
            </a:r>
            <a:r>
              <a:rPr kumimoji="1" lang="zh-CN" altLang="en-US" sz="2400" b="1" dirty="0">
                <a:solidFill>
                  <a:srgbClr val="0000CC"/>
                </a:solidFill>
                <a:latin typeface="Verdana" pitchFamily="34" charset="0"/>
              </a:rPr>
              <a:t>，</a:t>
            </a:r>
            <a:endParaRPr kumimoji="1" lang="en-US" altLang="zh-CN" sz="2400" b="1" dirty="0">
              <a:solidFill>
                <a:srgbClr val="0000CC"/>
              </a:solidFill>
              <a:latin typeface="Verdana" pitchFamily="34" charset="0"/>
            </a:endParaRPr>
          </a:p>
          <a:p>
            <a:pPr eaLnBrk="1" hangingPunct="1">
              <a:spcBef>
                <a:spcPct val="0"/>
              </a:spcBef>
              <a:buFontTx/>
              <a:buNone/>
            </a:pPr>
            <a:r>
              <a:rPr kumimoji="1" lang="zh-CN" altLang="en-US" sz="2400" b="1" dirty="0">
                <a:solidFill>
                  <a:srgbClr val="0000CC"/>
                </a:solidFill>
                <a:latin typeface="Verdana" pitchFamily="34" charset="0"/>
              </a:rPr>
              <a:t>构造</a:t>
            </a:r>
            <a:r>
              <a:rPr kumimoji="1" lang="en-US" altLang="zh-CN" sz="2400" b="1" dirty="0">
                <a:solidFill>
                  <a:srgbClr val="0000CC"/>
                </a:solidFill>
                <a:latin typeface="Verdana" pitchFamily="34" charset="0"/>
              </a:rPr>
              <a:t>NFA</a:t>
            </a:r>
            <a:r>
              <a:rPr kumimoji="1" lang="zh-CN" altLang="en-US" sz="2400" b="1" dirty="0">
                <a:solidFill>
                  <a:srgbClr val="0000CC"/>
                </a:solidFill>
                <a:latin typeface="Verdana" pitchFamily="34" charset="0"/>
              </a:rPr>
              <a:t>使</a:t>
            </a:r>
            <a:r>
              <a:rPr kumimoji="1" lang="en-US" altLang="zh-CN" sz="2400" b="1" dirty="0">
                <a:solidFill>
                  <a:srgbClr val="0000CC"/>
                </a:solidFill>
                <a:latin typeface="Verdana" pitchFamily="34" charset="0"/>
              </a:rPr>
              <a:t>L(N)=L(R)</a:t>
            </a:r>
          </a:p>
        </p:txBody>
      </p:sp>
      <p:grpSp>
        <p:nvGrpSpPr>
          <p:cNvPr id="9" name="Group 232"/>
          <p:cNvGrpSpPr>
            <a:grpSpLocks/>
          </p:cNvGrpSpPr>
          <p:nvPr/>
        </p:nvGrpSpPr>
        <p:grpSpPr bwMode="auto">
          <a:xfrm>
            <a:off x="1892300" y="3990975"/>
            <a:ext cx="1447800" cy="467916"/>
            <a:chOff x="2352" y="3399"/>
            <a:chExt cx="912" cy="393"/>
          </a:xfrm>
        </p:grpSpPr>
        <p:sp>
          <p:nvSpPr>
            <p:cNvPr id="90136" name="Oval 233"/>
            <p:cNvSpPr>
              <a:spLocks noChangeArrowheads="1"/>
            </p:cNvSpPr>
            <p:nvPr/>
          </p:nvSpPr>
          <p:spPr bwMode="auto">
            <a:xfrm>
              <a:off x="2352" y="3504"/>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37" name="Oval 234"/>
            <p:cNvSpPr>
              <a:spLocks noChangeArrowheads="1"/>
            </p:cNvSpPr>
            <p:nvPr/>
          </p:nvSpPr>
          <p:spPr bwMode="auto">
            <a:xfrm>
              <a:off x="2928" y="3495"/>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38" name="Line 235"/>
            <p:cNvSpPr>
              <a:spLocks noChangeShapeType="1"/>
            </p:cNvSpPr>
            <p:nvPr/>
          </p:nvSpPr>
          <p:spPr bwMode="auto">
            <a:xfrm>
              <a:off x="2688" y="3639"/>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9" name="Text Box 236"/>
            <p:cNvSpPr txBox="1">
              <a:spLocks noChangeArrowheads="1"/>
            </p:cNvSpPr>
            <p:nvPr/>
          </p:nvSpPr>
          <p:spPr bwMode="auto">
            <a:xfrm>
              <a:off x="2688" y="3399"/>
              <a:ext cx="24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400">
                  <a:latin typeface="Verdana" pitchFamily="34" charset="0"/>
                  <a:sym typeface="Symbol" pitchFamily="18" charset="2"/>
                </a:rPr>
                <a:t>a</a:t>
              </a:r>
            </a:p>
          </p:txBody>
        </p:sp>
      </p:grpSp>
      <p:grpSp>
        <p:nvGrpSpPr>
          <p:cNvPr id="10" name="Group 237"/>
          <p:cNvGrpSpPr>
            <a:grpSpLocks/>
          </p:cNvGrpSpPr>
          <p:nvPr/>
        </p:nvGrpSpPr>
        <p:grpSpPr bwMode="auto">
          <a:xfrm>
            <a:off x="4025900" y="4048125"/>
            <a:ext cx="1447800" cy="467916"/>
            <a:chOff x="3648" y="3399"/>
            <a:chExt cx="912" cy="393"/>
          </a:xfrm>
        </p:grpSpPr>
        <p:sp>
          <p:nvSpPr>
            <p:cNvPr id="90132" name="Oval 238"/>
            <p:cNvSpPr>
              <a:spLocks noChangeArrowheads="1"/>
            </p:cNvSpPr>
            <p:nvPr/>
          </p:nvSpPr>
          <p:spPr bwMode="auto">
            <a:xfrm>
              <a:off x="3648" y="3504"/>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33" name="Oval 239"/>
            <p:cNvSpPr>
              <a:spLocks noChangeArrowheads="1"/>
            </p:cNvSpPr>
            <p:nvPr/>
          </p:nvSpPr>
          <p:spPr bwMode="auto">
            <a:xfrm>
              <a:off x="4224" y="3495"/>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34" name="Line 240"/>
            <p:cNvSpPr>
              <a:spLocks noChangeShapeType="1"/>
            </p:cNvSpPr>
            <p:nvPr/>
          </p:nvSpPr>
          <p:spPr bwMode="auto">
            <a:xfrm>
              <a:off x="3984" y="3639"/>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5" name="Text Box 241"/>
            <p:cNvSpPr txBox="1">
              <a:spLocks noChangeArrowheads="1"/>
            </p:cNvSpPr>
            <p:nvPr/>
          </p:nvSpPr>
          <p:spPr bwMode="auto">
            <a:xfrm>
              <a:off x="3984" y="3399"/>
              <a:ext cx="24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kumimoji="1" lang="en-US" altLang="zh-CN" sz="2400">
                  <a:latin typeface="Verdana" pitchFamily="34" charset="0"/>
                  <a:sym typeface="Symbol" pitchFamily="18" charset="2"/>
                </a:rPr>
                <a:t>b</a:t>
              </a:r>
            </a:p>
          </p:txBody>
        </p:sp>
      </p:grpSp>
      <p:grpSp>
        <p:nvGrpSpPr>
          <p:cNvPr id="11" name="Group 242"/>
          <p:cNvGrpSpPr>
            <a:grpSpLocks/>
          </p:cNvGrpSpPr>
          <p:nvPr/>
        </p:nvGrpSpPr>
        <p:grpSpPr bwMode="auto">
          <a:xfrm>
            <a:off x="6464300" y="4033838"/>
            <a:ext cx="1447800" cy="514350"/>
            <a:chOff x="4272" y="3264"/>
            <a:chExt cx="912" cy="432"/>
          </a:xfrm>
        </p:grpSpPr>
        <p:sp>
          <p:nvSpPr>
            <p:cNvPr id="90127" name="Oval 243"/>
            <p:cNvSpPr>
              <a:spLocks noChangeArrowheads="1"/>
            </p:cNvSpPr>
            <p:nvPr/>
          </p:nvSpPr>
          <p:spPr bwMode="auto">
            <a:xfrm>
              <a:off x="4272" y="3369"/>
              <a:ext cx="336"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28" name="Oval 244"/>
            <p:cNvSpPr>
              <a:spLocks noChangeArrowheads="1"/>
            </p:cNvSpPr>
            <p:nvPr/>
          </p:nvSpPr>
          <p:spPr bwMode="auto">
            <a:xfrm>
              <a:off x="4848" y="3360"/>
              <a:ext cx="336" cy="3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sp>
          <p:nvSpPr>
            <p:cNvPr id="90129" name="Line 245"/>
            <p:cNvSpPr>
              <a:spLocks noChangeShapeType="1"/>
            </p:cNvSpPr>
            <p:nvPr/>
          </p:nvSpPr>
          <p:spPr bwMode="auto">
            <a:xfrm>
              <a:off x="4608" y="3504"/>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0" name="Text Box 246"/>
            <p:cNvSpPr txBox="1">
              <a:spLocks noChangeArrowheads="1"/>
            </p:cNvSpPr>
            <p:nvPr/>
          </p:nvSpPr>
          <p:spPr bwMode="auto">
            <a:xfrm>
              <a:off x="4608" y="3264"/>
              <a:ext cx="24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r>
                <a:rPr kumimoji="1" lang="en-US" altLang="zh-CN" sz="2400">
                  <a:latin typeface="Verdana" pitchFamily="34" charset="0"/>
                  <a:sym typeface="Symbol" pitchFamily="18" charset="2"/>
                </a:rPr>
                <a:t>b</a:t>
              </a:r>
            </a:p>
          </p:txBody>
        </p:sp>
        <p:sp>
          <p:nvSpPr>
            <p:cNvPr id="90131" name="Oval 247"/>
            <p:cNvSpPr>
              <a:spLocks noChangeArrowheads="1"/>
            </p:cNvSpPr>
            <p:nvPr/>
          </p:nvSpPr>
          <p:spPr bwMode="auto">
            <a:xfrm>
              <a:off x="4896" y="3408"/>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zh-CN" sz="1800"/>
            </a:p>
          </p:txBody>
        </p:sp>
      </p:grpSp>
    </p:spTree>
    <p:extLst>
      <p:ext uri="{BB962C8B-B14F-4D97-AF65-F5344CB8AC3E}">
        <p14:creationId xmlns:p14="http://schemas.microsoft.com/office/powerpoint/2010/main" val="2379424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slide(fromBottom)">
                                      <p:cBhvr>
                                        <p:cTn id="31" dur="2000"/>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xit" presetSubtype="0" fill="hold" nodeType="clickEffect">
                                  <p:stCondLst>
                                    <p:cond delay="0"/>
                                  </p:stCondLst>
                                  <p:childTnLst>
                                    <p:set>
                                      <p:cBhvr>
                                        <p:cTn id="39" dur="1" fill="hold">
                                          <p:stCondLst>
                                            <p:cond delay="0"/>
                                          </p:stCondLst>
                                        </p:cTn>
                                        <p:tgtEl>
                                          <p:spTgt spid="10"/>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4"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slide(fromBottom)">
                                      <p:cBhvr>
                                        <p:cTn id="44" dur="2000"/>
                                        <p:tgtEl>
                                          <p:spTgt spid="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nodeType="clickEffect">
                                  <p:stCondLst>
                                    <p:cond delay="0"/>
                                  </p:stCondLst>
                                  <p:childTnLst>
                                    <p:set>
                                      <p:cBhvr>
                                        <p:cTn id="52" dur="1" fill="hold">
                                          <p:stCondLst>
                                            <p:cond delay="0"/>
                                          </p:stCondLst>
                                        </p:cTn>
                                        <p:tgtEl>
                                          <p:spTgt spid="11"/>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slide(fromBottom)">
                                      <p:cBhvr>
                                        <p:cTn id="57" dur="2000"/>
                                        <p:tgtEl>
                                          <p:spTgt spid="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759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3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978001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584" y="1918543"/>
            <a:ext cx="6832320" cy="769441"/>
          </a:xfrm>
          <a:prstGeom prst="rect">
            <a:avLst/>
          </a:prstGeom>
        </p:spPr>
        <p:txBody>
          <a:bodyPr wrap="none">
            <a:spAutoFit/>
          </a:bodyPr>
          <a:lstStyle/>
          <a:p>
            <a:r>
              <a:rPr kumimoji="1" lang="en-US" altLang="zh-CN" sz="4400" b="1" dirty="0">
                <a:solidFill>
                  <a:srgbClr val="CC0099"/>
                </a:solidFill>
                <a:latin typeface="Times New Roman" pitchFamily="18" charset="0"/>
                <a:ea typeface="隶书" pitchFamily="49" charset="-122"/>
              </a:rPr>
              <a:t>6</a:t>
            </a:r>
            <a:r>
              <a:rPr kumimoji="1" lang="zh-CN" altLang="zh-CN" sz="4400" b="1" dirty="0">
                <a:solidFill>
                  <a:srgbClr val="CC0099"/>
                </a:solidFill>
                <a:latin typeface="Times New Roman" pitchFamily="18" charset="0"/>
                <a:ea typeface="隶书" pitchFamily="49" charset="-122"/>
              </a:rPr>
              <a:t> </a:t>
            </a:r>
            <a:r>
              <a:rPr kumimoji="1" lang="zh-CN" altLang="en-US" sz="4400" b="1" dirty="0">
                <a:solidFill>
                  <a:srgbClr val="CC0099"/>
                </a:solidFill>
                <a:latin typeface="Times New Roman" pitchFamily="18" charset="0"/>
                <a:ea typeface="隶书" pitchFamily="49" charset="-122"/>
              </a:rPr>
              <a:t>词法分析程序的自动构造</a:t>
            </a:r>
            <a:endParaRPr kumimoji="1" lang="zh-CN" altLang="zh-CN" sz="4400" b="1" dirty="0">
              <a:solidFill>
                <a:srgbClr val="CC0099"/>
              </a:solidFill>
              <a:latin typeface="Times New Roman" pitchFamily="18" charset="0"/>
              <a:ea typeface="隶书" pitchFamily="49" charset="-122"/>
            </a:endParaRPr>
          </a:p>
        </p:txBody>
      </p:sp>
    </p:spTree>
    <p:extLst>
      <p:ext uri="{BB962C8B-B14F-4D97-AF65-F5344CB8AC3E}">
        <p14:creationId xmlns:p14="http://schemas.microsoft.com/office/powerpoint/2010/main" val="16655381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06149" y="2529832"/>
            <a:ext cx="1258154" cy="400110"/>
          </a:xfrm>
          <a:prstGeom prst="rect">
            <a:avLst/>
          </a:prstGeom>
          <a:noFill/>
          <a:ln>
            <a:solidFill>
              <a:schemeClr val="tx1"/>
            </a:solidFill>
          </a:ln>
        </p:spPr>
        <p:txBody>
          <a:bodyPr wrap="square" rtlCol="0">
            <a:spAutoFit/>
          </a:bodyPr>
          <a:lstStyle/>
          <a:p>
            <a:pPr algn="ctr"/>
            <a:r>
              <a:rPr lang="zh-CN" altLang="en-US" sz="2000" dirty="0"/>
              <a:t>正规集</a:t>
            </a:r>
          </a:p>
        </p:txBody>
      </p:sp>
      <p:cxnSp>
        <p:nvCxnSpPr>
          <p:cNvPr id="4" name="直接箭头连接符 3"/>
          <p:cNvCxnSpPr>
            <a:cxnSpLocks/>
            <a:stCxn id="2" idx="0"/>
            <a:endCxn id="5" idx="2"/>
          </p:cNvCxnSpPr>
          <p:nvPr/>
        </p:nvCxnSpPr>
        <p:spPr>
          <a:xfrm flipH="1" flipV="1">
            <a:off x="2139973" y="1918741"/>
            <a:ext cx="895253" cy="611091"/>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549529" y="1272410"/>
            <a:ext cx="1180888" cy="646331"/>
          </a:xfrm>
          <a:prstGeom prst="rect">
            <a:avLst/>
          </a:prstGeom>
          <a:noFill/>
        </p:spPr>
        <p:txBody>
          <a:bodyPr wrap="square" rtlCol="0">
            <a:spAutoFit/>
          </a:bodyPr>
          <a:lstStyle/>
          <a:p>
            <a:r>
              <a:rPr lang="zh-CN" altLang="en-US" dirty="0"/>
              <a:t>某语言的单词集合</a:t>
            </a:r>
          </a:p>
        </p:txBody>
      </p:sp>
      <p:sp>
        <p:nvSpPr>
          <p:cNvPr id="8" name="TextBox 7"/>
          <p:cNvSpPr txBox="1"/>
          <p:nvPr/>
        </p:nvSpPr>
        <p:spPr>
          <a:xfrm>
            <a:off x="958135" y="3806673"/>
            <a:ext cx="1777143" cy="400110"/>
          </a:xfrm>
          <a:prstGeom prst="rect">
            <a:avLst/>
          </a:prstGeom>
          <a:noFill/>
          <a:ln>
            <a:solidFill>
              <a:schemeClr val="tx1"/>
            </a:solidFill>
          </a:ln>
        </p:spPr>
        <p:txBody>
          <a:bodyPr wrap="square" rtlCol="0">
            <a:spAutoFit/>
          </a:bodyPr>
          <a:lstStyle/>
          <a:p>
            <a:r>
              <a:rPr lang="zh-CN" altLang="en-US" sz="2000" dirty="0"/>
              <a:t>正则表达式</a:t>
            </a:r>
          </a:p>
        </p:txBody>
      </p:sp>
      <p:cxnSp>
        <p:nvCxnSpPr>
          <p:cNvPr id="7" name="直接箭头连接符 6"/>
          <p:cNvCxnSpPr>
            <a:stCxn id="2" idx="2"/>
            <a:endCxn id="8" idx="0"/>
          </p:cNvCxnSpPr>
          <p:nvPr/>
        </p:nvCxnSpPr>
        <p:spPr>
          <a:xfrm flipH="1">
            <a:off x="1846707" y="2929942"/>
            <a:ext cx="1188519" cy="876731"/>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320998" y="4125882"/>
            <a:ext cx="1589555" cy="338554"/>
          </a:xfrm>
          <a:prstGeom prst="rect">
            <a:avLst/>
          </a:prstGeom>
          <a:ln>
            <a:noFill/>
          </a:ln>
        </p:spPr>
        <p:txBody>
          <a:bodyPr wrap="square">
            <a:spAutoFit/>
          </a:bodyPr>
          <a:lstStyle/>
          <a:p>
            <a:r>
              <a:rPr lang="zh-CN" altLang="en-US" sz="1600" dirty="0"/>
              <a:t>有穷自动机</a:t>
            </a:r>
            <a:r>
              <a:rPr lang="en-US" altLang="zh-CN" sz="1600" dirty="0"/>
              <a:t>FA</a:t>
            </a:r>
            <a:endParaRPr lang="zh-CN" altLang="en-US" sz="1600" dirty="0"/>
          </a:p>
        </p:txBody>
      </p:sp>
      <p:cxnSp>
        <p:nvCxnSpPr>
          <p:cNvPr id="19" name="直接箭头连接符 18"/>
          <p:cNvCxnSpPr/>
          <p:nvPr/>
        </p:nvCxnSpPr>
        <p:spPr>
          <a:xfrm flipH="1" flipV="1">
            <a:off x="3131604" y="2991498"/>
            <a:ext cx="1145250" cy="467877"/>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3"/>
            <a:endCxn id="17" idx="1"/>
          </p:cNvCxnSpPr>
          <p:nvPr/>
        </p:nvCxnSpPr>
        <p:spPr>
          <a:xfrm flipV="1">
            <a:off x="2735278" y="3707703"/>
            <a:ext cx="1357265" cy="299025"/>
          </a:xfrm>
          <a:prstGeom prst="straightConnector1">
            <a:avLst/>
          </a:prstGeom>
          <a:ln w="57150" cmpd="tri">
            <a:solidFill>
              <a:srgbClr val="0000FF"/>
            </a:solidFill>
            <a:prstDash val="solid"/>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 Box 6"/>
          <p:cNvSpPr txBox="1">
            <a:spLocks noChangeArrowheads="1"/>
          </p:cNvSpPr>
          <p:nvPr/>
        </p:nvSpPr>
        <p:spPr bwMode="auto">
          <a:xfrm>
            <a:off x="3888719" y="1726572"/>
            <a:ext cx="1742196"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zh-CN" altLang="en-US" sz="2000" dirty="0"/>
              <a:t>最小的</a:t>
            </a:r>
            <a:r>
              <a:rPr lang="en-US" altLang="zh-CN" sz="2000" dirty="0"/>
              <a:t>DFA</a:t>
            </a:r>
          </a:p>
        </p:txBody>
      </p:sp>
      <p:sp>
        <p:nvSpPr>
          <p:cNvPr id="17" name="Text Box 7"/>
          <p:cNvSpPr txBox="1">
            <a:spLocks noChangeArrowheads="1"/>
          </p:cNvSpPr>
          <p:nvPr/>
        </p:nvSpPr>
        <p:spPr bwMode="auto">
          <a:xfrm>
            <a:off x="4092543" y="3507648"/>
            <a:ext cx="1169937"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2000" dirty="0"/>
              <a:t>NFA</a:t>
            </a:r>
          </a:p>
        </p:txBody>
      </p:sp>
      <p:sp>
        <p:nvSpPr>
          <p:cNvPr id="18" name="Text Box 8"/>
          <p:cNvSpPr txBox="1">
            <a:spLocks noChangeArrowheads="1"/>
          </p:cNvSpPr>
          <p:nvPr/>
        </p:nvSpPr>
        <p:spPr bwMode="auto">
          <a:xfrm>
            <a:off x="4092544" y="2635444"/>
            <a:ext cx="1169937"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50000"/>
              </a:spcBef>
              <a:buFontTx/>
              <a:buNone/>
            </a:pPr>
            <a:r>
              <a:rPr lang="en-US" altLang="zh-CN" sz="2000" dirty="0"/>
              <a:t>DFA</a:t>
            </a:r>
          </a:p>
        </p:txBody>
      </p:sp>
      <p:sp>
        <p:nvSpPr>
          <p:cNvPr id="13" name="矩形 12"/>
          <p:cNvSpPr/>
          <p:nvPr/>
        </p:nvSpPr>
        <p:spPr>
          <a:xfrm>
            <a:off x="3694036" y="1626354"/>
            <a:ext cx="2057310" cy="295186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6" name="表格 45"/>
          <p:cNvGraphicFramePr>
            <a:graphicFrameLocks noGrp="1"/>
          </p:cNvGraphicFramePr>
          <p:nvPr>
            <p:extLst>
              <p:ext uri="{D42A27DB-BD31-4B8C-83A1-F6EECF244321}">
                <p14:modId xmlns:p14="http://schemas.microsoft.com/office/powerpoint/2010/main" val="2777137742"/>
              </p:ext>
            </p:extLst>
          </p:nvPr>
        </p:nvGraphicFramePr>
        <p:xfrm>
          <a:off x="5910553" y="339501"/>
          <a:ext cx="2032718" cy="2072640"/>
        </p:xfrm>
        <a:graphic>
          <a:graphicData uri="http://schemas.openxmlformats.org/drawingml/2006/table">
            <a:tbl>
              <a:tblPr firstRow="1" firstCol="1" bandRow="1">
                <a:tableStyleId>{5C22544A-7EE6-4342-B048-85BDC9FD1C3A}</a:tableStyleId>
              </a:tblPr>
              <a:tblGrid>
                <a:gridCol w="2032718">
                  <a:extLst>
                    <a:ext uri="{9D8B030D-6E8A-4147-A177-3AD203B41FA5}">
                      <a16:colId xmlns:a16="http://schemas.microsoft.com/office/drawing/2014/main" val="20000"/>
                    </a:ext>
                  </a:extLst>
                </a:gridCol>
              </a:tblGrid>
              <a:tr h="1945958">
                <a:tc>
                  <a:txBody>
                    <a:bodyPr/>
                    <a:lstStyle/>
                    <a:p>
                      <a:pPr algn="just">
                        <a:spcAft>
                          <a:spcPts val="0"/>
                        </a:spcAft>
                      </a:pPr>
                      <a:r>
                        <a:rPr lang="zh-CN" sz="1600" b="1" kern="100" dirty="0">
                          <a:solidFill>
                            <a:srgbClr val="FF0000"/>
                          </a:solidFill>
                          <a:effectLst/>
                        </a:rPr>
                        <a:t>算法</a:t>
                      </a:r>
                      <a:r>
                        <a:rPr lang="en-US" sz="1600" b="1" kern="100" dirty="0">
                          <a:solidFill>
                            <a:srgbClr val="FF0000"/>
                          </a:solidFill>
                          <a:effectLst/>
                        </a:rPr>
                        <a:t>2.1  DFA</a:t>
                      </a:r>
                      <a:r>
                        <a:rPr lang="zh-CN" sz="1600" b="1" kern="100" dirty="0">
                          <a:solidFill>
                            <a:srgbClr val="FF0000"/>
                          </a:solidFill>
                          <a:effectLst/>
                        </a:rPr>
                        <a:t>模拟</a:t>
                      </a:r>
                      <a:r>
                        <a:rPr lang="zh-CN" sz="1000" b="0" kern="100" dirty="0">
                          <a:solidFill>
                            <a:schemeClr val="tx1"/>
                          </a:solidFill>
                          <a:effectLst/>
                        </a:rPr>
                        <a:t>，</a:t>
                      </a:r>
                      <a:r>
                        <a:rPr lang="zh-CN" sz="800" b="0" kern="100" dirty="0">
                          <a:solidFill>
                            <a:schemeClr val="tx1"/>
                          </a:solidFill>
                          <a:effectLst/>
                        </a:rPr>
                        <a:t>判断</a:t>
                      </a:r>
                      <a:r>
                        <a:rPr lang="en-US" sz="800" b="0" kern="100" dirty="0">
                          <a:solidFill>
                            <a:schemeClr val="tx1"/>
                          </a:solidFill>
                          <a:effectLst/>
                        </a:rPr>
                        <a:t>DFA</a:t>
                      </a:r>
                      <a:r>
                        <a:rPr lang="zh-CN" sz="800" b="0" kern="100" dirty="0">
                          <a:solidFill>
                            <a:schemeClr val="tx1"/>
                          </a:solidFill>
                          <a:effectLst/>
                        </a:rPr>
                        <a:t>是否能识别一个输入符号串</a:t>
                      </a:r>
                    </a:p>
                    <a:p>
                      <a:pPr indent="266700" algn="just">
                        <a:spcAft>
                          <a:spcPts val="0"/>
                        </a:spcAft>
                      </a:pPr>
                      <a:r>
                        <a:rPr lang="zh-CN" sz="800" b="0" kern="100" dirty="0">
                          <a:solidFill>
                            <a:schemeClr val="tx1"/>
                          </a:solidFill>
                          <a:effectLst/>
                        </a:rPr>
                        <a:t>输入：一个以</a:t>
                      </a:r>
                      <a:r>
                        <a:rPr lang="en-US" sz="800" b="0" kern="100" dirty="0" err="1">
                          <a:solidFill>
                            <a:schemeClr val="tx1"/>
                          </a:solidFill>
                          <a:effectLst/>
                        </a:rPr>
                        <a:t>eof</a:t>
                      </a:r>
                      <a:r>
                        <a:rPr lang="zh-CN" sz="800" b="0" kern="100" dirty="0">
                          <a:solidFill>
                            <a:schemeClr val="tx1"/>
                          </a:solidFill>
                          <a:effectLst/>
                        </a:rPr>
                        <a:t>结尾的字符串</a:t>
                      </a:r>
                      <a:r>
                        <a:rPr lang="en-US" sz="800" b="0" kern="100" dirty="0">
                          <a:solidFill>
                            <a:schemeClr val="tx1"/>
                          </a:solidFill>
                          <a:effectLst/>
                        </a:rPr>
                        <a:t>x</a:t>
                      </a:r>
                      <a:r>
                        <a:rPr lang="zh-CN" sz="800" b="0" kern="100" dirty="0">
                          <a:solidFill>
                            <a:schemeClr val="tx1"/>
                          </a:solidFill>
                          <a:effectLst/>
                        </a:rPr>
                        <a:t>，一个</a:t>
                      </a:r>
                      <a:r>
                        <a:rPr lang="en-US" sz="800" b="0" kern="100" dirty="0">
                          <a:solidFill>
                            <a:schemeClr val="tx1"/>
                          </a:solidFill>
                          <a:effectLst/>
                        </a:rPr>
                        <a:t>DFA D</a:t>
                      </a:r>
                      <a:r>
                        <a:rPr lang="zh-CN" sz="800" b="0" kern="100" dirty="0">
                          <a:solidFill>
                            <a:schemeClr val="tx1"/>
                          </a:solidFill>
                          <a:effectLst/>
                        </a:rPr>
                        <a:t>，</a:t>
                      </a:r>
                      <a:r>
                        <a:rPr lang="en-US" sz="800" b="0" kern="100" dirty="0">
                          <a:solidFill>
                            <a:schemeClr val="tx1"/>
                          </a:solidFill>
                          <a:effectLst/>
                        </a:rPr>
                        <a:t>D</a:t>
                      </a:r>
                      <a:r>
                        <a:rPr lang="zh-CN" sz="800" b="0" kern="100" dirty="0">
                          <a:solidFill>
                            <a:schemeClr val="tx1"/>
                          </a:solidFill>
                          <a:effectLst/>
                        </a:rPr>
                        <a:t>的初始状态为</a:t>
                      </a:r>
                      <a:r>
                        <a:rPr lang="en-US" sz="800" b="0" kern="100" dirty="0">
                          <a:solidFill>
                            <a:schemeClr val="tx1"/>
                          </a:solidFill>
                          <a:effectLst/>
                        </a:rPr>
                        <a:t>s</a:t>
                      </a:r>
                      <a:r>
                        <a:rPr lang="en-US" sz="800" b="0" kern="100" baseline="-25000" dirty="0">
                          <a:solidFill>
                            <a:schemeClr val="tx1"/>
                          </a:solidFill>
                          <a:effectLst/>
                        </a:rPr>
                        <a:t>0</a:t>
                      </a:r>
                      <a:r>
                        <a:rPr lang="zh-CN" sz="800" b="0" kern="100" dirty="0">
                          <a:solidFill>
                            <a:schemeClr val="tx1"/>
                          </a:solidFill>
                          <a:effectLst/>
                        </a:rPr>
                        <a:t>，终结状态集为</a:t>
                      </a:r>
                      <a:r>
                        <a:rPr lang="en-US" sz="800" b="0" kern="100" dirty="0">
                          <a:solidFill>
                            <a:schemeClr val="tx1"/>
                          </a:solidFill>
                          <a:effectLst/>
                        </a:rPr>
                        <a:t>F</a:t>
                      </a:r>
                      <a:r>
                        <a:rPr lang="zh-CN" sz="800" b="0" kern="100" dirty="0">
                          <a:solidFill>
                            <a:schemeClr val="tx1"/>
                          </a:solidFill>
                          <a:effectLst/>
                        </a:rPr>
                        <a:t>，转换函数为</a:t>
                      </a:r>
                      <a:r>
                        <a:rPr lang="fr-FR" sz="800" b="0" kern="100" dirty="0">
                          <a:solidFill>
                            <a:schemeClr val="tx1"/>
                          </a:solidFill>
                          <a:effectLst/>
                          <a:sym typeface="Symbol"/>
                        </a:rPr>
                        <a:t></a:t>
                      </a:r>
                      <a:endParaRPr lang="zh-CN" sz="800" b="0" kern="100" dirty="0">
                        <a:solidFill>
                          <a:schemeClr val="tx1"/>
                        </a:solidFill>
                        <a:effectLst/>
                      </a:endParaRPr>
                    </a:p>
                    <a:p>
                      <a:pPr indent="266700" algn="just">
                        <a:spcAft>
                          <a:spcPts val="0"/>
                        </a:spcAft>
                      </a:pPr>
                      <a:r>
                        <a:rPr lang="zh-CN" sz="800" b="0" kern="100" dirty="0">
                          <a:solidFill>
                            <a:schemeClr val="tx1"/>
                          </a:solidFill>
                          <a:effectLst/>
                        </a:rPr>
                        <a:t>输出：如果</a:t>
                      </a:r>
                      <a:r>
                        <a:rPr lang="fr-FR" sz="800" b="0" kern="100" dirty="0">
                          <a:solidFill>
                            <a:schemeClr val="tx1"/>
                          </a:solidFill>
                          <a:effectLst/>
                        </a:rPr>
                        <a:t>D</a:t>
                      </a:r>
                      <a:r>
                        <a:rPr lang="zh-CN" sz="800" b="0" kern="100" dirty="0">
                          <a:solidFill>
                            <a:schemeClr val="tx1"/>
                          </a:solidFill>
                          <a:effectLst/>
                        </a:rPr>
                        <a:t>能识别符号串</a:t>
                      </a:r>
                      <a:r>
                        <a:rPr lang="fr-FR" sz="800" b="0" kern="100" dirty="0">
                          <a:solidFill>
                            <a:schemeClr val="tx1"/>
                          </a:solidFill>
                          <a:effectLst/>
                        </a:rPr>
                        <a:t>x</a:t>
                      </a:r>
                      <a:r>
                        <a:rPr lang="zh-CN" sz="800" b="0" kern="100" dirty="0">
                          <a:solidFill>
                            <a:schemeClr val="tx1"/>
                          </a:solidFill>
                          <a:effectLst/>
                        </a:rPr>
                        <a:t>。输出“</a:t>
                      </a:r>
                      <a:r>
                        <a:rPr lang="fr-FR" sz="800" b="0" kern="100" dirty="0">
                          <a:solidFill>
                            <a:schemeClr val="tx1"/>
                          </a:solidFill>
                          <a:effectLst/>
                        </a:rPr>
                        <a:t>yes</a:t>
                      </a:r>
                      <a:r>
                        <a:rPr lang="zh-CN" sz="800" b="0" kern="100" dirty="0">
                          <a:solidFill>
                            <a:schemeClr val="tx1"/>
                          </a:solidFill>
                          <a:effectLst/>
                        </a:rPr>
                        <a:t>”，否则输出“</a:t>
                      </a:r>
                      <a:r>
                        <a:rPr lang="fr-FR" sz="800" b="0" kern="100" dirty="0">
                          <a:solidFill>
                            <a:schemeClr val="tx1"/>
                          </a:solidFill>
                          <a:effectLst/>
                        </a:rPr>
                        <a:t>no</a:t>
                      </a:r>
                      <a:r>
                        <a:rPr lang="zh-CN" sz="800" b="0" kern="100" dirty="0">
                          <a:solidFill>
                            <a:schemeClr val="tx1"/>
                          </a:solidFill>
                          <a:effectLst/>
                        </a:rPr>
                        <a:t>”</a:t>
                      </a:r>
                    </a:p>
                    <a:p>
                      <a:pPr indent="266700" algn="just">
                        <a:spcAft>
                          <a:spcPts val="0"/>
                        </a:spcAft>
                      </a:pPr>
                      <a:r>
                        <a:rPr lang="zh-CN" sz="800" b="0" kern="100" dirty="0">
                          <a:solidFill>
                            <a:schemeClr val="tx1"/>
                          </a:solidFill>
                          <a:effectLst/>
                        </a:rPr>
                        <a:t>步骤：</a:t>
                      </a:r>
                    </a:p>
                    <a:p>
                      <a:pPr indent="457200" algn="just">
                        <a:spcAft>
                          <a:spcPts val="0"/>
                        </a:spcAft>
                      </a:pPr>
                      <a:r>
                        <a:rPr lang="en-US" sz="800" b="0" kern="100" dirty="0">
                          <a:solidFill>
                            <a:schemeClr val="tx1"/>
                          </a:solidFill>
                          <a:effectLst/>
                        </a:rPr>
                        <a:t>s=s</a:t>
                      </a:r>
                      <a:r>
                        <a:rPr lang="en-US" sz="800" b="0" kern="100" baseline="-25000" dirty="0">
                          <a:solidFill>
                            <a:schemeClr val="tx1"/>
                          </a:solidFill>
                          <a:effectLst/>
                        </a:rPr>
                        <a:t>0</a:t>
                      </a:r>
                      <a:r>
                        <a:rPr lang="zh-CN" sz="800" b="0" kern="100" dirty="0">
                          <a:solidFill>
                            <a:schemeClr val="tx1"/>
                          </a:solidFill>
                          <a:effectLst/>
                        </a:rPr>
                        <a:t>；</a:t>
                      </a:r>
                    </a:p>
                    <a:p>
                      <a:pPr indent="457200" algn="just">
                        <a:spcAft>
                          <a:spcPts val="0"/>
                        </a:spcAft>
                      </a:pPr>
                      <a:r>
                        <a:rPr lang="en-US" sz="800" b="0" kern="100" dirty="0">
                          <a:solidFill>
                            <a:schemeClr val="tx1"/>
                          </a:solidFill>
                          <a:effectLst/>
                        </a:rPr>
                        <a:t>c= </a:t>
                      </a:r>
                      <a:r>
                        <a:rPr lang="en-US" sz="800" b="0" kern="100" dirty="0" err="1">
                          <a:solidFill>
                            <a:schemeClr val="tx1"/>
                          </a:solidFill>
                          <a:effectLst/>
                        </a:rPr>
                        <a:t>GetNextChar</a:t>
                      </a:r>
                      <a:r>
                        <a:rPr lang="en-US" sz="800" b="0" kern="100" dirty="0">
                          <a:solidFill>
                            <a:schemeClr val="tx1"/>
                          </a:solidFill>
                          <a:effectLst/>
                        </a:rPr>
                        <a:t> ();</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while(c != </a:t>
                      </a:r>
                      <a:r>
                        <a:rPr lang="en-US" sz="800" b="0" kern="100" dirty="0" err="1">
                          <a:solidFill>
                            <a:schemeClr val="tx1"/>
                          </a:solidFill>
                          <a:effectLst/>
                        </a:rPr>
                        <a:t>eof</a:t>
                      </a:r>
                      <a:r>
                        <a:rPr lang="en-US" sz="800" b="0" kern="100" dirty="0">
                          <a:solidFill>
                            <a:schemeClr val="tx1"/>
                          </a:solidFill>
                          <a:effectLst/>
                        </a:rPr>
                        <a:t>) {</a:t>
                      </a:r>
                      <a:endParaRPr lang="zh-CN" sz="800" b="0" kern="100" dirty="0">
                        <a:solidFill>
                          <a:schemeClr val="tx1"/>
                        </a:solidFill>
                        <a:effectLst/>
                      </a:endParaRPr>
                    </a:p>
                    <a:p>
                      <a:pPr indent="266700" algn="just">
                        <a:spcAft>
                          <a:spcPts val="0"/>
                        </a:spcAft>
                      </a:pPr>
                      <a:r>
                        <a:rPr lang="en-US" sz="800" b="0" kern="100" dirty="0">
                          <a:solidFill>
                            <a:schemeClr val="tx1"/>
                          </a:solidFill>
                          <a:effectLst/>
                        </a:rPr>
                        <a:t>       </a:t>
                      </a:r>
                      <a:r>
                        <a:rPr lang="en-US" sz="800" b="1" kern="100" dirty="0">
                          <a:solidFill>
                            <a:srgbClr val="FF0000"/>
                          </a:solidFill>
                          <a:effectLst/>
                        </a:rPr>
                        <a:t>s = </a:t>
                      </a:r>
                      <a:r>
                        <a:rPr lang="fr-FR" sz="800" b="1" kern="100" dirty="0">
                          <a:solidFill>
                            <a:srgbClr val="FF0000"/>
                          </a:solidFill>
                          <a:effectLst/>
                          <a:sym typeface="Symbol"/>
                        </a:rPr>
                        <a:t></a:t>
                      </a:r>
                      <a:r>
                        <a:rPr lang="pt-PT" sz="800" b="1" kern="100" dirty="0">
                          <a:solidFill>
                            <a:srgbClr val="FF0000"/>
                          </a:solidFill>
                          <a:effectLst/>
                        </a:rPr>
                        <a:t>(s,c);</a:t>
                      </a:r>
                      <a:endParaRPr lang="zh-CN" sz="800" b="1" kern="100" dirty="0">
                        <a:solidFill>
                          <a:srgbClr val="FF0000"/>
                        </a:solidFill>
                        <a:effectLst/>
                      </a:endParaRPr>
                    </a:p>
                    <a:p>
                      <a:pPr indent="266700" algn="just">
                        <a:spcAft>
                          <a:spcPts val="0"/>
                        </a:spcAft>
                      </a:pPr>
                      <a:r>
                        <a:rPr lang="en-US" sz="800" b="0" kern="100" dirty="0">
                          <a:solidFill>
                            <a:schemeClr val="tx1"/>
                          </a:solidFill>
                          <a:effectLst/>
                        </a:rPr>
                        <a:t>       c= </a:t>
                      </a:r>
                      <a:r>
                        <a:rPr lang="en-US" sz="800" b="0" kern="100" dirty="0" err="1">
                          <a:solidFill>
                            <a:schemeClr val="tx1"/>
                          </a:solidFill>
                          <a:effectLst/>
                        </a:rPr>
                        <a:t>GetNextChar</a:t>
                      </a:r>
                      <a:r>
                        <a:rPr lang="en-US" sz="800" b="0" kern="100" dirty="0">
                          <a:solidFill>
                            <a:schemeClr val="tx1"/>
                          </a:solidFill>
                          <a:effectLst/>
                        </a:rPr>
                        <a:t> ();</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if( s </a:t>
                      </a:r>
                      <a:r>
                        <a:rPr lang="zh-CN" sz="800" b="0" kern="100" dirty="0">
                          <a:solidFill>
                            <a:schemeClr val="tx1"/>
                          </a:solidFill>
                          <a:effectLst/>
                        </a:rPr>
                        <a:t>在</a:t>
                      </a:r>
                      <a:r>
                        <a:rPr lang="en-US" sz="800" b="0" kern="100" dirty="0">
                          <a:solidFill>
                            <a:schemeClr val="tx1"/>
                          </a:solidFill>
                          <a:effectLst/>
                        </a:rPr>
                        <a:t>F</a:t>
                      </a:r>
                      <a:r>
                        <a:rPr lang="zh-CN" sz="800" b="0" kern="100" dirty="0">
                          <a:solidFill>
                            <a:schemeClr val="tx1"/>
                          </a:solidFill>
                          <a:effectLst/>
                        </a:rPr>
                        <a:t>中</a:t>
                      </a:r>
                      <a:r>
                        <a:rPr lang="en-US" sz="800" b="0" kern="100" dirty="0">
                          <a:solidFill>
                            <a:schemeClr val="tx1"/>
                          </a:solidFill>
                          <a:effectLst/>
                        </a:rPr>
                        <a:t>) return </a:t>
                      </a:r>
                      <a:r>
                        <a:rPr lang="zh-CN" sz="800" b="0" kern="100" dirty="0">
                          <a:solidFill>
                            <a:schemeClr val="tx1"/>
                          </a:solidFill>
                          <a:effectLst/>
                        </a:rPr>
                        <a:t>“</a:t>
                      </a:r>
                      <a:r>
                        <a:rPr lang="en-US" sz="800" b="0" kern="100" dirty="0">
                          <a:solidFill>
                            <a:schemeClr val="tx1"/>
                          </a:solidFill>
                          <a:effectLst/>
                        </a:rPr>
                        <a:t>yes</a:t>
                      </a:r>
                      <a:r>
                        <a:rPr lang="zh-CN" sz="800" b="0" kern="100" dirty="0">
                          <a:solidFill>
                            <a:schemeClr val="tx1"/>
                          </a:solidFill>
                          <a:effectLst/>
                        </a:rPr>
                        <a:t>”</a:t>
                      </a:r>
                      <a:r>
                        <a:rPr lang="en-US" sz="800" b="0" kern="100" dirty="0">
                          <a:solidFill>
                            <a:schemeClr val="tx1"/>
                          </a:solidFill>
                          <a:effectLst/>
                        </a:rPr>
                        <a:t>;</a:t>
                      </a:r>
                      <a:endParaRPr lang="zh-CN" sz="800" b="0" kern="100" dirty="0">
                        <a:solidFill>
                          <a:schemeClr val="tx1"/>
                        </a:solidFill>
                        <a:effectLst/>
                      </a:endParaRPr>
                    </a:p>
                    <a:p>
                      <a:pPr indent="457200" algn="just">
                        <a:spcAft>
                          <a:spcPts val="0"/>
                        </a:spcAft>
                      </a:pPr>
                      <a:r>
                        <a:rPr lang="en-US" sz="800" b="0" kern="100" dirty="0">
                          <a:solidFill>
                            <a:schemeClr val="tx1"/>
                          </a:solidFill>
                          <a:effectLst/>
                        </a:rPr>
                        <a:t>else return </a:t>
                      </a:r>
                      <a:r>
                        <a:rPr lang="zh-CN" sz="800" b="0" kern="100" dirty="0">
                          <a:solidFill>
                            <a:schemeClr val="tx1"/>
                          </a:solidFill>
                          <a:effectLst/>
                        </a:rPr>
                        <a:t>“</a:t>
                      </a:r>
                      <a:r>
                        <a:rPr lang="en-US" sz="800" b="0" kern="100" dirty="0">
                          <a:solidFill>
                            <a:schemeClr val="tx1"/>
                          </a:solidFill>
                          <a:effectLst/>
                        </a:rPr>
                        <a:t>no</a:t>
                      </a:r>
                      <a:r>
                        <a:rPr lang="zh-CN" sz="800" b="0" kern="100" dirty="0">
                          <a:solidFill>
                            <a:schemeClr val="tx1"/>
                          </a:solidFill>
                          <a:effectLst/>
                        </a:rPr>
                        <a:t>”</a:t>
                      </a:r>
                      <a:r>
                        <a:rPr lang="en-US" sz="800" b="0" kern="100" dirty="0">
                          <a:solidFill>
                            <a:schemeClr val="tx1"/>
                          </a:solidFill>
                          <a:effectLst/>
                        </a:rPr>
                        <a:t>;</a:t>
                      </a:r>
                      <a:endParaRPr lang="zh-CN" sz="800" b="0" kern="100" dirty="0">
                        <a:solidFill>
                          <a:schemeClr val="tx1"/>
                        </a:solidFill>
                        <a:effectLst/>
                        <a:latin typeface="Times New Roman"/>
                        <a:ea typeface="宋体"/>
                      </a:endParaRPr>
                    </a:p>
                  </a:txBody>
                  <a:tcPr marL="68583" marR="685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bl>
          </a:graphicData>
        </a:graphic>
      </p:graphicFrame>
      <p:cxnSp>
        <p:nvCxnSpPr>
          <p:cNvPr id="60" name="直接箭头连接符 59"/>
          <p:cNvCxnSpPr/>
          <p:nvPr/>
        </p:nvCxnSpPr>
        <p:spPr>
          <a:xfrm flipV="1">
            <a:off x="5633546" y="1707654"/>
            <a:ext cx="277007" cy="350475"/>
          </a:xfrm>
          <a:prstGeom prst="straightConnector1">
            <a:avLst/>
          </a:prstGeom>
          <a:ln w="571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V="1">
            <a:off x="4596598" y="3047413"/>
            <a:ext cx="2" cy="45118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H="1">
            <a:off x="4884632" y="3047413"/>
            <a:ext cx="1" cy="441317"/>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cxnSpLocks/>
          </p:cNvCxnSpPr>
          <p:nvPr/>
        </p:nvCxnSpPr>
        <p:spPr>
          <a:xfrm flipV="1">
            <a:off x="4473687" y="2157459"/>
            <a:ext cx="0" cy="46346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15" idx="1"/>
          </p:cNvCxnSpPr>
          <p:nvPr/>
        </p:nvCxnSpPr>
        <p:spPr>
          <a:xfrm flipH="1">
            <a:off x="2554586" y="1926627"/>
            <a:ext cx="1334133" cy="562447"/>
          </a:xfrm>
          <a:prstGeom prst="straightConnector1">
            <a:avLst/>
          </a:prstGeom>
          <a:ln w="57150">
            <a:solidFill>
              <a:srgbClr val="00B0F0"/>
            </a:solidFill>
            <a:prstDash val="sysDash"/>
            <a:tailEnd type="arrow"/>
          </a:ln>
        </p:spPr>
        <p:style>
          <a:lnRef idx="1">
            <a:schemeClr val="accent1"/>
          </a:lnRef>
          <a:fillRef idx="0">
            <a:schemeClr val="accent1"/>
          </a:fillRef>
          <a:effectRef idx="0">
            <a:schemeClr val="accent1"/>
          </a:effectRef>
          <a:fontRef idx="minor">
            <a:schemeClr val="tx1"/>
          </a:fontRef>
        </p:style>
      </p:cxnSp>
      <p:graphicFrame>
        <p:nvGraphicFramePr>
          <p:cNvPr id="81" name="表格 80"/>
          <p:cNvGraphicFramePr>
            <a:graphicFrameLocks noGrp="1"/>
          </p:cNvGraphicFramePr>
          <p:nvPr>
            <p:extLst>
              <p:ext uri="{D42A27DB-BD31-4B8C-83A1-F6EECF244321}">
                <p14:modId xmlns:p14="http://schemas.microsoft.com/office/powerpoint/2010/main" val="2575078075"/>
              </p:ext>
            </p:extLst>
          </p:nvPr>
        </p:nvGraphicFramePr>
        <p:xfrm>
          <a:off x="0" y="208307"/>
          <a:ext cx="1530702" cy="2571036"/>
        </p:xfrm>
        <a:graphic>
          <a:graphicData uri="http://schemas.openxmlformats.org/drawingml/2006/table">
            <a:tbl>
              <a:tblPr firstRow="1" firstCol="1" bandRow="1">
                <a:tableStyleId>{5C22544A-7EE6-4342-B048-85BDC9FD1C3A}</a:tableStyleId>
              </a:tblPr>
              <a:tblGrid>
                <a:gridCol w="16255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gridCol w="162550">
                  <a:extLst>
                    <a:ext uri="{9D8B030D-6E8A-4147-A177-3AD203B41FA5}">
                      <a16:colId xmlns:a16="http://schemas.microsoft.com/office/drawing/2014/main" val="20003"/>
                    </a:ext>
                  </a:extLst>
                </a:gridCol>
                <a:gridCol w="269498">
                  <a:extLst>
                    <a:ext uri="{9D8B030D-6E8A-4147-A177-3AD203B41FA5}">
                      <a16:colId xmlns:a16="http://schemas.microsoft.com/office/drawing/2014/main" val="20004"/>
                    </a:ext>
                  </a:extLst>
                </a:gridCol>
                <a:gridCol w="288032">
                  <a:extLst>
                    <a:ext uri="{9D8B030D-6E8A-4147-A177-3AD203B41FA5}">
                      <a16:colId xmlns:a16="http://schemas.microsoft.com/office/drawing/2014/main" val="20005"/>
                    </a:ext>
                  </a:extLst>
                </a:gridCol>
              </a:tblGrid>
              <a:tr h="107916">
                <a:tc>
                  <a:txBody>
                    <a:bodyPr/>
                    <a:lstStyle/>
                    <a:p>
                      <a:pPr algn="ctr">
                        <a:spcAft>
                          <a:spcPts val="0"/>
                        </a:spcAft>
                      </a:pPr>
                      <a:r>
                        <a:rPr lang="zh-CN" sz="500" kern="100" dirty="0">
                          <a:solidFill>
                            <a:schemeClr val="tx1"/>
                          </a:solidFill>
                          <a:effectLst/>
                          <a:latin typeface="+mn-ea"/>
                          <a:ea typeface="+mn-ea"/>
                        </a:rPr>
                        <a:t>类别</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单词</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编码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类别</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单词</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500" kern="100">
                          <a:solidFill>
                            <a:schemeClr val="tx1"/>
                          </a:solidFill>
                          <a:effectLst/>
                          <a:latin typeface="+mn-ea"/>
                          <a:ea typeface="+mn-ea"/>
                        </a:rPr>
                        <a:t>编码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07916">
                <a:tc rowSpan="13">
                  <a:txBody>
                    <a:bodyPr/>
                    <a:lstStyle/>
                    <a:p>
                      <a:pPr algn="ctr">
                        <a:spcAft>
                          <a:spcPts val="0"/>
                        </a:spcAft>
                      </a:pPr>
                      <a:r>
                        <a:rPr lang="zh-CN" sz="500" kern="100" dirty="0">
                          <a:solidFill>
                            <a:schemeClr val="tx1"/>
                          </a:solidFill>
                          <a:effectLst/>
                          <a:latin typeface="+mn-ea"/>
                          <a:ea typeface="+mn-ea"/>
                        </a:rPr>
                        <a:t>关键字</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a:solidFill>
                            <a:schemeClr val="tx1"/>
                          </a:solidFill>
                          <a:effectLst/>
                          <a:latin typeface="+mn-ea"/>
                          <a:ea typeface="+mn-ea"/>
                        </a:rPr>
                        <a:t>char</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19">
                  <a:txBody>
                    <a:bodyPr/>
                    <a:lstStyle/>
                    <a:p>
                      <a:pPr algn="ctr">
                        <a:spcAft>
                          <a:spcPts val="0"/>
                        </a:spcAft>
                      </a:pPr>
                      <a:r>
                        <a:rPr lang="zh-CN" sz="500" b="1" kern="100" dirty="0">
                          <a:solidFill>
                            <a:schemeClr val="tx1"/>
                          </a:solidFill>
                          <a:effectLst/>
                          <a:latin typeface="+mn-ea"/>
                          <a:ea typeface="+mn-ea"/>
                        </a:rPr>
                        <a:t>运算符</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int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float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break</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const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105</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205</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return</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106</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206</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void</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107</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207</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continue</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108</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208</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do</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109</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209</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while</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if</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&lt;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else</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&lt;=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for</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113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&gt;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107916">
                <a:tc rowSpan="4">
                  <a:txBody>
                    <a:bodyPr/>
                    <a:lstStyle/>
                    <a:p>
                      <a:pPr algn="ctr">
                        <a:spcAft>
                          <a:spcPts val="0"/>
                        </a:spcAft>
                      </a:pPr>
                      <a:r>
                        <a:rPr lang="zh-CN" sz="500" kern="100">
                          <a:solidFill>
                            <a:schemeClr val="tx1"/>
                          </a:solidFill>
                          <a:effectLst/>
                          <a:latin typeface="+mn-ea"/>
                          <a:ea typeface="+mn-ea"/>
                        </a:rPr>
                        <a:t>界符</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301</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&gt;=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302</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215</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303</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216</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07916">
                <a:tc vMerge="1">
                  <a:txBody>
                    <a:bodyPr/>
                    <a:lstStyle/>
                    <a:p>
                      <a:endParaRPr lang="zh-CN" altLang="en-US"/>
                    </a:p>
                  </a:txBody>
                  <a:tcPr/>
                </a:tc>
                <a:tc>
                  <a:txBody>
                    <a:bodyPr/>
                    <a:lstStyle/>
                    <a:p>
                      <a:pPr algn="l">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304</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&amp;&amp;</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217</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07916">
                <a:tc rowSpan="5">
                  <a:txBody>
                    <a:bodyPr/>
                    <a:lstStyle/>
                    <a:p>
                      <a:pPr algn="ctr">
                        <a:spcAft>
                          <a:spcPts val="0"/>
                        </a:spcAft>
                      </a:pPr>
                      <a:r>
                        <a:rPr lang="zh-CN" sz="500" kern="100">
                          <a:solidFill>
                            <a:schemeClr val="tx1"/>
                          </a:solidFill>
                          <a:effectLst/>
                          <a:latin typeface="+mn-ea"/>
                          <a:ea typeface="+mn-ea"/>
                        </a:rPr>
                        <a:t>单词类别</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zh-CN" sz="500" kern="100">
                          <a:solidFill>
                            <a:schemeClr val="tx1"/>
                          </a:solidFill>
                          <a:effectLst/>
                          <a:latin typeface="+mn-ea"/>
                          <a:ea typeface="+mn-ea"/>
                        </a:rPr>
                        <a:t>整数</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400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218</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107916">
                <a:tc vMerge="1">
                  <a:txBody>
                    <a:bodyPr/>
                    <a:lstStyle/>
                    <a:p>
                      <a:endParaRPr lang="zh-CN" altLang="en-US"/>
                    </a:p>
                  </a:txBody>
                  <a:tcPr/>
                </a:tc>
                <a:tc>
                  <a:txBody>
                    <a:bodyPr/>
                    <a:lstStyle/>
                    <a:p>
                      <a:pPr algn="l">
                        <a:spcAft>
                          <a:spcPts val="0"/>
                        </a:spcAft>
                      </a:pPr>
                      <a:r>
                        <a:rPr lang="zh-CN" sz="500" kern="100">
                          <a:solidFill>
                            <a:schemeClr val="tx1"/>
                          </a:solidFill>
                          <a:effectLst/>
                          <a:latin typeface="+mn-ea"/>
                          <a:ea typeface="+mn-ea"/>
                        </a:rPr>
                        <a:t>字符</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500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219</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107916">
                <a:tc vMerge="1">
                  <a:txBody>
                    <a:bodyPr/>
                    <a:lstStyle/>
                    <a:p>
                      <a:endParaRPr lang="zh-CN" altLang="en-US"/>
                    </a:p>
                  </a:txBody>
                  <a:tcPr/>
                </a:tc>
                <a:tc>
                  <a:txBody>
                    <a:bodyPr/>
                    <a:lstStyle/>
                    <a:p>
                      <a:pPr algn="l">
                        <a:spcAft>
                          <a:spcPts val="0"/>
                        </a:spcAft>
                      </a:pPr>
                      <a:r>
                        <a:rPr lang="zh-CN" sz="500" kern="100">
                          <a:solidFill>
                            <a:schemeClr val="tx1"/>
                          </a:solidFill>
                          <a:effectLst/>
                          <a:latin typeface="+mn-ea"/>
                          <a:ea typeface="+mn-ea"/>
                        </a:rPr>
                        <a:t>字符串</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600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220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r h="107916">
                <a:tc vMerge="1">
                  <a:txBody>
                    <a:bodyPr/>
                    <a:lstStyle/>
                    <a:p>
                      <a:endParaRPr lang="zh-CN" altLang="en-US"/>
                    </a:p>
                  </a:txBody>
                  <a:tcPr/>
                </a:tc>
                <a:tc>
                  <a:txBody>
                    <a:bodyPr/>
                    <a:lstStyle/>
                    <a:p>
                      <a:pPr algn="l">
                        <a:spcAft>
                          <a:spcPts val="0"/>
                        </a:spcAft>
                      </a:pPr>
                      <a:r>
                        <a:rPr lang="zh-CN" sz="500" kern="100">
                          <a:solidFill>
                            <a:schemeClr val="tx1"/>
                          </a:solidFill>
                          <a:effectLst/>
                          <a:latin typeface="+mn-ea"/>
                          <a:ea typeface="+mn-ea"/>
                        </a:rPr>
                        <a:t>标识符</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700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1"/>
                  </a:ext>
                </a:extLst>
              </a:tr>
              <a:tr h="107916">
                <a:tc vMerge="1">
                  <a:txBody>
                    <a:bodyPr/>
                    <a:lstStyle/>
                    <a:p>
                      <a:endParaRPr lang="zh-CN" altLang="en-US"/>
                    </a:p>
                  </a:txBody>
                  <a:tcPr/>
                </a:tc>
                <a:tc>
                  <a:txBody>
                    <a:bodyPr/>
                    <a:lstStyle/>
                    <a:p>
                      <a:pPr algn="l">
                        <a:spcAft>
                          <a:spcPts val="0"/>
                        </a:spcAft>
                      </a:pPr>
                      <a:r>
                        <a:rPr lang="zh-CN" sz="500" kern="100" dirty="0">
                          <a:solidFill>
                            <a:schemeClr val="tx1"/>
                          </a:solidFill>
                          <a:effectLst/>
                          <a:latin typeface="+mn-ea"/>
                          <a:ea typeface="+mn-ea"/>
                        </a:rPr>
                        <a:t>实数</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800</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500" kern="100">
                          <a:solidFill>
                            <a:schemeClr val="tx1"/>
                          </a:solidFill>
                          <a:effectLst/>
                          <a:latin typeface="+mn-ea"/>
                          <a:ea typeface="+mn-ea"/>
                        </a:rPr>
                        <a:t> </a:t>
                      </a:r>
                      <a:endParaRPr lang="zh-CN" sz="500" kern="10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en-US" sz="500" kern="100" dirty="0">
                          <a:solidFill>
                            <a:schemeClr val="tx1"/>
                          </a:solidFill>
                          <a:effectLst/>
                          <a:latin typeface="+mn-ea"/>
                          <a:ea typeface="+mn-ea"/>
                        </a:rPr>
                        <a:t> </a:t>
                      </a:r>
                      <a:endParaRPr lang="zh-CN" sz="500" kern="100" dirty="0">
                        <a:solidFill>
                          <a:schemeClr val="tx1"/>
                        </a:solidFill>
                        <a:effectLst/>
                        <a:latin typeface="+mn-ea"/>
                        <a:ea typeface="+mn-ea"/>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2"/>
                  </a:ext>
                </a:extLst>
              </a:tr>
            </a:tbl>
          </a:graphicData>
        </a:graphic>
      </p:graphicFrame>
      <p:sp>
        <p:nvSpPr>
          <p:cNvPr id="41" name="TextBox 40"/>
          <p:cNvSpPr txBox="1"/>
          <p:nvPr/>
        </p:nvSpPr>
        <p:spPr>
          <a:xfrm>
            <a:off x="68655" y="3542853"/>
            <a:ext cx="813172" cy="1569660"/>
          </a:xfrm>
          <a:prstGeom prst="rect">
            <a:avLst/>
          </a:prstGeom>
          <a:solidFill>
            <a:schemeClr val="bg1"/>
          </a:solidFill>
          <a:ln>
            <a:solidFill>
              <a:schemeClr val="tx1"/>
            </a:solidFill>
          </a:ln>
        </p:spPr>
        <p:txBody>
          <a:bodyPr wrap="square" rtlCol="0">
            <a:spAutoFit/>
          </a:bodyPr>
          <a:lstStyle/>
          <a:p>
            <a:r>
              <a:rPr lang="en-US" altLang="zh-CN" sz="1200" dirty="0"/>
              <a:t>DO</a:t>
            </a:r>
          </a:p>
          <a:p>
            <a:r>
              <a:rPr lang="en-US" altLang="zh-CN" sz="1200" dirty="0"/>
              <a:t>IF</a:t>
            </a:r>
          </a:p>
          <a:p>
            <a:r>
              <a:rPr lang="en-US" altLang="zh-CN" sz="1200" dirty="0"/>
              <a:t>WHILE</a:t>
            </a:r>
          </a:p>
          <a:p>
            <a:r>
              <a:rPr lang="en-US" altLang="zh-CN" sz="1200" dirty="0"/>
              <a:t>L(L|D)*</a:t>
            </a:r>
          </a:p>
          <a:p>
            <a:r>
              <a:rPr lang="en-US" altLang="zh-CN" sz="1200" dirty="0"/>
              <a:t>DD*</a:t>
            </a:r>
          </a:p>
          <a:p>
            <a:r>
              <a:rPr lang="en-US" altLang="zh-CN" sz="1200" dirty="0"/>
              <a:t>+</a:t>
            </a:r>
          </a:p>
          <a:p>
            <a:r>
              <a:rPr lang="en-US" altLang="zh-CN" sz="1200" dirty="0"/>
              <a:t>_</a:t>
            </a:r>
          </a:p>
          <a:p>
            <a:r>
              <a:rPr lang="en-US" altLang="zh-CN" sz="1200" dirty="0"/>
              <a:t>……</a:t>
            </a:r>
            <a:endParaRPr lang="zh-CN" altLang="en-US" sz="1200" dirty="0"/>
          </a:p>
        </p:txBody>
      </p:sp>
      <p:graphicFrame>
        <p:nvGraphicFramePr>
          <p:cNvPr id="29" name="Group 49"/>
          <p:cNvGraphicFramePr>
            <a:graphicFrameLocks noGrp="1"/>
          </p:cNvGraphicFramePr>
          <p:nvPr>
            <p:extLst>
              <p:ext uri="{D42A27DB-BD31-4B8C-83A1-F6EECF244321}">
                <p14:modId xmlns:p14="http://schemas.microsoft.com/office/powerpoint/2010/main" val="716092533"/>
              </p:ext>
            </p:extLst>
          </p:nvPr>
        </p:nvGraphicFramePr>
        <p:xfrm>
          <a:off x="6228184" y="2785005"/>
          <a:ext cx="1161709" cy="1348740"/>
        </p:xfrm>
        <a:graphic>
          <a:graphicData uri="http://schemas.openxmlformats.org/drawingml/2006/table">
            <a:tbl>
              <a:tblPr/>
              <a:tblGrid>
                <a:gridCol w="657653">
                  <a:extLst>
                    <a:ext uri="{9D8B030D-6E8A-4147-A177-3AD203B41FA5}">
                      <a16:colId xmlns:a16="http://schemas.microsoft.com/office/drawing/2014/main" val="20000"/>
                    </a:ext>
                  </a:extLst>
                </a:gridCol>
                <a:gridCol w="210047">
                  <a:extLst>
                    <a:ext uri="{9D8B030D-6E8A-4147-A177-3AD203B41FA5}">
                      <a16:colId xmlns:a16="http://schemas.microsoft.com/office/drawing/2014/main" val="20001"/>
                    </a:ext>
                  </a:extLst>
                </a:gridCol>
                <a:gridCol w="294009">
                  <a:extLst>
                    <a:ext uri="{9D8B030D-6E8A-4147-A177-3AD203B41FA5}">
                      <a16:colId xmlns:a16="http://schemas.microsoft.com/office/drawing/2014/main" val="20002"/>
                    </a:ext>
                  </a:extLst>
                </a:gridCol>
              </a:tblGrid>
              <a:tr h="217602">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输入状态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3">
                        <a:lumMod val="20000"/>
                        <a:lumOff val="80000"/>
                      </a:schemeClr>
                    </a:solidFill>
                  </a:tcPr>
                </a:tc>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164718">
                <a:tc>
                  <a:txBody>
                    <a:bodyPr/>
                    <a:lstStyle/>
                    <a:p>
                      <a:pPr algn="ctr">
                        <a:spcAft>
                          <a:spcPts val="0"/>
                        </a:spcAft>
                      </a:pPr>
                      <a:r>
                        <a:rPr lang="en-US" sz="1200" kern="100" dirty="0">
                          <a:effectLst/>
                        </a:rPr>
                        <a:t>S</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A</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B</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146673">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C</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B</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2"/>
                  </a:ext>
                </a:extLst>
              </a:tr>
              <a:tr h="151489">
                <a:tc>
                  <a:txBody>
                    <a:bodyPr/>
                    <a:lstStyle/>
                    <a:p>
                      <a:pPr algn="ctr">
                        <a:spcAft>
                          <a:spcPts val="0"/>
                        </a:spcAft>
                      </a:pPr>
                      <a:r>
                        <a:rPr lang="en-US" sz="1200" kern="100">
                          <a:effectLst/>
                        </a:rPr>
                        <a:t>B</a:t>
                      </a:r>
                      <a:endParaRPr lang="zh-CN" sz="1200" kern="10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D</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3"/>
                  </a:ext>
                </a:extLst>
              </a:tr>
              <a:tr h="151489">
                <a:tc>
                  <a:txBody>
                    <a:bodyPr/>
                    <a:lstStyle/>
                    <a:p>
                      <a:pPr algn="ctr">
                        <a:spcAft>
                          <a:spcPts val="0"/>
                        </a:spcAft>
                      </a:pPr>
                      <a:r>
                        <a:rPr lang="en-US" sz="1200" kern="100" dirty="0">
                          <a:effectLst/>
                        </a:rPr>
                        <a:t>C</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a:effectLst/>
                        </a:rPr>
                        <a:t>C</a:t>
                      </a:r>
                      <a:endParaRPr lang="zh-CN" sz="12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E</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4"/>
                  </a:ext>
                </a:extLst>
              </a:tr>
              <a:tr h="151489">
                <a:tc>
                  <a:txBody>
                    <a:bodyPr/>
                    <a:lstStyle/>
                    <a:p>
                      <a:pPr algn="ctr">
                        <a:spcAft>
                          <a:spcPts val="0"/>
                        </a:spcAft>
                      </a:pPr>
                      <a:r>
                        <a:rPr lang="en-US" altLang="zh-CN" sz="1200" kern="100" dirty="0">
                          <a:effectLst/>
                          <a:latin typeface="+mn-lt"/>
                          <a:ea typeface="+mn-ea"/>
                        </a:rPr>
                        <a:t>…</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5"/>
                  </a:ext>
                </a:extLst>
              </a:tr>
            </a:tbl>
          </a:graphicData>
        </a:graphic>
      </p:graphicFrame>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035" y="60290"/>
            <a:ext cx="1828899" cy="113159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cxnSp>
        <p:nvCxnSpPr>
          <p:cNvPr id="33" name="直接箭头连接符 32"/>
          <p:cNvCxnSpPr>
            <a:cxnSpLocks/>
            <a:stCxn id="36866" idx="2"/>
          </p:cNvCxnSpPr>
          <p:nvPr/>
        </p:nvCxnSpPr>
        <p:spPr>
          <a:xfrm flipH="1">
            <a:off x="2525330" y="1191880"/>
            <a:ext cx="579155" cy="294015"/>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cxnSpLocks/>
            <a:stCxn id="15" idx="2"/>
          </p:cNvCxnSpPr>
          <p:nvPr/>
        </p:nvCxnSpPr>
        <p:spPr>
          <a:xfrm>
            <a:off x="4759817" y="2126682"/>
            <a:ext cx="0" cy="53888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cxnSpLocks/>
            <a:stCxn id="18" idx="1"/>
          </p:cNvCxnSpPr>
          <p:nvPr/>
        </p:nvCxnSpPr>
        <p:spPr>
          <a:xfrm flipH="1" flipV="1">
            <a:off x="3137402" y="2729887"/>
            <a:ext cx="955142" cy="105612"/>
          </a:xfrm>
          <a:prstGeom prst="straightConnector1">
            <a:avLst/>
          </a:prstGeom>
          <a:ln w="57150">
            <a:solidFill>
              <a:srgbClr val="00B0F0"/>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H="1">
            <a:off x="3469035" y="507095"/>
            <a:ext cx="1004652" cy="326351"/>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4038345" y="51470"/>
            <a:ext cx="1163349" cy="461665"/>
          </a:xfrm>
          <a:prstGeom prst="rect">
            <a:avLst/>
          </a:prstGeom>
          <a:noFill/>
        </p:spPr>
        <p:txBody>
          <a:bodyPr wrap="square" rtlCol="0">
            <a:spAutoFit/>
          </a:bodyPr>
          <a:lstStyle/>
          <a:p>
            <a:r>
              <a:rPr lang="zh-CN" altLang="en-US" sz="2400" dirty="0">
                <a:solidFill>
                  <a:srgbClr val="CC00FF"/>
                </a:solidFill>
              </a:rPr>
              <a:t>符号串</a:t>
            </a:r>
          </a:p>
        </p:txBody>
      </p:sp>
      <p:cxnSp>
        <p:nvCxnSpPr>
          <p:cNvPr id="50" name="直接箭头连接符 49"/>
          <p:cNvCxnSpPr/>
          <p:nvPr/>
        </p:nvCxnSpPr>
        <p:spPr>
          <a:xfrm>
            <a:off x="4759817" y="411510"/>
            <a:ext cx="1150736" cy="652702"/>
          </a:xfrm>
          <a:prstGeom prst="straightConnector1">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cxnSpLocks/>
          </p:cNvCxnSpPr>
          <p:nvPr/>
        </p:nvCxnSpPr>
        <p:spPr>
          <a:xfrm flipH="1" flipV="1">
            <a:off x="5573543" y="2310407"/>
            <a:ext cx="819674" cy="538882"/>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987824" y="891755"/>
            <a:ext cx="1589989" cy="584775"/>
          </a:xfrm>
          <a:prstGeom prst="rect">
            <a:avLst/>
          </a:prstGeom>
          <a:noFill/>
        </p:spPr>
        <p:txBody>
          <a:bodyPr wrap="square" rtlCol="0">
            <a:spAutoFit/>
          </a:bodyPr>
          <a:lstStyle/>
          <a:p>
            <a:r>
              <a:rPr lang="zh-CN" altLang="en-US" sz="3200" b="1" dirty="0">
                <a:solidFill>
                  <a:srgbClr val="FF0000"/>
                </a:solidFill>
              </a:rPr>
              <a:t>①</a:t>
            </a:r>
            <a:r>
              <a:rPr lang="zh-CN" altLang="en-US" b="1" dirty="0">
                <a:solidFill>
                  <a:srgbClr val="FF0000"/>
                </a:solidFill>
              </a:rPr>
              <a:t>手动实现</a:t>
            </a:r>
            <a:endParaRPr lang="zh-CN" altLang="en-US" sz="3200" b="1" dirty="0">
              <a:solidFill>
                <a:srgbClr val="FF0000"/>
              </a:solidFill>
            </a:endParaRPr>
          </a:p>
        </p:txBody>
      </p:sp>
      <p:sp>
        <p:nvSpPr>
          <p:cNvPr id="36" name="TextBox 35"/>
          <p:cNvSpPr txBox="1"/>
          <p:nvPr/>
        </p:nvSpPr>
        <p:spPr>
          <a:xfrm>
            <a:off x="4738838" y="791046"/>
            <a:ext cx="1686849" cy="584775"/>
          </a:xfrm>
          <a:prstGeom prst="rect">
            <a:avLst/>
          </a:prstGeom>
          <a:noFill/>
        </p:spPr>
        <p:txBody>
          <a:bodyPr wrap="square" rtlCol="0">
            <a:spAutoFit/>
          </a:bodyPr>
          <a:lstStyle/>
          <a:p>
            <a:r>
              <a:rPr lang="zh-CN" altLang="en-US" sz="3200" b="1" dirty="0">
                <a:solidFill>
                  <a:srgbClr val="FF0000"/>
                </a:solidFill>
              </a:rPr>
              <a:t>②</a:t>
            </a:r>
            <a:r>
              <a:rPr lang="zh-CN" altLang="en-US" b="1" dirty="0">
                <a:solidFill>
                  <a:srgbClr val="FF0000"/>
                </a:solidFill>
              </a:rPr>
              <a:t>自动生成</a:t>
            </a:r>
            <a:endParaRPr lang="zh-CN" altLang="en-US" sz="3200" b="1" dirty="0">
              <a:solidFill>
                <a:srgbClr val="FF0000"/>
              </a:solidFill>
            </a:endParaRPr>
          </a:p>
        </p:txBody>
      </p:sp>
      <p:sp>
        <p:nvSpPr>
          <p:cNvPr id="20" name="任意多边形 19"/>
          <p:cNvSpPr/>
          <p:nvPr/>
        </p:nvSpPr>
        <p:spPr>
          <a:xfrm>
            <a:off x="1469107" y="556189"/>
            <a:ext cx="3170279" cy="1543113"/>
          </a:xfrm>
          <a:custGeom>
            <a:avLst/>
            <a:gdLst>
              <a:gd name="connsiteX0" fmla="*/ 4074443 w 4074443"/>
              <a:gd name="connsiteY0" fmla="*/ 0 h 1670678"/>
              <a:gd name="connsiteX1" fmla="*/ 2374231 w 4074443"/>
              <a:gd name="connsiteY1" fmla="*/ 600075 h 1670678"/>
              <a:gd name="connsiteX2" fmla="*/ 516856 w 4074443"/>
              <a:gd name="connsiteY2" fmla="*/ 1600200 h 1670678"/>
              <a:gd name="connsiteX3" fmla="*/ 45368 w 4074443"/>
              <a:gd name="connsiteY3" fmla="*/ 1585913 h 1670678"/>
              <a:gd name="connsiteX4" fmla="*/ 45368 w 4074443"/>
              <a:gd name="connsiteY4" fmla="*/ 1571625 h 1670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4443" h="1670678">
                <a:moveTo>
                  <a:pt x="4074443" y="0"/>
                </a:moveTo>
                <a:cubicBezTo>
                  <a:pt x="3520802" y="166687"/>
                  <a:pt x="2967162" y="333375"/>
                  <a:pt x="2374231" y="600075"/>
                </a:cubicBezTo>
                <a:cubicBezTo>
                  <a:pt x="1781300" y="866775"/>
                  <a:pt x="905000" y="1435894"/>
                  <a:pt x="516856" y="1600200"/>
                </a:cubicBezTo>
                <a:cubicBezTo>
                  <a:pt x="128712" y="1764506"/>
                  <a:pt x="123949" y="1590676"/>
                  <a:pt x="45368" y="1585913"/>
                </a:cubicBezTo>
                <a:cubicBezTo>
                  <a:pt x="-33213" y="1581150"/>
                  <a:pt x="6077" y="1576387"/>
                  <a:pt x="45368" y="1571625"/>
                </a:cubicBezTo>
              </a:path>
            </a:pathLst>
          </a:custGeom>
          <a:ln>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21" name="任意多边形 20"/>
          <p:cNvSpPr/>
          <p:nvPr/>
        </p:nvSpPr>
        <p:spPr>
          <a:xfrm>
            <a:off x="1485900" y="1923678"/>
            <a:ext cx="4766509" cy="2307096"/>
          </a:xfrm>
          <a:custGeom>
            <a:avLst/>
            <a:gdLst>
              <a:gd name="connsiteX0" fmla="*/ 0 w 6457950"/>
              <a:gd name="connsiteY0" fmla="*/ 279701 h 2307096"/>
              <a:gd name="connsiteX1" fmla="*/ 1114425 w 6457950"/>
              <a:gd name="connsiteY1" fmla="*/ 551163 h 2307096"/>
              <a:gd name="connsiteX2" fmla="*/ 200025 w 6457950"/>
              <a:gd name="connsiteY2" fmla="*/ 1994201 h 2307096"/>
              <a:gd name="connsiteX3" fmla="*/ 4143375 w 6457950"/>
              <a:gd name="connsiteY3" fmla="*/ 2137076 h 2307096"/>
              <a:gd name="connsiteX4" fmla="*/ 4343400 w 6457950"/>
              <a:gd name="connsiteY4" fmla="*/ 8238 h 2307096"/>
              <a:gd name="connsiteX5" fmla="*/ 6457950 w 6457950"/>
              <a:gd name="connsiteY5" fmla="*/ 1351263 h 2307096"/>
              <a:gd name="connsiteX6" fmla="*/ 6457950 w 6457950"/>
              <a:gd name="connsiteY6" fmla="*/ 1351263 h 230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57950" h="2307096">
                <a:moveTo>
                  <a:pt x="0" y="279701"/>
                </a:moveTo>
                <a:cubicBezTo>
                  <a:pt x="540544" y="272557"/>
                  <a:pt x="1081088" y="265413"/>
                  <a:pt x="1114425" y="551163"/>
                </a:cubicBezTo>
                <a:cubicBezTo>
                  <a:pt x="1147762" y="836913"/>
                  <a:pt x="-304800" y="1729882"/>
                  <a:pt x="200025" y="1994201"/>
                </a:cubicBezTo>
                <a:cubicBezTo>
                  <a:pt x="704850" y="2258520"/>
                  <a:pt x="3452812" y="2468070"/>
                  <a:pt x="4143375" y="2137076"/>
                </a:cubicBezTo>
                <a:cubicBezTo>
                  <a:pt x="4833938" y="1806082"/>
                  <a:pt x="3957638" y="139207"/>
                  <a:pt x="4343400" y="8238"/>
                </a:cubicBezTo>
                <a:cubicBezTo>
                  <a:pt x="4729162" y="-122731"/>
                  <a:pt x="6457950" y="1351263"/>
                  <a:pt x="6457950" y="1351263"/>
                </a:cubicBezTo>
                <a:lnTo>
                  <a:pt x="6457950" y="1351263"/>
                </a:lnTo>
              </a:path>
            </a:pathLst>
          </a:custGeom>
          <a:ln>
            <a:solidFill>
              <a:srgbClr val="00B050"/>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25" name="TextBox 24"/>
          <p:cNvSpPr txBox="1"/>
          <p:nvPr/>
        </p:nvSpPr>
        <p:spPr>
          <a:xfrm>
            <a:off x="6470306" y="2285459"/>
            <a:ext cx="611560" cy="646331"/>
          </a:xfrm>
          <a:prstGeom prst="rect">
            <a:avLst/>
          </a:prstGeom>
          <a:noFill/>
        </p:spPr>
        <p:txBody>
          <a:bodyPr wrap="square" rtlCol="0">
            <a:spAutoFit/>
          </a:bodyPr>
          <a:lstStyle/>
          <a:p>
            <a:r>
              <a:rPr lang="en-US" altLang="zh-CN" sz="3600" b="1" dirty="0">
                <a:solidFill>
                  <a:srgbClr val="FF0000"/>
                </a:solidFill>
              </a:rPr>
              <a:t>+</a:t>
            </a:r>
            <a:endParaRPr lang="zh-CN" altLang="en-US" sz="3600" b="1" dirty="0">
              <a:solidFill>
                <a:srgbClr val="FF0000"/>
              </a:solidFill>
            </a:endParaRPr>
          </a:p>
        </p:txBody>
      </p:sp>
      <p:sp>
        <p:nvSpPr>
          <p:cNvPr id="26" name="任意多边形 25"/>
          <p:cNvSpPr/>
          <p:nvPr/>
        </p:nvSpPr>
        <p:spPr>
          <a:xfrm>
            <a:off x="2996594" y="784033"/>
            <a:ext cx="4300804" cy="2164410"/>
          </a:xfrm>
          <a:custGeom>
            <a:avLst/>
            <a:gdLst>
              <a:gd name="connsiteX0" fmla="*/ 2286000 w 4644385"/>
              <a:gd name="connsiteY0" fmla="*/ 0 h 2545539"/>
              <a:gd name="connsiteX1" fmla="*/ 3800475 w 4644385"/>
              <a:gd name="connsiteY1" fmla="*/ 971550 h 2545539"/>
              <a:gd name="connsiteX2" fmla="*/ 4614863 w 4644385"/>
              <a:gd name="connsiteY2" fmla="*/ 2543175 h 2545539"/>
              <a:gd name="connsiteX3" fmla="*/ 2786063 w 4644385"/>
              <a:gd name="connsiteY3" fmla="*/ 1343025 h 2545539"/>
              <a:gd name="connsiteX4" fmla="*/ 0 w 4644385"/>
              <a:gd name="connsiteY4" fmla="*/ 2014538 h 2545539"/>
              <a:gd name="connsiteX5" fmla="*/ 0 w 4644385"/>
              <a:gd name="connsiteY5" fmla="*/ 2014538 h 254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4385" h="2545539">
                <a:moveTo>
                  <a:pt x="2286000" y="0"/>
                </a:moveTo>
                <a:cubicBezTo>
                  <a:pt x="2849165" y="273844"/>
                  <a:pt x="3412331" y="547688"/>
                  <a:pt x="3800475" y="971550"/>
                </a:cubicBezTo>
                <a:cubicBezTo>
                  <a:pt x="4188619" y="1395413"/>
                  <a:pt x="4783932" y="2481263"/>
                  <a:pt x="4614863" y="2543175"/>
                </a:cubicBezTo>
                <a:cubicBezTo>
                  <a:pt x="4445794" y="2605088"/>
                  <a:pt x="3555207" y="1431131"/>
                  <a:pt x="2786063" y="1343025"/>
                </a:cubicBezTo>
                <a:cubicBezTo>
                  <a:pt x="2016919" y="1254919"/>
                  <a:pt x="0" y="2014538"/>
                  <a:pt x="0" y="2014538"/>
                </a:cubicBezTo>
                <a:lnTo>
                  <a:pt x="0" y="2014538"/>
                </a:lnTo>
              </a:path>
            </a:pathLst>
          </a:custGeom>
          <a:ln>
            <a:solidFill>
              <a:srgbClr val="00B050"/>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42" name="TextBox 48">
            <a:extLst>
              <a:ext uri="{FF2B5EF4-FFF2-40B4-BE49-F238E27FC236}">
                <a16:creationId xmlns:a16="http://schemas.microsoft.com/office/drawing/2014/main" id="{2FBD1A85-8424-D117-DC9E-35804E310133}"/>
              </a:ext>
            </a:extLst>
          </p:cNvPr>
          <p:cNvSpPr txBox="1"/>
          <p:nvPr/>
        </p:nvSpPr>
        <p:spPr>
          <a:xfrm>
            <a:off x="1701980" y="4661714"/>
            <a:ext cx="4538761"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400" dirty="0">
                <a:solidFill>
                  <a:srgbClr val="CC00FF"/>
                </a:solidFill>
              </a:rPr>
              <a:t>词法分析：自动生成和手动生成</a:t>
            </a:r>
          </a:p>
        </p:txBody>
      </p:sp>
    </p:spTree>
    <p:extLst>
      <p:ext uri="{BB962C8B-B14F-4D97-AF65-F5344CB8AC3E}">
        <p14:creationId xmlns:p14="http://schemas.microsoft.com/office/powerpoint/2010/main" val="2760155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right)">
                                      <p:cBhvr>
                                        <p:cTn id="7" dur="1000"/>
                                        <p:tgtEl>
                                          <p:spTgt spid="20"/>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right)">
                                      <p:cBhvr>
                                        <p:cTn id="15" dur="1000"/>
                                        <p:tgtEl>
                                          <p:spTgt spid="26"/>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6" grpId="0"/>
      <p:bldP spid="20" grpId="0" animBg="1"/>
      <p:bldP spid="21" grpId="0" animBg="1"/>
      <p:bldP spid="26"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73A7B2B-811B-CE96-8E86-C6658328840A}"/>
              </a:ext>
            </a:extLst>
          </p:cNvPr>
          <p:cNvSpPr>
            <a:spLocks noGrp="1"/>
          </p:cNvSpPr>
          <p:nvPr>
            <p:ph type="title"/>
          </p:nvPr>
        </p:nvSpPr>
        <p:spPr>
          <a:xfrm>
            <a:off x="323528" y="276891"/>
            <a:ext cx="6192688" cy="576064"/>
          </a:xfrm>
        </p:spPr>
        <p:txBody>
          <a:bodyPr>
            <a:normAutofit fontScale="90000"/>
          </a:bodyPr>
          <a:lstStyle/>
          <a:p>
            <a:r>
              <a:rPr lang="zh-CN" altLang="en-US" sz="4400" b="0" i="0" dirty="0">
                <a:solidFill>
                  <a:srgbClr val="333333"/>
                </a:solidFill>
                <a:effectLst/>
                <a:latin typeface="arial" panose="020B0604020202020204" pitchFamily="34" charset="0"/>
              </a:rPr>
              <a:t>白猫黑猫论</a:t>
            </a:r>
            <a:r>
              <a:rPr lang="en-US" altLang="zh-CN" b="0" i="0" dirty="0">
                <a:solidFill>
                  <a:srgbClr val="333333"/>
                </a:solidFill>
                <a:effectLst/>
                <a:latin typeface="arial" panose="020B0604020202020204" pitchFamily="34" charset="0"/>
              </a:rPr>
              <a:t>——</a:t>
            </a:r>
            <a:r>
              <a:rPr lang="zh-CN" altLang="en-US" sz="2200" b="1" i="0" dirty="0">
                <a:solidFill>
                  <a:srgbClr val="FF0000"/>
                </a:solidFill>
                <a:effectLst/>
                <a:latin typeface="Microsoft YaHei" panose="020B0503020204020204" pitchFamily="34" charset="-122"/>
                <a:ea typeface="Microsoft YaHei" panose="020B0503020204020204" pitchFamily="34" charset="-122"/>
              </a:rPr>
              <a:t>一句谚语</a:t>
            </a:r>
            <a:r>
              <a:rPr lang="zh-CN" altLang="en-US" sz="2200" dirty="0">
                <a:solidFill>
                  <a:srgbClr val="FF0000"/>
                </a:solidFill>
                <a:effectLst/>
                <a:latin typeface="Microsoft YaHei" panose="020B0503020204020204" pitchFamily="34" charset="-122"/>
                <a:ea typeface="Microsoft YaHei" panose="020B0503020204020204" pitchFamily="34" charset="-122"/>
              </a:rPr>
              <a:t>，</a:t>
            </a:r>
            <a:r>
              <a:rPr lang="zh-CN" altLang="en-US" sz="2200" b="1" i="0" dirty="0">
                <a:solidFill>
                  <a:srgbClr val="FF0000"/>
                </a:solidFill>
                <a:effectLst/>
                <a:latin typeface="Microsoft YaHei" panose="020B0503020204020204" pitchFamily="34" charset="-122"/>
                <a:ea typeface="Microsoft YaHei" panose="020B0503020204020204" pitchFamily="34" charset="-122"/>
              </a:rPr>
              <a:t>一个时代</a:t>
            </a:r>
            <a:endParaRPr lang="zh-CN" altLang="en-US" dirty="0">
              <a:solidFill>
                <a:srgbClr val="FF0000"/>
              </a:solidFill>
            </a:endParaRPr>
          </a:p>
        </p:txBody>
      </p:sp>
      <p:sp>
        <p:nvSpPr>
          <p:cNvPr id="4" name="内容占位符 3">
            <a:extLst>
              <a:ext uri="{FF2B5EF4-FFF2-40B4-BE49-F238E27FC236}">
                <a16:creationId xmlns:a16="http://schemas.microsoft.com/office/drawing/2014/main" id="{BBA61A03-CC53-7A35-6C30-0FB411C329E5}"/>
              </a:ext>
            </a:extLst>
          </p:cNvPr>
          <p:cNvSpPr txBox="1">
            <a:spLocks noGrp="1"/>
          </p:cNvSpPr>
          <p:nvPr>
            <p:ph idx="1"/>
          </p:nvPr>
        </p:nvSpPr>
        <p:spPr>
          <a:xfrm>
            <a:off x="323528" y="1059582"/>
            <a:ext cx="6192688" cy="1969770"/>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zh-CN" altLang="en-US" sz="1600" b="0" i="0" dirty="0">
                <a:solidFill>
                  <a:srgbClr val="333333"/>
                </a:solidFill>
              </a:rPr>
              <a:t>是邓小平在</a:t>
            </a:r>
            <a:r>
              <a:rPr lang="en-US" altLang="zh-CN" sz="1600" b="0" i="0" dirty="0">
                <a:solidFill>
                  <a:srgbClr val="333333"/>
                </a:solidFill>
              </a:rPr>
              <a:t>20</a:t>
            </a:r>
            <a:r>
              <a:rPr lang="zh-CN" altLang="en-US" sz="1600" b="0" i="0" dirty="0">
                <a:solidFill>
                  <a:srgbClr val="333333"/>
                </a:solidFill>
              </a:rPr>
              <a:t>世纪</a:t>
            </a:r>
            <a:r>
              <a:rPr lang="en-US" altLang="zh-CN" sz="1600" b="0" i="0" dirty="0">
                <a:solidFill>
                  <a:srgbClr val="333333"/>
                </a:solidFill>
              </a:rPr>
              <a:t>60</a:t>
            </a:r>
            <a:r>
              <a:rPr lang="zh-CN" altLang="en-US" sz="1600" b="0" i="0" dirty="0">
                <a:solidFill>
                  <a:srgbClr val="333333"/>
                </a:solidFill>
              </a:rPr>
              <a:t>年代提出来的，出自</a:t>
            </a:r>
            <a:r>
              <a:rPr lang="en-US" altLang="zh-CN" sz="1600" dirty="0">
                <a:solidFill>
                  <a:srgbClr val="333333"/>
                </a:solidFill>
              </a:rPr>
              <a:t>《</a:t>
            </a:r>
            <a:r>
              <a:rPr lang="zh-CN" altLang="en-US" sz="1600" dirty="0">
                <a:solidFill>
                  <a:srgbClr val="333333"/>
                </a:solidFill>
              </a:rPr>
              <a:t>邓小平选集</a:t>
            </a:r>
            <a:r>
              <a:rPr lang="en-US" altLang="zh-CN" sz="1600" dirty="0">
                <a:solidFill>
                  <a:srgbClr val="333333"/>
                </a:solidFill>
              </a:rPr>
              <a:t>》</a:t>
            </a:r>
            <a:r>
              <a:rPr lang="zh-CN" altLang="en-US" sz="1600" dirty="0">
                <a:solidFill>
                  <a:srgbClr val="333333"/>
                </a:solidFill>
              </a:rPr>
              <a:t>第</a:t>
            </a:r>
            <a:r>
              <a:rPr lang="en-US" altLang="zh-CN" sz="1600" dirty="0">
                <a:solidFill>
                  <a:srgbClr val="333333"/>
                </a:solidFill>
              </a:rPr>
              <a:t>1</a:t>
            </a:r>
            <a:r>
              <a:rPr lang="zh-CN" altLang="en-US" sz="1600" dirty="0">
                <a:solidFill>
                  <a:srgbClr val="333333"/>
                </a:solidFill>
              </a:rPr>
              <a:t>卷</a:t>
            </a:r>
            <a:endParaRPr lang="en-US" altLang="zh-CN" sz="1600" b="0" i="0" dirty="0">
              <a:solidFill>
                <a:srgbClr val="333333"/>
              </a:solidFill>
            </a:endParaRPr>
          </a:p>
          <a:p>
            <a:pPr algn="just"/>
            <a:r>
              <a:rPr lang="zh-CN" altLang="en-US" sz="1600" b="1" dirty="0">
                <a:solidFill>
                  <a:srgbClr val="FF0000"/>
                </a:solidFill>
              </a:rPr>
              <a:t>不管白猫黑猫，能捉老鼠的就是好猫</a:t>
            </a:r>
            <a:endParaRPr lang="en-US" altLang="zh-CN" sz="1600" b="1" dirty="0">
              <a:solidFill>
                <a:srgbClr val="FF0000"/>
              </a:solidFill>
            </a:endParaRPr>
          </a:p>
          <a:p>
            <a:pPr algn="just"/>
            <a:r>
              <a:rPr lang="zh-CN" altLang="en-US" sz="1600" dirty="0">
                <a:solidFill>
                  <a:srgbClr val="333333"/>
                </a:solidFill>
              </a:rPr>
              <a:t>无论计划经济还是市场经济，只是一种资源配置手段，与政治制度无关。资本主义可以有计划，社会主义也可以有市场。只要能够发展生产力的，都可以在实践中使用</a:t>
            </a:r>
            <a:endParaRPr lang="en-US" altLang="zh-CN" sz="1600" dirty="0">
              <a:solidFill>
                <a:srgbClr val="333333"/>
              </a:solidFill>
            </a:endParaRPr>
          </a:p>
          <a:p>
            <a:pPr algn="just"/>
            <a:r>
              <a:rPr lang="zh-CN" altLang="en-US" sz="1600" dirty="0">
                <a:solidFill>
                  <a:srgbClr val="333333"/>
                </a:solidFill>
              </a:rPr>
              <a:t>根据客观实际，调查分析，正确认识问题，分析问题和解决问题，树立</a:t>
            </a:r>
            <a:r>
              <a:rPr lang="zh-CN" altLang="zh-CN" sz="1600" b="1" dirty="0">
                <a:solidFill>
                  <a:srgbClr val="FF0000"/>
                </a:solidFill>
              </a:rPr>
              <a:t>新时代中国特色</a:t>
            </a:r>
            <a:r>
              <a:rPr lang="zh-CN" altLang="en-US" sz="1600" b="1" dirty="0">
                <a:solidFill>
                  <a:srgbClr val="FF0000"/>
                </a:solidFill>
              </a:rPr>
              <a:t>社会主义道路自信</a:t>
            </a:r>
            <a:endParaRPr lang="en-US" altLang="zh-CN" sz="1600" b="1" dirty="0">
              <a:solidFill>
                <a:srgbClr val="FF0000"/>
              </a:solidFill>
            </a:endParaRPr>
          </a:p>
        </p:txBody>
      </p:sp>
      <p:pic>
        <p:nvPicPr>
          <p:cNvPr id="1026" name="Picture 2">
            <a:extLst>
              <a:ext uri="{FF2B5EF4-FFF2-40B4-BE49-F238E27FC236}">
                <a16:creationId xmlns:a16="http://schemas.microsoft.com/office/drawing/2014/main" id="{7E448C08-ECEB-5CE3-5502-4B4844175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1345722"/>
            <a:ext cx="2016224" cy="34093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469BF65-D730-3F24-5AB0-F76F9B5E2D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836" t="14001" r="21721"/>
          <a:stretch/>
        </p:blipFill>
        <p:spPr bwMode="auto">
          <a:xfrm>
            <a:off x="6662282" y="1042415"/>
            <a:ext cx="2014158" cy="331793"/>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3">
            <a:extLst>
              <a:ext uri="{FF2B5EF4-FFF2-40B4-BE49-F238E27FC236}">
                <a16:creationId xmlns:a16="http://schemas.microsoft.com/office/drawing/2014/main" id="{F83F75E3-445A-227E-ACF1-6FEBEA101246}"/>
              </a:ext>
            </a:extLst>
          </p:cNvPr>
          <p:cNvSpPr txBox="1">
            <a:spLocks/>
          </p:cNvSpPr>
          <p:nvPr/>
        </p:nvSpPr>
        <p:spPr>
          <a:xfrm>
            <a:off x="326171" y="3203366"/>
            <a:ext cx="6192688" cy="1528624"/>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vert="horz" wrap="square">
            <a:sp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r>
              <a:rPr lang="zh-CN" altLang="en-US" sz="1600" dirty="0">
                <a:solidFill>
                  <a:srgbClr val="333333"/>
                </a:solidFill>
              </a:rPr>
              <a:t>抓住事物的本质，寻找实现方式</a:t>
            </a:r>
            <a:endParaRPr lang="en-US" altLang="zh-CN" sz="1600" dirty="0">
              <a:solidFill>
                <a:srgbClr val="333333"/>
              </a:solidFill>
            </a:endParaRPr>
          </a:p>
          <a:p>
            <a:r>
              <a:rPr lang="zh-CN" altLang="en-US" sz="1600" dirty="0">
                <a:solidFill>
                  <a:srgbClr val="333333"/>
                </a:solidFill>
              </a:rPr>
              <a:t>词法分析的核心是实现</a:t>
            </a:r>
            <a:r>
              <a:rPr lang="zh-CN" altLang="en-US" sz="1600" b="1" dirty="0">
                <a:solidFill>
                  <a:srgbClr val="FF0000"/>
                </a:solidFill>
              </a:rPr>
              <a:t>单词识别</a:t>
            </a:r>
            <a:endParaRPr lang="en-US" altLang="zh-CN" sz="1600" b="1" dirty="0">
              <a:solidFill>
                <a:srgbClr val="FF0000"/>
              </a:solidFill>
            </a:endParaRPr>
          </a:p>
          <a:p>
            <a:r>
              <a:rPr lang="zh-CN" altLang="en-US" sz="1600" dirty="0">
                <a:solidFill>
                  <a:srgbClr val="333333"/>
                </a:solidFill>
              </a:rPr>
              <a:t>可以自己编写程序实现，也可以利用自动生成器自动生成</a:t>
            </a:r>
            <a:endParaRPr lang="en-US" altLang="zh-CN" sz="1600" dirty="0">
              <a:solidFill>
                <a:srgbClr val="333333"/>
              </a:solidFill>
            </a:endParaRPr>
          </a:p>
          <a:p>
            <a:r>
              <a:rPr lang="zh-CN" altLang="en-US" sz="1600" dirty="0">
                <a:solidFill>
                  <a:srgbClr val="333333"/>
                </a:solidFill>
              </a:rPr>
              <a:t>对比不同方法的优势，</a:t>
            </a:r>
            <a:r>
              <a:rPr lang="zh-CN" altLang="en-US" sz="1600" b="1" dirty="0">
                <a:solidFill>
                  <a:srgbClr val="FF0000"/>
                </a:solidFill>
              </a:rPr>
              <a:t>辩证</a:t>
            </a:r>
            <a:r>
              <a:rPr lang="zh-CN" altLang="en-US" sz="1600" dirty="0">
                <a:solidFill>
                  <a:srgbClr val="333333"/>
                </a:solidFill>
              </a:rPr>
              <a:t>地认识不同方法所处的地位</a:t>
            </a:r>
            <a:endParaRPr lang="en-US" altLang="zh-CN" sz="1600" dirty="0">
              <a:solidFill>
                <a:srgbClr val="333333"/>
              </a:solidFill>
            </a:endParaRPr>
          </a:p>
          <a:p>
            <a:r>
              <a:rPr lang="zh-CN" altLang="en-US" sz="1600" dirty="0">
                <a:solidFill>
                  <a:srgbClr val="333333"/>
                </a:solidFill>
              </a:rPr>
              <a:t>分析各种方法所适用的场景，找出问题的解决方案</a:t>
            </a:r>
            <a:endParaRPr lang="en-US" altLang="zh-CN" sz="1600" dirty="0">
              <a:solidFill>
                <a:srgbClr val="333333"/>
              </a:solidFill>
            </a:endParaRPr>
          </a:p>
        </p:txBody>
      </p:sp>
    </p:spTree>
    <p:extLst>
      <p:ext uri="{BB962C8B-B14F-4D97-AF65-F5344CB8AC3E}">
        <p14:creationId xmlns:p14="http://schemas.microsoft.com/office/powerpoint/2010/main" val="160287507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1"/>
          <p:cNvSpPr>
            <a:spLocks noChangeArrowheads="1"/>
          </p:cNvSpPr>
          <p:nvPr/>
        </p:nvSpPr>
        <p:spPr bwMode="auto">
          <a:xfrm>
            <a:off x="971600" y="169491"/>
            <a:ext cx="1924000" cy="1345753"/>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anchor="ctr">
            <a:spAutoFit/>
          </a:bodyPr>
          <a:lstStyle/>
          <a:p>
            <a:pPr indent="266700" eaLnBrk="1" hangingPunct="1">
              <a:lnSpc>
                <a:spcPct val="90000"/>
              </a:lnSpc>
              <a:defRPr/>
            </a:pPr>
            <a:r>
              <a:rPr lang="en-US" altLang="zh-CN" dirty="0">
                <a:solidFill>
                  <a:srgbClr val="000000"/>
                </a:solidFill>
                <a:latin typeface="Times New Roman" pitchFamily="18" charset="0"/>
                <a:cs typeface="Times New Roman" pitchFamily="18" charset="0"/>
              </a:rPr>
              <a:t>%%</a:t>
            </a:r>
            <a:endParaRPr lang="en-US" altLang="zh-CN" dirty="0">
              <a:solidFill>
                <a:schemeClr val="tx1"/>
              </a:solidFill>
            </a:endParaRPr>
          </a:p>
          <a:p>
            <a:pPr indent="266700">
              <a:lnSpc>
                <a:spcPct val="90000"/>
              </a:lnSpc>
              <a:defRPr/>
            </a:pPr>
            <a:r>
              <a:rPr lang="en-US" altLang="zh-CN" dirty="0">
                <a:solidFill>
                  <a:srgbClr val="000000"/>
                </a:solidFill>
                <a:latin typeface="Times New Roman" pitchFamily="18" charset="0"/>
                <a:cs typeface="Times New Roman" pitchFamily="18" charset="0"/>
              </a:rPr>
              <a:t>a     {   }</a:t>
            </a:r>
            <a:endParaRPr lang="en-US" altLang="zh-CN" dirty="0">
              <a:solidFill>
                <a:schemeClr val="tx1"/>
              </a:solidFill>
            </a:endParaRPr>
          </a:p>
          <a:p>
            <a:pPr indent="266700">
              <a:lnSpc>
                <a:spcPct val="90000"/>
              </a:lnSpc>
              <a:defRPr/>
            </a:pPr>
            <a:r>
              <a:rPr lang="en-US" altLang="zh-CN" dirty="0" err="1">
                <a:solidFill>
                  <a:srgbClr val="000000"/>
                </a:solidFill>
                <a:latin typeface="Times New Roman" pitchFamily="18" charset="0"/>
                <a:cs typeface="Times New Roman" pitchFamily="18" charset="0"/>
              </a:rPr>
              <a:t>abb</a:t>
            </a:r>
            <a:r>
              <a:rPr lang="en-US" altLang="zh-CN" dirty="0">
                <a:solidFill>
                  <a:srgbClr val="000000"/>
                </a:solidFill>
                <a:latin typeface="Times New Roman" pitchFamily="18" charset="0"/>
                <a:cs typeface="Times New Roman" pitchFamily="18" charset="0"/>
              </a:rPr>
              <a:t>   {       }</a:t>
            </a:r>
            <a:endParaRPr lang="en-US" altLang="zh-CN" dirty="0">
              <a:solidFill>
                <a:schemeClr val="tx1"/>
              </a:solidFill>
            </a:endParaRPr>
          </a:p>
          <a:p>
            <a:pPr indent="266700">
              <a:lnSpc>
                <a:spcPct val="90000"/>
              </a:lnSpc>
              <a:defRPr/>
            </a:pPr>
            <a:r>
              <a:rPr lang="en-US" altLang="zh-CN" dirty="0">
                <a:solidFill>
                  <a:srgbClr val="000000"/>
                </a:solidFill>
                <a:latin typeface="Times New Roman" pitchFamily="18" charset="0"/>
                <a:cs typeface="Times New Roman" pitchFamily="18" charset="0"/>
              </a:rPr>
              <a:t>a*bb* {       }</a:t>
            </a:r>
            <a:endParaRPr lang="en-US" altLang="zh-CN" dirty="0">
              <a:solidFill>
                <a:schemeClr val="tx1"/>
              </a:solidFill>
            </a:endParaRPr>
          </a:p>
          <a:p>
            <a:pPr indent="266700">
              <a:lnSpc>
                <a:spcPct val="90000"/>
              </a:lnSpc>
              <a:defRPr/>
            </a:pPr>
            <a:r>
              <a:rPr lang="en-US" altLang="zh-CN" dirty="0">
                <a:solidFill>
                  <a:srgbClr val="000000"/>
                </a:solidFill>
                <a:latin typeface="Times New Roman" pitchFamily="18" charset="0"/>
                <a:cs typeface="Times New Roman" pitchFamily="18" charset="0"/>
              </a:rPr>
              <a:t>%%</a:t>
            </a:r>
            <a:endParaRPr lang="en-US" altLang="zh-CN" dirty="0">
              <a:solidFill>
                <a:schemeClr val="tx1"/>
              </a:solidFill>
            </a:endParaRPr>
          </a:p>
        </p:txBody>
      </p:sp>
      <p:sp>
        <p:nvSpPr>
          <p:cNvPr id="108547" name="Rectangle 3"/>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latin typeface="Tahoma" pitchFamily="34" charset="0"/>
            </a:endParaRPr>
          </a:p>
        </p:txBody>
      </p:sp>
      <p:graphicFrame>
        <p:nvGraphicFramePr>
          <p:cNvPr id="108548" name="Object 2" descr="画布"/>
          <p:cNvGraphicFramePr>
            <a:graphicFrameLocks noChangeAspect="1"/>
          </p:cNvGraphicFramePr>
          <p:nvPr/>
        </p:nvGraphicFramePr>
        <p:xfrm>
          <a:off x="4343401" y="0"/>
          <a:ext cx="4594225" cy="1657350"/>
        </p:xfrm>
        <a:graphic>
          <a:graphicData uri="http://schemas.openxmlformats.org/presentationml/2006/ole">
            <mc:AlternateContent xmlns:mc="http://schemas.openxmlformats.org/markup-compatibility/2006">
              <mc:Choice xmlns:v="urn:schemas-microsoft-com:vml" Requires="v">
                <p:oleObj spid="_x0000_s33827" name="Visio" r:id="rId3" imgW="2803081" imgH="1478711" progId="Visio.Drawing.11">
                  <p:embed/>
                </p:oleObj>
              </mc:Choice>
              <mc:Fallback>
                <p:oleObj name="Visio" r:id="rId3" imgW="2803081" imgH="147871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1" y="0"/>
                        <a:ext cx="4594225" cy="165735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49" name="Rectangle 5"/>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latin typeface="Tahoma" pitchFamily="34" charset="0"/>
            </a:endParaRPr>
          </a:p>
        </p:txBody>
      </p:sp>
      <p:graphicFrame>
        <p:nvGraphicFramePr>
          <p:cNvPr id="108550" name="Object 4" descr="蓝色面巾纸"/>
          <p:cNvGraphicFramePr>
            <a:graphicFrameLocks noChangeAspect="1"/>
          </p:cNvGraphicFramePr>
          <p:nvPr/>
        </p:nvGraphicFramePr>
        <p:xfrm>
          <a:off x="5029200" y="2228850"/>
          <a:ext cx="3892550" cy="1257300"/>
        </p:xfrm>
        <a:graphic>
          <a:graphicData uri="http://schemas.openxmlformats.org/presentationml/2006/ole">
            <mc:AlternateContent xmlns:mc="http://schemas.openxmlformats.org/markup-compatibility/2006">
              <mc:Choice xmlns:v="urn:schemas-microsoft-com:vml" Requires="v">
                <p:oleObj spid="_x0000_s33828" name="Visio" r:id="rId6" imgW="3428595" imgH="1478711" progId="Visio.Drawing.11">
                  <p:embed/>
                </p:oleObj>
              </mc:Choice>
              <mc:Fallback>
                <p:oleObj name="Visio" r:id="rId6" imgW="3428595" imgH="1478711"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2228850"/>
                        <a:ext cx="3892550" cy="1257300"/>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1" name="Rectangle 7"/>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latin typeface="Tahoma" pitchFamily="34" charset="0"/>
            </a:endParaRPr>
          </a:p>
        </p:txBody>
      </p:sp>
      <p:graphicFrame>
        <p:nvGraphicFramePr>
          <p:cNvPr id="108552" name="Object 6" descr="新闻纸"/>
          <p:cNvGraphicFramePr>
            <a:graphicFrameLocks noChangeAspect="1"/>
          </p:cNvGraphicFramePr>
          <p:nvPr>
            <p:extLst>
              <p:ext uri="{D42A27DB-BD31-4B8C-83A1-F6EECF244321}">
                <p14:modId xmlns:p14="http://schemas.microsoft.com/office/powerpoint/2010/main" val="383752145"/>
              </p:ext>
            </p:extLst>
          </p:nvPr>
        </p:nvGraphicFramePr>
        <p:xfrm>
          <a:off x="381000" y="1828801"/>
          <a:ext cx="2971800" cy="1257300"/>
        </p:xfrm>
        <a:graphic>
          <a:graphicData uri="http://schemas.openxmlformats.org/presentationml/2006/ole">
            <mc:AlternateContent xmlns:mc="http://schemas.openxmlformats.org/markup-compatibility/2006">
              <mc:Choice xmlns:v="urn:schemas-microsoft-com:vml" Requires="v">
                <p:oleObj spid="_x0000_s33829" name="Visio" r:id="rId9" imgW="2116876" imgH="1651898" progId="Visio.Drawing.11">
                  <p:embed/>
                </p:oleObj>
              </mc:Choice>
              <mc:Fallback>
                <p:oleObj name="Visio" r:id="rId9" imgW="2116876" imgH="1651898"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1828801"/>
                        <a:ext cx="2971800" cy="1257300"/>
                      </a:xfrm>
                      <a:prstGeom prst="rect">
                        <a:avLst/>
                      </a:prstGeom>
                      <a:blipFill dpi="0" rotWithShape="0">
                        <a:blip r:embed="rId11"/>
                        <a:srcRect/>
                        <a:tile tx="0" ty="0" sx="100000" sy="100000" flip="none" algn="tl"/>
                      </a:blipFill>
                      <a:ln>
                        <a:noFill/>
                      </a:ln>
                    </p:spPr>
                  </p:pic>
                </p:oleObj>
              </mc:Fallback>
            </mc:AlternateContent>
          </a:graphicData>
        </a:graphic>
      </p:graphicFrame>
      <p:sp>
        <p:nvSpPr>
          <p:cNvPr id="11" name="右箭头 10"/>
          <p:cNvSpPr/>
          <p:nvPr/>
        </p:nvSpPr>
        <p:spPr>
          <a:xfrm rot="10800000">
            <a:off x="3581400" y="2286000"/>
            <a:ext cx="1066800" cy="800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下箭头 11"/>
          <p:cNvSpPr/>
          <p:nvPr/>
        </p:nvSpPr>
        <p:spPr>
          <a:xfrm>
            <a:off x="6553200" y="1428750"/>
            <a:ext cx="1143000" cy="800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右箭头 12"/>
          <p:cNvSpPr/>
          <p:nvPr/>
        </p:nvSpPr>
        <p:spPr>
          <a:xfrm>
            <a:off x="3048000" y="514350"/>
            <a:ext cx="10668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矩形 13"/>
          <p:cNvSpPr/>
          <p:nvPr/>
        </p:nvSpPr>
        <p:spPr>
          <a:xfrm>
            <a:off x="2972942" y="4081999"/>
            <a:ext cx="874017"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dirty="0">
                <a:solidFill>
                  <a:schemeClr val="tx1"/>
                </a:solidFill>
              </a:rPr>
              <a:t>最小化状态转换矩阵</a:t>
            </a:r>
          </a:p>
        </p:txBody>
      </p:sp>
      <p:sp>
        <p:nvSpPr>
          <p:cNvPr id="15" name="下箭头 14"/>
          <p:cNvSpPr/>
          <p:nvPr/>
        </p:nvSpPr>
        <p:spPr>
          <a:xfrm>
            <a:off x="1740701" y="3143250"/>
            <a:ext cx="12954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aphicFrame>
        <p:nvGraphicFramePr>
          <p:cNvPr id="16" name="Group 49"/>
          <p:cNvGraphicFramePr>
            <a:graphicFrameLocks noGrp="1"/>
          </p:cNvGraphicFramePr>
          <p:nvPr>
            <p:extLst>
              <p:ext uri="{D42A27DB-BD31-4B8C-83A1-F6EECF244321}">
                <p14:modId xmlns:p14="http://schemas.microsoft.com/office/powerpoint/2010/main" val="2873170405"/>
              </p:ext>
            </p:extLst>
          </p:nvPr>
        </p:nvGraphicFramePr>
        <p:xfrm>
          <a:off x="1762580" y="3914461"/>
          <a:ext cx="1161709" cy="1165860"/>
        </p:xfrm>
        <a:graphic>
          <a:graphicData uri="http://schemas.openxmlformats.org/drawingml/2006/table">
            <a:tbl>
              <a:tblPr/>
              <a:tblGrid>
                <a:gridCol w="657653">
                  <a:extLst>
                    <a:ext uri="{9D8B030D-6E8A-4147-A177-3AD203B41FA5}">
                      <a16:colId xmlns:a16="http://schemas.microsoft.com/office/drawing/2014/main" val="20000"/>
                    </a:ext>
                  </a:extLst>
                </a:gridCol>
                <a:gridCol w="210047">
                  <a:extLst>
                    <a:ext uri="{9D8B030D-6E8A-4147-A177-3AD203B41FA5}">
                      <a16:colId xmlns:a16="http://schemas.microsoft.com/office/drawing/2014/main" val="20001"/>
                    </a:ext>
                  </a:extLst>
                </a:gridCol>
                <a:gridCol w="294009">
                  <a:extLst>
                    <a:ext uri="{9D8B030D-6E8A-4147-A177-3AD203B41FA5}">
                      <a16:colId xmlns:a16="http://schemas.microsoft.com/office/drawing/2014/main" val="20002"/>
                    </a:ext>
                  </a:extLst>
                </a:gridCol>
              </a:tblGrid>
              <a:tr h="217602">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输入状态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3">
                        <a:lumMod val="20000"/>
                        <a:lumOff val="80000"/>
                      </a:schemeClr>
                    </a:solidFill>
                  </a:tcPr>
                </a:tc>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164718">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151916">
                <a:tc>
                  <a:txBody>
                    <a:bodyPr/>
                    <a:lstStyle/>
                    <a:p>
                      <a:pPr algn="ctr">
                        <a:spcAft>
                          <a:spcPts val="0"/>
                        </a:spcAft>
                      </a:pPr>
                      <a:r>
                        <a:rPr lang="en-US" sz="1200" kern="100" dirty="0">
                          <a:effectLst/>
                        </a:rPr>
                        <a:t>A</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C</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2"/>
                  </a:ext>
                </a:extLst>
              </a:tr>
              <a:tr h="151489">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sz="1200" kern="100" dirty="0">
                          <a:effectLst/>
                        </a:rPr>
                        <a:t>b</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E</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3"/>
                  </a:ext>
                </a:extLst>
              </a:tr>
              <a:tr h="151489">
                <a:tc>
                  <a:txBody>
                    <a:bodyPr/>
                    <a:lstStyle/>
                    <a:p>
                      <a:pPr algn="ctr">
                        <a:spcAft>
                          <a:spcPts val="0"/>
                        </a:spcAft>
                      </a:pPr>
                      <a:r>
                        <a:rPr lang="en-US" altLang="zh-CN" sz="1200" kern="100" dirty="0">
                          <a:effectLst/>
                          <a:latin typeface="+mn-lt"/>
                          <a:ea typeface="+mn-ea"/>
                        </a:rPr>
                        <a:t>…</a:t>
                      </a:r>
                      <a:endParaRPr lang="zh-CN" sz="1200" kern="100" dirty="0">
                        <a:effectLst/>
                        <a:latin typeface="Times New Roman"/>
                        <a:ea typeface="宋体"/>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algn="ctr">
                        <a:spcAft>
                          <a:spcPts val="0"/>
                        </a:spcAft>
                      </a:pPr>
                      <a:r>
                        <a:rPr lang="en-US" altLang="zh-CN" sz="1200" kern="100" dirty="0">
                          <a:effectLst/>
                          <a:latin typeface="Times New Roman"/>
                          <a:ea typeface="宋体"/>
                        </a:rPr>
                        <a:t>…</a:t>
                      </a:r>
                      <a:endParaRPr lang="zh-CN" sz="12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4"/>
                  </a:ext>
                </a:extLst>
              </a:tr>
            </a:tbl>
          </a:graphicData>
        </a:graphic>
      </p:graphicFrame>
      <p:sp>
        <p:nvSpPr>
          <p:cNvPr id="2" name="矩形 1"/>
          <p:cNvSpPr/>
          <p:nvPr/>
        </p:nvSpPr>
        <p:spPr>
          <a:xfrm>
            <a:off x="4070548" y="4293031"/>
            <a:ext cx="551754" cy="646331"/>
          </a:xfrm>
          <a:prstGeom prst="rect">
            <a:avLst/>
          </a:prstGeom>
        </p:spPr>
        <p:txBody>
          <a:bodyPr wrap="none">
            <a:spAutoFit/>
          </a:bodyPr>
          <a:lstStyle/>
          <a:p>
            <a:r>
              <a:rPr lang="en-US" altLang="zh-CN" sz="3600" b="1" dirty="0">
                <a:solidFill>
                  <a:srgbClr val="FF0000"/>
                </a:solidFill>
              </a:rPr>
              <a:t>+</a:t>
            </a:r>
            <a:endParaRPr lang="zh-CN" altLang="en-US" sz="3200" b="1" dirty="0"/>
          </a:p>
        </p:txBody>
      </p:sp>
      <p:sp>
        <p:nvSpPr>
          <p:cNvPr id="3" name="矩形 2"/>
          <p:cNvSpPr/>
          <p:nvPr/>
        </p:nvSpPr>
        <p:spPr>
          <a:xfrm>
            <a:off x="4571999" y="4169921"/>
            <a:ext cx="2286000" cy="76944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r>
              <a:rPr lang="zh-CN" altLang="en-US" sz="2200" dirty="0">
                <a:solidFill>
                  <a:schemeClr val="tx1"/>
                </a:solidFill>
              </a:rPr>
              <a:t>词法分析的控制程序（算法</a:t>
            </a:r>
            <a:r>
              <a:rPr lang="en-US" altLang="zh-CN" sz="2200" dirty="0">
                <a:solidFill>
                  <a:schemeClr val="tx1"/>
                </a:solidFill>
              </a:rPr>
              <a:t>2.1</a:t>
            </a:r>
            <a:r>
              <a:rPr lang="zh-CN" altLang="en-US" sz="2200" dirty="0">
                <a:solidFill>
                  <a:schemeClr val="tx1"/>
                </a:solidFill>
              </a:rPr>
              <a:t>）</a:t>
            </a:r>
            <a:endParaRPr lang="zh-CN" altLang="en-US" dirty="0">
              <a:solidFill>
                <a:schemeClr val="tx1"/>
              </a:solidFill>
            </a:endParaRPr>
          </a:p>
        </p:txBody>
      </p:sp>
      <p:sp>
        <p:nvSpPr>
          <p:cNvPr id="4" name="矩形 3"/>
          <p:cNvSpPr/>
          <p:nvPr/>
        </p:nvSpPr>
        <p:spPr>
          <a:xfrm>
            <a:off x="6925797" y="4244665"/>
            <a:ext cx="1540806" cy="584775"/>
          </a:xfrm>
          <a:prstGeom prst="rect">
            <a:avLst/>
          </a:prstGeom>
        </p:spPr>
        <p:txBody>
          <a:bodyPr wrap="none">
            <a:spAutoFit/>
          </a:bodyPr>
          <a:lstStyle/>
          <a:p>
            <a:r>
              <a:rPr lang="en-US" altLang="zh-CN" sz="3200" dirty="0"/>
              <a:t>=</a:t>
            </a:r>
            <a:r>
              <a:rPr lang="en-US" altLang="zh-CN" sz="3200" dirty="0" err="1"/>
              <a:t>yylex</a:t>
            </a:r>
            <a:endParaRPr lang="zh-CN" altLang="en-US" sz="3200" dirty="0"/>
          </a:p>
        </p:txBody>
      </p:sp>
      <p:sp>
        <p:nvSpPr>
          <p:cNvPr id="6" name="任意多边形 5"/>
          <p:cNvSpPr/>
          <p:nvPr/>
        </p:nvSpPr>
        <p:spPr>
          <a:xfrm>
            <a:off x="116777" y="-1"/>
            <a:ext cx="9027224" cy="5216963"/>
          </a:xfrm>
          <a:custGeom>
            <a:avLst/>
            <a:gdLst>
              <a:gd name="connsiteX0" fmla="*/ 4069462 w 9437667"/>
              <a:gd name="connsiteY0" fmla="*/ 318810 h 5378610"/>
              <a:gd name="connsiteX1" fmla="*/ 3355087 w 9437667"/>
              <a:gd name="connsiteY1" fmla="*/ 347385 h 5378610"/>
              <a:gd name="connsiteX2" fmla="*/ 3126487 w 9437667"/>
              <a:gd name="connsiteY2" fmla="*/ 1718985 h 5378610"/>
              <a:gd name="connsiteX3" fmla="*/ 226124 w 9437667"/>
              <a:gd name="connsiteY3" fmla="*/ 1904722 h 5378610"/>
              <a:gd name="connsiteX4" fmla="*/ 326137 w 9437667"/>
              <a:gd name="connsiteY4" fmla="*/ 3590647 h 5378610"/>
              <a:gd name="connsiteX5" fmla="*/ 1411987 w 9437667"/>
              <a:gd name="connsiteY5" fmla="*/ 5247997 h 5378610"/>
              <a:gd name="connsiteX6" fmla="*/ 4055174 w 9437667"/>
              <a:gd name="connsiteY6" fmla="*/ 5219422 h 5378610"/>
              <a:gd name="connsiteX7" fmla="*/ 3869437 w 9437667"/>
              <a:gd name="connsiteY7" fmla="*/ 4790797 h 5378610"/>
              <a:gd name="connsiteX8" fmla="*/ 3983737 w 9437667"/>
              <a:gd name="connsiteY8" fmla="*/ 4004985 h 5378610"/>
              <a:gd name="connsiteX9" fmla="*/ 5455349 w 9437667"/>
              <a:gd name="connsiteY9" fmla="*/ 4062135 h 5378610"/>
              <a:gd name="connsiteX10" fmla="*/ 8927212 w 9437667"/>
              <a:gd name="connsiteY10" fmla="*/ 3833535 h 5378610"/>
              <a:gd name="connsiteX11" fmla="*/ 8898637 w 9437667"/>
              <a:gd name="connsiteY11" fmla="*/ 247372 h 5378610"/>
              <a:gd name="connsiteX12" fmla="*/ 4012312 w 9437667"/>
              <a:gd name="connsiteY12" fmla="*/ 304522 h 5378610"/>
              <a:gd name="connsiteX13" fmla="*/ 4012312 w 9437667"/>
              <a:gd name="connsiteY13" fmla="*/ 304522 h 537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437667" h="5378610">
                <a:moveTo>
                  <a:pt x="4069462" y="318810"/>
                </a:moveTo>
                <a:cubicBezTo>
                  <a:pt x="3790855" y="216416"/>
                  <a:pt x="3512249" y="114022"/>
                  <a:pt x="3355087" y="347385"/>
                </a:cubicBezTo>
                <a:cubicBezTo>
                  <a:pt x="3197924" y="580748"/>
                  <a:pt x="3647981" y="1459429"/>
                  <a:pt x="3126487" y="1718985"/>
                </a:cubicBezTo>
                <a:cubicBezTo>
                  <a:pt x="2604993" y="1978541"/>
                  <a:pt x="692849" y="1592778"/>
                  <a:pt x="226124" y="1904722"/>
                </a:cubicBezTo>
                <a:cubicBezTo>
                  <a:pt x="-240601" y="2216666"/>
                  <a:pt x="128493" y="3033435"/>
                  <a:pt x="326137" y="3590647"/>
                </a:cubicBezTo>
                <a:cubicBezTo>
                  <a:pt x="523781" y="4147860"/>
                  <a:pt x="790481" y="4976535"/>
                  <a:pt x="1411987" y="5247997"/>
                </a:cubicBezTo>
                <a:cubicBezTo>
                  <a:pt x="2033493" y="5519459"/>
                  <a:pt x="3645599" y="5295622"/>
                  <a:pt x="4055174" y="5219422"/>
                </a:cubicBezTo>
                <a:cubicBezTo>
                  <a:pt x="4464749" y="5143222"/>
                  <a:pt x="3881343" y="4993203"/>
                  <a:pt x="3869437" y="4790797"/>
                </a:cubicBezTo>
                <a:cubicBezTo>
                  <a:pt x="3857531" y="4588391"/>
                  <a:pt x="3719419" y="4126429"/>
                  <a:pt x="3983737" y="4004985"/>
                </a:cubicBezTo>
                <a:cubicBezTo>
                  <a:pt x="4248055" y="3883541"/>
                  <a:pt x="4631437" y="4090710"/>
                  <a:pt x="5455349" y="4062135"/>
                </a:cubicBezTo>
                <a:cubicBezTo>
                  <a:pt x="6279261" y="4033560"/>
                  <a:pt x="8353331" y="4469329"/>
                  <a:pt x="8927212" y="3833535"/>
                </a:cubicBezTo>
                <a:cubicBezTo>
                  <a:pt x="9501093" y="3197741"/>
                  <a:pt x="9717787" y="835541"/>
                  <a:pt x="8898637" y="247372"/>
                </a:cubicBezTo>
                <a:cubicBezTo>
                  <a:pt x="8079487" y="-340797"/>
                  <a:pt x="4012312" y="304522"/>
                  <a:pt x="4012312" y="304522"/>
                </a:cubicBezTo>
                <a:lnTo>
                  <a:pt x="4012312" y="304522"/>
                </a:lnTo>
              </a:path>
            </a:pathLst>
          </a:cu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28922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a:xfrm>
            <a:off x="457200" y="0"/>
            <a:ext cx="8229600" cy="514350"/>
          </a:xfrm>
        </p:spPr>
        <p:txBody>
          <a:bodyPr>
            <a:normAutofit fontScale="90000"/>
          </a:bodyPr>
          <a:lstStyle/>
          <a:p>
            <a:pPr eaLnBrk="1" hangingPunct="1"/>
            <a:r>
              <a:rPr kumimoji="1" lang="en-US" altLang="zh-CN" sz="5400" b="1">
                <a:solidFill>
                  <a:srgbClr val="CC0099"/>
                </a:solidFill>
                <a:ea typeface="隶书" pitchFamily="49" charset="-122"/>
              </a:rPr>
              <a:t>Lex</a:t>
            </a:r>
            <a:r>
              <a:rPr kumimoji="1" lang="zh-CN" altLang="zh-CN" sz="5400" b="1">
                <a:solidFill>
                  <a:srgbClr val="CC0099"/>
                </a:solidFill>
                <a:ea typeface="隶书" pitchFamily="49" charset="-122"/>
              </a:rPr>
              <a:t>的工作过程</a:t>
            </a:r>
            <a:endParaRPr kumimoji="1" lang="zh-CN" altLang="en-US" sz="5400" b="1">
              <a:solidFill>
                <a:srgbClr val="CC0099"/>
              </a:solidFill>
              <a:ea typeface="隶书" pitchFamily="49" charset="-122"/>
            </a:endParaRPr>
          </a:p>
        </p:txBody>
      </p:sp>
      <p:sp>
        <p:nvSpPr>
          <p:cNvPr id="107523" name="内容占位符 2"/>
          <p:cNvSpPr>
            <a:spLocks noGrp="1"/>
          </p:cNvSpPr>
          <p:nvPr>
            <p:ph idx="1"/>
          </p:nvPr>
        </p:nvSpPr>
        <p:spPr>
          <a:xfrm>
            <a:off x="364834" y="987574"/>
            <a:ext cx="8229600" cy="2360290"/>
          </a:xfrm>
        </p:spPr>
        <p:txBody>
          <a:bodyPr>
            <a:normAutofit fontScale="92500" lnSpcReduction="10000"/>
          </a:bodyPr>
          <a:lstStyle/>
          <a:p>
            <a:pPr eaLnBrk="1" hangingPunct="1"/>
            <a:r>
              <a:rPr lang="zh-CN" altLang="en-US" sz="2200" dirty="0"/>
              <a:t>对</a:t>
            </a:r>
            <a:r>
              <a:rPr lang="zh-CN" altLang="zh-CN" sz="2200" dirty="0"/>
              <a:t>翻译规则</a:t>
            </a:r>
            <a:r>
              <a:rPr lang="zh-CN" altLang="en-US" sz="2200" dirty="0"/>
              <a:t>中的每一个正则表达式，</a:t>
            </a:r>
            <a:r>
              <a:rPr lang="zh-CN" altLang="zh-CN" sz="2200" dirty="0"/>
              <a:t>为之构造一个</a:t>
            </a:r>
            <a:r>
              <a:rPr lang="en-US" altLang="zh-CN" sz="2200" dirty="0"/>
              <a:t>NFA </a:t>
            </a:r>
            <a:r>
              <a:rPr lang="en-US" altLang="zh-CN" sz="2200" dirty="0" err="1"/>
              <a:t>M</a:t>
            </a:r>
            <a:r>
              <a:rPr lang="en-US" altLang="zh-CN" sz="2200" baseline="-25000" dirty="0" err="1"/>
              <a:t>i</a:t>
            </a:r>
            <a:endParaRPr lang="en-US" altLang="zh-CN" sz="2200" dirty="0"/>
          </a:p>
          <a:p>
            <a:pPr eaLnBrk="1" hangingPunct="1"/>
            <a:r>
              <a:rPr lang="zh-CN" altLang="zh-CN" sz="2200" dirty="0"/>
              <a:t>将各条翻译规则对应的</a:t>
            </a:r>
            <a:r>
              <a:rPr lang="en-US" altLang="zh-CN" sz="2200" dirty="0"/>
              <a:t>NFA </a:t>
            </a:r>
            <a:r>
              <a:rPr lang="en-US" altLang="zh-CN" sz="2200" dirty="0" err="1"/>
              <a:t>M</a:t>
            </a:r>
            <a:r>
              <a:rPr lang="en-US" altLang="zh-CN" sz="2200" baseline="-25000" dirty="0" err="1"/>
              <a:t>i</a:t>
            </a:r>
            <a:r>
              <a:rPr lang="zh-CN" altLang="zh-CN" sz="2200" dirty="0"/>
              <a:t>合并为一个新的</a:t>
            </a:r>
            <a:r>
              <a:rPr lang="en-US" altLang="zh-CN" sz="2200" dirty="0"/>
              <a:t>NFA M</a:t>
            </a:r>
            <a:r>
              <a:rPr lang="zh-CN" altLang="zh-CN" sz="2200" dirty="0"/>
              <a:t>；</a:t>
            </a:r>
            <a:endParaRPr lang="en-US" altLang="zh-CN" sz="2200" dirty="0"/>
          </a:p>
          <a:p>
            <a:pPr eaLnBrk="1" hangingPunct="1"/>
            <a:r>
              <a:rPr lang="zh-CN" altLang="zh-CN" sz="2200" dirty="0"/>
              <a:t>然后将</a:t>
            </a:r>
            <a:r>
              <a:rPr lang="en-US" altLang="zh-CN" sz="2200" dirty="0"/>
              <a:t>NFA</a:t>
            </a:r>
            <a:r>
              <a:rPr lang="zh-CN" altLang="zh-CN" sz="2200" dirty="0"/>
              <a:t>确定化</a:t>
            </a:r>
            <a:r>
              <a:rPr lang="zh-CN" altLang="en-US" sz="2200" dirty="0"/>
              <a:t>并最小化</a:t>
            </a:r>
            <a:r>
              <a:rPr lang="zh-CN" altLang="zh-CN" sz="2200" dirty="0"/>
              <a:t>为</a:t>
            </a:r>
            <a:r>
              <a:rPr lang="en-US" altLang="zh-CN" sz="2200" dirty="0"/>
              <a:t>DFA D</a:t>
            </a:r>
          </a:p>
          <a:p>
            <a:pPr eaLnBrk="1" hangingPunct="1"/>
            <a:r>
              <a:rPr lang="zh-CN" altLang="zh-CN" sz="2200" dirty="0"/>
              <a:t>生成该</a:t>
            </a:r>
            <a:r>
              <a:rPr lang="en-US" altLang="zh-CN" sz="2200" dirty="0"/>
              <a:t>DFA D</a:t>
            </a:r>
            <a:r>
              <a:rPr lang="zh-CN" altLang="zh-CN" sz="2200" dirty="0"/>
              <a:t>的状态转换矩阵</a:t>
            </a:r>
            <a:endParaRPr lang="en-US" altLang="zh-CN" sz="2200" dirty="0"/>
          </a:p>
          <a:p>
            <a:r>
              <a:rPr lang="zh-CN" altLang="en-US" sz="2200" dirty="0"/>
              <a:t>配合词法分析</a:t>
            </a:r>
            <a:r>
              <a:rPr lang="zh-CN" altLang="zh-CN" sz="2200" dirty="0"/>
              <a:t>控制执行程序</a:t>
            </a:r>
            <a:r>
              <a:rPr lang="zh-CN" altLang="en-US" sz="2200" dirty="0"/>
              <a:t>（算法</a:t>
            </a:r>
            <a:r>
              <a:rPr lang="en-US" altLang="zh-CN" sz="2200" dirty="0"/>
              <a:t>2.1</a:t>
            </a:r>
            <a:r>
              <a:rPr lang="zh-CN" altLang="en-US" sz="2200" dirty="0"/>
              <a:t>），（</a:t>
            </a:r>
            <a:r>
              <a:rPr lang="zh-CN" altLang="zh-CN" sz="2200" dirty="0"/>
              <a:t>由于各种语言的状态转换矩阵的结构相同，所以控制执行程序对各种语言都是相同的</a:t>
            </a:r>
            <a:r>
              <a:rPr lang="zh-CN" altLang="en-US" sz="2200" dirty="0"/>
              <a:t>）</a:t>
            </a:r>
            <a:endParaRPr lang="zh-CN" altLang="zh-CN" sz="2200" dirty="0"/>
          </a:p>
          <a:p>
            <a:pPr eaLnBrk="1" hangingPunct="1"/>
            <a:r>
              <a:rPr lang="zh-CN" altLang="en-US" sz="2200" dirty="0"/>
              <a:t>生成词法分析程序</a:t>
            </a:r>
            <a:endParaRPr lang="en-US" altLang="zh-CN" sz="2200" dirty="0"/>
          </a:p>
          <a:p>
            <a:pPr eaLnBrk="1" hangingPunct="1"/>
            <a:endParaRPr lang="zh-CN" altLang="en-US" sz="2200" dirty="0"/>
          </a:p>
        </p:txBody>
      </p:sp>
      <p:sp>
        <p:nvSpPr>
          <p:cNvPr id="107524" name="Rectangle 2"/>
          <p:cNvSpPr>
            <a:spLocks noChangeArrowheads="1"/>
          </p:cNvSpPr>
          <p:nvPr/>
        </p:nvSpPr>
        <p:spPr bwMode="auto">
          <a:xfrm>
            <a:off x="4479634"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latin typeface="Tahoma" pitchFamily="34" charset="0"/>
            </a:endParaRPr>
          </a:p>
        </p:txBody>
      </p:sp>
    </p:spTree>
    <p:extLst>
      <p:ext uri="{BB962C8B-B14F-4D97-AF65-F5344CB8AC3E}">
        <p14:creationId xmlns:p14="http://schemas.microsoft.com/office/powerpoint/2010/main" val="40888534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0" y="205979"/>
            <a:ext cx="9144000" cy="857250"/>
          </a:xfrm>
        </p:spPr>
        <p:txBody>
          <a:bodyPr>
            <a:normAutofit fontScale="90000"/>
          </a:bodyPr>
          <a:lstStyle/>
          <a:p>
            <a:pPr eaLnBrk="1" hangingPunct="1"/>
            <a:r>
              <a:rPr kumimoji="1" lang="en-US" altLang="zh-CN" sz="5400" b="1" dirty="0">
                <a:solidFill>
                  <a:srgbClr val="CC0099"/>
                </a:solidFill>
                <a:ea typeface="隶书" pitchFamily="49" charset="-122"/>
              </a:rPr>
              <a:t>2.6</a:t>
            </a:r>
            <a:r>
              <a:rPr kumimoji="1" lang="zh-CN" altLang="en-US" sz="5400" b="1" dirty="0">
                <a:solidFill>
                  <a:srgbClr val="CC0099"/>
                </a:solidFill>
                <a:ea typeface="隶书" pitchFamily="49" charset="-122"/>
              </a:rPr>
              <a:t>词法分析程序的自动构造</a:t>
            </a:r>
          </a:p>
        </p:txBody>
      </p:sp>
      <p:sp>
        <p:nvSpPr>
          <p:cNvPr id="91139" name="Rectangle 3"/>
          <p:cNvSpPr>
            <a:spLocks noGrp="1" noChangeArrowheads="1"/>
          </p:cNvSpPr>
          <p:nvPr>
            <p:ph type="body" idx="1"/>
          </p:nvPr>
        </p:nvSpPr>
        <p:spPr>
          <a:xfrm>
            <a:off x="457200" y="1257300"/>
            <a:ext cx="8229600" cy="3546698"/>
          </a:xfrm>
        </p:spPr>
        <p:txBody>
          <a:bodyPr>
            <a:noAutofit/>
          </a:bodyPr>
          <a:lstStyle/>
          <a:p>
            <a:pPr eaLnBrk="1" hangingPunct="1"/>
            <a:r>
              <a:rPr lang="zh-CN" altLang="en-US" sz="2200" dirty="0"/>
              <a:t>词法分析程序的自动构造方法，是基于</a:t>
            </a:r>
            <a:r>
              <a:rPr lang="zh-CN" altLang="zh-CN" sz="2200" dirty="0"/>
              <a:t>有穷自动机和正</a:t>
            </a:r>
            <a:r>
              <a:rPr lang="zh-CN" altLang="en-US" sz="2200" dirty="0"/>
              <a:t>则表达</a:t>
            </a:r>
            <a:r>
              <a:rPr lang="zh-CN" altLang="zh-CN" sz="2200" dirty="0"/>
              <a:t>式的等价性</a:t>
            </a:r>
            <a:r>
              <a:rPr lang="zh-CN" altLang="en-US" sz="2200" dirty="0"/>
              <a:t>，即</a:t>
            </a:r>
            <a:r>
              <a:rPr lang="zh-CN" altLang="zh-CN" sz="2200" dirty="0"/>
              <a:t>：      </a:t>
            </a:r>
          </a:p>
          <a:p>
            <a:pPr eaLnBrk="1" hangingPunct="1">
              <a:buFontTx/>
              <a:buNone/>
            </a:pPr>
            <a:endParaRPr lang="zh-CN" altLang="zh-CN" sz="2200" dirty="0"/>
          </a:p>
          <a:p>
            <a:pPr eaLnBrk="1" hangingPunct="1">
              <a:buFontTx/>
              <a:buNone/>
            </a:pPr>
            <a:r>
              <a:rPr lang="zh-CN" altLang="zh-CN" sz="2200" dirty="0"/>
              <a:t>1.对于∑上的一个NFA  M，可以构造一个∑上的正</a:t>
            </a:r>
            <a:r>
              <a:rPr lang="zh-CN" altLang="en-US" sz="2200" dirty="0"/>
              <a:t>则表达</a:t>
            </a:r>
            <a:r>
              <a:rPr lang="zh-CN" altLang="zh-CN" sz="2200" dirty="0"/>
              <a:t>式R,使得L(R)=L(M)。</a:t>
            </a:r>
          </a:p>
          <a:p>
            <a:pPr eaLnBrk="1" hangingPunct="1">
              <a:buFontTx/>
              <a:buNone/>
            </a:pPr>
            <a:r>
              <a:rPr lang="zh-CN" altLang="zh-CN" sz="2200" dirty="0">
                <a:solidFill>
                  <a:srgbClr val="FF0000"/>
                </a:solidFill>
              </a:rPr>
              <a:t>2</a:t>
            </a:r>
            <a:r>
              <a:rPr lang="en-US" altLang="zh-CN" sz="2200" dirty="0">
                <a:solidFill>
                  <a:srgbClr val="FF0000"/>
                </a:solidFill>
              </a:rPr>
              <a:t>.</a:t>
            </a:r>
            <a:r>
              <a:rPr lang="zh-CN" altLang="en-US" sz="2200" dirty="0">
                <a:solidFill>
                  <a:srgbClr val="FF0000"/>
                </a:solidFill>
              </a:rPr>
              <a:t>对于</a:t>
            </a:r>
            <a:r>
              <a:rPr lang="zh-CN" altLang="zh-CN" sz="2200" dirty="0">
                <a:solidFill>
                  <a:srgbClr val="FF0000"/>
                </a:solidFill>
              </a:rPr>
              <a:t>∑上的一个正</a:t>
            </a:r>
            <a:r>
              <a:rPr lang="zh-CN" altLang="en-US" sz="2200" dirty="0">
                <a:solidFill>
                  <a:srgbClr val="FF0000"/>
                </a:solidFill>
              </a:rPr>
              <a:t>则表达</a:t>
            </a:r>
            <a:r>
              <a:rPr lang="zh-CN" altLang="zh-CN" sz="2200" dirty="0">
                <a:solidFill>
                  <a:srgbClr val="FF0000"/>
                </a:solidFill>
              </a:rPr>
              <a:t>式R，可以构造一个∑上的NFA M，使的L</a:t>
            </a:r>
            <a:r>
              <a:rPr lang="en-US" altLang="zh-CN" sz="2200" dirty="0">
                <a:solidFill>
                  <a:srgbClr val="FF0000"/>
                </a:solidFill>
              </a:rPr>
              <a:t>(M)=L(R)</a:t>
            </a:r>
            <a:r>
              <a:rPr lang="zh-CN" altLang="en-US" sz="2200" dirty="0">
                <a:solidFill>
                  <a:srgbClr val="FF0000"/>
                </a:solidFill>
              </a:rPr>
              <a:t>。</a:t>
            </a:r>
            <a:endParaRPr lang="en-US" altLang="zh-CN" sz="2200" dirty="0">
              <a:solidFill>
                <a:srgbClr val="FF0000"/>
              </a:solidFill>
            </a:endParaRPr>
          </a:p>
          <a:p>
            <a:pPr eaLnBrk="1" hangingPunct="1">
              <a:buFontTx/>
              <a:buNone/>
            </a:pPr>
            <a:endParaRPr lang="en-US" altLang="zh-CN" sz="2200" dirty="0">
              <a:solidFill>
                <a:srgbClr val="FF0000"/>
              </a:solidFill>
            </a:endParaRPr>
          </a:p>
          <a:p>
            <a:pPr eaLnBrk="1" hangingPunct="1">
              <a:buFontTx/>
              <a:buNone/>
            </a:pPr>
            <a:r>
              <a:rPr lang="zh-CN" altLang="en-US" sz="2200" dirty="0"/>
              <a:t>给定正则表达式后，一定可以找到一个有穷自动机与之等价</a:t>
            </a:r>
          </a:p>
        </p:txBody>
      </p:sp>
    </p:spTree>
    <p:extLst>
      <p:ext uri="{BB962C8B-B14F-4D97-AF65-F5344CB8AC3E}">
        <p14:creationId xmlns:p14="http://schemas.microsoft.com/office/powerpoint/2010/main" val="26662061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normAutofit fontScale="90000"/>
          </a:bodyPr>
          <a:lstStyle/>
          <a:p>
            <a:pPr eaLnBrk="1" hangingPunct="1"/>
            <a:r>
              <a:rPr lang="zh-CN" altLang="en-US"/>
              <a:t>词法分析工具介绍</a:t>
            </a:r>
          </a:p>
        </p:txBody>
      </p:sp>
      <p:sp>
        <p:nvSpPr>
          <p:cNvPr id="93187" name="内容占位符 2"/>
          <p:cNvSpPr>
            <a:spLocks noGrp="1"/>
          </p:cNvSpPr>
          <p:nvPr>
            <p:ph idx="1"/>
          </p:nvPr>
        </p:nvSpPr>
        <p:spPr>
          <a:xfrm>
            <a:off x="467544" y="987574"/>
            <a:ext cx="8153400" cy="3429000"/>
          </a:xfrm>
        </p:spPr>
        <p:txBody>
          <a:bodyPr>
            <a:normAutofit/>
          </a:bodyPr>
          <a:lstStyle/>
          <a:p>
            <a:pPr eaLnBrk="1" hangingPunct="1"/>
            <a:r>
              <a:rPr lang="en-US" altLang="zh-CN" sz="2200" dirty="0"/>
              <a:t>Flex——fast lexical </a:t>
            </a:r>
            <a:r>
              <a:rPr lang="en-US" altLang="zh-CN" sz="2200" dirty="0" err="1"/>
              <a:t>analyser</a:t>
            </a:r>
            <a:r>
              <a:rPr lang="en-US" altLang="zh-CN" sz="2200" dirty="0"/>
              <a:t> generator</a:t>
            </a:r>
            <a:r>
              <a:rPr lang="zh-CN" altLang="en-US" sz="2200" dirty="0"/>
              <a:t>，经常和</a:t>
            </a:r>
            <a:r>
              <a:rPr lang="en-US" altLang="zh-CN" sz="2200" dirty="0"/>
              <a:t>Bison</a:t>
            </a:r>
            <a:r>
              <a:rPr lang="zh-CN" altLang="en-US" sz="2200" dirty="0"/>
              <a:t>语法分析器生成器 一起使用。最初由 </a:t>
            </a:r>
            <a:r>
              <a:rPr lang="en-US" altLang="zh-CN" sz="2200" dirty="0"/>
              <a:t>Vern </a:t>
            </a:r>
            <a:r>
              <a:rPr lang="en-US" altLang="zh-CN" sz="2200" dirty="0" err="1"/>
              <a:t>Paxson</a:t>
            </a:r>
            <a:r>
              <a:rPr lang="en-US" altLang="zh-CN" sz="2200" dirty="0"/>
              <a:t> </a:t>
            </a:r>
            <a:r>
              <a:rPr lang="zh-CN" altLang="en-US" sz="2200" dirty="0"/>
              <a:t>于 </a:t>
            </a:r>
            <a:r>
              <a:rPr lang="en-US" altLang="zh-CN" sz="2200" dirty="0"/>
              <a:t>1987 </a:t>
            </a:r>
            <a:r>
              <a:rPr lang="zh-CN" altLang="en-US" sz="2200" dirty="0"/>
              <a:t>年用</a:t>
            </a:r>
            <a:r>
              <a:rPr lang="en-US" altLang="zh-CN" sz="2200" dirty="0"/>
              <a:t>C</a:t>
            </a:r>
            <a:r>
              <a:rPr lang="zh-CN" altLang="en-US" sz="2200" dirty="0"/>
              <a:t>语言写成</a:t>
            </a:r>
            <a:endParaRPr lang="en-US" altLang="zh-CN" sz="2200" dirty="0"/>
          </a:p>
          <a:p>
            <a:pPr eaLnBrk="1" hangingPunct="1"/>
            <a:r>
              <a:rPr lang="en-US" altLang="zh-CN" sz="2200" dirty="0"/>
              <a:t>flex++——</a:t>
            </a:r>
            <a:r>
              <a:rPr lang="zh-CN" altLang="en-US" sz="2200" dirty="0"/>
              <a:t>用</a:t>
            </a:r>
            <a:r>
              <a:rPr lang="en-US" altLang="zh-CN" sz="2200" dirty="0"/>
              <a:t>C++</a:t>
            </a:r>
            <a:r>
              <a:rPr lang="zh-CN" altLang="en-US" sz="2200" dirty="0"/>
              <a:t>语言的词法分析器生成器</a:t>
            </a:r>
            <a:endParaRPr lang="en-US" altLang="zh-CN" sz="2200" dirty="0"/>
          </a:p>
          <a:p>
            <a:pPr eaLnBrk="1" hangingPunct="1"/>
            <a:r>
              <a:rPr lang="en-US" altLang="zh-CN" sz="2200" dirty="0" err="1"/>
              <a:t>Jflex</a:t>
            </a:r>
            <a:r>
              <a:rPr lang="en-US" altLang="zh-CN" sz="2200" dirty="0"/>
              <a:t>——</a:t>
            </a:r>
            <a:r>
              <a:rPr lang="zh-CN" altLang="en-US" sz="2200" dirty="0"/>
              <a:t>一个</a:t>
            </a:r>
            <a:r>
              <a:rPr lang="en-US" altLang="zh-CN" sz="2200" dirty="0"/>
              <a:t>Java</a:t>
            </a:r>
            <a:r>
              <a:rPr lang="zh-CN" altLang="en-US" sz="2200" dirty="0"/>
              <a:t>的词法</a:t>
            </a:r>
            <a:r>
              <a:rPr lang="en-US" altLang="zh-CN" sz="2200" dirty="0"/>
              <a:t>/</a:t>
            </a:r>
            <a:r>
              <a:rPr lang="zh-CN" altLang="en-US" sz="2200" dirty="0"/>
              <a:t>语法分析生成器</a:t>
            </a:r>
            <a:endParaRPr lang="en-US" altLang="zh-CN" sz="2200" dirty="0"/>
          </a:p>
          <a:p>
            <a:pPr eaLnBrk="1" hangingPunct="1"/>
            <a:r>
              <a:rPr lang="en-US" altLang="zh-CN" sz="2200" dirty="0"/>
              <a:t>ANTLR——</a:t>
            </a:r>
            <a:r>
              <a:rPr lang="en-US" altLang="zh-CN" sz="2200" dirty="0" err="1"/>
              <a:t>ANother</a:t>
            </a:r>
            <a:r>
              <a:rPr lang="en-US" altLang="zh-CN" sz="2200" dirty="0"/>
              <a:t> Tool for Language Recognition</a:t>
            </a:r>
            <a:r>
              <a:rPr lang="zh-CN" altLang="en-US" sz="2200" dirty="0"/>
              <a:t>，是</a:t>
            </a:r>
            <a:r>
              <a:rPr lang="en-US" altLang="zh-CN" sz="2200" dirty="0"/>
              <a:t>Java</a:t>
            </a:r>
            <a:r>
              <a:rPr lang="zh-CN" altLang="en-US" sz="2200" dirty="0"/>
              <a:t>开发的词法分析工具，它可以接受词文法语言描述，并能产生识别这些语言的语句的程序</a:t>
            </a:r>
          </a:p>
        </p:txBody>
      </p:sp>
    </p:spTree>
    <p:extLst>
      <p:ext uri="{BB962C8B-B14F-4D97-AF65-F5344CB8AC3E}">
        <p14:creationId xmlns:p14="http://schemas.microsoft.com/office/powerpoint/2010/main" val="11479136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57200" y="0"/>
            <a:ext cx="8686800" cy="771549"/>
          </a:xfrm>
        </p:spPr>
        <p:txBody>
          <a:bodyPr>
            <a:normAutofit/>
          </a:bodyPr>
          <a:lstStyle/>
          <a:p>
            <a:r>
              <a:rPr kumimoji="1" lang="zh-CN" altLang="zh-CN" sz="4000" b="1" dirty="0">
                <a:solidFill>
                  <a:srgbClr val="CC0099"/>
                </a:solidFill>
                <a:ea typeface="隶书" pitchFamily="49" charset="-122"/>
              </a:rPr>
              <a:t>Lex的概述</a:t>
            </a:r>
          </a:p>
        </p:txBody>
      </p:sp>
      <p:sp>
        <p:nvSpPr>
          <p:cNvPr id="92163" name="Rectangle 3"/>
          <p:cNvSpPr>
            <a:spLocks noGrp="1" noChangeArrowheads="1"/>
          </p:cNvSpPr>
          <p:nvPr>
            <p:ph type="body" idx="1"/>
          </p:nvPr>
        </p:nvSpPr>
        <p:spPr>
          <a:xfrm>
            <a:off x="457200" y="771549"/>
            <a:ext cx="8229600" cy="2520281"/>
          </a:xfrm>
        </p:spPr>
        <p:txBody>
          <a:bodyPr>
            <a:normAutofit/>
          </a:bodyPr>
          <a:lstStyle/>
          <a:p>
            <a:pPr eaLnBrk="1" hangingPunct="1">
              <a:lnSpc>
                <a:spcPct val="90000"/>
              </a:lnSpc>
            </a:pPr>
            <a:r>
              <a:rPr lang="en-US" altLang="zh-CN" sz="1800" dirty="0"/>
              <a:t>Lex </a:t>
            </a:r>
            <a:r>
              <a:rPr lang="zh-CN" altLang="en-US" sz="1800" dirty="0"/>
              <a:t>是一种基于</a:t>
            </a:r>
            <a:r>
              <a:rPr lang="zh-CN" altLang="en-US" sz="1800" dirty="0">
                <a:solidFill>
                  <a:srgbClr val="0000FF"/>
                </a:solidFill>
              </a:rPr>
              <a:t>正则表达式的描述</a:t>
            </a:r>
            <a:r>
              <a:rPr lang="zh-CN" altLang="en-US" sz="1800" dirty="0">
                <a:solidFill>
                  <a:srgbClr val="FF0000"/>
                </a:solidFill>
              </a:rPr>
              <a:t>生成词法分析器的工具</a:t>
            </a:r>
            <a:r>
              <a:rPr lang="zh-CN" altLang="en-US" sz="1800" dirty="0"/>
              <a:t>。</a:t>
            </a:r>
            <a:r>
              <a:rPr lang="zh-CN" altLang="zh-CN" sz="1800" dirty="0"/>
              <a:t>广泛用于产生各种语言的词法分析器，也称为</a:t>
            </a:r>
            <a:r>
              <a:rPr lang="en-US" altLang="zh-CN" sz="1800" dirty="0"/>
              <a:t>Lex</a:t>
            </a:r>
            <a:r>
              <a:rPr lang="zh-CN" altLang="zh-CN" sz="1800" dirty="0"/>
              <a:t>编译器</a:t>
            </a:r>
            <a:r>
              <a:rPr lang="zh-CN" altLang="en-US" sz="1800" dirty="0"/>
              <a:t>。是一种</a:t>
            </a:r>
            <a:r>
              <a:rPr lang="zh-CN" altLang="en-US" sz="1800" dirty="0">
                <a:solidFill>
                  <a:srgbClr val="FF0000"/>
                </a:solidFill>
              </a:rPr>
              <a:t>识别文本中单词模式</a:t>
            </a:r>
            <a:r>
              <a:rPr lang="zh-CN" altLang="en-US" sz="1800" dirty="0"/>
              <a:t>的程序。</a:t>
            </a:r>
            <a:endParaRPr lang="en-US" altLang="zh-CN" sz="1800" dirty="0"/>
          </a:p>
          <a:p>
            <a:pPr>
              <a:lnSpc>
                <a:spcPct val="90000"/>
              </a:lnSpc>
            </a:pPr>
            <a:r>
              <a:rPr lang="zh-CN" altLang="en-US" sz="1800" dirty="0">
                <a:solidFill>
                  <a:srgbClr val="0000FF"/>
                </a:solidFill>
              </a:rPr>
              <a:t>单词模式用正则表达式来描述，对每个正则表达式给定一组相关的动作，也</a:t>
            </a:r>
            <a:r>
              <a:rPr lang="zh-CN" altLang="en-US" sz="1800" dirty="0"/>
              <a:t>可能包括返回一个标记。将其用一种特殊的句子结构来定义，称为</a:t>
            </a:r>
            <a:r>
              <a:rPr lang="en-US" altLang="zh-CN" sz="1800" dirty="0"/>
              <a:t>Lex</a:t>
            </a:r>
            <a:r>
              <a:rPr lang="zh-CN" altLang="en-US" sz="1800" dirty="0"/>
              <a:t>语言。 </a:t>
            </a:r>
          </a:p>
          <a:p>
            <a:pPr eaLnBrk="1" hangingPunct="1">
              <a:lnSpc>
                <a:spcPct val="90000"/>
              </a:lnSpc>
            </a:pPr>
            <a:r>
              <a:rPr lang="zh-CN" altLang="en-US" sz="1800" dirty="0"/>
              <a:t>当 </a:t>
            </a:r>
            <a:r>
              <a:rPr lang="en-US" altLang="zh-CN" sz="1800" dirty="0"/>
              <a:t>Lex </a:t>
            </a:r>
            <a:r>
              <a:rPr lang="zh-CN" altLang="en-US" sz="1800" dirty="0"/>
              <a:t>接收到用</a:t>
            </a:r>
            <a:r>
              <a:rPr lang="en-US" altLang="zh-CN" sz="1800" dirty="0" err="1"/>
              <a:t>lex</a:t>
            </a:r>
            <a:r>
              <a:rPr lang="zh-CN" altLang="en-US" sz="1800" dirty="0"/>
              <a:t>语言书写的文本时，一次读入一个输入字符，直到找到一个匹配的模式。</a:t>
            </a:r>
            <a:endParaRPr lang="en-US" altLang="zh-CN" sz="1800" dirty="0"/>
          </a:p>
          <a:p>
            <a:pPr>
              <a:lnSpc>
                <a:spcPct val="90000"/>
              </a:lnSpc>
            </a:pPr>
            <a:r>
              <a:rPr lang="zh-CN" altLang="en-US" sz="1800" dirty="0"/>
              <a:t>如果能够</a:t>
            </a:r>
            <a:r>
              <a:rPr lang="zh-CN" altLang="en-US" sz="1800" dirty="0">
                <a:solidFill>
                  <a:srgbClr val="FF0000"/>
                </a:solidFill>
              </a:rPr>
              <a:t>找到</a:t>
            </a:r>
            <a:r>
              <a:rPr lang="zh-CN" altLang="en-US" sz="1800" dirty="0"/>
              <a:t>一个</a:t>
            </a:r>
            <a:r>
              <a:rPr lang="zh-CN" altLang="en-US" sz="1800" dirty="0">
                <a:solidFill>
                  <a:srgbClr val="FF0000"/>
                </a:solidFill>
              </a:rPr>
              <a:t>匹配</a:t>
            </a:r>
            <a:r>
              <a:rPr lang="zh-CN" altLang="en-US" sz="1800" dirty="0"/>
              <a:t>的模式，</a:t>
            </a:r>
            <a:r>
              <a:rPr lang="en-US" altLang="zh-CN" sz="1800" dirty="0"/>
              <a:t>Lex </a:t>
            </a:r>
            <a:r>
              <a:rPr lang="zh-CN" altLang="en-US" sz="1800" dirty="0"/>
              <a:t>就</a:t>
            </a:r>
            <a:r>
              <a:rPr lang="zh-CN" altLang="en-US" sz="1800" dirty="0">
                <a:solidFill>
                  <a:srgbClr val="FF0000"/>
                </a:solidFill>
              </a:rPr>
              <a:t>执行相关的动作</a:t>
            </a:r>
            <a:r>
              <a:rPr lang="zh-CN" altLang="en-US" sz="1800" dirty="0"/>
              <a:t>。否则就会停止进一步的处理，显示一个错误消息。</a:t>
            </a:r>
          </a:p>
        </p:txBody>
      </p:sp>
      <p:sp>
        <p:nvSpPr>
          <p:cNvPr id="2" name="文本框 1">
            <a:extLst>
              <a:ext uri="{FF2B5EF4-FFF2-40B4-BE49-F238E27FC236}">
                <a16:creationId xmlns:a16="http://schemas.microsoft.com/office/drawing/2014/main" id="{86AC5338-8A04-94E8-6ADE-15D3A71B1389}"/>
              </a:ext>
            </a:extLst>
          </p:cNvPr>
          <p:cNvSpPr txBox="1"/>
          <p:nvPr/>
        </p:nvSpPr>
        <p:spPr>
          <a:xfrm>
            <a:off x="6060232" y="3138726"/>
            <a:ext cx="2808312"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dirty="0"/>
              <a:t>这里有</a:t>
            </a:r>
            <a:r>
              <a:rPr lang="en-US" altLang="zh-CN" dirty="0"/>
              <a:t>Flex</a:t>
            </a:r>
            <a:r>
              <a:rPr lang="zh-CN" altLang="en-US" dirty="0"/>
              <a:t>快速入门</a:t>
            </a:r>
            <a:endParaRPr lang="en-US" altLang="zh-CN" dirty="0"/>
          </a:p>
          <a:p>
            <a:r>
              <a:rPr lang="en-US" altLang="zh-CN" dirty="0"/>
              <a:t>https://www.ibm.com/developerworks/cn/linux/sdk/lex</a:t>
            </a:r>
            <a:endParaRPr lang="zh-CN" altLang="en-US" dirty="0"/>
          </a:p>
        </p:txBody>
      </p:sp>
      <p:pic>
        <p:nvPicPr>
          <p:cNvPr id="5" name="图片 4">
            <a:extLst>
              <a:ext uri="{FF2B5EF4-FFF2-40B4-BE49-F238E27FC236}">
                <a16:creationId xmlns:a16="http://schemas.microsoft.com/office/drawing/2014/main" id="{1C75103B-D751-21DE-EAC1-64592EDE503F}"/>
              </a:ext>
            </a:extLst>
          </p:cNvPr>
          <p:cNvPicPr>
            <a:picLocks noChangeAspect="1"/>
          </p:cNvPicPr>
          <p:nvPr/>
        </p:nvPicPr>
        <p:blipFill>
          <a:blip r:embed="rId2"/>
          <a:stretch>
            <a:fillRect/>
          </a:stretch>
        </p:blipFill>
        <p:spPr>
          <a:xfrm>
            <a:off x="275456" y="3138726"/>
            <a:ext cx="5784776" cy="1539570"/>
          </a:xfrm>
          <a:prstGeom prst="rect">
            <a:avLst/>
          </a:prstGeom>
          <a:ln>
            <a:solidFill>
              <a:srgbClr val="CC00FF"/>
            </a:solidFill>
          </a:ln>
        </p:spPr>
      </p:pic>
    </p:spTree>
    <p:extLst>
      <p:ext uri="{BB962C8B-B14F-4D97-AF65-F5344CB8AC3E}">
        <p14:creationId xmlns:p14="http://schemas.microsoft.com/office/powerpoint/2010/main" val="213844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uiExpand="1"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228600" y="0"/>
            <a:ext cx="8229600" cy="685800"/>
          </a:xfrm>
        </p:spPr>
        <p:txBody>
          <a:bodyPr/>
          <a:lstStyle/>
          <a:p>
            <a:pPr eaLnBrk="1" hangingPunct="1"/>
            <a:r>
              <a:rPr lang="zh-CN" altLang="en-US"/>
              <a:t>用</a:t>
            </a:r>
            <a:r>
              <a:rPr lang="en-US" altLang="zh-CN"/>
              <a:t>Lex</a:t>
            </a:r>
            <a:r>
              <a:rPr lang="zh-CN" altLang="en-US"/>
              <a:t>生成词法分析器</a:t>
            </a:r>
          </a:p>
        </p:txBody>
      </p:sp>
      <p:sp>
        <p:nvSpPr>
          <p:cNvPr id="94211" name="Rectangle 3"/>
          <p:cNvSpPr>
            <a:spLocks noGrp="1" noChangeArrowheads="1"/>
          </p:cNvSpPr>
          <p:nvPr>
            <p:ph type="body" idx="1"/>
          </p:nvPr>
        </p:nvSpPr>
        <p:spPr>
          <a:xfrm>
            <a:off x="201776" y="612659"/>
            <a:ext cx="8229600" cy="2286000"/>
          </a:xfrm>
        </p:spPr>
        <p:txBody>
          <a:bodyPr>
            <a:normAutofit/>
          </a:bodyPr>
          <a:lstStyle/>
          <a:p>
            <a:pPr eaLnBrk="1" hangingPunct="1"/>
            <a:r>
              <a:rPr lang="zh-CN" altLang="en-US" dirty="0"/>
              <a:t>分为三步： </a:t>
            </a:r>
          </a:p>
          <a:p>
            <a:pPr lvl="1" eaLnBrk="1" hangingPunct="1"/>
            <a:r>
              <a:rPr lang="zh-CN" altLang="en-US" dirty="0"/>
              <a:t>用</a:t>
            </a:r>
            <a:r>
              <a:rPr lang="en-US" altLang="zh-CN" dirty="0"/>
              <a:t>Lex </a:t>
            </a:r>
            <a:r>
              <a:rPr lang="zh-CN" altLang="en-US" dirty="0"/>
              <a:t>语言编写</a:t>
            </a:r>
            <a:r>
              <a:rPr lang="en-US" altLang="zh-CN" dirty="0"/>
              <a:t>Lex</a:t>
            </a:r>
            <a:r>
              <a:rPr lang="zh-CN" altLang="en-US" dirty="0"/>
              <a:t>源程序，将正则表达式及其相关的动作编写在</a:t>
            </a:r>
            <a:r>
              <a:rPr lang="en-US" altLang="zh-CN" dirty="0"/>
              <a:t>Lex</a:t>
            </a:r>
            <a:r>
              <a:rPr lang="zh-CN" altLang="en-US" dirty="0"/>
              <a:t>源程序中。 </a:t>
            </a:r>
          </a:p>
          <a:p>
            <a:pPr lvl="1" eaLnBrk="1" hangingPunct="1"/>
            <a:r>
              <a:rPr lang="zh-CN" altLang="en-US" dirty="0"/>
              <a:t>用 </a:t>
            </a:r>
            <a:r>
              <a:rPr lang="en-US" altLang="zh-CN" dirty="0"/>
              <a:t>Lex</a:t>
            </a:r>
            <a:r>
              <a:rPr lang="zh-CN" altLang="en-US" dirty="0"/>
              <a:t>编译器编译</a:t>
            </a:r>
            <a:r>
              <a:rPr lang="en-US" altLang="zh-CN" dirty="0"/>
              <a:t>Lex</a:t>
            </a:r>
            <a:r>
              <a:rPr lang="zh-CN" altLang="en-US" dirty="0"/>
              <a:t>源程序，生成扫描器的 </a:t>
            </a:r>
            <a:r>
              <a:rPr lang="en-US" altLang="zh-CN" dirty="0"/>
              <a:t>C </a:t>
            </a:r>
            <a:r>
              <a:rPr lang="zh-CN" altLang="en-US" dirty="0"/>
              <a:t>代码。</a:t>
            </a:r>
          </a:p>
          <a:p>
            <a:pPr lvl="1" eaLnBrk="1" hangingPunct="1"/>
            <a:r>
              <a:rPr lang="zh-CN" altLang="en-US" dirty="0"/>
              <a:t>编译和链接 </a:t>
            </a:r>
            <a:r>
              <a:rPr lang="en-US" altLang="zh-CN" dirty="0"/>
              <a:t>C </a:t>
            </a:r>
            <a:r>
              <a:rPr lang="zh-CN" altLang="en-US" dirty="0"/>
              <a:t>代码，生成可执行的扫描器。  </a:t>
            </a:r>
            <a:br>
              <a:rPr lang="zh-CN" altLang="en-US" dirty="0"/>
            </a:br>
            <a:endParaRPr lang="zh-CN" altLang="en-US" dirty="0"/>
          </a:p>
        </p:txBody>
      </p:sp>
      <p:sp>
        <p:nvSpPr>
          <p:cNvPr id="25" name="Rectangle 5"/>
          <p:cNvSpPr>
            <a:spLocks noChangeArrowheads="1"/>
          </p:cNvSpPr>
          <p:nvPr/>
        </p:nvSpPr>
        <p:spPr bwMode="auto">
          <a:xfrm>
            <a:off x="3881189" y="2968231"/>
            <a:ext cx="1895475" cy="494199"/>
          </a:xfrm>
          <a:prstGeom prst="rect">
            <a:avLst/>
          </a:prstGeom>
          <a:ln>
            <a:solidFill>
              <a:schemeClr val="tx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79200" tIns="7200" rIns="90000" bIns="10800"/>
          <a:lstStyle/>
          <a:p>
            <a:pPr algn="ctr">
              <a:defRPr/>
            </a:pPr>
            <a:r>
              <a:rPr lang="en-US" altLang="zh-CN" sz="2400" b="1" dirty="0" err="1">
                <a:solidFill>
                  <a:schemeClr val="bg1"/>
                </a:solidFill>
                <a:latin typeface="Times New Roman" pitchFamily="18" charset="0"/>
              </a:rPr>
              <a:t>Lex</a:t>
            </a:r>
            <a:r>
              <a:rPr lang="zh-CN" altLang="en-US" sz="2400" b="1" dirty="0">
                <a:solidFill>
                  <a:schemeClr val="bg1"/>
                </a:solidFill>
                <a:latin typeface="Times New Roman" pitchFamily="18" charset="0"/>
              </a:rPr>
              <a:t>编译器</a:t>
            </a:r>
          </a:p>
        </p:txBody>
      </p:sp>
      <p:sp>
        <p:nvSpPr>
          <p:cNvPr id="26" name="Line 6"/>
          <p:cNvSpPr>
            <a:spLocks noChangeShapeType="1"/>
          </p:cNvSpPr>
          <p:nvPr/>
        </p:nvSpPr>
        <p:spPr bwMode="auto">
          <a:xfrm flipV="1">
            <a:off x="2934018" y="3219822"/>
            <a:ext cx="947810"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27" name="Line 7"/>
          <p:cNvSpPr>
            <a:spLocks noChangeShapeType="1"/>
          </p:cNvSpPr>
          <p:nvPr/>
        </p:nvSpPr>
        <p:spPr bwMode="auto">
          <a:xfrm>
            <a:off x="5777445" y="3219822"/>
            <a:ext cx="779047"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28" name="Rectangle 8"/>
          <p:cNvSpPr>
            <a:spLocks noChangeArrowheads="1"/>
          </p:cNvSpPr>
          <p:nvPr/>
        </p:nvSpPr>
        <p:spPr bwMode="auto">
          <a:xfrm>
            <a:off x="673856" y="2968231"/>
            <a:ext cx="2273532" cy="49419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en-US" altLang="zh-CN" sz="2400" b="1" dirty="0">
                <a:solidFill>
                  <a:srgbClr val="000000"/>
                </a:solidFill>
                <a:latin typeface="Times New Roman" pitchFamily="18" charset="0"/>
              </a:rPr>
              <a:t>Lex</a:t>
            </a:r>
            <a:r>
              <a:rPr lang="zh-CN" altLang="en-US" sz="2400" b="1" dirty="0">
                <a:solidFill>
                  <a:srgbClr val="000000"/>
                </a:solidFill>
                <a:latin typeface="Times New Roman" pitchFamily="18" charset="0"/>
              </a:rPr>
              <a:t>源程序</a:t>
            </a:r>
            <a:r>
              <a:rPr lang="en-US" altLang="zh-CN" sz="2400" b="1" dirty="0" err="1">
                <a:solidFill>
                  <a:srgbClr val="000000"/>
                </a:solidFill>
                <a:latin typeface="Times New Roman" pitchFamily="18" charset="0"/>
              </a:rPr>
              <a:t>lex.l</a:t>
            </a:r>
            <a:endParaRPr lang="en-US" altLang="zh-CN" sz="2400" b="1" dirty="0">
              <a:solidFill>
                <a:srgbClr val="000000"/>
              </a:solidFill>
              <a:latin typeface="Times New Roman" pitchFamily="18" charset="0"/>
            </a:endParaRPr>
          </a:p>
        </p:txBody>
      </p:sp>
      <p:sp>
        <p:nvSpPr>
          <p:cNvPr id="29" name="Rectangle 9"/>
          <p:cNvSpPr>
            <a:spLocks noChangeArrowheads="1"/>
          </p:cNvSpPr>
          <p:nvPr/>
        </p:nvSpPr>
        <p:spPr bwMode="auto">
          <a:xfrm>
            <a:off x="6588224" y="2968231"/>
            <a:ext cx="2191971" cy="46957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en-US" altLang="zh-CN" sz="2400" b="1" dirty="0" err="1">
                <a:solidFill>
                  <a:srgbClr val="000000"/>
                </a:solidFill>
                <a:latin typeface="Times New Roman" pitchFamily="18" charset="0"/>
              </a:rPr>
              <a:t>lexyy.c</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lex.yy.c</a:t>
            </a:r>
            <a:r>
              <a:rPr lang="en-US" altLang="zh-CN" sz="2400" b="1" dirty="0">
                <a:solidFill>
                  <a:srgbClr val="000000"/>
                </a:solidFill>
                <a:latin typeface="Times New Roman" pitchFamily="18" charset="0"/>
              </a:rPr>
              <a:t>)</a:t>
            </a:r>
          </a:p>
        </p:txBody>
      </p:sp>
      <p:sp>
        <p:nvSpPr>
          <p:cNvPr id="30" name="Rectangle 10"/>
          <p:cNvSpPr>
            <a:spLocks noChangeArrowheads="1"/>
          </p:cNvSpPr>
          <p:nvPr/>
        </p:nvSpPr>
        <p:spPr bwMode="auto">
          <a:xfrm>
            <a:off x="4100552" y="3724218"/>
            <a:ext cx="1632277" cy="41488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9200" tIns="7200" rIns="90000" bIns="10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400" b="1" dirty="0">
                <a:solidFill>
                  <a:srgbClr val="000000"/>
                </a:solidFill>
                <a:latin typeface="Times New Roman" pitchFamily="18" charset="0"/>
              </a:rPr>
              <a:t>C</a:t>
            </a:r>
            <a:r>
              <a:rPr lang="zh-CN" altLang="en-US" sz="2400" b="1" dirty="0">
                <a:solidFill>
                  <a:srgbClr val="000000"/>
                </a:solidFill>
                <a:latin typeface="Times New Roman" pitchFamily="18" charset="0"/>
              </a:rPr>
              <a:t>编译器</a:t>
            </a:r>
          </a:p>
        </p:txBody>
      </p:sp>
      <p:sp>
        <p:nvSpPr>
          <p:cNvPr id="31" name="Line 11"/>
          <p:cNvSpPr>
            <a:spLocks noChangeShapeType="1"/>
          </p:cNvSpPr>
          <p:nvPr/>
        </p:nvSpPr>
        <p:spPr bwMode="auto">
          <a:xfrm>
            <a:off x="4829636" y="4155988"/>
            <a:ext cx="1" cy="377798"/>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32" name="Line 12"/>
          <p:cNvSpPr>
            <a:spLocks noChangeShapeType="1"/>
          </p:cNvSpPr>
          <p:nvPr/>
        </p:nvSpPr>
        <p:spPr bwMode="auto">
          <a:xfrm flipH="1">
            <a:off x="5777446" y="3454363"/>
            <a:ext cx="2041436" cy="539711"/>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33" name="Rectangle 14"/>
          <p:cNvSpPr>
            <a:spLocks noChangeArrowheads="1"/>
          </p:cNvSpPr>
          <p:nvPr/>
        </p:nvSpPr>
        <p:spPr bwMode="auto">
          <a:xfrm>
            <a:off x="4100552" y="4574404"/>
            <a:ext cx="1608703" cy="50562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25400">
            <a:solidFill>
              <a:schemeClr val="tx1"/>
            </a:solidFill>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en-US" altLang="zh-CN" sz="2400" b="1" dirty="0">
                <a:solidFill>
                  <a:srgbClr val="000000"/>
                </a:solidFill>
                <a:latin typeface="Times New Roman" pitchFamily="18" charset="0"/>
              </a:rPr>
              <a:t>lexyy.exe</a:t>
            </a:r>
          </a:p>
        </p:txBody>
      </p:sp>
      <p:sp>
        <p:nvSpPr>
          <p:cNvPr id="34" name="Line 16"/>
          <p:cNvSpPr>
            <a:spLocks noChangeShapeType="1"/>
          </p:cNvSpPr>
          <p:nvPr/>
        </p:nvSpPr>
        <p:spPr bwMode="auto">
          <a:xfrm flipV="1">
            <a:off x="3225651" y="4803998"/>
            <a:ext cx="874901"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35" name="Line 17"/>
          <p:cNvSpPr>
            <a:spLocks noChangeShapeType="1"/>
          </p:cNvSpPr>
          <p:nvPr/>
        </p:nvSpPr>
        <p:spPr bwMode="auto">
          <a:xfrm>
            <a:off x="5704537" y="4803998"/>
            <a:ext cx="1020718"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36" name="Rectangle 18"/>
          <p:cNvSpPr>
            <a:spLocks noChangeArrowheads="1"/>
          </p:cNvSpPr>
          <p:nvPr/>
        </p:nvSpPr>
        <p:spPr bwMode="auto">
          <a:xfrm>
            <a:off x="2059116" y="4574403"/>
            <a:ext cx="1157881" cy="505625"/>
          </a:xfrm>
          <a:prstGeom prst="rect">
            <a:avLst/>
          </a:prstGeom>
          <a:solidFill>
            <a:srgbClr val="FFFFFF"/>
          </a:solidFill>
          <a:ln w="25400">
            <a:solidFill>
              <a:schemeClr val="tx1"/>
            </a:solidFill>
            <a:prstDash val="dash"/>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zh-CN" altLang="en-US" sz="2400" b="1" dirty="0">
                <a:solidFill>
                  <a:srgbClr val="000000"/>
                </a:solidFill>
                <a:latin typeface="Times New Roman" pitchFamily="18" charset="0"/>
              </a:rPr>
              <a:t>输入流</a:t>
            </a:r>
          </a:p>
        </p:txBody>
      </p:sp>
      <p:sp>
        <p:nvSpPr>
          <p:cNvPr id="37" name="Rectangle 19"/>
          <p:cNvSpPr>
            <a:spLocks noChangeArrowheads="1"/>
          </p:cNvSpPr>
          <p:nvPr/>
        </p:nvSpPr>
        <p:spPr bwMode="auto">
          <a:xfrm>
            <a:off x="6702310" y="4586408"/>
            <a:ext cx="1408205" cy="505625"/>
          </a:xfrm>
          <a:prstGeom prst="rect">
            <a:avLst/>
          </a:pr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zh-CN" altLang="en-US" sz="2400" b="1">
                <a:solidFill>
                  <a:srgbClr val="000000"/>
                </a:solidFill>
                <a:latin typeface="Times New Roman" pitchFamily="18" charset="0"/>
              </a:rPr>
              <a:t>记号序列</a:t>
            </a:r>
          </a:p>
        </p:txBody>
      </p:sp>
      <p:sp>
        <p:nvSpPr>
          <p:cNvPr id="38" name="椭圆 37"/>
          <p:cNvSpPr/>
          <p:nvPr/>
        </p:nvSpPr>
        <p:spPr bwMode="auto">
          <a:xfrm>
            <a:off x="3563888" y="2571751"/>
            <a:ext cx="582612" cy="54116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solidFill>
                  <a:srgbClr val="FF0000"/>
                </a:solidFill>
              </a:rPr>
              <a:t>2</a:t>
            </a:r>
            <a:endParaRPr lang="zh-CN" altLang="en-US" sz="3200" b="1" dirty="0">
              <a:solidFill>
                <a:srgbClr val="FF0000"/>
              </a:solidFill>
            </a:endParaRPr>
          </a:p>
        </p:txBody>
      </p:sp>
      <p:sp>
        <p:nvSpPr>
          <p:cNvPr id="39" name="椭圆 38"/>
          <p:cNvSpPr/>
          <p:nvPr/>
        </p:nvSpPr>
        <p:spPr bwMode="auto">
          <a:xfrm>
            <a:off x="309314" y="2571751"/>
            <a:ext cx="582613" cy="486295"/>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solidFill>
                  <a:srgbClr val="FF0000"/>
                </a:solidFill>
              </a:rPr>
              <a:t>1</a:t>
            </a:r>
            <a:endParaRPr lang="zh-CN" altLang="en-US" sz="3200" b="1" dirty="0">
              <a:solidFill>
                <a:srgbClr val="FF0000"/>
              </a:solidFill>
            </a:endParaRPr>
          </a:p>
        </p:txBody>
      </p:sp>
      <p:sp>
        <p:nvSpPr>
          <p:cNvPr id="40" name="椭圆 39"/>
          <p:cNvSpPr/>
          <p:nvPr/>
        </p:nvSpPr>
        <p:spPr bwMode="auto">
          <a:xfrm>
            <a:off x="3663101" y="3462430"/>
            <a:ext cx="582612" cy="69349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solidFill>
                  <a:srgbClr val="FF0000"/>
                </a:solidFill>
              </a:rPr>
              <a:t>3</a:t>
            </a:r>
            <a:endParaRPr lang="zh-CN" altLang="en-US" sz="3200" b="1" dirty="0">
              <a:solidFill>
                <a:srgbClr val="FF0000"/>
              </a:solidFill>
            </a:endParaRPr>
          </a:p>
        </p:txBody>
      </p:sp>
    </p:spTree>
    <p:extLst>
      <p:ext uri="{BB962C8B-B14F-4D97-AF65-F5344CB8AC3E}">
        <p14:creationId xmlns:p14="http://schemas.microsoft.com/office/powerpoint/2010/main" val="264735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500"/>
                                        <p:tgtEl>
                                          <p:spTgt spid="2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up)">
                                      <p:cBhvr>
                                        <p:cTn id="32" dur="500"/>
                                        <p:tgtEl>
                                          <p:spTgt spid="32"/>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up)">
                                      <p:cBhvr>
                                        <p:cTn id="35" dur="500"/>
                                        <p:tgtEl>
                                          <p:spTgt spid="40"/>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up)">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wipe(left)">
                                      <p:cBhvr>
                                        <p:cTn id="50" dur="500"/>
                                        <p:tgtEl>
                                          <p:spTgt spid="3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left)">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wipe(left)">
                                      <p:cBhvr>
                                        <p:cTn id="58" dur="500"/>
                                        <p:tgtEl>
                                          <p:spTgt spid="35"/>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left)">
                                      <p:cBhvr>
                                        <p:cTn id="6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ChangeArrowheads="1"/>
          </p:cNvSpPr>
          <p:nvPr>
            <p:ph type="body" idx="1"/>
          </p:nvPr>
        </p:nvSpPr>
        <p:spPr>
          <a:xfrm>
            <a:off x="685800" y="685800"/>
            <a:ext cx="8458200" cy="742950"/>
          </a:xfrm>
        </p:spPr>
        <p:txBody>
          <a:bodyPr>
            <a:normAutofit fontScale="92500" lnSpcReduction="20000"/>
          </a:bodyPr>
          <a:lstStyle/>
          <a:p>
            <a:pPr eaLnBrk="1" hangingPunct="1">
              <a:spcBef>
                <a:spcPct val="0"/>
              </a:spcBef>
            </a:pPr>
            <a:r>
              <a:rPr lang="en-US" altLang="zh-CN" sz="2800" dirty="0" err="1">
                <a:solidFill>
                  <a:srgbClr val="003300"/>
                </a:solidFill>
                <a:latin typeface="宋体" pitchFamily="2" charset="-122"/>
              </a:rPr>
              <a:t>Lex.l</a:t>
            </a:r>
            <a:r>
              <a:rPr lang="zh-CN" altLang="en-US" sz="2800" dirty="0">
                <a:solidFill>
                  <a:srgbClr val="003300"/>
                </a:solidFill>
                <a:latin typeface="宋体" pitchFamily="2" charset="-122"/>
              </a:rPr>
              <a:t>文件用来描述正则表达式及其动作</a:t>
            </a:r>
            <a:endParaRPr lang="en-US" altLang="zh-CN" sz="2800" dirty="0">
              <a:solidFill>
                <a:srgbClr val="003300"/>
              </a:solidFill>
              <a:latin typeface="宋体" pitchFamily="2" charset="-122"/>
            </a:endParaRPr>
          </a:p>
          <a:p>
            <a:pPr eaLnBrk="1" hangingPunct="1">
              <a:spcBef>
                <a:spcPct val="0"/>
              </a:spcBef>
            </a:pPr>
            <a:r>
              <a:rPr lang="zh-CN" altLang="en-US" sz="2800" dirty="0">
                <a:solidFill>
                  <a:srgbClr val="003300"/>
                </a:solidFill>
                <a:latin typeface="宋体" pitchFamily="2" charset="-122"/>
              </a:rPr>
              <a:t>格式（包括三个部分）</a:t>
            </a:r>
          </a:p>
          <a:p>
            <a:pPr algn="just" eaLnBrk="1" hangingPunct="1">
              <a:spcBef>
                <a:spcPct val="0"/>
              </a:spcBef>
              <a:buFontTx/>
              <a:buNone/>
            </a:pPr>
            <a:endParaRPr lang="en-US" altLang="zh-CN" sz="3600" dirty="0">
              <a:latin typeface="宋体" pitchFamily="2" charset="-122"/>
            </a:endParaRPr>
          </a:p>
        </p:txBody>
      </p:sp>
      <p:sp>
        <p:nvSpPr>
          <p:cNvPr id="56324" name="Rectangle 4"/>
          <p:cNvSpPr>
            <a:spLocks noChangeArrowheads="1"/>
          </p:cNvSpPr>
          <p:nvPr/>
        </p:nvSpPr>
        <p:spPr bwMode="auto">
          <a:xfrm>
            <a:off x="1042989" y="1466851"/>
            <a:ext cx="2790825" cy="2246769"/>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eaLnBrk="1" hangingPunct="1">
              <a:defRPr/>
            </a:pPr>
            <a:r>
              <a:rPr lang="en-US" altLang="zh-CN" sz="2800" dirty="0">
                <a:solidFill>
                  <a:srgbClr val="000000"/>
                </a:solidFill>
              </a:rPr>
              <a:t>  </a:t>
            </a:r>
            <a:r>
              <a:rPr lang="zh-CN" altLang="en-US" sz="2800" b="1" dirty="0">
                <a:solidFill>
                  <a:srgbClr val="000000"/>
                </a:solidFill>
              </a:rPr>
              <a:t>声明</a:t>
            </a:r>
          </a:p>
          <a:p>
            <a:pPr eaLnBrk="1" hangingPunct="1">
              <a:defRPr/>
            </a:pPr>
            <a:r>
              <a:rPr lang="zh-CN" altLang="en-US" sz="2800" b="1" dirty="0">
                <a:solidFill>
                  <a:srgbClr val="000000"/>
                </a:solidFill>
              </a:rPr>
              <a:t>  ％％</a:t>
            </a:r>
          </a:p>
          <a:p>
            <a:pPr eaLnBrk="1" hangingPunct="1">
              <a:defRPr/>
            </a:pPr>
            <a:r>
              <a:rPr lang="zh-CN" altLang="en-US" sz="2800" b="1" dirty="0">
                <a:solidFill>
                  <a:srgbClr val="000000"/>
                </a:solidFill>
              </a:rPr>
              <a:t>  翻译规则</a:t>
            </a:r>
          </a:p>
          <a:p>
            <a:pPr eaLnBrk="1" hangingPunct="1">
              <a:defRPr/>
            </a:pPr>
            <a:r>
              <a:rPr lang="zh-CN" altLang="en-US" sz="2800" b="1" dirty="0">
                <a:solidFill>
                  <a:srgbClr val="000000"/>
                </a:solidFill>
              </a:rPr>
              <a:t>  ％％</a:t>
            </a:r>
          </a:p>
          <a:p>
            <a:pPr eaLnBrk="1" hangingPunct="1">
              <a:defRPr/>
            </a:pPr>
            <a:r>
              <a:rPr lang="zh-CN" altLang="en-US" sz="2800" b="1" dirty="0">
                <a:solidFill>
                  <a:srgbClr val="000000"/>
                </a:solidFill>
              </a:rPr>
              <a:t>  辅助过程</a:t>
            </a:r>
          </a:p>
        </p:txBody>
      </p:sp>
      <p:sp>
        <p:nvSpPr>
          <p:cNvPr id="56325" name="AutoShape 5"/>
          <p:cNvSpPr>
            <a:spLocks/>
          </p:cNvSpPr>
          <p:nvPr/>
        </p:nvSpPr>
        <p:spPr bwMode="auto">
          <a:xfrm>
            <a:off x="4459288" y="1560910"/>
            <a:ext cx="4184650" cy="1183213"/>
          </a:xfrm>
          <a:prstGeom prst="borderCallout1">
            <a:avLst>
              <a:gd name="adj1" fmla="val -2833"/>
              <a:gd name="adj2" fmla="val 97213"/>
              <a:gd name="adj3" fmla="val -2833"/>
              <a:gd name="adj4" fmla="val -54083"/>
            </a:avLst>
          </a:prstGeom>
          <a:ln>
            <a:headEnd/>
            <a:tailEnd/>
          </a:ln>
        </p:spPr>
        <p:style>
          <a:lnRef idx="2">
            <a:schemeClr val="accent4"/>
          </a:lnRef>
          <a:fillRef idx="1">
            <a:schemeClr val="lt1"/>
          </a:fillRef>
          <a:effectRef idx="0">
            <a:schemeClr val="accent4"/>
          </a:effectRef>
          <a:fontRef idx="minor">
            <a:schemeClr val="dk1"/>
          </a:fontRef>
        </p:style>
        <p:txBody>
          <a:bodyPr/>
          <a:lstStyle/>
          <a:p>
            <a:pPr eaLnBrk="1" hangingPunct="1">
              <a:defRPr/>
            </a:pPr>
            <a:r>
              <a:rPr lang="zh-CN" altLang="en-US" dirty="0">
                <a:solidFill>
                  <a:schemeClr val="tx1"/>
                </a:solidFill>
              </a:rPr>
              <a:t>包括</a:t>
            </a:r>
            <a:r>
              <a:rPr lang="zh-CN" altLang="en-US" dirty="0">
                <a:solidFill>
                  <a:srgbClr val="FF0000"/>
                </a:solidFill>
              </a:rPr>
              <a:t>变量声明、常量定义和正则表达式定义</a:t>
            </a:r>
            <a:r>
              <a:rPr lang="zh-CN" altLang="en-US" dirty="0">
                <a:solidFill>
                  <a:schemeClr val="tx1"/>
                </a:solidFill>
              </a:rPr>
              <a:t>。变量声明、常量定义遵循</a:t>
            </a:r>
            <a:r>
              <a:rPr lang="en-US" altLang="zh-CN" dirty="0">
                <a:solidFill>
                  <a:schemeClr val="tx1"/>
                </a:solidFill>
              </a:rPr>
              <a:t>C</a:t>
            </a:r>
            <a:r>
              <a:rPr lang="zh-CN" altLang="en-US" dirty="0">
                <a:solidFill>
                  <a:schemeClr val="tx1"/>
                </a:solidFill>
              </a:rPr>
              <a:t>语言的定义，常量和变量在后续的</a:t>
            </a:r>
            <a:r>
              <a:rPr lang="en-US" altLang="zh-CN" dirty="0">
                <a:solidFill>
                  <a:schemeClr val="tx1"/>
                </a:solidFill>
              </a:rPr>
              <a:t>C</a:t>
            </a:r>
            <a:r>
              <a:rPr lang="zh-CN" altLang="en-US" dirty="0">
                <a:solidFill>
                  <a:schemeClr val="tx1"/>
                </a:solidFill>
              </a:rPr>
              <a:t>程序中使用。</a:t>
            </a:r>
          </a:p>
        </p:txBody>
      </p:sp>
      <p:sp>
        <p:nvSpPr>
          <p:cNvPr id="95237" name="Rectangle 2"/>
          <p:cNvSpPr>
            <a:spLocks noGrp="1" noChangeArrowheads="1"/>
          </p:cNvSpPr>
          <p:nvPr>
            <p:ph type="title"/>
          </p:nvPr>
        </p:nvSpPr>
        <p:spPr>
          <a:xfrm>
            <a:off x="228600" y="1"/>
            <a:ext cx="8229600" cy="527447"/>
          </a:xfrm>
        </p:spPr>
        <p:txBody>
          <a:bodyPr>
            <a:normAutofit fontScale="90000"/>
          </a:bodyPr>
          <a:lstStyle/>
          <a:p>
            <a:pPr>
              <a:lnSpc>
                <a:spcPct val="172000"/>
              </a:lnSpc>
              <a:spcBef>
                <a:spcPts val="800"/>
              </a:spcBef>
              <a:spcAft>
                <a:spcPts val="300"/>
              </a:spcAft>
            </a:pPr>
            <a:r>
              <a:rPr kumimoji="1" lang="zh-CN" altLang="zh-CN" sz="5400" b="1" dirty="0">
                <a:solidFill>
                  <a:srgbClr val="CC0099"/>
                </a:solidFill>
                <a:ea typeface="隶书" pitchFamily="49" charset="-122"/>
              </a:rPr>
              <a:t>Lex源文件的书写</a:t>
            </a:r>
          </a:p>
        </p:txBody>
      </p:sp>
      <p:sp>
        <p:nvSpPr>
          <p:cNvPr id="8" name="椭圆 7"/>
          <p:cNvSpPr/>
          <p:nvPr/>
        </p:nvSpPr>
        <p:spPr>
          <a:xfrm>
            <a:off x="457200" y="1428750"/>
            <a:ext cx="685800" cy="4000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b="1" dirty="0">
                <a:solidFill>
                  <a:srgbClr val="FF0000"/>
                </a:solidFill>
              </a:rPr>
              <a:t>1</a:t>
            </a:r>
            <a:endParaRPr lang="zh-CN" altLang="en-US" b="1" dirty="0">
              <a:solidFill>
                <a:srgbClr val="FF0000"/>
              </a:solidFill>
            </a:endParaRPr>
          </a:p>
        </p:txBody>
      </p:sp>
      <p:sp>
        <p:nvSpPr>
          <p:cNvPr id="9" name="矩形 8"/>
          <p:cNvSpPr/>
          <p:nvPr/>
        </p:nvSpPr>
        <p:spPr>
          <a:xfrm>
            <a:off x="3960813" y="3693319"/>
            <a:ext cx="518160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80000"/>
              </a:lnSpc>
              <a:defRPr/>
            </a:pPr>
            <a:r>
              <a:rPr lang="en-US" altLang="zh-CN" dirty="0">
                <a:solidFill>
                  <a:srgbClr val="C00000"/>
                </a:solidFill>
              </a:rPr>
              <a:t>%{</a:t>
            </a:r>
          </a:p>
          <a:p>
            <a:pPr eaLnBrk="1" hangingPunct="1">
              <a:lnSpc>
                <a:spcPct val="80000"/>
              </a:lnSpc>
              <a:defRPr/>
            </a:pPr>
            <a:r>
              <a:rPr lang="en-US" altLang="zh-CN" dirty="0">
                <a:solidFill>
                  <a:srgbClr val="C00000"/>
                </a:solidFill>
              </a:rPr>
              <a:t>    #include&lt;</a:t>
            </a:r>
            <a:r>
              <a:rPr lang="en-US" altLang="zh-CN" dirty="0" err="1">
                <a:solidFill>
                  <a:srgbClr val="C00000"/>
                </a:solidFill>
              </a:rPr>
              <a:t>stdio.h</a:t>
            </a:r>
            <a:r>
              <a:rPr lang="en-US" altLang="zh-CN" dirty="0">
                <a:solidFill>
                  <a:srgbClr val="C00000"/>
                </a:solidFill>
              </a:rPr>
              <a:t>&gt;</a:t>
            </a:r>
          </a:p>
          <a:p>
            <a:pPr eaLnBrk="1" hangingPunct="1">
              <a:lnSpc>
                <a:spcPct val="80000"/>
              </a:lnSpc>
              <a:defRPr/>
            </a:pPr>
            <a:r>
              <a:rPr lang="en-US" altLang="zh-CN" dirty="0">
                <a:solidFill>
                  <a:srgbClr val="C00000"/>
                </a:solidFill>
              </a:rPr>
              <a:t>    </a:t>
            </a:r>
            <a:r>
              <a:rPr lang="en-US" altLang="zh-CN" dirty="0" err="1">
                <a:solidFill>
                  <a:srgbClr val="C00000"/>
                </a:solidFill>
              </a:rPr>
              <a:t>int</a:t>
            </a:r>
            <a:r>
              <a:rPr lang="en-US" altLang="zh-CN" dirty="0">
                <a:solidFill>
                  <a:srgbClr val="C00000"/>
                </a:solidFill>
              </a:rPr>
              <a:t> </a:t>
            </a:r>
            <a:r>
              <a:rPr lang="en-US" altLang="zh-CN" dirty="0" err="1">
                <a:solidFill>
                  <a:srgbClr val="C00000"/>
                </a:solidFill>
              </a:rPr>
              <a:t>num_chars</a:t>
            </a:r>
            <a:r>
              <a:rPr lang="en-US" altLang="zh-CN" dirty="0">
                <a:solidFill>
                  <a:srgbClr val="C00000"/>
                </a:solidFill>
              </a:rPr>
              <a:t>=0;/*</a:t>
            </a:r>
            <a:r>
              <a:rPr lang="zh-CN" altLang="en-US" dirty="0">
                <a:solidFill>
                  <a:srgbClr val="C00000"/>
                </a:solidFill>
              </a:rPr>
              <a:t>全局变量</a:t>
            </a:r>
            <a:endParaRPr lang="en-US" altLang="zh-CN" dirty="0">
              <a:solidFill>
                <a:srgbClr val="C00000"/>
              </a:solidFill>
            </a:endParaRPr>
          </a:p>
          <a:p>
            <a:pPr eaLnBrk="1" hangingPunct="1">
              <a:lnSpc>
                <a:spcPct val="80000"/>
              </a:lnSpc>
              <a:defRPr/>
            </a:pPr>
            <a:r>
              <a:rPr lang="zh-CN" altLang="en-US" dirty="0">
                <a:solidFill>
                  <a:srgbClr val="C00000"/>
                </a:solidFill>
              </a:rPr>
              <a:t>定义，初值为</a:t>
            </a:r>
            <a:r>
              <a:rPr lang="en-US" altLang="zh-CN" dirty="0">
                <a:solidFill>
                  <a:srgbClr val="C00000"/>
                </a:solidFill>
              </a:rPr>
              <a:t>0*/</a:t>
            </a:r>
          </a:p>
          <a:p>
            <a:pPr eaLnBrk="1" hangingPunct="1">
              <a:lnSpc>
                <a:spcPct val="80000"/>
              </a:lnSpc>
              <a:defRPr/>
            </a:pPr>
            <a:r>
              <a:rPr lang="en-US" altLang="zh-CN" dirty="0">
                <a:solidFill>
                  <a:srgbClr val="C00000"/>
                </a:solidFill>
              </a:rPr>
              <a:t>%}</a:t>
            </a:r>
          </a:p>
        </p:txBody>
      </p:sp>
      <p:sp>
        <p:nvSpPr>
          <p:cNvPr id="10" name="矩形 9"/>
          <p:cNvSpPr/>
          <p:nvPr/>
        </p:nvSpPr>
        <p:spPr>
          <a:xfrm>
            <a:off x="628304" y="3914918"/>
            <a:ext cx="3200400" cy="107721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marL="268288" indent="-268288" eaLnBrk="1" hangingPunct="1">
              <a:lnSpc>
                <a:spcPct val="80000"/>
              </a:lnSpc>
              <a:buFont typeface="Arial" pitchFamily="34" charset="0"/>
              <a:buChar char="•"/>
              <a:defRPr/>
            </a:pPr>
            <a:r>
              <a:rPr lang="zh-CN" altLang="en-US" sz="2000" dirty="0">
                <a:solidFill>
                  <a:srgbClr val="003300"/>
                </a:solidFill>
                <a:effectLst>
                  <a:outerShdw blurRad="38100" dist="38100" dir="2700000" algn="tl">
                    <a:srgbClr val="C0C0C0"/>
                  </a:outerShdw>
                </a:effectLst>
                <a:latin typeface="宋体" pitchFamily="2" charset="-122"/>
              </a:rPr>
              <a:t>如果包含</a:t>
            </a:r>
            <a:r>
              <a:rPr lang="en-US" altLang="zh-CN" sz="2000" dirty="0">
                <a:solidFill>
                  <a:srgbClr val="003300"/>
                </a:solidFill>
                <a:effectLst>
                  <a:outerShdw blurRad="38100" dist="38100" dir="2700000" algn="tl">
                    <a:srgbClr val="C0C0C0"/>
                  </a:outerShdw>
                </a:effectLst>
                <a:latin typeface="宋体" pitchFamily="2" charset="-122"/>
              </a:rPr>
              <a:t>C</a:t>
            </a:r>
            <a:r>
              <a:rPr lang="zh-CN" altLang="en-US" sz="2000" dirty="0">
                <a:solidFill>
                  <a:srgbClr val="003300"/>
                </a:solidFill>
                <a:effectLst>
                  <a:outerShdw blurRad="38100" dist="38100" dir="2700000" algn="tl">
                    <a:srgbClr val="C0C0C0"/>
                  </a:outerShdw>
                </a:effectLst>
                <a:latin typeface="宋体" pitchFamily="2" charset="-122"/>
              </a:rPr>
              <a:t>语言的变量声明、常量定义，预处理语句等，需要用</a:t>
            </a:r>
            <a:r>
              <a:rPr lang="en-US" altLang="zh-CN" sz="2000" dirty="0">
                <a:solidFill>
                  <a:srgbClr val="003300"/>
                </a:solidFill>
                <a:effectLst>
                  <a:outerShdw blurRad="38100" dist="38100" dir="2700000" algn="tl">
                    <a:srgbClr val="C0C0C0"/>
                  </a:outerShdw>
                </a:effectLst>
                <a:latin typeface="宋体" pitchFamily="2" charset="-122"/>
              </a:rPr>
              <a:t>%{</a:t>
            </a:r>
            <a:r>
              <a:rPr lang="zh-CN" altLang="en-US" sz="2000" dirty="0">
                <a:solidFill>
                  <a:srgbClr val="003300"/>
                </a:solidFill>
                <a:effectLst>
                  <a:outerShdw blurRad="38100" dist="38100" dir="2700000" algn="tl">
                    <a:srgbClr val="C0C0C0"/>
                  </a:outerShdw>
                </a:effectLst>
                <a:latin typeface="宋体" pitchFamily="2" charset="-122"/>
              </a:rPr>
              <a:t>和</a:t>
            </a:r>
            <a:r>
              <a:rPr lang="en-US" altLang="zh-CN" sz="2000" dirty="0">
                <a:solidFill>
                  <a:srgbClr val="003300"/>
                </a:solidFill>
                <a:effectLst>
                  <a:outerShdw blurRad="38100" dist="38100" dir="2700000" algn="tl">
                    <a:srgbClr val="C0C0C0"/>
                  </a:outerShdw>
                </a:effectLst>
                <a:latin typeface="宋体" pitchFamily="2" charset="-122"/>
              </a:rPr>
              <a:t>%}</a:t>
            </a:r>
            <a:r>
              <a:rPr lang="zh-CN" altLang="en-US" sz="2000" dirty="0">
                <a:solidFill>
                  <a:srgbClr val="003300"/>
                </a:solidFill>
                <a:effectLst>
                  <a:outerShdw blurRad="38100" dist="38100" dir="2700000" algn="tl">
                    <a:srgbClr val="C0C0C0"/>
                  </a:outerShdw>
                </a:effectLst>
                <a:latin typeface="宋体" pitchFamily="2" charset="-122"/>
              </a:rPr>
              <a:t>括起来</a:t>
            </a:r>
            <a:endParaRPr lang="en-US" altLang="zh-CN" sz="2000" dirty="0">
              <a:solidFill>
                <a:srgbClr val="003300"/>
              </a:solidFill>
              <a:effectLst>
                <a:outerShdw blurRad="38100" dist="38100" dir="2700000" algn="tl">
                  <a:srgbClr val="C0C0C0"/>
                </a:outerShdw>
              </a:effectLst>
              <a:latin typeface="宋体" pitchFamily="2" charset="-122"/>
            </a:endParaRPr>
          </a:p>
        </p:txBody>
      </p:sp>
    </p:spTree>
    <p:extLst>
      <p:ext uri="{BB962C8B-B14F-4D97-AF65-F5344CB8AC3E}">
        <p14:creationId xmlns:p14="http://schemas.microsoft.com/office/powerpoint/2010/main" val="2018316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animBg="1"/>
      <p:bldP spid="8" grpId="0" animBg="1"/>
      <p:bldP spid="9" grpId="0" animBg="1"/>
      <p:bldP spid="10"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395536" y="123478"/>
            <a:ext cx="8229600" cy="571500"/>
          </a:xfrm>
        </p:spPr>
        <p:txBody>
          <a:bodyPr>
            <a:normAutofit fontScale="90000"/>
          </a:bodyPr>
          <a:lstStyle/>
          <a:p>
            <a:pPr eaLnBrk="1" hangingPunct="1"/>
            <a:r>
              <a:rPr lang="en-US" altLang="zh-CN" dirty="0"/>
              <a:t>Lex </a:t>
            </a:r>
            <a:r>
              <a:rPr lang="zh-CN" altLang="en-US" dirty="0"/>
              <a:t>的正则定义式 </a:t>
            </a:r>
          </a:p>
        </p:txBody>
      </p:sp>
      <p:sp>
        <p:nvSpPr>
          <p:cNvPr id="96259" name="Rectangle 3"/>
          <p:cNvSpPr>
            <a:spLocks noGrp="1" noChangeArrowheads="1"/>
          </p:cNvSpPr>
          <p:nvPr>
            <p:ph type="body" idx="1"/>
          </p:nvPr>
        </p:nvSpPr>
        <p:spPr>
          <a:xfrm>
            <a:off x="395536" y="686966"/>
            <a:ext cx="8443664" cy="2100808"/>
          </a:xfrm>
        </p:spPr>
        <p:txBody>
          <a:bodyPr>
            <a:noAutofit/>
          </a:bodyPr>
          <a:lstStyle/>
          <a:p>
            <a:pPr eaLnBrk="1" hangingPunct="1"/>
            <a:r>
              <a:rPr lang="zh-CN" altLang="en-US" sz="2100" dirty="0"/>
              <a:t>正则表达式是一种使用元语言的模式描述的表达式，由符号组成</a:t>
            </a:r>
            <a:endParaRPr lang="en-US" altLang="zh-CN" sz="2100" dirty="0"/>
          </a:p>
          <a:p>
            <a:pPr eaLnBrk="1" hangingPunct="1"/>
            <a:r>
              <a:rPr lang="zh-CN" altLang="en-US" sz="2100" dirty="0"/>
              <a:t>符号一般是字母和数字</a:t>
            </a:r>
            <a:endParaRPr lang="en-US" altLang="zh-CN" sz="2100" dirty="0"/>
          </a:p>
          <a:p>
            <a:pPr eaLnBrk="1" hangingPunct="1"/>
            <a:r>
              <a:rPr lang="en-US" altLang="zh-CN" sz="2100" dirty="0"/>
              <a:t>Lex </a:t>
            </a:r>
            <a:r>
              <a:rPr lang="zh-CN" altLang="en-US" sz="2100" dirty="0"/>
              <a:t>中还有一些具有特殊含义的其他标记</a:t>
            </a:r>
            <a:endParaRPr lang="en-US" altLang="zh-CN" sz="2100" dirty="0"/>
          </a:p>
          <a:p>
            <a:pPr eaLnBrk="1" hangingPunct="1"/>
            <a:r>
              <a:rPr lang="zh-CN" altLang="zh-CN" sz="2100" dirty="0"/>
              <a:t>对给定的正</a:t>
            </a:r>
            <a:r>
              <a:rPr lang="zh-CN" altLang="en-US" sz="2100" dirty="0"/>
              <a:t>则表达</a:t>
            </a:r>
            <a:r>
              <a:rPr lang="zh-CN" altLang="zh-CN" sz="2100" dirty="0"/>
              <a:t>式可以用一个名称标识，然后再用这样的名称定义新的正</a:t>
            </a:r>
            <a:r>
              <a:rPr lang="zh-CN" altLang="en-US" sz="2100" dirty="0"/>
              <a:t>则表达式</a:t>
            </a:r>
            <a:r>
              <a:rPr lang="zh-CN" altLang="zh-CN" sz="2100" dirty="0"/>
              <a:t>。设字母表为</a:t>
            </a:r>
            <a:r>
              <a:rPr lang="en-US" altLang="zh-CN" sz="2100" dirty="0"/>
              <a:t>Σ</a:t>
            </a:r>
            <a:r>
              <a:rPr lang="zh-CN" altLang="zh-CN" sz="2100" dirty="0"/>
              <a:t>，正规定义式是如下形式的定义序列：</a:t>
            </a:r>
            <a:endParaRPr lang="zh-CN" altLang="en-US" sz="2100" dirty="0"/>
          </a:p>
        </p:txBody>
      </p:sp>
      <p:sp>
        <p:nvSpPr>
          <p:cNvPr id="6" name="矩形 5"/>
          <p:cNvSpPr/>
          <p:nvPr/>
        </p:nvSpPr>
        <p:spPr>
          <a:xfrm>
            <a:off x="3200400" y="2859782"/>
            <a:ext cx="5334000" cy="1384995"/>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eaLnBrk="1" hangingPunct="1">
              <a:defRPr/>
            </a:pPr>
            <a:r>
              <a:rPr lang="zh-CN" altLang="zh-CN" sz="2100" dirty="0">
                <a:solidFill>
                  <a:schemeClr val="tx1"/>
                </a:solidFill>
              </a:rPr>
              <a:t>其中</a:t>
            </a:r>
            <a:r>
              <a:rPr lang="en-US" altLang="zh-CN" sz="2100" dirty="0" err="1">
                <a:solidFill>
                  <a:schemeClr val="tx1"/>
                </a:solidFill>
              </a:rPr>
              <a:t>d</a:t>
            </a:r>
            <a:r>
              <a:rPr lang="en-US" altLang="zh-CN" sz="2100" baseline="-25000" dirty="0" err="1">
                <a:solidFill>
                  <a:schemeClr val="tx1"/>
                </a:solidFill>
              </a:rPr>
              <a:t>i</a:t>
            </a:r>
            <a:r>
              <a:rPr lang="zh-CN" altLang="zh-CN" sz="2100" dirty="0">
                <a:solidFill>
                  <a:schemeClr val="tx1"/>
                </a:solidFill>
              </a:rPr>
              <a:t>（</a:t>
            </a:r>
            <a:r>
              <a:rPr lang="en-US" altLang="zh-CN" sz="2100" dirty="0" err="1">
                <a:solidFill>
                  <a:schemeClr val="tx1"/>
                </a:solidFill>
              </a:rPr>
              <a:t>i</a:t>
            </a:r>
            <a:r>
              <a:rPr lang="en-US" altLang="zh-CN" sz="2100" dirty="0">
                <a:solidFill>
                  <a:schemeClr val="tx1"/>
                </a:solidFill>
              </a:rPr>
              <a:t>=1, 2, ……, n</a:t>
            </a:r>
            <a:r>
              <a:rPr lang="zh-CN" altLang="zh-CN" sz="2100" dirty="0">
                <a:solidFill>
                  <a:schemeClr val="tx1"/>
                </a:solidFill>
              </a:rPr>
              <a:t>）是不同的名字，</a:t>
            </a:r>
            <a:r>
              <a:rPr lang="en-US" altLang="zh-CN" sz="2100" dirty="0" err="1">
                <a:solidFill>
                  <a:schemeClr val="tx1"/>
                </a:solidFill>
              </a:rPr>
              <a:t>r</a:t>
            </a:r>
            <a:r>
              <a:rPr lang="en-US" altLang="zh-CN" sz="2100" baseline="-25000" dirty="0" err="1">
                <a:solidFill>
                  <a:schemeClr val="tx1"/>
                </a:solidFill>
              </a:rPr>
              <a:t>i</a:t>
            </a:r>
            <a:r>
              <a:rPr lang="zh-CN" altLang="zh-CN" sz="2100" dirty="0">
                <a:solidFill>
                  <a:schemeClr val="tx1"/>
                </a:solidFill>
              </a:rPr>
              <a:t>（</a:t>
            </a:r>
            <a:r>
              <a:rPr lang="en-US" altLang="zh-CN" sz="2100" dirty="0" err="1">
                <a:solidFill>
                  <a:schemeClr val="tx1"/>
                </a:solidFill>
              </a:rPr>
              <a:t>i</a:t>
            </a:r>
            <a:r>
              <a:rPr lang="en-US" altLang="zh-CN" sz="2100" dirty="0">
                <a:solidFill>
                  <a:schemeClr val="tx1"/>
                </a:solidFill>
              </a:rPr>
              <a:t>=1, 2, ……, n</a:t>
            </a:r>
            <a:r>
              <a:rPr lang="zh-CN" altLang="zh-CN" sz="2100" dirty="0">
                <a:solidFill>
                  <a:schemeClr val="tx1"/>
                </a:solidFill>
              </a:rPr>
              <a:t>）是在</a:t>
            </a:r>
            <a:r>
              <a:rPr lang="en-US" altLang="zh-CN" sz="2100" dirty="0">
                <a:solidFill>
                  <a:schemeClr val="tx1"/>
                </a:solidFill>
              </a:rPr>
              <a:t>Σ∪{d</a:t>
            </a:r>
            <a:r>
              <a:rPr lang="en-US" altLang="zh-CN" sz="2100" baseline="-25000" dirty="0">
                <a:solidFill>
                  <a:schemeClr val="tx1"/>
                </a:solidFill>
              </a:rPr>
              <a:t>1</a:t>
            </a:r>
            <a:r>
              <a:rPr lang="en-US" altLang="zh-CN" sz="2100" dirty="0">
                <a:solidFill>
                  <a:schemeClr val="tx1"/>
                </a:solidFill>
              </a:rPr>
              <a:t>, d</a:t>
            </a:r>
            <a:r>
              <a:rPr lang="en-US" altLang="zh-CN" sz="2100" baseline="-25000" dirty="0">
                <a:solidFill>
                  <a:schemeClr val="tx1"/>
                </a:solidFill>
              </a:rPr>
              <a:t>2</a:t>
            </a:r>
            <a:r>
              <a:rPr lang="en-US" altLang="zh-CN" sz="2100" dirty="0">
                <a:solidFill>
                  <a:schemeClr val="tx1"/>
                </a:solidFill>
              </a:rPr>
              <a:t>, ……, d</a:t>
            </a:r>
            <a:r>
              <a:rPr lang="en-US" altLang="zh-CN" sz="2100" baseline="-25000" dirty="0">
                <a:solidFill>
                  <a:schemeClr val="tx1"/>
                </a:solidFill>
              </a:rPr>
              <a:t>i-1</a:t>
            </a:r>
            <a:r>
              <a:rPr lang="en-US" altLang="zh-CN" sz="2100" dirty="0">
                <a:solidFill>
                  <a:schemeClr val="tx1"/>
                </a:solidFill>
              </a:rPr>
              <a:t>}</a:t>
            </a:r>
            <a:r>
              <a:rPr lang="zh-CN" altLang="zh-CN" sz="2100" dirty="0">
                <a:solidFill>
                  <a:schemeClr val="tx1"/>
                </a:solidFill>
              </a:rPr>
              <a:t>上定义的正</a:t>
            </a:r>
            <a:r>
              <a:rPr lang="zh-CN" altLang="en-US" sz="2100" dirty="0">
                <a:solidFill>
                  <a:schemeClr val="tx1"/>
                </a:solidFill>
              </a:rPr>
              <a:t>则表达式</a:t>
            </a:r>
            <a:r>
              <a:rPr lang="zh-CN" altLang="zh-CN" sz="2100" dirty="0">
                <a:solidFill>
                  <a:schemeClr val="tx1"/>
                </a:solidFill>
              </a:rPr>
              <a:t>，即用基本符号和前面已经定义的名字表示的</a:t>
            </a:r>
            <a:r>
              <a:rPr lang="zh-CN" altLang="en-US" sz="2100" dirty="0">
                <a:solidFill>
                  <a:schemeClr val="tx1"/>
                </a:solidFill>
              </a:rPr>
              <a:t>正则表达式</a:t>
            </a:r>
            <a:r>
              <a:rPr lang="zh-CN" altLang="zh-CN" sz="2100" dirty="0">
                <a:solidFill>
                  <a:schemeClr val="tx1"/>
                </a:solidFill>
              </a:rPr>
              <a:t>。</a:t>
            </a:r>
            <a:endParaRPr lang="zh-CN" altLang="en-US" sz="2100" dirty="0">
              <a:solidFill>
                <a:schemeClr val="tx1"/>
              </a:solidFill>
            </a:endParaRPr>
          </a:p>
        </p:txBody>
      </p:sp>
      <p:sp>
        <p:nvSpPr>
          <p:cNvPr id="7" name="矩形 6"/>
          <p:cNvSpPr/>
          <p:nvPr/>
        </p:nvSpPr>
        <p:spPr>
          <a:xfrm>
            <a:off x="1619672" y="2859782"/>
            <a:ext cx="1437928" cy="138499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eaLnBrk="1" hangingPunct="1">
              <a:defRPr/>
            </a:pPr>
            <a:r>
              <a:rPr lang="en-US" altLang="zh-CN" sz="2100" dirty="0">
                <a:solidFill>
                  <a:schemeClr val="tx1"/>
                </a:solidFill>
              </a:rPr>
              <a:t>d</a:t>
            </a:r>
            <a:r>
              <a:rPr lang="en-US" altLang="zh-CN" sz="2100" baseline="-25000" dirty="0">
                <a:solidFill>
                  <a:schemeClr val="tx1"/>
                </a:solidFill>
              </a:rPr>
              <a:t>1</a:t>
            </a:r>
            <a:r>
              <a:rPr lang="en-US" altLang="zh-CN" sz="2100" dirty="0">
                <a:solidFill>
                  <a:schemeClr val="tx1"/>
                </a:solidFill>
              </a:rPr>
              <a:t>→r</a:t>
            </a:r>
            <a:r>
              <a:rPr lang="en-US" altLang="zh-CN" sz="2100" baseline="-25000" dirty="0">
                <a:solidFill>
                  <a:schemeClr val="tx1"/>
                </a:solidFill>
              </a:rPr>
              <a:t>1</a:t>
            </a:r>
            <a:endParaRPr lang="zh-CN" altLang="zh-CN" sz="2100" dirty="0">
              <a:solidFill>
                <a:schemeClr val="tx1"/>
              </a:solidFill>
            </a:endParaRPr>
          </a:p>
          <a:p>
            <a:pPr eaLnBrk="1" hangingPunct="1">
              <a:defRPr/>
            </a:pPr>
            <a:r>
              <a:rPr lang="en-US" altLang="zh-CN" sz="2100" dirty="0">
                <a:solidFill>
                  <a:schemeClr val="tx1"/>
                </a:solidFill>
              </a:rPr>
              <a:t>d</a:t>
            </a:r>
            <a:r>
              <a:rPr lang="en-US" altLang="zh-CN" sz="2100" baseline="-25000" dirty="0">
                <a:solidFill>
                  <a:schemeClr val="tx1"/>
                </a:solidFill>
              </a:rPr>
              <a:t>2</a:t>
            </a:r>
            <a:r>
              <a:rPr lang="en-US" altLang="zh-CN" sz="2100" dirty="0">
                <a:solidFill>
                  <a:schemeClr val="tx1"/>
                </a:solidFill>
              </a:rPr>
              <a:t>→r</a:t>
            </a:r>
            <a:r>
              <a:rPr lang="en-US" altLang="zh-CN" sz="2100" baseline="-25000" dirty="0">
                <a:solidFill>
                  <a:schemeClr val="tx1"/>
                </a:solidFill>
              </a:rPr>
              <a:t>2</a:t>
            </a:r>
            <a:endParaRPr lang="zh-CN" altLang="zh-CN" sz="2100" dirty="0">
              <a:solidFill>
                <a:schemeClr val="tx1"/>
              </a:solidFill>
            </a:endParaRPr>
          </a:p>
          <a:p>
            <a:pPr eaLnBrk="1" hangingPunct="1">
              <a:defRPr/>
            </a:pPr>
            <a:r>
              <a:rPr lang="en-US" altLang="zh-CN" sz="2100" dirty="0">
                <a:solidFill>
                  <a:schemeClr val="tx1"/>
                </a:solidFill>
              </a:rPr>
              <a:t>……</a:t>
            </a:r>
            <a:endParaRPr lang="zh-CN" altLang="zh-CN" sz="2100" dirty="0">
              <a:solidFill>
                <a:schemeClr val="tx1"/>
              </a:solidFill>
            </a:endParaRPr>
          </a:p>
          <a:p>
            <a:pPr eaLnBrk="1" hangingPunct="1">
              <a:defRPr/>
            </a:pPr>
            <a:r>
              <a:rPr lang="en-US" altLang="zh-CN" sz="2100" dirty="0" err="1">
                <a:solidFill>
                  <a:schemeClr val="tx1"/>
                </a:solidFill>
              </a:rPr>
              <a:t>d</a:t>
            </a:r>
            <a:r>
              <a:rPr lang="en-US" altLang="zh-CN" sz="2100" baseline="-25000" dirty="0" err="1">
                <a:solidFill>
                  <a:schemeClr val="tx1"/>
                </a:solidFill>
              </a:rPr>
              <a:t>n</a:t>
            </a:r>
            <a:r>
              <a:rPr lang="en-US" altLang="zh-CN" sz="2100" dirty="0" err="1">
                <a:solidFill>
                  <a:schemeClr val="tx1"/>
                </a:solidFill>
              </a:rPr>
              <a:t>→r</a:t>
            </a:r>
            <a:r>
              <a:rPr lang="en-US" altLang="zh-CN" sz="2100" baseline="-25000" dirty="0" err="1">
                <a:solidFill>
                  <a:schemeClr val="tx1"/>
                </a:solidFill>
              </a:rPr>
              <a:t>n</a:t>
            </a:r>
            <a:endParaRPr lang="zh-CN" altLang="zh-CN" sz="2100" dirty="0">
              <a:solidFill>
                <a:schemeClr val="tx1"/>
              </a:solidFill>
            </a:endParaRPr>
          </a:p>
        </p:txBody>
      </p:sp>
    </p:spTree>
    <p:extLst>
      <p:ext uri="{BB962C8B-B14F-4D97-AF65-F5344CB8AC3E}">
        <p14:creationId xmlns:p14="http://schemas.microsoft.com/office/powerpoint/2010/main" val="167500591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内容占位符 2"/>
          <p:cNvSpPr>
            <a:spLocks noGrp="1"/>
          </p:cNvSpPr>
          <p:nvPr>
            <p:ph idx="1"/>
          </p:nvPr>
        </p:nvSpPr>
        <p:spPr>
          <a:xfrm>
            <a:off x="323528" y="339502"/>
            <a:ext cx="8229600" cy="1252736"/>
          </a:xfrm>
        </p:spPr>
        <p:txBody>
          <a:bodyPr>
            <a:noAutofit/>
          </a:bodyPr>
          <a:lstStyle/>
          <a:p>
            <a:pPr eaLnBrk="1" hangingPunct="1"/>
            <a:r>
              <a:rPr lang="en-US" altLang="zh-CN" dirty="0"/>
              <a:t>Pascal</a:t>
            </a:r>
            <a:r>
              <a:rPr lang="zh-CN" altLang="zh-CN" dirty="0"/>
              <a:t>语言中标识符是以字符开头的由字母和数字组成的符号串</a:t>
            </a:r>
            <a:r>
              <a:rPr lang="zh-CN" altLang="en-US" dirty="0"/>
              <a:t>，</a:t>
            </a:r>
            <a:r>
              <a:rPr lang="zh-CN" altLang="zh-CN" dirty="0"/>
              <a:t>无符号整数</a:t>
            </a:r>
            <a:r>
              <a:rPr lang="zh-CN" altLang="en-US" dirty="0"/>
              <a:t>是有</a:t>
            </a:r>
            <a:r>
              <a:rPr lang="en-US" altLang="zh-CN" dirty="0"/>
              <a:t>1</a:t>
            </a:r>
            <a:r>
              <a:rPr lang="zh-CN" altLang="en-US" dirty="0"/>
              <a:t>个或多个数字构成的符号串，它们的正则表达式定义为：</a:t>
            </a:r>
          </a:p>
        </p:txBody>
      </p:sp>
      <p:sp>
        <p:nvSpPr>
          <p:cNvPr id="107521" name="Rectangle 1"/>
          <p:cNvSpPr>
            <a:spLocks noChangeArrowheads="1"/>
          </p:cNvSpPr>
          <p:nvPr/>
        </p:nvSpPr>
        <p:spPr bwMode="auto">
          <a:xfrm>
            <a:off x="539552" y="1923678"/>
            <a:ext cx="3600400" cy="2031325"/>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anchor="ctr">
            <a:spAutoFit/>
          </a:bodyPr>
          <a:lstStyle/>
          <a:p>
            <a:pPr eaLnBrk="1" hangingPunct="1">
              <a:spcBef>
                <a:spcPts val="600"/>
              </a:spcBef>
              <a:spcAft>
                <a:spcPts val="600"/>
              </a:spcAft>
              <a:defRPr/>
            </a:pPr>
            <a:r>
              <a:rPr lang="fr-FR" altLang="zh-CN" sz="2400" dirty="0">
                <a:solidFill>
                  <a:schemeClr val="tx1"/>
                </a:solidFill>
                <a:latin typeface="Times New Roman" pitchFamily="18" charset="0"/>
                <a:cs typeface="Times New Roman" pitchFamily="18" charset="0"/>
              </a:rPr>
              <a:t>digit→0|1|......|9</a:t>
            </a:r>
            <a:endParaRPr lang="fr-FR" altLang="zh-CN" sz="2400" dirty="0">
              <a:solidFill>
                <a:schemeClr val="tx1"/>
              </a:solidFill>
            </a:endParaRPr>
          </a:p>
          <a:p>
            <a:pPr>
              <a:spcBef>
                <a:spcPts val="600"/>
              </a:spcBef>
              <a:spcAft>
                <a:spcPts val="600"/>
              </a:spcAft>
              <a:defRPr/>
            </a:pPr>
            <a:r>
              <a:rPr lang="fr-FR" altLang="zh-CN" sz="2400" dirty="0">
                <a:solidFill>
                  <a:schemeClr val="tx1"/>
                </a:solidFill>
                <a:latin typeface="Times New Roman" pitchFamily="18" charset="0"/>
                <a:cs typeface="Times New Roman" pitchFamily="18" charset="0"/>
              </a:rPr>
              <a:t>letter→a|b|......|z|A|B|......|Z</a:t>
            </a:r>
            <a:endParaRPr lang="fr-FR" altLang="zh-CN" sz="2400" dirty="0">
              <a:solidFill>
                <a:schemeClr val="tx1"/>
              </a:solidFill>
            </a:endParaRPr>
          </a:p>
          <a:p>
            <a:pPr>
              <a:spcBef>
                <a:spcPts val="600"/>
              </a:spcBef>
              <a:spcAft>
                <a:spcPts val="600"/>
              </a:spcAft>
              <a:defRPr/>
            </a:pPr>
            <a:r>
              <a:rPr lang="fr-FR" altLang="zh-CN" sz="2400" dirty="0">
                <a:solidFill>
                  <a:schemeClr val="tx1"/>
                </a:solidFill>
                <a:latin typeface="Times New Roman" pitchFamily="18" charset="0"/>
                <a:cs typeface="Times New Roman" pitchFamily="18" charset="0"/>
              </a:rPr>
              <a:t>id→letter(letter|digit)</a:t>
            </a:r>
            <a:r>
              <a:rPr lang="fr-FR" altLang="zh-CN" sz="2400" baseline="30000" dirty="0">
                <a:solidFill>
                  <a:schemeClr val="tx1"/>
                </a:solidFill>
                <a:latin typeface="Times New Roman" pitchFamily="18" charset="0"/>
                <a:cs typeface="Times New Roman" pitchFamily="18" charset="0"/>
              </a:rPr>
              <a:t>*</a:t>
            </a:r>
            <a:endParaRPr lang="fr-FR" altLang="zh-CN" sz="2400" dirty="0">
              <a:solidFill>
                <a:schemeClr val="tx1"/>
              </a:solidFill>
            </a:endParaRPr>
          </a:p>
          <a:p>
            <a:pPr>
              <a:spcBef>
                <a:spcPts val="600"/>
              </a:spcBef>
              <a:spcAft>
                <a:spcPts val="600"/>
              </a:spcAft>
              <a:defRPr/>
            </a:pPr>
            <a:r>
              <a:rPr lang="fr-FR" altLang="zh-CN" sz="2400" dirty="0">
                <a:solidFill>
                  <a:schemeClr val="tx1"/>
                </a:solidFill>
                <a:latin typeface="Times New Roman" pitchFamily="18" charset="0"/>
                <a:cs typeface="Times New Roman" pitchFamily="18" charset="0"/>
              </a:rPr>
              <a:t>digits→digit digit</a:t>
            </a:r>
            <a:r>
              <a:rPr lang="fr-FR" altLang="zh-CN" sz="2400" baseline="30000" dirty="0">
                <a:solidFill>
                  <a:schemeClr val="tx1"/>
                </a:solidFill>
                <a:latin typeface="Times New Roman" pitchFamily="18" charset="0"/>
                <a:cs typeface="Times New Roman" pitchFamily="18" charset="0"/>
              </a:rPr>
              <a:t>*</a:t>
            </a:r>
            <a:endParaRPr lang="fr-FR" altLang="zh-CN" sz="2400" dirty="0">
              <a:solidFill>
                <a:schemeClr val="tx1"/>
              </a:solidFill>
            </a:endParaRPr>
          </a:p>
        </p:txBody>
      </p:sp>
      <p:sp>
        <p:nvSpPr>
          <p:cNvPr id="2" name="矩形 1"/>
          <p:cNvSpPr/>
          <p:nvPr/>
        </p:nvSpPr>
        <p:spPr>
          <a:xfrm>
            <a:off x="4860032" y="1923678"/>
            <a:ext cx="3960440"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400" dirty="0"/>
              <a:t>digit  [0-9]</a:t>
            </a:r>
            <a:endParaRPr lang="zh-CN" altLang="zh-CN" sz="2400" dirty="0"/>
          </a:p>
          <a:p>
            <a:r>
              <a:rPr lang="en-US" altLang="zh-CN" sz="2400" dirty="0"/>
              <a:t>letter  [A-</a:t>
            </a:r>
            <a:r>
              <a:rPr lang="en-US" altLang="zh-CN" sz="2400" dirty="0" err="1"/>
              <a:t>Za</a:t>
            </a:r>
            <a:r>
              <a:rPr lang="en-US" altLang="zh-CN" sz="2400" dirty="0"/>
              <a:t>-z]</a:t>
            </a:r>
            <a:endParaRPr lang="zh-CN" altLang="zh-CN" sz="2400" dirty="0"/>
          </a:p>
          <a:p>
            <a:r>
              <a:rPr lang="en-US" altLang="zh-CN" sz="2400" dirty="0"/>
              <a:t>id  {letter}({letter}|{digit})*</a:t>
            </a:r>
          </a:p>
          <a:p>
            <a:r>
              <a:rPr lang="en-US" altLang="zh-CN" sz="2400" dirty="0"/>
              <a:t>digits {digit}+</a:t>
            </a:r>
            <a:endParaRPr lang="zh-CN" altLang="zh-CN" sz="2400" dirty="0"/>
          </a:p>
        </p:txBody>
      </p:sp>
    </p:spTree>
    <p:extLst>
      <p:ext uri="{BB962C8B-B14F-4D97-AF65-F5344CB8AC3E}">
        <p14:creationId xmlns:p14="http://schemas.microsoft.com/office/powerpoint/2010/main" val="13144853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sz="half" idx="1"/>
          </p:nvPr>
        </p:nvSpPr>
        <p:spPr>
          <a:xfrm>
            <a:off x="1" y="0"/>
            <a:ext cx="2195735" cy="2057400"/>
          </a:xfrm>
        </p:spPr>
        <p:txBody>
          <a:bodyPr>
            <a:normAutofit fontScale="92500" lnSpcReduction="20000"/>
          </a:bodyPr>
          <a:lstStyle/>
          <a:p>
            <a:pPr marL="0" indent="0" eaLnBrk="1" hangingPunct="1">
              <a:buFontTx/>
              <a:buNone/>
              <a:defRPr/>
            </a:pPr>
            <a:r>
              <a:rPr lang="en-US" altLang="zh-CN" sz="4400" dirty="0" err="1">
                <a:solidFill>
                  <a:srgbClr val="CC00CC"/>
                </a:solidFill>
                <a:latin typeface="+mj-lt"/>
                <a:ea typeface="+mj-ea"/>
                <a:cs typeface="+mj-cs"/>
              </a:rPr>
              <a:t>Lex</a:t>
            </a:r>
            <a:r>
              <a:rPr lang="zh-CN" altLang="en-US" sz="4400" dirty="0">
                <a:solidFill>
                  <a:srgbClr val="CC00CC"/>
                </a:solidFill>
                <a:latin typeface="+mj-lt"/>
                <a:ea typeface="+mj-ea"/>
                <a:cs typeface="+mj-cs"/>
              </a:rPr>
              <a:t>正则表达式的约定</a:t>
            </a:r>
          </a:p>
          <a:p>
            <a:pPr eaLnBrk="1" hangingPunct="1">
              <a:buFontTx/>
              <a:buNone/>
              <a:defRPr/>
            </a:pPr>
            <a:r>
              <a:rPr lang="zh-CN" altLang="en-US" sz="2800" dirty="0"/>
              <a:t>   </a:t>
            </a:r>
          </a:p>
        </p:txBody>
      </p:sp>
      <p:graphicFrame>
        <p:nvGraphicFramePr>
          <p:cNvPr id="58372" name="Group 4"/>
          <p:cNvGraphicFramePr>
            <a:graphicFrameLocks noGrp="1"/>
          </p:cNvGraphicFramePr>
          <p:nvPr>
            <p:ph sz="half" idx="2"/>
            <p:extLst>
              <p:ext uri="{D42A27DB-BD31-4B8C-83A1-F6EECF244321}">
                <p14:modId xmlns:p14="http://schemas.microsoft.com/office/powerpoint/2010/main" val="397440874"/>
              </p:ext>
            </p:extLst>
          </p:nvPr>
        </p:nvGraphicFramePr>
        <p:xfrm>
          <a:off x="2843808" y="171450"/>
          <a:ext cx="5998568" cy="4914900"/>
        </p:xfrm>
        <a:graphic>
          <a:graphicData uri="http://schemas.openxmlformats.org/drawingml/2006/table">
            <a:tbl>
              <a:tblPr/>
              <a:tblGrid>
                <a:gridCol w="1363712">
                  <a:extLst>
                    <a:ext uri="{9D8B030D-6E8A-4147-A177-3AD203B41FA5}">
                      <a16:colId xmlns:a16="http://schemas.microsoft.com/office/drawing/2014/main" val="20000"/>
                    </a:ext>
                  </a:extLst>
                </a:gridCol>
                <a:gridCol w="4634856">
                  <a:extLst>
                    <a:ext uri="{9D8B030D-6E8A-4147-A177-3AD203B41FA5}">
                      <a16:colId xmlns:a16="http://schemas.microsoft.com/office/drawing/2014/main" val="20001"/>
                    </a:ext>
                  </a:extLst>
                </a:gridCol>
              </a:tblGrid>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格式</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含义</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字符</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即使</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是一个元字符，它仍是字符</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当</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是一个元字符，它仍是字符</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的零次或多次元字符时</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的一次或多次重复</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一个可选的</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a|b</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或</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b</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a:t>
                      </a:r>
                      <a:endPar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本身</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[abc]</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字符</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b</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或</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c</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中的任一个</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[a-d]</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字符</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b</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c</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或</a:t>
                      </a: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d</a:t>
                      </a:r>
                      <a:r>
                        <a:rPr kumimoji="0" lang="zh-CN" altLang="en-US"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中的任一个</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[^ab]</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除了新行之外的任一个字符</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除了新行之外的任一个字符</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{xxx}</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名字</a:t>
                      </a:r>
                      <a:r>
                        <a:rPr kumimoji="0" lang="en-US" altLang="zh-CN"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xxx</a:t>
                      </a:r>
                      <a:r>
                        <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表示的正则表达式</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20040">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1700" b="0" i="0" u="none" strike="noStrike" cap="none" normalizeH="0" baseline="0">
                          <a:ln>
                            <a:noFill/>
                          </a:ln>
                          <a:solidFill>
                            <a:schemeClr val="tx1"/>
                          </a:solidFill>
                          <a:effectLst/>
                          <a:latin typeface="Tahoma" panose="020B0604030504040204" pitchFamily="34" charset="0"/>
                          <a:ea typeface="宋体" panose="02010600030101010101" pitchFamily="2" charset="-122"/>
                        </a:rPr>
                        <a:t>&lt;EOF&gt;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20000"/>
                        <a:defRPr sz="2800" b="1">
                          <a:solidFill>
                            <a:schemeClr val="bg2"/>
                          </a:solidFill>
                          <a:latin typeface="Tahoma" panose="020B0604030504040204" pitchFamily="34" charset="0"/>
                          <a:ea typeface="宋体" panose="02010600030101010101" pitchFamily="2" charset="-122"/>
                        </a:defRPr>
                      </a:lvl1pPr>
                      <a:lvl2pPr marL="742950" indent="-285750" eaLnBrk="0" hangingPunct="0">
                        <a:spcBef>
                          <a:spcPct val="20000"/>
                        </a:spcBef>
                        <a:buFont typeface="Tahoma" panose="020B0604030504040204" pitchFamily="34" charset="0"/>
                        <a:defRPr sz="2400">
                          <a:solidFill>
                            <a:srgbClr val="000000"/>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120000"/>
                        <a:defRPr sz="2000">
                          <a:solidFill>
                            <a:srgbClr val="000000"/>
                          </a:solidFill>
                          <a:latin typeface="Tahoma" panose="020B0604030504040204" pitchFamily="34" charset="0"/>
                          <a:ea typeface="宋体" panose="02010600030101010101" pitchFamily="2" charset="-122"/>
                        </a:defRPr>
                      </a:lvl3pPr>
                      <a:lvl4pPr marL="1600200" indent="-228600" eaLnBrk="0" hangingPunct="0">
                        <a:spcBef>
                          <a:spcPct val="20000"/>
                        </a:spcBef>
                        <a:buFont typeface="Tahoma" panose="020B0604030504040204" pitchFamily="34" charset="0"/>
                        <a:defRPr>
                          <a:solidFill>
                            <a:srgbClr val="000000"/>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defRPr>
                          <a:solidFill>
                            <a:srgbClr val="000000"/>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17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文件结束标记</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4" name="矩形 33"/>
          <p:cNvSpPr/>
          <p:nvPr/>
        </p:nvSpPr>
        <p:spPr>
          <a:xfrm>
            <a:off x="0" y="2727871"/>
            <a:ext cx="2438400" cy="769441"/>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eaLnBrk="1" hangingPunct="1">
              <a:defRPr/>
            </a:pPr>
            <a:r>
              <a:rPr lang="en-US" altLang="zh-CN" sz="2200" dirty="0">
                <a:solidFill>
                  <a:schemeClr val="tx1"/>
                </a:solidFill>
              </a:rPr>
              <a:t>joke[</a:t>
            </a:r>
            <a:r>
              <a:rPr lang="en-US" altLang="zh-CN" sz="2200" dirty="0" err="1">
                <a:solidFill>
                  <a:schemeClr val="tx1"/>
                </a:solidFill>
              </a:rPr>
              <a:t>rs</a:t>
            </a:r>
            <a:r>
              <a:rPr lang="en-US" altLang="zh-CN" sz="2200" dirty="0">
                <a:solidFill>
                  <a:schemeClr val="tx1"/>
                </a:solidFill>
              </a:rPr>
              <a:t>] —— </a:t>
            </a:r>
            <a:r>
              <a:rPr lang="zh-CN" altLang="en-US" sz="2200" dirty="0">
                <a:solidFill>
                  <a:schemeClr val="tx1"/>
                </a:solidFill>
              </a:rPr>
              <a:t>匹配 </a:t>
            </a:r>
            <a:r>
              <a:rPr lang="en-US" altLang="zh-CN" sz="2200" dirty="0">
                <a:solidFill>
                  <a:schemeClr val="tx1"/>
                </a:solidFill>
              </a:rPr>
              <a:t>jokes </a:t>
            </a:r>
            <a:r>
              <a:rPr lang="zh-CN" altLang="en-US" sz="2200" dirty="0">
                <a:solidFill>
                  <a:schemeClr val="tx1"/>
                </a:solidFill>
              </a:rPr>
              <a:t>或 </a:t>
            </a:r>
            <a:r>
              <a:rPr lang="en-US" altLang="zh-CN" sz="2200" dirty="0">
                <a:solidFill>
                  <a:schemeClr val="tx1"/>
                </a:solidFill>
              </a:rPr>
              <a:t>joker</a:t>
            </a:r>
            <a:endParaRPr lang="zh-CN" altLang="en-US" sz="2200" dirty="0">
              <a:solidFill>
                <a:schemeClr val="tx1"/>
              </a:solidFill>
            </a:endParaRPr>
          </a:p>
        </p:txBody>
      </p:sp>
    </p:spTree>
    <p:extLst>
      <p:ext uri="{BB962C8B-B14F-4D97-AF65-F5344CB8AC3E}">
        <p14:creationId xmlns:p14="http://schemas.microsoft.com/office/powerpoint/2010/main" val="3088666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179512" y="1203598"/>
            <a:ext cx="5866990" cy="914400"/>
          </a:xfrm>
        </p:spPr>
        <p:style>
          <a:lnRef idx="2">
            <a:schemeClr val="accent4"/>
          </a:lnRef>
          <a:fillRef idx="1">
            <a:schemeClr val="lt1"/>
          </a:fillRef>
          <a:effectRef idx="0">
            <a:schemeClr val="accent4"/>
          </a:effectRef>
          <a:fontRef idx="minor">
            <a:schemeClr val="dk1"/>
          </a:fontRef>
        </p:style>
        <p:txBody>
          <a:bodyPr>
            <a:normAutofit/>
          </a:bodyPr>
          <a:lstStyle/>
          <a:p>
            <a:pPr algn="just" eaLnBrk="1" hangingPunct="1">
              <a:spcBef>
                <a:spcPct val="0"/>
              </a:spcBef>
            </a:pPr>
            <a:r>
              <a:rPr lang="zh-CN" altLang="en-US" sz="1800" b="1" dirty="0"/>
              <a:t>翻译规则</a:t>
            </a:r>
            <a:r>
              <a:rPr lang="zh-CN" altLang="zh-CN" sz="1800" dirty="0"/>
              <a:t>完全决定了最后生成的词法分析器的功能，分析器只能识别符合正</a:t>
            </a:r>
            <a:r>
              <a:rPr lang="zh-CN" altLang="en-US" sz="1800" dirty="0"/>
              <a:t>则表达</a:t>
            </a:r>
            <a:r>
              <a:rPr lang="zh-CN" altLang="zh-CN" sz="1800" dirty="0"/>
              <a:t>式</a:t>
            </a:r>
            <a:r>
              <a:rPr lang="en-US" altLang="zh-CN" sz="1800" i="1" dirty="0"/>
              <a:t>p</a:t>
            </a:r>
            <a:r>
              <a:rPr lang="en-US" altLang="zh-CN" sz="1800" i="1" baseline="-25000" dirty="0"/>
              <a:t>1</a:t>
            </a:r>
            <a:r>
              <a:rPr lang="zh-CN" altLang="zh-CN" sz="1800" dirty="0"/>
              <a:t>，</a:t>
            </a:r>
            <a:r>
              <a:rPr lang="en-US" altLang="zh-CN" sz="1800" i="1" dirty="0"/>
              <a:t>p</a:t>
            </a:r>
            <a:r>
              <a:rPr lang="en-US" altLang="zh-CN" sz="1800" i="1" baseline="-25000" dirty="0"/>
              <a:t>2</a:t>
            </a:r>
            <a:r>
              <a:rPr lang="zh-CN" altLang="zh-CN" sz="1800" dirty="0"/>
              <a:t>，</a:t>
            </a:r>
            <a:r>
              <a:rPr lang="en-US" altLang="zh-CN" sz="1800" dirty="0"/>
              <a:t>……</a:t>
            </a:r>
            <a:r>
              <a:rPr lang="zh-CN" altLang="zh-CN" sz="1800" dirty="0"/>
              <a:t>，</a:t>
            </a:r>
            <a:r>
              <a:rPr lang="en-US" altLang="zh-CN" sz="1800" i="1" dirty="0" err="1"/>
              <a:t>p</a:t>
            </a:r>
            <a:r>
              <a:rPr lang="en-US" altLang="zh-CN" sz="1800" i="1" baseline="-25000" dirty="0" err="1"/>
              <a:t>n</a:t>
            </a:r>
            <a:r>
              <a:rPr lang="zh-CN" altLang="zh-CN" sz="1800" dirty="0"/>
              <a:t>的单词符号</a:t>
            </a:r>
            <a:endParaRPr lang="zh-CN" altLang="en-US" sz="1800" dirty="0"/>
          </a:p>
          <a:p>
            <a:pPr lvl="2" algn="just" eaLnBrk="1" hangingPunct="1">
              <a:spcBef>
                <a:spcPct val="0"/>
              </a:spcBef>
              <a:buFontTx/>
              <a:buNone/>
            </a:pPr>
            <a:endParaRPr lang="en-US" altLang="zh-CN" sz="1800" dirty="0"/>
          </a:p>
        </p:txBody>
      </p:sp>
      <p:sp>
        <p:nvSpPr>
          <p:cNvPr id="60420" name="Rectangle 4"/>
          <p:cNvSpPr>
            <a:spLocks noChangeArrowheads="1"/>
          </p:cNvSpPr>
          <p:nvPr/>
        </p:nvSpPr>
        <p:spPr bwMode="auto">
          <a:xfrm>
            <a:off x="6686551" y="240507"/>
            <a:ext cx="2062163" cy="2246769"/>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eaLnBrk="1" hangingPunct="1">
              <a:defRPr/>
            </a:pPr>
            <a:r>
              <a:rPr lang="en-US" altLang="zh-CN" sz="2800" dirty="0">
                <a:solidFill>
                  <a:srgbClr val="000000"/>
                </a:solidFill>
              </a:rPr>
              <a:t> </a:t>
            </a:r>
            <a:r>
              <a:rPr lang="zh-CN" altLang="en-US" sz="2800" b="1" dirty="0">
                <a:solidFill>
                  <a:srgbClr val="000000"/>
                </a:solidFill>
              </a:rPr>
              <a:t>声明</a:t>
            </a:r>
          </a:p>
          <a:p>
            <a:pPr eaLnBrk="1" hangingPunct="1">
              <a:defRPr/>
            </a:pPr>
            <a:r>
              <a:rPr lang="zh-CN" altLang="en-US" sz="2800" b="1" dirty="0">
                <a:solidFill>
                  <a:srgbClr val="000000"/>
                </a:solidFill>
              </a:rPr>
              <a:t>  ％％</a:t>
            </a:r>
          </a:p>
          <a:p>
            <a:pPr eaLnBrk="1" hangingPunct="1">
              <a:defRPr/>
            </a:pPr>
            <a:r>
              <a:rPr lang="zh-CN" altLang="en-US" sz="2800" b="1" dirty="0">
                <a:solidFill>
                  <a:srgbClr val="000000"/>
                </a:solidFill>
              </a:rPr>
              <a:t>  翻译规则</a:t>
            </a:r>
          </a:p>
          <a:p>
            <a:pPr eaLnBrk="1" hangingPunct="1">
              <a:defRPr/>
            </a:pPr>
            <a:r>
              <a:rPr lang="zh-CN" altLang="en-US" sz="2800" b="1" dirty="0">
                <a:solidFill>
                  <a:srgbClr val="000000"/>
                </a:solidFill>
              </a:rPr>
              <a:t>  ％％</a:t>
            </a:r>
          </a:p>
          <a:p>
            <a:pPr eaLnBrk="1" hangingPunct="1">
              <a:defRPr/>
            </a:pPr>
            <a:r>
              <a:rPr lang="zh-CN" altLang="en-US" sz="2800" b="1" dirty="0">
                <a:solidFill>
                  <a:srgbClr val="000000"/>
                </a:solidFill>
              </a:rPr>
              <a:t>  辅助过程</a:t>
            </a:r>
          </a:p>
        </p:txBody>
      </p:sp>
      <p:sp>
        <p:nvSpPr>
          <p:cNvPr id="60421" name="AutoShape 5"/>
          <p:cNvSpPr>
            <a:spLocks/>
          </p:cNvSpPr>
          <p:nvPr/>
        </p:nvSpPr>
        <p:spPr bwMode="auto">
          <a:xfrm>
            <a:off x="172442" y="355673"/>
            <a:ext cx="5874060" cy="643262"/>
          </a:xfrm>
          <a:prstGeom prst="borderCallout1">
            <a:avLst>
              <a:gd name="adj1" fmla="val 50963"/>
              <a:gd name="adj2" fmla="val 99957"/>
              <a:gd name="adj3" fmla="val 154005"/>
              <a:gd name="adj4" fmla="val 117423"/>
            </a:avLst>
          </a:prstGeom>
          <a:ln>
            <a:headEnd/>
            <a:tailEnd/>
          </a:ln>
        </p:spPr>
        <p:style>
          <a:lnRef idx="2">
            <a:schemeClr val="accent4"/>
          </a:lnRef>
          <a:fillRef idx="1">
            <a:schemeClr val="lt1"/>
          </a:fillRef>
          <a:effectRef idx="0">
            <a:schemeClr val="accent4"/>
          </a:effectRef>
          <a:fontRef idx="minor">
            <a:schemeClr val="dk1"/>
          </a:fontRef>
        </p:style>
        <p:txBody>
          <a:bodyPr/>
          <a:lstStyle/>
          <a:p>
            <a:pPr eaLnBrk="1" hangingPunct="1">
              <a:defRPr/>
            </a:pPr>
            <a:r>
              <a:rPr lang="zh-CN" altLang="en-US" sz="2000" dirty="0">
                <a:solidFill>
                  <a:schemeClr val="tx1"/>
                </a:solidFill>
              </a:rPr>
              <a:t>由一组正则表达式以及当每个正则表达式被匹配时所采取的动作，这些动作用</a:t>
            </a:r>
            <a:r>
              <a:rPr lang="en-US" altLang="zh-CN" sz="2000" dirty="0">
                <a:solidFill>
                  <a:schemeClr val="tx1"/>
                </a:solidFill>
              </a:rPr>
              <a:t>C</a:t>
            </a:r>
            <a:r>
              <a:rPr lang="zh-CN" altLang="en-US" sz="2000" dirty="0">
                <a:solidFill>
                  <a:schemeClr val="tx1"/>
                </a:solidFill>
              </a:rPr>
              <a:t>语言的代码来书写。 </a:t>
            </a:r>
          </a:p>
        </p:txBody>
      </p:sp>
      <p:sp>
        <p:nvSpPr>
          <p:cNvPr id="8" name="椭圆 7"/>
          <p:cNvSpPr/>
          <p:nvPr/>
        </p:nvSpPr>
        <p:spPr>
          <a:xfrm>
            <a:off x="8458200" y="998935"/>
            <a:ext cx="685800" cy="4000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b="1" dirty="0">
                <a:solidFill>
                  <a:srgbClr val="FF0000"/>
                </a:solidFill>
              </a:rPr>
              <a:t>2</a:t>
            </a:r>
            <a:endParaRPr lang="zh-CN" altLang="en-US" b="1" dirty="0">
              <a:solidFill>
                <a:srgbClr val="FF0000"/>
              </a:solidFill>
            </a:endParaRPr>
          </a:p>
        </p:txBody>
      </p:sp>
      <p:sp>
        <p:nvSpPr>
          <p:cNvPr id="10" name="矩形 9"/>
          <p:cNvSpPr/>
          <p:nvPr/>
        </p:nvSpPr>
        <p:spPr>
          <a:xfrm>
            <a:off x="6384132" y="2715766"/>
            <a:ext cx="2364582"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lvl="2" algn="just" eaLnBrk="1" hangingPunct="1">
              <a:defRPr/>
            </a:pPr>
            <a:r>
              <a:rPr lang="en-US" altLang="zh-CN" b="1" i="1" dirty="0">
                <a:solidFill>
                  <a:srgbClr val="003300"/>
                </a:solidFill>
                <a:cs typeface="Times New Roman" pitchFamily="18" charset="0"/>
              </a:rPr>
              <a:t>P</a:t>
            </a:r>
            <a:r>
              <a:rPr lang="en-US" altLang="zh-CN" b="1" baseline="-30000" dirty="0">
                <a:solidFill>
                  <a:srgbClr val="003300"/>
                </a:solidFill>
                <a:cs typeface="Times New Roman" pitchFamily="18" charset="0"/>
              </a:rPr>
              <a:t>1	</a:t>
            </a:r>
            <a:r>
              <a:rPr lang="en-US" altLang="zh-CN" b="1" dirty="0">
                <a:solidFill>
                  <a:srgbClr val="003300"/>
                </a:solidFill>
                <a:cs typeface="Times New Roman" pitchFamily="18" charset="0"/>
              </a:rPr>
              <a:t>{</a:t>
            </a:r>
            <a:r>
              <a:rPr lang="zh-CN" altLang="en-US" b="1" dirty="0">
                <a:solidFill>
                  <a:srgbClr val="003300"/>
                </a:solidFill>
              </a:rPr>
              <a:t>动作</a:t>
            </a:r>
            <a:r>
              <a:rPr lang="en-US" altLang="zh-CN" b="1" dirty="0">
                <a:solidFill>
                  <a:srgbClr val="003300"/>
                </a:solidFill>
                <a:cs typeface="Times New Roman" pitchFamily="18" charset="0"/>
              </a:rPr>
              <a:t>1}</a:t>
            </a:r>
            <a:endParaRPr lang="en-US" altLang="zh-CN" b="1" dirty="0">
              <a:solidFill>
                <a:srgbClr val="003300"/>
              </a:solidFill>
              <a:latin typeface="宋体" pitchFamily="2" charset="-122"/>
            </a:endParaRPr>
          </a:p>
          <a:p>
            <a:pPr marL="0" lvl="2" algn="just" eaLnBrk="1" hangingPunct="1">
              <a:defRPr/>
            </a:pPr>
            <a:r>
              <a:rPr lang="en-US" altLang="zh-CN" b="1" i="1" dirty="0">
                <a:solidFill>
                  <a:srgbClr val="003300"/>
                </a:solidFill>
                <a:cs typeface="Times New Roman" pitchFamily="18" charset="0"/>
              </a:rPr>
              <a:t>P</a:t>
            </a:r>
            <a:r>
              <a:rPr lang="en-US" altLang="zh-CN" b="1" baseline="-30000" dirty="0">
                <a:solidFill>
                  <a:srgbClr val="003300"/>
                </a:solidFill>
                <a:cs typeface="Times New Roman" pitchFamily="18" charset="0"/>
              </a:rPr>
              <a:t>2	</a:t>
            </a:r>
            <a:r>
              <a:rPr lang="en-US" altLang="zh-CN" b="1" dirty="0">
                <a:solidFill>
                  <a:srgbClr val="003300"/>
                </a:solidFill>
                <a:cs typeface="Times New Roman" pitchFamily="18" charset="0"/>
              </a:rPr>
              <a:t>{</a:t>
            </a:r>
            <a:r>
              <a:rPr lang="zh-CN" altLang="en-US" b="1" dirty="0">
                <a:solidFill>
                  <a:srgbClr val="003300"/>
                </a:solidFill>
              </a:rPr>
              <a:t>动作</a:t>
            </a:r>
            <a:r>
              <a:rPr lang="en-US" altLang="zh-CN" b="1" dirty="0">
                <a:solidFill>
                  <a:srgbClr val="003300"/>
                </a:solidFill>
                <a:cs typeface="Times New Roman" pitchFamily="18" charset="0"/>
              </a:rPr>
              <a:t>2}</a:t>
            </a:r>
            <a:endParaRPr lang="en-US" altLang="zh-CN" b="1" dirty="0">
              <a:solidFill>
                <a:srgbClr val="003300"/>
              </a:solidFill>
              <a:latin typeface="宋体" pitchFamily="2" charset="-122"/>
            </a:endParaRPr>
          </a:p>
          <a:p>
            <a:pPr marL="0" lvl="2" algn="just" eaLnBrk="1" hangingPunct="1">
              <a:defRPr/>
            </a:pPr>
            <a:r>
              <a:rPr lang="en-US" altLang="zh-CN" b="1" dirty="0">
                <a:solidFill>
                  <a:srgbClr val="003300"/>
                </a:solidFill>
                <a:cs typeface="Times New Roman" pitchFamily="18" charset="0"/>
              </a:rPr>
              <a:t>…	…</a:t>
            </a:r>
            <a:endParaRPr lang="en-US" altLang="zh-CN" b="1" dirty="0">
              <a:solidFill>
                <a:srgbClr val="003300"/>
              </a:solidFill>
              <a:latin typeface="宋体" pitchFamily="2" charset="-122"/>
            </a:endParaRPr>
          </a:p>
          <a:p>
            <a:pPr marL="0" lvl="2" algn="just" eaLnBrk="1" hangingPunct="1">
              <a:defRPr/>
            </a:pPr>
            <a:r>
              <a:rPr lang="en-US" altLang="zh-CN" b="1" i="1" dirty="0" err="1">
                <a:solidFill>
                  <a:srgbClr val="003300"/>
                </a:solidFill>
                <a:cs typeface="Times New Roman" pitchFamily="18" charset="0"/>
              </a:rPr>
              <a:t>P</a:t>
            </a:r>
            <a:r>
              <a:rPr lang="en-US" altLang="zh-CN" b="1" i="1" baseline="-30000" dirty="0" err="1">
                <a:solidFill>
                  <a:srgbClr val="003300"/>
                </a:solidFill>
                <a:cs typeface="Times New Roman" pitchFamily="18" charset="0"/>
              </a:rPr>
              <a:t>n</a:t>
            </a:r>
            <a:r>
              <a:rPr lang="en-US" altLang="zh-CN" b="1" i="1" baseline="-30000" dirty="0">
                <a:solidFill>
                  <a:srgbClr val="003300"/>
                </a:solidFill>
                <a:cs typeface="Times New Roman" pitchFamily="18" charset="0"/>
              </a:rPr>
              <a:t>	</a:t>
            </a:r>
            <a:r>
              <a:rPr lang="en-US" altLang="zh-CN" b="1" dirty="0">
                <a:solidFill>
                  <a:srgbClr val="003300"/>
                </a:solidFill>
                <a:cs typeface="Times New Roman" pitchFamily="18" charset="0"/>
              </a:rPr>
              <a:t>{</a:t>
            </a:r>
            <a:r>
              <a:rPr lang="zh-CN" altLang="en-US" b="1" dirty="0">
                <a:solidFill>
                  <a:srgbClr val="003300"/>
                </a:solidFill>
              </a:rPr>
              <a:t>动作</a:t>
            </a:r>
            <a:r>
              <a:rPr lang="en-US" altLang="zh-CN" b="1" i="1" dirty="0">
                <a:solidFill>
                  <a:srgbClr val="003300"/>
                </a:solidFill>
                <a:cs typeface="Times New Roman" pitchFamily="18" charset="0"/>
              </a:rPr>
              <a:t>n</a:t>
            </a:r>
            <a:r>
              <a:rPr lang="en-US" altLang="zh-CN" b="1" dirty="0">
                <a:solidFill>
                  <a:srgbClr val="003300"/>
                </a:solidFill>
                <a:cs typeface="Times New Roman" pitchFamily="18" charset="0"/>
              </a:rPr>
              <a:t>}</a:t>
            </a:r>
          </a:p>
        </p:txBody>
      </p:sp>
      <p:sp>
        <p:nvSpPr>
          <p:cNvPr id="60422" name="Rectangle 6"/>
          <p:cNvSpPr>
            <a:spLocks noChangeArrowheads="1"/>
          </p:cNvSpPr>
          <p:nvPr/>
        </p:nvSpPr>
        <p:spPr bwMode="auto">
          <a:xfrm>
            <a:off x="152400" y="2217509"/>
            <a:ext cx="6096000" cy="2862322"/>
          </a:xfrm>
          <a:prstGeom prst="rect">
            <a:avLst/>
          </a:prstGeom>
          <a:solidFill>
            <a:schemeClr val="bg1"/>
          </a:solidFill>
          <a:ln w="9525">
            <a:noFill/>
            <a:miter lim="800000"/>
            <a:headEnd/>
            <a:tailEnd/>
          </a:ln>
          <a:effectLst/>
        </p:spPr>
        <p:txBody>
          <a:bodyPr anchor="ctr">
            <a:spAutoFit/>
          </a:bodyPr>
          <a:lstStyle/>
          <a:p>
            <a:pPr eaLnBrk="1" hangingPunct="1">
              <a:defRPr/>
            </a:pPr>
            <a:r>
              <a:rPr lang="en-US" altLang="zh-CN" sz="2000" dirty="0">
                <a:latin typeface="宋体" pitchFamily="2" charset="-122"/>
                <a:ea typeface="宋体" panose="02010600030101010101" pitchFamily="2" charset="-122"/>
              </a:rPr>
              <a:t>Lex</a:t>
            </a:r>
            <a:r>
              <a:rPr lang="zh-CN" altLang="en-US" sz="2000" dirty="0">
                <a:latin typeface="宋体" pitchFamily="2" charset="-122"/>
                <a:ea typeface="宋体" panose="02010600030101010101" pitchFamily="2" charset="-122"/>
              </a:rPr>
              <a:t>产生的词法分析程序的工作方式：</a:t>
            </a:r>
            <a:endParaRPr lang="en-US" altLang="zh-CN" sz="2000" dirty="0">
              <a:latin typeface="宋体" pitchFamily="2" charset="-122"/>
              <a:ea typeface="宋体" panose="02010600030101010101" pitchFamily="2" charset="-122"/>
            </a:endParaRPr>
          </a:p>
          <a:p>
            <a:pPr marL="725488" lvl="1" indent="-268288">
              <a:buFont typeface="Tahoma" pitchFamily="34" charset="0"/>
              <a:buChar char="−"/>
              <a:defRPr/>
            </a:pPr>
            <a:r>
              <a:rPr lang="zh-CN" altLang="en-US" sz="2000" dirty="0">
                <a:latin typeface="宋体" panose="02010600030101010101" pitchFamily="2" charset="-122"/>
                <a:ea typeface="宋体" panose="02010600030101010101" pitchFamily="2" charset="-122"/>
              </a:rPr>
              <a:t>逐一地扫描输入串的每个字符，直到它在剩余输入串中发现能和正则表达式</a:t>
            </a:r>
            <a:r>
              <a:rPr lang="en-US" altLang="zh-CN" sz="2000" dirty="0">
                <a:solidFill>
                  <a:srgbClr val="FF0000"/>
                </a:solidFill>
                <a:latin typeface="宋体" panose="02010600030101010101" pitchFamily="2" charset="-122"/>
                <a:ea typeface="宋体" panose="02010600030101010101" pitchFamily="2" charset="-122"/>
              </a:rPr>
              <a:t>Pi</a:t>
            </a:r>
            <a:r>
              <a:rPr lang="zh-CN" altLang="en-US" sz="2000" dirty="0">
                <a:latin typeface="宋体" panose="02010600030101010101" pitchFamily="2" charset="-122"/>
                <a:ea typeface="宋体" panose="02010600030101010101" pitchFamily="2" charset="-122"/>
              </a:rPr>
              <a:t>匹配的</a:t>
            </a:r>
            <a:r>
              <a:rPr lang="zh-CN" altLang="en-US" sz="2000" dirty="0">
                <a:solidFill>
                  <a:srgbClr val="FF0000"/>
                </a:solidFill>
                <a:latin typeface="宋体" panose="02010600030101010101" pitchFamily="2" charset="-122"/>
                <a:ea typeface="宋体" panose="02010600030101010101" pitchFamily="2" charset="-122"/>
              </a:rPr>
              <a:t>最长</a:t>
            </a:r>
            <a:r>
              <a:rPr lang="zh-CN" altLang="en-US" sz="2000" dirty="0">
                <a:latin typeface="宋体" panose="02010600030101010101" pitchFamily="2" charset="-122"/>
                <a:ea typeface="宋体" panose="02010600030101010101" pitchFamily="2" charset="-122"/>
              </a:rPr>
              <a:t>前缀为止</a:t>
            </a:r>
            <a:endParaRPr lang="en-US" altLang="zh-CN" sz="2000" dirty="0">
              <a:latin typeface="宋体" panose="02010600030101010101" pitchFamily="2" charset="-122"/>
              <a:ea typeface="宋体" panose="02010600030101010101" pitchFamily="2" charset="-122"/>
            </a:endParaRPr>
          </a:p>
          <a:p>
            <a:pPr marL="725488" lvl="1" indent="-268288">
              <a:buFont typeface="Tahoma" pitchFamily="34" charset="0"/>
              <a:buChar char="−"/>
              <a:defRPr/>
            </a:pPr>
            <a:r>
              <a:rPr lang="zh-CN" altLang="en-US" sz="2000" dirty="0">
                <a:latin typeface="宋体" panose="02010600030101010101" pitchFamily="2" charset="-122"/>
                <a:ea typeface="宋体" panose="02010600030101010101" pitchFamily="2" charset="-122"/>
              </a:rPr>
              <a:t>将其截下来放在</a:t>
            </a:r>
            <a:r>
              <a:rPr lang="en-US" altLang="zh-CN" sz="2000" dirty="0" err="1">
                <a:latin typeface="宋体" panose="02010600030101010101" pitchFamily="2" charset="-122"/>
                <a:ea typeface="宋体" panose="02010600030101010101" pitchFamily="2" charset="-122"/>
              </a:rPr>
              <a:t>yytext</a:t>
            </a:r>
            <a:r>
              <a:rPr lang="zh-CN" altLang="en-US" sz="2000" dirty="0">
                <a:latin typeface="宋体" panose="02010600030101010101" pitchFamily="2" charset="-122"/>
                <a:ea typeface="宋体" panose="02010600030101010101" pitchFamily="2" charset="-122"/>
              </a:rPr>
              <a:t>的缓冲区中，然后调用</a:t>
            </a:r>
            <a:r>
              <a:rPr lang="zh-CN" altLang="en-US" sz="2000" dirty="0">
                <a:solidFill>
                  <a:srgbClr val="FF0000"/>
                </a:solidFill>
                <a:latin typeface="宋体" panose="02010600030101010101" pitchFamily="2" charset="-122"/>
                <a:ea typeface="宋体" panose="02010600030101010101" pitchFamily="2" charset="-122"/>
              </a:rPr>
              <a:t>动作</a:t>
            </a:r>
            <a:r>
              <a:rPr lang="en-US" altLang="zh-CN" sz="2000" dirty="0" err="1">
                <a:solidFill>
                  <a:srgbClr val="FF0000"/>
                </a:solidFill>
                <a:latin typeface="宋体" panose="02010600030101010101" pitchFamily="2" charset="-122"/>
                <a:ea typeface="宋体" panose="02010600030101010101" pitchFamily="2" charset="-122"/>
              </a:rPr>
              <a:t>i</a:t>
            </a:r>
            <a:r>
              <a:rPr lang="zh-CN" altLang="en-US" sz="2000" dirty="0">
                <a:latin typeface="宋体" panose="02010600030101010101" pitchFamily="2" charset="-122"/>
                <a:ea typeface="宋体" panose="02010600030101010101" pitchFamily="2" charset="-122"/>
              </a:rPr>
              <a:t>，当动作</a:t>
            </a:r>
            <a:r>
              <a:rPr lang="en-US" altLang="zh-CN" sz="2000" dirty="0" err="1">
                <a:latin typeface="宋体" panose="02010600030101010101" pitchFamily="2" charset="-122"/>
                <a:ea typeface="宋体" panose="02010600030101010101" pitchFamily="2" charset="-122"/>
              </a:rPr>
              <a:t>i</a:t>
            </a:r>
            <a:r>
              <a:rPr lang="zh-CN" altLang="en-US" sz="2000" dirty="0">
                <a:latin typeface="宋体" panose="02010600030101010101" pitchFamily="2" charset="-122"/>
                <a:ea typeface="宋体" panose="02010600030101010101" pitchFamily="2" charset="-122"/>
              </a:rPr>
              <a:t>执行完后，返回一个单词</a:t>
            </a:r>
            <a:endParaRPr lang="en-US" altLang="zh-CN" sz="2000" dirty="0">
              <a:latin typeface="宋体" panose="02010600030101010101" pitchFamily="2" charset="-122"/>
              <a:ea typeface="宋体" panose="02010600030101010101" pitchFamily="2" charset="-122"/>
            </a:endParaRPr>
          </a:p>
          <a:p>
            <a:pPr marL="725488" lvl="1" indent="-268288">
              <a:buFont typeface="Tahoma" pitchFamily="34" charset="0"/>
              <a:buChar char="−"/>
              <a:defRPr/>
            </a:pPr>
            <a:r>
              <a:rPr lang="zh-CN" altLang="en-US" sz="2000" dirty="0">
                <a:latin typeface="宋体" panose="02010600030101010101" pitchFamily="2" charset="-122"/>
                <a:ea typeface="宋体" panose="02010600030101010101" pitchFamily="2" charset="-122"/>
              </a:rPr>
              <a:t>当它被再次调用时，就从剩余输入串开始识别下一个输入符号</a:t>
            </a:r>
          </a:p>
          <a:p>
            <a:pPr marL="725488" lvl="1" indent="-268288">
              <a:buFont typeface="Tahoma" pitchFamily="34" charset="0"/>
              <a:buChar char="−"/>
              <a:defRPr/>
            </a:pPr>
            <a:r>
              <a:rPr lang="zh-CN" altLang="en-US" sz="2000" dirty="0">
                <a:latin typeface="宋体" panose="02010600030101010101" pitchFamily="2" charset="-122"/>
                <a:ea typeface="宋体" panose="02010600030101010101" pitchFamily="2" charset="-122"/>
              </a:rPr>
              <a:t>单词的属性值通过全程变量</a:t>
            </a:r>
            <a:r>
              <a:rPr lang="en-US" altLang="zh-CN" sz="2000" dirty="0" err="1">
                <a:latin typeface="宋体" panose="02010600030101010101" pitchFamily="2" charset="-122"/>
                <a:ea typeface="宋体" panose="02010600030101010101" pitchFamily="2" charset="-122"/>
              </a:rPr>
              <a:t>yylval</a:t>
            </a:r>
            <a:r>
              <a:rPr lang="zh-CN" altLang="en-US" sz="2000" dirty="0">
                <a:latin typeface="宋体" panose="02010600030101010101" pitchFamily="2" charset="-122"/>
                <a:ea typeface="宋体" panose="02010600030101010101" pitchFamily="2" charset="-122"/>
              </a:rPr>
              <a:t>传递</a:t>
            </a:r>
          </a:p>
        </p:txBody>
      </p:sp>
    </p:spTree>
    <p:extLst>
      <p:ext uri="{BB962C8B-B14F-4D97-AF65-F5344CB8AC3E}">
        <p14:creationId xmlns:p14="http://schemas.microsoft.com/office/powerpoint/2010/main" val="4183303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04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0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animBg="1"/>
      <p:bldP spid="60421" grpId="0" animBg="1" autoUpdateAnimBg="0"/>
      <p:bldP spid="10" grpId="0" animBg="1"/>
      <p:bldP spid="60422"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57200" y="1362075"/>
            <a:ext cx="8229600" cy="1038225"/>
          </a:xfrm>
        </p:spPr>
        <p:txBody>
          <a:bodyPr/>
          <a:lstStyle/>
          <a:p>
            <a:pPr eaLnBrk="1" hangingPunct="1"/>
            <a:endParaRPr lang="zh-CN" altLang="zh-CN"/>
          </a:p>
        </p:txBody>
      </p:sp>
      <p:sp>
        <p:nvSpPr>
          <p:cNvPr id="61444" name="Rectangle 4"/>
          <p:cNvSpPr>
            <a:spLocks noChangeArrowheads="1"/>
          </p:cNvSpPr>
          <p:nvPr/>
        </p:nvSpPr>
        <p:spPr bwMode="auto">
          <a:xfrm>
            <a:off x="6313488" y="1796653"/>
            <a:ext cx="2717800" cy="2246769"/>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eaLnBrk="1" hangingPunct="1">
              <a:defRPr/>
            </a:pPr>
            <a:r>
              <a:rPr lang="en-US" altLang="zh-CN" sz="2800" dirty="0">
                <a:solidFill>
                  <a:srgbClr val="000000"/>
                </a:solidFill>
              </a:rPr>
              <a:t> </a:t>
            </a:r>
            <a:r>
              <a:rPr lang="zh-CN" altLang="en-US" sz="2800" b="1" dirty="0">
                <a:solidFill>
                  <a:srgbClr val="000000"/>
                </a:solidFill>
              </a:rPr>
              <a:t>声明</a:t>
            </a:r>
          </a:p>
          <a:p>
            <a:pPr algn="ctr" eaLnBrk="1" hangingPunct="1">
              <a:defRPr/>
            </a:pPr>
            <a:r>
              <a:rPr lang="zh-CN" altLang="en-US" sz="2800" b="1" dirty="0">
                <a:solidFill>
                  <a:srgbClr val="000000"/>
                </a:solidFill>
              </a:rPr>
              <a:t>  ％％</a:t>
            </a:r>
          </a:p>
          <a:p>
            <a:pPr algn="ctr" eaLnBrk="1" hangingPunct="1">
              <a:defRPr/>
            </a:pPr>
            <a:r>
              <a:rPr lang="zh-CN" altLang="en-US" sz="2800" b="1" dirty="0">
                <a:solidFill>
                  <a:srgbClr val="000000"/>
                </a:solidFill>
              </a:rPr>
              <a:t>  翻译规则</a:t>
            </a:r>
          </a:p>
          <a:p>
            <a:pPr algn="ctr" eaLnBrk="1" hangingPunct="1">
              <a:defRPr/>
            </a:pPr>
            <a:r>
              <a:rPr lang="zh-CN" altLang="en-US" sz="2800" b="1" dirty="0">
                <a:solidFill>
                  <a:srgbClr val="000000"/>
                </a:solidFill>
              </a:rPr>
              <a:t>  ％％</a:t>
            </a:r>
          </a:p>
          <a:p>
            <a:pPr algn="ctr" eaLnBrk="1" hangingPunct="1">
              <a:defRPr/>
            </a:pPr>
            <a:r>
              <a:rPr lang="zh-CN" altLang="en-US" sz="2800" b="1" dirty="0">
                <a:solidFill>
                  <a:srgbClr val="000000"/>
                </a:solidFill>
              </a:rPr>
              <a:t>  辅助过程</a:t>
            </a:r>
          </a:p>
        </p:txBody>
      </p:sp>
      <p:sp>
        <p:nvSpPr>
          <p:cNvPr id="61445" name="AutoShape 5"/>
          <p:cNvSpPr>
            <a:spLocks/>
          </p:cNvSpPr>
          <p:nvPr/>
        </p:nvSpPr>
        <p:spPr bwMode="auto">
          <a:xfrm>
            <a:off x="87314" y="1874564"/>
            <a:ext cx="6084887" cy="1849314"/>
          </a:xfrm>
          <a:prstGeom prst="borderCallout1">
            <a:avLst>
              <a:gd name="adj1" fmla="val 102916"/>
              <a:gd name="adj2" fmla="val 3023"/>
              <a:gd name="adj3" fmla="val 102335"/>
              <a:gd name="adj4" fmla="val 112158"/>
            </a:avLst>
          </a:prstGeom>
          <a:ln>
            <a:headEnd/>
            <a:tailEnd/>
          </a:ln>
        </p:spPr>
        <p:style>
          <a:lnRef idx="2">
            <a:schemeClr val="accent4"/>
          </a:lnRef>
          <a:fillRef idx="1">
            <a:schemeClr val="lt1"/>
          </a:fillRef>
          <a:effectRef idx="0">
            <a:schemeClr val="accent4"/>
          </a:effectRef>
          <a:fontRef idx="minor">
            <a:schemeClr val="dk1"/>
          </a:fontRef>
        </p:style>
        <p:txBody>
          <a:bodyPr/>
          <a:lstStyle/>
          <a:p>
            <a:pPr eaLnBrk="1" hangingPunct="1">
              <a:defRPr/>
            </a:pPr>
            <a:r>
              <a:rPr lang="en-US" altLang="zh-CN" dirty="0">
                <a:solidFill>
                  <a:schemeClr val="tx1"/>
                </a:solidFill>
              </a:rPr>
              <a:t>C</a:t>
            </a:r>
            <a:r>
              <a:rPr lang="zh-CN" altLang="en-US" dirty="0">
                <a:solidFill>
                  <a:schemeClr val="tx1"/>
                </a:solidFill>
              </a:rPr>
              <a:t>语言程序段，</a:t>
            </a:r>
            <a:r>
              <a:rPr lang="en-US" altLang="zh-CN" dirty="0">
                <a:solidFill>
                  <a:schemeClr val="tx1"/>
                </a:solidFill>
              </a:rPr>
              <a:t>Lex</a:t>
            </a:r>
            <a:r>
              <a:rPr lang="zh-CN" altLang="en-US" dirty="0">
                <a:solidFill>
                  <a:schemeClr val="tx1"/>
                </a:solidFill>
              </a:rPr>
              <a:t>对此不作任何处理，直接输出到输出文件</a:t>
            </a:r>
            <a:r>
              <a:rPr lang="en-US" altLang="zh-CN" dirty="0" err="1">
                <a:solidFill>
                  <a:schemeClr val="tx1"/>
                </a:solidFill>
              </a:rPr>
              <a:t>lex.yy.c</a:t>
            </a:r>
            <a:r>
              <a:rPr lang="zh-CN" altLang="en-US" dirty="0">
                <a:solidFill>
                  <a:schemeClr val="tx1"/>
                </a:solidFill>
              </a:rPr>
              <a:t>的尾部。可定义对模式进行处理的</a:t>
            </a:r>
            <a:r>
              <a:rPr lang="en-US" altLang="zh-CN" dirty="0">
                <a:solidFill>
                  <a:schemeClr val="tx1"/>
                </a:solidFill>
              </a:rPr>
              <a:t>C</a:t>
            </a:r>
            <a:r>
              <a:rPr lang="zh-CN" altLang="en-US" dirty="0">
                <a:solidFill>
                  <a:schemeClr val="tx1"/>
                </a:solidFill>
              </a:rPr>
              <a:t>语言函数，主函数和</a:t>
            </a:r>
            <a:r>
              <a:rPr lang="en-US" altLang="zh-CN" dirty="0" err="1">
                <a:solidFill>
                  <a:schemeClr val="tx1"/>
                </a:solidFill>
              </a:rPr>
              <a:t>yylex</a:t>
            </a:r>
            <a:r>
              <a:rPr lang="zh-CN" altLang="en-US" dirty="0">
                <a:solidFill>
                  <a:schemeClr val="tx1"/>
                </a:solidFill>
              </a:rPr>
              <a:t>要调用的函数</a:t>
            </a:r>
            <a:r>
              <a:rPr lang="en-US" altLang="zh-CN" dirty="0" err="1">
                <a:solidFill>
                  <a:schemeClr val="tx1"/>
                </a:solidFill>
              </a:rPr>
              <a:t>yywrap</a:t>
            </a:r>
            <a:r>
              <a:rPr lang="en-US" altLang="zh-CN" dirty="0">
                <a:solidFill>
                  <a:schemeClr val="tx1"/>
                </a:solidFill>
              </a:rPr>
              <a:t>()</a:t>
            </a:r>
            <a:r>
              <a:rPr lang="zh-CN" altLang="en-US" dirty="0">
                <a:solidFill>
                  <a:schemeClr val="tx1"/>
                </a:solidFill>
              </a:rPr>
              <a:t>等。可以分别编译，然后在连接时装配在一起。</a:t>
            </a:r>
            <a:endParaRPr lang="en-US" altLang="zh-CN" dirty="0">
              <a:solidFill>
                <a:schemeClr val="tx1"/>
              </a:solidFill>
            </a:endParaRPr>
          </a:p>
          <a:p>
            <a:pPr eaLnBrk="1" hangingPunct="1">
              <a:defRPr/>
            </a:pPr>
            <a:r>
              <a:rPr lang="zh-CN" altLang="en-US" dirty="0">
                <a:solidFill>
                  <a:schemeClr val="tx1"/>
                </a:solidFill>
              </a:rPr>
              <a:t>如果要将</a:t>
            </a:r>
            <a:r>
              <a:rPr lang="en-US" altLang="zh-CN" dirty="0">
                <a:solidFill>
                  <a:schemeClr val="tx1"/>
                </a:solidFill>
              </a:rPr>
              <a:t>Lex</a:t>
            </a:r>
            <a:r>
              <a:rPr lang="zh-CN" altLang="en-US" dirty="0">
                <a:solidFill>
                  <a:schemeClr val="tx1"/>
                </a:solidFill>
              </a:rPr>
              <a:t>输出作为独立程序来编译，则这一部分要写一个主程序。</a:t>
            </a:r>
          </a:p>
        </p:txBody>
      </p:sp>
      <p:sp>
        <p:nvSpPr>
          <p:cNvPr id="8" name="椭圆 7"/>
          <p:cNvSpPr/>
          <p:nvPr/>
        </p:nvSpPr>
        <p:spPr>
          <a:xfrm>
            <a:off x="8458200" y="3467844"/>
            <a:ext cx="685800" cy="4000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b="1" dirty="0">
                <a:solidFill>
                  <a:srgbClr val="FF0000"/>
                </a:solidFill>
              </a:rPr>
              <a:t>3</a:t>
            </a:r>
            <a:endParaRPr lang="zh-CN" altLang="en-US" b="1" dirty="0">
              <a:solidFill>
                <a:srgbClr val="FF0000"/>
              </a:solidFill>
            </a:endParaRPr>
          </a:p>
        </p:txBody>
      </p:sp>
    </p:spTree>
    <p:extLst>
      <p:ext uri="{BB962C8B-B14F-4D97-AF65-F5344CB8AC3E}">
        <p14:creationId xmlns:p14="http://schemas.microsoft.com/office/powerpoint/2010/main" val="3276617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0"/>
            <a:ext cx="7056784" cy="483518"/>
          </a:xfrm>
        </p:spPr>
        <p:txBody>
          <a:bodyPr>
            <a:noAutofit/>
          </a:bodyPr>
          <a:lstStyle/>
          <a:p>
            <a:pPr>
              <a:lnSpc>
                <a:spcPct val="85000"/>
              </a:lnSpc>
              <a:defRPr/>
            </a:pPr>
            <a:r>
              <a:rPr lang="zh-CN" altLang="en-US" sz="1800" kern="100" dirty="0">
                <a:latin typeface="Times New Roman" panose="02020603050405020304" pitchFamily="18" charset="0"/>
                <a:cs typeface="Times New Roman" panose="02020603050405020304" pitchFamily="18" charset="0"/>
              </a:rPr>
              <a:t>例：</a:t>
            </a:r>
            <a:r>
              <a:rPr lang="zh-CN" altLang="zh-CN" sz="1800" kern="100" dirty="0">
                <a:latin typeface="Times New Roman" panose="02020603050405020304" pitchFamily="18" charset="0"/>
                <a:cs typeface="Times New Roman" panose="02020603050405020304" pitchFamily="18" charset="0"/>
              </a:rPr>
              <a:t>使用</a:t>
            </a:r>
            <a:r>
              <a:rPr lang="en-US" altLang="zh-CN" sz="1800" kern="100" dirty="0">
                <a:latin typeface="Times New Roman" panose="02020603050405020304" pitchFamily="18" charset="0"/>
              </a:rPr>
              <a:t>Lex</a:t>
            </a:r>
            <a:r>
              <a:rPr lang="zh-CN" altLang="en-US" sz="1800" kern="100" dirty="0">
                <a:latin typeface="Times New Roman" panose="02020603050405020304" pitchFamily="18" charset="0"/>
              </a:rPr>
              <a:t>生成识别关键字</a:t>
            </a:r>
            <a:r>
              <a:rPr lang="en-US" altLang="zh-CN" sz="1800" kern="100" dirty="0">
                <a:latin typeface="Times New Roman" panose="02020603050405020304" pitchFamily="18" charset="0"/>
              </a:rPr>
              <a:t>(</a:t>
            </a:r>
            <a:r>
              <a:rPr lang="en-US" altLang="zh-CN" sz="1800" kern="0" dirty="0" err="1">
                <a:latin typeface="Times New Roman" panose="02020603050405020304" pitchFamily="18" charset="0"/>
                <a:ea typeface="宋体" panose="02010600030101010101" pitchFamily="2" charset="-122"/>
              </a:rPr>
              <a:t>if,then,begin,end,while</a:t>
            </a:r>
            <a:r>
              <a:rPr lang="en-US" altLang="zh-CN" sz="1800" kern="0" dirty="0">
                <a:latin typeface="Times New Roman" panose="02020603050405020304" pitchFamily="18" charset="0"/>
                <a:ea typeface="宋体" panose="02010600030101010101" pitchFamily="2" charset="-122"/>
              </a:rPr>
              <a:t>, repeat</a:t>
            </a:r>
            <a:r>
              <a:rPr lang="en-US" altLang="zh-CN" sz="1800" kern="100" dirty="0">
                <a:latin typeface="Times New Roman" panose="02020603050405020304" pitchFamily="18" charset="0"/>
              </a:rPr>
              <a:t>)</a:t>
            </a:r>
            <a:r>
              <a:rPr lang="zh-CN" altLang="en-US" sz="1800" kern="100" dirty="0">
                <a:latin typeface="Times New Roman" panose="02020603050405020304" pitchFamily="18" charset="0"/>
              </a:rPr>
              <a:t>、运算符</a:t>
            </a:r>
            <a:r>
              <a:rPr lang="en-US" altLang="zh-CN" sz="1800" kern="100" dirty="0">
                <a:latin typeface="Times New Roman" panose="02020603050405020304" pitchFamily="18" charset="0"/>
              </a:rPr>
              <a:t>(+,-,*,/)</a:t>
            </a:r>
            <a:r>
              <a:rPr lang="zh-CN" altLang="en-US" sz="1800" kern="100" dirty="0">
                <a:latin typeface="Times New Roman" panose="02020603050405020304" pitchFamily="18" charset="0"/>
              </a:rPr>
              <a:t>、标识符、整数、带小数的实数</a:t>
            </a:r>
            <a:r>
              <a:rPr lang="zh-CN" altLang="en-US" sz="1800" kern="100" dirty="0">
                <a:latin typeface="Times New Roman" panose="02020603050405020304" pitchFamily="18" charset="0"/>
                <a:cs typeface="Times New Roman" panose="02020603050405020304" pitchFamily="18" charset="0"/>
              </a:rPr>
              <a:t>的程序，注释用</a:t>
            </a:r>
            <a:r>
              <a:rPr lang="en-US" altLang="zh-CN" sz="1800" kern="100" dirty="0">
                <a:latin typeface="Times New Roman" panose="02020603050405020304" pitchFamily="18" charset="0"/>
                <a:cs typeface="Times New Roman" panose="02020603050405020304" pitchFamily="18" charset="0"/>
              </a:rPr>
              <a:t>{  }</a:t>
            </a:r>
            <a:r>
              <a:rPr lang="zh-CN" altLang="en-US" sz="1800" kern="100" dirty="0">
                <a:latin typeface="Times New Roman" panose="02020603050405020304" pitchFamily="18" charset="0"/>
                <a:cs typeface="Times New Roman" panose="02020603050405020304" pitchFamily="18" charset="0"/>
              </a:rPr>
              <a:t>括起来</a:t>
            </a:r>
            <a:endParaRPr lang="zh-CN" altLang="en-US" sz="1800" dirty="0"/>
          </a:p>
        </p:txBody>
      </p:sp>
      <p:sp>
        <p:nvSpPr>
          <p:cNvPr id="3" name="矩形 2"/>
          <p:cNvSpPr/>
          <p:nvPr/>
        </p:nvSpPr>
        <p:spPr>
          <a:xfrm>
            <a:off x="618482" y="483518"/>
            <a:ext cx="4747770" cy="12557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pPr>
            <a:r>
              <a:rPr lang="en-US" altLang="zh-CN" sz="1200" kern="0" dirty="0">
                <a:latin typeface="Times New Roman" panose="02020603050405020304" pitchFamily="18" charset="0"/>
                <a:ea typeface="宋体" panose="02010600030101010101" pitchFamily="2" charset="-122"/>
              </a:rPr>
              <a: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#include &lt;</a:t>
            </a:r>
            <a:r>
              <a:rPr lang="en-US" altLang="zh-CN" sz="1200" kern="0" dirty="0" err="1">
                <a:latin typeface="Times New Roman" panose="02020603050405020304" pitchFamily="18" charset="0"/>
                <a:ea typeface="宋体" panose="02010600030101010101" pitchFamily="2" charset="-122"/>
              </a:rPr>
              <a:t>math.h</a:t>
            </a:r>
            <a:r>
              <a:rPr lang="en-US" altLang="zh-CN" sz="1200" kern="0" dirty="0">
                <a:latin typeface="Times New Roman" panose="02020603050405020304" pitchFamily="18" charset="0"/>
                <a:ea typeface="宋体" panose="02010600030101010101" pitchFamily="2" charset="-122"/>
              </a:rPr>
              <a:t>&gt;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#include &lt;</a:t>
            </a:r>
            <a:r>
              <a:rPr lang="en-US" altLang="zh-CN" sz="1200" kern="0" dirty="0" err="1">
                <a:latin typeface="Times New Roman" panose="02020603050405020304" pitchFamily="18" charset="0"/>
                <a:ea typeface="宋体" panose="02010600030101010101" pitchFamily="2" charset="-122"/>
              </a:rPr>
              <a:t>stdlib.h</a:t>
            </a:r>
            <a:r>
              <a:rPr lang="en-US" altLang="zh-CN" sz="1200" kern="0" dirty="0">
                <a:latin typeface="Times New Roman" panose="02020603050405020304" pitchFamily="18" charset="0"/>
                <a:ea typeface="宋体" panose="02010600030101010101" pitchFamily="2" charset="-122"/>
              </a:rPr>
              <a:t>&gt;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#include &lt;</a:t>
            </a:r>
            <a:r>
              <a:rPr lang="en-US" altLang="zh-CN" sz="1200" kern="0" dirty="0" err="1">
                <a:latin typeface="Times New Roman" panose="02020603050405020304" pitchFamily="18" charset="0"/>
                <a:ea typeface="宋体" panose="02010600030101010101" pitchFamily="2" charset="-122"/>
              </a:rPr>
              <a:t>stdio.h</a:t>
            </a:r>
            <a:r>
              <a:rPr lang="en-US" altLang="zh-CN" sz="1200" kern="0" dirty="0">
                <a:latin typeface="Times New Roman" panose="02020603050405020304" pitchFamily="18" charset="0"/>
                <a:ea typeface="宋体" panose="02010600030101010101" pitchFamily="2" charset="-122"/>
              </a:rPr>
              <a:t>&gt;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DIGIT [0-9]</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ID [a-z][a-z0-9]</a:t>
            </a:r>
            <a:r>
              <a:rPr lang="en-US" altLang="zh-CN" sz="1200" kern="0" baseline="30000" dirty="0">
                <a:latin typeface="Times New Roman" panose="02020603050405020304" pitchFamily="18" charset="0"/>
                <a:ea typeface="宋体" panose="02010600030101010101" pitchFamily="2" charset="-122"/>
              </a:rPr>
              <a:t>*</a:t>
            </a:r>
            <a:endParaRPr lang="zh-CN" altLang="zh-CN" sz="1200" kern="100" dirty="0">
              <a:latin typeface="Times New Roman" panose="02020603050405020304" pitchFamily="18" charset="0"/>
              <a:ea typeface="宋体" panose="02010600030101010101" pitchFamily="2" charset="-122"/>
            </a:endParaRPr>
          </a:p>
        </p:txBody>
      </p:sp>
      <p:sp>
        <p:nvSpPr>
          <p:cNvPr id="6" name="矩形 5"/>
          <p:cNvSpPr/>
          <p:nvPr/>
        </p:nvSpPr>
        <p:spPr>
          <a:xfrm>
            <a:off x="611560" y="1707654"/>
            <a:ext cx="4752528" cy="158812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pPr>
            <a:r>
              <a:rPr lang="en-US" altLang="zh-CN" sz="1200" kern="0" dirty="0">
                <a:latin typeface="Times New Roman" panose="02020603050405020304" pitchFamily="18" charset="0"/>
                <a:ea typeface="宋体" panose="02010600030101010101" pitchFamily="2" charset="-122"/>
              </a:rPr>
              <a: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{DIGIT}+  </a:t>
            </a:r>
            <a:r>
              <a:rPr lang="en-US" altLang="zh-CN" sz="1200" kern="0" dirty="0">
                <a:solidFill>
                  <a:srgbClr val="0000FF"/>
                </a:solidFill>
                <a:latin typeface="Times New Roman" panose="02020603050405020304" pitchFamily="18" charset="0"/>
                <a:ea typeface="宋体" panose="02010600030101010101" pitchFamily="2" charset="-122"/>
              </a:rPr>
              <a:t>{  </a:t>
            </a:r>
            <a:r>
              <a:rPr lang="en-US" altLang="zh-CN" sz="1200" kern="0" dirty="0" err="1">
                <a:solidFill>
                  <a:srgbClr val="0000FF"/>
                </a:solidFill>
                <a:latin typeface="Times New Roman" panose="02020603050405020304" pitchFamily="18" charset="0"/>
                <a:ea typeface="宋体" panose="02010600030101010101" pitchFamily="2" charset="-122"/>
              </a:rPr>
              <a:t>printf</a:t>
            </a:r>
            <a:r>
              <a:rPr lang="en-US" altLang="zh-CN" sz="1200" kern="0" dirty="0">
                <a:solidFill>
                  <a:srgbClr val="0000FF"/>
                </a:solidFill>
                <a:latin typeface="Times New Roman" panose="02020603050405020304" pitchFamily="18" charset="0"/>
                <a:ea typeface="宋体" panose="02010600030101010101" pitchFamily="2" charset="-122"/>
              </a:rPr>
              <a:t>("</a:t>
            </a:r>
            <a:r>
              <a:rPr lang="zh-CN" altLang="zh-CN" sz="1200" kern="0" dirty="0">
                <a:solidFill>
                  <a:srgbClr val="0000FF"/>
                </a:solidFill>
                <a:latin typeface="Times New Roman" panose="02020603050405020304" pitchFamily="18" charset="0"/>
                <a:ea typeface="宋体" panose="02010600030101010101" pitchFamily="2" charset="-122"/>
              </a:rPr>
              <a:t>整数：</a:t>
            </a:r>
            <a:r>
              <a:rPr lang="en-US" altLang="zh-CN" sz="1200" kern="0" dirty="0">
                <a:solidFill>
                  <a:srgbClr val="0000FF"/>
                </a:solidFill>
                <a:latin typeface="Times New Roman" panose="02020603050405020304" pitchFamily="18" charset="0"/>
                <a:ea typeface="宋体" panose="02010600030101010101" pitchFamily="2" charset="-122"/>
              </a:rPr>
              <a:t>%s(%d)\n",</a:t>
            </a:r>
            <a:r>
              <a:rPr lang="en-US" altLang="zh-CN" sz="1200" kern="0" dirty="0" err="1">
                <a:solidFill>
                  <a:srgbClr val="0000FF"/>
                </a:solidFill>
                <a:latin typeface="Times New Roman" panose="02020603050405020304" pitchFamily="18" charset="0"/>
                <a:ea typeface="宋体" panose="02010600030101010101" pitchFamily="2" charset="-122"/>
              </a:rPr>
              <a:t>yytext,atoi</a:t>
            </a:r>
            <a:r>
              <a:rPr lang="en-US" altLang="zh-CN" sz="1200" kern="0" dirty="0">
                <a:solidFill>
                  <a:srgbClr val="0000FF"/>
                </a:solidFill>
                <a:latin typeface="Times New Roman" panose="02020603050405020304" pitchFamily="18" charset="0"/>
                <a:ea typeface="宋体" panose="02010600030101010101" pitchFamily="2" charset="-122"/>
              </a:rPr>
              <a:t>(</a:t>
            </a:r>
            <a:r>
              <a:rPr lang="en-US" altLang="zh-CN" sz="1200" kern="0" dirty="0" err="1">
                <a:solidFill>
                  <a:srgbClr val="0000FF"/>
                </a:solidFill>
                <a:latin typeface="Times New Roman" panose="02020603050405020304" pitchFamily="18" charset="0"/>
                <a:ea typeface="宋体" panose="02010600030101010101" pitchFamily="2" charset="-122"/>
              </a:rPr>
              <a:t>yytext</a:t>
            </a:r>
            <a:r>
              <a:rPr lang="en-US" altLang="zh-CN" sz="1200" kern="0" dirty="0">
                <a:solidFill>
                  <a:srgbClr val="0000FF"/>
                </a:solidFill>
                <a:latin typeface="Times New Roman" panose="02020603050405020304" pitchFamily="18" charset="0"/>
                <a:ea typeface="宋体" panose="02010600030101010101" pitchFamily="2" charset="-122"/>
              </a:rPr>
              <a:t>));}</a:t>
            </a:r>
            <a:endParaRPr lang="zh-CN" altLang="zh-CN" sz="1200" kern="100" dirty="0">
              <a:solidFill>
                <a:srgbClr val="0000FF"/>
              </a:solidFill>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{DIGIT}+"."{DIGIT}</a:t>
            </a:r>
            <a:r>
              <a:rPr lang="en-US" altLang="zh-CN" sz="1200" kern="0" baseline="30000" dirty="0">
                <a:latin typeface="Times New Roman" panose="02020603050405020304" pitchFamily="18" charset="0"/>
                <a:ea typeface="宋体" panose="02010600030101010101" pitchFamily="2" charset="-122"/>
              </a:rPr>
              <a:t>*</a:t>
            </a:r>
            <a:r>
              <a:rPr lang="en-US" altLang="zh-CN" sz="1200" kern="0" dirty="0">
                <a:latin typeface="Times New Roman" panose="02020603050405020304" pitchFamily="18" charset="0"/>
                <a:ea typeface="宋体" panose="02010600030101010101" pitchFamily="2" charset="-122"/>
              </a:rPr>
              <a:t>  </a:t>
            </a:r>
            <a:r>
              <a:rPr lang="en-US" altLang="zh-CN" sz="1200" kern="0" dirty="0">
                <a:solidFill>
                  <a:srgbClr val="0000FF"/>
                </a:solidFill>
                <a:latin typeface="Times New Roman" panose="02020603050405020304" pitchFamily="18" charset="0"/>
                <a:ea typeface="宋体" panose="02010600030101010101" pitchFamily="2" charset="-122"/>
              </a:rPr>
              <a:t>{ </a:t>
            </a:r>
            <a:r>
              <a:rPr lang="en-US" altLang="zh-CN" sz="1200" kern="0" dirty="0" err="1">
                <a:solidFill>
                  <a:srgbClr val="0000FF"/>
                </a:solidFill>
                <a:latin typeface="Times New Roman" panose="02020603050405020304" pitchFamily="18" charset="0"/>
                <a:ea typeface="宋体" panose="02010600030101010101" pitchFamily="2" charset="-122"/>
              </a:rPr>
              <a:t>printf</a:t>
            </a:r>
            <a:r>
              <a:rPr lang="en-US" altLang="zh-CN" sz="1200" kern="0" dirty="0">
                <a:solidFill>
                  <a:srgbClr val="0000FF"/>
                </a:solidFill>
                <a:latin typeface="Times New Roman" panose="02020603050405020304" pitchFamily="18" charset="0"/>
                <a:ea typeface="宋体" panose="02010600030101010101" pitchFamily="2" charset="-122"/>
              </a:rPr>
              <a:t>("</a:t>
            </a:r>
            <a:r>
              <a:rPr lang="zh-CN" altLang="zh-CN" sz="1200" kern="0" dirty="0">
                <a:solidFill>
                  <a:srgbClr val="0000FF"/>
                </a:solidFill>
                <a:latin typeface="Times New Roman" panose="02020603050405020304" pitchFamily="18" charset="0"/>
                <a:ea typeface="宋体" panose="02010600030101010101" pitchFamily="2" charset="-122"/>
              </a:rPr>
              <a:t>实数</a:t>
            </a:r>
            <a:r>
              <a:rPr lang="en-US" altLang="zh-CN" sz="1200" kern="0" dirty="0">
                <a:solidFill>
                  <a:srgbClr val="0000FF"/>
                </a:solidFill>
                <a:latin typeface="Times New Roman" panose="02020603050405020304" pitchFamily="18" charset="0"/>
                <a:ea typeface="宋体" panose="02010600030101010101" pitchFamily="2" charset="-122"/>
              </a:rPr>
              <a:t>:%s(%g)\n",</a:t>
            </a:r>
            <a:r>
              <a:rPr lang="en-US" altLang="zh-CN" sz="1200" kern="0" dirty="0" err="1">
                <a:solidFill>
                  <a:srgbClr val="0000FF"/>
                </a:solidFill>
                <a:latin typeface="Times New Roman" panose="02020603050405020304" pitchFamily="18" charset="0"/>
                <a:ea typeface="宋体" panose="02010600030101010101" pitchFamily="2" charset="-122"/>
              </a:rPr>
              <a:t>yytext,atof</a:t>
            </a:r>
            <a:r>
              <a:rPr lang="en-US" altLang="zh-CN" sz="1200" kern="0" dirty="0">
                <a:solidFill>
                  <a:srgbClr val="0000FF"/>
                </a:solidFill>
                <a:latin typeface="Times New Roman" panose="02020603050405020304" pitchFamily="18" charset="0"/>
                <a:ea typeface="宋体" panose="02010600030101010101" pitchFamily="2" charset="-122"/>
              </a:rPr>
              <a:t>(</a:t>
            </a:r>
            <a:r>
              <a:rPr lang="en-US" altLang="zh-CN" sz="1200" kern="0" dirty="0" err="1">
                <a:solidFill>
                  <a:srgbClr val="0000FF"/>
                </a:solidFill>
                <a:latin typeface="Times New Roman" panose="02020603050405020304" pitchFamily="18" charset="0"/>
                <a:ea typeface="宋体" panose="02010600030101010101" pitchFamily="2" charset="-122"/>
              </a:rPr>
              <a:t>yytext</a:t>
            </a:r>
            <a:r>
              <a:rPr lang="en-US" altLang="zh-CN" sz="1200" kern="0" dirty="0">
                <a:solidFill>
                  <a:srgbClr val="0000FF"/>
                </a:solidFill>
                <a:latin typeface="Times New Roman" panose="02020603050405020304" pitchFamily="18" charset="0"/>
                <a:ea typeface="宋体" panose="02010600030101010101" pitchFamily="2" charset="-122"/>
              </a:rPr>
              <a:t>));}</a:t>
            </a:r>
            <a:endParaRPr lang="zh-CN" altLang="zh-CN" sz="1200" kern="100" dirty="0">
              <a:solidFill>
                <a:srgbClr val="0000FF"/>
              </a:solidFill>
              <a:latin typeface="Times New Roman" panose="02020603050405020304" pitchFamily="18" charset="0"/>
              <a:ea typeface="宋体" panose="02010600030101010101" pitchFamily="2" charset="-122"/>
            </a:endParaRPr>
          </a:p>
          <a:p>
            <a:pPr>
              <a:lnSpc>
                <a:spcPct val="90000"/>
              </a:lnSpc>
            </a:pPr>
            <a:r>
              <a:rPr lang="en-US" altLang="zh-CN" sz="1200" kern="0" dirty="0" err="1">
                <a:latin typeface="Times New Roman" panose="02020603050405020304" pitchFamily="18" charset="0"/>
                <a:ea typeface="宋体" panose="02010600030101010101" pitchFamily="2" charset="-122"/>
              </a:rPr>
              <a:t>if|then|begin|end|while|repeat</a:t>
            </a:r>
            <a:r>
              <a:rPr lang="en-US" altLang="zh-CN" sz="1200" kern="0" dirty="0">
                <a:latin typeface="Times New Roman" panose="02020603050405020304" pitchFamily="18" charset="0"/>
                <a:ea typeface="宋体" panose="02010600030101010101" pitchFamily="2" charset="-122"/>
              </a:rPr>
              <a:t>    </a:t>
            </a:r>
            <a:r>
              <a:rPr lang="en-US" altLang="zh-CN" sz="1200" kern="0" dirty="0">
                <a:solidFill>
                  <a:srgbClr val="0000FF"/>
                </a:solidFill>
                <a:latin typeface="Times New Roman" panose="02020603050405020304" pitchFamily="18" charset="0"/>
                <a:ea typeface="宋体" panose="02010600030101010101" pitchFamily="2" charset="-122"/>
              </a:rPr>
              <a:t>{ </a:t>
            </a:r>
            <a:r>
              <a:rPr lang="en-US" altLang="zh-CN" sz="1200" kern="0" dirty="0" err="1">
                <a:solidFill>
                  <a:srgbClr val="0000FF"/>
                </a:solidFill>
                <a:latin typeface="Times New Roman" panose="02020603050405020304" pitchFamily="18" charset="0"/>
                <a:ea typeface="宋体" panose="02010600030101010101" pitchFamily="2" charset="-122"/>
              </a:rPr>
              <a:t>printf</a:t>
            </a:r>
            <a:r>
              <a:rPr lang="en-US" altLang="zh-CN" sz="1200" kern="0" dirty="0">
                <a:solidFill>
                  <a:srgbClr val="0000FF"/>
                </a:solidFill>
                <a:latin typeface="Times New Roman" panose="02020603050405020304" pitchFamily="18" charset="0"/>
                <a:ea typeface="宋体" panose="02010600030101010101" pitchFamily="2" charset="-122"/>
              </a:rPr>
              <a:t>("</a:t>
            </a:r>
            <a:r>
              <a:rPr lang="zh-CN" altLang="zh-CN" sz="1200" kern="0" dirty="0">
                <a:solidFill>
                  <a:srgbClr val="0000FF"/>
                </a:solidFill>
                <a:latin typeface="Times New Roman" panose="02020603050405020304" pitchFamily="18" charset="0"/>
                <a:ea typeface="宋体" panose="02010600030101010101" pitchFamily="2" charset="-122"/>
              </a:rPr>
              <a:t>关键字：</a:t>
            </a:r>
            <a:r>
              <a:rPr lang="en-US" altLang="zh-CN" sz="1200" kern="0" dirty="0">
                <a:solidFill>
                  <a:srgbClr val="0000FF"/>
                </a:solidFill>
                <a:latin typeface="Times New Roman" panose="02020603050405020304" pitchFamily="18" charset="0"/>
                <a:ea typeface="宋体" panose="02010600030101010101" pitchFamily="2" charset="-122"/>
              </a:rPr>
              <a:t>%s\n",</a:t>
            </a:r>
            <a:r>
              <a:rPr lang="en-US" altLang="zh-CN" sz="1200" kern="0" dirty="0" err="1">
                <a:solidFill>
                  <a:srgbClr val="0000FF"/>
                </a:solidFill>
                <a:latin typeface="Times New Roman" panose="02020603050405020304" pitchFamily="18" charset="0"/>
                <a:ea typeface="宋体" panose="02010600030101010101" pitchFamily="2" charset="-122"/>
              </a:rPr>
              <a:t>yytext</a:t>
            </a:r>
            <a:r>
              <a:rPr lang="en-US" altLang="zh-CN" sz="1200" kern="0" dirty="0">
                <a:solidFill>
                  <a:srgbClr val="0000FF"/>
                </a:solidFill>
                <a:latin typeface="Times New Roman" panose="02020603050405020304" pitchFamily="18" charset="0"/>
                <a:ea typeface="宋体" panose="02010600030101010101" pitchFamily="2" charset="-122"/>
              </a:rPr>
              <a:t>); }</a:t>
            </a:r>
            <a:endParaRPr lang="zh-CN" altLang="zh-CN" sz="1200" kern="100" dirty="0">
              <a:solidFill>
                <a:srgbClr val="0000FF"/>
              </a:solidFill>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{ID}   </a:t>
            </a:r>
            <a:r>
              <a:rPr lang="en-US" altLang="zh-CN" sz="1200" kern="0" dirty="0">
                <a:solidFill>
                  <a:srgbClr val="0000FF"/>
                </a:solidFill>
                <a:latin typeface="Times New Roman" panose="02020603050405020304" pitchFamily="18" charset="0"/>
                <a:ea typeface="宋体" panose="02010600030101010101" pitchFamily="2" charset="-122"/>
              </a:rPr>
              <a:t>{ </a:t>
            </a:r>
            <a:r>
              <a:rPr lang="en-US" altLang="zh-CN" sz="1200" kern="0" dirty="0" err="1">
                <a:solidFill>
                  <a:srgbClr val="0000FF"/>
                </a:solidFill>
                <a:latin typeface="Times New Roman" panose="02020603050405020304" pitchFamily="18" charset="0"/>
                <a:ea typeface="宋体" panose="02010600030101010101" pitchFamily="2" charset="-122"/>
              </a:rPr>
              <a:t>printf</a:t>
            </a:r>
            <a:r>
              <a:rPr lang="en-US" altLang="zh-CN" sz="1200" kern="0" dirty="0">
                <a:solidFill>
                  <a:srgbClr val="0000FF"/>
                </a:solidFill>
                <a:latin typeface="Times New Roman" panose="02020603050405020304" pitchFamily="18" charset="0"/>
                <a:ea typeface="宋体" panose="02010600030101010101" pitchFamily="2" charset="-122"/>
              </a:rPr>
              <a:t>("</a:t>
            </a:r>
            <a:r>
              <a:rPr lang="zh-CN" altLang="zh-CN" sz="1200" kern="0" dirty="0">
                <a:solidFill>
                  <a:srgbClr val="0000FF"/>
                </a:solidFill>
                <a:latin typeface="Times New Roman" panose="02020603050405020304" pitchFamily="18" charset="0"/>
                <a:ea typeface="宋体" panose="02010600030101010101" pitchFamily="2" charset="-122"/>
              </a:rPr>
              <a:t>标识符：</a:t>
            </a:r>
            <a:r>
              <a:rPr lang="en-US" altLang="zh-CN" sz="1200" kern="0" dirty="0">
                <a:solidFill>
                  <a:srgbClr val="0000FF"/>
                </a:solidFill>
                <a:latin typeface="Times New Roman" panose="02020603050405020304" pitchFamily="18" charset="0"/>
                <a:ea typeface="宋体" panose="02010600030101010101" pitchFamily="2" charset="-122"/>
              </a:rPr>
              <a:t>%s\n",</a:t>
            </a:r>
            <a:r>
              <a:rPr lang="en-US" altLang="zh-CN" sz="1200" kern="0" dirty="0" err="1">
                <a:solidFill>
                  <a:srgbClr val="0000FF"/>
                </a:solidFill>
                <a:latin typeface="Times New Roman" panose="02020603050405020304" pitchFamily="18" charset="0"/>
                <a:ea typeface="宋体" panose="02010600030101010101" pitchFamily="2" charset="-122"/>
              </a:rPr>
              <a:t>yytext</a:t>
            </a:r>
            <a:r>
              <a:rPr lang="en-US" altLang="zh-CN" sz="1200" kern="0" dirty="0">
                <a:solidFill>
                  <a:srgbClr val="0000FF"/>
                </a:solidFill>
                <a:latin typeface="Times New Roman" panose="02020603050405020304" pitchFamily="18" charset="0"/>
                <a:ea typeface="宋体" panose="02010600030101010101" pitchFamily="2" charset="-122"/>
              </a:rPr>
              <a:t>);  }</a:t>
            </a:r>
            <a:endParaRPr lang="zh-CN" altLang="zh-CN" sz="1200" kern="100" dirty="0">
              <a:solidFill>
                <a:srgbClr val="0000FF"/>
              </a:solidFill>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  </a:t>
            </a:r>
            <a:r>
              <a:rPr lang="en-US" altLang="zh-CN" sz="1200" kern="0" dirty="0">
                <a:solidFill>
                  <a:srgbClr val="0000FF"/>
                </a:solidFill>
                <a:latin typeface="Times New Roman" panose="02020603050405020304" pitchFamily="18" charset="0"/>
                <a:ea typeface="宋体" panose="02010600030101010101" pitchFamily="2" charset="-122"/>
              </a:rPr>
              <a:t>{</a:t>
            </a:r>
            <a:r>
              <a:rPr lang="en-US" altLang="zh-CN" sz="1200" kern="0" dirty="0" err="1">
                <a:solidFill>
                  <a:srgbClr val="0000FF"/>
                </a:solidFill>
                <a:latin typeface="Times New Roman" panose="02020603050405020304" pitchFamily="18" charset="0"/>
                <a:ea typeface="宋体" panose="02010600030101010101" pitchFamily="2" charset="-122"/>
              </a:rPr>
              <a:t>printf</a:t>
            </a:r>
            <a:r>
              <a:rPr lang="en-US" altLang="zh-CN" sz="1200" kern="0" dirty="0">
                <a:solidFill>
                  <a:srgbClr val="0000FF"/>
                </a:solidFill>
                <a:latin typeface="Times New Roman" panose="02020603050405020304" pitchFamily="18" charset="0"/>
                <a:ea typeface="宋体" panose="02010600030101010101" pitchFamily="2" charset="-122"/>
              </a:rPr>
              <a:t>("</a:t>
            </a:r>
            <a:r>
              <a:rPr lang="zh-CN" altLang="zh-CN" sz="1200" kern="0" dirty="0">
                <a:solidFill>
                  <a:srgbClr val="0000FF"/>
                </a:solidFill>
                <a:latin typeface="Times New Roman" panose="02020603050405020304" pitchFamily="18" charset="0"/>
                <a:ea typeface="宋体" panose="02010600030101010101" pitchFamily="2" charset="-122"/>
              </a:rPr>
              <a:t>运算符：</a:t>
            </a:r>
            <a:r>
              <a:rPr lang="en-US" altLang="zh-CN" sz="1200" kern="0" dirty="0">
                <a:solidFill>
                  <a:srgbClr val="0000FF"/>
                </a:solidFill>
                <a:latin typeface="Times New Roman" panose="02020603050405020304" pitchFamily="18" charset="0"/>
                <a:ea typeface="宋体" panose="02010600030101010101" pitchFamily="2" charset="-122"/>
              </a:rPr>
              <a:t>%s\n",</a:t>
            </a:r>
            <a:r>
              <a:rPr lang="en-US" altLang="zh-CN" sz="1200" kern="0" dirty="0" err="1">
                <a:solidFill>
                  <a:srgbClr val="0000FF"/>
                </a:solidFill>
                <a:latin typeface="Times New Roman" panose="02020603050405020304" pitchFamily="18" charset="0"/>
                <a:ea typeface="宋体" panose="02010600030101010101" pitchFamily="2" charset="-122"/>
              </a:rPr>
              <a:t>yytext</a:t>
            </a:r>
            <a:r>
              <a:rPr lang="en-US" altLang="zh-CN" sz="1200" kern="0" dirty="0">
                <a:solidFill>
                  <a:srgbClr val="0000FF"/>
                </a:solidFill>
                <a:latin typeface="Times New Roman" panose="02020603050405020304" pitchFamily="18" charset="0"/>
                <a:ea typeface="宋体" panose="02010600030101010101" pitchFamily="2" charset="-122"/>
              </a:rPr>
              <a:t>);  }</a:t>
            </a:r>
            <a:endParaRPr lang="zh-CN" altLang="zh-CN" sz="1200" kern="100" dirty="0">
              <a:solidFill>
                <a:srgbClr val="0000FF"/>
              </a:solidFill>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“{”[^}\n]*“}”  ;/*</a:t>
            </a:r>
            <a:r>
              <a:rPr lang="zh-CN" altLang="zh-CN" sz="1200" kern="0" dirty="0">
                <a:latin typeface="Times New Roman" panose="02020603050405020304" pitchFamily="18" charset="0"/>
                <a:ea typeface="宋体" panose="02010600030101010101" pitchFamily="2" charset="-122"/>
              </a:rPr>
              <a:t>删除注释，假定</a:t>
            </a:r>
            <a:r>
              <a:rPr lang="zh-CN" altLang="en-US" sz="1200" kern="0" dirty="0">
                <a:latin typeface="Times New Roman" panose="02020603050405020304" pitchFamily="18" charset="0"/>
                <a:ea typeface="宋体" panose="02010600030101010101" pitchFamily="2" charset="-122"/>
              </a:rPr>
              <a:t>该语言</a:t>
            </a:r>
            <a:r>
              <a:rPr lang="zh-CN" altLang="zh-CN" sz="1200" kern="0" dirty="0">
                <a:latin typeface="Times New Roman" panose="02020603050405020304" pitchFamily="18" charset="0"/>
                <a:ea typeface="宋体" panose="02010600030101010101" pitchFamily="2" charset="-122"/>
              </a:rPr>
              <a:t>的注释用</a:t>
            </a:r>
            <a:r>
              <a:rPr lang="en-US" altLang="zh-CN" sz="1200" kern="0" dirty="0">
                <a:latin typeface="Times New Roman" panose="02020603050405020304" pitchFamily="18" charset="0"/>
                <a:ea typeface="宋体" panose="02010600030101010101" pitchFamily="2" charset="-122"/>
              </a:rPr>
              <a:t>{}</a:t>
            </a:r>
            <a:r>
              <a:rPr lang="zh-CN" altLang="zh-CN" sz="1200" kern="0" dirty="0">
                <a:latin typeface="Times New Roman" panose="02020603050405020304" pitchFamily="18" charset="0"/>
                <a:ea typeface="宋体" panose="02010600030101010101" pitchFamily="2" charset="-122"/>
              </a:rPr>
              <a:t>括起来</a:t>
            </a:r>
            <a:r>
              <a:rPr lang="en-US" altLang="zh-CN" sz="1200" kern="0" dirty="0">
                <a:latin typeface="Times New Roman" panose="02020603050405020304" pitchFamily="18" charset="0"/>
                <a:ea typeface="宋体" panose="02010600030101010101" pitchFamily="2" charset="-122"/>
              </a:rPr>
              <a: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[\t\n\x20]+   ;  /*</a:t>
            </a:r>
            <a:r>
              <a:rPr lang="zh-CN" altLang="zh-CN" sz="1200" kern="0" dirty="0">
                <a:latin typeface="Times New Roman" panose="02020603050405020304" pitchFamily="18" charset="0"/>
                <a:ea typeface="宋体" panose="02010600030101010101" pitchFamily="2" charset="-122"/>
              </a:rPr>
              <a:t>删除多余的空格</a:t>
            </a:r>
            <a:r>
              <a:rPr lang="en-US" altLang="zh-CN" sz="1200" kern="0" dirty="0">
                <a:latin typeface="Times New Roman" panose="02020603050405020304" pitchFamily="18" charset="0"/>
                <a:ea typeface="宋体" panose="02010600030101010101" pitchFamily="2" charset="-122"/>
              </a:rPr>
              <a:t>*/</a:t>
            </a:r>
            <a:endParaRPr lang="zh-CN" altLang="zh-CN" sz="1200" kern="100" dirty="0">
              <a:latin typeface="Times New Roman" panose="02020603050405020304" pitchFamily="18" charset="0"/>
              <a:ea typeface="宋体" panose="02010600030101010101" pitchFamily="2" charset="-122"/>
            </a:endParaRPr>
          </a:p>
          <a:p>
            <a:pPr>
              <a:lnSpc>
                <a:spcPct val="90000"/>
              </a:lnSpc>
            </a:pPr>
            <a:r>
              <a:rPr lang="en-US" altLang="zh-CN" sz="1200" kern="0" dirty="0">
                <a:latin typeface="Times New Roman" panose="02020603050405020304" pitchFamily="18" charset="0"/>
                <a:ea typeface="宋体" panose="02010600030101010101" pitchFamily="2" charset="-122"/>
              </a:rPr>
              <a:t>.      </a:t>
            </a:r>
            <a:r>
              <a:rPr lang="en-US" altLang="zh-CN" sz="1200" kern="0" dirty="0">
                <a:solidFill>
                  <a:srgbClr val="0000FF"/>
                </a:solidFill>
                <a:latin typeface="Times New Roman" panose="02020603050405020304" pitchFamily="18" charset="0"/>
                <a:ea typeface="宋体" panose="02010600030101010101" pitchFamily="2" charset="-122"/>
              </a:rPr>
              <a:t>{ </a:t>
            </a:r>
            <a:r>
              <a:rPr lang="en-US" altLang="zh-CN" sz="1200" kern="0" dirty="0" err="1">
                <a:solidFill>
                  <a:srgbClr val="0000FF"/>
                </a:solidFill>
                <a:latin typeface="Times New Roman" panose="02020603050405020304" pitchFamily="18" charset="0"/>
                <a:ea typeface="宋体" panose="02010600030101010101" pitchFamily="2" charset="-122"/>
              </a:rPr>
              <a:t>printf</a:t>
            </a:r>
            <a:r>
              <a:rPr lang="en-US" altLang="zh-CN" sz="1200" kern="0" dirty="0">
                <a:solidFill>
                  <a:srgbClr val="0000FF"/>
                </a:solidFill>
                <a:latin typeface="Times New Roman" panose="02020603050405020304" pitchFamily="18" charset="0"/>
                <a:ea typeface="宋体" panose="02010600030101010101" pitchFamily="2" charset="-122"/>
              </a:rPr>
              <a:t>("</a:t>
            </a:r>
            <a:r>
              <a:rPr lang="zh-CN" altLang="zh-CN" sz="1200" kern="0" dirty="0">
                <a:solidFill>
                  <a:srgbClr val="0000FF"/>
                </a:solidFill>
                <a:latin typeface="Times New Roman" panose="02020603050405020304" pitchFamily="18" charset="0"/>
                <a:ea typeface="宋体" panose="02010600030101010101" pitchFamily="2" charset="-122"/>
              </a:rPr>
              <a:t>不能识别的字符：</a:t>
            </a:r>
            <a:r>
              <a:rPr lang="en-US" altLang="zh-CN" sz="1200" kern="0" dirty="0">
                <a:solidFill>
                  <a:srgbClr val="0000FF"/>
                </a:solidFill>
                <a:latin typeface="Times New Roman" panose="02020603050405020304" pitchFamily="18" charset="0"/>
                <a:ea typeface="宋体" panose="02010600030101010101" pitchFamily="2" charset="-122"/>
              </a:rPr>
              <a:t>%s\n",</a:t>
            </a:r>
            <a:r>
              <a:rPr lang="en-US" altLang="zh-CN" sz="1200" kern="0" dirty="0" err="1">
                <a:solidFill>
                  <a:srgbClr val="0000FF"/>
                </a:solidFill>
                <a:latin typeface="Times New Roman" panose="02020603050405020304" pitchFamily="18" charset="0"/>
                <a:ea typeface="宋体" panose="02010600030101010101" pitchFamily="2" charset="-122"/>
              </a:rPr>
              <a:t>yytext</a:t>
            </a:r>
            <a:r>
              <a:rPr lang="en-US" altLang="zh-CN" sz="1200" kern="0" dirty="0">
                <a:solidFill>
                  <a:srgbClr val="0000FF"/>
                </a:solidFill>
                <a:latin typeface="Times New Roman" panose="02020603050405020304" pitchFamily="18" charset="0"/>
                <a:ea typeface="宋体" panose="02010600030101010101" pitchFamily="2" charset="-122"/>
              </a:rPr>
              <a:t>); }</a:t>
            </a:r>
            <a:endParaRPr lang="zh-CN" altLang="zh-CN" sz="1200" kern="100" dirty="0">
              <a:solidFill>
                <a:srgbClr val="0000FF"/>
              </a:solidFill>
              <a:latin typeface="Times New Roman" panose="02020603050405020304" pitchFamily="18" charset="0"/>
              <a:ea typeface="宋体" panose="02010600030101010101" pitchFamily="2" charset="-122"/>
            </a:endParaRPr>
          </a:p>
        </p:txBody>
      </p:sp>
      <p:sp>
        <p:nvSpPr>
          <p:cNvPr id="7" name="线形标注 1 6"/>
          <p:cNvSpPr/>
          <p:nvPr/>
        </p:nvSpPr>
        <p:spPr>
          <a:xfrm>
            <a:off x="5628409" y="771754"/>
            <a:ext cx="1482236" cy="397266"/>
          </a:xfrm>
          <a:prstGeom prst="borderCallout1">
            <a:avLst>
              <a:gd name="adj1" fmla="val 43925"/>
              <a:gd name="adj2" fmla="val 378"/>
              <a:gd name="adj3" fmla="val 104109"/>
              <a:gd name="adj4" fmla="val -52236"/>
            </a:avLst>
          </a:prstGeom>
        </p:spPr>
        <p:style>
          <a:lnRef idx="2">
            <a:schemeClr val="accent3"/>
          </a:lnRef>
          <a:fillRef idx="1">
            <a:schemeClr val="lt1"/>
          </a:fillRef>
          <a:effectRef idx="0">
            <a:schemeClr val="accent3"/>
          </a:effectRef>
          <a:fontRef idx="minor">
            <a:schemeClr val="dk1"/>
          </a:fontRef>
        </p:style>
        <p:txBody>
          <a:bodyPr rtlCol="0" anchor="ctr"/>
          <a:lstStyle/>
          <a:p>
            <a:pPr algn="ctr">
              <a:lnSpc>
                <a:spcPct val="90000"/>
              </a:lnSpc>
            </a:pPr>
            <a:r>
              <a:rPr lang="zh-CN" altLang="en-US" sz="1600" dirty="0"/>
              <a:t>声明部分</a:t>
            </a:r>
          </a:p>
        </p:txBody>
      </p:sp>
      <p:grpSp>
        <p:nvGrpSpPr>
          <p:cNvPr id="11" name="组合 10"/>
          <p:cNvGrpSpPr/>
          <p:nvPr/>
        </p:nvGrpSpPr>
        <p:grpSpPr>
          <a:xfrm>
            <a:off x="1979713" y="762949"/>
            <a:ext cx="1368151" cy="360040"/>
            <a:chOff x="2589517" y="1156545"/>
            <a:chExt cx="1766459" cy="969631"/>
          </a:xfrm>
        </p:grpSpPr>
        <p:sp>
          <p:nvSpPr>
            <p:cNvPr id="9" name="右大括号 8"/>
            <p:cNvSpPr/>
            <p:nvPr/>
          </p:nvSpPr>
          <p:spPr>
            <a:xfrm>
              <a:off x="2589517" y="1156545"/>
              <a:ext cx="398307" cy="96963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lnSpc>
                  <a:spcPct val="90000"/>
                </a:lnSpc>
              </a:pPr>
              <a:endParaRPr lang="zh-CN" altLang="en-US" sz="1400"/>
            </a:p>
          </p:txBody>
        </p:sp>
        <p:sp>
          <p:nvSpPr>
            <p:cNvPr id="10" name="TextBox 9"/>
            <p:cNvSpPr txBox="1"/>
            <p:nvPr/>
          </p:nvSpPr>
          <p:spPr>
            <a:xfrm>
              <a:off x="2915816" y="1338323"/>
              <a:ext cx="1440160" cy="291619"/>
            </a:xfrm>
            <a:prstGeom prst="rect">
              <a:avLst/>
            </a:prstGeom>
            <a:noFill/>
          </p:spPr>
          <p:txBody>
            <a:bodyPr wrap="square" rtlCol="0">
              <a:spAutoFit/>
            </a:bodyPr>
            <a:lstStyle/>
            <a:p>
              <a:pPr>
                <a:lnSpc>
                  <a:spcPct val="90000"/>
                </a:lnSpc>
              </a:pPr>
              <a:r>
                <a:rPr lang="zh-CN" altLang="en-US" sz="1400" dirty="0"/>
                <a:t>预处理语句</a:t>
              </a:r>
            </a:p>
          </p:txBody>
        </p:sp>
      </p:grpSp>
      <p:grpSp>
        <p:nvGrpSpPr>
          <p:cNvPr id="12" name="组合 11"/>
          <p:cNvGrpSpPr/>
          <p:nvPr/>
        </p:nvGrpSpPr>
        <p:grpSpPr>
          <a:xfrm>
            <a:off x="1979712" y="1389173"/>
            <a:ext cx="2232249" cy="264769"/>
            <a:chOff x="2660917" y="1059582"/>
            <a:chExt cx="2872290" cy="969631"/>
          </a:xfrm>
        </p:grpSpPr>
        <p:sp>
          <p:nvSpPr>
            <p:cNvPr id="13" name="右大括号 12"/>
            <p:cNvSpPr/>
            <p:nvPr/>
          </p:nvSpPr>
          <p:spPr>
            <a:xfrm>
              <a:off x="2660917" y="1059582"/>
              <a:ext cx="398916" cy="96963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lnSpc>
                  <a:spcPct val="90000"/>
                </a:lnSpc>
              </a:pPr>
              <a:endParaRPr lang="zh-CN" altLang="en-US" sz="1400"/>
            </a:p>
          </p:txBody>
        </p:sp>
        <p:sp>
          <p:nvSpPr>
            <p:cNvPr id="14" name="TextBox 13"/>
            <p:cNvSpPr txBox="1"/>
            <p:nvPr/>
          </p:nvSpPr>
          <p:spPr>
            <a:xfrm>
              <a:off x="2987824" y="1171092"/>
              <a:ext cx="2545383" cy="508138"/>
            </a:xfrm>
            <a:prstGeom prst="rect">
              <a:avLst/>
            </a:prstGeom>
            <a:noFill/>
          </p:spPr>
          <p:txBody>
            <a:bodyPr wrap="square" rtlCol="0">
              <a:spAutoFit/>
            </a:bodyPr>
            <a:lstStyle/>
            <a:p>
              <a:pPr>
                <a:lnSpc>
                  <a:spcPct val="90000"/>
                </a:lnSpc>
              </a:pPr>
              <a:r>
                <a:rPr lang="zh-CN" altLang="en-US" sz="1400" dirty="0"/>
                <a:t>定义正则表达式的名字</a:t>
              </a:r>
            </a:p>
          </p:txBody>
        </p:sp>
      </p:grpSp>
      <p:sp>
        <p:nvSpPr>
          <p:cNvPr id="16" name="线形标注 1 15"/>
          <p:cNvSpPr/>
          <p:nvPr/>
        </p:nvSpPr>
        <p:spPr>
          <a:xfrm>
            <a:off x="5631662" y="2311450"/>
            <a:ext cx="1482236" cy="397266"/>
          </a:xfrm>
          <a:prstGeom prst="borderCallout1">
            <a:avLst>
              <a:gd name="adj1" fmla="val 43925"/>
              <a:gd name="adj2" fmla="val 378"/>
              <a:gd name="adj3" fmla="val 104109"/>
              <a:gd name="adj4" fmla="val -52236"/>
            </a:avLst>
          </a:prstGeom>
        </p:spPr>
        <p:style>
          <a:lnRef idx="2">
            <a:schemeClr val="accent3"/>
          </a:lnRef>
          <a:fillRef idx="1">
            <a:schemeClr val="lt1"/>
          </a:fillRef>
          <a:effectRef idx="0">
            <a:schemeClr val="accent3"/>
          </a:effectRef>
          <a:fontRef idx="minor">
            <a:schemeClr val="dk1"/>
          </a:fontRef>
        </p:style>
        <p:txBody>
          <a:bodyPr rtlCol="0" anchor="ctr"/>
          <a:lstStyle/>
          <a:p>
            <a:pPr algn="ctr">
              <a:lnSpc>
                <a:spcPct val="90000"/>
              </a:lnSpc>
            </a:pPr>
            <a:r>
              <a:rPr lang="zh-CN" altLang="en-US" sz="1600" dirty="0"/>
              <a:t>翻译规则</a:t>
            </a:r>
          </a:p>
        </p:txBody>
      </p:sp>
      <p:sp>
        <p:nvSpPr>
          <p:cNvPr id="4" name="内容占位符 2">
            <a:extLst>
              <a:ext uri="{FF2B5EF4-FFF2-40B4-BE49-F238E27FC236}">
                <a16:creationId xmlns:a16="http://schemas.microsoft.com/office/drawing/2014/main" id="{ADA19966-F950-5139-FEB8-2E98544A33E6}"/>
              </a:ext>
            </a:extLst>
          </p:cNvPr>
          <p:cNvSpPr>
            <a:spLocks noGrp="1"/>
          </p:cNvSpPr>
          <p:nvPr>
            <p:ph idx="1"/>
          </p:nvPr>
        </p:nvSpPr>
        <p:spPr>
          <a:xfrm>
            <a:off x="611560" y="3291830"/>
            <a:ext cx="4750400" cy="1872208"/>
          </a:xfrm>
        </p:spPr>
        <p:style>
          <a:lnRef idx="2">
            <a:schemeClr val="accent1"/>
          </a:lnRef>
          <a:fillRef idx="1">
            <a:schemeClr val="lt1"/>
          </a:fillRef>
          <a:effectRef idx="0">
            <a:schemeClr val="accent1"/>
          </a:effectRef>
          <a:fontRef idx="minor">
            <a:schemeClr val="dk1"/>
          </a:fontRef>
        </p:style>
        <p:txBody>
          <a:bodyPr>
            <a:noAutofit/>
          </a:bodyPr>
          <a:lstStyle/>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err="1">
                <a:solidFill>
                  <a:srgbClr val="000000"/>
                </a:solidFill>
                <a:latin typeface="Times New Roman" panose="02020603050405020304" pitchFamily="18" charset="0"/>
              </a:rPr>
              <a:t>int</a:t>
            </a:r>
            <a:r>
              <a:rPr lang="en-US" altLang="zh-CN" sz="1200" dirty="0">
                <a:solidFill>
                  <a:srgbClr val="000000"/>
                </a:solidFill>
                <a:latin typeface="Times New Roman" panose="02020603050405020304" pitchFamily="18" charset="0"/>
              </a:rPr>
              <a:t> main(</a:t>
            </a:r>
            <a:r>
              <a:rPr lang="en-US" altLang="zh-CN" sz="1200" dirty="0" err="1">
                <a:solidFill>
                  <a:srgbClr val="000000"/>
                </a:solidFill>
                <a:latin typeface="Times New Roman" panose="02020603050405020304" pitchFamily="18" charset="0"/>
              </a:rPr>
              <a:t>int</a:t>
            </a:r>
            <a:r>
              <a:rPr lang="en-US" altLang="zh-CN" sz="1200" dirty="0">
                <a:solidFill>
                  <a:srgbClr val="000000"/>
                </a:solidFill>
                <a:latin typeface="Times New Roman" panose="02020603050405020304" pitchFamily="18" charset="0"/>
              </a:rPr>
              <a:t> </a:t>
            </a:r>
            <a:r>
              <a:rPr lang="en-US" altLang="zh-CN" sz="1200" dirty="0" err="1">
                <a:solidFill>
                  <a:srgbClr val="000000"/>
                </a:solidFill>
                <a:latin typeface="Times New Roman" panose="02020603050405020304" pitchFamily="18" charset="0"/>
              </a:rPr>
              <a:t>argc,char</a:t>
            </a:r>
            <a:r>
              <a:rPr lang="en-US" altLang="zh-CN" sz="1200" dirty="0">
                <a:solidFill>
                  <a:srgbClr val="000000"/>
                </a:solidFill>
                <a:latin typeface="Times New Roman" panose="02020603050405020304" pitchFamily="18" charset="0"/>
              </a:rPr>
              <a:t> *</a:t>
            </a:r>
            <a:r>
              <a:rPr lang="en-US" altLang="zh-CN" sz="1200" dirty="0" err="1">
                <a:solidFill>
                  <a:srgbClr val="000000"/>
                </a:solidFill>
                <a:latin typeface="Times New Roman" panose="02020603050405020304" pitchFamily="18" charset="0"/>
              </a:rPr>
              <a:t>argv</a:t>
            </a: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   ++</a:t>
            </a:r>
            <a:r>
              <a:rPr lang="en-US" altLang="zh-CN" sz="1200" dirty="0" err="1">
                <a:solidFill>
                  <a:srgbClr val="000000"/>
                </a:solidFill>
                <a:latin typeface="Times New Roman" panose="02020603050405020304" pitchFamily="18" charset="0"/>
              </a:rPr>
              <a:t>argv</a:t>
            </a:r>
            <a:r>
              <a:rPr lang="en-US" altLang="zh-CN" sz="1200" dirty="0">
                <a:solidFill>
                  <a:srgbClr val="000000"/>
                </a:solidFill>
                <a:latin typeface="Times New Roman" panose="02020603050405020304" pitchFamily="18" charset="0"/>
              </a:rPr>
              <a:t>;--</a:t>
            </a:r>
            <a:r>
              <a:rPr lang="en-US" altLang="zh-CN" sz="1200" dirty="0" err="1">
                <a:solidFill>
                  <a:srgbClr val="000000"/>
                </a:solidFill>
                <a:latin typeface="Times New Roman" panose="02020603050405020304" pitchFamily="18" charset="0"/>
              </a:rPr>
              <a:t>argc</a:t>
            </a:r>
            <a:r>
              <a:rPr lang="en-US" altLang="zh-CN" sz="1200" dirty="0">
                <a:solidFill>
                  <a:srgbClr val="000000"/>
                </a:solidFill>
                <a:latin typeface="Times New Roman" panose="02020603050405020304" pitchFamily="18" charset="0"/>
              </a:rPr>
              <a:t>;  /*</a:t>
            </a:r>
            <a:r>
              <a:rPr lang="zh-CN" altLang="en-US" sz="1200" dirty="0">
                <a:solidFill>
                  <a:srgbClr val="000000"/>
                </a:solidFill>
                <a:latin typeface="Times New Roman" panose="02020603050405020304" pitchFamily="18" charset="0"/>
              </a:rPr>
              <a:t>跳过执行文件名到第一个参数</a:t>
            </a: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   if (</a:t>
            </a:r>
            <a:r>
              <a:rPr lang="en-US" altLang="zh-CN" sz="1200" dirty="0" err="1">
                <a:solidFill>
                  <a:srgbClr val="000000"/>
                </a:solidFill>
                <a:latin typeface="Times New Roman" panose="02020603050405020304" pitchFamily="18" charset="0"/>
              </a:rPr>
              <a:t>argc</a:t>
            </a:r>
            <a:r>
              <a:rPr lang="en-US" altLang="zh-CN" sz="1200" dirty="0">
                <a:solidFill>
                  <a:srgbClr val="000000"/>
                </a:solidFill>
                <a:latin typeface="Times New Roman" panose="02020603050405020304" pitchFamily="18" charset="0"/>
              </a:rPr>
              <a:t>&gt;0) </a:t>
            </a:r>
            <a:r>
              <a:rPr lang="en-US" altLang="zh-CN" sz="1200" dirty="0" err="1">
                <a:solidFill>
                  <a:srgbClr val="000000"/>
                </a:solidFill>
                <a:latin typeface="Times New Roman" panose="02020603050405020304" pitchFamily="18" charset="0"/>
              </a:rPr>
              <a:t>yyin</a:t>
            </a:r>
            <a:r>
              <a:rPr lang="en-US" altLang="zh-CN" sz="1200" dirty="0">
                <a:solidFill>
                  <a:srgbClr val="000000"/>
                </a:solidFill>
                <a:latin typeface="Times New Roman" panose="02020603050405020304" pitchFamily="18" charset="0"/>
              </a:rPr>
              <a:t> = </a:t>
            </a:r>
            <a:r>
              <a:rPr lang="en-US" altLang="zh-CN" sz="1200" dirty="0" err="1">
                <a:solidFill>
                  <a:srgbClr val="000000"/>
                </a:solidFill>
                <a:latin typeface="Times New Roman" panose="02020603050405020304" pitchFamily="18" charset="0"/>
              </a:rPr>
              <a:t>fopen</a:t>
            </a:r>
            <a:r>
              <a:rPr lang="en-US" altLang="zh-CN" sz="1200" dirty="0">
                <a:solidFill>
                  <a:srgbClr val="000000"/>
                </a:solidFill>
                <a:latin typeface="Times New Roman" panose="02020603050405020304" pitchFamily="18" charset="0"/>
              </a:rPr>
              <a:t>(</a:t>
            </a:r>
            <a:r>
              <a:rPr lang="en-US" altLang="zh-CN" sz="1200" dirty="0" err="1">
                <a:solidFill>
                  <a:srgbClr val="000000"/>
                </a:solidFill>
                <a:latin typeface="Times New Roman" panose="02020603050405020304" pitchFamily="18" charset="0"/>
              </a:rPr>
              <a:t>argv</a:t>
            </a:r>
            <a:r>
              <a:rPr lang="en-US" altLang="zh-CN" sz="1200" dirty="0">
                <a:solidFill>
                  <a:srgbClr val="000000"/>
                </a:solidFill>
                <a:latin typeface="Times New Roman" panose="02020603050405020304" pitchFamily="18" charset="0"/>
              </a:rPr>
              <a:t>[0],"r");</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   else </a:t>
            </a:r>
            <a:r>
              <a:rPr lang="en-US" altLang="zh-CN" sz="1200" dirty="0" err="1">
                <a:solidFill>
                  <a:srgbClr val="000000"/>
                </a:solidFill>
                <a:latin typeface="Times New Roman" panose="02020603050405020304" pitchFamily="18" charset="0"/>
              </a:rPr>
              <a:t>yyin</a:t>
            </a:r>
            <a:r>
              <a:rPr lang="en-US" altLang="zh-CN" sz="1200" dirty="0">
                <a:solidFill>
                  <a:srgbClr val="000000"/>
                </a:solidFill>
                <a:latin typeface="Times New Roman" panose="02020603050405020304" pitchFamily="18" charset="0"/>
              </a:rPr>
              <a:t>=</a:t>
            </a:r>
            <a:r>
              <a:rPr lang="en-US" altLang="zh-CN" sz="1200" dirty="0" err="1">
                <a:solidFill>
                  <a:srgbClr val="000000"/>
                </a:solidFill>
                <a:latin typeface="Times New Roman" panose="02020603050405020304" pitchFamily="18" charset="0"/>
              </a:rPr>
              <a:t>stdin</a:t>
            </a: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   </a:t>
            </a:r>
            <a:r>
              <a:rPr lang="en-US" altLang="zh-CN" sz="1200" dirty="0" err="1">
                <a:solidFill>
                  <a:srgbClr val="000000"/>
                </a:solidFill>
                <a:latin typeface="Times New Roman" panose="02020603050405020304" pitchFamily="18" charset="0"/>
              </a:rPr>
              <a:t>yylex</a:t>
            </a: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return 0;</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a:t>
            </a:r>
            <a:endParaRPr lang="zh-CN" altLang="en-US" sz="1200" kern="100" dirty="0">
              <a:solidFill>
                <a:srgbClr val="000000"/>
              </a:solidFill>
              <a:latin typeface="Times New Roman" panose="02020603050405020304" pitchFamily="18" charset="0"/>
            </a:endParaRPr>
          </a:p>
          <a:p>
            <a:pPr marL="0" indent="0" eaLnBrk="1" fontAlgn="auto" hangingPunct="1">
              <a:lnSpc>
                <a:spcPct val="90000"/>
              </a:lnSpc>
              <a:spcBef>
                <a:spcPts val="0"/>
              </a:spcBef>
              <a:spcAft>
                <a:spcPts val="0"/>
              </a:spcAft>
              <a:buFontTx/>
              <a:buNone/>
              <a:defRPr/>
            </a:pPr>
            <a:r>
              <a:rPr lang="en-US" altLang="zh-CN" sz="1200" dirty="0" err="1">
                <a:solidFill>
                  <a:srgbClr val="000000"/>
                </a:solidFill>
                <a:latin typeface="Times New Roman" panose="02020603050405020304" pitchFamily="18" charset="0"/>
              </a:rPr>
              <a:t>int</a:t>
            </a:r>
            <a:r>
              <a:rPr lang="en-US" altLang="zh-CN" sz="1200" dirty="0">
                <a:solidFill>
                  <a:srgbClr val="000000"/>
                </a:solidFill>
                <a:latin typeface="Times New Roman" panose="02020603050405020304" pitchFamily="18" charset="0"/>
              </a:rPr>
              <a:t> </a:t>
            </a:r>
            <a:r>
              <a:rPr lang="en-US" altLang="zh-CN" sz="1200" dirty="0" err="1">
                <a:solidFill>
                  <a:srgbClr val="000000"/>
                </a:solidFill>
                <a:latin typeface="Times New Roman" panose="02020603050405020304" pitchFamily="18" charset="0"/>
              </a:rPr>
              <a:t>yywrap</a:t>
            </a:r>
            <a:r>
              <a:rPr lang="en-US" altLang="zh-CN" sz="1200" dirty="0">
                <a:solidFill>
                  <a:srgbClr val="000000"/>
                </a:solidFill>
                <a:latin typeface="Times New Roman" panose="02020603050405020304" pitchFamily="18" charset="0"/>
              </a:rPr>
              <a:t>()</a:t>
            </a:r>
          </a:p>
          <a:p>
            <a:pPr marL="0" indent="0" eaLnBrk="1" fontAlgn="auto" hangingPunct="1">
              <a:lnSpc>
                <a:spcPct val="90000"/>
              </a:lnSpc>
              <a:spcBef>
                <a:spcPts val="0"/>
              </a:spcBef>
              <a:spcAft>
                <a:spcPts val="0"/>
              </a:spcAft>
              <a:buFontTx/>
              <a:buNone/>
              <a:defRPr/>
            </a:pPr>
            <a:r>
              <a:rPr lang="en-US" altLang="zh-CN" sz="1200" dirty="0">
                <a:solidFill>
                  <a:srgbClr val="000000"/>
                </a:solidFill>
                <a:latin typeface="Times New Roman" panose="02020603050405020304" pitchFamily="18" charset="0"/>
              </a:rPr>
              <a:t>{  return 1; }</a:t>
            </a:r>
            <a:endParaRPr lang="zh-CN" altLang="en-US" sz="1200" kern="100" dirty="0">
              <a:solidFill>
                <a:srgbClr val="000000"/>
              </a:solidFill>
              <a:latin typeface="Times New Roman" panose="02020603050405020304" pitchFamily="18" charset="0"/>
            </a:endParaRPr>
          </a:p>
          <a:p>
            <a:pPr>
              <a:defRPr/>
            </a:pPr>
            <a:endParaRPr lang="zh-CN" altLang="en-US" sz="1200" dirty="0"/>
          </a:p>
        </p:txBody>
      </p:sp>
      <p:sp>
        <p:nvSpPr>
          <p:cNvPr id="5" name="线形标注 1 4">
            <a:extLst>
              <a:ext uri="{FF2B5EF4-FFF2-40B4-BE49-F238E27FC236}">
                <a16:creationId xmlns:a16="http://schemas.microsoft.com/office/drawing/2014/main" id="{D81CFCB9-1407-5DA1-24DB-A11B2ABC06F3}"/>
              </a:ext>
            </a:extLst>
          </p:cNvPr>
          <p:cNvSpPr/>
          <p:nvPr/>
        </p:nvSpPr>
        <p:spPr>
          <a:xfrm>
            <a:off x="5628409" y="3991024"/>
            <a:ext cx="1482236" cy="397266"/>
          </a:xfrm>
          <a:prstGeom prst="borderCallout1">
            <a:avLst>
              <a:gd name="adj1" fmla="val 43925"/>
              <a:gd name="adj2" fmla="val 378"/>
              <a:gd name="adj3" fmla="val 104109"/>
              <a:gd name="adj4" fmla="val -52236"/>
            </a:avLst>
          </a:prstGeom>
        </p:spPr>
        <p:style>
          <a:lnRef idx="2">
            <a:schemeClr val="accent3"/>
          </a:lnRef>
          <a:fillRef idx="1">
            <a:schemeClr val="lt1"/>
          </a:fillRef>
          <a:effectRef idx="0">
            <a:schemeClr val="accent3"/>
          </a:effectRef>
          <a:fontRef idx="minor">
            <a:schemeClr val="dk1"/>
          </a:fontRef>
        </p:style>
        <p:txBody>
          <a:bodyPr rtlCol="0" anchor="ctr"/>
          <a:lstStyle/>
          <a:p>
            <a:pPr>
              <a:defRPr/>
            </a:pPr>
            <a:r>
              <a:rPr lang="zh-CN" altLang="en-US" sz="1400" b="1" dirty="0">
                <a:solidFill>
                  <a:srgbClr val="000000"/>
                </a:solidFill>
              </a:rPr>
              <a:t>辅助过程</a:t>
            </a:r>
          </a:p>
        </p:txBody>
      </p:sp>
    </p:spTree>
    <p:extLst>
      <p:ext uri="{BB962C8B-B14F-4D97-AF65-F5344CB8AC3E}">
        <p14:creationId xmlns:p14="http://schemas.microsoft.com/office/powerpoint/2010/main" val="84272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P spid="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04800" y="219075"/>
            <a:ext cx="8839200" cy="581025"/>
          </a:xfrm>
        </p:spPr>
        <p:txBody>
          <a:bodyPr>
            <a:normAutofit fontScale="90000"/>
          </a:bodyPr>
          <a:lstStyle/>
          <a:p>
            <a:pPr eaLnBrk="1" hangingPunct="1"/>
            <a:r>
              <a:rPr lang="zh-CN" altLang="en-US" sz="3200" b="1" dirty="0">
                <a:solidFill>
                  <a:srgbClr val="FF0000"/>
                </a:solidFill>
              </a:rPr>
              <a:t>例</a:t>
            </a:r>
            <a:r>
              <a:rPr lang="en-US" altLang="zh-CN" sz="3200" b="1" dirty="0">
                <a:solidFill>
                  <a:srgbClr val="FF0000"/>
                </a:solidFill>
              </a:rPr>
              <a:t>2</a:t>
            </a:r>
            <a:r>
              <a:rPr lang="zh-CN" altLang="en-US" sz="3200" b="1" dirty="0">
                <a:solidFill>
                  <a:srgbClr val="FF0000"/>
                </a:solidFill>
              </a:rPr>
              <a:t>：写一个</a:t>
            </a:r>
            <a:r>
              <a:rPr lang="en-US" altLang="zh-CN" sz="3200" b="1" dirty="0">
                <a:solidFill>
                  <a:srgbClr val="FF0000"/>
                </a:solidFill>
              </a:rPr>
              <a:t>Lex </a:t>
            </a:r>
            <a:r>
              <a:rPr lang="zh-CN" altLang="en-US" sz="3200" b="1" dirty="0">
                <a:solidFill>
                  <a:srgbClr val="FF0000"/>
                </a:solidFill>
              </a:rPr>
              <a:t>程序，用来统计文本中的字数</a:t>
            </a:r>
            <a:r>
              <a:rPr lang="zh-CN" altLang="en-US" dirty="0"/>
              <a:t> </a:t>
            </a:r>
          </a:p>
        </p:txBody>
      </p:sp>
      <p:sp>
        <p:nvSpPr>
          <p:cNvPr id="101379" name="Rectangle 4"/>
          <p:cNvSpPr>
            <a:spLocks noGrp="1" noChangeArrowheads="1"/>
          </p:cNvSpPr>
          <p:nvPr>
            <p:ph type="body" idx="1"/>
          </p:nvPr>
        </p:nvSpPr>
        <p:spPr>
          <a:xfrm>
            <a:off x="457200" y="1200150"/>
            <a:ext cx="8229600" cy="1314450"/>
          </a:xfrm>
        </p:spPr>
        <p:txBody>
          <a:bodyPr/>
          <a:lstStyle/>
          <a:p>
            <a:pPr eaLnBrk="1" hangingPunct="1"/>
            <a:r>
              <a:rPr lang="zh-CN" altLang="en-US"/>
              <a:t>第一段：</a:t>
            </a:r>
            <a:r>
              <a:rPr lang="en-US" altLang="zh-CN"/>
              <a:t>C </a:t>
            </a:r>
            <a:r>
              <a:rPr lang="zh-CN" altLang="en-US"/>
              <a:t>和 </a:t>
            </a:r>
            <a:r>
              <a:rPr lang="en-US" altLang="zh-CN"/>
              <a:t>Lex </a:t>
            </a:r>
            <a:r>
              <a:rPr lang="zh-CN" altLang="en-US"/>
              <a:t>的全局声明</a:t>
            </a:r>
          </a:p>
          <a:p>
            <a:pPr eaLnBrk="1" hangingPunct="1"/>
            <a:r>
              <a:rPr lang="zh-CN" altLang="en-US"/>
              <a:t>第二段：</a:t>
            </a:r>
            <a:r>
              <a:rPr lang="en-US" altLang="zh-CN"/>
              <a:t>Lex </a:t>
            </a:r>
            <a:r>
              <a:rPr lang="zh-CN" altLang="en-US"/>
              <a:t>的模式匹配规则</a:t>
            </a:r>
          </a:p>
          <a:p>
            <a:pPr eaLnBrk="1" hangingPunct="1"/>
            <a:r>
              <a:rPr lang="zh-CN" altLang="en-US"/>
              <a:t>第三段：辅助过程</a:t>
            </a:r>
          </a:p>
        </p:txBody>
      </p:sp>
      <p:sp>
        <p:nvSpPr>
          <p:cNvPr id="6" name="Rectangle 4"/>
          <p:cNvSpPr>
            <a:spLocks noChangeArrowheads="1"/>
          </p:cNvSpPr>
          <p:nvPr/>
        </p:nvSpPr>
        <p:spPr bwMode="auto">
          <a:xfrm>
            <a:off x="6818314" y="1200151"/>
            <a:ext cx="2325687" cy="2246769"/>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eaLnBrk="1" hangingPunct="1">
              <a:defRPr/>
            </a:pPr>
            <a:r>
              <a:rPr lang="en-US" altLang="zh-CN" sz="2800" dirty="0">
                <a:solidFill>
                  <a:srgbClr val="000000"/>
                </a:solidFill>
              </a:rPr>
              <a:t> </a:t>
            </a:r>
            <a:r>
              <a:rPr lang="zh-CN" altLang="en-US" sz="2800" b="1" dirty="0">
                <a:solidFill>
                  <a:srgbClr val="000000"/>
                </a:solidFill>
              </a:rPr>
              <a:t>声明</a:t>
            </a:r>
          </a:p>
          <a:p>
            <a:pPr eaLnBrk="1" hangingPunct="1">
              <a:defRPr/>
            </a:pPr>
            <a:r>
              <a:rPr lang="zh-CN" altLang="en-US" sz="2800" b="1" dirty="0">
                <a:solidFill>
                  <a:srgbClr val="000000"/>
                </a:solidFill>
              </a:rPr>
              <a:t>  ％％</a:t>
            </a:r>
          </a:p>
          <a:p>
            <a:pPr eaLnBrk="1" hangingPunct="1">
              <a:defRPr/>
            </a:pPr>
            <a:r>
              <a:rPr lang="zh-CN" altLang="en-US" sz="2800" b="1" dirty="0">
                <a:solidFill>
                  <a:srgbClr val="000000"/>
                </a:solidFill>
              </a:rPr>
              <a:t>  翻译规则</a:t>
            </a:r>
          </a:p>
          <a:p>
            <a:pPr eaLnBrk="1" hangingPunct="1">
              <a:defRPr/>
            </a:pPr>
            <a:r>
              <a:rPr lang="zh-CN" altLang="en-US" sz="2800" b="1" dirty="0">
                <a:solidFill>
                  <a:srgbClr val="000000"/>
                </a:solidFill>
              </a:rPr>
              <a:t>  ％％</a:t>
            </a:r>
          </a:p>
          <a:p>
            <a:pPr eaLnBrk="1" hangingPunct="1">
              <a:defRPr/>
            </a:pPr>
            <a:r>
              <a:rPr lang="zh-CN" altLang="en-US" sz="2800" b="1" dirty="0">
                <a:solidFill>
                  <a:srgbClr val="000000"/>
                </a:solidFill>
              </a:rPr>
              <a:t>  辅助过程</a:t>
            </a:r>
          </a:p>
        </p:txBody>
      </p:sp>
    </p:spTree>
    <p:extLst>
      <p:ext uri="{BB962C8B-B14F-4D97-AF65-F5344CB8AC3E}">
        <p14:creationId xmlns:p14="http://schemas.microsoft.com/office/powerpoint/2010/main" val="142013626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52400" y="0"/>
            <a:ext cx="8229600" cy="685800"/>
          </a:xfrm>
        </p:spPr>
        <p:txBody>
          <a:bodyPr>
            <a:normAutofit fontScale="90000"/>
          </a:bodyPr>
          <a:lstStyle/>
          <a:p>
            <a:pPr eaLnBrk="1" hangingPunct="1">
              <a:defRPr/>
            </a:pPr>
            <a:r>
              <a:rPr lang="zh-CN" altLang="en-US" sz="4000" dirty="0"/>
              <a:t>第一段：</a:t>
            </a:r>
            <a:r>
              <a:rPr lang="en-US" altLang="zh-CN" sz="4000" dirty="0"/>
              <a:t>C </a:t>
            </a:r>
            <a:r>
              <a:rPr lang="zh-CN" altLang="en-US" sz="4000" dirty="0"/>
              <a:t>和 </a:t>
            </a:r>
            <a:r>
              <a:rPr lang="en-US" altLang="zh-CN" sz="4000" dirty="0"/>
              <a:t>Lex </a:t>
            </a:r>
            <a:r>
              <a:rPr lang="zh-CN" altLang="en-US" sz="4000" dirty="0"/>
              <a:t>的全局声明</a:t>
            </a:r>
            <a:endParaRPr lang="zh-CN" altLang="en-US" sz="2600" dirty="0">
              <a:latin typeface="+mn-ea"/>
              <a:ea typeface="+mn-ea"/>
            </a:endParaRPr>
          </a:p>
        </p:txBody>
      </p:sp>
      <p:sp>
        <p:nvSpPr>
          <p:cNvPr id="6" name="矩形 5"/>
          <p:cNvSpPr/>
          <p:nvPr/>
        </p:nvSpPr>
        <p:spPr>
          <a:xfrm>
            <a:off x="685800" y="1664677"/>
            <a:ext cx="3733800" cy="3139321"/>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eaLnBrk="1" hangingPunct="1">
              <a:defRPr/>
            </a:pPr>
            <a:r>
              <a:rPr lang="en-US" altLang="zh-CN" sz="2200" dirty="0">
                <a:solidFill>
                  <a:schemeClr val="tx1"/>
                </a:solidFill>
              </a:rPr>
              <a:t>%{ </a:t>
            </a:r>
            <a:br>
              <a:rPr lang="en-US" altLang="zh-CN" sz="2200" dirty="0">
                <a:solidFill>
                  <a:schemeClr val="tx1"/>
                </a:solidFill>
              </a:rPr>
            </a:br>
            <a:r>
              <a:rPr lang="en-US" altLang="zh-CN" sz="2200" dirty="0">
                <a:solidFill>
                  <a:schemeClr val="tx1"/>
                </a:solidFill>
              </a:rPr>
              <a:t>        </a:t>
            </a:r>
            <a:r>
              <a:rPr lang="en-US" altLang="zh-CN" sz="2200" dirty="0" err="1">
                <a:solidFill>
                  <a:schemeClr val="tx1"/>
                </a:solidFill>
              </a:rPr>
              <a:t>int</a:t>
            </a:r>
            <a:r>
              <a:rPr lang="en-US" altLang="zh-CN" sz="2200" dirty="0">
                <a:solidFill>
                  <a:schemeClr val="tx1"/>
                </a:solidFill>
              </a:rPr>
              <a:t> </a:t>
            </a:r>
            <a:r>
              <a:rPr lang="en-US" altLang="zh-CN" sz="2200" dirty="0" err="1">
                <a:solidFill>
                  <a:schemeClr val="tx1"/>
                </a:solidFill>
              </a:rPr>
              <a:t>wordCount</a:t>
            </a:r>
            <a:r>
              <a:rPr lang="en-US" altLang="zh-CN" sz="2200" dirty="0">
                <a:solidFill>
                  <a:schemeClr val="tx1"/>
                </a:solidFill>
              </a:rPr>
              <a:t> = 0; </a:t>
            </a:r>
            <a:br>
              <a:rPr lang="en-US" altLang="zh-CN" sz="2200" dirty="0">
                <a:solidFill>
                  <a:schemeClr val="tx1"/>
                </a:solidFill>
              </a:rPr>
            </a:br>
            <a:r>
              <a:rPr lang="en-US" altLang="zh-CN" sz="2200" dirty="0">
                <a:solidFill>
                  <a:schemeClr val="tx1"/>
                </a:solidFill>
              </a:rPr>
              <a:t>%} </a:t>
            </a:r>
            <a:br>
              <a:rPr lang="en-US" altLang="zh-CN" sz="2200" dirty="0">
                <a:solidFill>
                  <a:schemeClr val="tx1"/>
                </a:solidFill>
              </a:rPr>
            </a:br>
            <a:r>
              <a:rPr lang="en-US" altLang="zh-CN" sz="2200" dirty="0">
                <a:solidFill>
                  <a:schemeClr val="tx1"/>
                </a:solidFill>
              </a:rPr>
              <a:t>chars [A-</a:t>
            </a:r>
            <a:r>
              <a:rPr lang="en-US" altLang="zh-CN" sz="2200" dirty="0" err="1">
                <a:solidFill>
                  <a:schemeClr val="tx1"/>
                </a:solidFill>
              </a:rPr>
              <a:t>za</a:t>
            </a:r>
            <a:r>
              <a:rPr lang="en-US" altLang="zh-CN" sz="2200" dirty="0">
                <a:solidFill>
                  <a:schemeClr val="tx1"/>
                </a:solidFill>
              </a:rPr>
              <a:t>-z\‘\.\“] </a:t>
            </a:r>
            <a:br>
              <a:rPr lang="en-US" altLang="zh-CN" sz="2200" dirty="0">
                <a:solidFill>
                  <a:schemeClr val="tx1"/>
                </a:solidFill>
              </a:rPr>
            </a:br>
            <a:r>
              <a:rPr lang="en-US" altLang="zh-CN" sz="2200" dirty="0">
                <a:solidFill>
                  <a:schemeClr val="tx1"/>
                </a:solidFill>
              </a:rPr>
              <a:t>numbers ([0-9])+ </a:t>
            </a:r>
            <a:br>
              <a:rPr lang="en-US" altLang="zh-CN" sz="2200" dirty="0">
                <a:solidFill>
                  <a:schemeClr val="tx1"/>
                </a:solidFill>
              </a:rPr>
            </a:br>
            <a:r>
              <a:rPr lang="en-US" altLang="zh-CN" sz="2200" dirty="0" err="1">
                <a:solidFill>
                  <a:schemeClr val="tx1"/>
                </a:solidFill>
              </a:rPr>
              <a:t>delim</a:t>
            </a:r>
            <a:r>
              <a:rPr lang="en-US" altLang="zh-CN" sz="2200" dirty="0">
                <a:solidFill>
                  <a:schemeClr val="tx1"/>
                </a:solidFill>
              </a:rPr>
              <a:t> [” “\n\t] </a:t>
            </a:r>
            <a:br>
              <a:rPr lang="en-US" altLang="zh-CN" sz="2200" dirty="0">
                <a:solidFill>
                  <a:schemeClr val="tx1"/>
                </a:solidFill>
              </a:rPr>
            </a:br>
            <a:r>
              <a:rPr lang="en-US" altLang="zh-CN" sz="2200" dirty="0">
                <a:solidFill>
                  <a:schemeClr val="tx1"/>
                </a:solidFill>
              </a:rPr>
              <a:t>whitespace {</a:t>
            </a:r>
            <a:r>
              <a:rPr lang="en-US" altLang="zh-CN" sz="2200" dirty="0" err="1">
                <a:solidFill>
                  <a:schemeClr val="tx1"/>
                </a:solidFill>
              </a:rPr>
              <a:t>delim</a:t>
            </a:r>
            <a:r>
              <a:rPr lang="en-US" altLang="zh-CN" sz="2200" dirty="0">
                <a:solidFill>
                  <a:schemeClr val="tx1"/>
                </a:solidFill>
              </a:rPr>
              <a:t>}+ </a:t>
            </a:r>
            <a:br>
              <a:rPr lang="en-US" altLang="zh-CN" sz="2200" dirty="0">
                <a:solidFill>
                  <a:schemeClr val="tx1"/>
                </a:solidFill>
              </a:rPr>
            </a:br>
            <a:r>
              <a:rPr lang="en-US" altLang="zh-CN" sz="2200" dirty="0">
                <a:solidFill>
                  <a:schemeClr val="tx1"/>
                </a:solidFill>
              </a:rPr>
              <a:t>words {chars}+ </a:t>
            </a:r>
            <a:br>
              <a:rPr lang="en-US" altLang="zh-CN" sz="2200" dirty="0">
                <a:solidFill>
                  <a:schemeClr val="tx1"/>
                </a:solidFill>
              </a:rPr>
            </a:br>
            <a:r>
              <a:rPr lang="en-US" altLang="zh-CN" sz="2200" b="1" dirty="0">
                <a:solidFill>
                  <a:schemeClr val="tx1"/>
                </a:solidFill>
              </a:rPr>
              <a:t>%%</a:t>
            </a:r>
            <a:r>
              <a:rPr lang="en-US" altLang="zh-CN" sz="2200" dirty="0">
                <a:solidFill>
                  <a:schemeClr val="tx1"/>
                </a:solidFill>
              </a:rPr>
              <a:t> </a:t>
            </a:r>
            <a:endParaRPr lang="zh-CN" altLang="en-US" sz="2200" dirty="0">
              <a:solidFill>
                <a:schemeClr val="tx1"/>
              </a:solidFill>
            </a:endParaRPr>
          </a:p>
        </p:txBody>
      </p:sp>
      <p:sp>
        <p:nvSpPr>
          <p:cNvPr id="7" name="矩形 6"/>
          <p:cNvSpPr/>
          <p:nvPr/>
        </p:nvSpPr>
        <p:spPr>
          <a:xfrm>
            <a:off x="381000" y="742950"/>
            <a:ext cx="8458200" cy="769441"/>
          </a:xfrm>
          <a:prstGeom prst="rect">
            <a:avLst/>
          </a:prstGeom>
        </p:spPr>
        <p:txBody>
          <a:bodyPr>
            <a:spAutoFit/>
          </a:bodyPr>
          <a:lstStyle/>
          <a:p>
            <a:pPr algn="ctr" eaLnBrk="1" hangingPunct="1">
              <a:defRPr/>
            </a:pPr>
            <a:r>
              <a:rPr lang="zh-CN" altLang="en-US" sz="2200" dirty="0">
                <a:latin typeface="+mn-ea"/>
              </a:rPr>
              <a:t> </a:t>
            </a:r>
            <a:r>
              <a:rPr lang="en-US" altLang="zh-CN" sz="2200" dirty="0">
                <a:latin typeface="+mn-ea"/>
              </a:rPr>
              <a:t>C</a:t>
            </a:r>
            <a:r>
              <a:rPr lang="zh-CN" altLang="en-US" sz="2200" dirty="0">
                <a:latin typeface="+mn-ea"/>
              </a:rPr>
              <a:t>变量声明、正则表达式定义。为字数统计程序声明一个整型变量，来保存程序统计出来的字数。还将进行 </a:t>
            </a:r>
            <a:r>
              <a:rPr lang="en-US" altLang="zh-CN" sz="2200" dirty="0">
                <a:latin typeface="+mn-ea"/>
              </a:rPr>
              <a:t>Lex </a:t>
            </a:r>
            <a:r>
              <a:rPr lang="zh-CN" altLang="en-US" sz="2200" dirty="0">
                <a:latin typeface="+mn-ea"/>
              </a:rPr>
              <a:t>的标记声明。 </a:t>
            </a:r>
            <a:endParaRPr lang="zh-CN" altLang="en-US" sz="2200" dirty="0">
              <a:latin typeface="Arial" panose="020B0604020202020204" pitchFamily="34" charset="0"/>
            </a:endParaRPr>
          </a:p>
        </p:txBody>
      </p:sp>
      <p:sp>
        <p:nvSpPr>
          <p:cNvPr id="8" name="AutoShape 5"/>
          <p:cNvSpPr>
            <a:spLocks/>
          </p:cNvSpPr>
          <p:nvPr/>
        </p:nvSpPr>
        <p:spPr bwMode="auto">
          <a:xfrm>
            <a:off x="4637417" y="3723878"/>
            <a:ext cx="4191000" cy="724032"/>
          </a:xfrm>
          <a:prstGeom prst="borderCallout1">
            <a:avLst>
              <a:gd name="adj1" fmla="val 102916"/>
              <a:gd name="adj2" fmla="val 3023"/>
              <a:gd name="adj3" fmla="val 101849"/>
              <a:gd name="adj4" fmla="val -75344"/>
            </a:avLst>
          </a:prstGeom>
          <a:ln>
            <a:headEnd/>
            <a:tailEnd/>
          </a:ln>
        </p:spPr>
        <p:style>
          <a:lnRef idx="2">
            <a:schemeClr val="accent4"/>
          </a:lnRef>
          <a:fillRef idx="1">
            <a:schemeClr val="lt1"/>
          </a:fillRef>
          <a:effectRef idx="0">
            <a:schemeClr val="accent4"/>
          </a:effectRef>
          <a:fontRef idx="minor">
            <a:schemeClr val="dk1"/>
          </a:fontRef>
        </p:style>
        <p:txBody>
          <a:bodyPr/>
          <a:lstStyle/>
          <a:p>
            <a:pPr eaLnBrk="1" hangingPunct="1">
              <a:defRPr/>
            </a:pPr>
            <a:r>
              <a:rPr lang="zh-CN" altLang="en-US" b="1" dirty="0">
                <a:solidFill>
                  <a:schemeClr val="tx1"/>
                </a:solidFill>
              </a:rPr>
              <a:t>两个百分号标记指出了 </a:t>
            </a:r>
            <a:r>
              <a:rPr lang="en-US" altLang="zh-CN" b="1" dirty="0">
                <a:solidFill>
                  <a:schemeClr val="tx1"/>
                </a:solidFill>
              </a:rPr>
              <a:t>Lex </a:t>
            </a:r>
            <a:r>
              <a:rPr lang="zh-CN" altLang="en-US" b="1" dirty="0">
                <a:solidFill>
                  <a:schemeClr val="tx1"/>
                </a:solidFill>
              </a:rPr>
              <a:t>程序中这一段的结束和第二段的开始。</a:t>
            </a:r>
          </a:p>
        </p:txBody>
      </p:sp>
    </p:spTree>
    <p:extLst>
      <p:ext uri="{BB962C8B-B14F-4D97-AF65-F5344CB8AC3E}">
        <p14:creationId xmlns:p14="http://schemas.microsoft.com/office/powerpoint/2010/main" val="41530129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381000" y="0"/>
            <a:ext cx="8229600" cy="685800"/>
          </a:xfrm>
        </p:spPr>
        <p:txBody>
          <a:bodyPr/>
          <a:lstStyle/>
          <a:p>
            <a:pPr eaLnBrk="1" hangingPunct="1"/>
            <a:r>
              <a:rPr lang="zh-CN" altLang="en-US"/>
              <a:t>第二段：</a:t>
            </a:r>
            <a:r>
              <a:rPr lang="en-US" altLang="zh-CN"/>
              <a:t>Lex </a:t>
            </a:r>
            <a:r>
              <a:rPr lang="zh-CN" altLang="en-US"/>
              <a:t>的模式匹配规则 </a:t>
            </a:r>
          </a:p>
        </p:txBody>
      </p:sp>
      <p:sp>
        <p:nvSpPr>
          <p:cNvPr id="103427" name="Rectangle 3"/>
          <p:cNvSpPr>
            <a:spLocks noGrp="1" noChangeArrowheads="1"/>
          </p:cNvSpPr>
          <p:nvPr>
            <p:ph type="body" idx="1"/>
          </p:nvPr>
        </p:nvSpPr>
        <p:spPr>
          <a:xfrm>
            <a:off x="457200" y="914400"/>
            <a:ext cx="5105400" cy="342900"/>
          </a:xfrm>
        </p:spPr>
        <p:txBody>
          <a:bodyPr>
            <a:noAutofit/>
          </a:bodyPr>
          <a:lstStyle/>
          <a:p>
            <a:pPr eaLnBrk="1" hangingPunct="1">
              <a:lnSpc>
                <a:spcPct val="90000"/>
              </a:lnSpc>
              <a:buFontTx/>
              <a:buNone/>
            </a:pPr>
            <a:r>
              <a:rPr lang="zh-CN" altLang="en-US" sz="2200" dirty="0"/>
              <a:t>正则表达式及其匹配的动作</a:t>
            </a:r>
            <a:br>
              <a:rPr lang="en-US" altLang="zh-CN" sz="2200" dirty="0"/>
            </a:br>
            <a:r>
              <a:rPr lang="zh-CN" altLang="en-US" sz="2200" dirty="0"/>
              <a:t> </a:t>
            </a:r>
          </a:p>
        </p:txBody>
      </p:sp>
      <p:sp>
        <p:nvSpPr>
          <p:cNvPr id="6" name="矩形 5"/>
          <p:cNvSpPr/>
          <p:nvPr/>
        </p:nvSpPr>
        <p:spPr>
          <a:xfrm>
            <a:off x="277482" y="1419622"/>
            <a:ext cx="8038933" cy="304698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eaLnBrk="1" hangingPunct="1">
              <a:defRPr/>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{words} { </a:t>
            </a:r>
            <a:r>
              <a:rPr lang="en-US" altLang="zh-CN" sz="2400" dirty="0" err="1">
                <a:latin typeface="宋体" panose="02010600030101010101" pitchFamily="2" charset="-122"/>
                <a:ea typeface="宋体" panose="02010600030101010101" pitchFamily="2" charset="-122"/>
              </a:rPr>
              <a:t>wordCount</a:t>
            </a:r>
            <a:r>
              <a:rPr lang="en-US" altLang="zh-CN" sz="2400" dirty="0">
                <a:latin typeface="宋体" panose="02010600030101010101" pitchFamily="2" charset="-122"/>
                <a:ea typeface="宋体" panose="02010600030101010101" pitchFamily="2" charset="-122"/>
              </a:rPr>
              <a:t>++; </a:t>
            </a:r>
          </a:p>
          <a:p>
            <a:pPr eaLnBrk="1" hangingPunct="1">
              <a:defRPr/>
            </a:pPr>
            <a:r>
              <a:rPr lang="en-US" altLang="zh-CN" sz="2000" dirty="0">
                <a:latin typeface="宋体" panose="02010600030101010101" pitchFamily="2" charset="-122"/>
                <a:ea typeface="宋体" panose="02010600030101010101" pitchFamily="2" charset="-122"/>
              </a:rPr>
              <a:t>                    </a:t>
            </a:r>
            <a:r>
              <a:rPr lang="en-US" altLang="zh-CN" sz="2000" dirty="0">
                <a:solidFill>
                  <a:srgbClr val="CC00CC"/>
                </a:solidFill>
                <a:latin typeface="宋体" panose="02010600030101010101" pitchFamily="2" charset="-122"/>
                <a:ea typeface="宋体" panose="02010600030101010101" pitchFamily="2" charset="-122"/>
              </a:rPr>
              <a:t>/* increase the word count by one*/</a:t>
            </a:r>
            <a:r>
              <a:rPr lang="en-US" altLang="zh-CN" sz="2400" dirty="0">
                <a:latin typeface="宋体" panose="02010600030101010101" pitchFamily="2" charset="-122"/>
                <a:ea typeface="宋体" panose="02010600030101010101" pitchFamily="2" charset="-122"/>
              </a:rPr>
              <a:t> } </a:t>
            </a:r>
            <a:br>
              <a:rPr lang="en-US" altLang="zh-CN" sz="2400" dirty="0">
                <a:latin typeface="宋体" panose="02010600030101010101" pitchFamily="2" charset="-122"/>
                <a:ea typeface="宋体" panose="02010600030101010101" pitchFamily="2" charset="-122"/>
              </a:rPr>
            </a:br>
            <a:br>
              <a:rPr lang="en-US" altLang="zh-CN" sz="2400" dirty="0">
                <a:latin typeface="宋体" panose="02010600030101010101" pitchFamily="2" charset="-122"/>
                <a:ea typeface="宋体" panose="02010600030101010101" pitchFamily="2" charset="-122"/>
              </a:rPr>
            </a:br>
            <a:r>
              <a:rPr lang="en-US" altLang="zh-CN" sz="2400" dirty="0">
                <a:latin typeface="宋体" panose="02010600030101010101" pitchFamily="2" charset="-122"/>
                <a:ea typeface="宋体" panose="02010600030101010101" pitchFamily="2" charset="-122"/>
              </a:rPr>
              <a:t> {whitespace} { </a:t>
            </a:r>
            <a:r>
              <a:rPr lang="en-US" altLang="zh-CN" sz="2000" dirty="0">
                <a:solidFill>
                  <a:srgbClr val="CC00CC"/>
                </a:solidFill>
                <a:latin typeface="宋体" panose="02010600030101010101" pitchFamily="2" charset="-122"/>
                <a:ea typeface="宋体" panose="02010600030101010101" pitchFamily="2" charset="-122"/>
              </a:rPr>
              <a:t>/* do nothing*/ </a:t>
            </a:r>
            <a:r>
              <a:rPr lang="en-US" altLang="zh-CN" sz="2400" dirty="0">
                <a:latin typeface="宋体" panose="02010600030101010101" pitchFamily="2" charset="-122"/>
                <a:ea typeface="宋体" panose="02010600030101010101" pitchFamily="2" charset="-122"/>
              </a:rPr>
              <a:t>} </a:t>
            </a:r>
            <a:br>
              <a:rPr lang="en-US" altLang="zh-CN" sz="2400" dirty="0">
                <a:latin typeface="宋体" panose="02010600030101010101" pitchFamily="2" charset="-122"/>
                <a:ea typeface="宋体" panose="02010600030101010101" pitchFamily="2" charset="-122"/>
              </a:rPr>
            </a:br>
            <a:br>
              <a:rPr lang="en-US" altLang="zh-CN" sz="2400" dirty="0">
                <a:latin typeface="宋体" panose="02010600030101010101" pitchFamily="2" charset="-122"/>
                <a:ea typeface="宋体" panose="02010600030101010101" pitchFamily="2" charset="-122"/>
              </a:rPr>
            </a:br>
            <a:r>
              <a:rPr lang="en-US" altLang="zh-CN" sz="2400" dirty="0">
                <a:latin typeface="宋体" panose="02010600030101010101" pitchFamily="2" charset="-122"/>
                <a:ea typeface="宋体" panose="02010600030101010101" pitchFamily="2" charset="-122"/>
              </a:rPr>
              <a:t> {numbers} { </a:t>
            </a:r>
            <a:r>
              <a:rPr lang="en-US" altLang="zh-CN" sz="2000" dirty="0">
                <a:solidFill>
                  <a:srgbClr val="CC00CC"/>
                </a:solidFill>
                <a:latin typeface="宋体" panose="02010600030101010101" pitchFamily="2" charset="-122"/>
                <a:ea typeface="宋体" panose="02010600030101010101" pitchFamily="2" charset="-122"/>
              </a:rPr>
              <a:t>/* one may </a:t>
            </a:r>
            <a:br>
              <a:rPr lang="en-US" altLang="zh-CN" sz="2000" dirty="0">
                <a:solidFill>
                  <a:srgbClr val="CC00CC"/>
                </a:solidFill>
                <a:latin typeface="宋体" panose="02010600030101010101" pitchFamily="2" charset="-122"/>
                <a:ea typeface="宋体" panose="02010600030101010101" pitchFamily="2" charset="-122"/>
              </a:rPr>
            </a:br>
            <a:r>
              <a:rPr lang="en-US" altLang="zh-CN" sz="2000" dirty="0">
                <a:solidFill>
                  <a:srgbClr val="CC00CC"/>
                </a:solidFill>
                <a:latin typeface="宋体" panose="02010600030101010101" pitchFamily="2" charset="-122"/>
                <a:ea typeface="宋体" panose="02010600030101010101" pitchFamily="2" charset="-122"/>
              </a:rPr>
              <a:t>        want to add some processing here*/ </a:t>
            </a:r>
            <a:r>
              <a:rPr lang="en-US" altLang="zh-CN" sz="2400" dirty="0">
                <a:latin typeface="宋体" panose="02010600030101010101" pitchFamily="2" charset="-122"/>
                <a:ea typeface="宋体" panose="02010600030101010101" pitchFamily="2" charset="-122"/>
              </a:rPr>
              <a:t>} </a:t>
            </a:r>
            <a:br>
              <a:rPr lang="en-US" altLang="zh-CN" sz="2400" dirty="0">
                <a:latin typeface="宋体" panose="02010600030101010101" pitchFamily="2" charset="-122"/>
                <a:ea typeface="宋体" panose="02010600030101010101" pitchFamily="2" charset="-122"/>
              </a:rPr>
            </a:br>
            <a:r>
              <a:rPr lang="en-US" altLang="zh-CN" sz="2400" b="1" dirty="0">
                <a:solidFill>
                  <a:srgbClr val="FF0000"/>
                </a:solidFill>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sp>
        <p:nvSpPr>
          <p:cNvPr id="7" name="AutoShape 5"/>
          <p:cNvSpPr>
            <a:spLocks/>
          </p:cNvSpPr>
          <p:nvPr/>
        </p:nvSpPr>
        <p:spPr bwMode="auto">
          <a:xfrm>
            <a:off x="6477000" y="3291830"/>
            <a:ext cx="2667000" cy="965736"/>
          </a:xfrm>
          <a:prstGeom prst="borderCallout1">
            <a:avLst>
              <a:gd name="adj1" fmla="val 102916"/>
              <a:gd name="adj2" fmla="val 3023"/>
              <a:gd name="adj3" fmla="val 104118"/>
              <a:gd name="adj4" fmla="val -200189"/>
            </a:avLst>
          </a:prstGeom>
          <a:ln>
            <a:headEnd/>
            <a:tailEnd/>
          </a:ln>
        </p:spPr>
        <p:style>
          <a:lnRef idx="2">
            <a:schemeClr val="accent4"/>
          </a:lnRef>
          <a:fillRef idx="1">
            <a:schemeClr val="lt1"/>
          </a:fillRef>
          <a:effectRef idx="0">
            <a:schemeClr val="accent4"/>
          </a:effectRef>
          <a:fontRef idx="minor">
            <a:schemeClr val="dk1"/>
          </a:fontRef>
        </p:style>
        <p:txBody>
          <a:bodyPr/>
          <a:lstStyle/>
          <a:p>
            <a:pPr eaLnBrk="1" hangingPunct="1">
              <a:defRPr/>
            </a:pPr>
            <a:r>
              <a:rPr lang="zh-CN" altLang="en-US" dirty="0">
                <a:solidFill>
                  <a:schemeClr val="tx1"/>
                </a:solidFill>
              </a:rPr>
              <a:t>两个百分号标记指出了第二段的结束，第三段开始。</a:t>
            </a:r>
          </a:p>
        </p:txBody>
      </p:sp>
    </p:spTree>
    <p:extLst>
      <p:ext uri="{BB962C8B-B14F-4D97-AF65-F5344CB8AC3E}">
        <p14:creationId xmlns:p14="http://schemas.microsoft.com/office/powerpoint/2010/main" val="19116220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57150"/>
            <a:ext cx="8229600" cy="581025"/>
          </a:xfrm>
        </p:spPr>
        <p:txBody>
          <a:bodyPr>
            <a:normAutofit fontScale="90000"/>
          </a:bodyPr>
          <a:lstStyle/>
          <a:p>
            <a:pPr eaLnBrk="1" hangingPunct="1"/>
            <a:r>
              <a:rPr lang="zh-CN" altLang="en-US"/>
              <a:t>第三段：辅助过程 </a:t>
            </a:r>
          </a:p>
        </p:txBody>
      </p:sp>
      <p:sp>
        <p:nvSpPr>
          <p:cNvPr id="27652" name="Rectangle 4"/>
          <p:cNvSpPr>
            <a:spLocks noChangeArrowheads="1"/>
          </p:cNvSpPr>
          <p:nvPr/>
        </p:nvSpPr>
        <p:spPr bwMode="auto">
          <a:xfrm>
            <a:off x="390526" y="627534"/>
            <a:ext cx="8562975" cy="2123658"/>
          </a:xfrm>
          <a:prstGeom prst="rect">
            <a:avLst/>
          </a:prstGeom>
          <a:noFill/>
          <a:ln w="9525">
            <a:noFill/>
            <a:miter lim="800000"/>
            <a:headEnd/>
            <a:tailEnd/>
          </a:ln>
          <a:effectLst/>
        </p:spPr>
        <p:txBody>
          <a:bodyPr>
            <a:spAutoFit/>
          </a:bodyPr>
          <a:lstStyle/>
          <a:p>
            <a:pPr marL="357188" indent="-357188" eaLnBrk="1" hangingPunct="1">
              <a:buFont typeface="Arial" pitchFamily="34" charset="0"/>
              <a:buChar char="•"/>
              <a:defRPr/>
            </a:pPr>
            <a:r>
              <a:rPr lang="en-US" altLang="zh-CN" sz="2200" dirty="0">
                <a:effectLst>
                  <a:outerShdw blurRad="38100" dist="38100" dir="2700000" algn="tl">
                    <a:srgbClr val="C0C0C0"/>
                  </a:outerShdw>
                </a:effectLst>
                <a:latin typeface="宋体" panose="02010600030101010101" pitchFamily="2" charset="-122"/>
                <a:ea typeface="宋体" panose="02010600030101010101" pitchFamily="2" charset="-122"/>
              </a:rPr>
              <a:t>Lex</a:t>
            </a: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源程序中的辅助过程是一些</a:t>
            </a:r>
            <a:r>
              <a:rPr lang="en-US" altLang="zh-CN" sz="2200" dirty="0">
                <a:effectLst>
                  <a:outerShdw blurRad="38100" dist="38100" dir="2700000" algn="tl">
                    <a:srgbClr val="C0C0C0"/>
                  </a:outerShdw>
                </a:effectLst>
                <a:latin typeface="宋体" panose="02010600030101010101" pitchFamily="2" charset="-122"/>
                <a:ea typeface="宋体" panose="02010600030101010101" pitchFamily="2" charset="-122"/>
              </a:rPr>
              <a:t>C</a:t>
            </a: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语言的函数，覆盖了 </a:t>
            </a:r>
            <a:r>
              <a:rPr lang="en-US" altLang="zh-CN" sz="2200" dirty="0">
                <a:effectLst>
                  <a:outerShdw blurRad="38100" dist="38100" dir="2700000" algn="tl">
                    <a:srgbClr val="C0C0C0"/>
                  </a:outerShdw>
                </a:effectLst>
                <a:latin typeface="宋体" panose="02010600030101010101" pitchFamily="2" charset="-122"/>
                <a:ea typeface="宋体" panose="02010600030101010101" pitchFamily="2" charset="-122"/>
              </a:rPr>
              <a:t>C </a:t>
            </a: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的函数声明（有时是主函数）</a:t>
            </a:r>
            <a:endParaRPr lang="en-US" altLang="zh-CN" sz="22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357188" indent="-357188" eaLnBrk="1" hangingPunct="1">
              <a:buFont typeface="Arial" pitchFamily="34" charset="0"/>
              <a:buChar char="•"/>
              <a:defRPr/>
            </a:pP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这一段必须包括 </a:t>
            </a:r>
            <a:r>
              <a:rPr lang="en-US" altLang="zh-CN" sz="2200" dirty="0" err="1">
                <a:effectLst>
                  <a:outerShdw blurRad="38100" dist="38100" dir="2700000" algn="tl">
                    <a:srgbClr val="C0C0C0"/>
                  </a:outerShdw>
                </a:effectLst>
                <a:latin typeface="宋体" panose="02010600030101010101" pitchFamily="2" charset="-122"/>
                <a:ea typeface="宋体" panose="02010600030101010101" pitchFamily="2" charset="-122"/>
              </a:rPr>
              <a:t>yywrap</a:t>
            </a:r>
            <a:r>
              <a:rPr lang="en-US" altLang="zh-CN" sz="2200" dirty="0">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函数，是</a:t>
            </a:r>
            <a:r>
              <a:rPr lang="zh-CN" altLang="en-US" sz="2200" dirty="0">
                <a:latin typeface="宋体" panose="02010600030101010101" pitchFamily="2" charset="-122"/>
                <a:ea typeface="宋体" panose="02010600030101010101" pitchFamily="2" charset="-122"/>
              </a:rPr>
              <a:t>文件结束处理函数，</a:t>
            </a:r>
            <a:r>
              <a:rPr lang="en-US" altLang="zh-CN" sz="2200" dirty="0" err="1">
                <a:latin typeface="宋体" panose="02010600030101010101" pitchFamily="2" charset="-122"/>
                <a:ea typeface="宋体" panose="02010600030101010101" pitchFamily="2" charset="-122"/>
              </a:rPr>
              <a:t>yylex</a:t>
            </a:r>
            <a:r>
              <a:rPr lang="zh-CN" altLang="en-US" sz="2200" dirty="0">
                <a:latin typeface="宋体" panose="02010600030101010101" pitchFamily="2" charset="-122"/>
                <a:ea typeface="宋体" panose="02010600030101010101" pitchFamily="2" charset="-122"/>
              </a:rPr>
              <a:t>在读到文件结束标记</a:t>
            </a:r>
            <a:r>
              <a:rPr lang="en-US" altLang="zh-CN" sz="2200" dirty="0">
                <a:latin typeface="宋体" panose="02010600030101010101" pitchFamily="2" charset="-122"/>
                <a:ea typeface="宋体" panose="02010600030101010101" pitchFamily="2" charset="-122"/>
              </a:rPr>
              <a:t>EOF</a:t>
            </a:r>
            <a:r>
              <a:rPr lang="zh-CN" altLang="en-US" sz="2200" dirty="0">
                <a:latin typeface="宋体" panose="02010600030101010101" pitchFamily="2" charset="-122"/>
                <a:ea typeface="宋体" panose="02010600030101010101" pitchFamily="2" charset="-122"/>
              </a:rPr>
              <a:t>时，要调用该函数，用户必须提供该函数，否则在编译时会出错</a:t>
            </a:r>
            <a:endParaRPr lang="en-US" altLang="zh-CN" sz="2200" dirty="0">
              <a:latin typeface="宋体" panose="02010600030101010101" pitchFamily="2" charset="-122"/>
              <a:ea typeface="宋体" panose="02010600030101010101" pitchFamily="2" charset="-122"/>
            </a:endParaRPr>
          </a:p>
          <a:p>
            <a:pPr marL="357188" indent="-357188" eaLnBrk="1" hangingPunct="1">
              <a:buFont typeface="Arial" pitchFamily="34" charset="0"/>
              <a:buChar char="•"/>
              <a:defRPr/>
            </a:pP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 </a:t>
            </a:r>
            <a:r>
              <a:rPr lang="en-US" altLang="zh-CN" sz="2200" dirty="0">
                <a:effectLst>
                  <a:outerShdw blurRad="38100" dist="38100" dir="2700000" algn="tl">
                    <a:srgbClr val="C0C0C0"/>
                  </a:outerShdw>
                </a:effectLst>
                <a:latin typeface="宋体" panose="02010600030101010101" pitchFamily="2" charset="-122"/>
                <a:ea typeface="宋体" panose="02010600030101010101" pitchFamily="2" charset="-122"/>
              </a:rPr>
              <a:t>Lex </a:t>
            </a:r>
            <a:r>
              <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rPr>
              <a:t>有一套可供使用的函数和变量。 其中之一就是 </a:t>
            </a:r>
            <a:r>
              <a:rPr lang="en-US" altLang="zh-CN" sz="2200" dirty="0" err="1">
                <a:effectLst>
                  <a:outerShdw blurRad="38100" dist="38100" dir="2700000" algn="tl">
                    <a:srgbClr val="C0C0C0"/>
                  </a:outerShdw>
                </a:effectLst>
                <a:latin typeface="宋体" panose="02010600030101010101" pitchFamily="2" charset="-122"/>
                <a:ea typeface="宋体" panose="02010600030101010101" pitchFamily="2" charset="-122"/>
              </a:rPr>
              <a:t>yywrap</a:t>
            </a:r>
            <a:endParaRPr lang="zh-CN" altLang="en-US" sz="2200"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7" name="矩形 6"/>
          <p:cNvSpPr/>
          <p:nvPr/>
        </p:nvSpPr>
        <p:spPr>
          <a:xfrm>
            <a:off x="2895600" y="2751192"/>
            <a:ext cx="6248400" cy="2419893"/>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75000"/>
              </a:lnSpc>
              <a:defRPr/>
            </a:pPr>
            <a:r>
              <a:rPr lang="en-US" altLang="zh-CN" sz="2000" dirty="0"/>
              <a:t>void main() </a:t>
            </a:r>
          </a:p>
          <a:p>
            <a:pPr eaLnBrk="1" hangingPunct="1">
              <a:lnSpc>
                <a:spcPct val="75000"/>
              </a:lnSpc>
              <a:defRPr/>
            </a:pPr>
            <a:r>
              <a:rPr lang="en-US" altLang="zh-CN" sz="2000" dirty="0"/>
              <a:t> { </a:t>
            </a:r>
            <a:br>
              <a:rPr lang="en-US" altLang="zh-CN" sz="2000" dirty="0"/>
            </a:br>
            <a:r>
              <a:rPr lang="en-US" altLang="zh-CN" sz="2000" dirty="0"/>
              <a:t>    </a:t>
            </a:r>
            <a:r>
              <a:rPr lang="en-US" altLang="zh-CN" sz="2000" dirty="0" err="1"/>
              <a:t>yylex</a:t>
            </a:r>
            <a:r>
              <a:rPr lang="en-US" altLang="zh-CN" sz="2000" dirty="0"/>
              <a:t>(); /* start the analysis*/ </a:t>
            </a:r>
            <a:br>
              <a:rPr lang="en-US" altLang="zh-CN" sz="2000" dirty="0"/>
            </a:br>
            <a:r>
              <a:rPr lang="en-US" altLang="zh-CN" sz="2000" dirty="0"/>
              <a:t>    </a:t>
            </a:r>
            <a:r>
              <a:rPr lang="en-US" altLang="zh-CN" sz="2000" dirty="0" err="1"/>
              <a:t>printf</a:t>
            </a:r>
            <a:r>
              <a:rPr lang="en-US" altLang="zh-CN" sz="2000" dirty="0"/>
              <a:t>(" No of words: %d\n", </a:t>
            </a:r>
            <a:r>
              <a:rPr lang="en-US" altLang="zh-CN" sz="2000" dirty="0" err="1"/>
              <a:t>wordCount</a:t>
            </a:r>
            <a:r>
              <a:rPr lang="en-US" altLang="zh-CN" sz="2000" dirty="0"/>
              <a:t>); </a:t>
            </a:r>
            <a:br>
              <a:rPr lang="en-US" altLang="zh-CN" sz="2000" dirty="0"/>
            </a:br>
            <a:r>
              <a:rPr lang="en-US" altLang="zh-CN" sz="2000" dirty="0"/>
              <a:t> } </a:t>
            </a:r>
            <a:br>
              <a:rPr lang="en-US" altLang="zh-CN" sz="2000" dirty="0"/>
            </a:br>
            <a:endParaRPr lang="en-US" altLang="zh-CN" sz="2000" dirty="0"/>
          </a:p>
          <a:p>
            <a:pPr eaLnBrk="1" hangingPunct="1">
              <a:lnSpc>
                <a:spcPct val="75000"/>
              </a:lnSpc>
              <a:defRPr/>
            </a:pPr>
            <a:r>
              <a:rPr lang="en-US" altLang="zh-CN" sz="2000" dirty="0"/>
              <a:t> </a:t>
            </a:r>
            <a:r>
              <a:rPr lang="en-US" altLang="zh-CN" sz="2000" dirty="0" err="1"/>
              <a:t>int</a:t>
            </a:r>
            <a:r>
              <a:rPr lang="en-US" altLang="zh-CN" sz="2000" dirty="0"/>
              <a:t> </a:t>
            </a:r>
            <a:r>
              <a:rPr lang="en-US" altLang="zh-CN" sz="2000" dirty="0" err="1"/>
              <a:t>yywrap</a:t>
            </a:r>
            <a:r>
              <a:rPr lang="en-US" altLang="zh-CN" sz="2000" dirty="0"/>
              <a:t>() </a:t>
            </a:r>
            <a:br>
              <a:rPr lang="en-US" altLang="zh-CN" sz="2000" dirty="0"/>
            </a:br>
            <a:r>
              <a:rPr lang="en-US" altLang="zh-CN" sz="2000" dirty="0"/>
              <a:t> { </a:t>
            </a:r>
            <a:br>
              <a:rPr lang="en-US" altLang="zh-CN" sz="2000" dirty="0"/>
            </a:br>
            <a:r>
              <a:rPr lang="en-US" altLang="zh-CN" sz="2000" dirty="0"/>
              <a:t>    return 1; </a:t>
            </a:r>
            <a:br>
              <a:rPr lang="en-US" altLang="zh-CN" sz="2000" dirty="0"/>
            </a:br>
            <a:r>
              <a:rPr lang="en-US" altLang="zh-CN" sz="2000" dirty="0"/>
              <a:t>} </a:t>
            </a:r>
          </a:p>
        </p:txBody>
      </p:sp>
    </p:spTree>
    <p:extLst>
      <p:ext uri="{BB962C8B-B14F-4D97-AF65-F5344CB8AC3E}">
        <p14:creationId xmlns:p14="http://schemas.microsoft.com/office/powerpoint/2010/main" val="184430526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323850" y="0"/>
            <a:ext cx="8540750" cy="809625"/>
          </a:xfrm>
        </p:spPr>
        <p:txBody>
          <a:bodyPr>
            <a:normAutofit fontScale="90000"/>
          </a:bodyPr>
          <a:lstStyle/>
          <a:p>
            <a:pPr eaLnBrk="1" hangingPunct="1"/>
            <a:r>
              <a:rPr lang="zh-CN" altLang="en-US" sz="3200" b="1" dirty="0">
                <a:solidFill>
                  <a:srgbClr val="FF0000"/>
                </a:solidFill>
              </a:rPr>
              <a:t>例</a:t>
            </a:r>
            <a:r>
              <a:rPr lang="en-US" altLang="zh-CN" sz="3200" b="1" dirty="0">
                <a:solidFill>
                  <a:srgbClr val="FF0000"/>
                </a:solidFill>
              </a:rPr>
              <a:t>3</a:t>
            </a:r>
            <a:r>
              <a:rPr lang="zh-CN" altLang="en-US" sz="3200" b="1" dirty="0">
                <a:solidFill>
                  <a:srgbClr val="FF0000"/>
                </a:solidFill>
              </a:rPr>
              <a:t>：写一个</a:t>
            </a:r>
            <a:r>
              <a:rPr lang="en-US" altLang="zh-CN" sz="3200" b="1" dirty="0">
                <a:solidFill>
                  <a:srgbClr val="FF0000"/>
                </a:solidFill>
              </a:rPr>
              <a:t>Lex</a:t>
            </a:r>
            <a:r>
              <a:rPr lang="zh-CN" altLang="en-US" sz="3200" b="1" dirty="0">
                <a:solidFill>
                  <a:srgbClr val="FF0000"/>
                </a:solidFill>
              </a:rPr>
              <a:t>源文件，其功能是统计文本文件中的字符数和行数。</a:t>
            </a:r>
          </a:p>
        </p:txBody>
      </p:sp>
      <p:sp>
        <p:nvSpPr>
          <p:cNvPr id="105475" name="Rectangle 3"/>
          <p:cNvSpPr>
            <a:spLocks noGrp="1" noChangeArrowheads="1"/>
          </p:cNvSpPr>
          <p:nvPr>
            <p:ph type="body" idx="1"/>
          </p:nvPr>
        </p:nvSpPr>
        <p:spPr>
          <a:xfrm>
            <a:off x="323850" y="735807"/>
            <a:ext cx="8820150" cy="4293394"/>
          </a:xfrm>
          <a:solidFill>
            <a:schemeClr val="bg1"/>
          </a:solidFill>
        </p:spPr>
        <p:txBody>
          <a:bodyPr>
            <a:normAutofit fontScale="92500" lnSpcReduction="10000"/>
          </a:bodyPr>
          <a:lstStyle/>
          <a:p>
            <a:pPr eaLnBrk="1" hangingPunct="1">
              <a:lnSpc>
                <a:spcPct val="80000"/>
              </a:lnSpc>
              <a:buFontTx/>
              <a:buNone/>
            </a:pPr>
            <a:r>
              <a:rPr lang="en-US" altLang="zh-CN" sz="2200" dirty="0"/>
              <a:t>%{</a:t>
            </a:r>
          </a:p>
          <a:p>
            <a:pPr eaLnBrk="1" hangingPunct="1">
              <a:lnSpc>
                <a:spcPct val="80000"/>
              </a:lnSpc>
              <a:buFontTx/>
              <a:buNone/>
            </a:pPr>
            <a:r>
              <a:rPr lang="en-US" altLang="zh-CN" sz="2200" dirty="0"/>
              <a:t>/*</a:t>
            </a:r>
            <a:r>
              <a:rPr lang="zh-CN" altLang="en-US" sz="2200" dirty="0"/>
              <a:t>该</a:t>
            </a:r>
            <a:r>
              <a:rPr lang="en-US" altLang="zh-CN" sz="2200" dirty="0"/>
              <a:t>Lex</a:t>
            </a:r>
            <a:r>
              <a:rPr lang="zh-CN" altLang="en-US" sz="2200" dirty="0"/>
              <a:t>程序的功能是统计文本文件的字符数和行数，并输出结果*</a:t>
            </a:r>
            <a:r>
              <a:rPr lang="en-US" altLang="zh-CN" sz="2200" dirty="0"/>
              <a:t>/</a:t>
            </a:r>
          </a:p>
          <a:p>
            <a:pPr eaLnBrk="1" hangingPunct="1">
              <a:lnSpc>
                <a:spcPct val="80000"/>
              </a:lnSpc>
              <a:buFontTx/>
              <a:buNone/>
            </a:pPr>
            <a:r>
              <a:rPr lang="en-US" altLang="zh-CN" sz="2200" dirty="0"/>
              <a:t>#include&lt;</a:t>
            </a:r>
            <a:r>
              <a:rPr lang="en-US" altLang="zh-CN" sz="2200" dirty="0" err="1"/>
              <a:t>stdio.h</a:t>
            </a:r>
            <a:r>
              <a:rPr lang="en-US" altLang="zh-CN" sz="2200" dirty="0"/>
              <a:t>&gt;</a:t>
            </a:r>
          </a:p>
          <a:p>
            <a:pPr eaLnBrk="1" hangingPunct="1">
              <a:lnSpc>
                <a:spcPct val="80000"/>
              </a:lnSpc>
              <a:buFontTx/>
              <a:buNone/>
            </a:pPr>
            <a:r>
              <a:rPr lang="en-US" altLang="zh-CN" sz="2200" dirty="0" err="1"/>
              <a:t>int</a:t>
            </a:r>
            <a:r>
              <a:rPr lang="en-US" altLang="zh-CN" sz="2200" dirty="0"/>
              <a:t> </a:t>
            </a:r>
            <a:r>
              <a:rPr lang="en-US" altLang="zh-CN" sz="2200" dirty="0" err="1"/>
              <a:t>num_chars</a:t>
            </a:r>
            <a:r>
              <a:rPr lang="en-US" altLang="zh-CN" sz="2200" dirty="0"/>
              <a:t>=0,num_lines=0;/*</a:t>
            </a:r>
            <a:r>
              <a:rPr lang="zh-CN" altLang="en-US" sz="2200" dirty="0"/>
              <a:t>全局变量定义，初值为</a:t>
            </a:r>
            <a:r>
              <a:rPr lang="en-US" altLang="zh-CN" sz="2200" dirty="0"/>
              <a:t>0*/</a:t>
            </a:r>
          </a:p>
          <a:p>
            <a:pPr eaLnBrk="1" hangingPunct="1">
              <a:lnSpc>
                <a:spcPct val="80000"/>
              </a:lnSpc>
              <a:buFontTx/>
              <a:buNone/>
            </a:pPr>
            <a:r>
              <a:rPr lang="en-US" altLang="zh-CN" sz="2200" dirty="0"/>
              <a:t>%}</a:t>
            </a:r>
          </a:p>
          <a:p>
            <a:pPr eaLnBrk="1" hangingPunct="1">
              <a:lnSpc>
                <a:spcPct val="80000"/>
              </a:lnSpc>
              <a:buFontTx/>
              <a:buNone/>
            </a:pPr>
            <a:r>
              <a:rPr lang="en-US" altLang="zh-CN" sz="2200" dirty="0">
                <a:solidFill>
                  <a:srgbClr val="FF0000"/>
                </a:solidFill>
              </a:rPr>
              <a:t>%%    /*</a:t>
            </a:r>
            <a:r>
              <a:rPr lang="zh-CN" altLang="en-US" sz="2200" dirty="0">
                <a:solidFill>
                  <a:srgbClr val="FF0000"/>
                </a:solidFill>
              </a:rPr>
              <a:t>从此后是第</a:t>
            </a:r>
            <a:r>
              <a:rPr lang="en-US" altLang="zh-CN" sz="2200" dirty="0">
                <a:solidFill>
                  <a:srgbClr val="FF0000"/>
                </a:solidFill>
              </a:rPr>
              <a:t>2</a:t>
            </a:r>
            <a:r>
              <a:rPr lang="zh-CN" altLang="en-US" sz="2200" dirty="0">
                <a:solidFill>
                  <a:srgbClr val="FF0000"/>
                </a:solidFill>
              </a:rPr>
              <a:t>部份*</a:t>
            </a:r>
            <a:r>
              <a:rPr lang="en-US" altLang="zh-CN" sz="2200" dirty="0">
                <a:solidFill>
                  <a:srgbClr val="FF0000"/>
                </a:solidFill>
              </a:rPr>
              <a:t>/</a:t>
            </a:r>
          </a:p>
          <a:p>
            <a:pPr eaLnBrk="1" hangingPunct="1">
              <a:lnSpc>
                <a:spcPct val="80000"/>
              </a:lnSpc>
              <a:buFontTx/>
              <a:buNone/>
            </a:pPr>
            <a:r>
              <a:rPr lang="en-US" altLang="zh-CN" sz="2200" dirty="0"/>
              <a:t>\n   {++</a:t>
            </a:r>
            <a:r>
              <a:rPr lang="en-US" altLang="zh-CN" sz="2200" dirty="0" err="1"/>
              <a:t>num_chars</a:t>
            </a:r>
            <a:r>
              <a:rPr lang="en-US" altLang="zh-CN" sz="2200" dirty="0"/>
              <a:t>;++</a:t>
            </a:r>
            <a:r>
              <a:rPr lang="en-US" altLang="zh-CN" sz="2200" dirty="0" err="1"/>
              <a:t>num_lines</a:t>
            </a:r>
            <a:r>
              <a:rPr lang="en-US" altLang="zh-CN" sz="2200" dirty="0"/>
              <a:t>;} /*\n</a:t>
            </a:r>
            <a:r>
              <a:rPr lang="zh-CN" altLang="en-US" sz="2200" dirty="0"/>
              <a:t>匹配一行*</a:t>
            </a:r>
            <a:r>
              <a:rPr lang="en-US" altLang="zh-CN" sz="2200" dirty="0"/>
              <a:t>/</a:t>
            </a:r>
          </a:p>
          <a:p>
            <a:pPr eaLnBrk="1" hangingPunct="1">
              <a:lnSpc>
                <a:spcPct val="80000"/>
              </a:lnSpc>
              <a:buFontTx/>
              <a:buNone/>
            </a:pPr>
            <a:r>
              <a:rPr lang="en-US" altLang="zh-CN" sz="2200" dirty="0"/>
              <a:t>.     {++</a:t>
            </a:r>
            <a:r>
              <a:rPr lang="en-US" altLang="zh-CN" sz="2200" dirty="0" err="1"/>
              <a:t>num_chars</a:t>
            </a:r>
            <a:r>
              <a:rPr lang="en-US" altLang="zh-CN" sz="2200" dirty="0"/>
              <a:t>;}  /*.</a:t>
            </a:r>
            <a:r>
              <a:rPr lang="zh-CN" altLang="en-US" sz="2200" dirty="0"/>
              <a:t>匹配任一符号，注意从第一列开始写*</a:t>
            </a:r>
            <a:r>
              <a:rPr lang="en-US" altLang="zh-CN" sz="2200" dirty="0"/>
              <a:t>/</a:t>
            </a:r>
          </a:p>
          <a:p>
            <a:pPr eaLnBrk="1" hangingPunct="1">
              <a:lnSpc>
                <a:spcPct val="80000"/>
              </a:lnSpc>
              <a:buFontTx/>
              <a:buNone/>
            </a:pPr>
            <a:r>
              <a:rPr lang="en-US" altLang="zh-CN" sz="2200" dirty="0">
                <a:solidFill>
                  <a:srgbClr val="FF0000"/>
                </a:solidFill>
              </a:rPr>
              <a:t>%%    /*</a:t>
            </a:r>
            <a:r>
              <a:rPr lang="zh-CN" altLang="en-US" sz="2200" dirty="0">
                <a:solidFill>
                  <a:srgbClr val="FF0000"/>
                </a:solidFill>
              </a:rPr>
              <a:t>从此后是第</a:t>
            </a:r>
            <a:r>
              <a:rPr lang="en-US" altLang="zh-CN" sz="2200" dirty="0">
                <a:solidFill>
                  <a:srgbClr val="FF0000"/>
                </a:solidFill>
              </a:rPr>
              <a:t>3</a:t>
            </a:r>
            <a:r>
              <a:rPr lang="zh-CN" altLang="en-US" sz="2200" dirty="0">
                <a:solidFill>
                  <a:srgbClr val="FF0000"/>
                </a:solidFill>
              </a:rPr>
              <a:t>部分*</a:t>
            </a:r>
            <a:r>
              <a:rPr lang="en-US" altLang="zh-CN" sz="2200" dirty="0">
                <a:solidFill>
                  <a:srgbClr val="FF0000"/>
                </a:solidFill>
              </a:rPr>
              <a:t>/</a:t>
            </a:r>
          </a:p>
          <a:p>
            <a:pPr eaLnBrk="1" hangingPunct="1">
              <a:lnSpc>
                <a:spcPct val="80000"/>
              </a:lnSpc>
              <a:buFontTx/>
              <a:buNone/>
            </a:pPr>
            <a:r>
              <a:rPr lang="en-US" altLang="zh-CN" sz="2200" dirty="0" err="1"/>
              <a:t>int</a:t>
            </a:r>
            <a:r>
              <a:rPr lang="en-US" altLang="zh-CN" sz="2200" dirty="0"/>
              <a:t> main()</a:t>
            </a:r>
          </a:p>
          <a:p>
            <a:pPr eaLnBrk="1" hangingPunct="1">
              <a:lnSpc>
                <a:spcPct val="80000"/>
              </a:lnSpc>
              <a:buFontTx/>
              <a:buNone/>
            </a:pPr>
            <a:r>
              <a:rPr lang="en-US" altLang="zh-CN" sz="2200" dirty="0"/>
              <a:t>{ </a:t>
            </a:r>
            <a:r>
              <a:rPr lang="en-US" altLang="zh-CN" sz="2200" dirty="0" err="1"/>
              <a:t>yylex</a:t>
            </a:r>
            <a:r>
              <a:rPr lang="en-US" altLang="zh-CN" sz="2200" dirty="0"/>
              <a:t>();</a:t>
            </a:r>
          </a:p>
          <a:p>
            <a:pPr eaLnBrk="1" hangingPunct="1">
              <a:lnSpc>
                <a:spcPct val="80000"/>
              </a:lnSpc>
              <a:buFontTx/>
              <a:buNone/>
            </a:pPr>
            <a:r>
              <a:rPr lang="en-US" altLang="zh-CN" sz="2200" dirty="0"/>
              <a:t>  </a:t>
            </a:r>
            <a:r>
              <a:rPr lang="en-US" altLang="zh-CN" sz="2200" dirty="0" err="1"/>
              <a:t>printf</a:t>
            </a:r>
            <a:r>
              <a:rPr lang="en-US" altLang="zh-CN" sz="2200" dirty="0"/>
              <a:t>(“This file has %5d chars,%5d lines”,</a:t>
            </a:r>
            <a:r>
              <a:rPr lang="en-US" altLang="zh-CN" sz="2200" dirty="0" err="1"/>
              <a:t>num_chars,num_lines</a:t>
            </a:r>
            <a:r>
              <a:rPr lang="en-US" altLang="zh-CN" sz="2200" dirty="0"/>
              <a:t>);</a:t>
            </a:r>
          </a:p>
          <a:p>
            <a:pPr eaLnBrk="1" hangingPunct="1">
              <a:lnSpc>
                <a:spcPct val="80000"/>
              </a:lnSpc>
              <a:buFontTx/>
              <a:buNone/>
            </a:pPr>
            <a:r>
              <a:rPr lang="en-US" altLang="zh-CN" sz="2200" dirty="0"/>
              <a:t>  return 0;</a:t>
            </a:r>
          </a:p>
          <a:p>
            <a:pPr eaLnBrk="1" hangingPunct="1">
              <a:lnSpc>
                <a:spcPct val="80000"/>
              </a:lnSpc>
              <a:buFontTx/>
              <a:buNone/>
            </a:pPr>
            <a:r>
              <a:rPr lang="en-US" altLang="zh-CN" sz="2200" dirty="0"/>
              <a:t>}</a:t>
            </a:r>
          </a:p>
          <a:p>
            <a:pPr eaLnBrk="1" hangingPunct="1">
              <a:lnSpc>
                <a:spcPct val="80000"/>
              </a:lnSpc>
              <a:buFontTx/>
              <a:buNone/>
            </a:pPr>
            <a:r>
              <a:rPr lang="en-US" altLang="zh-CN" sz="2200" dirty="0" err="1"/>
              <a:t>int</a:t>
            </a:r>
            <a:r>
              <a:rPr lang="en-US" altLang="zh-CN" sz="2200" dirty="0"/>
              <a:t> </a:t>
            </a:r>
            <a:r>
              <a:rPr lang="en-US" altLang="zh-CN" sz="2200" dirty="0" err="1"/>
              <a:t>yywrap</a:t>
            </a:r>
            <a:r>
              <a:rPr lang="en-US" altLang="zh-CN" sz="2200" dirty="0"/>
              <a:t>()</a:t>
            </a:r>
          </a:p>
          <a:p>
            <a:pPr eaLnBrk="1" hangingPunct="1">
              <a:lnSpc>
                <a:spcPct val="80000"/>
              </a:lnSpc>
              <a:buFontTx/>
              <a:buNone/>
            </a:pPr>
            <a:r>
              <a:rPr lang="en-US" altLang="zh-CN" sz="2200" dirty="0"/>
              <a:t> {return 1;}</a:t>
            </a:r>
          </a:p>
        </p:txBody>
      </p:sp>
    </p:spTree>
    <p:extLst>
      <p:ext uri="{BB962C8B-B14F-4D97-AF65-F5344CB8AC3E}">
        <p14:creationId xmlns:p14="http://schemas.microsoft.com/office/powerpoint/2010/main" val="392868155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p:cNvSpPr>
          <p:nvPr>
            <p:ph type="title"/>
          </p:nvPr>
        </p:nvSpPr>
        <p:spPr>
          <a:xfrm>
            <a:off x="457200" y="0"/>
            <a:ext cx="8229600" cy="604838"/>
          </a:xfrm>
        </p:spPr>
        <p:txBody>
          <a:bodyPr>
            <a:normAutofit fontScale="90000"/>
          </a:bodyPr>
          <a:lstStyle/>
          <a:p>
            <a:pPr>
              <a:lnSpc>
                <a:spcPct val="172000"/>
              </a:lnSpc>
              <a:spcBef>
                <a:spcPts val="800"/>
              </a:spcBef>
              <a:spcAft>
                <a:spcPts val="300"/>
              </a:spcAft>
            </a:pPr>
            <a:r>
              <a:rPr kumimoji="1" lang="zh-CN" altLang="zh-CN" b="1" dirty="0">
                <a:solidFill>
                  <a:srgbClr val="CC0099"/>
                </a:solidFill>
                <a:ea typeface="隶书" pitchFamily="49" charset="-122"/>
              </a:rPr>
              <a:t>2.6.4 Lex使用中的一些注意事项</a:t>
            </a:r>
            <a:endParaRPr kumimoji="1" lang="zh-CN" altLang="en-US" b="1" dirty="0">
              <a:solidFill>
                <a:srgbClr val="CC0099"/>
              </a:solidFill>
              <a:ea typeface="隶书" pitchFamily="49" charset="-122"/>
            </a:endParaRPr>
          </a:p>
        </p:txBody>
      </p:sp>
      <p:sp>
        <p:nvSpPr>
          <p:cNvPr id="109571" name="Rectangle 3"/>
          <p:cNvSpPr>
            <a:spLocks noGrp="1" noChangeArrowheads="1"/>
          </p:cNvSpPr>
          <p:nvPr>
            <p:ph type="body" idx="4294967295"/>
          </p:nvPr>
        </p:nvSpPr>
        <p:spPr>
          <a:xfrm>
            <a:off x="23735" y="674538"/>
            <a:ext cx="4191000" cy="1296591"/>
          </a:xfrm>
        </p:spPr>
        <p:txBody>
          <a:bodyPr/>
          <a:lstStyle/>
          <a:p>
            <a:pPr indent="22225" eaLnBrk="1" hangingPunct="1">
              <a:buFont typeface="Wingdings" pitchFamily="2" charset="2"/>
              <a:buChar char="Ø"/>
            </a:pPr>
            <a:r>
              <a:rPr lang="zh-CN" altLang="en-US" dirty="0"/>
              <a:t>二义性的解决</a:t>
            </a:r>
          </a:p>
          <a:p>
            <a:pPr marL="342900" lvl="1" indent="22225" eaLnBrk="1" hangingPunct="1">
              <a:buFont typeface="Wingdings" pitchFamily="2" charset="2"/>
              <a:buChar char="Ø"/>
            </a:pPr>
            <a:r>
              <a:rPr lang="zh-CN" altLang="en-US" dirty="0"/>
              <a:t>   </a:t>
            </a:r>
            <a:r>
              <a:rPr lang="en-US" altLang="zh-CN" dirty="0"/>
              <a:t>C</a:t>
            </a:r>
            <a:r>
              <a:rPr lang="zh-CN" altLang="en-US" dirty="0"/>
              <a:t>代码的插入</a:t>
            </a:r>
          </a:p>
          <a:p>
            <a:pPr marL="342900" lvl="1" indent="22225" eaLnBrk="1" hangingPunct="1">
              <a:buFont typeface="Wingdings" pitchFamily="2" charset="2"/>
              <a:buChar char="Ø"/>
            </a:pPr>
            <a:r>
              <a:rPr lang="zh-CN" altLang="en-US" dirty="0"/>
              <a:t>   内部名字</a:t>
            </a:r>
          </a:p>
        </p:txBody>
      </p:sp>
      <p:sp>
        <p:nvSpPr>
          <p:cNvPr id="110593" name="Rectangle 1"/>
          <p:cNvSpPr>
            <a:spLocks noChangeArrowheads="1"/>
          </p:cNvSpPr>
          <p:nvPr/>
        </p:nvSpPr>
        <p:spPr bwMode="auto">
          <a:xfrm>
            <a:off x="288925" y="1992095"/>
            <a:ext cx="8566150" cy="3139321"/>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anchor="ctr">
            <a:spAutoFit/>
          </a:bodyPr>
          <a:lstStyle/>
          <a:p>
            <a:pPr indent="266700" eaLnBrk="1" hangingPunct="1">
              <a:defRPr/>
            </a:pPr>
            <a:r>
              <a:rPr lang="zh-CN" altLang="en-US" sz="2200" b="1" dirty="0">
                <a:solidFill>
                  <a:srgbClr val="C00000"/>
                </a:solidFill>
                <a:latin typeface="宋体" panose="02010600030101010101" pitchFamily="2" charset="-122"/>
                <a:ea typeface="宋体" panose="02010600030101010101" pitchFamily="2" charset="-122"/>
              </a:rPr>
              <a:t>二义性的解决</a:t>
            </a:r>
          </a:p>
          <a:p>
            <a:pPr indent="266700" eaLnBrk="1" hangingPunct="1">
              <a:defRPr/>
            </a:pPr>
            <a:r>
              <a:rPr lang="en-US" altLang="zh-CN" sz="2200" dirty="0">
                <a:solidFill>
                  <a:srgbClr val="000000"/>
                </a:solidFill>
                <a:latin typeface="宋体" panose="02010600030101010101" pitchFamily="2" charset="-122"/>
                <a:ea typeface="宋体" panose="02010600030101010101" pitchFamily="2" charset="-122"/>
                <a:cs typeface="Times New Roman" pitchFamily="18" charset="0"/>
              </a:rPr>
              <a:t>(1) </a:t>
            </a:r>
            <a:r>
              <a:rPr lang="zh-CN" altLang="en-US" sz="2200" dirty="0">
                <a:solidFill>
                  <a:srgbClr val="FF0000"/>
                </a:solidFill>
                <a:latin typeface="宋体" panose="02010600030101010101" pitchFamily="2" charset="-122"/>
                <a:ea typeface="宋体" panose="02010600030101010101" pitchFamily="2" charset="-122"/>
                <a:cs typeface="Times New Roman" pitchFamily="18" charset="0"/>
              </a:rPr>
              <a:t>最长匹配原则</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：当有几个规则看来都适用时，总是寻找可能的最长子串与正则表达式</a:t>
            </a:r>
            <a:r>
              <a:rPr lang="en-US" altLang="zh-CN" sz="2200" i="1" dirty="0">
                <a:solidFill>
                  <a:schemeClr val="tx1"/>
                </a:solidFill>
                <a:latin typeface="宋体" panose="02010600030101010101" pitchFamily="2" charset="-122"/>
                <a:ea typeface="宋体" panose="02010600030101010101" pitchFamily="2" charset="-122"/>
                <a:cs typeface="Times New Roman" pitchFamily="18" charset="0"/>
              </a:rPr>
              <a:t>p</a:t>
            </a:r>
            <a:r>
              <a:rPr lang="en-US" altLang="zh-CN" sz="2200" i="1" baseline="-30000" dirty="0">
                <a:solidFill>
                  <a:schemeClr val="tx1"/>
                </a:solidFill>
                <a:latin typeface="宋体" panose="02010600030101010101" pitchFamily="2" charset="-122"/>
                <a:ea typeface="宋体" panose="02010600030101010101" pitchFamily="2" charset="-122"/>
                <a:cs typeface="Times New Roman" pitchFamily="18" charset="0"/>
              </a:rPr>
              <a:t>i</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相匹配。</a:t>
            </a:r>
          </a:p>
          <a:p>
            <a:pPr indent="266700">
              <a:defRPr/>
            </a:pPr>
            <a:r>
              <a:rPr lang="en-US" altLang="zh-CN" sz="2200" dirty="0">
                <a:solidFill>
                  <a:schemeClr val="tx1"/>
                </a:solidFill>
                <a:latin typeface="宋体" panose="02010600030101010101" pitchFamily="2" charset="-122"/>
                <a:ea typeface="宋体" panose="02010600030101010101" pitchFamily="2" charset="-122"/>
                <a:cs typeface="Times New Roman" pitchFamily="18" charset="0"/>
              </a:rPr>
              <a:t>(2) </a:t>
            </a:r>
            <a:r>
              <a:rPr lang="zh-CN" altLang="en-US" sz="2200" dirty="0">
                <a:solidFill>
                  <a:srgbClr val="FF0000"/>
                </a:solidFill>
                <a:latin typeface="宋体" panose="02010600030101010101" pitchFamily="2" charset="-122"/>
                <a:ea typeface="宋体" panose="02010600030101010101" pitchFamily="2" charset="-122"/>
                <a:cs typeface="Times New Roman" pitchFamily="18" charset="0"/>
              </a:rPr>
              <a:t>优先匹配原则</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：如果某个子串可与两个或更多的正则表达式匹配，并且匹配的长度都相同， </a:t>
            </a:r>
            <a:r>
              <a:rPr lang="en-US" altLang="zh-CN" sz="2200" dirty="0">
                <a:solidFill>
                  <a:schemeClr val="tx1"/>
                </a:solidFill>
                <a:latin typeface="宋体" panose="02010600030101010101" pitchFamily="2" charset="-122"/>
                <a:ea typeface="宋体" panose="02010600030101010101" pitchFamily="2" charset="-122"/>
                <a:cs typeface="Times New Roman" pitchFamily="18" charset="0"/>
              </a:rPr>
              <a:t>Lex</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以出现在最前面的那个</a:t>
            </a:r>
            <a:r>
              <a:rPr lang="en-US" altLang="zh-CN" sz="2200" i="1" dirty="0">
                <a:solidFill>
                  <a:schemeClr val="tx1"/>
                </a:solidFill>
                <a:latin typeface="宋体" panose="02010600030101010101" pitchFamily="2" charset="-122"/>
                <a:ea typeface="宋体" panose="02010600030101010101" pitchFamily="2" charset="-122"/>
                <a:cs typeface="Times New Roman" pitchFamily="18" charset="0"/>
              </a:rPr>
              <a:t>p</a:t>
            </a:r>
            <a:r>
              <a:rPr lang="en-US" altLang="zh-CN" sz="2200" i="1" baseline="-30000" dirty="0">
                <a:solidFill>
                  <a:schemeClr val="tx1"/>
                </a:solidFill>
                <a:latin typeface="宋体" panose="02010600030101010101" pitchFamily="2" charset="-122"/>
                <a:ea typeface="宋体" panose="02010600030101010101" pitchFamily="2" charset="-122"/>
                <a:cs typeface="Times New Roman" pitchFamily="18" charset="0"/>
              </a:rPr>
              <a:t>i</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为准，也就是说，越处于前面的那个</a:t>
            </a:r>
            <a:r>
              <a:rPr lang="en-US" altLang="zh-CN" sz="2200" i="1" dirty="0">
                <a:solidFill>
                  <a:schemeClr val="tx1"/>
                </a:solidFill>
                <a:latin typeface="宋体" panose="02010600030101010101" pitchFamily="2" charset="-122"/>
                <a:ea typeface="宋体" panose="02010600030101010101" pitchFamily="2" charset="-122"/>
                <a:cs typeface="Times New Roman" pitchFamily="18" charset="0"/>
              </a:rPr>
              <a:t>p</a:t>
            </a:r>
            <a:r>
              <a:rPr lang="en-US" altLang="zh-CN" sz="2200" i="1" baseline="-30000" dirty="0">
                <a:solidFill>
                  <a:schemeClr val="tx1"/>
                </a:solidFill>
                <a:latin typeface="宋体" panose="02010600030101010101" pitchFamily="2" charset="-122"/>
                <a:ea typeface="宋体" panose="02010600030101010101" pitchFamily="2" charset="-122"/>
                <a:cs typeface="Times New Roman" pitchFamily="18" charset="0"/>
              </a:rPr>
              <a:t>i</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，匹配的优先级越高。</a:t>
            </a:r>
            <a:endParaRPr lang="en-US" altLang="zh-CN" sz="2200" dirty="0">
              <a:solidFill>
                <a:schemeClr val="tx1"/>
              </a:solidFill>
              <a:latin typeface="宋体" panose="02010600030101010101" pitchFamily="2" charset="-122"/>
              <a:ea typeface="宋体" panose="02010600030101010101" pitchFamily="2" charset="-122"/>
              <a:cs typeface="Times New Roman" pitchFamily="18" charset="0"/>
            </a:endParaRPr>
          </a:p>
          <a:p>
            <a:pPr indent="266700">
              <a:defRPr/>
            </a:pP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如果没有正则表达式可与任何非空子串相匹配，则词法分析器应报告输入含有错误，</a:t>
            </a:r>
            <a:r>
              <a:rPr lang="en-US" altLang="zh-CN" sz="2200" dirty="0">
                <a:solidFill>
                  <a:schemeClr val="tx1"/>
                </a:solidFill>
                <a:latin typeface="宋体" panose="02010600030101010101" pitchFamily="2" charset="-122"/>
                <a:ea typeface="宋体" panose="02010600030101010101" pitchFamily="2" charset="-122"/>
                <a:cs typeface="Times New Roman" pitchFamily="18" charset="0"/>
              </a:rPr>
              <a:t>Lex</a:t>
            </a:r>
            <a:r>
              <a:rPr lang="zh-CN" altLang="en-US" sz="2200" dirty="0">
                <a:solidFill>
                  <a:schemeClr val="tx1"/>
                </a:solidFill>
                <a:latin typeface="宋体" panose="02010600030101010101" pitchFamily="2" charset="-122"/>
                <a:ea typeface="宋体" panose="02010600030101010101" pitchFamily="2" charset="-122"/>
                <a:cs typeface="Times New Roman" pitchFamily="18" charset="0"/>
              </a:rPr>
              <a:t>的默认动作就将下一个字符复制到输出中并继续下去。</a:t>
            </a:r>
            <a:r>
              <a:rPr lang="zh-CN" altLang="en-US" sz="2200" dirty="0">
                <a:solidFill>
                  <a:schemeClr val="tx1"/>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1453345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normAutofit fontScale="90000"/>
          </a:bodyPr>
          <a:lstStyle/>
          <a:p>
            <a:endParaRPr lang="zh-CN" altLang="en-US"/>
          </a:p>
        </p:txBody>
      </p:sp>
      <p:sp>
        <p:nvSpPr>
          <p:cNvPr id="110595" name="内容占位符 2"/>
          <p:cNvSpPr>
            <a:spLocks noGrp="1"/>
          </p:cNvSpPr>
          <p:nvPr>
            <p:ph idx="1"/>
          </p:nvPr>
        </p:nvSpPr>
        <p:spPr/>
        <p:txBody>
          <a:bodyPr/>
          <a:lstStyle/>
          <a:p>
            <a:endParaRPr lang="zh-CN" altLang="en-US"/>
          </a:p>
        </p:txBody>
      </p:sp>
      <p:sp>
        <p:nvSpPr>
          <p:cNvPr id="4" name="Rectangle 2"/>
          <p:cNvSpPr>
            <a:spLocks noChangeArrowheads="1"/>
          </p:cNvSpPr>
          <p:nvPr/>
        </p:nvSpPr>
        <p:spPr bwMode="auto">
          <a:xfrm>
            <a:off x="457200" y="1067366"/>
            <a:ext cx="8229600" cy="347787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nchor="ctr">
            <a:spAutoFit/>
          </a:bodyPr>
          <a:lstStyle/>
          <a:p>
            <a:pPr marL="0" lvl="1" indent="266700" eaLnBrk="1" hangingPunct="1">
              <a:defRPr/>
            </a:pPr>
            <a:r>
              <a:rPr lang="en-US" altLang="zh-CN" sz="2200" b="1" dirty="0">
                <a:solidFill>
                  <a:srgbClr val="C00000"/>
                </a:solidFill>
              </a:rPr>
              <a:t>C</a:t>
            </a:r>
            <a:r>
              <a:rPr lang="zh-CN" altLang="en-US" sz="2200" b="1" dirty="0">
                <a:solidFill>
                  <a:srgbClr val="C00000"/>
                </a:solidFill>
              </a:rPr>
              <a:t>代码的插入</a:t>
            </a:r>
          </a:p>
          <a:p>
            <a:pPr indent="266700" eaLnBrk="1" hangingPunct="1">
              <a:defRPr/>
            </a:pPr>
            <a:endParaRPr lang="en-US" altLang="zh-CN" sz="2200" dirty="0">
              <a:solidFill>
                <a:srgbClr val="000000"/>
              </a:solidFill>
              <a:latin typeface="Times New Roman" pitchFamily="18" charset="0"/>
              <a:cs typeface="Times New Roman" pitchFamily="18" charset="0"/>
            </a:endParaRPr>
          </a:p>
          <a:p>
            <a:pPr indent="266700" eaLnBrk="1" hangingPunct="1">
              <a:defRPr/>
            </a:pPr>
            <a:r>
              <a:rPr lang="zh-CN" sz="2200" dirty="0">
                <a:solidFill>
                  <a:srgbClr val="000000"/>
                </a:solidFill>
                <a:latin typeface="Times New Roman" pitchFamily="18" charset="0"/>
                <a:cs typeface="Times New Roman" pitchFamily="18" charset="0"/>
              </a:rPr>
              <a:t>（</a:t>
            </a:r>
            <a:r>
              <a:rPr lang="en-US" altLang="zh-CN" sz="2200" dirty="0">
                <a:solidFill>
                  <a:srgbClr val="000000"/>
                </a:solidFill>
                <a:latin typeface="Times New Roman" pitchFamily="18" charset="0"/>
                <a:cs typeface="Times New Roman" pitchFamily="18" charset="0"/>
              </a:rPr>
              <a:t>1</a:t>
            </a:r>
            <a:r>
              <a:rPr lang="zh-CN" altLang="en-US" sz="2200" dirty="0">
                <a:solidFill>
                  <a:srgbClr val="000000"/>
                </a:solidFill>
                <a:latin typeface="Times New Roman" pitchFamily="18" charset="0"/>
                <a:cs typeface="Times New Roman" pitchFamily="18" charset="0"/>
              </a:rPr>
              <a:t>）写在</a:t>
            </a:r>
            <a:r>
              <a:rPr lang="en-US" altLang="zh-CN" sz="2200" dirty="0">
                <a:solidFill>
                  <a:srgbClr val="000000"/>
                </a:solidFill>
                <a:latin typeface="Times New Roman" pitchFamily="18" charset="0"/>
                <a:cs typeface="Times New Roman" pitchFamily="18" charset="0"/>
              </a:rPr>
              <a:t>%{</a:t>
            </a:r>
            <a:r>
              <a:rPr lang="zh-CN" altLang="en-US" sz="2200" dirty="0">
                <a:solidFill>
                  <a:srgbClr val="000000"/>
                </a:solidFill>
                <a:latin typeface="Times New Roman" pitchFamily="18" charset="0"/>
                <a:cs typeface="Times New Roman" pitchFamily="18" charset="0"/>
              </a:rPr>
              <a:t>和</a:t>
            </a:r>
            <a:r>
              <a:rPr lang="en-US" altLang="zh-CN" sz="2200" dirty="0">
                <a:solidFill>
                  <a:srgbClr val="000000"/>
                </a:solidFill>
                <a:latin typeface="Times New Roman" pitchFamily="18" charset="0"/>
                <a:cs typeface="Times New Roman" pitchFamily="18" charset="0"/>
              </a:rPr>
              <a:t>%}</a:t>
            </a:r>
            <a:r>
              <a:rPr lang="zh-CN" altLang="en-US" sz="2200" dirty="0">
                <a:solidFill>
                  <a:srgbClr val="000000"/>
                </a:solidFill>
                <a:latin typeface="Times New Roman" pitchFamily="18" charset="0"/>
                <a:cs typeface="Times New Roman" pitchFamily="18" charset="0"/>
              </a:rPr>
              <a:t>之间的任何文本将被直接复制到外置于任意过程的输出程序之中。</a:t>
            </a:r>
            <a:endParaRPr lang="zh-CN" altLang="en-US" sz="2200" dirty="0">
              <a:solidFill>
                <a:schemeClr val="tx1"/>
              </a:solidFill>
            </a:endParaRPr>
          </a:p>
          <a:p>
            <a:pPr indent="266700">
              <a:defRPr/>
            </a:pPr>
            <a:r>
              <a:rPr lang="zh-CN" altLang="en-US" sz="2200" dirty="0">
                <a:solidFill>
                  <a:srgbClr val="000000"/>
                </a:solidFill>
                <a:latin typeface="Times New Roman" pitchFamily="18" charset="0"/>
                <a:cs typeface="Times New Roman" pitchFamily="18" charset="0"/>
              </a:rPr>
              <a:t>（</a:t>
            </a:r>
            <a:r>
              <a:rPr lang="en-US" altLang="zh-CN" sz="2200" dirty="0">
                <a:solidFill>
                  <a:srgbClr val="000000"/>
                </a:solidFill>
                <a:latin typeface="Times New Roman" pitchFamily="18" charset="0"/>
                <a:cs typeface="Times New Roman" pitchFamily="18" charset="0"/>
              </a:rPr>
              <a:t>2</a:t>
            </a:r>
            <a:r>
              <a:rPr lang="zh-CN" altLang="en-US" sz="2200" dirty="0">
                <a:solidFill>
                  <a:srgbClr val="000000"/>
                </a:solidFill>
                <a:latin typeface="Times New Roman" pitchFamily="18" charset="0"/>
                <a:cs typeface="Times New Roman" pitchFamily="18" charset="0"/>
              </a:rPr>
              <a:t>）辅助过程中的任何文本都将被直接复制到</a:t>
            </a:r>
            <a:r>
              <a:rPr lang="en-US" altLang="zh-CN" sz="2200" dirty="0" err="1">
                <a:solidFill>
                  <a:srgbClr val="000000"/>
                </a:solidFill>
                <a:latin typeface="Times New Roman" pitchFamily="18" charset="0"/>
                <a:cs typeface="Times New Roman" pitchFamily="18" charset="0"/>
              </a:rPr>
              <a:t>Lex</a:t>
            </a:r>
            <a:r>
              <a:rPr lang="zh-CN" altLang="en-US" sz="2200" dirty="0">
                <a:solidFill>
                  <a:srgbClr val="000000"/>
                </a:solidFill>
                <a:latin typeface="Times New Roman" pitchFamily="18" charset="0"/>
                <a:cs typeface="Times New Roman" pitchFamily="18" charset="0"/>
              </a:rPr>
              <a:t>代码末尾的输出程序中。</a:t>
            </a:r>
            <a:endParaRPr lang="zh-CN" altLang="en-US" sz="2200" dirty="0">
              <a:solidFill>
                <a:schemeClr val="tx1"/>
              </a:solidFill>
            </a:endParaRPr>
          </a:p>
          <a:p>
            <a:pPr indent="266700">
              <a:defRPr/>
            </a:pPr>
            <a:r>
              <a:rPr lang="zh-CN" altLang="en-US" sz="2200" dirty="0">
                <a:solidFill>
                  <a:srgbClr val="000000"/>
                </a:solidFill>
                <a:latin typeface="Times New Roman" pitchFamily="18" charset="0"/>
                <a:cs typeface="Times New Roman" pitchFamily="18" charset="0"/>
              </a:rPr>
              <a:t>（</a:t>
            </a:r>
            <a:r>
              <a:rPr lang="en-US" altLang="zh-CN" sz="2200" dirty="0">
                <a:solidFill>
                  <a:srgbClr val="000000"/>
                </a:solidFill>
                <a:latin typeface="Times New Roman" pitchFamily="18" charset="0"/>
                <a:cs typeface="Times New Roman" pitchFamily="18" charset="0"/>
              </a:rPr>
              <a:t>3</a:t>
            </a:r>
            <a:r>
              <a:rPr lang="zh-CN" altLang="en-US" sz="2200" dirty="0">
                <a:solidFill>
                  <a:srgbClr val="000000"/>
                </a:solidFill>
                <a:latin typeface="Times New Roman" pitchFamily="18" charset="0"/>
                <a:cs typeface="Times New Roman" pitchFamily="18" charset="0"/>
              </a:rPr>
              <a:t>）将任何跟在翻译规则中的正则表达式之后的代码插入到识别过程</a:t>
            </a:r>
            <a:r>
              <a:rPr lang="en-US" altLang="zh-CN" sz="2200" dirty="0" err="1">
                <a:solidFill>
                  <a:srgbClr val="000000"/>
                </a:solidFill>
                <a:latin typeface="Times New Roman" pitchFamily="18" charset="0"/>
                <a:cs typeface="Times New Roman" pitchFamily="18" charset="0"/>
              </a:rPr>
              <a:t>yylex</a:t>
            </a:r>
            <a:r>
              <a:rPr lang="zh-CN" altLang="en-US" sz="2200" dirty="0">
                <a:solidFill>
                  <a:srgbClr val="000000"/>
                </a:solidFill>
                <a:latin typeface="Times New Roman" pitchFamily="18" charset="0"/>
                <a:cs typeface="Times New Roman" pitchFamily="18" charset="0"/>
              </a:rPr>
              <a:t>的恰当位置，并在与对应的正则表达式匹配时执行它。代表一个行为的</a:t>
            </a:r>
            <a:r>
              <a:rPr lang="en-US" altLang="zh-CN" sz="2200" dirty="0">
                <a:solidFill>
                  <a:srgbClr val="000000"/>
                </a:solidFill>
                <a:latin typeface="Times New Roman" pitchFamily="18" charset="0"/>
                <a:cs typeface="Times New Roman" pitchFamily="18" charset="0"/>
              </a:rPr>
              <a:t>C</a:t>
            </a:r>
            <a:r>
              <a:rPr lang="zh-CN" altLang="en-US" sz="2200" dirty="0">
                <a:solidFill>
                  <a:srgbClr val="000000"/>
                </a:solidFill>
                <a:latin typeface="Times New Roman" pitchFamily="18" charset="0"/>
                <a:cs typeface="Times New Roman" pitchFamily="18" charset="0"/>
              </a:rPr>
              <a:t>代码既可以是一个</a:t>
            </a:r>
            <a:r>
              <a:rPr lang="en-US" altLang="zh-CN" sz="2200" dirty="0">
                <a:solidFill>
                  <a:srgbClr val="000000"/>
                </a:solidFill>
                <a:latin typeface="Times New Roman" pitchFamily="18" charset="0"/>
                <a:cs typeface="Times New Roman" pitchFamily="18" charset="0"/>
              </a:rPr>
              <a:t>C</a:t>
            </a:r>
            <a:r>
              <a:rPr lang="zh-CN" altLang="en-US" sz="2200" dirty="0">
                <a:solidFill>
                  <a:srgbClr val="000000"/>
                </a:solidFill>
                <a:latin typeface="Times New Roman" pitchFamily="18" charset="0"/>
                <a:cs typeface="Times New Roman" pitchFamily="18" charset="0"/>
              </a:rPr>
              <a:t>语句，也可以是一个由任何说明及由位于花括号中的语句组成的复杂的</a:t>
            </a:r>
            <a:r>
              <a:rPr lang="en-US" altLang="zh-CN" sz="2200" dirty="0">
                <a:solidFill>
                  <a:srgbClr val="000000"/>
                </a:solidFill>
                <a:latin typeface="Times New Roman" pitchFamily="18" charset="0"/>
                <a:cs typeface="Times New Roman" pitchFamily="18" charset="0"/>
              </a:rPr>
              <a:t>C</a:t>
            </a:r>
            <a:r>
              <a:rPr lang="zh-CN" altLang="en-US" sz="2200" dirty="0">
                <a:solidFill>
                  <a:srgbClr val="000000"/>
                </a:solidFill>
                <a:latin typeface="Times New Roman" pitchFamily="18" charset="0"/>
                <a:cs typeface="Times New Roman" pitchFamily="18" charset="0"/>
              </a:rPr>
              <a:t>语句段。</a:t>
            </a:r>
            <a:endParaRPr lang="zh-CN" altLang="en-US" sz="2200" dirty="0">
              <a:solidFill>
                <a:schemeClr val="tx1"/>
              </a:solidFill>
            </a:endParaRPr>
          </a:p>
        </p:txBody>
      </p:sp>
    </p:spTree>
    <p:extLst>
      <p:ext uri="{BB962C8B-B14F-4D97-AF65-F5344CB8AC3E}">
        <p14:creationId xmlns:p14="http://schemas.microsoft.com/office/powerpoint/2010/main" val="1790357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a:xfrm>
            <a:off x="930276" y="205979"/>
            <a:ext cx="7432675" cy="741759"/>
          </a:xfrm>
        </p:spPr>
        <p:txBody>
          <a:bodyPr/>
          <a:lstStyle/>
          <a:p>
            <a:pPr marL="342900" indent="-342900" algn="l"/>
            <a:r>
              <a:rPr lang="zh-CN" altLang="en-US" sz="3600" b="1">
                <a:solidFill>
                  <a:srgbClr val="C00000"/>
                </a:solidFill>
              </a:rPr>
              <a:t>内部名字</a:t>
            </a:r>
          </a:p>
        </p:txBody>
      </p:sp>
      <p:graphicFrame>
        <p:nvGraphicFramePr>
          <p:cNvPr id="4" name="表格 3"/>
          <p:cNvGraphicFramePr>
            <a:graphicFrameLocks noGrp="1"/>
          </p:cNvGraphicFramePr>
          <p:nvPr/>
        </p:nvGraphicFramePr>
        <p:xfrm>
          <a:off x="930275" y="1063228"/>
          <a:ext cx="7615238" cy="3786188"/>
        </p:xfrm>
        <a:graphic>
          <a:graphicData uri="http://schemas.openxmlformats.org/drawingml/2006/table">
            <a:tbl>
              <a:tblPr/>
              <a:tblGrid>
                <a:gridCol w="2581437">
                  <a:extLst>
                    <a:ext uri="{9D8B030D-6E8A-4147-A177-3AD203B41FA5}">
                      <a16:colId xmlns:a16="http://schemas.microsoft.com/office/drawing/2014/main" val="20000"/>
                    </a:ext>
                  </a:extLst>
                </a:gridCol>
                <a:gridCol w="5033801">
                  <a:extLst>
                    <a:ext uri="{9D8B030D-6E8A-4147-A177-3AD203B41FA5}">
                      <a16:colId xmlns:a16="http://schemas.microsoft.com/office/drawing/2014/main" val="20001"/>
                    </a:ext>
                  </a:extLst>
                </a:gridCol>
              </a:tblGrid>
              <a:tr h="315515">
                <a:tc>
                  <a:txBody>
                    <a:bodyPr/>
                    <a:lstStyle/>
                    <a:p>
                      <a:pPr algn="ctr">
                        <a:spcAft>
                          <a:spcPts val="0"/>
                        </a:spcAft>
                      </a:pPr>
                      <a:r>
                        <a:rPr lang="zh-CN" sz="1800" kern="0" dirty="0">
                          <a:solidFill>
                            <a:srgbClr val="000000"/>
                          </a:solidFill>
                          <a:latin typeface="Times New Roman"/>
                          <a:ea typeface="宋体"/>
                          <a:cs typeface="Times New Roman"/>
                        </a:rPr>
                        <a:t>内部名字</a:t>
                      </a:r>
                      <a:endParaRPr lang="zh-CN" sz="1800" kern="100" dirty="0">
                        <a:latin typeface="Times New Roman"/>
                        <a:ea typeface="宋体"/>
                        <a:cs typeface="Times New Roman"/>
                      </a:endParaRPr>
                    </a:p>
                  </a:txBody>
                  <a:tcPr marL="68587" marR="6858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spcAft>
                          <a:spcPts val="0"/>
                        </a:spcAft>
                      </a:pPr>
                      <a:r>
                        <a:rPr lang="zh-CN" sz="1800" kern="0" dirty="0">
                          <a:solidFill>
                            <a:srgbClr val="000000"/>
                          </a:solidFill>
                          <a:latin typeface="Times New Roman"/>
                          <a:ea typeface="宋体"/>
                          <a:cs typeface="Times New Roman"/>
                        </a:rPr>
                        <a:t>含义</a:t>
                      </a:r>
                      <a:r>
                        <a:rPr lang="en-US" sz="1800" kern="0" dirty="0">
                          <a:solidFill>
                            <a:srgbClr val="000000"/>
                          </a:solidFill>
                          <a:latin typeface="Times New Roman"/>
                          <a:ea typeface="宋体"/>
                          <a:cs typeface="Times New Roman"/>
                        </a:rPr>
                        <a:t>/</a:t>
                      </a:r>
                      <a:r>
                        <a:rPr lang="zh-CN" sz="1800" kern="0" dirty="0">
                          <a:solidFill>
                            <a:srgbClr val="000000"/>
                          </a:solidFill>
                          <a:latin typeface="Times New Roman"/>
                          <a:ea typeface="宋体"/>
                          <a:cs typeface="Times New Roman"/>
                        </a:rPr>
                        <a:t>使用</a:t>
                      </a:r>
                      <a:endParaRPr lang="zh-CN" sz="1800" kern="100" dirty="0">
                        <a:latin typeface="Times New Roman"/>
                        <a:ea typeface="宋体"/>
                        <a:cs typeface="Times New Roman"/>
                      </a:endParaRPr>
                    </a:p>
                  </a:txBody>
                  <a:tcPr marL="68587" marR="6858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631032">
                <a:tc>
                  <a:txBody>
                    <a:bodyPr/>
                    <a:lstStyle/>
                    <a:p>
                      <a:pPr algn="l">
                        <a:spcAft>
                          <a:spcPts val="0"/>
                        </a:spcAft>
                      </a:pPr>
                      <a:r>
                        <a:rPr lang="en-US" sz="1800" kern="0" dirty="0" err="1">
                          <a:solidFill>
                            <a:srgbClr val="000000"/>
                          </a:solidFill>
                          <a:latin typeface="Times New Roman"/>
                          <a:ea typeface="宋体"/>
                          <a:cs typeface="Times New Roman"/>
                        </a:rPr>
                        <a:t>lexyy.c</a:t>
                      </a:r>
                      <a:r>
                        <a:rPr lang="zh-CN" sz="1800" kern="0" dirty="0">
                          <a:solidFill>
                            <a:srgbClr val="000000"/>
                          </a:solidFill>
                          <a:latin typeface="Times New Roman"/>
                          <a:ea typeface="宋体"/>
                          <a:cs typeface="Times New Roman"/>
                        </a:rPr>
                        <a:t>或</a:t>
                      </a:r>
                      <a:r>
                        <a:rPr lang="en-US" sz="1800" kern="0" dirty="0" err="1">
                          <a:solidFill>
                            <a:srgbClr val="000000"/>
                          </a:solidFill>
                          <a:latin typeface="Times New Roman"/>
                          <a:ea typeface="宋体"/>
                          <a:cs typeface="Times New Roman"/>
                        </a:rPr>
                        <a:t>lex.yy.c</a:t>
                      </a:r>
                      <a:r>
                        <a:rPr lang="en-US" sz="1800" kern="0" dirty="0">
                          <a:solidFill>
                            <a:srgbClr val="000000"/>
                          </a:solidFill>
                          <a:latin typeface="Times New Roman"/>
                          <a:ea typeface="宋体"/>
                          <a:cs typeface="Times New Roman"/>
                        </a:rPr>
                        <a:t> </a:t>
                      </a:r>
                      <a:endParaRPr lang="zh-CN" sz="1800" kern="100" dirty="0">
                        <a:latin typeface="Times New Roman"/>
                        <a:ea typeface="宋体"/>
                        <a:cs typeface="Times New Roman"/>
                      </a:endParaRPr>
                    </a:p>
                  </a:txBody>
                  <a:tcPr marL="68587" marR="68587" marT="0" marB="0">
                    <a:lnL>
                      <a:noFill/>
                    </a:lnL>
                    <a:lnR>
                      <a:noFill/>
                    </a:lnR>
                    <a:lnT w="1270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l">
                        <a:spcAft>
                          <a:spcPts val="0"/>
                        </a:spcAft>
                      </a:pPr>
                      <a:r>
                        <a:rPr lang="en-US" sz="1800" kern="0" dirty="0">
                          <a:solidFill>
                            <a:srgbClr val="000000"/>
                          </a:solidFill>
                          <a:latin typeface="Times New Roman"/>
                          <a:ea typeface="宋体"/>
                          <a:cs typeface="Times New Roman"/>
                        </a:rPr>
                        <a:t>Lex</a:t>
                      </a:r>
                      <a:r>
                        <a:rPr lang="zh-CN" sz="1800" kern="0" dirty="0">
                          <a:solidFill>
                            <a:srgbClr val="000000"/>
                          </a:solidFill>
                          <a:latin typeface="Times New Roman"/>
                          <a:ea typeface="宋体"/>
                          <a:cs typeface="Times New Roman"/>
                        </a:rPr>
                        <a:t>输出文件名</a:t>
                      </a:r>
                      <a:endParaRPr lang="zh-CN" sz="1800" kern="100" dirty="0">
                        <a:latin typeface="Times New Roman"/>
                        <a:ea typeface="宋体"/>
                        <a:cs typeface="Times New Roman"/>
                      </a:endParaRPr>
                    </a:p>
                  </a:txBody>
                  <a:tcPr marL="68587" marR="68587" marT="0" marB="0">
                    <a:lnL>
                      <a:noFill/>
                    </a:lnL>
                    <a:lnR>
                      <a:noFill/>
                    </a:lnR>
                    <a:lnT w="1270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0001"/>
                  </a:ext>
                </a:extLst>
              </a:tr>
              <a:tr h="315515">
                <a:tc>
                  <a:txBody>
                    <a:bodyPr/>
                    <a:lstStyle/>
                    <a:p>
                      <a:pPr algn="l">
                        <a:spcAft>
                          <a:spcPts val="0"/>
                        </a:spcAft>
                      </a:pPr>
                      <a:r>
                        <a:rPr lang="en-US" sz="1800" kern="0" dirty="0" err="1">
                          <a:solidFill>
                            <a:srgbClr val="000000"/>
                          </a:solidFill>
                          <a:latin typeface="Times New Roman"/>
                          <a:ea typeface="宋体"/>
                          <a:cs typeface="Times New Roman"/>
                        </a:rPr>
                        <a:t>yylex</a:t>
                      </a:r>
                      <a:endParaRPr lang="zh-CN" sz="1800" kern="100" dirty="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tc>
                  <a:txBody>
                    <a:bodyPr/>
                    <a:lstStyle/>
                    <a:p>
                      <a:pPr algn="l">
                        <a:spcAft>
                          <a:spcPts val="0"/>
                        </a:spcAft>
                      </a:pPr>
                      <a:r>
                        <a:rPr lang="en-US" sz="1800" kern="0">
                          <a:solidFill>
                            <a:srgbClr val="000000"/>
                          </a:solidFill>
                          <a:latin typeface="Times New Roman"/>
                          <a:ea typeface="宋体"/>
                          <a:cs typeface="Times New Roman"/>
                        </a:rPr>
                        <a:t>Lex</a:t>
                      </a:r>
                      <a:r>
                        <a:rPr lang="zh-CN" sz="1800" kern="0">
                          <a:solidFill>
                            <a:srgbClr val="000000"/>
                          </a:solidFill>
                          <a:latin typeface="Times New Roman"/>
                          <a:ea typeface="宋体"/>
                          <a:cs typeface="Times New Roman"/>
                        </a:rPr>
                        <a:t>扫描程序</a:t>
                      </a:r>
                      <a:endParaRPr lang="zh-CN" sz="1800" kern="10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extLst>
                  <a:ext uri="{0D108BD9-81ED-4DB2-BD59-A6C34878D82A}">
                    <a16:rowId xmlns:a16="http://schemas.microsoft.com/office/drawing/2014/main" val="10002"/>
                  </a:ext>
                </a:extLst>
              </a:tr>
              <a:tr h="315515">
                <a:tc>
                  <a:txBody>
                    <a:bodyPr/>
                    <a:lstStyle/>
                    <a:p>
                      <a:pPr algn="l">
                        <a:spcAft>
                          <a:spcPts val="0"/>
                        </a:spcAft>
                      </a:pPr>
                      <a:r>
                        <a:rPr lang="en-US" sz="1800" kern="0" dirty="0" err="1">
                          <a:solidFill>
                            <a:srgbClr val="000000"/>
                          </a:solidFill>
                          <a:latin typeface="Times New Roman"/>
                          <a:ea typeface="宋体"/>
                          <a:cs typeface="Times New Roman"/>
                        </a:rPr>
                        <a:t>yytext</a:t>
                      </a:r>
                      <a:endParaRPr lang="zh-CN" sz="1800" kern="100" dirty="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tc>
                  <a:txBody>
                    <a:bodyPr/>
                    <a:lstStyle/>
                    <a:p>
                      <a:pPr algn="l">
                        <a:spcAft>
                          <a:spcPts val="0"/>
                        </a:spcAft>
                      </a:pPr>
                      <a:r>
                        <a:rPr lang="zh-CN" sz="1800" kern="0" dirty="0">
                          <a:solidFill>
                            <a:srgbClr val="000000"/>
                          </a:solidFill>
                          <a:latin typeface="Times New Roman"/>
                          <a:ea typeface="宋体"/>
                          <a:cs typeface="Times New Roman"/>
                        </a:rPr>
                        <a:t>当前正</a:t>
                      </a:r>
                      <a:r>
                        <a:rPr lang="zh-CN" altLang="en-US" sz="1800" kern="0" dirty="0">
                          <a:solidFill>
                            <a:srgbClr val="000000"/>
                          </a:solidFill>
                          <a:latin typeface="Times New Roman"/>
                          <a:ea typeface="宋体"/>
                          <a:cs typeface="Times New Roman"/>
                        </a:rPr>
                        <a:t>则表达式</a:t>
                      </a:r>
                      <a:r>
                        <a:rPr lang="zh-CN" sz="1800" kern="0" dirty="0">
                          <a:solidFill>
                            <a:srgbClr val="000000"/>
                          </a:solidFill>
                          <a:latin typeface="Times New Roman"/>
                          <a:ea typeface="宋体"/>
                          <a:cs typeface="Times New Roman"/>
                        </a:rPr>
                        <a:t>匹配的串</a:t>
                      </a:r>
                      <a:endParaRPr lang="zh-CN" sz="1800" kern="100" dirty="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extLst>
                  <a:ext uri="{0D108BD9-81ED-4DB2-BD59-A6C34878D82A}">
                    <a16:rowId xmlns:a16="http://schemas.microsoft.com/office/drawing/2014/main" val="10003"/>
                  </a:ext>
                </a:extLst>
              </a:tr>
              <a:tr h="631032">
                <a:tc>
                  <a:txBody>
                    <a:bodyPr/>
                    <a:lstStyle/>
                    <a:p>
                      <a:pPr algn="l">
                        <a:spcAft>
                          <a:spcPts val="0"/>
                        </a:spcAft>
                      </a:pPr>
                      <a:r>
                        <a:rPr lang="en-US" sz="1800" kern="0" dirty="0" err="1">
                          <a:solidFill>
                            <a:srgbClr val="000000"/>
                          </a:solidFill>
                          <a:latin typeface="Times New Roman"/>
                          <a:ea typeface="宋体"/>
                          <a:cs typeface="Times New Roman"/>
                        </a:rPr>
                        <a:t>yyin</a:t>
                      </a:r>
                      <a:endParaRPr lang="zh-CN" sz="1800" kern="100" dirty="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tc>
                  <a:txBody>
                    <a:bodyPr/>
                    <a:lstStyle/>
                    <a:p>
                      <a:pPr algn="l">
                        <a:spcAft>
                          <a:spcPts val="0"/>
                        </a:spcAft>
                      </a:pPr>
                      <a:r>
                        <a:rPr lang="en-US" sz="1800" kern="0">
                          <a:solidFill>
                            <a:srgbClr val="000000"/>
                          </a:solidFill>
                          <a:latin typeface="Times New Roman"/>
                          <a:ea typeface="宋体"/>
                          <a:cs typeface="Times New Roman"/>
                        </a:rPr>
                        <a:t>Lex</a:t>
                      </a:r>
                      <a:r>
                        <a:rPr lang="zh-CN" sz="1800" kern="0">
                          <a:solidFill>
                            <a:srgbClr val="000000"/>
                          </a:solidFill>
                          <a:latin typeface="Times New Roman"/>
                          <a:ea typeface="宋体"/>
                          <a:cs typeface="Times New Roman"/>
                        </a:rPr>
                        <a:t>输入文件（默认：</a:t>
                      </a:r>
                      <a:r>
                        <a:rPr lang="en-US" sz="1800" kern="0">
                          <a:solidFill>
                            <a:srgbClr val="000000"/>
                          </a:solidFill>
                          <a:latin typeface="Times New Roman"/>
                          <a:ea typeface="宋体"/>
                          <a:cs typeface="Times New Roman"/>
                        </a:rPr>
                        <a:t>stdin</a:t>
                      </a:r>
                      <a:r>
                        <a:rPr lang="zh-CN" sz="1800" kern="0">
                          <a:solidFill>
                            <a:srgbClr val="000000"/>
                          </a:solidFill>
                          <a:latin typeface="Times New Roman"/>
                          <a:ea typeface="宋体"/>
                          <a:cs typeface="Times New Roman"/>
                        </a:rPr>
                        <a:t>）</a:t>
                      </a:r>
                      <a:endParaRPr lang="zh-CN" sz="1800" kern="10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extLst>
                  <a:ext uri="{0D108BD9-81ED-4DB2-BD59-A6C34878D82A}">
                    <a16:rowId xmlns:a16="http://schemas.microsoft.com/office/drawing/2014/main" val="10004"/>
                  </a:ext>
                </a:extLst>
              </a:tr>
              <a:tr h="631032">
                <a:tc>
                  <a:txBody>
                    <a:bodyPr/>
                    <a:lstStyle/>
                    <a:p>
                      <a:pPr algn="l">
                        <a:spcAft>
                          <a:spcPts val="0"/>
                        </a:spcAft>
                      </a:pPr>
                      <a:r>
                        <a:rPr lang="en-US" sz="1800" kern="0">
                          <a:solidFill>
                            <a:srgbClr val="000000"/>
                          </a:solidFill>
                          <a:latin typeface="Times New Roman"/>
                          <a:ea typeface="宋体"/>
                          <a:cs typeface="Times New Roman"/>
                        </a:rPr>
                        <a:t>yyout</a:t>
                      </a:r>
                      <a:endParaRPr lang="zh-CN" sz="1800" kern="10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tc>
                  <a:txBody>
                    <a:bodyPr/>
                    <a:lstStyle/>
                    <a:p>
                      <a:pPr algn="l">
                        <a:spcAft>
                          <a:spcPts val="0"/>
                        </a:spcAft>
                      </a:pPr>
                      <a:r>
                        <a:rPr lang="en-US" sz="1800" kern="0">
                          <a:solidFill>
                            <a:srgbClr val="000000"/>
                          </a:solidFill>
                          <a:latin typeface="Times New Roman"/>
                          <a:ea typeface="宋体"/>
                          <a:cs typeface="Times New Roman"/>
                        </a:rPr>
                        <a:t>Lex</a:t>
                      </a:r>
                      <a:r>
                        <a:rPr lang="zh-CN" sz="1800" kern="0">
                          <a:solidFill>
                            <a:srgbClr val="000000"/>
                          </a:solidFill>
                          <a:latin typeface="Times New Roman"/>
                          <a:ea typeface="宋体"/>
                          <a:cs typeface="Times New Roman"/>
                        </a:rPr>
                        <a:t>输出文件（默认：</a:t>
                      </a:r>
                      <a:r>
                        <a:rPr lang="en-US" sz="1800" kern="0">
                          <a:solidFill>
                            <a:srgbClr val="000000"/>
                          </a:solidFill>
                          <a:latin typeface="Times New Roman"/>
                          <a:ea typeface="宋体"/>
                          <a:cs typeface="Times New Roman"/>
                        </a:rPr>
                        <a:t>stdout</a:t>
                      </a:r>
                      <a:r>
                        <a:rPr lang="zh-CN" sz="1800" kern="0">
                          <a:solidFill>
                            <a:srgbClr val="000000"/>
                          </a:solidFill>
                          <a:latin typeface="Times New Roman"/>
                          <a:ea typeface="宋体"/>
                          <a:cs typeface="Times New Roman"/>
                        </a:rPr>
                        <a:t>）</a:t>
                      </a:r>
                      <a:endParaRPr lang="zh-CN" sz="1800" kern="10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extLst>
                  <a:ext uri="{0D108BD9-81ED-4DB2-BD59-A6C34878D82A}">
                    <a16:rowId xmlns:a16="http://schemas.microsoft.com/office/drawing/2014/main" val="10005"/>
                  </a:ext>
                </a:extLst>
              </a:tr>
              <a:tr h="315515">
                <a:tc>
                  <a:txBody>
                    <a:bodyPr/>
                    <a:lstStyle/>
                    <a:p>
                      <a:pPr algn="l">
                        <a:spcAft>
                          <a:spcPts val="0"/>
                        </a:spcAft>
                      </a:pPr>
                      <a:r>
                        <a:rPr lang="en-US" sz="1800" kern="0">
                          <a:solidFill>
                            <a:srgbClr val="000000"/>
                          </a:solidFill>
                          <a:latin typeface="Times New Roman"/>
                          <a:ea typeface="宋体"/>
                          <a:cs typeface="Times New Roman"/>
                        </a:rPr>
                        <a:t>input</a:t>
                      </a:r>
                      <a:endParaRPr lang="zh-CN" sz="1800" kern="10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tc>
                  <a:txBody>
                    <a:bodyPr/>
                    <a:lstStyle/>
                    <a:p>
                      <a:pPr algn="l">
                        <a:spcAft>
                          <a:spcPts val="0"/>
                        </a:spcAft>
                      </a:pPr>
                      <a:r>
                        <a:rPr lang="en-US" sz="1800" kern="0">
                          <a:solidFill>
                            <a:srgbClr val="000000"/>
                          </a:solidFill>
                          <a:latin typeface="Times New Roman"/>
                          <a:ea typeface="宋体"/>
                          <a:cs typeface="Times New Roman"/>
                        </a:rPr>
                        <a:t>Lex</a:t>
                      </a:r>
                      <a:r>
                        <a:rPr lang="zh-CN" sz="1800" kern="0">
                          <a:solidFill>
                            <a:srgbClr val="000000"/>
                          </a:solidFill>
                          <a:latin typeface="Times New Roman"/>
                          <a:ea typeface="宋体"/>
                          <a:cs typeface="Times New Roman"/>
                        </a:rPr>
                        <a:t>缓冲的输入程序</a:t>
                      </a:r>
                      <a:endParaRPr lang="zh-CN" sz="1800" kern="100">
                        <a:latin typeface="Times New Roman"/>
                        <a:ea typeface="宋体"/>
                        <a:cs typeface="Times New Roman"/>
                      </a:endParaRPr>
                    </a:p>
                  </a:txBody>
                  <a:tcPr marL="68587" marR="68587" marT="0" marB="0">
                    <a:lnL>
                      <a:noFill/>
                    </a:lnL>
                    <a:lnR>
                      <a:noFill/>
                    </a:lnR>
                    <a:lnT>
                      <a:noFill/>
                    </a:lnT>
                    <a:lnB>
                      <a:noFill/>
                    </a:lnB>
                    <a:solidFill>
                      <a:schemeClr val="bg1">
                        <a:lumMod val="95000"/>
                      </a:schemeClr>
                    </a:solidFill>
                  </a:tcPr>
                </a:tc>
                <a:extLst>
                  <a:ext uri="{0D108BD9-81ED-4DB2-BD59-A6C34878D82A}">
                    <a16:rowId xmlns:a16="http://schemas.microsoft.com/office/drawing/2014/main" val="10006"/>
                  </a:ext>
                </a:extLst>
              </a:tr>
              <a:tr h="631032">
                <a:tc>
                  <a:txBody>
                    <a:bodyPr/>
                    <a:lstStyle/>
                    <a:p>
                      <a:pPr algn="l">
                        <a:spcAft>
                          <a:spcPts val="0"/>
                        </a:spcAft>
                      </a:pPr>
                      <a:r>
                        <a:rPr lang="en-US" sz="1800" kern="0" dirty="0">
                          <a:solidFill>
                            <a:srgbClr val="000000"/>
                          </a:solidFill>
                          <a:latin typeface="Times New Roman"/>
                          <a:ea typeface="宋体"/>
                          <a:cs typeface="Times New Roman"/>
                        </a:rPr>
                        <a:t>ECHO</a:t>
                      </a:r>
                      <a:endParaRPr lang="zh-CN" sz="1800" kern="100" dirty="0">
                        <a:latin typeface="Times New Roman"/>
                        <a:ea typeface="宋体"/>
                        <a:cs typeface="Times New Roman"/>
                      </a:endParaRP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a:spcAft>
                          <a:spcPts val="0"/>
                        </a:spcAft>
                      </a:pPr>
                      <a:r>
                        <a:rPr lang="en-US" sz="1800" kern="0" dirty="0" err="1">
                          <a:solidFill>
                            <a:srgbClr val="000000"/>
                          </a:solidFill>
                          <a:latin typeface="Times New Roman"/>
                          <a:ea typeface="宋体"/>
                          <a:cs typeface="Times New Roman"/>
                        </a:rPr>
                        <a:t>Lex</a:t>
                      </a:r>
                      <a:r>
                        <a:rPr lang="zh-CN" sz="1800" kern="0" dirty="0">
                          <a:solidFill>
                            <a:srgbClr val="000000"/>
                          </a:solidFill>
                          <a:latin typeface="Times New Roman"/>
                          <a:ea typeface="宋体"/>
                          <a:cs typeface="Times New Roman"/>
                        </a:rPr>
                        <a:t>缺省行为（将</a:t>
                      </a:r>
                      <a:r>
                        <a:rPr lang="en-US" sz="1800" kern="0" dirty="0" err="1">
                          <a:solidFill>
                            <a:srgbClr val="000000"/>
                          </a:solidFill>
                          <a:latin typeface="Times New Roman"/>
                          <a:ea typeface="宋体"/>
                          <a:cs typeface="Times New Roman"/>
                        </a:rPr>
                        <a:t>yytext</a:t>
                      </a:r>
                      <a:r>
                        <a:rPr lang="zh-CN" sz="1800" kern="0" dirty="0">
                          <a:solidFill>
                            <a:srgbClr val="000000"/>
                          </a:solidFill>
                          <a:latin typeface="Times New Roman"/>
                          <a:ea typeface="宋体"/>
                          <a:cs typeface="Times New Roman"/>
                        </a:rPr>
                        <a:t>打印到</a:t>
                      </a:r>
                      <a:r>
                        <a:rPr lang="en-US" sz="1800" kern="0" dirty="0" err="1">
                          <a:solidFill>
                            <a:srgbClr val="000000"/>
                          </a:solidFill>
                          <a:latin typeface="Times New Roman"/>
                          <a:ea typeface="宋体"/>
                          <a:cs typeface="Times New Roman"/>
                        </a:rPr>
                        <a:t>yyout</a:t>
                      </a:r>
                      <a:r>
                        <a:rPr lang="zh-CN" sz="1800" kern="0" dirty="0">
                          <a:solidFill>
                            <a:srgbClr val="000000"/>
                          </a:solidFill>
                          <a:latin typeface="Times New Roman"/>
                          <a:ea typeface="宋体"/>
                          <a:cs typeface="Times New Roman"/>
                        </a:rPr>
                        <a:t>）</a:t>
                      </a:r>
                      <a:endParaRPr lang="zh-CN" sz="1800" kern="100" dirty="0">
                        <a:latin typeface="Times New Roman"/>
                        <a:ea typeface="宋体"/>
                        <a:cs typeface="Times New Roman"/>
                      </a:endParaRP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50209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normAutofit fontScale="90000"/>
          </a:bodyPr>
          <a:lstStyle/>
          <a:p>
            <a:pPr eaLnBrk="1" hangingPunct="1"/>
            <a:r>
              <a:rPr lang="zh-CN" altLang="en-US"/>
              <a:t>高级 </a:t>
            </a:r>
            <a:r>
              <a:rPr lang="en-US" altLang="zh-CN"/>
              <a:t>Lex </a:t>
            </a:r>
          </a:p>
        </p:txBody>
      </p:sp>
      <p:sp>
        <p:nvSpPr>
          <p:cNvPr id="112643" name="Rectangle 3"/>
          <p:cNvSpPr>
            <a:spLocks noGrp="1" noChangeArrowheads="1"/>
          </p:cNvSpPr>
          <p:nvPr>
            <p:ph type="body" idx="1"/>
          </p:nvPr>
        </p:nvSpPr>
        <p:spPr>
          <a:xfrm>
            <a:off x="228600" y="1200150"/>
            <a:ext cx="8458200" cy="3486150"/>
          </a:xfrm>
        </p:spPr>
        <p:txBody>
          <a:bodyPr/>
          <a:lstStyle/>
          <a:p>
            <a:pPr eaLnBrk="1" hangingPunct="1">
              <a:lnSpc>
                <a:spcPct val="90000"/>
              </a:lnSpc>
            </a:pPr>
            <a:r>
              <a:rPr lang="en-US" altLang="zh-CN" sz="2800" dirty="0"/>
              <a:t>Lex </a:t>
            </a:r>
            <a:r>
              <a:rPr lang="zh-CN" altLang="en-US" sz="2800" dirty="0"/>
              <a:t>变量</a:t>
            </a:r>
          </a:p>
          <a:p>
            <a:pPr lvl="1" eaLnBrk="1" hangingPunct="1">
              <a:lnSpc>
                <a:spcPct val="90000"/>
              </a:lnSpc>
            </a:pPr>
            <a:r>
              <a:rPr lang="en-US" altLang="zh-CN" dirty="0" err="1"/>
              <a:t>yyin</a:t>
            </a:r>
            <a:r>
              <a:rPr lang="en-US" altLang="zh-CN" dirty="0"/>
              <a:t> FILE* </a:t>
            </a:r>
            <a:r>
              <a:rPr lang="zh-CN" altLang="en-US" dirty="0"/>
              <a:t>类型。 它指向正在解析的当前文件。</a:t>
            </a:r>
          </a:p>
          <a:p>
            <a:pPr lvl="1" eaLnBrk="1" hangingPunct="1">
              <a:lnSpc>
                <a:spcPct val="90000"/>
              </a:lnSpc>
            </a:pPr>
            <a:r>
              <a:rPr lang="en-US" altLang="zh-CN" dirty="0" err="1"/>
              <a:t>yyout</a:t>
            </a:r>
            <a:r>
              <a:rPr lang="en-US" altLang="zh-CN" dirty="0"/>
              <a:t> FILE* </a:t>
            </a:r>
            <a:r>
              <a:rPr lang="zh-CN" altLang="en-US" dirty="0"/>
              <a:t>类型。 它指向输出的位置。 缺省情况下，</a:t>
            </a:r>
            <a:r>
              <a:rPr lang="en-US" altLang="zh-CN" dirty="0" err="1"/>
              <a:t>yyin</a:t>
            </a:r>
            <a:r>
              <a:rPr lang="en-US" altLang="zh-CN" dirty="0"/>
              <a:t> </a:t>
            </a:r>
            <a:r>
              <a:rPr lang="zh-CN" altLang="en-US" dirty="0"/>
              <a:t>和 </a:t>
            </a:r>
            <a:r>
              <a:rPr lang="en-US" altLang="zh-CN" dirty="0" err="1"/>
              <a:t>yyout</a:t>
            </a:r>
            <a:r>
              <a:rPr lang="en-US" altLang="zh-CN" dirty="0"/>
              <a:t> </a:t>
            </a:r>
            <a:r>
              <a:rPr lang="zh-CN" altLang="en-US" dirty="0"/>
              <a:t>都指向标准输入和输出。</a:t>
            </a:r>
          </a:p>
          <a:p>
            <a:pPr lvl="1" eaLnBrk="1" hangingPunct="1">
              <a:lnSpc>
                <a:spcPct val="90000"/>
              </a:lnSpc>
            </a:pPr>
            <a:r>
              <a:rPr lang="en-US" altLang="zh-CN" dirty="0" err="1"/>
              <a:t>yytext</a:t>
            </a:r>
            <a:r>
              <a:rPr lang="en-US" altLang="zh-CN" dirty="0"/>
              <a:t> </a:t>
            </a:r>
            <a:r>
              <a:rPr lang="zh-CN" altLang="en-US" dirty="0"/>
              <a:t>匹配的文本存储在这一变量中</a:t>
            </a:r>
            <a:r>
              <a:rPr lang="en-US" altLang="zh-CN" dirty="0"/>
              <a:t>(char*)</a:t>
            </a:r>
            <a:r>
              <a:rPr lang="zh-CN" altLang="en-US" dirty="0"/>
              <a:t>。</a:t>
            </a:r>
          </a:p>
          <a:p>
            <a:pPr lvl="1" eaLnBrk="1" hangingPunct="1">
              <a:lnSpc>
                <a:spcPct val="90000"/>
              </a:lnSpc>
            </a:pPr>
            <a:r>
              <a:rPr lang="en-US" altLang="zh-CN" dirty="0" err="1"/>
              <a:t>yyleng</a:t>
            </a:r>
            <a:r>
              <a:rPr lang="en-US" altLang="zh-CN" dirty="0"/>
              <a:t> </a:t>
            </a:r>
            <a:r>
              <a:rPr lang="zh-CN" altLang="en-US" dirty="0"/>
              <a:t>给出匹配模式的长度。</a:t>
            </a:r>
          </a:p>
          <a:p>
            <a:pPr lvl="1" eaLnBrk="1" hangingPunct="1">
              <a:lnSpc>
                <a:spcPct val="90000"/>
              </a:lnSpc>
            </a:pPr>
            <a:r>
              <a:rPr lang="en-US" altLang="zh-CN" dirty="0" err="1"/>
              <a:t>yylineno</a:t>
            </a:r>
            <a:r>
              <a:rPr lang="en-US" altLang="zh-CN" dirty="0"/>
              <a:t> </a:t>
            </a:r>
            <a:r>
              <a:rPr lang="zh-CN" altLang="en-US" dirty="0"/>
              <a:t>提供当前的行数信息。</a:t>
            </a:r>
          </a:p>
        </p:txBody>
      </p:sp>
    </p:spTree>
    <p:extLst>
      <p:ext uri="{BB962C8B-B14F-4D97-AF65-F5344CB8AC3E}">
        <p14:creationId xmlns:p14="http://schemas.microsoft.com/office/powerpoint/2010/main" val="58660741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fontScale="90000"/>
          </a:bodyPr>
          <a:lstStyle/>
          <a:p>
            <a:pPr eaLnBrk="1" hangingPunct="1"/>
            <a:r>
              <a:rPr lang="zh-CN" altLang="en-US" sz="4000"/>
              <a:t>高级 </a:t>
            </a:r>
            <a:r>
              <a:rPr lang="en-US" altLang="zh-CN" sz="4000"/>
              <a:t>Lex ---Lex </a:t>
            </a:r>
            <a:r>
              <a:rPr lang="zh-CN" altLang="en-US" sz="4000"/>
              <a:t>函数 </a:t>
            </a:r>
            <a:br>
              <a:rPr lang="zh-CN" altLang="en-US" sz="4000"/>
            </a:br>
            <a:endParaRPr lang="zh-CN" altLang="en-US" sz="4000"/>
          </a:p>
        </p:txBody>
      </p:sp>
      <p:sp>
        <p:nvSpPr>
          <p:cNvPr id="113667" name="Rectangle 3"/>
          <p:cNvSpPr>
            <a:spLocks noGrp="1" noChangeArrowheads="1"/>
          </p:cNvSpPr>
          <p:nvPr>
            <p:ph type="body" idx="1"/>
          </p:nvPr>
        </p:nvSpPr>
        <p:spPr>
          <a:xfrm>
            <a:off x="381000" y="857250"/>
            <a:ext cx="8229600" cy="3829050"/>
          </a:xfrm>
        </p:spPr>
        <p:txBody>
          <a:bodyPr/>
          <a:lstStyle/>
          <a:p>
            <a:pPr lvl="1" eaLnBrk="1" hangingPunct="1">
              <a:lnSpc>
                <a:spcPct val="90000"/>
              </a:lnSpc>
            </a:pPr>
            <a:r>
              <a:rPr lang="en-US" altLang="zh-CN" dirty="0" err="1"/>
              <a:t>yylex</a:t>
            </a:r>
            <a:r>
              <a:rPr lang="en-US" altLang="zh-CN" dirty="0"/>
              <a:t>()  Lex</a:t>
            </a:r>
            <a:r>
              <a:rPr lang="zh-CN" altLang="en-US" dirty="0"/>
              <a:t>从这一函数开始分析。自动生成。  </a:t>
            </a:r>
            <a:br>
              <a:rPr lang="zh-CN" altLang="en-US" dirty="0"/>
            </a:br>
            <a:r>
              <a:rPr lang="en-US" altLang="zh-CN" dirty="0" err="1"/>
              <a:t>yywrap</a:t>
            </a:r>
            <a:r>
              <a:rPr lang="en-US" altLang="zh-CN" dirty="0"/>
              <a:t>() </a:t>
            </a:r>
            <a:r>
              <a:rPr lang="zh-CN" altLang="en-US" dirty="0"/>
              <a:t>这一函数在文件（或输入）的末尾调用。如果函数的返回值是</a:t>
            </a:r>
            <a:r>
              <a:rPr lang="en-US" altLang="zh-CN" dirty="0"/>
              <a:t>1</a:t>
            </a:r>
            <a:r>
              <a:rPr lang="zh-CN" altLang="en-US" dirty="0"/>
              <a:t>，就停止解析。 因此它可以用来解析多个文件，代码可以写在第三段， 方法是使用 </a:t>
            </a:r>
            <a:r>
              <a:rPr lang="en-US" altLang="zh-CN" dirty="0" err="1"/>
              <a:t>yyin</a:t>
            </a:r>
            <a:r>
              <a:rPr lang="en-US" altLang="zh-CN" dirty="0"/>
              <a:t> </a:t>
            </a:r>
            <a:r>
              <a:rPr lang="zh-CN" altLang="en-US" dirty="0"/>
              <a:t>文件指针指向不同的文件，直到所有的文件都被解析。最后，</a:t>
            </a:r>
            <a:r>
              <a:rPr lang="en-US" altLang="zh-CN" dirty="0" err="1"/>
              <a:t>yywrap</a:t>
            </a:r>
            <a:r>
              <a:rPr lang="en-US" altLang="zh-CN" dirty="0"/>
              <a:t>() </a:t>
            </a:r>
            <a:r>
              <a:rPr lang="zh-CN" altLang="en-US" dirty="0"/>
              <a:t>可以返回 </a:t>
            </a:r>
            <a:r>
              <a:rPr lang="en-US" altLang="zh-CN" dirty="0"/>
              <a:t>1 </a:t>
            </a:r>
            <a:r>
              <a:rPr lang="zh-CN" altLang="en-US" dirty="0"/>
              <a:t>来表示解析的结束。</a:t>
            </a:r>
          </a:p>
          <a:p>
            <a:pPr lvl="1" eaLnBrk="1" hangingPunct="1">
              <a:lnSpc>
                <a:spcPct val="90000"/>
              </a:lnSpc>
            </a:pPr>
            <a:r>
              <a:rPr lang="en-US" altLang="zh-CN" dirty="0" err="1"/>
              <a:t>yyless</a:t>
            </a:r>
            <a:r>
              <a:rPr lang="en-US" altLang="zh-CN" dirty="0"/>
              <a:t>(</a:t>
            </a:r>
            <a:r>
              <a:rPr lang="en-US" altLang="zh-CN" dirty="0" err="1"/>
              <a:t>int</a:t>
            </a:r>
            <a:r>
              <a:rPr lang="en-US" altLang="zh-CN" dirty="0"/>
              <a:t> n) </a:t>
            </a:r>
            <a:r>
              <a:rPr lang="zh-CN" altLang="en-US" dirty="0"/>
              <a:t>这一函数可以用来送回除了前</a:t>
            </a:r>
            <a:r>
              <a:rPr lang="en-US" altLang="zh-CN" dirty="0"/>
              <a:t>n</a:t>
            </a:r>
            <a:r>
              <a:rPr lang="zh-CN" altLang="en-US" dirty="0"/>
              <a:t>个字符外的所有读出标记。</a:t>
            </a:r>
          </a:p>
          <a:p>
            <a:pPr lvl="1" eaLnBrk="1" hangingPunct="1">
              <a:lnSpc>
                <a:spcPct val="90000"/>
              </a:lnSpc>
            </a:pPr>
            <a:r>
              <a:rPr lang="en-US" altLang="zh-CN" dirty="0" err="1"/>
              <a:t>yymore</a:t>
            </a:r>
            <a:r>
              <a:rPr lang="en-US" altLang="zh-CN" dirty="0"/>
              <a:t>() </a:t>
            </a:r>
            <a:r>
              <a:rPr lang="zh-CN" altLang="en-US" dirty="0"/>
              <a:t>这一函数告诉 </a:t>
            </a:r>
            <a:r>
              <a:rPr lang="en-US" altLang="zh-CN" dirty="0" err="1"/>
              <a:t>Lexer</a:t>
            </a:r>
            <a:r>
              <a:rPr lang="en-US" altLang="zh-CN" dirty="0"/>
              <a:t> </a:t>
            </a:r>
            <a:r>
              <a:rPr lang="zh-CN" altLang="en-US" dirty="0"/>
              <a:t>将下一个标记附加到当前标记后。 </a:t>
            </a:r>
            <a:r>
              <a:rPr lang="zh-CN" altLang="en-US" sz="2400" dirty="0"/>
              <a:t> </a:t>
            </a:r>
            <a:br>
              <a:rPr lang="zh-CN" altLang="en-US" sz="2400" dirty="0"/>
            </a:br>
            <a:endParaRPr lang="zh-CN" altLang="en-US" sz="2400" dirty="0"/>
          </a:p>
        </p:txBody>
      </p:sp>
    </p:spTree>
    <p:extLst>
      <p:ext uri="{BB962C8B-B14F-4D97-AF65-F5344CB8AC3E}">
        <p14:creationId xmlns:p14="http://schemas.microsoft.com/office/powerpoint/2010/main" val="4248013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323850" y="250031"/>
            <a:ext cx="8540750" cy="857250"/>
          </a:xfrm>
        </p:spPr>
        <p:txBody>
          <a:bodyPr/>
          <a:lstStyle/>
          <a:p>
            <a:pPr eaLnBrk="1" hangingPunct="1"/>
            <a:r>
              <a:rPr lang="zh-CN" altLang="en-US"/>
              <a:t>练习</a:t>
            </a:r>
          </a:p>
        </p:txBody>
      </p:sp>
      <p:sp>
        <p:nvSpPr>
          <p:cNvPr id="116739" name="Rectangle 3"/>
          <p:cNvSpPr>
            <a:spLocks noGrp="1" noChangeArrowheads="1"/>
          </p:cNvSpPr>
          <p:nvPr>
            <p:ph type="body" idx="1"/>
          </p:nvPr>
        </p:nvSpPr>
        <p:spPr>
          <a:xfrm>
            <a:off x="304800" y="1256110"/>
            <a:ext cx="8540750" cy="3487340"/>
          </a:xfrm>
        </p:spPr>
        <p:txBody>
          <a:bodyPr>
            <a:normAutofit/>
          </a:bodyPr>
          <a:lstStyle/>
          <a:p>
            <a:pPr eaLnBrk="1" hangingPunct="1">
              <a:lnSpc>
                <a:spcPct val="90000"/>
              </a:lnSpc>
            </a:pPr>
            <a:r>
              <a:rPr lang="zh-CN" altLang="en-US" sz="2200" dirty="0"/>
              <a:t>编写一个</a:t>
            </a:r>
            <a:r>
              <a:rPr lang="en-US" altLang="zh-CN" sz="2200" dirty="0"/>
              <a:t>Lex</a:t>
            </a:r>
            <a:r>
              <a:rPr lang="zh-CN" altLang="en-US" sz="2200" dirty="0"/>
              <a:t>输入文件，该程序复制一个文件，并将每一个非空的空白字符序列用一个空格代替。</a:t>
            </a:r>
          </a:p>
          <a:p>
            <a:pPr eaLnBrk="1" hangingPunct="1">
              <a:lnSpc>
                <a:spcPct val="90000"/>
              </a:lnSpc>
            </a:pPr>
            <a:r>
              <a:rPr lang="zh-CN" altLang="en-US" sz="2200" dirty="0"/>
              <a:t>编写</a:t>
            </a:r>
            <a:r>
              <a:rPr lang="en-US" altLang="zh-CN" sz="2200" dirty="0"/>
              <a:t>LEX</a:t>
            </a:r>
            <a:r>
              <a:rPr lang="zh-CN" altLang="en-US" sz="2200" dirty="0"/>
              <a:t>文件：一个能识别所有运算式中包含的符号：数字（</a:t>
            </a:r>
            <a:r>
              <a:rPr lang="en-US" altLang="zh-CN" sz="2200" dirty="0"/>
              <a:t>0-9</a:t>
            </a:r>
            <a:r>
              <a:rPr lang="zh-CN" altLang="en-US" sz="2200" dirty="0"/>
              <a:t>），字符（</a:t>
            </a:r>
            <a:r>
              <a:rPr lang="en-US" altLang="zh-CN" sz="2200" dirty="0"/>
              <a:t>A-Z</a:t>
            </a:r>
            <a:r>
              <a:rPr lang="zh-CN" altLang="en-US" sz="2200" dirty="0"/>
              <a:t>），各种运算符：“</a:t>
            </a:r>
            <a:r>
              <a:rPr lang="en-US" altLang="zh-CN" sz="2200" dirty="0"/>
              <a:t>+,-,*,/,(,),**,%”</a:t>
            </a:r>
          </a:p>
          <a:p>
            <a:pPr eaLnBrk="1" hangingPunct="1">
              <a:lnSpc>
                <a:spcPct val="90000"/>
              </a:lnSpc>
            </a:pPr>
            <a:r>
              <a:rPr lang="zh-CN" altLang="en-US" sz="2200" dirty="0"/>
              <a:t>编写一个</a:t>
            </a:r>
            <a:r>
              <a:rPr lang="en-US" altLang="zh-CN" sz="2200" dirty="0"/>
              <a:t>Lex</a:t>
            </a:r>
            <a:r>
              <a:rPr lang="zh-CN" altLang="en-US" sz="2200" dirty="0"/>
              <a:t>输入文件，使之生成可计算文本文件的字符、单词和行数且能报告该数字的程序，其中单词是不带标点或空格的字母和</a:t>
            </a:r>
            <a:r>
              <a:rPr lang="en-US" altLang="zh-CN" sz="2200" dirty="0"/>
              <a:t>/</a:t>
            </a:r>
            <a:r>
              <a:rPr lang="zh-CN" altLang="en-US" sz="2200" dirty="0"/>
              <a:t>或数字的序列。标点和空白格不计算为单词。</a:t>
            </a:r>
          </a:p>
        </p:txBody>
      </p:sp>
    </p:spTree>
    <p:extLst>
      <p:ext uri="{BB962C8B-B14F-4D97-AF65-F5344CB8AC3E}">
        <p14:creationId xmlns:p14="http://schemas.microsoft.com/office/powerpoint/2010/main" val="27466778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Grp="1" noChangeArrowheads="1"/>
          </p:cNvSpPr>
          <p:nvPr>
            <p:ph type="body" idx="1"/>
          </p:nvPr>
        </p:nvSpPr>
        <p:spPr>
          <a:xfrm>
            <a:off x="755576" y="1275606"/>
            <a:ext cx="7507559" cy="3490913"/>
          </a:xfrm>
        </p:spPr>
        <p:txBody>
          <a:bodyPr/>
          <a:lstStyle/>
          <a:p>
            <a:pPr marL="0" indent="0" eaLnBrk="1" hangingPunct="1">
              <a:buFontTx/>
              <a:buNone/>
            </a:pPr>
            <a:r>
              <a:rPr lang="zh-CN" altLang="en-US" dirty="0"/>
              <a:t>统计表明，现代软件系统中， </a:t>
            </a:r>
            <a:r>
              <a:rPr lang="en-US" altLang="zh-CN" dirty="0"/>
              <a:t>75%</a:t>
            </a:r>
            <a:r>
              <a:rPr lang="zh-CN" altLang="en-US" dirty="0"/>
              <a:t>的程序代码都是用于处理错误与错误信息</a:t>
            </a:r>
          </a:p>
          <a:p>
            <a:pPr marL="0" indent="0" eaLnBrk="1" hangingPunct="1">
              <a:buFontTx/>
              <a:buNone/>
            </a:pPr>
            <a:r>
              <a:rPr lang="zh-CN" altLang="en-US" dirty="0"/>
              <a:t>应尽可能发现更多的错误</a:t>
            </a:r>
          </a:p>
        </p:txBody>
      </p:sp>
      <p:sp>
        <p:nvSpPr>
          <p:cNvPr id="117763" name="标题 1"/>
          <p:cNvSpPr>
            <a:spLocks noGrp="1"/>
          </p:cNvSpPr>
          <p:nvPr>
            <p:ph type="title"/>
          </p:nvPr>
        </p:nvSpPr>
        <p:spPr>
          <a:xfrm>
            <a:off x="523875" y="130969"/>
            <a:ext cx="8229600" cy="857250"/>
          </a:xfrm>
        </p:spPr>
        <p:txBody>
          <a:bodyPr>
            <a:normAutofit fontScale="90000"/>
          </a:bodyPr>
          <a:lstStyle/>
          <a:p>
            <a:r>
              <a:rPr kumimoji="1" lang="en-US" altLang="zh-CN" sz="5400" b="1">
                <a:solidFill>
                  <a:srgbClr val="CC0099"/>
                </a:solidFill>
                <a:ea typeface="隶书" pitchFamily="49" charset="-122"/>
              </a:rPr>
              <a:t>2.7 </a:t>
            </a:r>
            <a:r>
              <a:rPr kumimoji="1" lang="zh-CN" altLang="zh-CN" sz="5400" b="1">
                <a:solidFill>
                  <a:srgbClr val="CC0099"/>
                </a:solidFill>
                <a:ea typeface="隶书" pitchFamily="49" charset="-122"/>
              </a:rPr>
              <a:t>词法分析中的错误处理</a:t>
            </a:r>
            <a:endParaRPr kumimoji="1" lang="zh-CN" altLang="en-US" sz="5400" b="1">
              <a:solidFill>
                <a:srgbClr val="CC0099"/>
              </a:solidFill>
              <a:ea typeface="隶书" pitchFamily="49" charset="-122"/>
            </a:endParaRPr>
          </a:p>
        </p:txBody>
      </p:sp>
    </p:spTree>
    <p:extLst>
      <p:ext uri="{BB962C8B-B14F-4D97-AF65-F5344CB8AC3E}">
        <p14:creationId xmlns:p14="http://schemas.microsoft.com/office/powerpoint/2010/main" val="210084951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词法错误类型</a:t>
            </a:r>
          </a:p>
        </p:txBody>
      </p:sp>
      <p:sp>
        <p:nvSpPr>
          <p:cNvPr id="29699" name="Rectangle 3"/>
          <p:cNvSpPr>
            <a:spLocks noGrp="1" noChangeArrowheads="1"/>
          </p:cNvSpPr>
          <p:nvPr>
            <p:ph type="body" idx="1"/>
          </p:nvPr>
        </p:nvSpPr>
        <p:spPr/>
        <p:txBody>
          <a:bodyPr>
            <a:normAutofit lnSpcReduction="10000"/>
          </a:bodyPr>
          <a:lstStyle/>
          <a:p>
            <a:pPr lvl="1" eaLnBrk="1" hangingPunct="1">
              <a:defRPr/>
            </a:pPr>
            <a:r>
              <a:rPr lang="zh-CN" altLang="en-US" dirty="0"/>
              <a:t>非法字符</a:t>
            </a:r>
          </a:p>
          <a:p>
            <a:pPr lvl="1" eaLnBrk="1" hangingPunct="1">
              <a:defRPr/>
            </a:pPr>
            <a:r>
              <a:rPr lang="zh-CN" altLang="en-US" dirty="0"/>
              <a:t>单词拼写错误</a:t>
            </a:r>
            <a:endParaRPr lang="en-US" altLang="zh-CN" dirty="0"/>
          </a:p>
          <a:p>
            <a:pPr lvl="1" eaLnBrk="1" hangingPunct="1">
              <a:defRPr/>
            </a:pPr>
            <a:r>
              <a:rPr lang="zh-CN" altLang="zh-CN" dirty="0"/>
              <a:t>注释、字符常数、字符串常数不闭合，如</a:t>
            </a:r>
            <a:r>
              <a:rPr lang="en-US" altLang="zh-CN" dirty="0"/>
              <a:t>/*</a:t>
            </a:r>
            <a:r>
              <a:rPr lang="zh-CN" altLang="zh-CN" dirty="0"/>
              <a:t>…、“</a:t>
            </a:r>
            <a:r>
              <a:rPr lang="en-US" altLang="zh-CN" dirty="0" err="1"/>
              <a:t>abc</a:t>
            </a:r>
            <a:r>
              <a:rPr lang="zh-CN" altLang="zh-CN" dirty="0"/>
              <a:t>…等</a:t>
            </a:r>
            <a:endParaRPr lang="en-US" altLang="zh-CN" dirty="0"/>
          </a:p>
          <a:p>
            <a:pPr lvl="1" eaLnBrk="1" hangingPunct="1">
              <a:defRPr/>
            </a:pPr>
            <a:r>
              <a:rPr lang="zh-CN" altLang="zh-CN" dirty="0"/>
              <a:t>错误的“与”、“或”运算。</a:t>
            </a:r>
            <a:endParaRPr lang="en-US" altLang="zh-CN" dirty="0"/>
          </a:p>
          <a:p>
            <a:pPr lvl="1" eaLnBrk="1" hangingPunct="1">
              <a:defRPr/>
            </a:pPr>
            <a:r>
              <a:rPr lang="zh-CN" altLang="zh-CN" dirty="0"/>
              <a:t>变量说明有重复，如</a:t>
            </a:r>
            <a:r>
              <a:rPr lang="en-US" altLang="zh-CN" dirty="0"/>
              <a:t>integer A; real A</a:t>
            </a:r>
            <a:r>
              <a:rPr lang="zh-CN" altLang="zh-CN" dirty="0"/>
              <a:t>。</a:t>
            </a:r>
            <a:endParaRPr lang="zh-CN" altLang="en-US" dirty="0"/>
          </a:p>
          <a:p>
            <a:pPr marL="457200" lvl="1" indent="0" eaLnBrk="1" hangingPunct="1">
              <a:buFontTx/>
              <a:buNone/>
              <a:defRPr/>
            </a:pPr>
            <a:r>
              <a:rPr lang="zh-CN" altLang="en-US" dirty="0"/>
              <a:t>难以发现下面的错误</a:t>
            </a:r>
          </a:p>
          <a:p>
            <a:pPr marL="457200" lvl="1" indent="0" eaLnBrk="1" hangingPunct="1">
              <a:buFontTx/>
              <a:buNone/>
              <a:defRPr/>
            </a:pPr>
            <a:r>
              <a:rPr lang="zh-CN" altLang="en-US" dirty="0"/>
              <a:t>			</a:t>
            </a:r>
            <a:r>
              <a:rPr lang="en-US" altLang="zh-CN" dirty="0">
                <a:cs typeface="Arial" panose="020B0604020202020204" pitchFamily="34" charset="0"/>
              </a:rPr>
              <a:t>fi (a = x )</a:t>
            </a:r>
            <a:r>
              <a:rPr lang="en-US" altLang="zh-CN" dirty="0">
                <a:cs typeface="Times New Roman" panose="02020603050405020304" pitchFamily="18" charset="0"/>
              </a:rPr>
              <a:t> </a:t>
            </a:r>
            <a:r>
              <a:rPr lang="en-US" altLang="zh-CN" dirty="0"/>
              <a:t>… </a:t>
            </a:r>
          </a:p>
          <a:p>
            <a:pPr marL="457200" lvl="1" indent="0" eaLnBrk="1" hangingPunct="1">
              <a:buFontTx/>
              <a:buNone/>
              <a:defRPr/>
            </a:pPr>
            <a:r>
              <a:rPr lang="zh-CN" altLang="en-US" dirty="0"/>
              <a:t>在实数是</a:t>
            </a:r>
            <a:r>
              <a:rPr lang="en-US" altLang="zh-CN" dirty="0" err="1"/>
              <a:t>a.b</a:t>
            </a:r>
            <a:r>
              <a:rPr lang="zh-CN" altLang="en-US" dirty="0"/>
              <a:t>格式下，可以发现下面的错误</a:t>
            </a:r>
          </a:p>
          <a:p>
            <a:pPr lvl="1" eaLnBrk="1" hangingPunct="1">
              <a:buFontTx/>
              <a:buNone/>
              <a:defRPr/>
            </a:pPr>
            <a:r>
              <a:rPr lang="zh-CN" altLang="en-US" dirty="0"/>
              <a:t>			</a:t>
            </a:r>
            <a:r>
              <a:rPr lang="en-US" altLang="zh-CN" dirty="0"/>
              <a:t>123.</a:t>
            </a:r>
          </a:p>
          <a:p>
            <a:pPr lvl="1" eaLnBrk="1" hangingPunct="1">
              <a:defRPr/>
            </a:pPr>
            <a:endParaRPr lang="en-US" altLang="zh-CN" dirty="0"/>
          </a:p>
          <a:p>
            <a:pPr eaLnBrk="1" hangingPunct="1">
              <a:defRPr/>
            </a:pPr>
            <a:endParaRPr lang="en-US" altLang="zh-CN" dirty="0"/>
          </a:p>
        </p:txBody>
      </p:sp>
    </p:spTree>
    <p:extLst>
      <p:ext uri="{BB962C8B-B14F-4D97-AF65-F5344CB8AC3E}">
        <p14:creationId xmlns:p14="http://schemas.microsoft.com/office/powerpoint/2010/main" val="15256236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a:xfrm>
            <a:off x="457200" y="205979"/>
            <a:ext cx="8229600" cy="791765"/>
          </a:xfrm>
        </p:spPr>
        <p:txBody>
          <a:bodyPr/>
          <a:lstStyle/>
          <a:p>
            <a:r>
              <a:rPr lang="zh-CN" altLang="en-US">
                <a:solidFill>
                  <a:srgbClr val="000000"/>
                </a:solidFill>
              </a:rPr>
              <a:t>处理方式</a:t>
            </a:r>
            <a:endParaRPr lang="zh-CN" altLang="en-US"/>
          </a:p>
        </p:txBody>
      </p:sp>
      <p:sp>
        <p:nvSpPr>
          <p:cNvPr id="119811" name="内容占位符 2"/>
          <p:cNvSpPr>
            <a:spLocks noGrp="1"/>
          </p:cNvSpPr>
          <p:nvPr>
            <p:ph idx="1"/>
          </p:nvPr>
        </p:nvSpPr>
        <p:spPr/>
        <p:txBody>
          <a:bodyPr/>
          <a:lstStyle/>
          <a:p>
            <a:pPr lvl="1" eaLnBrk="1" hangingPunct="1"/>
            <a:r>
              <a:rPr lang="zh-CN" altLang="en-US" dirty="0">
                <a:solidFill>
                  <a:srgbClr val="000000"/>
                </a:solidFill>
              </a:rPr>
              <a:t>每个程序段单独处理错误</a:t>
            </a:r>
          </a:p>
          <a:p>
            <a:pPr lvl="1" eaLnBrk="1" hangingPunct="1"/>
            <a:r>
              <a:rPr lang="zh-CN" altLang="en-US" dirty="0">
                <a:solidFill>
                  <a:srgbClr val="000000"/>
                </a:solidFill>
              </a:rPr>
              <a:t>统一处理错误（商用软件系统）</a:t>
            </a:r>
          </a:p>
          <a:p>
            <a:pPr lvl="2" eaLnBrk="1" hangingPunct="1"/>
            <a:r>
              <a:rPr lang="zh-CN" altLang="en-US" dirty="0">
                <a:solidFill>
                  <a:srgbClr val="000000"/>
                </a:solidFill>
              </a:rPr>
              <a:t>记录式的文件</a:t>
            </a:r>
          </a:p>
          <a:p>
            <a:pPr lvl="2" eaLnBrk="1" hangingPunct="1"/>
            <a:r>
              <a:rPr lang="zh-CN" altLang="en-US" dirty="0">
                <a:solidFill>
                  <a:srgbClr val="000000"/>
                </a:solidFill>
              </a:rPr>
              <a:t>数据库</a:t>
            </a:r>
          </a:p>
          <a:p>
            <a:pPr eaLnBrk="1" hangingPunct="1"/>
            <a:r>
              <a:rPr lang="zh-CN" altLang="en-US" dirty="0">
                <a:solidFill>
                  <a:srgbClr val="000000"/>
                </a:solidFill>
              </a:rPr>
              <a:t>商业系统中错误处理的特点是：统一错误编号，编制文档指出错误信息的含义、应对措施、解决方案</a:t>
            </a:r>
          </a:p>
          <a:p>
            <a:endParaRPr lang="zh-CN" altLang="en-US" dirty="0"/>
          </a:p>
        </p:txBody>
      </p:sp>
    </p:spTree>
    <p:extLst>
      <p:ext uri="{BB962C8B-B14F-4D97-AF65-F5344CB8AC3E}">
        <p14:creationId xmlns:p14="http://schemas.microsoft.com/office/powerpoint/2010/main" val="241732282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zh-CN" altLang="zh-CN" kern="100" dirty="0">
                <a:latin typeface="Times New Roman" panose="02020603050405020304" pitchFamily="18" charset="0"/>
              </a:rPr>
              <a:t>错误恢复</a:t>
            </a:r>
            <a:endParaRPr lang="zh-CN" altLang="en-US" dirty="0"/>
          </a:p>
        </p:txBody>
      </p:sp>
      <p:sp>
        <p:nvSpPr>
          <p:cNvPr id="3" name="内容占位符 2"/>
          <p:cNvSpPr>
            <a:spLocks noGrp="1"/>
          </p:cNvSpPr>
          <p:nvPr>
            <p:ph idx="1"/>
          </p:nvPr>
        </p:nvSpPr>
        <p:spPr/>
        <p:txBody>
          <a:bodyPr>
            <a:normAutofit/>
          </a:bodyPr>
          <a:lstStyle/>
          <a:p>
            <a:pPr marL="0" indent="0">
              <a:spcAft>
                <a:spcPts val="0"/>
              </a:spcAft>
              <a:buFontTx/>
              <a:buNone/>
              <a:defRPr/>
            </a:pPr>
            <a:r>
              <a:rPr lang="zh-CN" altLang="zh-CN" sz="2200" kern="100" dirty="0">
                <a:latin typeface="Times New Roman" panose="02020603050405020304" pitchFamily="18" charset="0"/>
              </a:rPr>
              <a:t>（</a:t>
            </a:r>
            <a:r>
              <a:rPr lang="en-US" altLang="zh-CN" sz="2200" kern="100" dirty="0">
                <a:latin typeface="Times New Roman" panose="02020603050405020304" pitchFamily="18" charset="0"/>
              </a:rPr>
              <a:t>1</a:t>
            </a:r>
            <a:r>
              <a:rPr lang="zh-CN" altLang="zh-CN" sz="2200" kern="100" dirty="0">
                <a:latin typeface="Times New Roman" panose="02020603050405020304" pitchFamily="18" charset="0"/>
              </a:rPr>
              <a:t>）从剩余的输入中删除一个或多个字符，跳过最小出错单位；</a:t>
            </a:r>
          </a:p>
          <a:p>
            <a:pPr marL="0" indent="0">
              <a:spcAft>
                <a:spcPts val="0"/>
              </a:spcAft>
              <a:buFontTx/>
              <a:buNone/>
              <a:defRPr/>
            </a:pPr>
            <a:r>
              <a:rPr lang="zh-CN" altLang="zh-CN" sz="2200" kern="100" dirty="0">
                <a:latin typeface="Times New Roman" panose="02020603050405020304" pitchFamily="18" charset="0"/>
              </a:rPr>
              <a:t>（</a:t>
            </a:r>
            <a:r>
              <a:rPr lang="en-US" altLang="zh-CN" sz="2200" kern="100" dirty="0">
                <a:latin typeface="Times New Roman" panose="02020603050405020304" pitchFamily="18" charset="0"/>
              </a:rPr>
              <a:t>2</a:t>
            </a:r>
            <a:r>
              <a:rPr lang="zh-CN" altLang="zh-CN" sz="2200" kern="100" dirty="0">
                <a:latin typeface="Times New Roman" panose="02020603050405020304" pitchFamily="18" charset="0"/>
              </a:rPr>
              <a:t>）向剩余的输入中插入一个遗漏的字符；</a:t>
            </a:r>
          </a:p>
          <a:p>
            <a:pPr marL="0" indent="0">
              <a:spcAft>
                <a:spcPts val="0"/>
              </a:spcAft>
              <a:buFontTx/>
              <a:buNone/>
              <a:defRPr/>
            </a:pPr>
            <a:r>
              <a:rPr lang="zh-CN" altLang="zh-CN" sz="2200" kern="100" dirty="0">
                <a:latin typeface="Times New Roman" panose="02020603050405020304" pitchFamily="18" charset="0"/>
              </a:rPr>
              <a:t>（</a:t>
            </a:r>
            <a:r>
              <a:rPr lang="en-US" altLang="zh-CN" sz="2200" kern="100" dirty="0">
                <a:latin typeface="Times New Roman" panose="02020603050405020304" pitchFamily="18" charset="0"/>
              </a:rPr>
              <a:t>3</a:t>
            </a:r>
            <a:r>
              <a:rPr lang="zh-CN" altLang="zh-CN" sz="2200" kern="100" dirty="0">
                <a:latin typeface="Times New Roman" panose="02020603050405020304" pitchFamily="18" charset="0"/>
              </a:rPr>
              <a:t>）用一个字符来替换另一个字符；</a:t>
            </a:r>
          </a:p>
          <a:p>
            <a:pPr marL="0" indent="0">
              <a:spcAft>
                <a:spcPts val="0"/>
              </a:spcAft>
              <a:buFontTx/>
              <a:buNone/>
              <a:defRPr/>
            </a:pPr>
            <a:r>
              <a:rPr lang="zh-CN" altLang="zh-CN" sz="2200" kern="100" dirty="0">
                <a:latin typeface="Times New Roman" panose="02020603050405020304" pitchFamily="18" charset="0"/>
              </a:rPr>
              <a:t>（</a:t>
            </a:r>
            <a:r>
              <a:rPr lang="en-US" altLang="zh-CN" sz="2200" kern="100" dirty="0">
                <a:latin typeface="Times New Roman" panose="02020603050405020304" pitchFamily="18" charset="0"/>
              </a:rPr>
              <a:t>4</a:t>
            </a:r>
            <a:r>
              <a:rPr lang="zh-CN" altLang="zh-CN" sz="2200" kern="100" dirty="0">
                <a:latin typeface="Times New Roman" panose="02020603050405020304" pitchFamily="18" charset="0"/>
              </a:rPr>
              <a:t>）交换两个相邻的字符。</a:t>
            </a:r>
          </a:p>
          <a:p>
            <a:pPr marL="0" indent="0">
              <a:spcAft>
                <a:spcPts val="0"/>
              </a:spcAft>
              <a:buFontTx/>
              <a:buNone/>
              <a:defRPr/>
            </a:pPr>
            <a:r>
              <a:rPr lang="zh-CN" altLang="zh-CN" sz="2200" kern="100" dirty="0">
                <a:latin typeface="Times New Roman" panose="02020603050405020304" pitchFamily="18" charset="0"/>
              </a:rPr>
              <a:t>这些处理方式可以在试图修复错误输入时进行。最简单的策略是检查是否可以通过上述的某种操作将剩余的输入串尽快构成某个单词。</a:t>
            </a:r>
          </a:p>
          <a:p>
            <a:pPr>
              <a:defRPr/>
            </a:pPr>
            <a:endParaRPr lang="zh-CN" altLang="en-US" sz="2200" dirty="0"/>
          </a:p>
        </p:txBody>
      </p:sp>
    </p:spTree>
    <p:extLst>
      <p:ext uri="{BB962C8B-B14F-4D97-AF65-F5344CB8AC3E}">
        <p14:creationId xmlns:p14="http://schemas.microsoft.com/office/powerpoint/2010/main" val="163091669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1524000" y="190500"/>
            <a:ext cx="7162800" cy="457200"/>
          </a:xfrm>
        </p:spPr>
        <p:txBody>
          <a:bodyPr>
            <a:normAutofit fontScale="90000"/>
          </a:bodyPr>
          <a:lstStyle/>
          <a:p>
            <a:pPr eaLnBrk="1" hangingPunct="1"/>
            <a:r>
              <a:rPr lang="zh-CN" altLang="en-US" sz="4000" b="1">
                <a:ea typeface="楷体_GB2312" pitchFamily="49" charset="-122"/>
              </a:rPr>
              <a:t>本章小结</a:t>
            </a:r>
          </a:p>
        </p:txBody>
      </p:sp>
      <p:graphicFrame>
        <p:nvGraphicFramePr>
          <p:cNvPr id="3" name="对象 2">
            <a:extLst>
              <a:ext uri="{FF2B5EF4-FFF2-40B4-BE49-F238E27FC236}">
                <a16:creationId xmlns:a16="http://schemas.microsoft.com/office/drawing/2014/main" id="{E4E76350-5912-64AF-E503-7FE8593E0710}"/>
              </a:ext>
            </a:extLst>
          </p:cNvPr>
          <p:cNvGraphicFramePr>
            <a:graphicFrameLocks noChangeAspect="1"/>
          </p:cNvGraphicFramePr>
          <p:nvPr>
            <p:extLst>
              <p:ext uri="{D42A27DB-BD31-4B8C-83A1-F6EECF244321}">
                <p14:modId xmlns:p14="http://schemas.microsoft.com/office/powerpoint/2010/main" val="2730198970"/>
              </p:ext>
            </p:extLst>
          </p:nvPr>
        </p:nvGraphicFramePr>
        <p:xfrm>
          <a:off x="1894837" y="244156"/>
          <a:ext cx="6421125" cy="4874335"/>
        </p:xfrm>
        <a:graphic>
          <a:graphicData uri="http://schemas.openxmlformats.org/presentationml/2006/ole">
            <mc:AlternateContent xmlns:mc="http://schemas.openxmlformats.org/markup-compatibility/2006">
              <mc:Choice xmlns:v="urn:schemas-microsoft-com:vml" Requires="v">
                <p:oleObj spid="_x0000_s34829" name="Visio" r:id="rId4" imgW="4705379" imgH="3571807" progId="Visio.Drawing.15">
                  <p:embed/>
                </p:oleObj>
              </mc:Choice>
              <mc:Fallback>
                <p:oleObj name="Visio" r:id="rId4" imgW="4705379" imgH="3571807"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4837" y="244156"/>
                        <a:ext cx="6421125" cy="4874335"/>
                      </a:xfrm>
                      <a:prstGeom prst="rect">
                        <a:avLst/>
                      </a:prstGeom>
                      <a:noFill/>
                    </p:spPr>
                  </p:pic>
                </p:oleObj>
              </mc:Fallback>
            </mc:AlternateContent>
          </a:graphicData>
        </a:graphic>
      </p:graphicFrame>
    </p:spTree>
    <p:extLst>
      <p:ext uri="{BB962C8B-B14F-4D97-AF65-F5344CB8AC3E}">
        <p14:creationId xmlns:p14="http://schemas.microsoft.com/office/powerpoint/2010/main" val="2703522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BACKGROUND_TYPE" val="general"/>
  <p:tag name="TIMING" val="|15.257"/>
</p:tagLst>
</file>

<file path=ppt/tags/tag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TIMING" val="|1.028|12.763|18.891"/>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TIMING" val="|34.286"/>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TIMING" val="|65.452|39.205|4.036"/>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SLIDE_BACKGROUND_TYPE" val="general"/>
  <p:tag name="TIMING" val="|14.585|7.895|52.795|6.155|1.063|1.448|61.29"/>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TIMING" val="|82.472|1.157"/>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TIMING" val="|0.476|12.522|97.044|29.383"/>
</p:tagLst>
</file>

<file path=ppt/tags/tag168.xml><?xml version="1.0" encoding="utf-8"?>
<p:tagLst xmlns:a="http://schemas.openxmlformats.org/drawingml/2006/main" xmlns:r="http://schemas.openxmlformats.org/officeDocument/2006/relationships" xmlns:p="http://schemas.openxmlformats.org/presentationml/2006/main">
  <p:tag name="TABLE_ENDDRAG_ORIGIN_RECT" val="252*156"/>
  <p:tag name="TABLE_ENDDRAG_RECT" val="425*230*252*156"/>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 name="KSO_WM_UNIT_LINE_FORE_SCHEMECOLOR_INDEX_BRIGHTNESS" val="0"/>
  <p:tag name="KSO_WM_UNIT_LINE_FORE_SCHEMECOLOR_INDEX" val="13"/>
  <p:tag name="KSO_WM_UNIT_LINE_FILL_TYPE" val="2"/>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_BRIGHTNESS" val="0"/>
  <p:tag name="KSO_WM_UNIT_TEXT_FILL_FORE_SCHEMECOLOR_INDEX" val="13"/>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TIMING" val="|0.4|0|0|0|0.3|0|0"/>
</p:tagLst>
</file>

<file path=ppt/tags/tag186.xml><?xml version="1.0" encoding="utf-8"?>
<p:tagLst xmlns:a="http://schemas.openxmlformats.org/drawingml/2006/main" xmlns:r="http://schemas.openxmlformats.org/officeDocument/2006/relationships" xmlns:p="http://schemas.openxmlformats.org/presentationml/2006/main">
  <p:tag name="TIMING" val="|0.4|0|0|0|0.3|0|0"/>
</p:tagLst>
</file>

<file path=ppt/tags/tag187.xml><?xml version="1.0" encoding="utf-8"?>
<p:tagLst xmlns:a="http://schemas.openxmlformats.org/drawingml/2006/main" xmlns:r="http://schemas.openxmlformats.org/officeDocument/2006/relationships" xmlns:p="http://schemas.openxmlformats.org/presentationml/2006/main">
  <p:tag name="TIMING" val="|0.4|0|0|0|0.3|0|0"/>
</p:tagLst>
</file>

<file path=ppt/tags/tag188.xml><?xml version="1.0" encoding="utf-8"?>
<p:tagLst xmlns:a="http://schemas.openxmlformats.org/drawingml/2006/main" xmlns:r="http://schemas.openxmlformats.org/officeDocument/2006/relationships" xmlns:p="http://schemas.openxmlformats.org/presentationml/2006/main">
  <p:tag name="TIMING" val="|0|0.2|0|0|0.2|0|0"/>
</p:tagLst>
</file>

<file path=ppt/tags/tag189.xml><?xml version="1.0" encoding="utf-8"?>
<p:tagLst xmlns:a="http://schemas.openxmlformats.org/drawingml/2006/main" xmlns:r="http://schemas.openxmlformats.org/officeDocument/2006/relationships" xmlns:p="http://schemas.openxmlformats.org/presentationml/2006/main">
  <p:tag name="TIMING" val="|0|0.2|0|0|0.2|0|0"/>
</p:tagLst>
</file>

<file path=ppt/tags/tag190.xml><?xml version="1.0" encoding="utf-8"?>
<p:tagLst xmlns:a="http://schemas.openxmlformats.org/drawingml/2006/main" xmlns:r="http://schemas.openxmlformats.org/officeDocument/2006/relationships" xmlns:p="http://schemas.openxmlformats.org/presentationml/2006/main">
  <p:tag name="TIMING" val="|0|0.2|0|0|0.2|0|0"/>
</p:tagLst>
</file>

<file path=ppt/tags/tag191.xml><?xml version="1.0" encoding="utf-8"?>
<p:tagLst xmlns:a="http://schemas.openxmlformats.org/drawingml/2006/main" xmlns:r="http://schemas.openxmlformats.org/officeDocument/2006/relationships" xmlns:p="http://schemas.openxmlformats.org/presentationml/2006/main">
  <p:tag name="TIMING" val="|0|0.2|0|0|0.2|0|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板1">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模板1</Template>
  <TotalTime>25148</TotalTime>
  <Words>13925</Words>
  <Application>Microsoft Office PowerPoint</Application>
  <PresentationFormat>全屏显示(16:9)</PresentationFormat>
  <Paragraphs>2340</Paragraphs>
  <Slides>152</Slides>
  <Notes>87</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4</vt:i4>
      </vt:variant>
      <vt:variant>
        <vt:lpstr>幻灯片标题</vt:lpstr>
      </vt:variant>
      <vt:variant>
        <vt:i4>152</vt:i4>
      </vt:variant>
    </vt:vector>
  </HeadingPairs>
  <TitlesOfParts>
    <vt:vector size="182" baseType="lpstr">
      <vt:lpstr>-apple-system</vt:lpstr>
      <vt:lpstr>Arial Unicode MS</vt:lpstr>
      <vt:lpstr>Gungsuh</vt:lpstr>
      <vt:lpstr>Monotype Sorts</vt:lpstr>
      <vt:lpstr>等线</vt:lpstr>
      <vt:lpstr>方正舒体</vt:lpstr>
      <vt:lpstr>黑体</vt:lpstr>
      <vt:lpstr>楷体_GB2312</vt:lpstr>
      <vt:lpstr>隶书</vt:lpstr>
      <vt:lpstr>宋体</vt:lpstr>
      <vt:lpstr>微软雅黑</vt:lpstr>
      <vt:lpstr>微软雅黑</vt:lpstr>
      <vt:lpstr>幼圆</vt:lpstr>
      <vt:lpstr>Arial</vt:lpstr>
      <vt:lpstr>Arial</vt:lpstr>
      <vt:lpstr>Calibri</vt:lpstr>
      <vt:lpstr>Lucida Console</vt:lpstr>
      <vt:lpstr>Lucida Sans Unicode</vt:lpstr>
      <vt:lpstr>Symbol</vt:lpstr>
      <vt:lpstr>Tahoma</vt:lpstr>
      <vt:lpstr>Times New Roman</vt:lpstr>
      <vt:lpstr>Verdana</vt:lpstr>
      <vt:lpstr>Wingdings</vt:lpstr>
      <vt:lpstr>Wingdings 2</vt:lpstr>
      <vt:lpstr>Wingdings 3</vt:lpstr>
      <vt:lpstr>模板1</vt:lpstr>
      <vt:lpstr>Visio</vt:lpstr>
      <vt:lpstr>Microsoft Visio 绘图</vt:lpstr>
      <vt:lpstr>BMP 图像</vt:lpstr>
      <vt:lpstr>位图图像</vt:lpstr>
      <vt:lpstr>第二章 词法分析</vt:lpstr>
      <vt:lpstr>本章要求</vt:lpstr>
      <vt:lpstr>PowerPoint 演示文稿</vt:lpstr>
      <vt:lpstr>2.1 词法分析器概述</vt:lpstr>
      <vt:lpstr>PowerPoint 演示文稿</vt:lpstr>
      <vt:lpstr>2.2  高级语言中的单词</vt:lpstr>
      <vt:lpstr>sample语言单词的种别码定义举例</vt:lpstr>
      <vt:lpstr>PowerPoint 演示文稿</vt:lpstr>
      <vt:lpstr>PowerPoint 演示文稿</vt:lpstr>
      <vt:lpstr>PowerPoint 演示文稿</vt:lpstr>
      <vt:lpstr>PowerPoint 演示文稿</vt:lpstr>
      <vt:lpstr>PowerPoint 演示文稿</vt:lpstr>
      <vt:lpstr>PowerPoint 演示文稿</vt:lpstr>
      <vt:lpstr>状态转换图的合并</vt:lpstr>
      <vt:lpstr>状态转换图的合并</vt:lpstr>
      <vt:lpstr>PowerPoint 演示文稿</vt:lpstr>
      <vt:lpstr>错误处理</vt:lpstr>
      <vt:lpstr>PowerPoint 演示文稿</vt:lpstr>
      <vt:lpstr>PowerPoint 演示文稿</vt:lpstr>
      <vt:lpstr>数值型数据的状态转换图的进一步细化</vt:lpstr>
      <vt:lpstr>PowerPoint 演示文稿</vt:lpstr>
      <vt:lpstr>PowerPoint 演示文稿</vt:lpstr>
      <vt:lpstr>PowerPoint 演示文稿</vt:lpstr>
      <vt:lpstr>练    习    2</vt:lpstr>
      <vt:lpstr>练   习   3</vt:lpstr>
      <vt:lpstr>状态转换图的实现</vt:lpstr>
      <vt:lpstr>状态转换图一般化及实现</vt:lpstr>
      <vt:lpstr>2.4 词法分析器的设计</vt:lpstr>
      <vt:lpstr>具体分解：</vt:lpstr>
      <vt:lpstr>PowerPoint 演示文稿</vt:lpstr>
      <vt:lpstr>PowerPoint 演示文稿</vt:lpstr>
      <vt:lpstr>超前搜索技术和双界符的识别</vt:lpstr>
      <vt:lpstr>PowerPoint 演示文稿</vt:lpstr>
      <vt:lpstr>词法分析器的自动生成</vt:lpstr>
      <vt:lpstr>2.5 正则表达式与有穷自动机</vt:lpstr>
      <vt:lpstr>PowerPoint 演示文稿</vt:lpstr>
      <vt:lpstr>2.5.1  符号和符号串</vt:lpstr>
      <vt:lpstr>PowerPoint 演示文稿</vt:lpstr>
      <vt:lpstr>PowerPoint 演示文稿</vt:lpstr>
      <vt:lpstr>PowerPoint 演示文稿</vt:lpstr>
      <vt:lpstr>PowerPoint 演示文稿</vt:lpstr>
      <vt:lpstr>2.5.2 集合的运算及语言的定义</vt:lpstr>
      <vt:lpstr>2.5.2 集合的运算及语言的定义</vt:lpstr>
      <vt:lpstr>2.5.2 集合的运算及语言的定义</vt:lpstr>
      <vt:lpstr>PowerPoint 演示文稿</vt:lpstr>
      <vt:lpstr>2.5.2 集合的运算及语言的定义</vt:lpstr>
      <vt:lpstr>PowerPoint 演示文稿</vt:lpstr>
      <vt:lpstr>总结</vt:lpstr>
      <vt:lpstr>语言的表示</vt:lpstr>
      <vt:lpstr>PowerPoint 演示文稿</vt:lpstr>
      <vt:lpstr>2.5.3 正则表达式</vt:lpstr>
      <vt:lpstr>正则表达式和正规集的递归定义：（设字母表为）</vt:lpstr>
      <vt:lpstr>PowerPoint 演示文稿</vt:lpstr>
      <vt:lpstr>例1：令={a，b}， 上的正则表达式和相应的正规集</vt:lpstr>
      <vt:lpstr>PowerPoint 演示文稿</vt:lpstr>
      <vt:lpstr>PowerPoint 演示文稿</vt:lpstr>
      <vt:lpstr>PowerPoint 演示文稿</vt:lpstr>
      <vt:lpstr>正则表达式的等价</vt:lpstr>
      <vt:lpstr>正则定义式</vt:lpstr>
      <vt:lpstr>例2.8 C语言中标识符是以字符或下划线开头的由字母、数字和下划线组成的符号串，写出标识符的正则表达式定义。</vt:lpstr>
      <vt:lpstr>PowerPoint 演示文稿</vt:lpstr>
      <vt:lpstr>PowerPoint 演示文稿</vt:lpstr>
      <vt:lpstr>2.5.4 有穷自动机</vt:lpstr>
      <vt:lpstr>确定的有穷自动机DFA</vt:lpstr>
      <vt:lpstr>PowerPoint 演示文稿</vt:lpstr>
      <vt:lpstr>PowerPoint 演示文稿</vt:lpstr>
      <vt:lpstr>PowerPoint 演示文稿</vt:lpstr>
      <vt:lpstr>DFA识别某符号串</vt:lpstr>
      <vt:lpstr>PowerPoint 演示文稿</vt:lpstr>
      <vt:lpstr>PowerPoint 演示文稿</vt:lpstr>
      <vt:lpstr>练   习   3</vt:lpstr>
      <vt:lpstr>PowerPoint 演示文稿</vt:lpstr>
      <vt:lpstr>PowerPoint 演示文稿</vt:lpstr>
      <vt:lpstr>PowerPoint 演示文稿</vt:lpstr>
      <vt:lpstr>不确定的有穷自动机NFA</vt:lpstr>
      <vt:lpstr>NFA的三种表示</vt:lpstr>
      <vt:lpstr>状态图表示</vt:lpstr>
      <vt:lpstr>NFA的特点</vt:lpstr>
      <vt:lpstr>∑*上的符号串t被NFA M接受（识别）:</vt:lpstr>
      <vt:lpstr>PowerPoint 演示文稿</vt:lpstr>
      <vt:lpstr>语言</vt:lpstr>
      <vt:lpstr>PowerPoint 演示文稿</vt:lpstr>
      <vt:lpstr>PowerPoint 演示文稿</vt:lpstr>
      <vt:lpstr>DFA与NFA的主要区别</vt:lpstr>
      <vt:lpstr>NFA的确定化</vt:lpstr>
      <vt:lpstr>NFA的确定化</vt:lpstr>
      <vt:lpstr>NFA的确定化</vt:lpstr>
      <vt:lpstr>PowerPoint 演示文稿</vt:lpstr>
      <vt:lpstr>状态集合I的a弧转换，Ia = ε-closure(J) ,其中J=move(I,a)，即所有可从I中的某一状态经过一条a弧而到达的状态的全体。</vt:lpstr>
      <vt:lpstr>I和Ia</vt:lpstr>
      <vt:lpstr>NFA的确定化</vt:lpstr>
      <vt:lpstr>例，对下面的NFA确定化</vt:lpstr>
      <vt:lpstr>第一步</vt:lpstr>
      <vt:lpstr>等价的DFA</vt:lpstr>
      <vt:lpstr>练  习</vt:lpstr>
      <vt:lpstr>PowerPoint 演示文稿</vt:lpstr>
      <vt:lpstr>DFA的最小化</vt:lpstr>
      <vt:lpstr>DFA的最小化</vt:lpstr>
      <vt:lpstr>DFA的最小化的方法——分割法</vt:lpstr>
      <vt:lpstr>分割法算法</vt:lpstr>
      <vt:lpstr>PowerPoint 演示文稿</vt:lpstr>
      <vt:lpstr>PowerPoint 演示文稿</vt:lpstr>
      <vt:lpstr>练 习</vt:lpstr>
      <vt:lpstr>PowerPoint 演示文稿</vt:lpstr>
      <vt:lpstr>PowerPoint 演示文稿</vt:lpstr>
      <vt:lpstr>PowerPoint 演示文稿</vt:lpstr>
      <vt:lpstr>PowerPoint 演示文稿</vt:lpstr>
      <vt:lpstr>2.5.5正则表达式与NFA的等价性</vt:lpstr>
      <vt:lpstr>PowerPoint 演示文稿</vt:lpstr>
      <vt:lpstr>PowerPoint 演示文稿</vt:lpstr>
      <vt:lpstr>PowerPoint 演示文稿</vt:lpstr>
      <vt:lpstr>PowerPoint 演示文稿</vt:lpstr>
      <vt:lpstr>练 习</vt:lpstr>
      <vt:lpstr>PowerPoint 演示文稿</vt:lpstr>
      <vt:lpstr>PowerPoint 演示文稿</vt:lpstr>
      <vt:lpstr>PowerPoint 演示文稿</vt:lpstr>
      <vt:lpstr>例：构造正则表达式01*|1的NFA</vt:lpstr>
      <vt:lpstr>PowerPoint 演示文稿</vt:lpstr>
      <vt:lpstr>练习</vt:lpstr>
      <vt:lpstr>PowerPoint 演示文稿</vt:lpstr>
      <vt:lpstr>PowerPoint 演示文稿</vt:lpstr>
      <vt:lpstr>PowerPoint 演示文稿</vt:lpstr>
      <vt:lpstr>白猫黑猫论——一句谚语，一个时代</vt:lpstr>
      <vt:lpstr>PowerPoint 演示文稿</vt:lpstr>
      <vt:lpstr>Lex的工作过程</vt:lpstr>
      <vt:lpstr>2.6词法分析程序的自动构造</vt:lpstr>
      <vt:lpstr>词法分析工具介绍</vt:lpstr>
      <vt:lpstr>Lex的概述</vt:lpstr>
      <vt:lpstr>用Lex生成词法分析器</vt:lpstr>
      <vt:lpstr>Lex源文件的书写</vt:lpstr>
      <vt:lpstr>Lex 的正则定义式 </vt:lpstr>
      <vt:lpstr>PowerPoint 演示文稿</vt:lpstr>
      <vt:lpstr>PowerPoint 演示文稿</vt:lpstr>
      <vt:lpstr>PowerPoint 演示文稿</vt:lpstr>
      <vt:lpstr>PowerPoint 演示文稿</vt:lpstr>
      <vt:lpstr>例：使用Lex生成识别关键字(if,then,begin,end,while, repeat)、运算符(+,-,*,/)、标识符、整数、带小数的实数的程序，注释用{  }括起来</vt:lpstr>
      <vt:lpstr>例2：写一个Lex 程序，用来统计文本中的字数 </vt:lpstr>
      <vt:lpstr>第一段：C 和 Lex 的全局声明</vt:lpstr>
      <vt:lpstr>第二段：Lex 的模式匹配规则 </vt:lpstr>
      <vt:lpstr>第三段：辅助过程 </vt:lpstr>
      <vt:lpstr>例3：写一个Lex源文件，其功能是统计文本文件中的字符数和行数。</vt:lpstr>
      <vt:lpstr>2.6.4 Lex使用中的一些注意事项</vt:lpstr>
      <vt:lpstr>PowerPoint 演示文稿</vt:lpstr>
      <vt:lpstr>内部名字</vt:lpstr>
      <vt:lpstr>高级 Lex </vt:lpstr>
      <vt:lpstr>高级 Lex ---Lex 函数  </vt:lpstr>
      <vt:lpstr>练习</vt:lpstr>
      <vt:lpstr>2.7 词法分析中的错误处理</vt:lpstr>
      <vt:lpstr>词法错误类型</vt:lpstr>
      <vt:lpstr>处理方式</vt:lpstr>
      <vt:lpstr>错误恢复</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词法分析</dc:title>
  <dc:creator>hxy</dc:creator>
  <cp:lastModifiedBy>Administrator</cp:lastModifiedBy>
  <cp:revision>289</cp:revision>
  <dcterms:created xsi:type="dcterms:W3CDTF">2020-03-01T00:51:16Z</dcterms:created>
  <dcterms:modified xsi:type="dcterms:W3CDTF">2026-03-11T15:04:48Z</dcterms:modified>
</cp:coreProperties>
</file>